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2" r:id="rId4"/>
    <p:sldId id="258" r:id="rId5"/>
    <p:sldId id="263" r:id="rId6"/>
    <p:sldId id="265" r:id="rId7"/>
    <p:sldId id="266" r:id="rId8"/>
    <p:sldId id="267" r:id="rId9"/>
    <p:sldId id="325"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304" r:id="rId36"/>
    <p:sldId id="293" r:id="rId37"/>
    <p:sldId id="294" r:id="rId38"/>
    <p:sldId id="295" r:id="rId39"/>
    <p:sldId id="303" r:id="rId40"/>
    <p:sldId id="296" r:id="rId41"/>
    <p:sldId id="297" r:id="rId42"/>
    <p:sldId id="302" r:id="rId43"/>
    <p:sldId id="298" r:id="rId44"/>
    <p:sldId id="299" r:id="rId45"/>
    <p:sldId id="300" r:id="rId46"/>
    <p:sldId id="305" r:id="rId47"/>
    <p:sldId id="307" r:id="rId48"/>
    <p:sldId id="318" r:id="rId49"/>
    <p:sldId id="314" r:id="rId50"/>
    <p:sldId id="309" r:id="rId51"/>
    <p:sldId id="310" r:id="rId52"/>
    <p:sldId id="311" r:id="rId53"/>
    <p:sldId id="312" r:id="rId54"/>
    <p:sldId id="313" r:id="rId55"/>
    <p:sldId id="308" r:id="rId56"/>
    <p:sldId id="316" r:id="rId57"/>
    <p:sldId id="317" r:id="rId58"/>
    <p:sldId id="315" r:id="rId59"/>
    <p:sldId id="323" r:id="rId60"/>
    <p:sldId id="319" r:id="rId61"/>
    <p:sldId id="322" r:id="rId62"/>
    <p:sldId id="320" r:id="rId63"/>
    <p:sldId id="324" r:id="rId64"/>
    <p:sldId id="321" r:id="rId65"/>
    <p:sldId id="261" r:id="rId66"/>
    <p:sldId id="306" r:id="rId67"/>
    <p:sldId id="260" r:id="rId68"/>
    <p:sldId id="301" r:id="rId69"/>
  </p:sldIdLst>
  <p:sldSz cx="12192000" cy="6858000"/>
  <p:notesSz cx="6858000"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E4E9"/>
    <a:srgbClr val="4472C4"/>
    <a:srgbClr val="DA7878"/>
    <a:srgbClr val="017ACC"/>
    <a:srgbClr val="FFE369"/>
    <a:srgbClr val="44BD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14" autoAdjust="0"/>
    <p:restoredTop sz="95979" autoAdjust="0"/>
  </p:normalViewPr>
  <p:slideViewPr>
    <p:cSldViewPr snapToGrid="0">
      <p:cViewPr varScale="1">
        <p:scale>
          <a:sx n="101" d="100"/>
          <a:sy n="101" d="100"/>
        </p:scale>
        <p:origin x="2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3268B-6F3A-4D9A-348F-B2F0FC506E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DF8FE6-CEF1-F451-DF6E-8210B94276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53432A-78F8-3D4C-216D-60FCF49DF190}"/>
              </a:ext>
            </a:extLst>
          </p:cNvPr>
          <p:cNvSpPr>
            <a:spLocks noGrp="1"/>
          </p:cNvSpPr>
          <p:nvPr>
            <p:ph type="dt" sz="half" idx="10"/>
          </p:nvPr>
        </p:nvSpPr>
        <p:spPr/>
        <p:txBody>
          <a:bodyPr/>
          <a:lstStyle/>
          <a:p>
            <a:fld id="{D0E5D855-4F39-4693-A2AA-4E6EEA7B06AC}" type="datetimeFigureOut">
              <a:rPr lang="en-US" smtClean="0"/>
              <a:t>9/16/2025</a:t>
            </a:fld>
            <a:endParaRPr lang="en-US"/>
          </a:p>
        </p:txBody>
      </p:sp>
      <p:sp>
        <p:nvSpPr>
          <p:cNvPr id="5" name="Footer Placeholder 4">
            <a:extLst>
              <a:ext uri="{FF2B5EF4-FFF2-40B4-BE49-F238E27FC236}">
                <a16:creationId xmlns:a16="http://schemas.microsoft.com/office/drawing/2014/main" id="{CA259124-4F5C-5931-C765-CFACC3A2DC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6C967D-681F-93D2-CFA2-D506523853F4}"/>
              </a:ext>
            </a:extLst>
          </p:cNvPr>
          <p:cNvSpPr>
            <a:spLocks noGrp="1"/>
          </p:cNvSpPr>
          <p:nvPr>
            <p:ph type="sldNum" sz="quarter" idx="12"/>
          </p:nvPr>
        </p:nvSpPr>
        <p:spPr/>
        <p:txBody>
          <a:bodyPr/>
          <a:lstStyle/>
          <a:p>
            <a:fld id="{1B4E4BE3-0FBF-4315-8DA5-2887C666C04C}" type="slidenum">
              <a:rPr lang="en-US" smtClean="0"/>
              <a:t>‹#›</a:t>
            </a:fld>
            <a:endParaRPr lang="en-US"/>
          </a:p>
        </p:txBody>
      </p:sp>
    </p:spTree>
    <p:extLst>
      <p:ext uri="{BB962C8B-B14F-4D97-AF65-F5344CB8AC3E}">
        <p14:creationId xmlns:p14="http://schemas.microsoft.com/office/powerpoint/2010/main" val="4233962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C187-4B61-75D5-DDAF-2D129F92A3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913D4D-02CB-2B1D-C83D-168760963E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C76FE6-2756-127A-32B3-FA466F33E296}"/>
              </a:ext>
            </a:extLst>
          </p:cNvPr>
          <p:cNvSpPr>
            <a:spLocks noGrp="1"/>
          </p:cNvSpPr>
          <p:nvPr>
            <p:ph type="dt" sz="half" idx="10"/>
          </p:nvPr>
        </p:nvSpPr>
        <p:spPr/>
        <p:txBody>
          <a:bodyPr/>
          <a:lstStyle/>
          <a:p>
            <a:fld id="{D0E5D855-4F39-4693-A2AA-4E6EEA7B06AC}" type="datetimeFigureOut">
              <a:rPr lang="en-US" smtClean="0"/>
              <a:t>9/16/2025</a:t>
            </a:fld>
            <a:endParaRPr lang="en-US"/>
          </a:p>
        </p:txBody>
      </p:sp>
      <p:sp>
        <p:nvSpPr>
          <p:cNvPr id="5" name="Footer Placeholder 4">
            <a:extLst>
              <a:ext uri="{FF2B5EF4-FFF2-40B4-BE49-F238E27FC236}">
                <a16:creationId xmlns:a16="http://schemas.microsoft.com/office/drawing/2014/main" id="{66BF02DA-A78B-1F40-6842-9374C9E97F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5D0076-18C6-D13A-BF06-B3447E28C752}"/>
              </a:ext>
            </a:extLst>
          </p:cNvPr>
          <p:cNvSpPr>
            <a:spLocks noGrp="1"/>
          </p:cNvSpPr>
          <p:nvPr>
            <p:ph type="sldNum" sz="quarter" idx="12"/>
          </p:nvPr>
        </p:nvSpPr>
        <p:spPr/>
        <p:txBody>
          <a:bodyPr/>
          <a:lstStyle/>
          <a:p>
            <a:fld id="{1B4E4BE3-0FBF-4315-8DA5-2887C666C04C}" type="slidenum">
              <a:rPr lang="en-US" smtClean="0"/>
              <a:t>‹#›</a:t>
            </a:fld>
            <a:endParaRPr lang="en-US"/>
          </a:p>
        </p:txBody>
      </p:sp>
    </p:spTree>
    <p:extLst>
      <p:ext uri="{BB962C8B-B14F-4D97-AF65-F5344CB8AC3E}">
        <p14:creationId xmlns:p14="http://schemas.microsoft.com/office/powerpoint/2010/main" val="1544790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EDD27-8152-8C8E-69D8-4D3DE209E8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692615-BD71-2318-5552-F8B3896E0C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11B99F-7DCE-EF7C-E928-46C4A7943991}"/>
              </a:ext>
            </a:extLst>
          </p:cNvPr>
          <p:cNvSpPr>
            <a:spLocks noGrp="1"/>
          </p:cNvSpPr>
          <p:nvPr>
            <p:ph type="dt" sz="half" idx="10"/>
          </p:nvPr>
        </p:nvSpPr>
        <p:spPr/>
        <p:txBody>
          <a:bodyPr/>
          <a:lstStyle/>
          <a:p>
            <a:fld id="{D0E5D855-4F39-4693-A2AA-4E6EEA7B06AC}" type="datetimeFigureOut">
              <a:rPr lang="en-US" smtClean="0"/>
              <a:t>9/16/2025</a:t>
            </a:fld>
            <a:endParaRPr lang="en-US"/>
          </a:p>
        </p:txBody>
      </p:sp>
      <p:sp>
        <p:nvSpPr>
          <p:cNvPr id="5" name="Footer Placeholder 4">
            <a:extLst>
              <a:ext uri="{FF2B5EF4-FFF2-40B4-BE49-F238E27FC236}">
                <a16:creationId xmlns:a16="http://schemas.microsoft.com/office/drawing/2014/main" id="{2DE7E35E-9C25-99B9-FB2F-3EEA97D825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B501C4-2671-26EE-717B-5B1ED785ED12}"/>
              </a:ext>
            </a:extLst>
          </p:cNvPr>
          <p:cNvSpPr>
            <a:spLocks noGrp="1"/>
          </p:cNvSpPr>
          <p:nvPr>
            <p:ph type="sldNum" sz="quarter" idx="12"/>
          </p:nvPr>
        </p:nvSpPr>
        <p:spPr/>
        <p:txBody>
          <a:bodyPr/>
          <a:lstStyle/>
          <a:p>
            <a:fld id="{1B4E4BE3-0FBF-4315-8DA5-2887C666C04C}" type="slidenum">
              <a:rPr lang="en-US" smtClean="0"/>
              <a:t>‹#›</a:t>
            </a:fld>
            <a:endParaRPr lang="en-US"/>
          </a:p>
        </p:txBody>
      </p:sp>
    </p:spTree>
    <p:extLst>
      <p:ext uri="{BB962C8B-B14F-4D97-AF65-F5344CB8AC3E}">
        <p14:creationId xmlns:p14="http://schemas.microsoft.com/office/powerpoint/2010/main" val="766414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5CE23-9761-D3E0-04F5-F641782518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226CAD-C7FC-D0BB-BD04-E688528DA6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759EED-DBAB-A42F-265B-B63E825246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8DA8AF-A4A5-D7DE-6D3F-3F381956F5D9}"/>
              </a:ext>
            </a:extLst>
          </p:cNvPr>
          <p:cNvSpPr>
            <a:spLocks noGrp="1"/>
          </p:cNvSpPr>
          <p:nvPr>
            <p:ph type="dt" sz="half" idx="10"/>
          </p:nvPr>
        </p:nvSpPr>
        <p:spPr/>
        <p:txBody>
          <a:bodyPr/>
          <a:lstStyle/>
          <a:p>
            <a:fld id="{D0E5D855-4F39-4693-A2AA-4E6EEA7B06AC}" type="datetimeFigureOut">
              <a:rPr lang="en-US" smtClean="0"/>
              <a:t>9/16/2025</a:t>
            </a:fld>
            <a:endParaRPr lang="en-US"/>
          </a:p>
        </p:txBody>
      </p:sp>
      <p:sp>
        <p:nvSpPr>
          <p:cNvPr id="6" name="Footer Placeholder 5">
            <a:extLst>
              <a:ext uri="{FF2B5EF4-FFF2-40B4-BE49-F238E27FC236}">
                <a16:creationId xmlns:a16="http://schemas.microsoft.com/office/drawing/2014/main" id="{A2628F2F-067C-99EB-2BCD-DF4FF808C6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9BABC0-294E-7551-E192-EEE78428180D}"/>
              </a:ext>
            </a:extLst>
          </p:cNvPr>
          <p:cNvSpPr>
            <a:spLocks noGrp="1"/>
          </p:cNvSpPr>
          <p:nvPr>
            <p:ph type="sldNum" sz="quarter" idx="12"/>
          </p:nvPr>
        </p:nvSpPr>
        <p:spPr/>
        <p:txBody>
          <a:bodyPr/>
          <a:lstStyle/>
          <a:p>
            <a:fld id="{1B4E4BE3-0FBF-4315-8DA5-2887C666C04C}" type="slidenum">
              <a:rPr lang="en-US" smtClean="0"/>
              <a:t>‹#›</a:t>
            </a:fld>
            <a:endParaRPr lang="en-US"/>
          </a:p>
        </p:txBody>
      </p:sp>
    </p:spTree>
    <p:extLst>
      <p:ext uri="{BB962C8B-B14F-4D97-AF65-F5344CB8AC3E}">
        <p14:creationId xmlns:p14="http://schemas.microsoft.com/office/powerpoint/2010/main" val="1413108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9A0E-761A-740D-9D32-ECA136D296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B0B76D-3DA6-84AA-94BF-126A709EEE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AA30A7-AD6F-5384-17E7-6973B50CD8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3EDFC0-DCB1-DA27-6B5E-CAFBC59B9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E3577A-00E6-EC1F-1764-E4ABFCDC5E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74511C-2A49-26A6-E186-0A400D18DCEA}"/>
              </a:ext>
            </a:extLst>
          </p:cNvPr>
          <p:cNvSpPr>
            <a:spLocks noGrp="1"/>
          </p:cNvSpPr>
          <p:nvPr>
            <p:ph type="dt" sz="half" idx="10"/>
          </p:nvPr>
        </p:nvSpPr>
        <p:spPr/>
        <p:txBody>
          <a:bodyPr/>
          <a:lstStyle/>
          <a:p>
            <a:fld id="{D0E5D855-4F39-4693-A2AA-4E6EEA7B06AC}" type="datetimeFigureOut">
              <a:rPr lang="en-US" smtClean="0"/>
              <a:t>9/16/2025</a:t>
            </a:fld>
            <a:endParaRPr lang="en-US"/>
          </a:p>
        </p:txBody>
      </p:sp>
      <p:sp>
        <p:nvSpPr>
          <p:cNvPr id="8" name="Footer Placeholder 7">
            <a:extLst>
              <a:ext uri="{FF2B5EF4-FFF2-40B4-BE49-F238E27FC236}">
                <a16:creationId xmlns:a16="http://schemas.microsoft.com/office/drawing/2014/main" id="{A7431F05-8250-23BA-5449-7C491015C8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839344-0C75-0263-CDD6-E62E7978C614}"/>
              </a:ext>
            </a:extLst>
          </p:cNvPr>
          <p:cNvSpPr>
            <a:spLocks noGrp="1"/>
          </p:cNvSpPr>
          <p:nvPr>
            <p:ph type="sldNum" sz="quarter" idx="12"/>
          </p:nvPr>
        </p:nvSpPr>
        <p:spPr/>
        <p:txBody>
          <a:bodyPr/>
          <a:lstStyle/>
          <a:p>
            <a:fld id="{1B4E4BE3-0FBF-4315-8DA5-2887C666C04C}" type="slidenum">
              <a:rPr lang="en-US" smtClean="0"/>
              <a:t>‹#›</a:t>
            </a:fld>
            <a:endParaRPr lang="en-US"/>
          </a:p>
        </p:txBody>
      </p:sp>
    </p:spTree>
    <p:extLst>
      <p:ext uri="{BB962C8B-B14F-4D97-AF65-F5344CB8AC3E}">
        <p14:creationId xmlns:p14="http://schemas.microsoft.com/office/powerpoint/2010/main" val="1326394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A9470-DE8E-051C-5FEA-06F940DF55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682C85-5452-2D51-16CA-CB1AF32D9F91}"/>
              </a:ext>
            </a:extLst>
          </p:cNvPr>
          <p:cNvSpPr>
            <a:spLocks noGrp="1"/>
          </p:cNvSpPr>
          <p:nvPr>
            <p:ph type="dt" sz="half" idx="10"/>
          </p:nvPr>
        </p:nvSpPr>
        <p:spPr/>
        <p:txBody>
          <a:bodyPr/>
          <a:lstStyle/>
          <a:p>
            <a:fld id="{D0E5D855-4F39-4693-A2AA-4E6EEA7B06AC}" type="datetimeFigureOut">
              <a:rPr lang="en-US" smtClean="0"/>
              <a:t>9/16/2025</a:t>
            </a:fld>
            <a:endParaRPr lang="en-US"/>
          </a:p>
        </p:txBody>
      </p:sp>
      <p:sp>
        <p:nvSpPr>
          <p:cNvPr id="4" name="Footer Placeholder 3">
            <a:extLst>
              <a:ext uri="{FF2B5EF4-FFF2-40B4-BE49-F238E27FC236}">
                <a16:creationId xmlns:a16="http://schemas.microsoft.com/office/drawing/2014/main" id="{F300232C-993B-A361-FD30-F0608D45B6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BB3BE9-8F3C-5AC1-C3EC-A45576882618}"/>
              </a:ext>
            </a:extLst>
          </p:cNvPr>
          <p:cNvSpPr>
            <a:spLocks noGrp="1"/>
          </p:cNvSpPr>
          <p:nvPr>
            <p:ph type="sldNum" sz="quarter" idx="12"/>
          </p:nvPr>
        </p:nvSpPr>
        <p:spPr/>
        <p:txBody>
          <a:bodyPr/>
          <a:lstStyle/>
          <a:p>
            <a:fld id="{1B4E4BE3-0FBF-4315-8DA5-2887C666C04C}" type="slidenum">
              <a:rPr lang="en-US" smtClean="0"/>
              <a:t>‹#›</a:t>
            </a:fld>
            <a:endParaRPr lang="en-US"/>
          </a:p>
        </p:txBody>
      </p:sp>
    </p:spTree>
    <p:extLst>
      <p:ext uri="{BB962C8B-B14F-4D97-AF65-F5344CB8AC3E}">
        <p14:creationId xmlns:p14="http://schemas.microsoft.com/office/powerpoint/2010/main" val="612640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2D35AB-59B7-C079-1CC8-54FBD504350C}"/>
              </a:ext>
            </a:extLst>
          </p:cNvPr>
          <p:cNvSpPr>
            <a:spLocks noGrp="1"/>
          </p:cNvSpPr>
          <p:nvPr>
            <p:ph type="dt" sz="half" idx="10"/>
          </p:nvPr>
        </p:nvSpPr>
        <p:spPr/>
        <p:txBody>
          <a:bodyPr/>
          <a:lstStyle/>
          <a:p>
            <a:fld id="{D0E5D855-4F39-4693-A2AA-4E6EEA7B06AC}" type="datetimeFigureOut">
              <a:rPr lang="en-US" smtClean="0"/>
              <a:t>9/16/2025</a:t>
            </a:fld>
            <a:endParaRPr lang="en-US"/>
          </a:p>
        </p:txBody>
      </p:sp>
      <p:sp>
        <p:nvSpPr>
          <p:cNvPr id="3" name="Footer Placeholder 2">
            <a:extLst>
              <a:ext uri="{FF2B5EF4-FFF2-40B4-BE49-F238E27FC236}">
                <a16:creationId xmlns:a16="http://schemas.microsoft.com/office/drawing/2014/main" id="{2F4E1EC6-67E4-5E78-663E-68AC181DAA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75AE44-2AE8-506D-1B18-64A44A0771E4}"/>
              </a:ext>
            </a:extLst>
          </p:cNvPr>
          <p:cNvSpPr>
            <a:spLocks noGrp="1"/>
          </p:cNvSpPr>
          <p:nvPr>
            <p:ph type="sldNum" sz="quarter" idx="12"/>
          </p:nvPr>
        </p:nvSpPr>
        <p:spPr/>
        <p:txBody>
          <a:bodyPr/>
          <a:lstStyle/>
          <a:p>
            <a:fld id="{1B4E4BE3-0FBF-4315-8DA5-2887C666C04C}" type="slidenum">
              <a:rPr lang="en-US" smtClean="0"/>
              <a:t>‹#›</a:t>
            </a:fld>
            <a:endParaRPr lang="en-US"/>
          </a:p>
        </p:txBody>
      </p:sp>
    </p:spTree>
    <p:extLst>
      <p:ext uri="{BB962C8B-B14F-4D97-AF65-F5344CB8AC3E}">
        <p14:creationId xmlns:p14="http://schemas.microsoft.com/office/powerpoint/2010/main" val="1136466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8DA68-3BF7-AC9D-0DC0-A350DE466C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07BC0A-4E14-C6EA-DFEF-7D330362AD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A3E950-79DE-F1B1-BB00-FF61CF0E97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EBABF0-9D9D-6D05-F8C5-137E978DA698}"/>
              </a:ext>
            </a:extLst>
          </p:cNvPr>
          <p:cNvSpPr>
            <a:spLocks noGrp="1"/>
          </p:cNvSpPr>
          <p:nvPr>
            <p:ph type="dt" sz="half" idx="10"/>
          </p:nvPr>
        </p:nvSpPr>
        <p:spPr/>
        <p:txBody>
          <a:bodyPr/>
          <a:lstStyle/>
          <a:p>
            <a:fld id="{D0E5D855-4F39-4693-A2AA-4E6EEA7B06AC}" type="datetimeFigureOut">
              <a:rPr lang="en-US" smtClean="0"/>
              <a:t>9/16/2025</a:t>
            </a:fld>
            <a:endParaRPr lang="en-US"/>
          </a:p>
        </p:txBody>
      </p:sp>
      <p:sp>
        <p:nvSpPr>
          <p:cNvPr id="6" name="Footer Placeholder 5">
            <a:extLst>
              <a:ext uri="{FF2B5EF4-FFF2-40B4-BE49-F238E27FC236}">
                <a16:creationId xmlns:a16="http://schemas.microsoft.com/office/drawing/2014/main" id="{1462AD59-34C8-B5DE-A6FC-024ED37066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D982D8-6D47-F905-ACBC-C30F476B9051}"/>
              </a:ext>
            </a:extLst>
          </p:cNvPr>
          <p:cNvSpPr>
            <a:spLocks noGrp="1"/>
          </p:cNvSpPr>
          <p:nvPr>
            <p:ph type="sldNum" sz="quarter" idx="12"/>
          </p:nvPr>
        </p:nvSpPr>
        <p:spPr/>
        <p:txBody>
          <a:bodyPr/>
          <a:lstStyle/>
          <a:p>
            <a:fld id="{1B4E4BE3-0FBF-4315-8DA5-2887C666C04C}" type="slidenum">
              <a:rPr lang="en-US" smtClean="0"/>
              <a:t>‹#›</a:t>
            </a:fld>
            <a:endParaRPr lang="en-US"/>
          </a:p>
        </p:txBody>
      </p:sp>
    </p:spTree>
    <p:extLst>
      <p:ext uri="{BB962C8B-B14F-4D97-AF65-F5344CB8AC3E}">
        <p14:creationId xmlns:p14="http://schemas.microsoft.com/office/powerpoint/2010/main" val="2130303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66FF-6A56-D447-1E40-0FD021A78D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4CB756-7DB0-D1A1-E3E9-949FACA061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3484F6-39D4-E14E-5E4E-3F3B6A7E6A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C7562D-8003-B75E-B7F1-CBEC8EE27D0A}"/>
              </a:ext>
            </a:extLst>
          </p:cNvPr>
          <p:cNvSpPr>
            <a:spLocks noGrp="1"/>
          </p:cNvSpPr>
          <p:nvPr>
            <p:ph type="dt" sz="half" idx="10"/>
          </p:nvPr>
        </p:nvSpPr>
        <p:spPr/>
        <p:txBody>
          <a:bodyPr/>
          <a:lstStyle/>
          <a:p>
            <a:fld id="{D0E5D855-4F39-4693-A2AA-4E6EEA7B06AC}" type="datetimeFigureOut">
              <a:rPr lang="en-US" smtClean="0"/>
              <a:t>9/16/2025</a:t>
            </a:fld>
            <a:endParaRPr lang="en-US"/>
          </a:p>
        </p:txBody>
      </p:sp>
      <p:sp>
        <p:nvSpPr>
          <p:cNvPr id="6" name="Footer Placeholder 5">
            <a:extLst>
              <a:ext uri="{FF2B5EF4-FFF2-40B4-BE49-F238E27FC236}">
                <a16:creationId xmlns:a16="http://schemas.microsoft.com/office/drawing/2014/main" id="{3CCB2922-C104-94F2-7743-432A4D6A25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46E22-9EDC-C5E1-0431-CC4B4428F88B}"/>
              </a:ext>
            </a:extLst>
          </p:cNvPr>
          <p:cNvSpPr>
            <a:spLocks noGrp="1"/>
          </p:cNvSpPr>
          <p:nvPr>
            <p:ph type="sldNum" sz="quarter" idx="12"/>
          </p:nvPr>
        </p:nvSpPr>
        <p:spPr/>
        <p:txBody>
          <a:bodyPr/>
          <a:lstStyle/>
          <a:p>
            <a:fld id="{1B4E4BE3-0FBF-4315-8DA5-2887C666C04C}" type="slidenum">
              <a:rPr lang="en-US" smtClean="0"/>
              <a:t>‹#›</a:t>
            </a:fld>
            <a:endParaRPr lang="en-US"/>
          </a:p>
        </p:txBody>
      </p:sp>
    </p:spTree>
    <p:extLst>
      <p:ext uri="{BB962C8B-B14F-4D97-AF65-F5344CB8AC3E}">
        <p14:creationId xmlns:p14="http://schemas.microsoft.com/office/powerpoint/2010/main" val="1901945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6808D-4F4D-65CF-5853-A08ED5D829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E282CE-29E6-4416-62EA-C08F7D2DF7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C65BD-3575-91FB-EB5F-7E98EE69EE79}"/>
              </a:ext>
            </a:extLst>
          </p:cNvPr>
          <p:cNvSpPr>
            <a:spLocks noGrp="1"/>
          </p:cNvSpPr>
          <p:nvPr>
            <p:ph type="dt" sz="half" idx="10"/>
          </p:nvPr>
        </p:nvSpPr>
        <p:spPr/>
        <p:txBody>
          <a:bodyPr/>
          <a:lstStyle/>
          <a:p>
            <a:fld id="{D0E5D855-4F39-4693-A2AA-4E6EEA7B06AC}" type="datetimeFigureOut">
              <a:rPr lang="en-US" smtClean="0"/>
              <a:t>9/16/2025</a:t>
            </a:fld>
            <a:endParaRPr lang="en-US"/>
          </a:p>
        </p:txBody>
      </p:sp>
      <p:sp>
        <p:nvSpPr>
          <p:cNvPr id="5" name="Footer Placeholder 4">
            <a:extLst>
              <a:ext uri="{FF2B5EF4-FFF2-40B4-BE49-F238E27FC236}">
                <a16:creationId xmlns:a16="http://schemas.microsoft.com/office/drawing/2014/main" id="{88D9B427-1133-AD60-481B-0395582E78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170CD1-7EEB-92C8-8D35-EF25C77344A0}"/>
              </a:ext>
            </a:extLst>
          </p:cNvPr>
          <p:cNvSpPr>
            <a:spLocks noGrp="1"/>
          </p:cNvSpPr>
          <p:nvPr>
            <p:ph type="sldNum" sz="quarter" idx="12"/>
          </p:nvPr>
        </p:nvSpPr>
        <p:spPr/>
        <p:txBody>
          <a:bodyPr/>
          <a:lstStyle/>
          <a:p>
            <a:fld id="{1B4E4BE3-0FBF-4315-8DA5-2887C666C04C}" type="slidenum">
              <a:rPr lang="en-US" smtClean="0"/>
              <a:t>‹#›</a:t>
            </a:fld>
            <a:endParaRPr lang="en-US"/>
          </a:p>
        </p:txBody>
      </p:sp>
    </p:spTree>
    <p:extLst>
      <p:ext uri="{BB962C8B-B14F-4D97-AF65-F5344CB8AC3E}">
        <p14:creationId xmlns:p14="http://schemas.microsoft.com/office/powerpoint/2010/main" val="2738714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BC588C-45A1-4399-B145-D622F6460D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7F93E2-8BA7-88A3-810C-E043832D1C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8CB5C1-D90B-865A-B157-B1F4437F37F2}"/>
              </a:ext>
            </a:extLst>
          </p:cNvPr>
          <p:cNvSpPr>
            <a:spLocks noGrp="1"/>
          </p:cNvSpPr>
          <p:nvPr>
            <p:ph type="dt" sz="half" idx="10"/>
          </p:nvPr>
        </p:nvSpPr>
        <p:spPr/>
        <p:txBody>
          <a:bodyPr/>
          <a:lstStyle/>
          <a:p>
            <a:fld id="{D0E5D855-4F39-4693-A2AA-4E6EEA7B06AC}" type="datetimeFigureOut">
              <a:rPr lang="en-US" smtClean="0"/>
              <a:t>9/16/2025</a:t>
            </a:fld>
            <a:endParaRPr lang="en-US"/>
          </a:p>
        </p:txBody>
      </p:sp>
      <p:sp>
        <p:nvSpPr>
          <p:cNvPr id="5" name="Footer Placeholder 4">
            <a:extLst>
              <a:ext uri="{FF2B5EF4-FFF2-40B4-BE49-F238E27FC236}">
                <a16:creationId xmlns:a16="http://schemas.microsoft.com/office/drawing/2014/main" id="{B44881A8-A594-967C-D475-AA2D029FD2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3A6765-D6F6-2B73-498B-1B7BA7B064D7}"/>
              </a:ext>
            </a:extLst>
          </p:cNvPr>
          <p:cNvSpPr>
            <a:spLocks noGrp="1"/>
          </p:cNvSpPr>
          <p:nvPr>
            <p:ph type="sldNum" sz="quarter" idx="12"/>
          </p:nvPr>
        </p:nvSpPr>
        <p:spPr/>
        <p:txBody>
          <a:bodyPr/>
          <a:lstStyle/>
          <a:p>
            <a:fld id="{1B4E4BE3-0FBF-4315-8DA5-2887C666C04C}" type="slidenum">
              <a:rPr lang="en-US" smtClean="0"/>
              <a:t>‹#›</a:t>
            </a:fld>
            <a:endParaRPr lang="en-US"/>
          </a:p>
        </p:txBody>
      </p:sp>
    </p:spTree>
    <p:extLst>
      <p:ext uri="{BB962C8B-B14F-4D97-AF65-F5344CB8AC3E}">
        <p14:creationId xmlns:p14="http://schemas.microsoft.com/office/powerpoint/2010/main" val="2910448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0CE559-0F92-5533-8F52-999FA58B69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131A13-2F39-718C-F2B9-E07F2E6338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765821-9449-4C16-66CF-59AAD5E017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E5D855-4F39-4693-A2AA-4E6EEA7B06AC}" type="datetimeFigureOut">
              <a:rPr lang="en-US" smtClean="0"/>
              <a:t>9/16/2025</a:t>
            </a:fld>
            <a:endParaRPr lang="en-US"/>
          </a:p>
        </p:txBody>
      </p:sp>
      <p:sp>
        <p:nvSpPr>
          <p:cNvPr id="5" name="Footer Placeholder 4">
            <a:extLst>
              <a:ext uri="{FF2B5EF4-FFF2-40B4-BE49-F238E27FC236}">
                <a16:creationId xmlns:a16="http://schemas.microsoft.com/office/drawing/2014/main" id="{0B895031-CC83-47A1-FBEB-FB7EEFD45C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FD2700-8009-6844-79C7-8083A86557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4E4BE3-0FBF-4315-8DA5-2887C666C04C}" type="slidenum">
              <a:rPr lang="en-US" smtClean="0"/>
              <a:t>‹#›</a:t>
            </a:fld>
            <a:endParaRPr lang="en-US"/>
          </a:p>
        </p:txBody>
      </p:sp>
    </p:spTree>
    <p:extLst>
      <p:ext uri="{BB962C8B-B14F-4D97-AF65-F5344CB8AC3E}">
        <p14:creationId xmlns:p14="http://schemas.microsoft.com/office/powerpoint/2010/main" val="1107436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cn.vuejs.org/guide/scaling-up/ssr#cross-request-state-pollution"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image" Target="../media/image16.png"/><Relationship Id="rId16"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19" Type="http://schemas.openxmlformats.org/officeDocument/2006/relationships/image" Target="../media/image33.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3.png"/></Relationships>
</file>

<file path=ppt/slides/_rels/slide10.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hyperlink" Target="https://blog.csdn.net/m0_69378371/article/details/145023344" TargetMode="External"/><Relationship Id="rId7" Type="http://schemas.openxmlformats.org/officeDocument/2006/relationships/image" Target="../media/image550.pn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540.png"/><Relationship Id="rId5" Type="http://schemas.openxmlformats.org/officeDocument/2006/relationships/image" Target="../media/image55.png"/><Relationship Id="rId10" Type="http://schemas.openxmlformats.org/officeDocument/2006/relationships/image" Target="../media/image51.png"/><Relationship Id="rId4" Type="http://schemas.openxmlformats.org/officeDocument/2006/relationships/image" Target="../media/image52.png"/><Relationship Id="rId9" Type="http://schemas.openxmlformats.org/officeDocument/2006/relationships/image" Target="../media/image57.png"/></Relationships>
</file>

<file path=ppt/slides/_rels/slide1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7.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1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4.png"/><Relationship Id="rId4" Type="http://schemas.openxmlformats.org/officeDocument/2006/relationships/image" Target="../media/image6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8.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7.png"/><Relationship Id="rId7" Type="http://schemas.openxmlformats.org/officeDocument/2006/relationships/image" Target="../media/image104.png"/><Relationship Id="rId2" Type="http://schemas.openxmlformats.org/officeDocument/2006/relationships/image" Target="../media/image99.png"/><Relationship Id="rId1" Type="http://schemas.openxmlformats.org/officeDocument/2006/relationships/slideLayout" Target="../slideLayouts/slideLayout7.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8.png"/></Relationships>
</file>

<file path=ppt/slides/_rels/slide4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3.png"/><Relationship Id="rId1" Type="http://schemas.openxmlformats.org/officeDocument/2006/relationships/slideLayout" Target="../slideLayouts/slideLayout7.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48.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15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6.png"/><Relationship Id="rId1" Type="http://schemas.openxmlformats.org/officeDocument/2006/relationships/slideLayout" Target="../slideLayouts/slideLayout7.xml"/><Relationship Id="rId5" Type="http://schemas.openxmlformats.org/officeDocument/2006/relationships/image" Target="../media/image117.png"/><Relationship Id="rId4" Type="http://schemas.openxmlformats.org/officeDocument/2006/relationships/image" Target="../media/image115.png"/></Relationships>
</file>

<file path=ppt/slides/_rels/slide6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rgbClr val="44BD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Arial" panose="020B0604020202020204" pitchFamily="34" charset="0"/>
              </a:rPr>
              <a:t> </a:t>
            </a:r>
            <a:r>
              <a:rPr kumimoji="0" lang="zh-CN" altLang="en-US" sz="2800" b="0" i="0" u="none" strike="noStrike" cap="none" normalizeH="0" baseline="0" dirty="0">
                <a:ln>
                  <a:noFill/>
                </a:ln>
                <a:solidFill>
                  <a:schemeClr val="tx1"/>
                </a:solidFill>
                <a:effectLst/>
                <a:latin typeface="Arial" panose="020B0604020202020204" pitchFamily="34" charset="0"/>
              </a:rPr>
              <a:t> </a:t>
            </a:r>
            <a:endParaRPr kumimoji="0" lang="en-US" altLang="zh-CN"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a:ln>
                <a:noFill/>
              </a:ln>
              <a:solidFill>
                <a:schemeClr val="tx1"/>
              </a:solidFill>
              <a:effectLst/>
              <a:latin typeface="Arial" panose="020B0604020202020204" pitchFamily="34" charset="0"/>
            </a:endParaRPr>
          </a:p>
        </p:txBody>
      </p:sp>
      <p:grpSp>
        <p:nvGrpSpPr>
          <p:cNvPr id="32" name="Group 31">
            <a:extLst>
              <a:ext uri="{FF2B5EF4-FFF2-40B4-BE49-F238E27FC236}">
                <a16:creationId xmlns:a16="http://schemas.microsoft.com/office/drawing/2014/main" id="{D33D2A8E-C72B-F3B7-6650-AC27545A940A}"/>
              </a:ext>
            </a:extLst>
          </p:cNvPr>
          <p:cNvGrpSpPr/>
          <p:nvPr/>
        </p:nvGrpSpPr>
        <p:grpSpPr>
          <a:xfrm>
            <a:off x="3106161" y="5523518"/>
            <a:ext cx="4386653" cy="1126259"/>
            <a:chOff x="7614613" y="5950488"/>
            <a:chExt cx="4386653" cy="1126259"/>
          </a:xfrm>
        </p:grpSpPr>
        <p:sp>
          <p:nvSpPr>
            <p:cNvPr id="30" name="Rectangle: Rounded Corners 29">
              <a:extLst>
                <a:ext uri="{FF2B5EF4-FFF2-40B4-BE49-F238E27FC236}">
                  <a16:creationId xmlns:a16="http://schemas.microsoft.com/office/drawing/2014/main" id="{A87CBF22-2A69-A7B1-0210-035DA3F644B2}"/>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▶拓展</a:t>
              </a:r>
              <a:endParaRPr lang="en-US" altLang="zh-CN" sz="1200" dirty="0">
                <a:solidFill>
                  <a:schemeClr val="bg1"/>
                </a:solidFill>
                <a:latin typeface="ui-monospace"/>
              </a:endParaRPr>
            </a:p>
          </p:txBody>
        </p:sp>
        <p:sp>
          <p:nvSpPr>
            <p:cNvPr id="31" name="TextBox 30">
              <a:extLst>
                <a:ext uri="{FF2B5EF4-FFF2-40B4-BE49-F238E27FC236}">
                  <a16:creationId xmlns:a16="http://schemas.microsoft.com/office/drawing/2014/main" id="{2BC95877-7080-57DE-E862-3D4C677B13EE}"/>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rgbClr val="44BD86"/>
                  </a:solidFill>
                  <a:latin typeface="ui-monospace"/>
                </a:rPr>
                <a:t>组合式函数</a:t>
              </a:r>
              <a:endParaRPr lang="en-US" altLang="zh-CN" sz="1200" dirty="0">
                <a:solidFill>
                  <a:srgbClr val="44BD86"/>
                </a:solidFill>
                <a:latin typeface="ui-monospace"/>
              </a:endParaRPr>
            </a:p>
            <a:p>
              <a:r>
                <a:rPr lang="zh-CN" altLang="en-US" sz="1200" dirty="0">
                  <a:solidFill>
                    <a:srgbClr val="44BD86"/>
                  </a:solidFill>
                  <a:latin typeface="ui-monospace"/>
                </a:rPr>
                <a:t>自定义指令</a:t>
              </a:r>
              <a:endParaRPr lang="en-US" altLang="zh-CN" sz="1200" dirty="0">
                <a:solidFill>
                  <a:srgbClr val="44BD86"/>
                </a:solidFill>
                <a:latin typeface="ui-monospace"/>
              </a:endParaRPr>
            </a:p>
            <a:p>
              <a:r>
                <a:rPr lang="en-US" altLang="zh-CN" sz="1200" dirty="0">
                  <a:solidFill>
                    <a:srgbClr val="44BD86"/>
                  </a:solidFill>
                  <a:latin typeface="ui-monospace"/>
                </a:rPr>
                <a:t>&lt;Teleport to=</a:t>
              </a:r>
              <a:r>
                <a:rPr lang="en-US" sz="1200" dirty="0">
                  <a:solidFill>
                    <a:srgbClr val="44BD86"/>
                  </a:solidFill>
                  <a:latin typeface="ui-monospace"/>
                </a:rPr>
                <a:t>"</a:t>
              </a:r>
              <a:r>
                <a:rPr lang="en-US" altLang="zh-CN" sz="1200" dirty="0">
                  <a:solidFill>
                    <a:srgbClr val="44BD86"/>
                  </a:solidFill>
                  <a:latin typeface="ui-monospace"/>
                </a:rPr>
                <a:t>body</a:t>
              </a:r>
              <a:r>
                <a:rPr lang="en-US" sz="1200" dirty="0">
                  <a:solidFill>
                    <a:srgbClr val="44BD86"/>
                  </a:solidFill>
                  <a:latin typeface="ui-monospace"/>
                </a:rPr>
                <a:t>"</a:t>
              </a:r>
              <a:r>
                <a:rPr lang="en-US" altLang="zh-CN" sz="1200" dirty="0">
                  <a:solidFill>
                    <a:srgbClr val="44BD86"/>
                  </a:solidFill>
                  <a:latin typeface="ui-monospace"/>
                </a:rPr>
                <a:t>&gt;&lt;/Teleport&gt;</a:t>
              </a:r>
            </a:p>
            <a:p>
              <a:r>
                <a:rPr lang="zh-CN" altLang="en-US" sz="1200" dirty="0">
                  <a:solidFill>
                    <a:srgbClr val="44BD86"/>
                  </a:solidFill>
                  <a:latin typeface="ui-monospace"/>
                </a:rPr>
                <a:t>单元测试</a:t>
              </a:r>
              <a:endParaRPr lang="en-US" altLang="zh-CN" sz="1200" dirty="0">
                <a:solidFill>
                  <a:srgbClr val="44BD86"/>
                </a:solidFill>
                <a:latin typeface="ui-monospace"/>
              </a:endParaRPr>
            </a:p>
          </p:txBody>
        </p:sp>
      </p:grpSp>
      <p:grpSp>
        <p:nvGrpSpPr>
          <p:cNvPr id="33" name="Group 32">
            <a:extLst>
              <a:ext uri="{FF2B5EF4-FFF2-40B4-BE49-F238E27FC236}">
                <a16:creationId xmlns:a16="http://schemas.microsoft.com/office/drawing/2014/main" id="{B669CF29-58BB-DB19-E1A0-5A9E43620F75}"/>
              </a:ext>
            </a:extLst>
          </p:cNvPr>
          <p:cNvGrpSpPr/>
          <p:nvPr/>
        </p:nvGrpSpPr>
        <p:grpSpPr>
          <a:xfrm>
            <a:off x="7679921" y="149450"/>
            <a:ext cx="4386653" cy="572261"/>
            <a:chOff x="7614613" y="5950488"/>
            <a:chExt cx="4386653" cy="572261"/>
          </a:xfrm>
        </p:grpSpPr>
        <p:sp>
          <p:nvSpPr>
            <p:cNvPr id="34" name="Rectangle: Rounded Corners 33">
              <a:extLst>
                <a:ext uri="{FF2B5EF4-FFF2-40B4-BE49-F238E27FC236}">
                  <a16:creationId xmlns:a16="http://schemas.microsoft.com/office/drawing/2014/main" id="{96BAD8AD-3198-E06A-3088-04BB09BD598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▶响应式变量</a:t>
              </a:r>
              <a:endParaRPr lang="en-US" altLang="zh-CN" sz="1200" dirty="0">
                <a:solidFill>
                  <a:schemeClr val="bg1"/>
                </a:solidFill>
                <a:latin typeface="ui-monospace"/>
              </a:endParaRPr>
            </a:p>
          </p:txBody>
        </p:sp>
        <p:sp>
          <p:nvSpPr>
            <p:cNvPr id="35" name="TextBox 34">
              <a:extLst>
                <a:ext uri="{FF2B5EF4-FFF2-40B4-BE49-F238E27FC236}">
                  <a16:creationId xmlns:a16="http://schemas.microsoft.com/office/drawing/2014/main" id="{441AD841-B020-834F-3FCE-AAA92E0E965B}"/>
                </a:ext>
              </a:extLst>
            </p:cNvPr>
            <p:cNvSpPr txBox="1"/>
            <p:nvPr/>
          </p:nvSpPr>
          <p:spPr>
            <a:xfrm>
              <a:off x="7667294" y="6245750"/>
              <a:ext cx="4281578" cy="276999"/>
            </a:xfrm>
            <a:prstGeom prst="rect">
              <a:avLst/>
            </a:prstGeom>
            <a:noFill/>
          </p:spPr>
          <p:txBody>
            <a:bodyPr wrap="square">
              <a:spAutoFit/>
            </a:bodyPr>
            <a:lstStyle/>
            <a:p>
              <a:r>
                <a:rPr lang="en-US" sz="1200" dirty="0">
                  <a:solidFill>
                    <a:srgbClr val="44BD86"/>
                  </a:solidFill>
                  <a:latin typeface="ui-monospace"/>
                </a:rPr>
                <a:t>ref(0) / reactive({…}) / </a:t>
              </a:r>
              <a:r>
                <a:rPr lang="en-US" sz="1200" dirty="0" err="1">
                  <a:solidFill>
                    <a:srgbClr val="44BD86"/>
                  </a:solidFill>
                  <a:latin typeface="ui-monospace"/>
                </a:rPr>
                <a:t>toRef</a:t>
              </a:r>
              <a:r>
                <a:rPr lang="en-US" sz="1200" dirty="0">
                  <a:solidFill>
                    <a:srgbClr val="44BD86"/>
                  </a:solidFill>
                  <a:latin typeface="ui-monospace"/>
                </a:rPr>
                <a:t>()</a:t>
              </a:r>
            </a:p>
          </p:txBody>
        </p:sp>
      </p:grpSp>
      <p:grpSp>
        <p:nvGrpSpPr>
          <p:cNvPr id="36" name="Group 35">
            <a:extLst>
              <a:ext uri="{FF2B5EF4-FFF2-40B4-BE49-F238E27FC236}">
                <a16:creationId xmlns:a16="http://schemas.microsoft.com/office/drawing/2014/main" id="{9EFD5587-1236-0D5A-092B-896B6AD9DAA1}"/>
              </a:ext>
            </a:extLst>
          </p:cNvPr>
          <p:cNvGrpSpPr/>
          <p:nvPr/>
        </p:nvGrpSpPr>
        <p:grpSpPr>
          <a:xfrm>
            <a:off x="7679923" y="2197263"/>
            <a:ext cx="4386653" cy="1126259"/>
            <a:chOff x="7614613" y="5950488"/>
            <a:chExt cx="4386653" cy="1126259"/>
          </a:xfrm>
        </p:grpSpPr>
        <p:sp>
          <p:nvSpPr>
            <p:cNvPr id="37" name="Rectangle: Rounded Corners 36">
              <a:extLst>
                <a:ext uri="{FF2B5EF4-FFF2-40B4-BE49-F238E27FC236}">
                  <a16:creationId xmlns:a16="http://schemas.microsoft.com/office/drawing/2014/main" id="{E8979E40-0C50-F7E1-EFD6-73DBA2FB1BB6}"/>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▶内置指令 </a:t>
              </a:r>
              <a:r>
                <a:rPr lang="en-US" altLang="zh-CN" sz="1200" dirty="0">
                  <a:solidFill>
                    <a:schemeClr val="bg1"/>
                  </a:solidFill>
                  <a:latin typeface="ui-monospace"/>
                </a:rPr>
                <a:t>directives</a:t>
              </a:r>
            </a:p>
          </p:txBody>
        </p:sp>
        <p:sp>
          <p:nvSpPr>
            <p:cNvPr id="38" name="TextBox 37">
              <a:extLst>
                <a:ext uri="{FF2B5EF4-FFF2-40B4-BE49-F238E27FC236}">
                  <a16:creationId xmlns:a16="http://schemas.microsoft.com/office/drawing/2014/main" id="{86B99746-F643-49D7-A29D-2B0CAA99A6EF}"/>
                </a:ext>
              </a:extLst>
            </p:cNvPr>
            <p:cNvSpPr txBox="1"/>
            <p:nvPr/>
          </p:nvSpPr>
          <p:spPr>
            <a:xfrm>
              <a:off x="7667294" y="6245750"/>
              <a:ext cx="4281578" cy="830997"/>
            </a:xfrm>
            <a:prstGeom prst="rect">
              <a:avLst/>
            </a:prstGeom>
            <a:noFill/>
          </p:spPr>
          <p:txBody>
            <a:bodyPr wrap="square">
              <a:spAutoFit/>
            </a:bodyPr>
            <a:lstStyle/>
            <a:p>
              <a:r>
                <a:rPr lang="en-US" sz="1200" dirty="0">
                  <a:solidFill>
                    <a:srgbClr val="44BD86"/>
                  </a:solidFill>
                  <a:latin typeface="ui-monospace"/>
                </a:rPr>
                <a:t>v-if v-else-if v-else</a:t>
              </a:r>
            </a:p>
            <a:p>
              <a:r>
                <a:rPr lang="en-US" sz="1200" dirty="0">
                  <a:solidFill>
                    <a:srgbClr val="44BD86"/>
                  </a:solidFill>
                  <a:latin typeface="ui-monospace"/>
                </a:rPr>
                <a:t>v-for="(item, index) in list"</a:t>
              </a:r>
            </a:p>
            <a:p>
              <a:r>
                <a:rPr lang="en-US" sz="1200" dirty="0">
                  <a:solidFill>
                    <a:srgbClr val="44BD86"/>
                  </a:solidFill>
                  <a:latin typeface="ui-monospace"/>
                </a:rPr>
                <a:t>v-for="(value, key, index) in object"</a:t>
              </a:r>
            </a:p>
            <a:p>
              <a:r>
                <a:rPr lang="en-US" sz="1200" dirty="0">
                  <a:solidFill>
                    <a:srgbClr val="44BD86"/>
                  </a:solidFill>
                  <a:latin typeface="ui-monospace"/>
                </a:rPr>
                <a:t>v-if</a:t>
              </a:r>
              <a:r>
                <a:rPr lang="zh-CN" altLang="en-US" sz="1200" dirty="0">
                  <a:solidFill>
                    <a:srgbClr val="44BD86"/>
                  </a:solidFill>
                  <a:latin typeface="ui-monospace"/>
                </a:rPr>
                <a:t>的优先级高于</a:t>
              </a:r>
              <a:r>
                <a:rPr lang="en-US" altLang="zh-CN" sz="1200" dirty="0">
                  <a:solidFill>
                    <a:srgbClr val="44BD86"/>
                  </a:solidFill>
                  <a:latin typeface="ui-monospace"/>
                </a:rPr>
                <a:t>v-for</a:t>
              </a:r>
              <a:endParaRPr lang="en-US" sz="1200" dirty="0">
                <a:solidFill>
                  <a:srgbClr val="44BD86"/>
                </a:solidFill>
              </a:endParaRPr>
            </a:p>
          </p:txBody>
        </p:sp>
      </p:grpSp>
      <p:grpSp>
        <p:nvGrpSpPr>
          <p:cNvPr id="51" name="Group 50">
            <a:extLst>
              <a:ext uri="{FF2B5EF4-FFF2-40B4-BE49-F238E27FC236}">
                <a16:creationId xmlns:a16="http://schemas.microsoft.com/office/drawing/2014/main" id="{6CCC70EF-A6C8-446A-9C7D-55E4CDCCDD3D}"/>
              </a:ext>
            </a:extLst>
          </p:cNvPr>
          <p:cNvGrpSpPr/>
          <p:nvPr/>
        </p:nvGrpSpPr>
        <p:grpSpPr>
          <a:xfrm>
            <a:off x="7679924" y="725898"/>
            <a:ext cx="4391408" cy="1512010"/>
            <a:chOff x="7471489" y="743546"/>
            <a:chExt cx="4391408" cy="1512010"/>
          </a:xfrm>
        </p:grpSpPr>
        <p:pic>
          <p:nvPicPr>
            <p:cNvPr id="1026" name="Picture 2" descr="指令语法图">
              <a:extLst>
                <a:ext uri="{FF2B5EF4-FFF2-40B4-BE49-F238E27FC236}">
                  <a16:creationId xmlns:a16="http://schemas.microsoft.com/office/drawing/2014/main" id="{F0867108-DBB4-EF9B-8628-8A068CEB75B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672"/>
            <a:stretch/>
          </p:blipFill>
          <p:spPr bwMode="auto">
            <a:xfrm>
              <a:off x="7515225" y="909978"/>
              <a:ext cx="3800691" cy="1345578"/>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Rounded Corners 19">
              <a:extLst>
                <a:ext uri="{FF2B5EF4-FFF2-40B4-BE49-F238E27FC236}">
                  <a16:creationId xmlns:a16="http://schemas.microsoft.com/office/drawing/2014/main" id="{9AD2CA1D-07FB-EBE7-3DF7-EE269738B2F4}"/>
                </a:ext>
              </a:extLst>
            </p:cNvPr>
            <p:cNvSpPr/>
            <p:nvPr/>
          </p:nvSpPr>
          <p:spPr>
            <a:xfrm>
              <a:off x="7471489" y="743546"/>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▶文本插值 </a:t>
              </a:r>
              <a:r>
                <a:rPr lang="en-US" altLang="zh-CN" sz="1200" dirty="0">
                  <a:solidFill>
                    <a:schemeClr val="bg1"/>
                  </a:solidFill>
                  <a:latin typeface="ui-monospace"/>
                </a:rPr>
                <a:t>/ </a:t>
              </a:r>
              <a:r>
                <a:rPr lang="en-US" altLang="zh-CN" sz="1200" dirty="0" err="1">
                  <a:solidFill>
                    <a:schemeClr val="bg1"/>
                  </a:solidFill>
                  <a:latin typeface="ui-monospace"/>
                </a:rPr>
                <a:t>attr</a:t>
              </a:r>
              <a:r>
                <a:rPr lang="zh-CN" altLang="en-US" sz="1200" dirty="0">
                  <a:solidFill>
                    <a:schemeClr val="bg1"/>
                  </a:solidFill>
                  <a:latin typeface="ui-monospace"/>
                </a:rPr>
                <a:t>绑定 </a:t>
              </a:r>
              <a:r>
                <a:rPr lang="en-US" altLang="zh-CN" sz="1200" dirty="0">
                  <a:solidFill>
                    <a:schemeClr val="bg1"/>
                  </a:solidFill>
                  <a:latin typeface="ui-monospace"/>
                </a:rPr>
                <a:t>/ class / style</a:t>
              </a:r>
              <a:r>
                <a:rPr lang="zh-CN" altLang="en-US" sz="1200" dirty="0">
                  <a:solidFill>
                    <a:schemeClr val="bg1"/>
                  </a:solidFill>
                  <a:latin typeface="ui-monospace"/>
                </a:rPr>
                <a:t> </a:t>
              </a:r>
              <a:r>
                <a:rPr lang="en-US" altLang="zh-CN" sz="1200" dirty="0">
                  <a:solidFill>
                    <a:schemeClr val="bg1"/>
                  </a:solidFill>
                  <a:latin typeface="ui-monospace"/>
                </a:rPr>
                <a:t>/ v-model / v-bind / v-on</a:t>
              </a:r>
            </a:p>
          </p:txBody>
        </p:sp>
        <p:sp>
          <p:nvSpPr>
            <p:cNvPr id="42" name="TextBox 41">
              <a:extLst>
                <a:ext uri="{FF2B5EF4-FFF2-40B4-BE49-F238E27FC236}">
                  <a16:creationId xmlns:a16="http://schemas.microsoft.com/office/drawing/2014/main" id="{4BD512FD-A5DC-E5E2-4369-B424FBB43337}"/>
                </a:ext>
              </a:extLst>
            </p:cNvPr>
            <p:cNvSpPr txBox="1"/>
            <p:nvPr/>
          </p:nvSpPr>
          <p:spPr>
            <a:xfrm>
              <a:off x="11118686" y="1038808"/>
              <a:ext cx="744211" cy="1200329"/>
            </a:xfrm>
            <a:prstGeom prst="rect">
              <a:avLst/>
            </a:prstGeom>
            <a:noFill/>
          </p:spPr>
          <p:txBody>
            <a:bodyPr wrap="square">
              <a:spAutoFit/>
            </a:bodyPr>
            <a:lstStyle/>
            <a:p>
              <a:r>
                <a:rPr lang="en-US" sz="1200" dirty="0">
                  <a:solidFill>
                    <a:srgbClr val="44BD86"/>
                  </a:solidFill>
                </a:rPr>
                <a:t>.stop</a:t>
              </a:r>
            </a:p>
            <a:p>
              <a:r>
                <a:rPr lang="en-US" sz="1200" dirty="0">
                  <a:solidFill>
                    <a:srgbClr val="44BD86"/>
                  </a:solidFill>
                </a:rPr>
                <a:t>.prevent</a:t>
              </a:r>
            </a:p>
            <a:p>
              <a:r>
                <a:rPr lang="en-US" sz="1200" dirty="0">
                  <a:solidFill>
                    <a:srgbClr val="44BD86"/>
                  </a:solidFill>
                </a:rPr>
                <a:t>.self</a:t>
              </a:r>
            </a:p>
            <a:p>
              <a:r>
                <a:rPr lang="en-US" sz="1200" dirty="0">
                  <a:solidFill>
                    <a:srgbClr val="44BD86"/>
                  </a:solidFill>
                </a:rPr>
                <a:t>.capture</a:t>
              </a:r>
            </a:p>
            <a:p>
              <a:r>
                <a:rPr lang="en-US" sz="1200" dirty="0">
                  <a:solidFill>
                    <a:srgbClr val="44BD86"/>
                  </a:solidFill>
                </a:rPr>
                <a:t>.once</a:t>
              </a:r>
            </a:p>
            <a:p>
              <a:r>
                <a:rPr lang="en-US" sz="1200" dirty="0">
                  <a:solidFill>
                    <a:srgbClr val="44BD86"/>
                  </a:solidFill>
                </a:rPr>
                <a:t>.passive</a:t>
              </a:r>
            </a:p>
          </p:txBody>
        </p:sp>
      </p:grpSp>
      <p:grpSp>
        <p:nvGrpSpPr>
          <p:cNvPr id="43" name="Group 42">
            <a:extLst>
              <a:ext uri="{FF2B5EF4-FFF2-40B4-BE49-F238E27FC236}">
                <a16:creationId xmlns:a16="http://schemas.microsoft.com/office/drawing/2014/main" id="{66784C57-A160-C9B4-F2F4-69707C3C2648}"/>
              </a:ext>
            </a:extLst>
          </p:cNvPr>
          <p:cNvGrpSpPr/>
          <p:nvPr/>
        </p:nvGrpSpPr>
        <p:grpSpPr>
          <a:xfrm>
            <a:off x="7679923" y="3321726"/>
            <a:ext cx="4386653" cy="941593"/>
            <a:chOff x="7614613" y="5950488"/>
            <a:chExt cx="4386653" cy="941593"/>
          </a:xfrm>
        </p:grpSpPr>
        <p:sp>
          <p:nvSpPr>
            <p:cNvPr id="44" name="Rectangle: Rounded Corners 43">
              <a:extLst>
                <a:ext uri="{FF2B5EF4-FFF2-40B4-BE49-F238E27FC236}">
                  <a16:creationId xmlns:a16="http://schemas.microsoft.com/office/drawing/2014/main" id="{EC69D1AA-7899-9698-E9EF-DDBC635CB9F1}"/>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▶侦听器 </a:t>
              </a:r>
              <a:r>
                <a:rPr lang="en-US" altLang="zh-CN" sz="1200" dirty="0">
                  <a:solidFill>
                    <a:schemeClr val="bg1"/>
                  </a:solidFill>
                  <a:latin typeface="ui-monospace"/>
                </a:rPr>
                <a:t>watch (</a:t>
              </a:r>
              <a:r>
                <a:rPr lang="zh-CN" altLang="en-US" sz="1200" dirty="0"/>
                <a:t>监听响应式数据的变化并执行副作用函数</a:t>
              </a:r>
              <a:r>
                <a:rPr lang="en-US" altLang="zh-CN" sz="1200" dirty="0"/>
                <a:t>)</a:t>
              </a:r>
              <a:endParaRPr lang="en-US" altLang="zh-CN" sz="1200" dirty="0">
                <a:solidFill>
                  <a:schemeClr val="bg1"/>
                </a:solidFill>
                <a:latin typeface="ui-monospace"/>
              </a:endParaRPr>
            </a:p>
          </p:txBody>
        </p:sp>
        <p:sp>
          <p:nvSpPr>
            <p:cNvPr id="45" name="TextBox 44">
              <a:extLst>
                <a:ext uri="{FF2B5EF4-FFF2-40B4-BE49-F238E27FC236}">
                  <a16:creationId xmlns:a16="http://schemas.microsoft.com/office/drawing/2014/main" id="{59A40619-45F7-9D3B-9103-5C301F9B5237}"/>
                </a:ext>
              </a:extLst>
            </p:cNvPr>
            <p:cNvSpPr txBox="1"/>
            <p:nvPr/>
          </p:nvSpPr>
          <p:spPr>
            <a:xfrm>
              <a:off x="7667294" y="6245750"/>
              <a:ext cx="4281578" cy="646331"/>
            </a:xfrm>
            <a:prstGeom prst="rect">
              <a:avLst/>
            </a:prstGeom>
            <a:noFill/>
          </p:spPr>
          <p:txBody>
            <a:bodyPr wrap="square">
              <a:spAutoFit/>
            </a:bodyPr>
            <a:lstStyle/>
            <a:p>
              <a:r>
                <a:rPr lang="en-US" altLang="zh-CN" sz="1200" dirty="0">
                  <a:solidFill>
                    <a:srgbClr val="44BD86"/>
                  </a:solidFill>
                  <a:latin typeface="ui-monospace"/>
                </a:rPr>
                <a:t>watch(count, (</a:t>
              </a:r>
              <a:r>
                <a:rPr lang="en-US" altLang="zh-CN" sz="1200" dirty="0" err="1">
                  <a:solidFill>
                    <a:srgbClr val="44BD86"/>
                  </a:solidFill>
                  <a:latin typeface="ui-monospace"/>
                </a:rPr>
                <a:t>newVal</a:t>
              </a:r>
              <a:r>
                <a:rPr lang="en-US" altLang="zh-CN" sz="1200" dirty="0">
                  <a:solidFill>
                    <a:srgbClr val="44BD86"/>
                  </a:solidFill>
                  <a:latin typeface="ui-monospace"/>
                </a:rPr>
                <a:t>, </a:t>
              </a:r>
              <a:r>
                <a:rPr lang="en-US" altLang="zh-CN" sz="1200" dirty="0" err="1">
                  <a:solidFill>
                    <a:srgbClr val="44BD86"/>
                  </a:solidFill>
                  <a:latin typeface="ui-monospace"/>
                </a:rPr>
                <a:t>oldVal</a:t>
              </a:r>
              <a:r>
                <a:rPr lang="en-US" altLang="zh-CN" sz="1200" dirty="0">
                  <a:solidFill>
                    <a:srgbClr val="44BD86"/>
                  </a:solidFill>
                  <a:latin typeface="ui-monospace"/>
                </a:rPr>
                <a:t>) =&gt; {}, {immediate, deep, once})</a:t>
              </a:r>
            </a:p>
            <a:p>
              <a:r>
                <a:rPr lang="en-US" altLang="zh-CN" sz="1200" dirty="0">
                  <a:solidFill>
                    <a:srgbClr val="44BD86"/>
                  </a:solidFill>
                  <a:latin typeface="ui-monospace"/>
                </a:rPr>
                <a:t>watch(() =&gt; </a:t>
              </a:r>
              <a:r>
                <a:rPr lang="en-US" altLang="zh-CN" sz="1200" dirty="0" err="1">
                  <a:solidFill>
                    <a:srgbClr val="44BD86"/>
                  </a:solidFill>
                  <a:latin typeface="ui-monospace"/>
                </a:rPr>
                <a:t>state.status</a:t>
              </a:r>
              <a:r>
                <a:rPr lang="en-US" altLang="zh-CN" sz="1200" dirty="0">
                  <a:solidFill>
                    <a:srgbClr val="44BD86"/>
                  </a:solidFill>
                  <a:latin typeface="ui-monospace"/>
                </a:rPr>
                <a:t>, (</a:t>
              </a:r>
              <a:r>
                <a:rPr lang="en-US" altLang="zh-CN" sz="1200" dirty="0" err="1">
                  <a:solidFill>
                    <a:srgbClr val="44BD86"/>
                  </a:solidFill>
                  <a:latin typeface="ui-monospace"/>
                </a:rPr>
                <a:t>newVal</a:t>
              </a:r>
              <a:r>
                <a:rPr lang="en-US" altLang="zh-CN" sz="1200" dirty="0">
                  <a:solidFill>
                    <a:srgbClr val="44BD86"/>
                  </a:solidFill>
                  <a:latin typeface="ui-monospace"/>
                </a:rPr>
                <a:t>, </a:t>
              </a:r>
              <a:r>
                <a:rPr lang="en-US" altLang="zh-CN" sz="1200" dirty="0" err="1">
                  <a:solidFill>
                    <a:srgbClr val="44BD86"/>
                  </a:solidFill>
                  <a:latin typeface="ui-monospace"/>
                </a:rPr>
                <a:t>oldVal</a:t>
              </a:r>
              <a:r>
                <a:rPr lang="en-US" altLang="zh-CN" sz="1200" dirty="0">
                  <a:solidFill>
                    <a:srgbClr val="44BD86"/>
                  </a:solidFill>
                  <a:latin typeface="ui-monospace"/>
                </a:rPr>
                <a:t>) =&gt; {})</a:t>
              </a:r>
            </a:p>
            <a:p>
              <a:r>
                <a:rPr lang="en-US" sz="1200" dirty="0" err="1">
                  <a:solidFill>
                    <a:srgbClr val="44BD86"/>
                  </a:solidFill>
                </a:rPr>
                <a:t>watchEffect</a:t>
              </a:r>
              <a:r>
                <a:rPr lang="en-US" sz="1200" dirty="0">
                  <a:solidFill>
                    <a:srgbClr val="44BD86"/>
                  </a:solidFill>
                </a:rPr>
                <a:t>(id, async() =&gt; {})</a:t>
              </a:r>
            </a:p>
          </p:txBody>
        </p:sp>
      </p:grpSp>
      <p:grpSp>
        <p:nvGrpSpPr>
          <p:cNvPr id="48" name="Group 47">
            <a:extLst>
              <a:ext uri="{FF2B5EF4-FFF2-40B4-BE49-F238E27FC236}">
                <a16:creationId xmlns:a16="http://schemas.microsoft.com/office/drawing/2014/main" id="{22FFB50E-4AEE-7EFC-DD25-6CD90C318304}"/>
              </a:ext>
            </a:extLst>
          </p:cNvPr>
          <p:cNvGrpSpPr/>
          <p:nvPr/>
        </p:nvGrpSpPr>
        <p:grpSpPr>
          <a:xfrm>
            <a:off x="7679922" y="4254146"/>
            <a:ext cx="4386653" cy="1310925"/>
            <a:chOff x="7614613" y="5950488"/>
            <a:chExt cx="4386653" cy="1310925"/>
          </a:xfrm>
        </p:grpSpPr>
        <p:sp>
          <p:nvSpPr>
            <p:cNvPr id="49" name="Rectangle: Rounded Corners 48">
              <a:extLst>
                <a:ext uri="{FF2B5EF4-FFF2-40B4-BE49-F238E27FC236}">
                  <a16:creationId xmlns:a16="http://schemas.microsoft.com/office/drawing/2014/main" id="{27AB0404-6DA2-28F3-664A-E77C91432A2E}"/>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▶计算属性 </a:t>
              </a:r>
              <a:r>
                <a:rPr lang="en-US" altLang="zh-CN" sz="1200" dirty="0">
                  <a:solidFill>
                    <a:schemeClr val="bg1"/>
                  </a:solidFill>
                  <a:latin typeface="ui-monospace"/>
                </a:rPr>
                <a:t>computed (</a:t>
              </a:r>
              <a:r>
                <a:rPr lang="en-US" sz="1200" dirty="0"/>
                <a:t>ref</a:t>
              </a:r>
              <a:r>
                <a:rPr lang="zh-CN" altLang="en-US" sz="1200" dirty="0"/>
                <a:t>类型只读计算值</a:t>
              </a:r>
              <a:r>
                <a:rPr lang="en-US" altLang="zh-CN" sz="1200" dirty="0"/>
                <a:t>)</a:t>
              </a:r>
              <a:endParaRPr lang="en-US" altLang="zh-CN" sz="1200" dirty="0">
                <a:solidFill>
                  <a:schemeClr val="bg1"/>
                </a:solidFill>
                <a:latin typeface="ui-monospace"/>
              </a:endParaRPr>
            </a:p>
          </p:txBody>
        </p:sp>
        <p:sp>
          <p:nvSpPr>
            <p:cNvPr id="50" name="TextBox 49">
              <a:extLst>
                <a:ext uri="{FF2B5EF4-FFF2-40B4-BE49-F238E27FC236}">
                  <a16:creationId xmlns:a16="http://schemas.microsoft.com/office/drawing/2014/main" id="{1EB24140-48E4-8B40-7D5D-7DC281AFB234}"/>
                </a:ext>
              </a:extLst>
            </p:cNvPr>
            <p:cNvSpPr txBox="1"/>
            <p:nvPr/>
          </p:nvSpPr>
          <p:spPr>
            <a:xfrm>
              <a:off x="7667294" y="6245750"/>
              <a:ext cx="4281578" cy="1015663"/>
            </a:xfrm>
            <a:prstGeom prst="rect">
              <a:avLst/>
            </a:prstGeom>
            <a:noFill/>
          </p:spPr>
          <p:txBody>
            <a:bodyPr wrap="square">
              <a:spAutoFit/>
            </a:bodyPr>
            <a:lstStyle/>
            <a:p>
              <a:r>
                <a:rPr lang="en-US" altLang="zh-CN" sz="1200" dirty="0">
                  <a:solidFill>
                    <a:srgbClr val="44BD86"/>
                  </a:solidFill>
                  <a:latin typeface="ui-monospace"/>
                </a:rPr>
                <a:t>const result = computed(() =&gt; value * 2)</a:t>
              </a:r>
            </a:p>
            <a:p>
              <a:r>
                <a:rPr lang="en-US" altLang="zh-CN" sz="1200" dirty="0">
                  <a:solidFill>
                    <a:srgbClr val="44BD86"/>
                  </a:solidFill>
                  <a:latin typeface="ui-monospace"/>
                </a:rPr>
                <a:t>const </a:t>
              </a:r>
              <a:r>
                <a:rPr lang="en-US" altLang="zh-CN" sz="1200" dirty="0" err="1">
                  <a:solidFill>
                    <a:srgbClr val="44BD86"/>
                  </a:solidFill>
                  <a:latin typeface="ui-monospace"/>
                </a:rPr>
                <a:t>fullName</a:t>
              </a:r>
              <a:r>
                <a:rPr lang="en-US" altLang="zh-CN" sz="1200" dirty="0">
                  <a:solidFill>
                    <a:srgbClr val="44BD86"/>
                  </a:solidFill>
                  <a:latin typeface="ui-monospace"/>
                </a:rPr>
                <a:t> = computed({</a:t>
              </a:r>
            </a:p>
            <a:p>
              <a:r>
                <a:rPr lang="en-US" altLang="zh-CN" sz="1200" dirty="0">
                  <a:solidFill>
                    <a:srgbClr val="44BD86"/>
                  </a:solidFill>
                  <a:latin typeface="ui-monospace"/>
                </a:rPr>
                <a:t>    get: () =&gt; ``,</a:t>
              </a:r>
            </a:p>
            <a:p>
              <a:r>
                <a:rPr lang="en-US" altLang="zh-CN" sz="1200" dirty="0">
                  <a:solidFill>
                    <a:srgbClr val="44BD86"/>
                  </a:solidFill>
                  <a:latin typeface="ui-monospace"/>
                </a:rPr>
                <a:t>    set: (</a:t>
              </a:r>
              <a:r>
                <a:rPr lang="en-US" altLang="zh-CN" sz="1200" dirty="0" err="1">
                  <a:solidFill>
                    <a:srgbClr val="44BD86"/>
                  </a:solidFill>
                  <a:latin typeface="ui-monospace"/>
                </a:rPr>
                <a:t>val:string</a:t>
              </a:r>
              <a:r>
                <a:rPr lang="en-US" altLang="zh-CN" sz="1200" dirty="0">
                  <a:solidFill>
                    <a:srgbClr val="44BD86"/>
                  </a:solidFill>
                  <a:latin typeface="ui-monospace"/>
                </a:rPr>
                <a:t>) =&gt; {}</a:t>
              </a:r>
            </a:p>
            <a:p>
              <a:r>
                <a:rPr lang="en-US" altLang="zh-CN" sz="1200" dirty="0">
                  <a:solidFill>
                    <a:srgbClr val="44BD86"/>
                  </a:solidFill>
                  <a:latin typeface="ui-monospace"/>
                </a:rPr>
                <a:t>})</a:t>
              </a:r>
              <a:endParaRPr lang="en-US" sz="1200" dirty="0">
                <a:solidFill>
                  <a:srgbClr val="44BD86"/>
                </a:solidFill>
              </a:endParaRPr>
            </a:p>
          </p:txBody>
        </p:sp>
      </p:grpSp>
      <p:grpSp>
        <p:nvGrpSpPr>
          <p:cNvPr id="52" name="Group 51">
            <a:extLst>
              <a:ext uri="{FF2B5EF4-FFF2-40B4-BE49-F238E27FC236}">
                <a16:creationId xmlns:a16="http://schemas.microsoft.com/office/drawing/2014/main" id="{7F44DE50-9377-2A2B-7C24-6B3A24D4135D}"/>
              </a:ext>
            </a:extLst>
          </p:cNvPr>
          <p:cNvGrpSpPr/>
          <p:nvPr/>
        </p:nvGrpSpPr>
        <p:grpSpPr>
          <a:xfrm>
            <a:off x="3106164" y="151546"/>
            <a:ext cx="4386653" cy="572261"/>
            <a:chOff x="7614613" y="5950488"/>
            <a:chExt cx="4386653" cy="572261"/>
          </a:xfrm>
        </p:grpSpPr>
        <p:sp>
          <p:nvSpPr>
            <p:cNvPr id="53" name="Rectangle: Rounded Corners 52">
              <a:extLst>
                <a:ext uri="{FF2B5EF4-FFF2-40B4-BE49-F238E27FC236}">
                  <a16:creationId xmlns:a16="http://schemas.microsoft.com/office/drawing/2014/main" id="{0E2D2E61-7153-9F4D-6CA9-4391CC561302}"/>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▶项目结构</a:t>
              </a:r>
              <a:endParaRPr lang="en-US" sz="1200" dirty="0">
                <a:solidFill>
                  <a:schemeClr val="bg1"/>
                </a:solidFill>
              </a:endParaRPr>
            </a:p>
          </p:txBody>
        </p:sp>
        <p:sp>
          <p:nvSpPr>
            <p:cNvPr id="54" name="TextBox 53">
              <a:extLst>
                <a:ext uri="{FF2B5EF4-FFF2-40B4-BE49-F238E27FC236}">
                  <a16:creationId xmlns:a16="http://schemas.microsoft.com/office/drawing/2014/main" id="{ABF720B2-9684-6EC8-A231-DAD96B70A1B7}"/>
                </a:ext>
              </a:extLst>
            </p:cNvPr>
            <p:cNvSpPr txBox="1"/>
            <p:nvPr/>
          </p:nvSpPr>
          <p:spPr>
            <a:xfrm>
              <a:off x="7667294" y="6245750"/>
              <a:ext cx="4281578" cy="276999"/>
            </a:xfrm>
            <a:prstGeom prst="rect">
              <a:avLst/>
            </a:prstGeom>
            <a:noFill/>
          </p:spPr>
          <p:txBody>
            <a:bodyPr wrap="square">
              <a:spAutoFit/>
            </a:bodyPr>
            <a:lstStyle/>
            <a:p>
              <a:r>
                <a:rPr lang="en-US" sz="1200" dirty="0" err="1">
                  <a:solidFill>
                    <a:srgbClr val="44BD86"/>
                  </a:solidFill>
                  <a:latin typeface="ui-monospace"/>
                </a:rPr>
                <a:t>vue</a:t>
              </a:r>
              <a:r>
                <a:rPr lang="en-US" sz="1200" dirty="0">
                  <a:solidFill>
                    <a:srgbClr val="44BD86"/>
                  </a:solidFill>
                  <a:latin typeface="ui-monospace"/>
                </a:rPr>
                <a:t>-template</a:t>
              </a:r>
              <a:endParaRPr lang="en-US" sz="1200" dirty="0">
                <a:solidFill>
                  <a:srgbClr val="44BD86"/>
                </a:solidFill>
              </a:endParaRPr>
            </a:p>
          </p:txBody>
        </p:sp>
      </p:grpSp>
      <p:grpSp>
        <p:nvGrpSpPr>
          <p:cNvPr id="55" name="Group 54">
            <a:extLst>
              <a:ext uri="{FF2B5EF4-FFF2-40B4-BE49-F238E27FC236}">
                <a16:creationId xmlns:a16="http://schemas.microsoft.com/office/drawing/2014/main" id="{D0AD0FD8-8575-816E-DB53-CBACBAE73266}"/>
              </a:ext>
            </a:extLst>
          </p:cNvPr>
          <p:cNvGrpSpPr/>
          <p:nvPr/>
        </p:nvGrpSpPr>
        <p:grpSpPr>
          <a:xfrm>
            <a:off x="7679921" y="5520372"/>
            <a:ext cx="4386653" cy="1310925"/>
            <a:chOff x="7614613" y="5950488"/>
            <a:chExt cx="4386653" cy="1310925"/>
          </a:xfrm>
        </p:grpSpPr>
        <p:sp>
          <p:nvSpPr>
            <p:cNvPr id="56" name="Rectangle: Rounded Corners 55">
              <a:extLst>
                <a:ext uri="{FF2B5EF4-FFF2-40B4-BE49-F238E27FC236}">
                  <a16:creationId xmlns:a16="http://schemas.microsoft.com/office/drawing/2014/main" id="{2C200720-5429-DB2E-A97F-4E9097C30B37}"/>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▶内置组件 </a:t>
              </a:r>
              <a:r>
                <a:rPr lang="en-US" altLang="zh-CN" sz="1200" dirty="0">
                  <a:solidFill>
                    <a:schemeClr val="bg1"/>
                  </a:solidFill>
                  <a:latin typeface="ui-monospace"/>
                </a:rPr>
                <a:t>Transition/</a:t>
              </a:r>
              <a:r>
                <a:rPr lang="en-US" altLang="zh-CN" sz="1200" dirty="0" err="1">
                  <a:solidFill>
                    <a:schemeClr val="bg1"/>
                  </a:solidFill>
                  <a:latin typeface="ui-monospace"/>
                </a:rPr>
                <a:t>TransitionGroup</a:t>
              </a:r>
              <a:endParaRPr lang="en-US" sz="1200" dirty="0">
                <a:solidFill>
                  <a:schemeClr val="bg1"/>
                </a:solidFill>
              </a:endParaRPr>
            </a:p>
          </p:txBody>
        </p:sp>
        <p:sp>
          <p:nvSpPr>
            <p:cNvPr id="57" name="TextBox 56">
              <a:extLst>
                <a:ext uri="{FF2B5EF4-FFF2-40B4-BE49-F238E27FC236}">
                  <a16:creationId xmlns:a16="http://schemas.microsoft.com/office/drawing/2014/main" id="{8FA61CF9-635E-2108-380A-DD0631F49AE1}"/>
                </a:ext>
              </a:extLst>
            </p:cNvPr>
            <p:cNvSpPr txBox="1"/>
            <p:nvPr/>
          </p:nvSpPr>
          <p:spPr>
            <a:xfrm>
              <a:off x="7667294" y="6245750"/>
              <a:ext cx="4281578" cy="1015663"/>
            </a:xfrm>
            <a:prstGeom prst="rect">
              <a:avLst/>
            </a:prstGeom>
            <a:noFill/>
          </p:spPr>
          <p:txBody>
            <a:bodyPr wrap="square">
              <a:spAutoFit/>
            </a:bodyPr>
            <a:lstStyle/>
            <a:p>
              <a:r>
                <a:rPr lang="en-US" sz="1200" dirty="0">
                  <a:solidFill>
                    <a:srgbClr val="44BD86"/>
                  </a:solidFill>
                  <a:latin typeface="ui-monospace"/>
                </a:rPr>
                <a:t>&lt;Transition name="fade"&gt;&lt;/Transition&gt;</a:t>
              </a:r>
            </a:p>
            <a:p>
              <a:r>
                <a:rPr lang="en-US" sz="1200" dirty="0">
                  <a:solidFill>
                    <a:srgbClr val="44BD86"/>
                  </a:solidFill>
                  <a:latin typeface="ui-monospace"/>
                </a:rPr>
                <a:t>&lt;</a:t>
              </a:r>
              <a:r>
                <a:rPr lang="en-US" sz="1200" dirty="0" err="1">
                  <a:solidFill>
                    <a:srgbClr val="44BD86"/>
                  </a:solidFill>
                  <a:latin typeface="ui-monospace"/>
                </a:rPr>
                <a:t>TransitionGroup</a:t>
              </a:r>
              <a:r>
                <a:rPr lang="en-US" sz="1200" dirty="0">
                  <a:solidFill>
                    <a:srgbClr val="44BD86"/>
                  </a:solidFill>
                  <a:latin typeface="ui-monospace"/>
                </a:rPr>
                <a:t> name="fade“ tag="</a:t>
              </a:r>
              <a:r>
                <a:rPr lang="en-US" sz="1200" dirty="0" err="1">
                  <a:solidFill>
                    <a:srgbClr val="44BD86"/>
                  </a:solidFill>
                  <a:latin typeface="ui-monospace"/>
                </a:rPr>
                <a:t>ul</a:t>
              </a:r>
              <a:r>
                <a:rPr lang="en-US" sz="1200" dirty="0">
                  <a:solidFill>
                    <a:srgbClr val="44BD86"/>
                  </a:solidFill>
                  <a:latin typeface="ui-monospace"/>
                </a:rPr>
                <a:t>"&gt;&lt;/</a:t>
              </a:r>
              <a:r>
                <a:rPr lang="en-US" sz="1200" dirty="0" err="1">
                  <a:solidFill>
                    <a:srgbClr val="44BD86"/>
                  </a:solidFill>
                  <a:latin typeface="ui-monospace"/>
                </a:rPr>
                <a:t>TransitionGroup</a:t>
              </a:r>
              <a:r>
                <a:rPr lang="en-US" sz="1200" dirty="0">
                  <a:solidFill>
                    <a:srgbClr val="44BD86"/>
                  </a:solidFill>
                  <a:latin typeface="ui-monospace"/>
                </a:rPr>
                <a:t>&gt;</a:t>
              </a:r>
            </a:p>
            <a:p>
              <a:r>
                <a:rPr lang="en-US" sz="1200" dirty="0">
                  <a:solidFill>
                    <a:srgbClr val="44BD86"/>
                  </a:solidFill>
                  <a:latin typeface="ui-monospace"/>
                </a:rPr>
                <a:t>.fade-enter-from/active/to</a:t>
              </a:r>
            </a:p>
            <a:p>
              <a:r>
                <a:rPr lang="en-US" sz="1200" dirty="0">
                  <a:solidFill>
                    <a:srgbClr val="44BD86"/>
                  </a:solidFill>
                  <a:latin typeface="ui-monospace"/>
                </a:rPr>
                <a:t>.fade-leave-from/active/to</a:t>
              </a:r>
            </a:p>
            <a:p>
              <a:r>
                <a:rPr lang="en-US" sz="1200" dirty="0">
                  <a:solidFill>
                    <a:srgbClr val="44BD86"/>
                  </a:solidFill>
                  <a:latin typeface="ui-monospace"/>
                </a:rPr>
                <a:t>.list-move</a:t>
              </a:r>
            </a:p>
          </p:txBody>
        </p:sp>
      </p:grpSp>
      <p:grpSp>
        <p:nvGrpSpPr>
          <p:cNvPr id="58" name="Group 57">
            <a:extLst>
              <a:ext uri="{FF2B5EF4-FFF2-40B4-BE49-F238E27FC236}">
                <a16:creationId xmlns:a16="http://schemas.microsoft.com/office/drawing/2014/main" id="{E4E80F0B-DCF9-9719-E35C-69120404DFAF}"/>
              </a:ext>
            </a:extLst>
          </p:cNvPr>
          <p:cNvGrpSpPr/>
          <p:nvPr/>
        </p:nvGrpSpPr>
        <p:grpSpPr>
          <a:xfrm>
            <a:off x="3106163" y="1727781"/>
            <a:ext cx="4386653" cy="2788252"/>
            <a:chOff x="7614613" y="5950488"/>
            <a:chExt cx="4386653" cy="2788252"/>
          </a:xfrm>
        </p:grpSpPr>
        <p:sp>
          <p:nvSpPr>
            <p:cNvPr id="59" name="Rectangle: Rounded Corners 58">
              <a:extLst>
                <a:ext uri="{FF2B5EF4-FFF2-40B4-BE49-F238E27FC236}">
                  <a16:creationId xmlns:a16="http://schemas.microsoft.com/office/drawing/2014/main" id="{67573833-5B57-26BA-272E-B300CA2BADD5}"/>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▶组件通讯</a:t>
              </a:r>
              <a:endParaRPr lang="en-US" altLang="zh-CN" sz="1200" dirty="0">
                <a:solidFill>
                  <a:schemeClr val="bg1"/>
                </a:solidFill>
                <a:latin typeface="ui-monospace"/>
              </a:endParaRPr>
            </a:p>
          </p:txBody>
        </p:sp>
        <p:sp>
          <p:nvSpPr>
            <p:cNvPr id="60" name="TextBox 59">
              <a:extLst>
                <a:ext uri="{FF2B5EF4-FFF2-40B4-BE49-F238E27FC236}">
                  <a16:creationId xmlns:a16="http://schemas.microsoft.com/office/drawing/2014/main" id="{69D34B44-AA7C-7F58-FD71-AC4E87940F27}"/>
                </a:ext>
              </a:extLst>
            </p:cNvPr>
            <p:cNvSpPr txBox="1"/>
            <p:nvPr/>
          </p:nvSpPr>
          <p:spPr>
            <a:xfrm>
              <a:off x="7667294" y="6245750"/>
              <a:ext cx="4281578" cy="2492990"/>
            </a:xfrm>
            <a:prstGeom prst="rect">
              <a:avLst/>
            </a:prstGeom>
            <a:noFill/>
          </p:spPr>
          <p:txBody>
            <a:bodyPr wrap="square">
              <a:spAutoFit/>
            </a:bodyPr>
            <a:lstStyle/>
            <a:p>
              <a:r>
                <a:rPr lang="en-US" sz="1200" dirty="0">
                  <a:solidFill>
                    <a:srgbClr val="44BD86"/>
                  </a:solidFill>
                  <a:latin typeface="ui-monospace"/>
                </a:rPr>
                <a:t>// v-model</a:t>
              </a:r>
            </a:p>
            <a:p>
              <a:r>
                <a:rPr lang="en-US" sz="1200" dirty="0" err="1">
                  <a:solidFill>
                    <a:srgbClr val="44BD86"/>
                  </a:solidFill>
                  <a:latin typeface="ui-monospace"/>
                </a:rPr>
                <a:t>v-model:data</a:t>
              </a:r>
              <a:r>
                <a:rPr lang="en-US" sz="1200" dirty="0">
                  <a:solidFill>
                    <a:srgbClr val="44BD86"/>
                  </a:solidFill>
                  <a:latin typeface="ui-monospace"/>
                </a:rPr>
                <a:t>=Ref&lt;data&gt;</a:t>
              </a:r>
            </a:p>
            <a:p>
              <a:r>
                <a:rPr lang="en-US" sz="1200" dirty="0">
                  <a:solidFill>
                    <a:srgbClr val="44BD86"/>
                  </a:solidFill>
                  <a:latin typeface="ui-monospace"/>
                </a:rPr>
                <a:t>emits(</a:t>
              </a:r>
              <a:r>
                <a:rPr lang="en-US" sz="1200" dirty="0">
                  <a:solidFill>
                    <a:srgbClr val="44BD86"/>
                  </a:solidFill>
                </a:rPr>
                <a:t>'</a:t>
              </a:r>
              <a:r>
                <a:rPr lang="en-US" sz="1200" dirty="0" err="1">
                  <a:solidFill>
                    <a:srgbClr val="44BD86"/>
                  </a:solidFill>
                  <a:latin typeface="ui-monospace"/>
                </a:rPr>
                <a:t>update:data</a:t>
              </a:r>
              <a:r>
                <a:rPr lang="en-US" sz="1200" dirty="0">
                  <a:solidFill>
                    <a:srgbClr val="44BD86"/>
                  </a:solidFill>
                </a:rPr>
                <a:t>'</a:t>
              </a:r>
              <a:r>
                <a:rPr lang="en-US" sz="1200" dirty="0">
                  <a:solidFill>
                    <a:srgbClr val="44BD86"/>
                  </a:solidFill>
                  <a:latin typeface="ui-monospace"/>
                </a:rPr>
                <a:t>, value)</a:t>
              </a:r>
            </a:p>
            <a:p>
              <a:r>
                <a:rPr lang="en-US" sz="1200" dirty="0">
                  <a:solidFill>
                    <a:srgbClr val="44BD86"/>
                  </a:solidFill>
                  <a:latin typeface="ui-monospace"/>
                </a:rPr>
                <a:t>// props + emit</a:t>
              </a:r>
            </a:p>
            <a:p>
              <a:r>
                <a:rPr lang="en-US" sz="1200" dirty="0">
                  <a:solidFill>
                    <a:srgbClr val="44BD86"/>
                  </a:solidFill>
                  <a:latin typeface="ui-monospace"/>
                </a:rPr>
                <a:t>const props = </a:t>
              </a:r>
              <a:r>
                <a:rPr lang="en-US" sz="1200" dirty="0" err="1">
                  <a:solidFill>
                    <a:srgbClr val="44BD86"/>
                  </a:solidFill>
                  <a:latin typeface="ui-monospace"/>
                </a:rPr>
                <a:t>defineProps</a:t>
              </a:r>
              <a:r>
                <a:rPr lang="en-US" sz="1200" dirty="0">
                  <a:solidFill>
                    <a:srgbClr val="44BD86"/>
                  </a:solidFill>
                  <a:latin typeface="ui-monospace"/>
                </a:rPr>
                <a:t>({ data:{type, default, require} })</a:t>
              </a:r>
            </a:p>
            <a:p>
              <a:r>
                <a:rPr lang="en-US" sz="1200" dirty="0">
                  <a:solidFill>
                    <a:srgbClr val="44BD86"/>
                  </a:solidFill>
                  <a:latin typeface="ui-monospace"/>
                </a:rPr>
                <a:t>const emits = </a:t>
              </a:r>
              <a:r>
                <a:rPr lang="en-US" sz="1200" dirty="0" err="1">
                  <a:solidFill>
                    <a:srgbClr val="44BD86"/>
                  </a:solidFill>
                  <a:latin typeface="ui-monospace"/>
                </a:rPr>
                <a:t>defineEmits</a:t>
              </a:r>
              <a:r>
                <a:rPr lang="en-US" sz="1200" dirty="0">
                  <a:solidFill>
                    <a:srgbClr val="44BD86"/>
                  </a:solidFill>
                  <a:latin typeface="ui-monospace"/>
                </a:rPr>
                <a:t>&lt;{ (</a:t>
              </a:r>
              <a:r>
                <a:rPr lang="en-US" sz="1200" dirty="0" err="1">
                  <a:solidFill>
                    <a:srgbClr val="44BD86"/>
                  </a:solidFill>
                  <a:latin typeface="ui-monospace"/>
                </a:rPr>
                <a:t>event:</a:t>
              </a:r>
              <a:r>
                <a:rPr lang="en-US" sz="1200" dirty="0" err="1">
                  <a:solidFill>
                    <a:srgbClr val="44BD86"/>
                  </a:solidFill>
                </a:rPr>
                <a:t>'</a:t>
              </a:r>
              <a:r>
                <a:rPr lang="en-US" sz="1200" dirty="0" err="1">
                  <a:solidFill>
                    <a:srgbClr val="44BD86"/>
                  </a:solidFill>
                  <a:latin typeface="ui-monospace"/>
                </a:rPr>
                <a:t>update</a:t>
              </a:r>
              <a:r>
                <a:rPr lang="en-US" sz="1200" dirty="0">
                  <a:solidFill>
                    <a:srgbClr val="44BD86"/>
                  </a:solidFill>
                </a:rPr>
                <a:t>'</a:t>
              </a:r>
              <a:r>
                <a:rPr lang="en-US" sz="1200" dirty="0">
                  <a:solidFill>
                    <a:srgbClr val="44BD86"/>
                  </a:solidFill>
                  <a:latin typeface="ui-monospace"/>
                </a:rPr>
                <a:t>, </a:t>
              </a:r>
              <a:r>
                <a:rPr lang="en-US" sz="1200" dirty="0" err="1">
                  <a:solidFill>
                    <a:srgbClr val="44BD86"/>
                  </a:solidFill>
                  <a:latin typeface="ui-monospace"/>
                </a:rPr>
                <a:t>value:any</a:t>
              </a:r>
              <a:r>
                <a:rPr lang="en-US" sz="1200" dirty="0">
                  <a:solidFill>
                    <a:srgbClr val="44BD86"/>
                  </a:solidFill>
                  <a:latin typeface="ui-monospace"/>
                </a:rPr>
                <a:t>):void }&gt;()</a:t>
              </a:r>
            </a:p>
            <a:p>
              <a:r>
                <a:rPr lang="en-US" sz="1200" dirty="0">
                  <a:solidFill>
                    <a:srgbClr val="44BD86"/>
                  </a:solidFill>
                  <a:latin typeface="ui-monospace"/>
                </a:rPr>
                <a:t>// ref</a:t>
              </a:r>
            </a:p>
            <a:p>
              <a:r>
                <a:rPr lang="en-US" sz="1200" dirty="0" err="1">
                  <a:solidFill>
                    <a:srgbClr val="44BD86"/>
                  </a:solidFill>
                  <a:latin typeface="ui-monospace"/>
                </a:rPr>
                <a:t>childRef.value?.validate</a:t>
              </a:r>
              <a:r>
                <a:rPr lang="en-US" sz="1200" dirty="0">
                  <a:solidFill>
                    <a:srgbClr val="44BD86"/>
                  </a:solidFill>
                  <a:latin typeface="ui-monospace"/>
                </a:rPr>
                <a:t>()</a:t>
              </a:r>
            </a:p>
            <a:p>
              <a:r>
                <a:rPr lang="en-US" sz="1200" dirty="0" err="1">
                  <a:solidFill>
                    <a:srgbClr val="44BD86"/>
                  </a:solidFill>
                </a:rPr>
                <a:t>defineExpose</a:t>
              </a:r>
              <a:r>
                <a:rPr lang="en-US" sz="1200" dirty="0">
                  <a:solidFill>
                    <a:srgbClr val="44BD86"/>
                  </a:solidFill>
                </a:rPr>
                <a:t>({ validate })</a:t>
              </a:r>
            </a:p>
            <a:p>
              <a:r>
                <a:rPr lang="en-US" sz="1200" dirty="0">
                  <a:solidFill>
                    <a:srgbClr val="44BD86"/>
                  </a:solidFill>
                </a:rPr>
                <a:t>// provide + inject</a:t>
              </a:r>
            </a:p>
            <a:p>
              <a:r>
                <a:rPr lang="en-US" sz="1200" dirty="0">
                  <a:solidFill>
                    <a:srgbClr val="44BD86"/>
                  </a:solidFill>
                </a:rPr>
                <a:t>provide('theme', ref('dark'));</a:t>
              </a:r>
            </a:p>
            <a:p>
              <a:r>
                <a:rPr lang="en-US" sz="1200" dirty="0">
                  <a:solidFill>
                    <a:srgbClr val="44BD86"/>
                  </a:solidFill>
                </a:rPr>
                <a:t>const theme = inject('theme’);</a:t>
              </a:r>
            </a:p>
            <a:p>
              <a:r>
                <a:rPr lang="en-US" sz="1200" dirty="0">
                  <a:solidFill>
                    <a:srgbClr val="44BD86"/>
                  </a:solidFill>
                </a:rPr>
                <a:t>// mitt + </a:t>
              </a:r>
              <a:r>
                <a:rPr lang="en-US" sz="1200" dirty="0" err="1">
                  <a:solidFill>
                    <a:srgbClr val="44BD86"/>
                  </a:solidFill>
                </a:rPr>
                <a:t>eventBus</a:t>
              </a:r>
              <a:endParaRPr lang="en-US" sz="1200" dirty="0">
                <a:solidFill>
                  <a:srgbClr val="44BD86"/>
                </a:solidFill>
              </a:endParaRPr>
            </a:p>
          </p:txBody>
        </p:sp>
      </p:grpSp>
      <p:grpSp>
        <p:nvGrpSpPr>
          <p:cNvPr id="61" name="Group 60">
            <a:extLst>
              <a:ext uri="{FF2B5EF4-FFF2-40B4-BE49-F238E27FC236}">
                <a16:creationId xmlns:a16="http://schemas.microsoft.com/office/drawing/2014/main" id="{C03D72D4-90E7-8632-D169-2503CB6C8EE4}"/>
              </a:ext>
            </a:extLst>
          </p:cNvPr>
          <p:cNvGrpSpPr/>
          <p:nvPr/>
        </p:nvGrpSpPr>
        <p:grpSpPr>
          <a:xfrm>
            <a:off x="3106164" y="746292"/>
            <a:ext cx="4386653" cy="941593"/>
            <a:chOff x="7614613" y="5950488"/>
            <a:chExt cx="4386653" cy="941593"/>
          </a:xfrm>
        </p:grpSpPr>
        <p:sp>
          <p:nvSpPr>
            <p:cNvPr id="62" name="Rectangle: Rounded Corners 61">
              <a:extLst>
                <a:ext uri="{FF2B5EF4-FFF2-40B4-BE49-F238E27FC236}">
                  <a16:creationId xmlns:a16="http://schemas.microsoft.com/office/drawing/2014/main" id="{410C3D44-701F-5F6D-FEB1-15C73990105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▶生命周期</a:t>
              </a:r>
              <a:endParaRPr lang="en-US" sz="1200" dirty="0">
                <a:solidFill>
                  <a:schemeClr val="bg1"/>
                </a:solidFill>
              </a:endParaRPr>
            </a:p>
          </p:txBody>
        </p:sp>
        <p:sp>
          <p:nvSpPr>
            <p:cNvPr id="63" name="TextBox 62">
              <a:extLst>
                <a:ext uri="{FF2B5EF4-FFF2-40B4-BE49-F238E27FC236}">
                  <a16:creationId xmlns:a16="http://schemas.microsoft.com/office/drawing/2014/main" id="{BE4D54E7-546F-4714-BCE4-78A3FBDF6B81}"/>
                </a:ext>
              </a:extLst>
            </p:cNvPr>
            <p:cNvSpPr txBox="1"/>
            <p:nvPr/>
          </p:nvSpPr>
          <p:spPr>
            <a:xfrm>
              <a:off x="7667294" y="6245750"/>
              <a:ext cx="4281578" cy="646331"/>
            </a:xfrm>
            <a:prstGeom prst="rect">
              <a:avLst/>
            </a:prstGeom>
            <a:noFill/>
          </p:spPr>
          <p:txBody>
            <a:bodyPr wrap="square">
              <a:spAutoFit/>
            </a:bodyPr>
            <a:lstStyle/>
            <a:p>
              <a:r>
                <a:rPr lang="en-US" sz="1200" dirty="0" err="1">
                  <a:solidFill>
                    <a:srgbClr val="44BD86"/>
                  </a:solidFill>
                  <a:latin typeface="ui-monospace"/>
                </a:rPr>
                <a:t>onMounted</a:t>
              </a:r>
              <a:r>
                <a:rPr lang="en-US" sz="1200" dirty="0">
                  <a:solidFill>
                    <a:srgbClr val="44BD86"/>
                  </a:solidFill>
                  <a:latin typeface="ui-monospace"/>
                </a:rPr>
                <a:t> / </a:t>
              </a:r>
              <a:r>
                <a:rPr lang="en-US" sz="1200" dirty="0" err="1">
                  <a:solidFill>
                    <a:srgbClr val="44BD86"/>
                  </a:solidFill>
                  <a:latin typeface="ui-monospace"/>
                </a:rPr>
                <a:t>onUnmounted</a:t>
              </a:r>
              <a:endParaRPr lang="en-US" sz="1200" dirty="0">
                <a:solidFill>
                  <a:srgbClr val="44BD86"/>
                </a:solidFill>
                <a:latin typeface="ui-monospace"/>
              </a:endParaRPr>
            </a:p>
            <a:p>
              <a:r>
                <a:rPr lang="en-US" sz="1200" dirty="0" err="1">
                  <a:solidFill>
                    <a:srgbClr val="44BD86"/>
                  </a:solidFill>
                  <a:latin typeface="ui-monospace"/>
                </a:rPr>
                <a:t>onUpdated</a:t>
              </a:r>
              <a:r>
                <a:rPr lang="en-US" sz="1200" dirty="0">
                  <a:solidFill>
                    <a:srgbClr val="44BD86"/>
                  </a:solidFill>
                  <a:latin typeface="ui-monospace"/>
                </a:rPr>
                <a:t> / </a:t>
              </a:r>
              <a:r>
                <a:rPr lang="en-US" sz="1200" dirty="0" err="1">
                  <a:solidFill>
                    <a:srgbClr val="44BD86"/>
                  </a:solidFill>
                  <a:latin typeface="ui-monospace"/>
                </a:rPr>
                <a:t>nextTick</a:t>
              </a:r>
              <a:endParaRPr lang="en-US" sz="1200" dirty="0">
                <a:solidFill>
                  <a:srgbClr val="44BD86"/>
                </a:solidFill>
                <a:latin typeface="ui-monospace"/>
              </a:endParaRPr>
            </a:p>
            <a:p>
              <a:r>
                <a:rPr lang="en-US" sz="1200" dirty="0" err="1">
                  <a:solidFill>
                    <a:srgbClr val="44BD86"/>
                  </a:solidFill>
                  <a:latin typeface="ui-monospace"/>
                </a:rPr>
                <a:t>onActivated</a:t>
              </a:r>
              <a:r>
                <a:rPr lang="en-US" sz="1200" dirty="0">
                  <a:solidFill>
                    <a:srgbClr val="44BD86"/>
                  </a:solidFill>
                  <a:latin typeface="ui-monospace"/>
                </a:rPr>
                <a:t> / </a:t>
              </a:r>
              <a:r>
                <a:rPr lang="en-US" sz="1200" dirty="0" err="1">
                  <a:solidFill>
                    <a:srgbClr val="44BD86"/>
                  </a:solidFill>
                  <a:latin typeface="ui-monospace"/>
                </a:rPr>
                <a:t>onDeactivated</a:t>
              </a:r>
              <a:r>
                <a:rPr lang="en-US" sz="1200" dirty="0">
                  <a:solidFill>
                    <a:srgbClr val="44BD86"/>
                  </a:solidFill>
                  <a:latin typeface="ui-monospace"/>
                </a:rPr>
                <a:t> + &lt;keep-alive&gt;</a:t>
              </a:r>
              <a:endParaRPr lang="en-US" sz="1200" dirty="0">
                <a:solidFill>
                  <a:srgbClr val="44BD86"/>
                </a:solidFill>
              </a:endParaRPr>
            </a:p>
          </p:txBody>
        </p:sp>
      </p:grpSp>
      <p:grpSp>
        <p:nvGrpSpPr>
          <p:cNvPr id="1024" name="Group 1023">
            <a:extLst>
              <a:ext uri="{FF2B5EF4-FFF2-40B4-BE49-F238E27FC236}">
                <a16:creationId xmlns:a16="http://schemas.microsoft.com/office/drawing/2014/main" id="{16E5C2B0-0B15-F6D8-C5FC-A3D3E7C8B338}"/>
              </a:ext>
            </a:extLst>
          </p:cNvPr>
          <p:cNvGrpSpPr/>
          <p:nvPr/>
        </p:nvGrpSpPr>
        <p:grpSpPr>
          <a:xfrm>
            <a:off x="3106162" y="4524913"/>
            <a:ext cx="4386653" cy="941593"/>
            <a:chOff x="7614613" y="5950488"/>
            <a:chExt cx="4386653" cy="941593"/>
          </a:xfrm>
        </p:grpSpPr>
        <p:sp>
          <p:nvSpPr>
            <p:cNvPr id="1025" name="Rectangle: Rounded Corners 1024">
              <a:extLst>
                <a:ext uri="{FF2B5EF4-FFF2-40B4-BE49-F238E27FC236}">
                  <a16:creationId xmlns:a16="http://schemas.microsoft.com/office/drawing/2014/main" id="{54B2CF4C-23CD-FF8A-9769-2A1D5F9E03C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▶插槽 </a:t>
              </a:r>
              <a:r>
                <a:rPr lang="en-US" altLang="zh-CN" sz="1200" dirty="0">
                  <a:solidFill>
                    <a:schemeClr val="bg1"/>
                  </a:solidFill>
                  <a:latin typeface="ui-monospace"/>
                </a:rPr>
                <a:t>slots</a:t>
              </a:r>
            </a:p>
          </p:txBody>
        </p:sp>
        <p:sp>
          <p:nvSpPr>
            <p:cNvPr id="1027" name="TextBox 1026">
              <a:extLst>
                <a:ext uri="{FF2B5EF4-FFF2-40B4-BE49-F238E27FC236}">
                  <a16:creationId xmlns:a16="http://schemas.microsoft.com/office/drawing/2014/main" id="{D1F7B532-EE1B-2786-3DF9-37E53FD062CD}"/>
                </a:ext>
              </a:extLst>
            </p:cNvPr>
            <p:cNvSpPr txBox="1"/>
            <p:nvPr/>
          </p:nvSpPr>
          <p:spPr>
            <a:xfrm>
              <a:off x="7667294" y="6245750"/>
              <a:ext cx="4281578" cy="646331"/>
            </a:xfrm>
            <a:prstGeom prst="rect">
              <a:avLst/>
            </a:prstGeom>
            <a:noFill/>
          </p:spPr>
          <p:txBody>
            <a:bodyPr wrap="square">
              <a:spAutoFit/>
            </a:bodyPr>
            <a:lstStyle/>
            <a:p>
              <a:r>
                <a:rPr lang="en-US" sz="1200" dirty="0">
                  <a:solidFill>
                    <a:srgbClr val="44BD86"/>
                  </a:solidFill>
                  <a:latin typeface="ui-monospace"/>
                </a:rPr>
                <a:t>&lt;template #</a:t>
              </a:r>
              <a:r>
                <a:rPr lang="en-US" sz="1200">
                  <a:solidFill>
                    <a:srgbClr val="44BD86"/>
                  </a:solidFill>
                  <a:latin typeface="ui-monospace"/>
                </a:rPr>
                <a:t>header={value,onChange}&gt;&lt;/</a:t>
              </a:r>
              <a:r>
                <a:rPr lang="en-US" sz="1200" dirty="0">
                  <a:solidFill>
                    <a:srgbClr val="44BD86"/>
                  </a:solidFill>
                  <a:latin typeface="ui-monospace"/>
                </a:rPr>
                <a:t>template&gt;</a:t>
              </a:r>
            </a:p>
            <a:p>
              <a:r>
                <a:rPr lang="en-US" sz="1200" dirty="0">
                  <a:solidFill>
                    <a:srgbClr val="44BD86"/>
                  </a:solidFill>
                  <a:latin typeface="ui-monospace"/>
                </a:rPr>
                <a:t>&lt;slot name=</a:t>
              </a:r>
              <a:r>
                <a:rPr lang="en-US" sz="1200" dirty="0">
                  <a:solidFill>
                    <a:srgbClr val="44BD86"/>
                  </a:solidFill>
                </a:rPr>
                <a:t>‘</a:t>
              </a:r>
              <a:r>
                <a:rPr lang="en-US" sz="1200" dirty="0">
                  <a:solidFill>
                    <a:srgbClr val="44BD86"/>
                  </a:solidFill>
                  <a:latin typeface="ui-monospace"/>
                </a:rPr>
                <a:t>header</a:t>
              </a:r>
              <a:r>
                <a:rPr lang="en-US" sz="1200" dirty="0">
                  <a:solidFill>
                    <a:srgbClr val="44BD86"/>
                  </a:solidFill>
                </a:rPr>
                <a:t>’ :value=“” :</a:t>
              </a:r>
              <a:r>
                <a:rPr lang="en-US" sz="1200" dirty="0" err="1">
                  <a:solidFill>
                    <a:srgbClr val="44BD86"/>
                  </a:solidFill>
                </a:rPr>
                <a:t>onChange</a:t>
              </a:r>
              <a:r>
                <a:rPr lang="en-US" sz="1200" dirty="0">
                  <a:solidFill>
                    <a:srgbClr val="44BD86"/>
                  </a:solidFill>
                </a:rPr>
                <a:t>=“(</a:t>
              </a:r>
              <a:r>
                <a:rPr lang="en-US" sz="1200" dirty="0" err="1">
                  <a:solidFill>
                    <a:srgbClr val="44BD86"/>
                  </a:solidFill>
                </a:rPr>
                <a:t>val</a:t>
              </a:r>
              <a:r>
                <a:rPr lang="en-US" sz="1200" dirty="0">
                  <a:solidFill>
                    <a:srgbClr val="44BD86"/>
                  </a:solidFill>
                </a:rPr>
                <a:t>)=&gt;</a:t>
              </a:r>
              <a:r>
                <a:rPr lang="en-US" sz="1200" dirty="0" err="1">
                  <a:solidFill>
                    <a:srgbClr val="44BD86"/>
                  </a:solidFill>
                </a:rPr>
                <a:t>func</a:t>
              </a:r>
              <a:r>
                <a:rPr lang="en-US" sz="1200" dirty="0">
                  <a:solidFill>
                    <a:srgbClr val="44BD86"/>
                  </a:solidFill>
                </a:rPr>
                <a:t>()”</a:t>
              </a:r>
              <a:r>
                <a:rPr lang="en-US" sz="1200" dirty="0">
                  <a:solidFill>
                    <a:srgbClr val="44BD86"/>
                  </a:solidFill>
                  <a:latin typeface="ui-monospace"/>
                </a:rPr>
                <a:t>&gt;&lt;/slot&gt;</a:t>
              </a:r>
            </a:p>
            <a:p>
              <a:r>
                <a:rPr lang="en-US" sz="1200" dirty="0">
                  <a:solidFill>
                    <a:srgbClr val="44BD86"/>
                  </a:solidFill>
                  <a:latin typeface="ui-monospace"/>
                </a:rPr>
                <a:t>$</a:t>
              </a:r>
              <a:r>
                <a:rPr lang="en-US" sz="1200" dirty="0" err="1">
                  <a:solidFill>
                    <a:srgbClr val="44BD86"/>
                  </a:solidFill>
                  <a:latin typeface="ui-monospace"/>
                </a:rPr>
                <a:t>slot.header</a:t>
              </a:r>
              <a:endParaRPr lang="en-US" sz="1200" dirty="0">
                <a:solidFill>
                  <a:srgbClr val="44BD86"/>
                </a:solidFill>
              </a:endParaRPr>
            </a:p>
          </p:txBody>
        </p:sp>
      </p:gr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51" name="Picture 1050">
            <a:extLst>
              <a:ext uri="{FF2B5EF4-FFF2-40B4-BE49-F238E27FC236}">
                <a16:creationId xmlns:a16="http://schemas.microsoft.com/office/drawing/2014/main" id="{0ADD2052-5AEE-DE11-7945-28954EFA9F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5296" y="153911"/>
            <a:ext cx="652694" cy="652694"/>
          </a:xfrm>
          <a:prstGeom prst="rect">
            <a:avLst/>
          </a:prstGeom>
        </p:spPr>
      </p:pic>
      <p:cxnSp>
        <p:nvCxnSpPr>
          <p:cNvPr id="4" name="Straight Connector 3">
            <a:extLst>
              <a:ext uri="{FF2B5EF4-FFF2-40B4-BE49-F238E27FC236}">
                <a16:creationId xmlns:a16="http://schemas.microsoft.com/office/drawing/2014/main" id="{D1CA20DA-8D81-F06A-D641-4E2FC7DE3B3F}"/>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TextBox 1">
            <a:extLst>
              <a:ext uri="{FF2B5EF4-FFF2-40B4-BE49-F238E27FC236}">
                <a16:creationId xmlns:a16="http://schemas.microsoft.com/office/drawing/2014/main" id="{6B65F82D-4649-CF2A-2F13-069905BDACE4}"/>
              </a:ext>
            </a:extLst>
          </p:cNvPr>
          <p:cNvSpPr txBox="1"/>
          <p:nvPr/>
        </p:nvSpPr>
        <p:spPr>
          <a:xfrm>
            <a:off x="0" y="959472"/>
            <a:ext cx="2986206" cy="572464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是一款轻量、灵活、渐进式的前端框架，专注于构建用户界面。它采用响应式数据绑定和组件化开发理念，使开发者能够高效地构建交互复杂、可维护性强的单页应用（</a:t>
            </a: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SPA</a:t>
            </a:r>
            <a:r>
              <a:rPr kumimoji="0" lang="zh-CN" altLang="en-US" sz="16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）和大型前端项目。</a:t>
            </a:r>
            <a:endPar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简单易学，中文生态完善：</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语法直观，官方文档完善，学习曲线相对平缓，适合中小团队快速上手。</a:t>
            </a:r>
            <a:endPar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响应式系统强大：</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通过 </a:t>
            </a:r>
            <a:r>
              <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reactive </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和 </a:t>
            </a:r>
            <a:r>
              <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ref </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实现数据驱动视图更新，开发体验优雅且高效。</a:t>
            </a:r>
            <a:endPar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组合式 </a:t>
            </a:r>
            <a:r>
              <a:rPr kumimoji="0" lang="en-US" altLang="zh-CN" sz="14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API (Composition API)</a:t>
            </a:r>
            <a:r>
              <a:rPr kumimoji="0" lang="zh-CN" altLang="en-US" sz="14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增强逻辑复用能力，适用于大型项目的模块化开发。</a:t>
            </a:r>
            <a:endPar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组件化开发：</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鼓励 </a:t>
            </a:r>
            <a:r>
              <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UI </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与逻辑封装，提升代码组织性和复用性。</a:t>
            </a:r>
            <a:endPar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生态丰富：</a:t>
            </a:r>
            <a:r>
              <a:rPr kumimoji="0" lang="en-US" altLang="zh-CN" sz="1400" b="0" i="0" u="none" strike="noStrike" kern="1200" cap="none" spc="0" normalizeH="0" baseline="0" noProof="0" dirty="0" err="1">
                <a:ln>
                  <a:noFill/>
                </a:ln>
                <a:solidFill>
                  <a:prstClr val="black"/>
                </a:solidFill>
                <a:effectLst/>
                <a:uLnTx/>
                <a:uFillTx/>
                <a:latin typeface="Arial" panose="020B0604020202020204" pitchFamily="34" charset="0"/>
                <a:ea typeface="等线" panose="02010600030101010101" pitchFamily="2" charset="-122"/>
                <a:cs typeface="+mn-cs"/>
              </a:rPr>
              <a:t>Pinia</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（状态管理）、</a:t>
            </a:r>
            <a:r>
              <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Vue Router</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a:t>
            </a:r>
            <a:r>
              <a:rPr kumimoji="0" lang="en-US" altLang="zh-CN" sz="1400" b="0" i="0" u="none" strike="noStrike" kern="1200" cap="none" spc="0" normalizeH="0" baseline="0" noProof="0" dirty="0" err="1">
                <a:ln>
                  <a:noFill/>
                </a:ln>
                <a:solidFill>
                  <a:prstClr val="black"/>
                </a:solidFill>
                <a:effectLst/>
                <a:uLnTx/>
                <a:uFillTx/>
                <a:latin typeface="Arial" panose="020B0604020202020204" pitchFamily="34" charset="0"/>
                <a:ea typeface="等线" panose="02010600030101010101" pitchFamily="2" charset="-122"/>
                <a:cs typeface="+mn-cs"/>
              </a:rPr>
              <a:t>Vite</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（构建）、</a:t>
            </a:r>
            <a:r>
              <a:rPr kumimoji="0" lang="en-US" altLang="zh-CN" sz="1400" b="0" i="0" u="none" strike="noStrike" kern="1200" cap="none" spc="0" normalizeH="0" baseline="0" noProof="0" dirty="0" err="1">
                <a:ln>
                  <a:noFill/>
                </a:ln>
                <a:solidFill>
                  <a:prstClr val="black"/>
                </a:solidFill>
                <a:effectLst/>
                <a:uLnTx/>
                <a:uFillTx/>
                <a:latin typeface="Arial" panose="020B0604020202020204" pitchFamily="34" charset="0"/>
                <a:ea typeface="等线" panose="02010600030101010101" pitchFamily="2" charset="-122"/>
                <a:cs typeface="+mn-cs"/>
              </a:rPr>
              <a:t>VueUse</a:t>
            </a:r>
            <a:r>
              <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 </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等构建完整技术栈。</a:t>
            </a:r>
            <a:endPar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良好的渐进式设计：</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可以逐步引入特性，适用于小型项目或将现有项目渐进迁移到 </a:t>
            </a:r>
            <a:r>
              <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Vue</a:t>
            </a:r>
            <a:r>
              <a:rPr kumimoji="0" lang="zh-CN" altLang="en-US"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a:t>
            </a:r>
            <a:endPar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p:txBody>
      </p:sp>
      <p:sp>
        <p:nvSpPr>
          <p:cNvPr id="6" name="TextBox 5">
            <a:extLst>
              <a:ext uri="{FF2B5EF4-FFF2-40B4-BE49-F238E27FC236}">
                <a16:creationId xmlns:a16="http://schemas.microsoft.com/office/drawing/2014/main" id="{8FF4A962-7A86-6FB0-C3A1-FE038F493808}"/>
              </a:ext>
            </a:extLst>
          </p:cNvPr>
          <p:cNvSpPr txBox="1"/>
          <p:nvPr/>
        </p:nvSpPr>
        <p:spPr>
          <a:xfrm>
            <a:off x="11473" y="218648"/>
            <a:ext cx="830164" cy="523220"/>
          </a:xfrm>
          <a:prstGeom prst="rect">
            <a:avLst/>
          </a:prstGeom>
          <a:noFill/>
        </p:spPr>
        <p:txBody>
          <a:bodyPr wrap="none" rtlCol="0">
            <a:spAutoFit/>
          </a:bodyPr>
          <a:lstStyle/>
          <a:p>
            <a:r>
              <a:rPr kumimoji="0" lang="en-US" altLang="zh-CN" sz="28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Vue</a:t>
            </a:r>
            <a:endParaRPr lang="en-US" dirty="0"/>
          </a:p>
        </p:txBody>
      </p:sp>
    </p:spTree>
    <p:extLst>
      <p:ext uri="{BB962C8B-B14F-4D97-AF65-F5344CB8AC3E}">
        <p14:creationId xmlns:p14="http://schemas.microsoft.com/office/powerpoint/2010/main" val="1267691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99DE7B-28B5-4C45-AB9C-01B950A55B47}"/>
              </a:ext>
            </a:extLst>
          </p:cNvPr>
          <p:cNvSpPr/>
          <p:nvPr/>
        </p:nvSpPr>
        <p:spPr>
          <a:xfrm>
            <a:off x="0" y="0"/>
            <a:ext cx="2986206" cy="6858000"/>
          </a:xfrm>
          <a:prstGeom prst="rect">
            <a:avLst/>
          </a:prstGeom>
          <a:solidFill>
            <a:srgbClr val="FFE3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Rounded Corners 15">
            <a:extLst>
              <a:ext uri="{FF2B5EF4-FFF2-40B4-BE49-F238E27FC236}">
                <a16:creationId xmlns:a16="http://schemas.microsoft.com/office/drawing/2014/main" id="{CCDB8431-5589-2B9D-5CD5-B629210BB468}"/>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650F11B-FA22-30BF-DAB5-DDF29E994C16}"/>
              </a:ext>
            </a:extLst>
          </p:cNvPr>
          <p:cNvSpPr txBox="1"/>
          <p:nvPr/>
        </p:nvSpPr>
        <p:spPr>
          <a:xfrm>
            <a:off x="0" y="959472"/>
            <a:ext cx="2986206" cy="470898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是 Vue </a:t>
            </a: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的专属状态管理库，它允许你跨组件或页面共享状态</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如果你熟悉组合式</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API </a:t>
            </a: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的话，你可能会认为可以通过一行简单的</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000" b="0" i="0" u="none" strike="noStrike" kern="1200" cap="none" spc="0" normalizeH="0" baseline="0" noProof="0" dirty="0">
                <a:ln>
                  <a:noFill/>
                </a:ln>
                <a:effectLst/>
                <a:uLnTx/>
                <a:uFillTx/>
                <a:latin typeface="Arial Unicode MS"/>
                <a:ea typeface="var(--vp-font-family-mono)"/>
                <a:cs typeface="+mn-cs"/>
              </a:rPr>
              <a:t>export const state = reactive({})</a:t>
            </a:r>
            <a:r>
              <a:rPr kumimoji="0" lang="en-US" altLang="en-US" sz="1200" b="0" i="0" u="none" strike="noStrike" kern="1200" cap="none" spc="0" normalizeH="0" baseline="0" noProof="0" dirty="0">
                <a:ln>
                  <a:noFill/>
                </a:ln>
                <a:effectLst/>
                <a:uLnTx/>
                <a:uFillTx/>
                <a:latin typeface="Calibri" panose="020F0502020204030204"/>
                <a:ea typeface="Punctuation SC"/>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来共享一个全局状态</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对于单页应用来说确实可以，但如果应用在服务器端渲染，这可能会使你的应用暴露出一些</a:t>
            </a: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hlinkClick r:id="rId2">
                  <a:extLst>
                    <a:ext uri="{A12FA001-AC4F-418D-AE19-62706E023703}">
                      <ahyp:hlinkClr xmlns:ahyp="http://schemas.microsoft.com/office/drawing/2018/hyperlinkcolor" val="tx"/>
                    </a:ext>
                  </a:extLst>
                </a:hlinkClick>
              </a:rPr>
              <a:t>安全漏洞</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而如果使用</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a:t>
            </a: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Pinia，即使在小型单页应用中，你也可以获得如下功能</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endParaRPr kumimoji="0" lang="en-US" altLang="en-US" sz="800" b="0" i="0" u="none" strike="noStrike" kern="1200" cap="none" spc="0" normalizeH="0" baseline="0" noProof="0" dirty="0">
              <a:ln>
                <a:noFill/>
              </a:ln>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测试工具集</a:t>
            </a:r>
            <a:endPar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插件：可通过插件扩展</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a:t>
            </a: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Pinia</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a:t>
            </a: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功能</a:t>
            </a:r>
            <a:endPar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为 JS </a:t>
            </a: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开发者提供适当的</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TypeScript </a:t>
            </a: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支持以及</a:t>
            </a:r>
            <a:r>
              <a:rPr kumimoji="0" lang="en-US" altLang="en-US" sz="1200" b="1" i="0" u="none" strike="noStrike" kern="1200" cap="none" spc="0" normalizeH="0" baseline="0" noProof="0" dirty="0" err="1">
                <a:ln>
                  <a:noFill/>
                </a:ln>
                <a:effectLst/>
                <a:uLnTx/>
                <a:uFillTx/>
                <a:latin typeface="Arial" panose="020B0604020202020204" pitchFamily="34" charset="0"/>
                <a:ea typeface="Punctuation SC"/>
                <a:cs typeface="+mn-cs"/>
              </a:rPr>
              <a:t>自动补全</a:t>
            </a: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功能</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支持服务端渲染</a:t>
            </a:r>
            <a:endPar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Devtools</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a:t>
            </a: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支持</a:t>
            </a:r>
            <a:endPar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457200" marR="0" lvl="1" indent="0" algn="l" defTabSz="914400" rtl="0" eaLnBrk="0" fontAlgn="base" latinLnBrk="0" hangingPunct="0">
              <a:lnSpc>
                <a:spcPct val="100000"/>
              </a:lnSpc>
              <a:spcBef>
                <a:spcPct val="0"/>
              </a:spcBef>
              <a:spcAft>
                <a:spcPct val="0"/>
              </a:spcAft>
              <a:buClrTx/>
              <a:buSzTx/>
              <a:buFontTx/>
              <a:buChar char="•"/>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追踪</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a:t>
            </a: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actions、mutations</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a:t>
            </a: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的时间线</a:t>
            </a:r>
            <a:endPar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457200" marR="0" lvl="1" indent="0" algn="l" defTabSz="914400" rtl="0" eaLnBrk="0" fontAlgn="base" latinLnBrk="0" hangingPunct="0">
              <a:lnSpc>
                <a:spcPct val="100000"/>
              </a:lnSpc>
              <a:spcBef>
                <a:spcPct val="0"/>
              </a:spcBef>
              <a:spcAft>
                <a:spcPct val="0"/>
              </a:spcAft>
              <a:buClrTx/>
              <a:buSzTx/>
              <a:buFontTx/>
              <a:buChar char="•"/>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在组件中展示它们所用到的</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Store</a:t>
            </a:r>
          </a:p>
          <a:p>
            <a:pPr marL="457200" marR="0" lvl="1" indent="0" algn="l" defTabSz="914400" rtl="0" eaLnBrk="0" fontAlgn="base" latinLnBrk="0" hangingPunct="0">
              <a:lnSpc>
                <a:spcPct val="100000"/>
              </a:lnSpc>
              <a:spcBef>
                <a:spcPct val="0"/>
              </a:spcBef>
              <a:spcAft>
                <a:spcPct val="0"/>
              </a:spcAft>
              <a:buClrTx/>
              <a:buSzTx/>
              <a:buFontTx/>
              <a:buChar char="•"/>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让调试更容易的</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Time travel</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热更新</a:t>
            </a:r>
            <a:endPar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457200" marR="0" lvl="1" indent="0" algn="l" defTabSz="914400" rtl="0" eaLnBrk="0" fontAlgn="base" latinLnBrk="0" hangingPunct="0">
              <a:lnSpc>
                <a:spcPct val="100000"/>
              </a:lnSpc>
              <a:spcBef>
                <a:spcPct val="0"/>
              </a:spcBef>
              <a:spcAft>
                <a:spcPct val="0"/>
              </a:spcAft>
              <a:buClrTx/>
              <a:buSzTx/>
              <a:buFontTx/>
              <a:buChar char="•"/>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不必重载页面即可修改</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Store</a:t>
            </a:r>
          </a:p>
          <a:p>
            <a:pPr marL="457200" marR="0" lvl="1" indent="0" algn="l" defTabSz="914400" rtl="0" eaLnBrk="0" fontAlgn="base" latinLnBrk="0" hangingPunct="0">
              <a:lnSpc>
                <a:spcPct val="100000"/>
              </a:lnSpc>
              <a:spcBef>
                <a:spcPct val="0"/>
              </a:spcBef>
              <a:spcAft>
                <a:spcPct val="0"/>
              </a:spcAft>
              <a:buClrTx/>
              <a:buSzTx/>
              <a:buFontTx/>
              <a:buChar char="•"/>
              <a:tabLst/>
              <a:defRPr/>
            </a:pPr>
            <a:r>
              <a:rPr kumimoji="0" lang="en-US" altLang="en-US" sz="1200" b="0" i="0" u="none" strike="noStrike" kern="1200" cap="none" spc="0" normalizeH="0" baseline="0" noProof="0" dirty="0" err="1">
                <a:ln>
                  <a:noFill/>
                </a:ln>
                <a:effectLst/>
                <a:uLnTx/>
                <a:uFillTx/>
                <a:latin typeface="Arial" panose="020B0604020202020204" pitchFamily="34" charset="0"/>
                <a:ea typeface="Punctuation SC"/>
                <a:cs typeface="+mn-cs"/>
              </a:rPr>
              <a:t>开发时可保持当前的</a:t>
            </a: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 State</a:t>
            </a:r>
          </a:p>
        </p:txBody>
      </p:sp>
      <p:sp>
        <p:nvSpPr>
          <p:cNvPr id="8" name="TextBox 7">
            <a:extLst>
              <a:ext uri="{FF2B5EF4-FFF2-40B4-BE49-F238E27FC236}">
                <a16:creationId xmlns:a16="http://schemas.microsoft.com/office/drawing/2014/main" id="{64BEB007-FCFF-9DC0-F16B-A74BC5169CEC}"/>
              </a:ext>
            </a:extLst>
          </p:cNvPr>
          <p:cNvSpPr txBox="1"/>
          <p:nvPr/>
        </p:nvSpPr>
        <p:spPr>
          <a:xfrm>
            <a:off x="11471" y="218648"/>
            <a:ext cx="1042273" cy="523220"/>
          </a:xfrm>
          <a:prstGeom prst="rect">
            <a:avLst/>
          </a:prstGeom>
          <a:noFill/>
        </p:spPr>
        <p:txBody>
          <a:bodyPr wrap="none" rtlCol="0">
            <a:spAutoFit/>
          </a:bodyPr>
          <a:lstStyle/>
          <a:p>
            <a:r>
              <a:rPr kumimoji="0" lang="en-US" altLang="zh-CN" sz="2800" b="1" i="0" u="none" strike="noStrike" kern="1200" cap="none" spc="0" normalizeH="0" baseline="0" noProof="0" dirty="0" err="1">
                <a:ln>
                  <a:noFill/>
                </a:ln>
                <a:solidFill>
                  <a:prstClr val="black"/>
                </a:solidFill>
                <a:effectLst/>
                <a:uLnTx/>
                <a:uFillTx/>
                <a:latin typeface="Arial" panose="020B0604020202020204" pitchFamily="34" charset="0"/>
                <a:ea typeface="等线" panose="02010600030101010101" pitchFamily="2" charset="-122"/>
                <a:cs typeface="+mn-cs"/>
              </a:rPr>
              <a:t>Pinia</a:t>
            </a:r>
            <a:endParaRPr lang="en-US" dirty="0"/>
          </a:p>
        </p:txBody>
      </p:sp>
      <p:cxnSp>
        <p:nvCxnSpPr>
          <p:cNvPr id="12" name="Straight Connector 11">
            <a:extLst>
              <a:ext uri="{FF2B5EF4-FFF2-40B4-BE49-F238E27FC236}">
                <a16:creationId xmlns:a16="http://schemas.microsoft.com/office/drawing/2014/main" id="{0C882513-B69B-8E50-31BA-B141DAB71881}"/>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3" name="Group 12">
            <a:extLst>
              <a:ext uri="{FF2B5EF4-FFF2-40B4-BE49-F238E27FC236}">
                <a16:creationId xmlns:a16="http://schemas.microsoft.com/office/drawing/2014/main" id="{908E1B10-C8AA-5014-5EFD-A7A5F74FA492}"/>
              </a:ext>
            </a:extLst>
          </p:cNvPr>
          <p:cNvGrpSpPr/>
          <p:nvPr/>
        </p:nvGrpSpPr>
        <p:grpSpPr>
          <a:xfrm>
            <a:off x="3106164" y="151546"/>
            <a:ext cx="4386653" cy="4080914"/>
            <a:chOff x="7614613" y="5950488"/>
            <a:chExt cx="4386653" cy="4080914"/>
          </a:xfrm>
        </p:grpSpPr>
        <p:sp>
          <p:nvSpPr>
            <p:cNvPr id="14" name="Rectangle: Rounded Corners 13">
              <a:extLst>
                <a:ext uri="{FF2B5EF4-FFF2-40B4-BE49-F238E27FC236}">
                  <a16:creationId xmlns:a16="http://schemas.microsoft.com/office/drawing/2014/main" id="{1CE644B9-0D0B-BAA4-351C-EBB19B64D566}"/>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▶引入</a:t>
              </a:r>
              <a:endParaRPr lang="en-US" sz="1200" dirty="0">
                <a:solidFill>
                  <a:schemeClr val="bg1"/>
                </a:solidFill>
              </a:endParaRPr>
            </a:p>
          </p:txBody>
        </p:sp>
        <p:sp>
          <p:nvSpPr>
            <p:cNvPr id="15" name="TextBox 14">
              <a:extLst>
                <a:ext uri="{FF2B5EF4-FFF2-40B4-BE49-F238E27FC236}">
                  <a16:creationId xmlns:a16="http://schemas.microsoft.com/office/drawing/2014/main" id="{6F43FFA4-991E-C342-C523-2341C98E9998}"/>
                </a:ext>
              </a:extLst>
            </p:cNvPr>
            <p:cNvSpPr txBox="1"/>
            <p:nvPr/>
          </p:nvSpPr>
          <p:spPr>
            <a:xfrm>
              <a:off x="7667294" y="6245750"/>
              <a:ext cx="4281578" cy="3785652"/>
            </a:xfrm>
            <a:prstGeom prst="rect">
              <a:avLst/>
            </a:prstGeom>
            <a:noFill/>
          </p:spPr>
          <p:txBody>
            <a:bodyPr wrap="square">
              <a:spAutoFit/>
            </a:bodyPr>
            <a:lstStyle/>
            <a:p>
              <a:r>
                <a:rPr lang="en-US" sz="1200" b="0" i="0" dirty="0">
                  <a:solidFill>
                    <a:schemeClr val="accent2"/>
                  </a:solidFill>
                  <a:effectLst/>
                  <a:latin typeface="ui-monospace"/>
                </a:rPr>
                <a:t>// </a:t>
              </a:r>
              <a:r>
                <a:rPr lang="en-US" sz="1200" b="0" i="0" dirty="0" err="1">
                  <a:solidFill>
                    <a:schemeClr val="accent2"/>
                  </a:solidFill>
                  <a:effectLst/>
                  <a:latin typeface="ui-monospace"/>
                </a:rPr>
                <a:t>pinia</a:t>
              </a:r>
              <a:endParaRPr lang="en-US" sz="1200" b="0" i="0" dirty="0">
                <a:solidFill>
                  <a:schemeClr val="accent2"/>
                </a:solidFill>
                <a:effectLst/>
                <a:latin typeface="ui-monospace"/>
              </a:endParaRPr>
            </a:p>
            <a:p>
              <a:r>
                <a:rPr lang="en-US" sz="1200" b="0" i="0" dirty="0">
                  <a:solidFill>
                    <a:schemeClr val="accent2"/>
                  </a:solidFill>
                  <a:effectLst/>
                  <a:latin typeface="ui-monospace"/>
                </a:rPr>
                <a:t>import { </a:t>
              </a:r>
              <a:r>
                <a:rPr lang="en-US" sz="1200" b="0" i="0" dirty="0" err="1">
                  <a:solidFill>
                    <a:schemeClr val="accent2"/>
                  </a:solidFill>
                  <a:effectLst/>
                  <a:latin typeface="ui-monospace"/>
                </a:rPr>
                <a:t>createPinia</a:t>
              </a:r>
              <a:r>
                <a:rPr lang="en-US" sz="1200" b="0" i="0" dirty="0">
                  <a:solidFill>
                    <a:schemeClr val="accent2"/>
                  </a:solidFill>
                  <a:effectLst/>
                  <a:latin typeface="ui-monospace"/>
                </a:rPr>
                <a:t> } from "</a:t>
              </a:r>
              <a:r>
                <a:rPr lang="en-US" sz="1200" b="0" i="0" dirty="0" err="1">
                  <a:solidFill>
                    <a:schemeClr val="accent2"/>
                  </a:solidFill>
                  <a:effectLst/>
                  <a:latin typeface="ui-monospace"/>
                </a:rPr>
                <a:t>pinia</a:t>
              </a:r>
              <a:r>
                <a:rPr lang="en-US" sz="1200" b="0" i="0" dirty="0">
                  <a:solidFill>
                    <a:schemeClr val="accent2"/>
                  </a:solidFill>
                  <a:effectLst/>
                  <a:latin typeface="ui-monospace"/>
                </a:rPr>
                <a:t>";</a:t>
              </a:r>
            </a:p>
            <a:p>
              <a:r>
                <a:rPr lang="en-US" sz="1200" b="0" i="0" dirty="0">
                  <a:solidFill>
                    <a:schemeClr val="accent2"/>
                  </a:solidFill>
                  <a:effectLst/>
                  <a:latin typeface="ui-monospace"/>
                </a:rPr>
                <a:t>// </a:t>
              </a:r>
              <a:r>
                <a:rPr lang="zh-CN" altLang="en-US" sz="1200" b="0" i="0" dirty="0">
                  <a:solidFill>
                    <a:schemeClr val="accent2"/>
                  </a:solidFill>
                  <a:effectLst/>
                  <a:latin typeface="ui-monospace"/>
                </a:rPr>
                <a:t>持久化存储</a:t>
              </a:r>
            </a:p>
            <a:p>
              <a:r>
                <a:rPr lang="en-US" sz="1200" b="0" i="0" dirty="0">
                  <a:solidFill>
                    <a:schemeClr val="accent2"/>
                  </a:solidFill>
                  <a:effectLst/>
                  <a:latin typeface="ui-monospace"/>
                </a:rPr>
                <a:t>import { </a:t>
              </a:r>
              <a:r>
                <a:rPr lang="en-US" sz="1200" b="0" i="0" dirty="0" err="1">
                  <a:solidFill>
                    <a:schemeClr val="accent2"/>
                  </a:solidFill>
                  <a:effectLst/>
                  <a:latin typeface="ui-monospace"/>
                </a:rPr>
                <a:t>createPersistedState</a:t>
              </a:r>
              <a:r>
                <a:rPr lang="en-US" sz="1200" b="0" i="0" dirty="0">
                  <a:solidFill>
                    <a:schemeClr val="accent2"/>
                  </a:solidFill>
                  <a:effectLst/>
                  <a:latin typeface="ui-monospace"/>
                </a:rPr>
                <a:t> } from "</a:t>
              </a:r>
              <a:r>
                <a:rPr lang="en-US" sz="1200" b="0" i="0" dirty="0" err="1">
                  <a:solidFill>
                    <a:schemeClr val="accent2"/>
                  </a:solidFill>
                  <a:effectLst/>
                  <a:latin typeface="ui-monospace"/>
                </a:rPr>
                <a:t>pinia</a:t>
              </a:r>
              <a:r>
                <a:rPr lang="en-US" sz="1200" b="0" i="0" dirty="0">
                  <a:solidFill>
                    <a:schemeClr val="accent2"/>
                  </a:solidFill>
                  <a:effectLst/>
                  <a:latin typeface="ui-monospace"/>
                </a:rPr>
                <a:t>-plugin-</a:t>
              </a:r>
              <a:r>
                <a:rPr lang="en-US" sz="1200" b="0" i="0" dirty="0" err="1">
                  <a:solidFill>
                    <a:schemeClr val="accent2"/>
                  </a:solidFill>
                  <a:effectLst/>
                  <a:latin typeface="ui-monospace"/>
                </a:rPr>
                <a:t>persistedstate</a:t>
              </a:r>
              <a:r>
                <a:rPr lang="en-US" sz="1200" b="0" i="0" dirty="0">
                  <a:solidFill>
                    <a:schemeClr val="accent2"/>
                  </a:solidFill>
                  <a:effectLst/>
                  <a:latin typeface="ui-monospace"/>
                </a:rPr>
                <a:t>";</a:t>
              </a:r>
            </a:p>
            <a:p>
              <a:endParaRPr lang="en-US" sz="1200" b="0" i="0" dirty="0">
                <a:solidFill>
                  <a:schemeClr val="accent2"/>
                </a:solidFill>
                <a:effectLst/>
                <a:latin typeface="ui-monospace"/>
              </a:endParaRPr>
            </a:p>
            <a:p>
              <a:r>
                <a:rPr lang="en-US" sz="1200" b="0" i="0" dirty="0">
                  <a:solidFill>
                    <a:schemeClr val="accent2"/>
                  </a:solidFill>
                  <a:effectLst/>
                  <a:latin typeface="ui-monospace"/>
                </a:rPr>
                <a:t>const </a:t>
              </a:r>
              <a:r>
                <a:rPr lang="en-US" sz="1200" b="0" i="0" dirty="0" err="1">
                  <a:solidFill>
                    <a:schemeClr val="accent2"/>
                  </a:solidFill>
                  <a:effectLst/>
                  <a:latin typeface="ui-monospace"/>
                </a:rPr>
                <a:t>pinia</a:t>
              </a:r>
              <a:r>
                <a:rPr lang="en-US" sz="1200" b="0" i="0" dirty="0">
                  <a:solidFill>
                    <a:schemeClr val="accent2"/>
                  </a:solidFill>
                  <a:effectLst/>
                  <a:latin typeface="ui-monospace"/>
                </a:rPr>
                <a:t> = </a:t>
              </a:r>
              <a:r>
                <a:rPr lang="en-US" sz="1200" b="0" i="0" dirty="0" err="1">
                  <a:solidFill>
                    <a:schemeClr val="accent2"/>
                  </a:solidFill>
                  <a:effectLst/>
                  <a:latin typeface="ui-monospace"/>
                </a:rPr>
                <a:t>createPinia</a:t>
              </a:r>
              <a:r>
                <a:rPr lang="en-US" sz="1200" b="0" i="0" dirty="0">
                  <a:solidFill>
                    <a:schemeClr val="accent2"/>
                  </a:solidFill>
                  <a:effectLst/>
                  <a:latin typeface="ui-monospace"/>
                </a:rPr>
                <a:t>();</a:t>
              </a:r>
            </a:p>
            <a:p>
              <a:r>
                <a:rPr lang="en-US" sz="1200" b="0" i="0" dirty="0" err="1">
                  <a:solidFill>
                    <a:schemeClr val="accent2"/>
                  </a:solidFill>
                  <a:effectLst/>
                  <a:latin typeface="ui-monospace"/>
                </a:rPr>
                <a:t>pinia.use</a:t>
              </a:r>
              <a:r>
                <a:rPr lang="en-US" sz="1200" b="0" i="0" dirty="0">
                  <a:solidFill>
                    <a:schemeClr val="accent2"/>
                  </a:solidFill>
                  <a:effectLst/>
                  <a:latin typeface="ui-monospace"/>
                </a:rPr>
                <a:t>(</a:t>
              </a:r>
            </a:p>
            <a:p>
              <a:r>
                <a:rPr lang="en-US" sz="1200" b="0" i="0" dirty="0">
                  <a:solidFill>
                    <a:schemeClr val="accent2"/>
                  </a:solidFill>
                  <a:effectLst/>
                  <a:latin typeface="ui-monospace"/>
                </a:rPr>
                <a:t>    </a:t>
              </a:r>
              <a:r>
                <a:rPr lang="en-US" sz="1200" b="0" i="0" dirty="0" err="1">
                  <a:solidFill>
                    <a:schemeClr val="accent2"/>
                  </a:solidFill>
                  <a:effectLst/>
                  <a:latin typeface="ui-monospace"/>
                </a:rPr>
                <a:t>createPersistedState</a:t>
              </a:r>
              <a:r>
                <a:rPr lang="en-US" sz="1200" b="0" i="0" dirty="0">
                  <a:solidFill>
                    <a:schemeClr val="accent2"/>
                  </a:solidFill>
                  <a:effectLst/>
                  <a:latin typeface="ui-monospace"/>
                </a:rPr>
                <a:t>({</a:t>
              </a:r>
            </a:p>
            <a:p>
              <a:r>
                <a:rPr lang="en-US" sz="1200" b="0" i="0" dirty="0">
                  <a:solidFill>
                    <a:schemeClr val="accent2"/>
                  </a:solidFill>
                  <a:effectLst/>
                  <a:latin typeface="ui-monospace"/>
                </a:rPr>
                <a:t>        auto: true,</a:t>
              </a:r>
            </a:p>
            <a:p>
              <a:r>
                <a:rPr lang="en-US" sz="1200" b="0" i="0" dirty="0">
                  <a:solidFill>
                    <a:schemeClr val="accent2"/>
                  </a:solidFill>
                  <a:effectLst/>
                  <a:latin typeface="ui-monospace"/>
                </a:rPr>
                <a:t>    })</a:t>
              </a:r>
            </a:p>
            <a:p>
              <a:r>
                <a:rPr lang="en-US" sz="1200" b="0" i="0" dirty="0">
                  <a:solidFill>
                    <a:schemeClr val="accent2"/>
                  </a:solidFill>
                  <a:effectLst/>
                  <a:latin typeface="ui-monospace"/>
                </a:rPr>
                <a:t>);</a:t>
              </a:r>
            </a:p>
            <a:p>
              <a:r>
                <a:rPr lang="en-US" sz="1200" b="0" i="0" dirty="0">
                  <a:solidFill>
                    <a:schemeClr val="accent2"/>
                  </a:solidFill>
                  <a:effectLst/>
                  <a:latin typeface="ui-monospace"/>
                </a:rPr>
                <a:t>// </a:t>
              </a:r>
              <a:r>
                <a:rPr lang="zh-CN" altLang="en-US" sz="1200" b="0" i="0" dirty="0">
                  <a:solidFill>
                    <a:schemeClr val="accent2"/>
                  </a:solidFill>
                  <a:effectLst/>
                  <a:latin typeface="ui-monospace"/>
                </a:rPr>
                <a:t>重写 </a:t>
              </a:r>
              <a:r>
                <a:rPr lang="en-US" altLang="zh-CN" sz="1200" b="0" i="0" dirty="0">
                  <a:solidFill>
                    <a:schemeClr val="accent2"/>
                  </a:solidFill>
                  <a:effectLst/>
                  <a:latin typeface="ui-monospace"/>
                </a:rPr>
                <a:t>$</a:t>
              </a:r>
              <a:r>
                <a:rPr lang="en-US" sz="1200" b="0" i="0" dirty="0">
                  <a:solidFill>
                    <a:schemeClr val="accent2"/>
                  </a:solidFill>
                  <a:effectLst/>
                  <a:latin typeface="ui-monospace"/>
                </a:rPr>
                <a:t>reset </a:t>
              </a:r>
              <a:r>
                <a:rPr lang="zh-CN" altLang="en-US" sz="1200" b="0" i="0" dirty="0">
                  <a:solidFill>
                    <a:schemeClr val="accent2"/>
                  </a:solidFill>
                  <a:effectLst/>
                  <a:latin typeface="ui-monospace"/>
                </a:rPr>
                <a:t>方法 </a:t>
              </a:r>
              <a:r>
                <a:rPr lang="en-US" altLang="zh-CN" sz="1200" b="0" i="0" dirty="0">
                  <a:solidFill>
                    <a:schemeClr val="accent2"/>
                  </a:solidFill>
                  <a:effectLst/>
                  <a:latin typeface="ui-monospace"/>
                </a:rPr>
                <a:t>=&gt; </a:t>
              </a:r>
              <a:r>
                <a:rPr lang="zh-CN" altLang="en-US" sz="1200" b="0" i="0" dirty="0">
                  <a:solidFill>
                    <a:schemeClr val="accent2"/>
                  </a:solidFill>
                  <a:effectLst/>
                  <a:latin typeface="ui-monospace"/>
                </a:rPr>
                <a:t>解决组合式</a:t>
              </a:r>
              <a:r>
                <a:rPr lang="en-US" sz="1200" b="0" i="0" dirty="0" err="1">
                  <a:solidFill>
                    <a:schemeClr val="accent2"/>
                  </a:solidFill>
                  <a:effectLst/>
                  <a:latin typeface="ui-monospace"/>
                </a:rPr>
                <a:t>api</a:t>
              </a:r>
              <a:r>
                <a:rPr lang="zh-CN" altLang="en-US" sz="1200" b="0" i="0" dirty="0">
                  <a:solidFill>
                    <a:schemeClr val="accent2"/>
                  </a:solidFill>
                  <a:effectLst/>
                  <a:latin typeface="ui-monospace"/>
                </a:rPr>
                <a:t>中无法使用问题</a:t>
              </a:r>
            </a:p>
            <a:p>
              <a:r>
                <a:rPr lang="en-US" sz="1200" b="0" i="0" dirty="0" err="1">
                  <a:solidFill>
                    <a:schemeClr val="accent2"/>
                  </a:solidFill>
                  <a:effectLst/>
                  <a:latin typeface="ui-monospace"/>
                </a:rPr>
                <a:t>pinia.use</a:t>
              </a:r>
              <a:r>
                <a:rPr lang="en-US" sz="1200" b="0" i="0" dirty="0">
                  <a:solidFill>
                    <a:schemeClr val="accent2"/>
                  </a:solidFill>
                  <a:effectLst/>
                  <a:latin typeface="ui-monospace"/>
                </a:rPr>
                <a:t>(({ store }) =&gt; {</a:t>
              </a:r>
            </a:p>
            <a:p>
              <a:r>
                <a:rPr lang="en-US" sz="1200" b="0" i="0" dirty="0">
                  <a:solidFill>
                    <a:schemeClr val="accent2"/>
                  </a:solidFill>
                  <a:effectLst/>
                  <a:latin typeface="ui-monospace"/>
                </a:rPr>
                <a:t>    const </a:t>
              </a:r>
              <a:r>
                <a:rPr lang="en-US" sz="1200" b="0" i="0" dirty="0" err="1">
                  <a:solidFill>
                    <a:schemeClr val="accent2"/>
                  </a:solidFill>
                  <a:effectLst/>
                  <a:latin typeface="ui-monospace"/>
                </a:rPr>
                <a:t>initialState</a:t>
              </a:r>
              <a:r>
                <a:rPr lang="en-US" sz="1200" b="0" i="0" dirty="0">
                  <a:solidFill>
                    <a:schemeClr val="accent2"/>
                  </a:solidFill>
                  <a:effectLst/>
                  <a:latin typeface="ui-monospace"/>
                </a:rPr>
                <a:t> = </a:t>
              </a:r>
              <a:r>
                <a:rPr lang="en-US" sz="1200" b="0" i="0" dirty="0" err="1">
                  <a:solidFill>
                    <a:schemeClr val="accent2"/>
                  </a:solidFill>
                  <a:effectLst/>
                  <a:latin typeface="ui-monospace"/>
                </a:rPr>
                <a:t>JSON.parse</a:t>
              </a:r>
              <a:r>
                <a:rPr lang="en-US" sz="1200" b="0" i="0" dirty="0">
                  <a:solidFill>
                    <a:schemeClr val="accent2"/>
                  </a:solidFill>
                  <a:effectLst/>
                  <a:latin typeface="ui-monospace"/>
                </a:rPr>
                <a:t>(</a:t>
              </a:r>
              <a:r>
                <a:rPr lang="en-US" sz="1200" b="0" i="0" dirty="0" err="1">
                  <a:solidFill>
                    <a:schemeClr val="accent2"/>
                  </a:solidFill>
                  <a:effectLst/>
                  <a:latin typeface="ui-monospace"/>
                </a:rPr>
                <a:t>JSON.stringify</a:t>
              </a:r>
              <a:r>
                <a:rPr lang="en-US" sz="1200" b="0" i="0" dirty="0">
                  <a:solidFill>
                    <a:schemeClr val="accent2"/>
                  </a:solidFill>
                  <a:effectLst/>
                  <a:latin typeface="ui-monospace"/>
                </a:rPr>
                <a:t>(</a:t>
              </a:r>
              <a:r>
                <a:rPr lang="en-US" sz="1200" b="0" i="0" dirty="0" err="1">
                  <a:solidFill>
                    <a:schemeClr val="accent2"/>
                  </a:solidFill>
                  <a:effectLst/>
                  <a:latin typeface="ui-monospace"/>
                </a:rPr>
                <a:t>store.$state</a:t>
              </a:r>
              <a:r>
                <a:rPr lang="en-US" sz="1200" b="0" i="0" dirty="0">
                  <a:solidFill>
                    <a:schemeClr val="accent2"/>
                  </a:solidFill>
                  <a:effectLst/>
                  <a:latin typeface="ui-monospace"/>
                </a:rPr>
                <a:t>));</a:t>
              </a:r>
            </a:p>
            <a:p>
              <a:r>
                <a:rPr lang="en-US" sz="1200" b="0" i="0" dirty="0">
                  <a:solidFill>
                    <a:schemeClr val="accent2"/>
                  </a:solidFill>
                  <a:effectLst/>
                  <a:latin typeface="ui-monospace"/>
                </a:rPr>
                <a:t>    </a:t>
              </a:r>
              <a:r>
                <a:rPr lang="en-US" sz="1200" b="0" i="0" dirty="0" err="1">
                  <a:solidFill>
                    <a:schemeClr val="accent2"/>
                  </a:solidFill>
                  <a:effectLst/>
                  <a:latin typeface="ui-monospace"/>
                </a:rPr>
                <a:t>store.$reset</a:t>
              </a:r>
              <a:r>
                <a:rPr lang="en-US" sz="1200" b="0" i="0" dirty="0">
                  <a:solidFill>
                    <a:schemeClr val="accent2"/>
                  </a:solidFill>
                  <a:effectLst/>
                  <a:latin typeface="ui-monospace"/>
                </a:rPr>
                <a:t> = () =&gt; {</a:t>
              </a:r>
            </a:p>
            <a:p>
              <a:r>
                <a:rPr lang="en-US" sz="1200" b="0" i="0" dirty="0">
                  <a:solidFill>
                    <a:schemeClr val="accent2"/>
                  </a:solidFill>
                  <a:effectLst/>
                  <a:latin typeface="ui-monospace"/>
                </a:rPr>
                <a:t>        </a:t>
              </a:r>
              <a:r>
                <a:rPr lang="en-US" sz="1200" b="0" i="0" dirty="0" err="1">
                  <a:solidFill>
                    <a:schemeClr val="accent2"/>
                  </a:solidFill>
                  <a:effectLst/>
                  <a:latin typeface="ui-monospace"/>
                </a:rPr>
                <a:t>store.$patch</a:t>
              </a:r>
              <a:r>
                <a:rPr lang="en-US" sz="1200" b="0" i="0" dirty="0">
                  <a:solidFill>
                    <a:schemeClr val="accent2"/>
                  </a:solidFill>
                  <a:effectLst/>
                  <a:latin typeface="ui-monospace"/>
                </a:rPr>
                <a:t>(</a:t>
              </a:r>
              <a:r>
                <a:rPr lang="en-US" sz="1200" b="0" i="0" dirty="0" err="1">
                  <a:solidFill>
                    <a:schemeClr val="accent2"/>
                  </a:solidFill>
                  <a:effectLst/>
                  <a:latin typeface="ui-monospace"/>
                </a:rPr>
                <a:t>initialState</a:t>
              </a:r>
              <a:r>
                <a:rPr lang="en-US" sz="1200" b="0" i="0" dirty="0">
                  <a:solidFill>
                    <a:schemeClr val="accent2"/>
                  </a:solidFill>
                  <a:effectLst/>
                  <a:latin typeface="ui-monospace"/>
                </a:rPr>
                <a:t>);</a:t>
              </a:r>
            </a:p>
            <a:p>
              <a:r>
                <a:rPr lang="en-US" sz="1200" b="0" i="0" dirty="0">
                  <a:solidFill>
                    <a:schemeClr val="accent2"/>
                  </a:solidFill>
                  <a:effectLst/>
                  <a:latin typeface="ui-monospace"/>
                </a:rPr>
                <a:t>    };</a:t>
              </a:r>
            </a:p>
            <a:p>
              <a:r>
                <a:rPr lang="en-US" sz="1200" b="0" i="0" dirty="0">
                  <a:solidFill>
                    <a:schemeClr val="accent2"/>
                  </a:solidFill>
                  <a:effectLst/>
                  <a:latin typeface="ui-monospace"/>
                </a:rPr>
                <a:t>});</a:t>
              </a:r>
            </a:p>
            <a:p>
              <a:endParaRPr lang="en-US" sz="1200" b="0" i="0" dirty="0">
                <a:solidFill>
                  <a:schemeClr val="accent2"/>
                </a:solidFill>
                <a:effectLst/>
                <a:latin typeface="ui-monospace"/>
              </a:endParaRPr>
            </a:p>
            <a:p>
              <a:r>
                <a:rPr lang="en-US" sz="1200" b="0" i="0" dirty="0" err="1">
                  <a:solidFill>
                    <a:schemeClr val="accent2"/>
                  </a:solidFill>
                  <a:effectLst/>
                  <a:latin typeface="ui-monospace"/>
                </a:rPr>
                <a:t>app.use</a:t>
              </a:r>
              <a:r>
                <a:rPr lang="en-US" sz="1200" b="0" i="0" dirty="0">
                  <a:solidFill>
                    <a:schemeClr val="accent2"/>
                  </a:solidFill>
                  <a:effectLst/>
                  <a:latin typeface="ui-monospace"/>
                </a:rPr>
                <a:t>(</a:t>
              </a:r>
              <a:r>
                <a:rPr lang="en-US" sz="1200" b="0" i="0" dirty="0" err="1">
                  <a:solidFill>
                    <a:schemeClr val="accent2"/>
                  </a:solidFill>
                  <a:effectLst/>
                  <a:latin typeface="ui-monospace"/>
                </a:rPr>
                <a:t>pinia</a:t>
              </a:r>
              <a:r>
                <a:rPr lang="en-US" sz="1200" b="0" i="0" dirty="0">
                  <a:solidFill>
                    <a:schemeClr val="accent2"/>
                  </a:solidFill>
                  <a:effectLst/>
                  <a:latin typeface="ui-monospace"/>
                </a:rPr>
                <a:t>);</a:t>
              </a:r>
              <a:endParaRPr lang="en-US" sz="1200" dirty="0">
                <a:solidFill>
                  <a:schemeClr val="accent2"/>
                </a:solidFill>
              </a:endParaRPr>
            </a:p>
          </p:txBody>
        </p:sp>
      </p:grpSp>
      <p:grpSp>
        <p:nvGrpSpPr>
          <p:cNvPr id="17" name="Group 16">
            <a:extLst>
              <a:ext uri="{FF2B5EF4-FFF2-40B4-BE49-F238E27FC236}">
                <a16:creationId xmlns:a16="http://schemas.microsoft.com/office/drawing/2014/main" id="{1A8D953D-DF1A-6848-A087-6185AC380132}"/>
              </a:ext>
            </a:extLst>
          </p:cNvPr>
          <p:cNvGrpSpPr/>
          <p:nvPr/>
        </p:nvGrpSpPr>
        <p:grpSpPr>
          <a:xfrm>
            <a:off x="7679921" y="149450"/>
            <a:ext cx="4386653" cy="5712130"/>
            <a:chOff x="7614613" y="5950488"/>
            <a:chExt cx="4386653" cy="5712130"/>
          </a:xfrm>
        </p:grpSpPr>
        <p:sp>
          <p:nvSpPr>
            <p:cNvPr id="18" name="Rectangle: Rounded Corners 17">
              <a:extLst>
                <a:ext uri="{FF2B5EF4-FFF2-40B4-BE49-F238E27FC236}">
                  <a16:creationId xmlns:a16="http://schemas.microsoft.com/office/drawing/2014/main" id="{BD3E69D8-880D-E579-0F29-CD96B0ED8FF9}"/>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▶定义</a:t>
              </a:r>
              <a:r>
                <a:rPr lang="en-US" altLang="zh-CN" sz="1200" dirty="0">
                  <a:solidFill>
                    <a:schemeClr val="bg1"/>
                  </a:solidFill>
                  <a:latin typeface="ui-monospace"/>
                </a:rPr>
                <a:t>Store</a:t>
              </a:r>
            </a:p>
          </p:txBody>
        </p:sp>
        <p:sp>
          <p:nvSpPr>
            <p:cNvPr id="19" name="TextBox 18">
              <a:extLst>
                <a:ext uri="{FF2B5EF4-FFF2-40B4-BE49-F238E27FC236}">
                  <a16:creationId xmlns:a16="http://schemas.microsoft.com/office/drawing/2014/main" id="{1735C93F-28F0-CCB0-4281-6DEB93F139C9}"/>
                </a:ext>
              </a:extLst>
            </p:cNvPr>
            <p:cNvSpPr txBox="1"/>
            <p:nvPr/>
          </p:nvSpPr>
          <p:spPr>
            <a:xfrm>
              <a:off x="7667294" y="6245750"/>
              <a:ext cx="4281578" cy="5416868"/>
            </a:xfrm>
            <a:prstGeom prst="rect">
              <a:avLst/>
            </a:prstGeom>
            <a:noFill/>
          </p:spPr>
          <p:txBody>
            <a:bodyPr wrap="square">
              <a:spAutoFit/>
            </a:bodyPr>
            <a:lstStyle/>
            <a:p>
              <a:r>
                <a:rPr lang="en-US" sz="1200" b="0" i="0" dirty="0">
                  <a:solidFill>
                    <a:schemeClr val="accent2"/>
                  </a:solidFill>
                  <a:effectLst/>
                  <a:latin typeface="ui-monospace"/>
                </a:rPr>
                <a:t>// stores/counter</a:t>
              </a:r>
            </a:p>
            <a:p>
              <a:r>
                <a:rPr lang="en-US" sz="1200" b="0" i="0" dirty="0">
                  <a:solidFill>
                    <a:schemeClr val="accent2"/>
                  </a:solidFill>
                  <a:effectLst/>
                  <a:latin typeface="ui-monospace"/>
                </a:rPr>
                <a:t>import { </a:t>
              </a:r>
              <a:r>
                <a:rPr lang="en-US" sz="1200" b="0" i="0" dirty="0" err="1">
                  <a:solidFill>
                    <a:schemeClr val="accent2"/>
                  </a:solidFill>
                  <a:effectLst/>
                  <a:latin typeface="ui-monospace"/>
                </a:rPr>
                <a:t>defineStore</a:t>
              </a:r>
              <a:r>
                <a:rPr lang="en-US" sz="1200" b="0" i="0" dirty="0">
                  <a:solidFill>
                    <a:schemeClr val="accent2"/>
                  </a:solidFill>
                  <a:effectLst/>
                  <a:latin typeface="ui-monospace"/>
                </a:rPr>
                <a:t> } from '</a:t>
              </a:r>
              <a:r>
                <a:rPr lang="en-US" sz="1200" b="0" i="0" dirty="0" err="1">
                  <a:solidFill>
                    <a:schemeClr val="accent2"/>
                  </a:solidFill>
                  <a:effectLst/>
                  <a:latin typeface="ui-monospace"/>
                </a:rPr>
                <a:t>pinia</a:t>
              </a:r>
              <a:r>
                <a:rPr lang="en-US" sz="1200" b="0" i="0" dirty="0">
                  <a:solidFill>
                    <a:schemeClr val="accent2"/>
                  </a:solidFill>
                  <a:effectLst/>
                  <a:latin typeface="ui-monospace"/>
                </a:rPr>
                <a:t>’ </a:t>
              </a:r>
            </a:p>
            <a:p>
              <a:endParaRPr lang="en-US" sz="1200" dirty="0">
                <a:solidFill>
                  <a:schemeClr val="accent2"/>
                </a:solidFill>
                <a:latin typeface="ui-monospace"/>
              </a:endParaRPr>
            </a:p>
            <a:p>
              <a:r>
                <a:rPr lang="en-US" sz="1200" b="0" i="0" dirty="0">
                  <a:solidFill>
                    <a:schemeClr val="accent2"/>
                  </a:solidFill>
                  <a:effectLst/>
                  <a:latin typeface="ui-monospace"/>
                </a:rPr>
                <a:t>export const </a:t>
              </a:r>
              <a:r>
                <a:rPr lang="en-US" sz="1200" b="0" i="0" dirty="0" err="1">
                  <a:solidFill>
                    <a:schemeClr val="accent2"/>
                  </a:solidFill>
                  <a:effectLst/>
                  <a:latin typeface="ui-monospace"/>
                </a:rPr>
                <a:t>useCounterStore</a:t>
              </a:r>
              <a:r>
                <a:rPr lang="en-US" sz="1200" b="0" i="0" dirty="0">
                  <a:solidFill>
                    <a:schemeClr val="accent2"/>
                  </a:solidFill>
                  <a:effectLst/>
                  <a:latin typeface="ui-monospace"/>
                </a:rPr>
                <a:t> = </a:t>
              </a:r>
              <a:r>
                <a:rPr lang="en-US" sz="1200" b="0" i="0" dirty="0" err="1">
                  <a:solidFill>
                    <a:schemeClr val="accent2"/>
                  </a:solidFill>
                  <a:effectLst/>
                  <a:latin typeface="ui-monospace"/>
                </a:rPr>
                <a:t>defineStore</a:t>
              </a:r>
              <a:r>
                <a:rPr lang="en-US" sz="1200" b="0" i="0" dirty="0">
                  <a:solidFill>
                    <a:schemeClr val="accent2"/>
                  </a:solidFill>
                  <a:effectLst/>
                  <a:latin typeface="ui-monospace"/>
                </a:rPr>
                <a:t>('counter', () =&gt; {</a:t>
              </a:r>
            </a:p>
            <a:p>
              <a:r>
                <a:rPr lang="en-US" sz="1200" b="0" i="0" dirty="0">
                  <a:solidFill>
                    <a:schemeClr val="accent2"/>
                  </a:solidFill>
                  <a:effectLst/>
                  <a:latin typeface="ui-monospace"/>
                </a:rPr>
                <a:t>  const count = ref(0)</a:t>
              </a:r>
            </a:p>
            <a:p>
              <a:r>
                <a:rPr lang="en-US" sz="1200" b="0" i="0" dirty="0">
                  <a:solidFill>
                    <a:schemeClr val="accent2"/>
                  </a:solidFill>
                  <a:effectLst/>
                  <a:latin typeface="ui-monospace"/>
                </a:rPr>
                <a:t>  const </a:t>
              </a:r>
              <a:r>
                <a:rPr lang="en-US" sz="1200" b="0" i="0" dirty="0" err="1">
                  <a:solidFill>
                    <a:schemeClr val="accent2"/>
                  </a:solidFill>
                  <a:effectLst/>
                  <a:latin typeface="ui-monospace"/>
                </a:rPr>
                <a:t>doubleCount</a:t>
              </a:r>
              <a:r>
                <a:rPr lang="en-US" sz="1200" b="0" i="0" dirty="0">
                  <a:solidFill>
                    <a:schemeClr val="accent2"/>
                  </a:solidFill>
                  <a:effectLst/>
                  <a:latin typeface="ui-monospace"/>
                </a:rPr>
                <a:t> = computed(() =&gt; </a:t>
              </a:r>
              <a:r>
                <a:rPr lang="en-US" sz="1200" b="0" i="0" dirty="0" err="1">
                  <a:solidFill>
                    <a:schemeClr val="accent2"/>
                  </a:solidFill>
                  <a:effectLst/>
                  <a:latin typeface="ui-monospace"/>
                </a:rPr>
                <a:t>count.value</a:t>
              </a:r>
              <a:r>
                <a:rPr lang="en-US" sz="1200" b="0" i="0" dirty="0">
                  <a:solidFill>
                    <a:schemeClr val="accent2"/>
                  </a:solidFill>
                  <a:effectLst/>
                  <a:latin typeface="ui-monospace"/>
                </a:rPr>
                <a:t> * 2)</a:t>
              </a:r>
            </a:p>
            <a:p>
              <a:r>
                <a:rPr lang="en-US" sz="1200" b="0" i="0" dirty="0">
                  <a:solidFill>
                    <a:schemeClr val="accent2"/>
                  </a:solidFill>
                  <a:effectLst/>
                  <a:latin typeface="ui-monospace"/>
                </a:rPr>
                <a:t>  function increment() {</a:t>
              </a:r>
            </a:p>
            <a:p>
              <a:r>
                <a:rPr lang="en-US" sz="1200" b="0" i="0" dirty="0">
                  <a:solidFill>
                    <a:schemeClr val="accent2"/>
                  </a:solidFill>
                  <a:effectLst/>
                  <a:latin typeface="ui-monospace"/>
                </a:rPr>
                <a:t>    </a:t>
              </a:r>
              <a:r>
                <a:rPr lang="en-US" sz="1200" b="0" i="0" dirty="0" err="1">
                  <a:solidFill>
                    <a:schemeClr val="accent2"/>
                  </a:solidFill>
                  <a:effectLst/>
                  <a:latin typeface="ui-monospace"/>
                </a:rPr>
                <a:t>count.value</a:t>
              </a:r>
              <a:r>
                <a:rPr lang="en-US" sz="1200" b="0" i="0" dirty="0">
                  <a:solidFill>
                    <a:schemeClr val="accent2"/>
                  </a:solidFill>
                  <a:effectLst/>
                  <a:latin typeface="ui-monospace"/>
                </a:rPr>
                <a:t>++</a:t>
              </a:r>
            </a:p>
            <a:p>
              <a:r>
                <a:rPr lang="en-US" sz="1200" b="0" i="0" dirty="0">
                  <a:solidFill>
                    <a:schemeClr val="accent2"/>
                  </a:solidFill>
                  <a:effectLst/>
                  <a:latin typeface="ui-monospace"/>
                </a:rPr>
                <a:t>  }</a:t>
              </a:r>
            </a:p>
            <a:p>
              <a:endParaRPr lang="en-US" sz="1200" b="0" i="0" dirty="0">
                <a:solidFill>
                  <a:schemeClr val="accent2"/>
                </a:solidFill>
                <a:effectLst/>
                <a:latin typeface="ui-monospace"/>
              </a:endParaRPr>
            </a:p>
            <a:p>
              <a:r>
                <a:rPr lang="en-US" sz="1200" b="0" i="0" dirty="0">
                  <a:solidFill>
                    <a:schemeClr val="accent2"/>
                  </a:solidFill>
                  <a:effectLst/>
                  <a:latin typeface="ui-monospace"/>
                </a:rPr>
                <a:t>  return { count, </a:t>
              </a:r>
              <a:r>
                <a:rPr lang="en-US" sz="1200" b="0" i="0" dirty="0" err="1">
                  <a:solidFill>
                    <a:schemeClr val="accent2"/>
                  </a:solidFill>
                  <a:effectLst/>
                  <a:latin typeface="ui-monospace"/>
                </a:rPr>
                <a:t>doubleCount</a:t>
              </a:r>
              <a:r>
                <a:rPr lang="en-US" sz="1200" b="0" i="0" dirty="0">
                  <a:solidFill>
                    <a:schemeClr val="accent2"/>
                  </a:solidFill>
                  <a:effectLst/>
                  <a:latin typeface="ui-monospace"/>
                </a:rPr>
                <a:t>, increment }</a:t>
              </a:r>
            </a:p>
            <a:p>
              <a:r>
                <a:rPr lang="en-US" sz="1200" b="0" i="0" dirty="0">
                  <a:solidFill>
                    <a:schemeClr val="accent2"/>
                  </a:solidFill>
                  <a:effectLst/>
                  <a:latin typeface="ui-monospace"/>
                </a:rPr>
                <a:t>})</a:t>
              </a:r>
              <a:endParaRPr lang="en-US" sz="1200" dirty="0">
                <a:solidFill>
                  <a:schemeClr val="accent2"/>
                </a:solidFill>
              </a:endParaRPr>
            </a:p>
            <a:p>
              <a:endParaRPr lang="en-US" sz="1200" b="0" i="0" dirty="0">
                <a:solidFill>
                  <a:schemeClr val="accent2"/>
                </a:solidFill>
                <a:effectLst/>
                <a:latin typeface="ui-monospace"/>
              </a:endParaRPr>
            </a:p>
            <a:p>
              <a:r>
                <a:rPr lang="en-US" sz="1200" b="0" i="0" dirty="0">
                  <a:solidFill>
                    <a:schemeClr val="accent2"/>
                  </a:solidFill>
                  <a:effectLst/>
                  <a:latin typeface="ui-monospace"/>
                </a:rPr>
                <a:t>export const </a:t>
              </a:r>
              <a:r>
                <a:rPr lang="en-US" sz="1200" b="0" i="0" dirty="0" err="1">
                  <a:solidFill>
                    <a:schemeClr val="accent2"/>
                  </a:solidFill>
                  <a:effectLst/>
                  <a:latin typeface="ui-monospace"/>
                </a:rPr>
                <a:t>useCounterStore</a:t>
              </a:r>
              <a:r>
                <a:rPr lang="en-US" sz="1200" b="0" i="0" dirty="0">
                  <a:solidFill>
                    <a:schemeClr val="accent2"/>
                  </a:solidFill>
                  <a:effectLst/>
                  <a:latin typeface="ui-monospace"/>
                </a:rPr>
                <a:t> = </a:t>
              </a:r>
              <a:r>
                <a:rPr lang="en-US" sz="1200" b="0" i="0" dirty="0" err="1">
                  <a:solidFill>
                    <a:schemeClr val="accent2"/>
                  </a:solidFill>
                  <a:effectLst/>
                  <a:latin typeface="ui-monospace"/>
                </a:rPr>
                <a:t>defineStore</a:t>
              </a:r>
              <a:r>
                <a:rPr lang="en-US" sz="1200" b="0" i="0" dirty="0">
                  <a:solidFill>
                    <a:schemeClr val="accent2"/>
                  </a:solidFill>
                  <a:effectLst/>
                  <a:latin typeface="ui-monospace"/>
                </a:rPr>
                <a:t>('counter', { </a:t>
              </a:r>
            </a:p>
            <a:p>
              <a:r>
                <a:rPr lang="en-US" sz="1200" b="0" i="0" dirty="0">
                  <a:solidFill>
                    <a:schemeClr val="accent2"/>
                  </a:solidFill>
                  <a:effectLst/>
                  <a:latin typeface="ui-monospace"/>
                </a:rPr>
                <a:t>  state: () =&gt; { return { count: 0 } }, </a:t>
              </a:r>
            </a:p>
            <a:p>
              <a:r>
                <a:rPr lang="en-US" altLang="zh-CN" sz="1200" dirty="0">
                  <a:solidFill>
                    <a:schemeClr val="accent2"/>
                  </a:solidFill>
                  <a:latin typeface="ui-monospace"/>
                </a:rPr>
                <a:t>  </a:t>
              </a:r>
              <a:r>
                <a:rPr lang="en-US" altLang="zh-CN" sz="1200" b="0" i="0" dirty="0">
                  <a:solidFill>
                    <a:schemeClr val="accent2"/>
                  </a:solidFill>
                  <a:effectLst/>
                  <a:latin typeface="ui-monospace"/>
                </a:rPr>
                <a:t>// </a:t>
              </a:r>
              <a:r>
                <a:rPr lang="en-US" sz="1200" b="0" i="0" dirty="0">
                  <a:solidFill>
                    <a:schemeClr val="accent2"/>
                  </a:solidFill>
                  <a:effectLst/>
                  <a:latin typeface="ui-monospace"/>
                </a:rPr>
                <a:t>state: () =&gt; ({ count: 0 }) </a:t>
              </a:r>
            </a:p>
            <a:p>
              <a:endParaRPr lang="en-US" sz="1200" dirty="0">
                <a:solidFill>
                  <a:schemeClr val="accent2"/>
                </a:solidFill>
                <a:latin typeface="ui-monospace"/>
              </a:endParaRPr>
            </a:p>
            <a:p>
              <a:r>
                <a:rPr lang="en-US" sz="1200" dirty="0">
                  <a:solidFill>
                    <a:schemeClr val="accent2"/>
                  </a:solidFill>
                  <a:latin typeface="ui-monospace"/>
                </a:rPr>
                <a:t>  persist: true,</a:t>
              </a:r>
            </a:p>
            <a:p>
              <a:endParaRPr lang="en-US" sz="1200" dirty="0">
                <a:solidFill>
                  <a:schemeClr val="accent2"/>
                </a:solidFill>
                <a:latin typeface="ui-monospace"/>
              </a:endParaRPr>
            </a:p>
            <a:p>
              <a:r>
                <a:rPr lang="en-US" sz="1100" dirty="0">
                  <a:solidFill>
                    <a:schemeClr val="accent2"/>
                  </a:solidFill>
                  <a:latin typeface="ui-monospace"/>
                </a:rPr>
                <a:t>  // </a:t>
              </a:r>
              <a:r>
                <a:rPr lang="zh-CN" altLang="en-US" sz="1100" dirty="0">
                  <a:solidFill>
                    <a:schemeClr val="accent2"/>
                  </a:solidFill>
                  <a:latin typeface="ui-monospace"/>
                </a:rPr>
                <a:t>计算属性</a:t>
              </a:r>
              <a:r>
                <a:rPr lang="en-US" altLang="zh-CN" sz="1100" dirty="0">
                  <a:solidFill>
                    <a:schemeClr val="accent2"/>
                  </a:solidFill>
                  <a:latin typeface="ui-monospace"/>
                </a:rPr>
                <a:t>computed</a:t>
              </a:r>
              <a:endParaRPr lang="en-US" sz="1100" dirty="0">
                <a:solidFill>
                  <a:schemeClr val="accent2"/>
                </a:solidFill>
                <a:latin typeface="ui-monospace"/>
              </a:endParaRPr>
            </a:p>
            <a:p>
              <a:r>
                <a:rPr lang="en-US" sz="1200" b="0" i="0" dirty="0">
                  <a:solidFill>
                    <a:schemeClr val="accent2"/>
                  </a:solidFill>
                  <a:effectLst/>
                  <a:latin typeface="ui-monospace"/>
                </a:rPr>
                <a:t>  getters: {</a:t>
              </a:r>
            </a:p>
            <a:p>
              <a:r>
                <a:rPr lang="en-US" sz="1200" b="0" i="0" dirty="0">
                  <a:solidFill>
                    <a:schemeClr val="accent2"/>
                  </a:solidFill>
                  <a:effectLst/>
                  <a:latin typeface="ui-monospace"/>
                </a:rPr>
                <a:t>    double: (state) =&gt; </a:t>
              </a:r>
              <a:r>
                <a:rPr lang="en-US" sz="1200" b="0" i="0" dirty="0" err="1">
                  <a:solidFill>
                    <a:schemeClr val="accent2"/>
                  </a:solidFill>
                  <a:effectLst/>
                  <a:latin typeface="ui-monospace"/>
                </a:rPr>
                <a:t>state.count</a:t>
              </a:r>
              <a:r>
                <a:rPr lang="en-US" sz="1200" b="0" i="0" dirty="0">
                  <a:solidFill>
                    <a:schemeClr val="accent2"/>
                  </a:solidFill>
                  <a:effectLst/>
                  <a:latin typeface="ui-monospace"/>
                </a:rPr>
                <a:t> * 2,</a:t>
              </a:r>
            </a:p>
            <a:p>
              <a:r>
                <a:rPr lang="en-US" sz="1200" b="0" i="0" dirty="0">
                  <a:solidFill>
                    <a:schemeClr val="accent2"/>
                  </a:solidFill>
                  <a:effectLst/>
                  <a:latin typeface="ui-monospace"/>
                </a:rPr>
                <a:t>  },</a:t>
              </a:r>
            </a:p>
            <a:p>
              <a:endParaRPr lang="en-US" sz="1200" b="0" i="0" dirty="0">
                <a:solidFill>
                  <a:schemeClr val="accent2"/>
                </a:solidFill>
                <a:effectLst/>
                <a:latin typeface="ui-monospace"/>
              </a:endParaRPr>
            </a:p>
            <a:p>
              <a:r>
                <a:rPr lang="en-US" sz="1100" dirty="0">
                  <a:solidFill>
                    <a:schemeClr val="accent2"/>
                  </a:solidFill>
                  <a:latin typeface="ui-monospace"/>
                </a:rPr>
                <a:t>  // </a:t>
              </a:r>
              <a:r>
                <a:rPr lang="zh-CN" altLang="en-US" sz="1100" dirty="0">
                  <a:solidFill>
                    <a:schemeClr val="accent2"/>
                  </a:solidFill>
                  <a:latin typeface="ui-monospace"/>
                </a:rPr>
                <a:t>方法</a:t>
              </a:r>
              <a:r>
                <a:rPr lang="en-US" altLang="zh-CN" sz="1100" dirty="0">
                  <a:solidFill>
                    <a:schemeClr val="accent2"/>
                  </a:solidFill>
                  <a:latin typeface="ui-monospace"/>
                </a:rPr>
                <a:t>methods</a:t>
              </a:r>
              <a:endParaRPr lang="en-US" sz="1100" b="0" i="0" dirty="0">
                <a:solidFill>
                  <a:schemeClr val="accent2"/>
                </a:solidFill>
                <a:effectLst/>
                <a:latin typeface="ui-monospace"/>
              </a:endParaRPr>
            </a:p>
            <a:p>
              <a:r>
                <a:rPr lang="en-US" sz="1200" b="0" i="0" dirty="0">
                  <a:solidFill>
                    <a:schemeClr val="accent2"/>
                  </a:solidFill>
                  <a:effectLst/>
                  <a:latin typeface="ui-monospace"/>
                </a:rPr>
                <a:t>  actions: { </a:t>
              </a:r>
            </a:p>
            <a:p>
              <a:r>
                <a:rPr lang="en-US" sz="1200" b="0" i="0" dirty="0">
                  <a:solidFill>
                    <a:schemeClr val="accent2"/>
                  </a:solidFill>
                  <a:effectLst/>
                  <a:latin typeface="ui-monospace"/>
                </a:rPr>
                <a:t>    increment() { </a:t>
              </a:r>
              <a:r>
                <a:rPr lang="en-US" sz="1200" b="0" i="0" dirty="0" err="1">
                  <a:solidFill>
                    <a:schemeClr val="accent2"/>
                  </a:solidFill>
                  <a:effectLst/>
                  <a:latin typeface="ui-monospace"/>
                </a:rPr>
                <a:t>this.count</a:t>
              </a:r>
              <a:r>
                <a:rPr lang="en-US" sz="1200" b="0" i="0" dirty="0">
                  <a:solidFill>
                    <a:schemeClr val="accent2"/>
                  </a:solidFill>
                  <a:effectLst/>
                  <a:latin typeface="ui-monospace"/>
                </a:rPr>
                <a:t>++ }, </a:t>
              </a:r>
            </a:p>
            <a:p>
              <a:r>
                <a:rPr lang="en-US" sz="1200" b="0" i="0" dirty="0">
                  <a:solidFill>
                    <a:schemeClr val="accent2"/>
                  </a:solidFill>
                  <a:effectLst/>
                  <a:latin typeface="ui-monospace"/>
                </a:rPr>
                <a:t>  }, </a:t>
              </a:r>
            </a:p>
            <a:p>
              <a:r>
                <a:rPr lang="en-US" sz="1200" b="0" i="0" dirty="0">
                  <a:solidFill>
                    <a:schemeClr val="accent2"/>
                  </a:solidFill>
                  <a:effectLst/>
                  <a:latin typeface="ui-monospace"/>
                </a:rPr>
                <a:t>})</a:t>
              </a:r>
            </a:p>
          </p:txBody>
        </p:sp>
      </p:grpSp>
      <p:grpSp>
        <p:nvGrpSpPr>
          <p:cNvPr id="20" name="Group 19">
            <a:extLst>
              <a:ext uri="{FF2B5EF4-FFF2-40B4-BE49-F238E27FC236}">
                <a16:creationId xmlns:a16="http://schemas.microsoft.com/office/drawing/2014/main" id="{C6B0BE6C-4E94-5687-7F21-3E0FE64E9B49}"/>
              </a:ext>
            </a:extLst>
          </p:cNvPr>
          <p:cNvGrpSpPr/>
          <p:nvPr/>
        </p:nvGrpSpPr>
        <p:grpSpPr>
          <a:xfrm>
            <a:off x="3106164" y="4329853"/>
            <a:ext cx="4386653" cy="2403531"/>
            <a:chOff x="7614613" y="5950488"/>
            <a:chExt cx="4386653" cy="2403531"/>
          </a:xfrm>
        </p:grpSpPr>
        <p:sp>
          <p:nvSpPr>
            <p:cNvPr id="21" name="Rectangle: Rounded Corners 20">
              <a:extLst>
                <a:ext uri="{FF2B5EF4-FFF2-40B4-BE49-F238E27FC236}">
                  <a16:creationId xmlns:a16="http://schemas.microsoft.com/office/drawing/2014/main" id="{99BDB135-DD11-FC1D-0647-545A09F4195F}"/>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▶使用</a:t>
              </a:r>
              <a:endParaRPr lang="en-US" sz="1200" dirty="0">
                <a:solidFill>
                  <a:schemeClr val="bg1"/>
                </a:solidFill>
              </a:endParaRPr>
            </a:p>
          </p:txBody>
        </p:sp>
        <p:sp>
          <p:nvSpPr>
            <p:cNvPr id="22" name="TextBox 21">
              <a:extLst>
                <a:ext uri="{FF2B5EF4-FFF2-40B4-BE49-F238E27FC236}">
                  <a16:creationId xmlns:a16="http://schemas.microsoft.com/office/drawing/2014/main" id="{53C30D14-E6E0-01CE-8C8B-580C86CD925C}"/>
                </a:ext>
              </a:extLst>
            </p:cNvPr>
            <p:cNvSpPr txBox="1"/>
            <p:nvPr/>
          </p:nvSpPr>
          <p:spPr>
            <a:xfrm>
              <a:off x="7667294" y="6245750"/>
              <a:ext cx="4281578" cy="2108269"/>
            </a:xfrm>
            <a:prstGeom prst="rect">
              <a:avLst/>
            </a:prstGeom>
            <a:noFill/>
          </p:spPr>
          <p:txBody>
            <a:bodyPr wrap="square">
              <a:spAutoFit/>
            </a:bodyPr>
            <a:lstStyle/>
            <a:p>
              <a:r>
                <a:rPr lang="en-US" sz="1200" b="0" i="0" dirty="0">
                  <a:solidFill>
                    <a:schemeClr val="accent2"/>
                  </a:solidFill>
                  <a:effectLst/>
                  <a:latin typeface="ui-monospace"/>
                </a:rPr>
                <a:t>&lt;script setup&gt; </a:t>
              </a:r>
            </a:p>
            <a:p>
              <a:r>
                <a:rPr lang="en-US" sz="1200" b="0" i="0" dirty="0">
                  <a:solidFill>
                    <a:schemeClr val="accent2"/>
                  </a:solidFill>
                  <a:effectLst/>
                  <a:latin typeface="ui-monospace"/>
                </a:rPr>
                <a:t>import { </a:t>
              </a:r>
              <a:r>
                <a:rPr lang="en-US" sz="1200" b="0" i="0" dirty="0" err="1">
                  <a:solidFill>
                    <a:schemeClr val="accent2"/>
                  </a:solidFill>
                  <a:effectLst/>
                  <a:latin typeface="ui-monospace"/>
                </a:rPr>
                <a:t>useCounterStore</a:t>
              </a:r>
              <a:r>
                <a:rPr lang="en-US" sz="1200" b="0" i="0" dirty="0">
                  <a:solidFill>
                    <a:schemeClr val="accent2"/>
                  </a:solidFill>
                  <a:effectLst/>
                  <a:latin typeface="ui-monospace"/>
                </a:rPr>
                <a:t> } from '@/stores/counter’</a:t>
              </a:r>
            </a:p>
            <a:p>
              <a:endParaRPr lang="en-US" sz="1200" b="0" i="0" dirty="0">
                <a:solidFill>
                  <a:schemeClr val="accent2"/>
                </a:solidFill>
                <a:effectLst/>
                <a:latin typeface="ui-monospace"/>
              </a:endParaRPr>
            </a:p>
            <a:p>
              <a:r>
                <a:rPr lang="en-US" sz="1200" b="0" i="0" dirty="0">
                  <a:solidFill>
                    <a:schemeClr val="accent2"/>
                  </a:solidFill>
                  <a:effectLst/>
                  <a:latin typeface="ui-monospace"/>
                </a:rPr>
                <a:t>const counter = </a:t>
              </a:r>
              <a:r>
                <a:rPr lang="en-US" sz="1200" b="0" i="0" dirty="0" err="1">
                  <a:solidFill>
                    <a:schemeClr val="accent2"/>
                  </a:solidFill>
                  <a:effectLst/>
                  <a:latin typeface="ui-monospace"/>
                </a:rPr>
                <a:t>useCounterStore</a:t>
              </a:r>
              <a:r>
                <a:rPr lang="en-US" sz="1200" b="0" i="0" dirty="0">
                  <a:solidFill>
                    <a:schemeClr val="accent2"/>
                  </a:solidFill>
                  <a:effectLst/>
                  <a:latin typeface="ui-monospace"/>
                </a:rPr>
                <a:t>()</a:t>
              </a:r>
            </a:p>
            <a:p>
              <a:r>
                <a:rPr lang="en-US" sz="1200" b="0" i="0" dirty="0" err="1">
                  <a:solidFill>
                    <a:schemeClr val="accent2"/>
                  </a:solidFill>
                  <a:effectLst/>
                  <a:latin typeface="ui-monospace"/>
                </a:rPr>
                <a:t>counter.increment</a:t>
              </a:r>
              <a:r>
                <a:rPr lang="en-US" sz="1200" b="0" i="0" dirty="0">
                  <a:solidFill>
                    <a:schemeClr val="accent2"/>
                  </a:solidFill>
                  <a:effectLst/>
                  <a:latin typeface="ui-monospace"/>
                </a:rPr>
                <a:t>() </a:t>
              </a:r>
            </a:p>
            <a:p>
              <a:r>
                <a:rPr lang="en-US" sz="1200" b="0" i="0" dirty="0" err="1">
                  <a:solidFill>
                    <a:schemeClr val="accent2"/>
                  </a:solidFill>
                  <a:effectLst/>
                  <a:latin typeface="ui-monospace"/>
                </a:rPr>
                <a:t>counter.$reset</a:t>
              </a:r>
              <a:r>
                <a:rPr lang="en-US" sz="1200" b="0" i="0" dirty="0">
                  <a:solidFill>
                    <a:schemeClr val="accent2"/>
                  </a:solidFill>
                  <a:effectLst/>
                  <a:latin typeface="ui-monospace"/>
                </a:rPr>
                <a:t>()</a:t>
              </a:r>
            </a:p>
            <a:p>
              <a:endParaRPr lang="en-US" sz="1200" dirty="0">
                <a:solidFill>
                  <a:schemeClr val="accent2"/>
                </a:solidFill>
                <a:latin typeface="ui-monospace"/>
              </a:endParaRPr>
            </a:p>
            <a:p>
              <a:r>
                <a:rPr lang="en-US" sz="1100" dirty="0">
                  <a:solidFill>
                    <a:schemeClr val="accent2"/>
                  </a:solidFill>
                  <a:latin typeface="ui-monospace"/>
                </a:rPr>
                <a:t>// </a:t>
              </a:r>
              <a:r>
                <a:rPr lang="zh-CN" altLang="en-US" sz="1100" dirty="0">
                  <a:solidFill>
                    <a:schemeClr val="accent2"/>
                  </a:solidFill>
                  <a:latin typeface="ui-monospace"/>
                </a:rPr>
                <a:t>可解构使用 属性及方法</a:t>
              </a:r>
              <a:endParaRPr lang="en-US" sz="1100" dirty="0">
                <a:solidFill>
                  <a:schemeClr val="accent2"/>
                </a:solidFill>
                <a:latin typeface="ui-monospace"/>
              </a:endParaRPr>
            </a:p>
            <a:p>
              <a:r>
                <a:rPr lang="en-US" sz="1200" b="0" i="0" dirty="0">
                  <a:solidFill>
                    <a:schemeClr val="accent2"/>
                  </a:solidFill>
                  <a:effectLst/>
                  <a:latin typeface="ui-monospace"/>
                </a:rPr>
                <a:t>const { name, </a:t>
              </a:r>
              <a:r>
                <a:rPr lang="en-US" sz="1200" b="0" i="0" dirty="0" err="1">
                  <a:solidFill>
                    <a:schemeClr val="accent2"/>
                  </a:solidFill>
                  <a:effectLst/>
                  <a:latin typeface="ui-monospace"/>
                </a:rPr>
                <a:t>doubleCount</a:t>
              </a:r>
              <a:r>
                <a:rPr lang="en-US" sz="1200" b="0" i="0" dirty="0">
                  <a:solidFill>
                    <a:schemeClr val="accent2"/>
                  </a:solidFill>
                  <a:effectLst/>
                  <a:latin typeface="ui-monospace"/>
                </a:rPr>
                <a:t> } = </a:t>
              </a:r>
              <a:r>
                <a:rPr lang="en-US" sz="1200" b="0" i="0" dirty="0" err="1">
                  <a:solidFill>
                    <a:schemeClr val="accent2"/>
                  </a:solidFill>
                  <a:effectLst/>
                  <a:latin typeface="ui-monospace"/>
                </a:rPr>
                <a:t>storeToRefs</a:t>
              </a:r>
              <a:r>
                <a:rPr lang="en-US" sz="1200" b="0" i="0" dirty="0">
                  <a:solidFill>
                    <a:schemeClr val="accent2"/>
                  </a:solidFill>
                  <a:effectLst/>
                  <a:latin typeface="ui-monospace"/>
                </a:rPr>
                <a:t>(counter)</a:t>
              </a:r>
            </a:p>
            <a:p>
              <a:r>
                <a:rPr lang="en-US" sz="1200" b="0" i="0" dirty="0">
                  <a:solidFill>
                    <a:schemeClr val="accent2"/>
                  </a:solidFill>
                  <a:effectLst/>
                  <a:latin typeface="ui-monospace"/>
                </a:rPr>
                <a:t>const { increment } = counter</a:t>
              </a:r>
            </a:p>
            <a:p>
              <a:r>
                <a:rPr lang="en-US" sz="1200" b="0" i="0" dirty="0">
                  <a:solidFill>
                    <a:schemeClr val="accent2"/>
                  </a:solidFill>
                  <a:effectLst/>
                  <a:latin typeface="ui-monospace"/>
                </a:rPr>
                <a:t>&lt;/script&gt;</a:t>
              </a:r>
              <a:endParaRPr lang="en-US" sz="1200" dirty="0">
                <a:solidFill>
                  <a:schemeClr val="accent2"/>
                </a:solidFill>
              </a:endParaRPr>
            </a:p>
          </p:txBody>
        </p:sp>
      </p:grpSp>
      <p:pic>
        <p:nvPicPr>
          <p:cNvPr id="3" name="Picture 2">
            <a:extLst>
              <a:ext uri="{FF2B5EF4-FFF2-40B4-BE49-F238E27FC236}">
                <a16:creationId xmlns:a16="http://schemas.microsoft.com/office/drawing/2014/main" id="{35551926-571E-FE6E-DAAA-695365E505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726" y="23388"/>
            <a:ext cx="875819" cy="875819"/>
          </a:xfrm>
          <a:prstGeom prst="rect">
            <a:avLst/>
          </a:prstGeom>
        </p:spPr>
      </p:pic>
    </p:spTree>
    <p:extLst>
      <p:ext uri="{BB962C8B-B14F-4D97-AF65-F5344CB8AC3E}">
        <p14:creationId xmlns:p14="http://schemas.microsoft.com/office/powerpoint/2010/main" val="3975998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rgbClr val="017A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Arial" panose="020B0604020202020204" pitchFamily="34" charset="0"/>
              </a:rPr>
              <a:t> </a:t>
            </a:r>
            <a:r>
              <a:rPr kumimoji="0" lang="zh-CN" altLang="en-US" sz="2800" b="0" i="0" u="none" strike="noStrike" cap="none" normalizeH="0" baseline="0" dirty="0">
                <a:ln>
                  <a:noFill/>
                </a:ln>
                <a:solidFill>
                  <a:schemeClr val="tx1"/>
                </a:solidFill>
                <a:effectLst/>
                <a:latin typeface="Arial" panose="020B0604020202020204" pitchFamily="34" charset="0"/>
              </a:rPr>
              <a:t> </a:t>
            </a:r>
            <a:endParaRPr kumimoji="0" lang="en-US" altLang="zh-CN"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a:ln>
                <a:noFill/>
              </a:ln>
              <a:solidFill>
                <a:schemeClr val="tx1"/>
              </a:solidFill>
              <a:effectLst/>
              <a:latin typeface="Arial" panose="020B0604020202020204" pitchFamily="34" charset="0"/>
            </a:endParaRPr>
          </a:p>
        </p:txBody>
      </p:sp>
      <p:grpSp>
        <p:nvGrpSpPr>
          <p:cNvPr id="33" name="Group 32">
            <a:extLst>
              <a:ext uri="{FF2B5EF4-FFF2-40B4-BE49-F238E27FC236}">
                <a16:creationId xmlns:a16="http://schemas.microsoft.com/office/drawing/2014/main" id="{B669CF29-58BB-DB19-E1A0-5A9E43620F75}"/>
              </a:ext>
            </a:extLst>
          </p:cNvPr>
          <p:cNvGrpSpPr/>
          <p:nvPr/>
        </p:nvGrpSpPr>
        <p:grpSpPr>
          <a:xfrm>
            <a:off x="7679921" y="149450"/>
            <a:ext cx="4386653" cy="572261"/>
            <a:chOff x="7614613" y="5950488"/>
            <a:chExt cx="4386653" cy="572261"/>
          </a:xfrm>
        </p:grpSpPr>
        <p:sp>
          <p:nvSpPr>
            <p:cNvPr id="34" name="Rectangle: Rounded Corners 33">
              <a:extLst>
                <a:ext uri="{FF2B5EF4-FFF2-40B4-BE49-F238E27FC236}">
                  <a16:creationId xmlns:a16="http://schemas.microsoft.com/office/drawing/2014/main" id="{96BAD8AD-3198-E06A-3088-04BB09BD598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▶响应式变量</a:t>
              </a:r>
              <a:endParaRPr lang="en-US" altLang="zh-CN" sz="1200" dirty="0">
                <a:solidFill>
                  <a:schemeClr val="bg1"/>
                </a:solidFill>
                <a:latin typeface="ui-monospace"/>
              </a:endParaRPr>
            </a:p>
          </p:txBody>
        </p:sp>
        <p:sp>
          <p:nvSpPr>
            <p:cNvPr id="35" name="TextBox 34">
              <a:extLst>
                <a:ext uri="{FF2B5EF4-FFF2-40B4-BE49-F238E27FC236}">
                  <a16:creationId xmlns:a16="http://schemas.microsoft.com/office/drawing/2014/main" id="{441AD841-B020-834F-3FCE-AAA92E0E965B}"/>
                </a:ext>
              </a:extLst>
            </p:cNvPr>
            <p:cNvSpPr txBox="1"/>
            <p:nvPr/>
          </p:nvSpPr>
          <p:spPr>
            <a:xfrm>
              <a:off x="7667294" y="6245750"/>
              <a:ext cx="4281578" cy="276999"/>
            </a:xfrm>
            <a:prstGeom prst="rect">
              <a:avLst/>
            </a:prstGeom>
            <a:noFill/>
          </p:spPr>
          <p:txBody>
            <a:bodyPr wrap="square">
              <a:spAutoFit/>
            </a:bodyPr>
            <a:lstStyle/>
            <a:p>
              <a:r>
                <a:rPr lang="en-US" sz="1200" dirty="0">
                  <a:solidFill>
                    <a:schemeClr val="accent1"/>
                  </a:solidFill>
                  <a:latin typeface="ui-monospace"/>
                </a:rPr>
                <a:t>ref(0) / reactive({…}) / </a:t>
              </a:r>
              <a:r>
                <a:rPr lang="en-US" sz="1200" dirty="0" err="1">
                  <a:solidFill>
                    <a:schemeClr val="accent1"/>
                  </a:solidFill>
                  <a:latin typeface="ui-monospace"/>
                </a:rPr>
                <a:t>toRef</a:t>
              </a:r>
              <a:r>
                <a:rPr lang="en-US" sz="1200" dirty="0">
                  <a:solidFill>
                    <a:schemeClr val="accent1"/>
                  </a:solidFill>
                  <a:latin typeface="ui-monospace"/>
                </a:rPr>
                <a:t>()</a:t>
              </a:r>
            </a:p>
          </p:txBody>
        </p:sp>
      </p:grpSp>
      <p:grpSp>
        <p:nvGrpSpPr>
          <p:cNvPr id="52" name="Group 51">
            <a:extLst>
              <a:ext uri="{FF2B5EF4-FFF2-40B4-BE49-F238E27FC236}">
                <a16:creationId xmlns:a16="http://schemas.microsoft.com/office/drawing/2014/main" id="{7F44DE50-9377-2A2B-7C24-6B3A24D4135D}"/>
              </a:ext>
            </a:extLst>
          </p:cNvPr>
          <p:cNvGrpSpPr/>
          <p:nvPr/>
        </p:nvGrpSpPr>
        <p:grpSpPr>
          <a:xfrm>
            <a:off x="3106164" y="151546"/>
            <a:ext cx="4386653" cy="1495591"/>
            <a:chOff x="7614613" y="5950488"/>
            <a:chExt cx="4386653" cy="1495591"/>
          </a:xfrm>
        </p:grpSpPr>
        <p:sp>
          <p:nvSpPr>
            <p:cNvPr id="53" name="Rectangle: Rounded Corners 52">
              <a:extLst>
                <a:ext uri="{FF2B5EF4-FFF2-40B4-BE49-F238E27FC236}">
                  <a16:creationId xmlns:a16="http://schemas.microsoft.com/office/drawing/2014/main" id="{0E2D2E61-7153-9F4D-6CA9-4391CC561302}"/>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▶数据类型 变量 方法</a:t>
              </a:r>
              <a:endParaRPr lang="en-US" sz="1200" dirty="0">
                <a:solidFill>
                  <a:schemeClr val="bg1"/>
                </a:solidFill>
              </a:endParaRPr>
            </a:p>
          </p:txBody>
        </p:sp>
        <p:sp>
          <p:nvSpPr>
            <p:cNvPr id="54" name="TextBox 53">
              <a:extLst>
                <a:ext uri="{FF2B5EF4-FFF2-40B4-BE49-F238E27FC236}">
                  <a16:creationId xmlns:a16="http://schemas.microsoft.com/office/drawing/2014/main" id="{ABF720B2-9684-6EC8-A231-DAD96B70A1B7}"/>
                </a:ext>
              </a:extLst>
            </p:cNvPr>
            <p:cNvSpPr txBox="1"/>
            <p:nvPr/>
          </p:nvSpPr>
          <p:spPr>
            <a:xfrm>
              <a:off x="7667294" y="6245750"/>
              <a:ext cx="4281578" cy="1200329"/>
            </a:xfrm>
            <a:prstGeom prst="rect">
              <a:avLst/>
            </a:prstGeom>
            <a:noFill/>
          </p:spPr>
          <p:txBody>
            <a:bodyPr wrap="square">
              <a:spAutoFit/>
            </a:bodyPr>
            <a:lstStyle/>
            <a:p>
              <a:r>
                <a:rPr lang="en-US" altLang="zh-CN" sz="1200" dirty="0">
                  <a:solidFill>
                    <a:schemeClr val="accent1"/>
                  </a:solidFill>
                  <a:latin typeface="ui-monospace"/>
                </a:rPr>
                <a:t>string number </a:t>
              </a:r>
              <a:r>
                <a:rPr lang="en-US" altLang="zh-CN" sz="1200" dirty="0" err="1">
                  <a:solidFill>
                    <a:schemeClr val="accent1"/>
                  </a:solidFill>
                  <a:latin typeface="ui-monospace"/>
                </a:rPr>
                <a:t>boolean</a:t>
              </a:r>
              <a:r>
                <a:rPr lang="en-US" altLang="zh-CN" sz="1200" dirty="0">
                  <a:solidFill>
                    <a:schemeClr val="accent1"/>
                  </a:solidFill>
                  <a:latin typeface="ui-monospace"/>
                </a:rPr>
                <a:t> array object</a:t>
              </a:r>
            </a:p>
            <a:p>
              <a:r>
                <a:rPr lang="en-US" sz="1200" dirty="0">
                  <a:solidFill>
                    <a:schemeClr val="accent1"/>
                  </a:solidFill>
                  <a:latin typeface="ui-monospace"/>
                </a:rPr>
                <a:t>const let var</a:t>
              </a:r>
            </a:p>
            <a:p>
              <a:r>
                <a:rPr lang="en-US" altLang="zh-CN" sz="1200" dirty="0" err="1">
                  <a:solidFill>
                    <a:schemeClr val="accent1"/>
                  </a:solidFill>
                  <a:latin typeface="ui-monospace"/>
                </a:rPr>
                <a:t>enum</a:t>
              </a:r>
              <a:r>
                <a:rPr lang="en-US" altLang="zh-CN" sz="1200" dirty="0">
                  <a:solidFill>
                    <a:schemeClr val="accent1"/>
                  </a:solidFill>
                  <a:latin typeface="ui-monospace"/>
                </a:rPr>
                <a:t> type</a:t>
              </a:r>
            </a:p>
            <a:p>
              <a:r>
                <a:rPr lang="en-US" altLang="zh-CN" sz="1200" dirty="0">
                  <a:solidFill>
                    <a:schemeClr val="accent1"/>
                  </a:solidFill>
                  <a:latin typeface="ui-monospace"/>
                </a:rPr>
                <a:t>Interface/implements class/extends &lt;T&gt;</a:t>
              </a:r>
            </a:p>
            <a:p>
              <a:r>
                <a:rPr lang="en-US" altLang="zh-CN" sz="1200" dirty="0">
                  <a:solidFill>
                    <a:schemeClr val="accent1"/>
                  </a:solidFill>
                  <a:latin typeface="ui-monospace"/>
                </a:rPr>
                <a:t>function</a:t>
              </a:r>
            </a:p>
            <a:p>
              <a:r>
                <a:rPr lang="en-US" altLang="zh-CN" sz="1200" dirty="0">
                  <a:solidFill>
                    <a:schemeClr val="accent1"/>
                  </a:solidFill>
                  <a:latin typeface="ui-monospace"/>
                </a:rPr>
                <a:t>module</a:t>
              </a:r>
            </a:p>
          </p:txBody>
        </p:sp>
      </p:gr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D1CA20DA-8D81-F06A-D641-4E2FC7DE3B3F}"/>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TextBox 1">
            <a:extLst>
              <a:ext uri="{FF2B5EF4-FFF2-40B4-BE49-F238E27FC236}">
                <a16:creationId xmlns:a16="http://schemas.microsoft.com/office/drawing/2014/main" id="{6B65F82D-4649-CF2A-2F13-069905BDACE4}"/>
              </a:ext>
            </a:extLst>
          </p:cNvPr>
          <p:cNvSpPr txBox="1"/>
          <p:nvPr/>
        </p:nvSpPr>
        <p:spPr>
          <a:xfrm>
            <a:off x="0" y="959472"/>
            <a:ext cx="2986206" cy="3385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xxx</a:t>
            </a:r>
            <a:endPar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p:txBody>
      </p:sp>
      <p:sp>
        <p:nvSpPr>
          <p:cNvPr id="6" name="TextBox 5">
            <a:extLst>
              <a:ext uri="{FF2B5EF4-FFF2-40B4-BE49-F238E27FC236}">
                <a16:creationId xmlns:a16="http://schemas.microsoft.com/office/drawing/2014/main" id="{8FF4A962-7A86-6FB0-C3A1-FE038F493808}"/>
              </a:ext>
            </a:extLst>
          </p:cNvPr>
          <p:cNvSpPr txBox="1"/>
          <p:nvPr/>
        </p:nvSpPr>
        <p:spPr>
          <a:xfrm>
            <a:off x="11472" y="218648"/>
            <a:ext cx="2015873" cy="523220"/>
          </a:xfrm>
          <a:prstGeom prst="rect">
            <a:avLst/>
          </a:prstGeom>
          <a:noFill/>
        </p:spPr>
        <p:txBody>
          <a:bodyPr wrap="none" rtlCol="0">
            <a:spAutoFit/>
          </a:bodyPr>
          <a:lstStyle/>
          <a:p>
            <a:r>
              <a:rPr lang="en-US" sz="2800" b="1" dirty="0">
                <a:solidFill>
                  <a:prstClr val="black"/>
                </a:solidFill>
                <a:latin typeface="Arial" panose="020B0604020202020204" pitchFamily="34" charset="0"/>
                <a:ea typeface="等线" panose="02010600030101010101" pitchFamily="2" charset="-122"/>
              </a:rPr>
              <a:t>TypeScript</a:t>
            </a:r>
            <a:endParaRPr lang="en-US" dirty="0"/>
          </a:p>
        </p:txBody>
      </p:sp>
      <p:pic>
        <p:nvPicPr>
          <p:cNvPr id="7" name="Picture 6">
            <a:extLst>
              <a:ext uri="{FF2B5EF4-FFF2-40B4-BE49-F238E27FC236}">
                <a16:creationId xmlns:a16="http://schemas.microsoft.com/office/drawing/2014/main" id="{56D03210-CC5B-AF34-330D-02DA475B5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3261" y="201876"/>
            <a:ext cx="556764" cy="556764"/>
          </a:xfrm>
          <a:prstGeom prst="rect">
            <a:avLst/>
          </a:prstGeom>
        </p:spPr>
      </p:pic>
      <p:grpSp>
        <p:nvGrpSpPr>
          <p:cNvPr id="8" name="Group 7">
            <a:extLst>
              <a:ext uri="{FF2B5EF4-FFF2-40B4-BE49-F238E27FC236}">
                <a16:creationId xmlns:a16="http://schemas.microsoft.com/office/drawing/2014/main" id="{20F7CC3D-9252-0EEE-8FE2-AA89822E1F25}"/>
              </a:ext>
            </a:extLst>
          </p:cNvPr>
          <p:cNvGrpSpPr/>
          <p:nvPr/>
        </p:nvGrpSpPr>
        <p:grpSpPr>
          <a:xfrm>
            <a:off x="3106164" y="1591675"/>
            <a:ext cx="4386653" cy="756927"/>
            <a:chOff x="7614613" y="5950488"/>
            <a:chExt cx="4386653" cy="756927"/>
          </a:xfrm>
        </p:grpSpPr>
        <p:sp>
          <p:nvSpPr>
            <p:cNvPr id="9" name="Rectangle: Rounded Corners 8">
              <a:extLst>
                <a:ext uri="{FF2B5EF4-FFF2-40B4-BE49-F238E27FC236}">
                  <a16:creationId xmlns:a16="http://schemas.microsoft.com/office/drawing/2014/main" id="{E919E3DE-F833-5952-F020-D61B177A71A4}"/>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▶循环</a:t>
              </a:r>
              <a:endParaRPr lang="en-US" sz="1200" dirty="0">
                <a:solidFill>
                  <a:schemeClr val="bg1"/>
                </a:solidFill>
              </a:endParaRPr>
            </a:p>
          </p:txBody>
        </p:sp>
        <p:sp>
          <p:nvSpPr>
            <p:cNvPr id="10" name="TextBox 9">
              <a:extLst>
                <a:ext uri="{FF2B5EF4-FFF2-40B4-BE49-F238E27FC236}">
                  <a16:creationId xmlns:a16="http://schemas.microsoft.com/office/drawing/2014/main" id="{8CB9D0C6-A9BD-AB76-344C-62ABFF61B54A}"/>
                </a:ext>
              </a:extLst>
            </p:cNvPr>
            <p:cNvSpPr txBox="1"/>
            <p:nvPr/>
          </p:nvSpPr>
          <p:spPr>
            <a:xfrm>
              <a:off x="7667294" y="6245750"/>
              <a:ext cx="4281578" cy="461665"/>
            </a:xfrm>
            <a:prstGeom prst="rect">
              <a:avLst/>
            </a:prstGeom>
            <a:noFill/>
          </p:spPr>
          <p:txBody>
            <a:bodyPr wrap="square">
              <a:spAutoFit/>
            </a:bodyPr>
            <a:lstStyle/>
            <a:p>
              <a:r>
                <a:rPr lang="en-US" altLang="zh-CN" sz="1200" dirty="0">
                  <a:solidFill>
                    <a:schemeClr val="accent1"/>
                  </a:solidFill>
                  <a:latin typeface="ui-monospace"/>
                </a:rPr>
                <a:t>for…of</a:t>
              </a:r>
            </a:p>
            <a:p>
              <a:r>
                <a:rPr lang="en-US" altLang="zh-CN" sz="1200" dirty="0">
                  <a:solidFill>
                    <a:schemeClr val="accent1"/>
                  </a:solidFill>
                  <a:latin typeface="ui-monospace"/>
                </a:rPr>
                <a:t>for…in</a:t>
              </a:r>
            </a:p>
          </p:txBody>
        </p:sp>
      </p:grpSp>
    </p:spTree>
    <p:extLst>
      <p:ext uri="{BB962C8B-B14F-4D97-AF65-F5344CB8AC3E}">
        <p14:creationId xmlns:p14="http://schemas.microsoft.com/office/powerpoint/2010/main" val="3770960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CA83C5-434B-C2BB-C03E-FEA77C2BBB11}"/>
              </a:ext>
            </a:extLst>
          </p:cNvPr>
          <p:cNvSpPr txBox="1"/>
          <p:nvPr/>
        </p:nvSpPr>
        <p:spPr>
          <a:xfrm>
            <a:off x="0" y="959472"/>
            <a:ext cx="2986206" cy="600164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线性结构</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1"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1" i="0" u="none" strike="noStrike" kern="1200" cap="none" spc="0" normalizeH="0" baseline="0" noProof="0" dirty="0">
                <a:ln>
                  <a:noFill/>
                </a:ln>
                <a:effectLst/>
                <a:uLnTx/>
                <a:uFillTx/>
                <a:latin typeface="Arial" panose="020B0604020202020204" pitchFamily="34" charset="0"/>
                <a:ea typeface="Punctuation SC"/>
                <a:cs typeface="+mn-cs"/>
              </a:rPr>
              <a:t>线性表 </a:t>
            </a:r>
            <a:r>
              <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1" i="0" u="none" strike="noStrike" kern="1200" cap="none" spc="0" normalizeH="0" baseline="0" noProof="0" dirty="0">
                <a:ln>
                  <a:noFill/>
                </a:ln>
                <a:effectLst/>
                <a:uLnTx/>
                <a:uFillTx/>
                <a:latin typeface="Arial" panose="020B0604020202020204" pitchFamily="34" charset="0"/>
                <a:ea typeface="Punctuation SC"/>
                <a:cs typeface="+mn-cs"/>
              </a:rPr>
              <a:t>顺序表、链表</a:t>
            </a:r>
            <a:r>
              <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栈和队列</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串</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数组、矩阵、广义表</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数组</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矩阵</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广义表</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树</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树与二叉树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性质和存储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遍历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线索二叉树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最优二叉树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森林</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图</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定义和存储</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遍历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生成树和最小生成树</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拓扑排序和关键路径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最短路径</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查找算法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静态查找表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动态查找表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哈希表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排序算法</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简单排序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希尔排序</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快速排序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堆排序</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归并排序</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F6E8EA44-BACD-2DF7-D1BB-48B659756CE3}"/>
              </a:ext>
            </a:extLst>
          </p:cNvPr>
          <p:cNvSpPr txBox="1"/>
          <p:nvPr/>
        </p:nvSpPr>
        <p:spPr>
          <a:xfrm>
            <a:off x="11473" y="218648"/>
            <a:ext cx="1620957"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数据结构</a:t>
            </a:r>
            <a:endParaRPr lang="en-US" dirty="0"/>
          </a:p>
        </p:txBody>
      </p:sp>
      <p:cxnSp>
        <p:nvCxnSpPr>
          <p:cNvPr id="7" name="Straight Connector 6">
            <a:extLst>
              <a:ext uri="{FF2B5EF4-FFF2-40B4-BE49-F238E27FC236}">
                <a16:creationId xmlns:a16="http://schemas.microsoft.com/office/drawing/2014/main" id="{A7CFB97A-E7E7-BB6E-4BA9-8E7CB22DC8F7}"/>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1" name="Group 10">
            <a:extLst>
              <a:ext uri="{FF2B5EF4-FFF2-40B4-BE49-F238E27FC236}">
                <a16:creationId xmlns:a16="http://schemas.microsoft.com/office/drawing/2014/main" id="{98BD0C93-DD89-25A7-1553-E3F85FE0D7B8}"/>
              </a:ext>
            </a:extLst>
          </p:cNvPr>
          <p:cNvGrpSpPr/>
          <p:nvPr/>
        </p:nvGrpSpPr>
        <p:grpSpPr>
          <a:xfrm>
            <a:off x="3119859" y="40595"/>
            <a:ext cx="4386653" cy="756927"/>
            <a:chOff x="7614613" y="5950488"/>
            <a:chExt cx="4386653" cy="756927"/>
          </a:xfrm>
        </p:grpSpPr>
        <p:sp>
          <p:nvSpPr>
            <p:cNvPr id="12" name="Rectangle: Rounded Corners 11">
              <a:extLst>
                <a:ext uri="{FF2B5EF4-FFF2-40B4-BE49-F238E27FC236}">
                  <a16:creationId xmlns:a16="http://schemas.microsoft.com/office/drawing/2014/main" id="{01574168-1441-BE9C-0656-1623F1FA4E3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▶线性结构</a:t>
              </a:r>
              <a:endParaRPr lang="en-US" sz="1200" dirty="0">
                <a:solidFill>
                  <a:schemeClr val="bg1"/>
                </a:solidFill>
              </a:endParaRPr>
            </a:p>
          </p:txBody>
        </p:sp>
        <p:sp>
          <p:nvSpPr>
            <p:cNvPr id="13" name="TextBox 12">
              <a:extLst>
                <a:ext uri="{FF2B5EF4-FFF2-40B4-BE49-F238E27FC236}">
                  <a16:creationId xmlns:a16="http://schemas.microsoft.com/office/drawing/2014/main" id="{99A4E7D9-2F45-730B-49F2-2D0574D0A953}"/>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每个元素（除第一个和最后一个）都有且仅有一个直接前驱和一个直接后继，固定顺序，个数有限</a:t>
              </a:r>
              <a:endParaRPr lang="en-US" sz="1200" dirty="0">
                <a:solidFill>
                  <a:schemeClr val="accent1"/>
                </a:solidFill>
              </a:endParaRPr>
            </a:p>
          </p:txBody>
        </p:sp>
      </p:grpSp>
      <p:grpSp>
        <p:nvGrpSpPr>
          <p:cNvPr id="14" name="Group 13">
            <a:extLst>
              <a:ext uri="{FF2B5EF4-FFF2-40B4-BE49-F238E27FC236}">
                <a16:creationId xmlns:a16="http://schemas.microsoft.com/office/drawing/2014/main" id="{5B4E26C1-0201-23F8-2BCB-C5049651CA54}"/>
              </a:ext>
            </a:extLst>
          </p:cNvPr>
          <p:cNvGrpSpPr/>
          <p:nvPr/>
        </p:nvGrpSpPr>
        <p:grpSpPr>
          <a:xfrm>
            <a:off x="7679921" y="51128"/>
            <a:ext cx="4386653" cy="756927"/>
            <a:chOff x="7614613" y="5950488"/>
            <a:chExt cx="4386653" cy="756927"/>
          </a:xfrm>
        </p:grpSpPr>
        <p:sp>
          <p:nvSpPr>
            <p:cNvPr id="15" name="Rectangle: Rounded Corners 14">
              <a:extLst>
                <a:ext uri="{FF2B5EF4-FFF2-40B4-BE49-F238E27FC236}">
                  <a16:creationId xmlns:a16="http://schemas.microsoft.com/office/drawing/2014/main" id="{C8F3528E-AC5F-DB44-EF32-EAA0A41FEA2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▶串 </a:t>
              </a:r>
              <a:r>
                <a:rPr lang="en-US" altLang="zh-CN" sz="1200" dirty="0">
                  <a:solidFill>
                    <a:schemeClr val="bg1"/>
                  </a:solidFill>
                  <a:latin typeface="ui-monospace"/>
                </a:rPr>
                <a:t>string</a:t>
              </a:r>
            </a:p>
          </p:txBody>
        </p:sp>
        <p:sp>
          <p:nvSpPr>
            <p:cNvPr id="16" name="TextBox 15">
              <a:extLst>
                <a:ext uri="{FF2B5EF4-FFF2-40B4-BE49-F238E27FC236}">
                  <a16:creationId xmlns:a16="http://schemas.microsoft.com/office/drawing/2014/main" id="{79FC3330-7375-B3A4-F904-B63F170EC04B}"/>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由</a:t>
              </a:r>
              <a:r>
                <a:rPr lang="en-US" altLang="zh-CN" sz="1200" dirty="0">
                  <a:solidFill>
                    <a:schemeClr val="accent1"/>
                  </a:solidFill>
                  <a:latin typeface="ui-monospace"/>
                </a:rPr>
                <a:t>n(n&gt;0)</a:t>
              </a:r>
              <a:r>
                <a:rPr lang="zh-CN" altLang="en-US" sz="1200" dirty="0">
                  <a:solidFill>
                    <a:schemeClr val="accent1"/>
                  </a:solidFill>
                  <a:latin typeface="ui-monospace"/>
                </a:rPr>
                <a:t>个字符组成的有序序列，特殊线性表</a:t>
              </a:r>
              <a:endParaRPr lang="en-US" altLang="zh-CN" sz="1200" dirty="0">
                <a:solidFill>
                  <a:schemeClr val="accent1"/>
                </a:solidFill>
                <a:latin typeface="ui-monospace"/>
              </a:endParaRPr>
            </a:p>
            <a:p>
              <a:r>
                <a:rPr lang="zh-CN" altLang="en-US" sz="1200" b="1" dirty="0">
                  <a:solidFill>
                    <a:schemeClr val="accent1"/>
                  </a:solidFill>
                  <a:latin typeface="ui-monospace"/>
                </a:rPr>
                <a:t>子串</a:t>
              </a:r>
              <a:r>
                <a:rPr lang="zh-CN" altLang="en-US" sz="1200" dirty="0">
                  <a:solidFill>
                    <a:schemeClr val="accent1"/>
                  </a:solidFill>
                  <a:latin typeface="ui-monospace"/>
                </a:rPr>
                <a:t>： 由串中任意长度的连续字符构成的序列</a:t>
              </a:r>
              <a:endParaRPr lang="en-US" sz="1200" dirty="0">
                <a:solidFill>
                  <a:schemeClr val="accent1"/>
                </a:solidFill>
                <a:latin typeface="ui-monospace"/>
              </a:endParaRPr>
            </a:p>
          </p:txBody>
        </p:sp>
      </p:grpSp>
      <p:grpSp>
        <p:nvGrpSpPr>
          <p:cNvPr id="17" name="Group 16">
            <a:extLst>
              <a:ext uri="{FF2B5EF4-FFF2-40B4-BE49-F238E27FC236}">
                <a16:creationId xmlns:a16="http://schemas.microsoft.com/office/drawing/2014/main" id="{0FCC8161-0E71-42BB-6CAC-DA1BA5B94CE7}"/>
              </a:ext>
            </a:extLst>
          </p:cNvPr>
          <p:cNvGrpSpPr/>
          <p:nvPr/>
        </p:nvGrpSpPr>
        <p:grpSpPr>
          <a:xfrm>
            <a:off x="3118716" y="847461"/>
            <a:ext cx="4386653" cy="1310925"/>
            <a:chOff x="7614613" y="5950488"/>
            <a:chExt cx="4386653" cy="1310925"/>
          </a:xfrm>
        </p:grpSpPr>
        <p:sp>
          <p:nvSpPr>
            <p:cNvPr id="18" name="Rectangle: Rounded Corners 17">
              <a:extLst>
                <a:ext uri="{FF2B5EF4-FFF2-40B4-BE49-F238E27FC236}">
                  <a16:creationId xmlns:a16="http://schemas.microsoft.com/office/drawing/2014/main" id="{28BA3658-12CF-0CDF-5285-0DAB1B94B0D0}"/>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▶线性表 </a:t>
              </a:r>
              <a:r>
                <a:rPr lang="en-US" altLang="zh-CN" sz="1200" dirty="0">
                  <a:solidFill>
                    <a:schemeClr val="bg1"/>
                  </a:solidFill>
                  <a:latin typeface="ui-monospace"/>
                </a:rPr>
                <a:t>linear list</a:t>
              </a:r>
              <a:endParaRPr lang="en-US" sz="1200" dirty="0">
                <a:solidFill>
                  <a:schemeClr val="bg1"/>
                </a:solidFill>
              </a:endParaRPr>
            </a:p>
          </p:txBody>
        </p:sp>
        <p:sp>
          <p:nvSpPr>
            <p:cNvPr id="19" name="TextBox 18">
              <a:extLst>
                <a:ext uri="{FF2B5EF4-FFF2-40B4-BE49-F238E27FC236}">
                  <a16:creationId xmlns:a16="http://schemas.microsoft.com/office/drawing/2014/main" id="{D52EEEE4-988A-5C98-9723-2A6FE4C2D99B}"/>
                </a:ext>
              </a:extLst>
            </p:cNvPr>
            <p:cNvSpPr txBox="1"/>
            <p:nvPr/>
          </p:nvSpPr>
          <p:spPr>
            <a:xfrm>
              <a:off x="7667294" y="6245750"/>
              <a:ext cx="4281578" cy="1015663"/>
            </a:xfrm>
            <a:prstGeom prst="rect">
              <a:avLst/>
            </a:prstGeom>
            <a:noFill/>
          </p:spPr>
          <p:txBody>
            <a:bodyPr wrap="square">
              <a:spAutoFit/>
            </a:bodyPr>
            <a:lstStyle/>
            <a:p>
              <a:r>
                <a:rPr lang="zh-CN" altLang="en-US" sz="1200" b="1" dirty="0">
                  <a:solidFill>
                    <a:schemeClr val="accent1"/>
                  </a:solidFill>
                </a:rPr>
                <a:t>顺序表</a:t>
              </a:r>
              <a:r>
                <a:rPr lang="en-US" altLang="zh-CN" sz="1200" dirty="0">
                  <a:solidFill>
                    <a:schemeClr val="accent1"/>
                  </a:solidFill>
                </a:rPr>
                <a:t>: </a:t>
              </a:r>
              <a:r>
                <a:rPr lang="zh-CN" altLang="en-US" sz="1200" dirty="0">
                  <a:solidFill>
                    <a:schemeClr val="accent1"/>
                  </a:solidFill>
                </a:rPr>
                <a:t>用一组地址连续的存储单元存储元素。 可以随机存取元素，但插入和删除时需要移动元素。</a:t>
              </a:r>
              <a:endParaRPr lang="en-US" altLang="zh-CN" sz="1200" dirty="0">
                <a:solidFill>
                  <a:schemeClr val="accent1"/>
                </a:solidFill>
              </a:endParaRPr>
            </a:p>
            <a:p>
              <a:r>
                <a:rPr lang="zh-CN" altLang="en-US" sz="1200" b="1" dirty="0">
                  <a:solidFill>
                    <a:schemeClr val="accent1"/>
                  </a:solidFill>
                </a:rPr>
                <a:t>单链表</a:t>
              </a:r>
              <a:r>
                <a:rPr lang="en-US" altLang="zh-CN" sz="1200" dirty="0">
                  <a:solidFill>
                    <a:schemeClr val="accent1"/>
                  </a:solidFill>
                </a:rPr>
                <a:t>: </a:t>
              </a:r>
              <a:r>
                <a:rPr lang="zh-CN" altLang="en-US" sz="1200" dirty="0">
                  <a:solidFill>
                    <a:schemeClr val="accent1"/>
                  </a:solidFill>
                </a:rPr>
                <a:t>每个节点包含数据域和指针域，指针域指向下一节点</a:t>
              </a:r>
              <a:endParaRPr lang="en-US" altLang="zh-CN" sz="1200" dirty="0">
                <a:solidFill>
                  <a:schemeClr val="accent1"/>
                </a:solidFill>
              </a:endParaRPr>
            </a:p>
            <a:p>
              <a:r>
                <a:rPr lang="zh-CN" altLang="en-US" sz="1200" b="1" dirty="0">
                  <a:solidFill>
                    <a:schemeClr val="accent1"/>
                  </a:solidFill>
                </a:rPr>
                <a:t>循环链表</a:t>
              </a:r>
              <a:r>
                <a:rPr lang="en-US" altLang="zh-CN" sz="1200" dirty="0">
                  <a:solidFill>
                    <a:schemeClr val="accent1"/>
                  </a:solidFill>
                </a:rPr>
                <a:t>: </a:t>
              </a:r>
              <a:r>
                <a:rPr lang="zh-CN" altLang="en-US" sz="1200" dirty="0">
                  <a:solidFill>
                    <a:schemeClr val="accent1"/>
                  </a:solidFill>
                </a:rPr>
                <a:t>尾节点的指针指向头节点，形成一个环 </a:t>
              </a:r>
              <a:endParaRPr lang="en-US" altLang="zh-CN" sz="1200" dirty="0">
                <a:solidFill>
                  <a:schemeClr val="accent1"/>
                </a:solidFill>
              </a:endParaRPr>
            </a:p>
            <a:p>
              <a:r>
                <a:rPr lang="zh-CN" altLang="en-US" sz="1200" b="1" dirty="0">
                  <a:solidFill>
                    <a:schemeClr val="accent1"/>
                  </a:solidFill>
                </a:rPr>
                <a:t>双向链表</a:t>
              </a:r>
              <a:r>
                <a:rPr lang="en-US" altLang="zh-CN" sz="1200" dirty="0">
                  <a:solidFill>
                    <a:schemeClr val="accent1"/>
                  </a:solidFill>
                </a:rPr>
                <a:t>: </a:t>
              </a:r>
              <a:r>
                <a:rPr lang="zh-CN" altLang="en-US" sz="1200" dirty="0">
                  <a:solidFill>
                    <a:schemeClr val="accent1"/>
                  </a:solidFill>
                </a:rPr>
                <a:t>每个节点有两个指针，指向前驱节点和后继节点</a:t>
              </a:r>
              <a:endParaRPr lang="en-US" sz="1200" dirty="0">
                <a:solidFill>
                  <a:schemeClr val="accent1"/>
                </a:solidFill>
              </a:endParaRPr>
            </a:p>
          </p:txBody>
        </p:sp>
      </p:grpSp>
      <p:pic>
        <p:nvPicPr>
          <p:cNvPr id="23" name="Picture 22">
            <a:extLst>
              <a:ext uri="{FF2B5EF4-FFF2-40B4-BE49-F238E27FC236}">
                <a16:creationId xmlns:a16="http://schemas.microsoft.com/office/drawing/2014/main" id="{0BE3A49E-8A08-69A5-0B37-D330623984A4}"/>
              </a:ext>
            </a:extLst>
          </p:cNvPr>
          <p:cNvPicPr>
            <a:picLocks noChangeAspect="1"/>
          </p:cNvPicPr>
          <p:nvPr/>
        </p:nvPicPr>
        <p:blipFill>
          <a:blip r:embed="rId2"/>
          <a:stretch>
            <a:fillRect/>
          </a:stretch>
        </p:blipFill>
        <p:spPr>
          <a:xfrm>
            <a:off x="3189560" y="2262261"/>
            <a:ext cx="1721287" cy="480011"/>
          </a:xfrm>
          <a:prstGeom prst="rect">
            <a:avLst/>
          </a:prstGeom>
        </p:spPr>
      </p:pic>
      <p:pic>
        <p:nvPicPr>
          <p:cNvPr id="37" name="Picture 36">
            <a:extLst>
              <a:ext uri="{FF2B5EF4-FFF2-40B4-BE49-F238E27FC236}">
                <a16:creationId xmlns:a16="http://schemas.microsoft.com/office/drawing/2014/main" id="{D9DB233C-2A9D-9171-EAD3-F96FF931F00A}"/>
              </a:ext>
            </a:extLst>
          </p:cNvPr>
          <p:cNvPicPr>
            <a:picLocks noChangeAspect="1"/>
          </p:cNvPicPr>
          <p:nvPr/>
        </p:nvPicPr>
        <p:blipFill>
          <a:blip r:embed="rId3"/>
          <a:stretch>
            <a:fillRect/>
          </a:stretch>
        </p:blipFill>
        <p:spPr>
          <a:xfrm>
            <a:off x="5094550" y="2235513"/>
            <a:ext cx="2284732" cy="596017"/>
          </a:xfrm>
          <a:prstGeom prst="rect">
            <a:avLst/>
          </a:prstGeom>
        </p:spPr>
      </p:pic>
      <p:graphicFrame>
        <p:nvGraphicFramePr>
          <p:cNvPr id="24" name="Table 23">
            <a:extLst>
              <a:ext uri="{FF2B5EF4-FFF2-40B4-BE49-F238E27FC236}">
                <a16:creationId xmlns:a16="http://schemas.microsoft.com/office/drawing/2014/main" id="{4FD8B827-6B12-3638-329C-1B0EA2DED6BE}"/>
              </a:ext>
            </a:extLst>
          </p:cNvPr>
          <p:cNvGraphicFramePr>
            <a:graphicFrameLocks noGrp="1"/>
          </p:cNvGraphicFramePr>
          <p:nvPr>
            <p:extLst>
              <p:ext uri="{D42A27DB-BD31-4B8C-83A1-F6EECF244321}">
                <p14:modId xmlns:p14="http://schemas.microsoft.com/office/powerpoint/2010/main" val="1396827623"/>
              </p:ext>
            </p:extLst>
          </p:nvPr>
        </p:nvGraphicFramePr>
        <p:xfrm>
          <a:off x="3217588" y="2808112"/>
          <a:ext cx="4199212" cy="1253490"/>
        </p:xfrm>
        <a:graphic>
          <a:graphicData uri="http://schemas.openxmlformats.org/drawingml/2006/table">
            <a:tbl>
              <a:tblPr/>
              <a:tblGrid>
                <a:gridCol w="738462">
                  <a:extLst>
                    <a:ext uri="{9D8B030D-6E8A-4147-A177-3AD203B41FA5}">
                      <a16:colId xmlns:a16="http://schemas.microsoft.com/office/drawing/2014/main" val="1505179228"/>
                    </a:ext>
                  </a:extLst>
                </a:gridCol>
                <a:gridCol w="1797050">
                  <a:extLst>
                    <a:ext uri="{9D8B030D-6E8A-4147-A177-3AD203B41FA5}">
                      <a16:colId xmlns:a16="http://schemas.microsoft.com/office/drawing/2014/main" val="3491291920"/>
                    </a:ext>
                  </a:extLst>
                </a:gridCol>
                <a:gridCol w="1663700">
                  <a:extLst>
                    <a:ext uri="{9D8B030D-6E8A-4147-A177-3AD203B41FA5}">
                      <a16:colId xmlns:a16="http://schemas.microsoft.com/office/drawing/2014/main" val="2709452564"/>
                    </a:ext>
                  </a:extLst>
                </a:gridCol>
              </a:tblGrid>
              <a:tr h="0">
                <a:tc>
                  <a:txBody>
                    <a:bodyPr/>
                    <a:lstStyle/>
                    <a:p>
                      <a:pPr algn="l" rtl="0" fontAlgn="base"/>
                      <a:r>
                        <a:rPr lang="zh-CN" altLang="en-US" sz="700" b="1" i="0">
                          <a:effectLst/>
                          <a:latin typeface="Calibri" panose="020F0502020204030204" pitchFamily="34" charset="0"/>
                        </a:rPr>
                        <a:t>不同点 </a:t>
                      </a:r>
                      <a:endParaRPr lang="zh-CN" altLang="en-US" sz="1050" b="1"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700" b="1" i="0">
                          <a:effectLst/>
                          <a:latin typeface="Calibri" panose="020F0502020204030204" pitchFamily="34" charset="0"/>
                        </a:rPr>
                        <a:t>顺序表 </a:t>
                      </a:r>
                      <a:endParaRPr lang="zh-CN" altLang="en-US" sz="1050" b="1"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700" b="1" i="0" dirty="0">
                          <a:effectLst/>
                          <a:latin typeface="Calibri" panose="020F0502020204030204" pitchFamily="34" charset="0"/>
                        </a:rPr>
                        <a:t>链表 </a:t>
                      </a:r>
                      <a:endParaRPr lang="zh-CN" altLang="en-US" sz="1050" b="1"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3878246780"/>
                  </a:ext>
                </a:extLst>
              </a:tr>
              <a:tr h="0">
                <a:tc>
                  <a:txBody>
                    <a:bodyPr/>
                    <a:lstStyle/>
                    <a:p>
                      <a:pPr algn="l" rtl="0" fontAlgn="base"/>
                      <a:r>
                        <a:rPr lang="zh-CN" altLang="en-US" sz="700" b="0" i="0">
                          <a:effectLst/>
                          <a:latin typeface="Calibri" panose="020F0502020204030204" pitchFamily="34" charset="0"/>
                        </a:rPr>
                        <a:t>存储空间 </a:t>
                      </a:r>
                      <a:endParaRPr lang="zh-CN" altLang="en-US"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700" b="0" i="0">
                          <a:effectLst/>
                          <a:latin typeface="Calibri" panose="020F0502020204030204" pitchFamily="34" charset="0"/>
                        </a:rPr>
                        <a:t>物理上一定连续 </a:t>
                      </a:r>
                      <a:endParaRPr lang="zh-CN" altLang="en-US"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700" b="0" i="0" dirty="0">
                          <a:effectLst/>
                          <a:latin typeface="Calibri" panose="020F0502020204030204" pitchFamily="34" charset="0"/>
                        </a:rPr>
                        <a:t>逻辑上连续 </a:t>
                      </a:r>
                      <a:endParaRPr lang="zh-CN" altLang="en-US" sz="1050"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1874768108"/>
                  </a:ext>
                </a:extLst>
              </a:tr>
              <a:tr h="0">
                <a:tc>
                  <a:txBody>
                    <a:bodyPr/>
                    <a:lstStyle/>
                    <a:p>
                      <a:pPr algn="l" rtl="0" fontAlgn="base"/>
                      <a:r>
                        <a:rPr lang="zh-CN" altLang="en-US" sz="700" b="0" i="0">
                          <a:effectLst/>
                          <a:latin typeface="Calibri" panose="020F0502020204030204" pitchFamily="34" charset="0"/>
                        </a:rPr>
                        <a:t>随机访问 </a:t>
                      </a:r>
                      <a:endParaRPr lang="zh-CN" altLang="en-US"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700" b="0" i="0">
                          <a:effectLst/>
                          <a:latin typeface="Calibri" panose="020F0502020204030204" pitchFamily="34" charset="0"/>
                        </a:rPr>
                        <a:t>支持下标访问 </a:t>
                      </a:r>
                      <a:r>
                        <a:rPr lang="en-US" sz="700" b="0" i="0">
                          <a:effectLst/>
                          <a:latin typeface="Calibri" panose="020F0502020204030204" pitchFamily="34" charset="0"/>
                        </a:rPr>
                        <a:t>O(1) </a:t>
                      </a:r>
                      <a:endParaRPr lang="en-US"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700" b="0" i="0" dirty="0">
                          <a:effectLst/>
                          <a:latin typeface="Calibri" panose="020F0502020204030204" pitchFamily="34" charset="0"/>
                        </a:rPr>
                        <a:t>不支持 </a:t>
                      </a:r>
                      <a:r>
                        <a:rPr lang="en-US" sz="700" b="0" i="0" dirty="0">
                          <a:effectLst/>
                          <a:latin typeface="Calibri" panose="020F0502020204030204" pitchFamily="34" charset="0"/>
                        </a:rPr>
                        <a:t>O(N) </a:t>
                      </a:r>
                      <a:endParaRPr lang="en-US" sz="1050"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1907375729"/>
                  </a:ext>
                </a:extLst>
              </a:tr>
              <a:tr h="0">
                <a:tc>
                  <a:txBody>
                    <a:bodyPr/>
                    <a:lstStyle/>
                    <a:p>
                      <a:pPr algn="l" rtl="0" fontAlgn="base"/>
                      <a:r>
                        <a:rPr lang="zh-CN" altLang="en-US" sz="700" b="0" i="0">
                          <a:effectLst/>
                          <a:latin typeface="Calibri" panose="020F0502020204030204" pitchFamily="34" charset="0"/>
                        </a:rPr>
                        <a:t>任意位置增删 </a:t>
                      </a:r>
                      <a:endParaRPr lang="zh-CN" altLang="en-US"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pt-BR" sz="700" b="0" i="0">
                          <a:effectLst/>
                          <a:latin typeface="Calibri" panose="020F0502020204030204" pitchFamily="34" charset="0"/>
                        </a:rPr>
                        <a:t>需要搬移元素 O(N) </a:t>
                      </a:r>
                      <a:endParaRPr lang="pt-BR"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700" b="0" i="0">
                          <a:effectLst/>
                          <a:latin typeface="Calibri" panose="020F0502020204030204" pitchFamily="34" charset="0"/>
                        </a:rPr>
                        <a:t>只需要修改指针指向 </a:t>
                      </a:r>
                      <a:endParaRPr lang="zh-CN" altLang="en-US"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3163831462"/>
                  </a:ext>
                </a:extLst>
              </a:tr>
              <a:tr h="0">
                <a:tc>
                  <a:txBody>
                    <a:bodyPr/>
                    <a:lstStyle/>
                    <a:p>
                      <a:pPr algn="l" rtl="0" fontAlgn="base"/>
                      <a:r>
                        <a:rPr lang="zh-CN" altLang="en-US" sz="700" b="0" i="0">
                          <a:effectLst/>
                          <a:latin typeface="Calibri" panose="020F0502020204030204" pitchFamily="34" charset="0"/>
                        </a:rPr>
                        <a:t>插入 </a:t>
                      </a:r>
                      <a:endParaRPr lang="zh-CN" altLang="en-US"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700" b="0" i="0">
                          <a:effectLst/>
                          <a:latin typeface="Calibri" panose="020F0502020204030204" pitchFamily="34" charset="0"/>
                        </a:rPr>
                        <a:t>空间不够时需扩容 </a:t>
                      </a:r>
                      <a:endParaRPr lang="zh-CN" altLang="en-US"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700" b="0" i="0">
                          <a:effectLst/>
                          <a:latin typeface="Calibri" panose="020F0502020204030204" pitchFamily="34" charset="0"/>
                        </a:rPr>
                        <a:t>没有容量概念 </a:t>
                      </a:r>
                      <a:endParaRPr lang="zh-CN" altLang="en-US"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1776932491"/>
                  </a:ext>
                </a:extLst>
              </a:tr>
              <a:tr h="0">
                <a:tc>
                  <a:txBody>
                    <a:bodyPr/>
                    <a:lstStyle/>
                    <a:p>
                      <a:pPr algn="l" rtl="0" fontAlgn="base"/>
                      <a:r>
                        <a:rPr lang="zh-CN" altLang="en-US" sz="700" b="0" i="0">
                          <a:effectLst/>
                          <a:latin typeface="Calibri" panose="020F0502020204030204" pitchFamily="34" charset="0"/>
                        </a:rPr>
                        <a:t>应用场景 </a:t>
                      </a:r>
                      <a:endParaRPr lang="zh-CN" altLang="en-US"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700" b="0" i="0">
                          <a:effectLst/>
                          <a:latin typeface="Calibri" panose="020F0502020204030204" pitchFamily="34" charset="0"/>
                        </a:rPr>
                        <a:t>元素高效存储和频繁访问 </a:t>
                      </a:r>
                      <a:endParaRPr lang="zh-CN" altLang="en-US" sz="1050" b="0" i="0">
                        <a:effectLst/>
                      </a:endParaRPr>
                    </a:p>
                    <a:p>
                      <a:pPr algn="l" rtl="0" fontAlgn="base"/>
                      <a:r>
                        <a:rPr lang="zh-CN" altLang="en-US" sz="700" b="0" i="0">
                          <a:effectLst/>
                          <a:latin typeface="Calibri" panose="020F0502020204030204" pitchFamily="34" charset="0"/>
                        </a:rPr>
                        <a:t>不改变结构操作</a:t>
                      </a:r>
                      <a:r>
                        <a:rPr lang="en-US" altLang="zh-CN" sz="700" b="0" i="0">
                          <a:effectLst/>
                          <a:latin typeface="Calibri" panose="020F0502020204030204" pitchFamily="34" charset="0"/>
                        </a:rPr>
                        <a:t>(</a:t>
                      </a:r>
                      <a:r>
                        <a:rPr lang="zh-CN" altLang="en-US" sz="700" b="0" i="0">
                          <a:effectLst/>
                          <a:latin typeface="Calibri" panose="020F0502020204030204" pitchFamily="34" charset="0"/>
                        </a:rPr>
                        <a:t>读取</a:t>
                      </a:r>
                      <a:r>
                        <a:rPr lang="en-US" altLang="zh-CN" sz="700" b="0" i="0">
                          <a:effectLst/>
                          <a:latin typeface="Calibri" panose="020F0502020204030204" pitchFamily="34" charset="0"/>
                        </a:rPr>
                        <a:t>/</a:t>
                      </a:r>
                      <a:r>
                        <a:rPr lang="zh-CN" altLang="en-US" sz="700" b="0" i="0">
                          <a:effectLst/>
                          <a:latin typeface="Calibri" panose="020F0502020204030204" pitchFamily="34" charset="0"/>
                        </a:rPr>
                        <a:t>查找</a:t>
                      </a:r>
                      <a:r>
                        <a:rPr lang="en-US" altLang="zh-CN" sz="700" b="0" i="0">
                          <a:effectLst/>
                          <a:latin typeface="Calibri" panose="020F0502020204030204" pitchFamily="34" charset="0"/>
                        </a:rPr>
                        <a:t>) </a:t>
                      </a:r>
                      <a:endParaRPr lang="zh-CN" altLang="en-US"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700" b="0" i="0">
                          <a:effectLst/>
                          <a:latin typeface="Calibri" panose="020F0502020204030204" pitchFamily="34" charset="0"/>
                        </a:rPr>
                        <a:t>任意位置增删元素频繁 </a:t>
                      </a:r>
                      <a:endParaRPr lang="zh-CN" altLang="en-US" sz="1050" b="0" i="0">
                        <a:effectLst/>
                      </a:endParaRPr>
                    </a:p>
                    <a:p>
                      <a:pPr algn="l" rtl="0" fontAlgn="base"/>
                      <a:r>
                        <a:rPr lang="zh-CN" altLang="en-US" sz="700" b="0" i="0">
                          <a:effectLst/>
                          <a:latin typeface="Calibri" panose="020F0502020204030204" pitchFamily="34" charset="0"/>
                        </a:rPr>
                        <a:t>破坏性操作</a:t>
                      </a:r>
                      <a:r>
                        <a:rPr lang="en-US" altLang="zh-CN" sz="700" b="0" i="0">
                          <a:effectLst/>
                          <a:latin typeface="Calibri" panose="020F0502020204030204" pitchFamily="34" charset="0"/>
                        </a:rPr>
                        <a:t>(</a:t>
                      </a:r>
                      <a:r>
                        <a:rPr lang="zh-CN" altLang="en-US" sz="700" b="0" i="0">
                          <a:effectLst/>
                          <a:latin typeface="Calibri" panose="020F0502020204030204" pitchFamily="34" charset="0"/>
                        </a:rPr>
                        <a:t>插入</a:t>
                      </a:r>
                      <a:r>
                        <a:rPr lang="en-US" altLang="zh-CN" sz="700" b="0" i="0">
                          <a:effectLst/>
                          <a:latin typeface="Calibri" panose="020F0502020204030204" pitchFamily="34" charset="0"/>
                        </a:rPr>
                        <a:t>/</a:t>
                      </a:r>
                      <a:r>
                        <a:rPr lang="zh-CN" altLang="en-US" sz="700" b="0" i="0">
                          <a:effectLst/>
                          <a:latin typeface="Calibri" panose="020F0502020204030204" pitchFamily="34" charset="0"/>
                        </a:rPr>
                        <a:t>删除</a:t>
                      </a:r>
                      <a:r>
                        <a:rPr lang="en-US" altLang="zh-CN" sz="700" b="0" i="0">
                          <a:effectLst/>
                          <a:latin typeface="Calibri" panose="020F0502020204030204" pitchFamily="34" charset="0"/>
                        </a:rPr>
                        <a:t>) </a:t>
                      </a:r>
                      <a:endParaRPr lang="zh-CN" altLang="en-US"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3372994354"/>
                  </a:ext>
                </a:extLst>
              </a:tr>
              <a:tr h="0">
                <a:tc>
                  <a:txBody>
                    <a:bodyPr/>
                    <a:lstStyle/>
                    <a:p>
                      <a:pPr algn="l" rtl="0" fontAlgn="base"/>
                      <a:r>
                        <a:rPr lang="zh-CN" altLang="en-US" sz="700" b="0" i="0">
                          <a:effectLst/>
                          <a:latin typeface="Calibri" panose="020F0502020204030204" pitchFamily="34" charset="0"/>
                        </a:rPr>
                        <a:t>缓存利用率 </a:t>
                      </a:r>
                      <a:endParaRPr lang="zh-CN" altLang="en-US" sz="105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700" b="0" i="0" dirty="0">
                          <a:effectLst/>
                          <a:latin typeface="Calibri" panose="020F0502020204030204" pitchFamily="34" charset="0"/>
                        </a:rPr>
                        <a:t>高 </a:t>
                      </a:r>
                      <a:endParaRPr lang="zh-CN" altLang="en-US" sz="1050"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700" b="0" i="0" dirty="0">
                          <a:effectLst/>
                          <a:latin typeface="Calibri" panose="020F0502020204030204" pitchFamily="34" charset="0"/>
                        </a:rPr>
                        <a:t>低 </a:t>
                      </a:r>
                      <a:endParaRPr lang="zh-CN" altLang="en-US" sz="1050"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2419449898"/>
                  </a:ext>
                </a:extLst>
              </a:tr>
            </a:tbl>
          </a:graphicData>
        </a:graphic>
      </p:graphicFrame>
      <p:grpSp>
        <p:nvGrpSpPr>
          <p:cNvPr id="25" name="Group 24">
            <a:extLst>
              <a:ext uri="{FF2B5EF4-FFF2-40B4-BE49-F238E27FC236}">
                <a16:creationId xmlns:a16="http://schemas.microsoft.com/office/drawing/2014/main" id="{F3769086-8A8B-4DB7-567B-2D5AF7393B3F}"/>
              </a:ext>
            </a:extLst>
          </p:cNvPr>
          <p:cNvGrpSpPr/>
          <p:nvPr/>
        </p:nvGrpSpPr>
        <p:grpSpPr>
          <a:xfrm>
            <a:off x="3106164" y="4211338"/>
            <a:ext cx="4386653" cy="756927"/>
            <a:chOff x="7614613" y="5950488"/>
            <a:chExt cx="4386653" cy="756927"/>
          </a:xfrm>
        </p:grpSpPr>
        <p:sp>
          <p:nvSpPr>
            <p:cNvPr id="26" name="Rectangle: Rounded Corners 25">
              <a:extLst>
                <a:ext uri="{FF2B5EF4-FFF2-40B4-BE49-F238E27FC236}">
                  <a16:creationId xmlns:a16="http://schemas.microsoft.com/office/drawing/2014/main" id="{415ED861-16D7-04DD-DD56-73F8CD2AAAF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▶栈和队列 </a:t>
              </a:r>
              <a:r>
                <a:rPr lang="en-US" altLang="zh-CN" sz="1200" dirty="0">
                  <a:solidFill>
                    <a:schemeClr val="bg1"/>
                  </a:solidFill>
                  <a:latin typeface="ui-monospace"/>
                </a:rPr>
                <a:t>stack &amp; queue</a:t>
              </a:r>
              <a:endParaRPr lang="en-US" sz="1200" dirty="0">
                <a:solidFill>
                  <a:schemeClr val="bg1"/>
                </a:solidFill>
              </a:endParaRPr>
            </a:p>
          </p:txBody>
        </p:sp>
        <p:sp>
          <p:nvSpPr>
            <p:cNvPr id="27" name="TextBox 26">
              <a:extLst>
                <a:ext uri="{FF2B5EF4-FFF2-40B4-BE49-F238E27FC236}">
                  <a16:creationId xmlns:a16="http://schemas.microsoft.com/office/drawing/2014/main" id="{3541EF79-C075-D3E9-6BAD-8655BF0FB53A}"/>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rPr>
                <a:t>栈</a:t>
              </a:r>
              <a:r>
                <a:rPr lang="en-US" altLang="zh-CN" sz="1200" dirty="0">
                  <a:solidFill>
                    <a:schemeClr val="accent1"/>
                  </a:solidFill>
                </a:rPr>
                <a:t>: </a:t>
              </a:r>
              <a:r>
                <a:rPr lang="zh-CN" altLang="en-US" sz="1200" dirty="0">
                  <a:solidFill>
                    <a:schemeClr val="accent1"/>
                  </a:solidFill>
                </a:rPr>
                <a:t>只允许固定一端插入和删除元素，遵循先进后出 </a:t>
              </a:r>
              <a:r>
                <a:rPr lang="en-US" altLang="zh-CN" sz="1200" dirty="0">
                  <a:solidFill>
                    <a:schemeClr val="accent1"/>
                  </a:solidFill>
                </a:rPr>
                <a:t>LIFO</a:t>
              </a:r>
            </a:p>
            <a:p>
              <a:r>
                <a:rPr lang="zh-CN" altLang="en-US" sz="1200" dirty="0">
                  <a:solidFill>
                    <a:schemeClr val="accent1"/>
                  </a:solidFill>
                </a:rPr>
                <a:t>队列</a:t>
              </a:r>
              <a:r>
                <a:rPr lang="en-US" altLang="zh-CN" sz="1200" dirty="0">
                  <a:solidFill>
                    <a:schemeClr val="accent1"/>
                  </a:solidFill>
                </a:rPr>
                <a:t>:  </a:t>
              </a:r>
              <a:r>
                <a:rPr lang="zh-CN" altLang="en-US" sz="1200" dirty="0">
                  <a:solidFill>
                    <a:schemeClr val="accent1"/>
                  </a:solidFill>
                </a:rPr>
                <a:t>只允许队尾插入，队头删除元素，遵循先进先出 </a:t>
              </a:r>
              <a:r>
                <a:rPr lang="en-US" altLang="zh-CN" sz="1200" dirty="0">
                  <a:solidFill>
                    <a:schemeClr val="accent1"/>
                  </a:solidFill>
                </a:rPr>
                <a:t>FIFO </a:t>
              </a:r>
              <a:endParaRPr lang="en-US" sz="1200" dirty="0">
                <a:solidFill>
                  <a:schemeClr val="accent1"/>
                </a:solidFill>
              </a:endParaRPr>
            </a:p>
          </p:txBody>
        </p:sp>
      </p:grpSp>
      <p:pic>
        <p:nvPicPr>
          <p:cNvPr id="2065" name="Picture 2064">
            <a:extLst>
              <a:ext uri="{FF2B5EF4-FFF2-40B4-BE49-F238E27FC236}">
                <a16:creationId xmlns:a16="http://schemas.microsoft.com/office/drawing/2014/main" id="{FFA73767-FFE7-2B63-EA11-DA43419EE71A}"/>
              </a:ext>
            </a:extLst>
          </p:cNvPr>
          <p:cNvPicPr>
            <a:picLocks noChangeAspect="1"/>
          </p:cNvPicPr>
          <p:nvPr/>
        </p:nvPicPr>
        <p:blipFill>
          <a:blip r:embed="rId4"/>
          <a:stretch>
            <a:fillRect/>
          </a:stretch>
        </p:blipFill>
        <p:spPr>
          <a:xfrm>
            <a:off x="4784550" y="5157683"/>
            <a:ext cx="2550517" cy="738022"/>
          </a:xfrm>
          <a:prstGeom prst="rect">
            <a:avLst/>
          </a:prstGeom>
        </p:spPr>
      </p:pic>
      <p:pic>
        <p:nvPicPr>
          <p:cNvPr id="2110" name="Picture 2109">
            <a:extLst>
              <a:ext uri="{FF2B5EF4-FFF2-40B4-BE49-F238E27FC236}">
                <a16:creationId xmlns:a16="http://schemas.microsoft.com/office/drawing/2014/main" id="{A47DC7A7-B70A-E046-811D-AEE3B956BDF2}"/>
              </a:ext>
            </a:extLst>
          </p:cNvPr>
          <p:cNvPicPr>
            <a:picLocks noChangeAspect="1"/>
          </p:cNvPicPr>
          <p:nvPr/>
        </p:nvPicPr>
        <p:blipFill>
          <a:blip r:embed="rId5"/>
          <a:stretch>
            <a:fillRect/>
          </a:stretch>
        </p:blipFill>
        <p:spPr>
          <a:xfrm>
            <a:off x="3330824" y="4953977"/>
            <a:ext cx="1338142" cy="977346"/>
          </a:xfrm>
          <a:prstGeom prst="rect">
            <a:avLst/>
          </a:prstGeom>
        </p:spPr>
      </p:pic>
      <p:grpSp>
        <p:nvGrpSpPr>
          <p:cNvPr id="28" name="Group 27">
            <a:extLst>
              <a:ext uri="{FF2B5EF4-FFF2-40B4-BE49-F238E27FC236}">
                <a16:creationId xmlns:a16="http://schemas.microsoft.com/office/drawing/2014/main" id="{903CAED7-CBA2-257D-230F-9D46D707C305}"/>
              </a:ext>
            </a:extLst>
          </p:cNvPr>
          <p:cNvGrpSpPr/>
          <p:nvPr/>
        </p:nvGrpSpPr>
        <p:grpSpPr>
          <a:xfrm>
            <a:off x="7679921" y="790990"/>
            <a:ext cx="4386653" cy="1126259"/>
            <a:chOff x="7614613" y="5950488"/>
            <a:chExt cx="4386653" cy="1126259"/>
          </a:xfrm>
        </p:grpSpPr>
        <p:sp>
          <p:nvSpPr>
            <p:cNvPr id="29" name="Rectangle: Rounded Corners 28">
              <a:extLst>
                <a:ext uri="{FF2B5EF4-FFF2-40B4-BE49-F238E27FC236}">
                  <a16:creationId xmlns:a16="http://schemas.microsoft.com/office/drawing/2014/main" id="{293D8D1E-B66A-A397-F87B-D73E5E2BE96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▶模式匹配 </a:t>
              </a:r>
              <a:r>
                <a:rPr lang="en-US" altLang="zh-CN" sz="1200" dirty="0">
                  <a:solidFill>
                    <a:schemeClr val="bg1"/>
                  </a:solidFill>
                  <a:latin typeface="ui-monospace"/>
                </a:rPr>
                <a:t>pattern matching</a:t>
              </a:r>
            </a:p>
          </p:txBody>
        </p:sp>
        <p:sp>
          <p:nvSpPr>
            <p:cNvPr id="30" name="TextBox 29">
              <a:extLst>
                <a:ext uri="{FF2B5EF4-FFF2-40B4-BE49-F238E27FC236}">
                  <a16:creationId xmlns:a16="http://schemas.microsoft.com/office/drawing/2014/main" id="{C05BC96A-72C8-6D99-144A-B42CA5FE5CB4}"/>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给定两个字符串</a:t>
              </a:r>
              <a:r>
                <a:rPr lang="en-US" altLang="zh-CN" sz="1200" dirty="0">
                  <a:solidFill>
                    <a:schemeClr val="accent1"/>
                  </a:solidFill>
                  <a:latin typeface="ui-monospace"/>
                </a:rPr>
                <a:t>S</a:t>
              </a:r>
              <a:r>
                <a:rPr lang="zh-CN" altLang="en-US" sz="1200" dirty="0">
                  <a:solidFill>
                    <a:schemeClr val="accent1"/>
                  </a:solidFill>
                  <a:latin typeface="ui-monospace"/>
                </a:rPr>
                <a:t>和</a:t>
              </a:r>
              <a:r>
                <a:rPr lang="en-US" altLang="zh-CN" sz="1200" dirty="0">
                  <a:solidFill>
                    <a:schemeClr val="accent1"/>
                  </a:solidFill>
                  <a:latin typeface="ui-monospace"/>
                </a:rPr>
                <a:t>T</a:t>
              </a:r>
              <a:r>
                <a:rPr lang="zh-CN" altLang="en-US" sz="1200" dirty="0">
                  <a:solidFill>
                    <a:schemeClr val="accent1"/>
                  </a:solidFill>
                  <a:latin typeface="ui-monospace"/>
                </a:rPr>
                <a:t>，在主串</a:t>
              </a:r>
              <a:r>
                <a:rPr lang="en-US" altLang="zh-CN" sz="1200" dirty="0">
                  <a:solidFill>
                    <a:schemeClr val="accent1"/>
                  </a:solidFill>
                  <a:latin typeface="ui-monospace"/>
                </a:rPr>
                <a:t>S</a:t>
              </a:r>
              <a:r>
                <a:rPr lang="zh-CN" altLang="en-US" sz="1200" dirty="0">
                  <a:solidFill>
                    <a:schemeClr val="accent1"/>
                  </a:solidFill>
                  <a:latin typeface="ui-monospace"/>
                </a:rPr>
                <a:t>中寻找模式串</a:t>
              </a:r>
              <a:r>
                <a:rPr lang="en-US" altLang="zh-CN" sz="1200" dirty="0">
                  <a:solidFill>
                    <a:schemeClr val="accent1"/>
                  </a:solidFill>
                  <a:latin typeface="ui-monospace"/>
                </a:rPr>
                <a:t>T</a:t>
              </a:r>
              <a:r>
                <a:rPr lang="zh-CN" altLang="en-US" sz="1200" dirty="0">
                  <a:solidFill>
                    <a:schemeClr val="accent1"/>
                  </a:solidFill>
                  <a:latin typeface="ui-monospace"/>
                </a:rPr>
                <a:t>的过程</a:t>
              </a:r>
              <a:endParaRPr lang="en-US" altLang="zh-CN" sz="1200" dirty="0">
                <a:solidFill>
                  <a:schemeClr val="accent1"/>
                </a:solidFill>
                <a:latin typeface="ui-monospace"/>
              </a:endParaRPr>
            </a:p>
            <a:p>
              <a:r>
                <a:rPr lang="en-US" sz="1200" dirty="0">
                  <a:solidFill>
                    <a:schemeClr val="accent1"/>
                  </a:solidFill>
                  <a:latin typeface="ui-monospace"/>
                </a:rPr>
                <a:t>Brute-Force</a:t>
              </a:r>
              <a:r>
                <a:rPr lang="zh-CN" altLang="en-US" sz="1200" dirty="0">
                  <a:solidFill>
                    <a:schemeClr val="accent1"/>
                  </a:solidFill>
                  <a:latin typeface="ui-monospace"/>
                </a:rPr>
                <a:t>算法</a:t>
              </a:r>
              <a:r>
                <a:rPr lang="en-US" altLang="zh-CN" sz="1200" dirty="0">
                  <a:solidFill>
                    <a:schemeClr val="accent1"/>
                  </a:solidFill>
                  <a:latin typeface="ui-monospace"/>
                </a:rPr>
                <a:t>: </a:t>
              </a:r>
              <a:r>
                <a:rPr lang="zh-CN" altLang="en-US" sz="1200" dirty="0">
                  <a:solidFill>
                    <a:schemeClr val="accent1"/>
                  </a:solidFill>
                  <a:latin typeface="ui-monospace"/>
                </a:rPr>
                <a:t>暴力依次比较</a:t>
              </a:r>
              <a:endParaRPr lang="en-US" sz="1200" dirty="0">
                <a:solidFill>
                  <a:schemeClr val="accent1"/>
                </a:solidFill>
                <a:latin typeface="ui-monospace"/>
              </a:endParaRPr>
            </a:p>
            <a:p>
              <a:r>
                <a:rPr lang="en-US" altLang="zh-CN" sz="1200" dirty="0">
                  <a:solidFill>
                    <a:schemeClr val="accent1"/>
                  </a:solidFill>
                  <a:latin typeface="ui-monospace"/>
                </a:rPr>
                <a:t>KMP</a:t>
              </a:r>
              <a:r>
                <a:rPr lang="zh-CN" altLang="en-US" sz="1200" dirty="0">
                  <a:solidFill>
                    <a:schemeClr val="accent1"/>
                  </a:solidFill>
                  <a:latin typeface="ui-monospace"/>
                </a:rPr>
                <a:t>算法</a:t>
              </a:r>
              <a:r>
                <a:rPr lang="en-US" altLang="zh-CN" sz="1200" dirty="0">
                  <a:solidFill>
                    <a:schemeClr val="accent1"/>
                  </a:solidFill>
                  <a:latin typeface="ui-monospace"/>
                </a:rPr>
                <a:t>: </a:t>
              </a:r>
              <a:r>
                <a:rPr lang="zh-CN" altLang="en-US" sz="1200" dirty="0">
                  <a:solidFill>
                    <a:schemeClr val="accent1"/>
                  </a:solidFill>
                  <a:latin typeface="ui-monospace"/>
                </a:rPr>
                <a:t>当主串与模式串部分匹配后出现不匹配字符时，通过</a:t>
              </a:r>
              <a:r>
                <a:rPr lang="en-US" altLang="zh-CN" sz="1200" dirty="0">
                  <a:solidFill>
                    <a:schemeClr val="accent1"/>
                  </a:solidFill>
                  <a:latin typeface="ui-monospace"/>
                </a:rPr>
                <a:t>next</a:t>
              </a:r>
              <a:r>
                <a:rPr lang="zh-CN" altLang="en-US" sz="1200" dirty="0">
                  <a:solidFill>
                    <a:schemeClr val="accent1"/>
                  </a:solidFill>
                  <a:latin typeface="ui-monospace"/>
                </a:rPr>
                <a:t>数组确定模式串应回溯的位置，而非从头开始匹配</a:t>
              </a:r>
              <a:endParaRPr lang="en-US" altLang="zh-CN" sz="1200" dirty="0">
                <a:solidFill>
                  <a:schemeClr val="accent1"/>
                </a:solidFill>
                <a:latin typeface="ui-monospace"/>
              </a:endParaRPr>
            </a:p>
          </p:txBody>
        </p:sp>
      </p:grpSp>
      <p:grpSp>
        <p:nvGrpSpPr>
          <p:cNvPr id="38" name="Group 37">
            <a:extLst>
              <a:ext uri="{FF2B5EF4-FFF2-40B4-BE49-F238E27FC236}">
                <a16:creationId xmlns:a16="http://schemas.microsoft.com/office/drawing/2014/main" id="{7EF67A26-23AF-B340-F28C-D41D1C46BEE6}"/>
              </a:ext>
            </a:extLst>
          </p:cNvPr>
          <p:cNvGrpSpPr/>
          <p:nvPr/>
        </p:nvGrpSpPr>
        <p:grpSpPr>
          <a:xfrm>
            <a:off x="7679920" y="1886567"/>
            <a:ext cx="4386653" cy="572261"/>
            <a:chOff x="7614613" y="5950488"/>
            <a:chExt cx="4386653" cy="572261"/>
          </a:xfrm>
        </p:grpSpPr>
        <p:sp>
          <p:nvSpPr>
            <p:cNvPr id="39" name="Rectangle: Rounded Corners 38">
              <a:extLst>
                <a:ext uri="{FF2B5EF4-FFF2-40B4-BE49-F238E27FC236}">
                  <a16:creationId xmlns:a16="http://schemas.microsoft.com/office/drawing/2014/main" id="{41DD3022-7E17-0941-3B43-AB3F9B5F6717}"/>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a:t>
              </a:r>
              <a:r>
                <a:rPr lang="en-US" altLang="zh-CN" sz="1200" dirty="0">
                  <a:solidFill>
                    <a:schemeClr val="bg1"/>
                  </a:solidFill>
                  <a:latin typeface="ui-monospace"/>
                </a:rPr>
                <a:t>KMP</a:t>
              </a:r>
              <a:r>
                <a:rPr lang="zh-CN" altLang="en-US" sz="1200" dirty="0">
                  <a:solidFill>
                    <a:schemeClr val="bg1"/>
                  </a:solidFill>
                  <a:latin typeface="ui-monospace"/>
                </a:rPr>
                <a:t>算法</a:t>
              </a:r>
              <a:endParaRPr lang="en-US" altLang="zh-CN" sz="1200" dirty="0">
                <a:solidFill>
                  <a:schemeClr val="bg1"/>
                </a:solidFill>
                <a:latin typeface="ui-monospace"/>
              </a:endParaRPr>
            </a:p>
          </p:txBody>
        </p:sp>
        <p:sp>
          <p:nvSpPr>
            <p:cNvPr id="40" name="TextBox 39">
              <a:extLst>
                <a:ext uri="{FF2B5EF4-FFF2-40B4-BE49-F238E27FC236}">
                  <a16:creationId xmlns:a16="http://schemas.microsoft.com/office/drawing/2014/main" id="{BD8AEAFC-2985-3222-260A-6917D94AC22F}"/>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latin typeface="ui-monospace"/>
                </a:rPr>
                <a:t>核心：通过</a:t>
              </a:r>
              <a:r>
                <a:rPr lang="zh-CN" altLang="en-US" sz="1200" b="1" dirty="0">
                  <a:solidFill>
                    <a:schemeClr val="accent1"/>
                  </a:solidFill>
                  <a:latin typeface="ui-monospace"/>
                </a:rPr>
                <a:t>最长公共前后缀</a:t>
              </a:r>
              <a:r>
                <a:rPr lang="zh-CN" altLang="en-US" sz="1200" dirty="0">
                  <a:solidFill>
                    <a:schemeClr val="accent1"/>
                  </a:solidFill>
                  <a:latin typeface="ui-monospace"/>
                </a:rPr>
                <a:t>求</a:t>
              </a:r>
              <a:r>
                <a:rPr lang="en-US" altLang="zh-CN" sz="1200" b="1" dirty="0">
                  <a:solidFill>
                    <a:schemeClr val="accent1"/>
                  </a:solidFill>
                  <a:latin typeface="ui-monospace"/>
                </a:rPr>
                <a:t>next[j]</a:t>
              </a:r>
              <a:r>
                <a:rPr lang="zh-CN" altLang="en-US" sz="1200" b="1" dirty="0">
                  <a:solidFill>
                    <a:schemeClr val="accent1"/>
                  </a:solidFill>
                  <a:latin typeface="ui-monospace"/>
                </a:rPr>
                <a:t>数组</a:t>
              </a:r>
              <a:endParaRPr lang="en-US" sz="1200" b="1" dirty="0">
                <a:solidFill>
                  <a:schemeClr val="accent1"/>
                </a:solidFill>
                <a:latin typeface="ui-monospace"/>
              </a:endParaRPr>
            </a:p>
          </p:txBody>
        </p:sp>
      </p:grpSp>
      <p:pic>
        <p:nvPicPr>
          <p:cNvPr id="61" name="Picture 60">
            <a:extLst>
              <a:ext uri="{FF2B5EF4-FFF2-40B4-BE49-F238E27FC236}">
                <a16:creationId xmlns:a16="http://schemas.microsoft.com/office/drawing/2014/main" id="{DB837735-4728-6EF8-0B49-42C09E3B317D}"/>
              </a:ext>
            </a:extLst>
          </p:cNvPr>
          <p:cNvPicPr>
            <a:picLocks noChangeAspect="1"/>
          </p:cNvPicPr>
          <p:nvPr/>
        </p:nvPicPr>
        <p:blipFill>
          <a:blip r:embed="rId6"/>
          <a:stretch>
            <a:fillRect/>
          </a:stretch>
        </p:blipFill>
        <p:spPr>
          <a:xfrm>
            <a:off x="10397371" y="2243048"/>
            <a:ext cx="1616809" cy="591868"/>
          </a:xfrm>
          <a:prstGeom prst="rect">
            <a:avLst/>
          </a:prstGeom>
        </p:spPr>
      </p:pic>
      <p:sp>
        <p:nvSpPr>
          <p:cNvPr id="4" name="TextBox 3">
            <a:extLst>
              <a:ext uri="{FF2B5EF4-FFF2-40B4-BE49-F238E27FC236}">
                <a16:creationId xmlns:a16="http://schemas.microsoft.com/office/drawing/2014/main" id="{BA4613BD-2747-4516-DA78-BFAC84DA6606}"/>
              </a:ext>
            </a:extLst>
          </p:cNvPr>
          <p:cNvSpPr txBox="1"/>
          <p:nvPr/>
        </p:nvSpPr>
        <p:spPr>
          <a:xfrm>
            <a:off x="7732601" y="2773832"/>
            <a:ext cx="4281578" cy="461665"/>
          </a:xfrm>
          <a:prstGeom prst="rect">
            <a:avLst/>
          </a:prstGeom>
          <a:noFill/>
        </p:spPr>
        <p:txBody>
          <a:bodyPr wrap="square">
            <a:spAutoFit/>
          </a:bodyPr>
          <a:lstStyle/>
          <a:p>
            <a:r>
              <a:rPr lang="zh-CN" altLang="en-US" sz="1200" dirty="0">
                <a:solidFill>
                  <a:schemeClr val="accent1"/>
                </a:solidFill>
                <a:latin typeface="ui-monospace"/>
              </a:rPr>
              <a:t>初始状态：遍历至</a:t>
            </a:r>
            <a:r>
              <a:rPr lang="en-US" altLang="zh-CN" sz="1200" dirty="0">
                <a:solidFill>
                  <a:schemeClr val="accent1"/>
                </a:solidFill>
                <a:latin typeface="ui-monospace"/>
              </a:rPr>
              <a:t>j</a:t>
            </a:r>
            <a:r>
              <a:rPr lang="zh-CN" altLang="en-US" sz="1200" dirty="0">
                <a:solidFill>
                  <a:schemeClr val="accent1"/>
                </a:solidFill>
                <a:latin typeface="ui-monospace"/>
              </a:rPr>
              <a:t>的位置，</a:t>
            </a:r>
            <a:r>
              <a:rPr lang="en-US" altLang="zh-CN" sz="1200" dirty="0">
                <a:solidFill>
                  <a:schemeClr val="accent1"/>
                </a:solidFill>
                <a:latin typeface="ui-monospace"/>
              </a:rPr>
              <a:t>next[j]</a:t>
            </a:r>
            <a:r>
              <a:rPr lang="zh-CN" altLang="en-US" sz="1200" dirty="0">
                <a:solidFill>
                  <a:schemeClr val="accent1"/>
                </a:solidFill>
                <a:latin typeface="ui-monospace"/>
              </a:rPr>
              <a:t>也就是</a:t>
            </a:r>
            <a:r>
              <a:rPr lang="en-US" altLang="zh-CN" sz="1200" dirty="0" err="1">
                <a:solidFill>
                  <a:schemeClr val="accent1"/>
                </a:solidFill>
                <a:latin typeface="ui-monospace"/>
              </a:rPr>
              <a:t>i</a:t>
            </a:r>
            <a:r>
              <a:rPr lang="zh-CN" altLang="en-US" sz="1200" dirty="0">
                <a:solidFill>
                  <a:schemeClr val="accent1"/>
                </a:solidFill>
                <a:latin typeface="ui-monospace"/>
              </a:rPr>
              <a:t>表示的是</a:t>
            </a:r>
            <a:r>
              <a:rPr lang="en-US" altLang="zh-CN" sz="1200" dirty="0">
                <a:solidFill>
                  <a:schemeClr val="accent1"/>
                </a:solidFill>
                <a:latin typeface="ui-monospace"/>
              </a:rPr>
              <a:t>p[0,…,j-1]</a:t>
            </a:r>
            <a:r>
              <a:rPr lang="zh-CN" altLang="en-US" sz="1200" dirty="0">
                <a:solidFill>
                  <a:schemeClr val="accent1"/>
                </a:solidFill>
                <a:latin typeface="ui-monospace"/>
              </a:rPr>
              <a:t>的最长公共前后缀的长度，前后缀区域相等</a:t>
            </a:r>
            <a:r>
              <a:rPr lang="en-US" altLang="zh-CN" sz="1200" dirty="0">
                <a:solidFill>
                  <a:schemeClr val="accent1"/>
                </a:solidFill>
                <a:latin typeface="ui-monospace"/>
                <a:sym typeface="Wingdings 2" panose="05020102010507070707" pitchFamily="18" charset="2"/>
              </a:rPr>
              <a:t>=</a:t>
            </a:r>
            <a:endParaRPr lang="en-US" sz="1200" dirty="0">
              <a:solidFill>
                <a:schemeClr val="accent1"/>
              </a:solidFill>
              <a:latin typeface="ui-monospace"/>
            </a:endParaRPr>
          </a:p>
        </p:txBody>
      </p:sp>
      <p:pic>
        <p:nvPicPr>
          <p:cNvPr id="2135" name="Picture 2134">
            <a:extLst>
              <a:ext uri="{FF2B5EF4-FFF2-40B4-BE49-F238E27FC236}">
                <a16:creationId xmlns:a16="http://schemas.microsoft.com/office/drawing/2014/main" id="{04FEEDCD-595A-076C-805A-9E924AD3C514}"/>
              </a:ext>
            </a:extLst>
          </p:cNvPr>
          <p:cNvPicPr>
            <a:picLocks noChangeAspect="1"/>
          </p:cNvPicPr>
          <p:nvPr/>
        </p:nvPicPr>
        <p:blipFill>
          <a:blip r:embed="rId7"/>
          <a:stretch>
            <a:fillRect/>
          </a:stretch>
        </p:blipFill>
        <p:spPr>
          <a:xfrm>
            <a:off x="9076849" y="3216947"/>
            <a:ext cx="2949970" cy="424893"/>
          </a:xfrm>
          <a:prstGeom prst="rect">
            <a:avLst/>
          </a:prstGeom>
        </p:spPr>
      </p:pic>
      <p:sp>
        <p:nvSpPr>
          <p:cNvPr id="5" name="TextBox 4">
            <a:extLst>
              <a:ext uri="{FF2B5EF4-FFF2-40B4-BE49-F238E27FC236}">
                <a16:creationId xmlns:a16="http://schemas.microsoft.com/office/drawing/2014/main" id="{76247DCC-2C1D-9608-E24B-ED4035572D5B}"/>
              </a:ext>
            </a:extLst>
          </p:cNvPr>
          <p:cNvSpPr txBox="1"/>
          <p:nvPr/>
        </p:nvSpPr>
        <p:spPr>
          <a:xfrm>
            <a:off x="7732601" y="3504142"/>
            <a:ext cx="4281578" cy="276999"/>
          </a:xfrm>
          <a:prstGeom prst="rect">
            <a:avLst/>
          </a:prstGeom>
          <a:noFill/>
        </p:spPr>
        <p:txBody>
          <a:bodyPr wrap="square">
            <a:spAutoFit/>
          </a:bodyPr>
          <a:lstStyle/>
          <a:p>
            <a:r>
              <a:rPr lang="zh-CN" altLang="en-US" sz="1200" dirty="0">
                <a:solidFill>
                  <a:schemeClr val="accent1"/>
                </a:solidFill>
                <a:latin typeface="ui-monospace"/>
              </a:rPr>
              <a:t>令</a:t>
            </a:r>
            <a:r>
              <a:rPr lang="en-US" altLang="zh-CN" sz="1200" dirty="0" err="1">
                <a:solidFill>
                  <a:schemeClr val="accent1"/>
                </a:solidFill>
                <a:latin typeface="ui-monospace"/>
              </a:rPr>
              <a:t>i</a:t>
            </a:r>
            <a:r>
              <a:rPr lang="en-US" altLang="zh-CN" sz="1200" dirty="0">
                <a:solidFill>
                  <a:schemeClr val="accent1"/>
                </a:solidFill>
                <a:latin typeface="ui-monospace"/>
              </a:rPr>
              <a:t>++,</a:t>
            </a:r>
            <a:r>
              <a:rPr lang="en-US" altLang="zh-CN" sz="1200" dirty="0" err="1">
                <a:solidFill>
                  <a:schemeClr val="accent1"/>
                </a:solidFill>
                <a:latin typeface="ui-monospace"/>
              </a:rPr>
              <a:t>j++</a:t>
            </a:r>
            <a:r>
              <a:rPr lang="zh-CN" altLang="en-US" sz="1200" dirty="0">
                <a:solidFill>
                  <a:schemeClr val="accent1"/>
                </a:solidFill>
                <a:latin typeface="ui-monospace"/>
              </a:rPr>
              <a:t>，如果 </a:t>
            </a:r>
            <a:r>
              <a:rPr lang="en-US" altLang="zh-CN" sz="1200" dirty="0">
                <a:solidFill>
                  <a:schemeClr val="accent1"/>
                </a:solidFill>
                <a:latin typeface="ui-monospace"/>
              </a:rPr>
              <a:t>p[</a:t>
            </a:r>
            <a:r>
              <a:rPr lang="en-US" altLang="zh-CN" sz="1200" dirty="0" err="1">
                <a:solidFill>
                  <a:schemeClr val="accent1"/>
                </a:solidFill>
                <a:latin typeface="ui-monospace"/>
              </a:rPr>
              <a:t>i</a:t>
            </a:r>
            <a:r>
              <a:rPr lang="en-US" altLang="zh-CN" sz="1200" dirty="0">
                <a:solidFill>
                  <a:schemeClr val="accent1"/>
                </a:solidFill>
                <a:latin typeface="ui-monospace"/>
              </a:rPr>
              <a:t>]=p[j-1]</a:t>
            </a:r>
            <a:r>
              <a:rPr lang="zh-CN" altLang="en-US" sz="1200" dirty="0">
                <a:solidFill>
                  <a:schemeClr val="accent1"/>
                </a:solidFill>
                <a:latin typeface="ui-monospace"/>
              </a:rPr>
              <a:t>，继续下一个</a:t>
            </a:r>
            <a:endParaRPr lang="en-US" sz="1200" dirty="0">
              <a:solidFill>
                <a:schemeClr val="accent1"/>
              </a:solidFill>
              <a:latin typeface="ui-monospace"/>
            </a:endParaRPr>
          </a:p>
        </p:txBody>
      </p:sp>
      <p:pic>
        <p:nvPicPr>
          <p:cNvPr id="2161" name="Picture 2160">
            <a:extLst>
              <a:ext uri="{FF2B5EF4-FFF2-40B4-BE49-F238E27FC236}">
                <a16:creationId xmlns:a16="http://schemas.microsoft.com/office/drawing/2014/main" id="{3657E9E4-7A16-B4E1-9EDC-6EFA2953D576}"/>
              </a:ext>
            </a:extLst>
          </p:cNvPr>
          <p:cNvPicPr>
            <a:picLocks noChangeAspect="1"/>
          </p:cNvPicPr>
          <p:nvPr/>
        </p:nvPicPr>
        <p:blipFill>
          <a:blip r:embed="rId8"/>
          <a:stretch>
            <a:fillRect/>
          </a:stretch>
        </p:blipFill>
        <p:spPr>
          <a:xfrm>
            <a:off x="9048481" y="3767601"/>
            <a:ext cx="2978338" cy="424893"/>
          </a:xfrm>
          <a:prstGeom prst="rect">
            <a:avLst/>
          </a:prstGeom>
        </p:spPr>
      </p:pic>
      <p:sp>
        <p:nvSpPr>
          <p:cNvPr id="8" name="TextBox 7">
            <a:extLst>
              <a:ext uri="{FF2B5EF4-FFF2-40B4-BE49-F238E27FC236}">
                <a16:creationId xmlns:a16="http://schemas.microsoft.com/office/drawing/2014/main" id="{092D294F-1DF8-A43E-6945-3DA09B519E43}"/>
              </a:ext>
            </a:extLst>
          </p:cNvPr>
          <p:cNvSpPr txBox="1"/>
          <p:nvPr/>
        </p:nvSpPr>
        <p:spPr>
          <a:xfrm>
            <a:off x="7732457" y="4080160"/>
            <a:ext cx="4281578" cy="461665"/>
          </a:xfrm>
          <a:prstGeom prst="rect">
            <a:avLst/>
          </a:prstGeom>
          <a:noFill/>
        </p:spPr>
        <p:txBody>
          <a:bodyPr wrap="square">
            <a:spAutoFit/>
          </a:bodyPr>
          <a:lstStyle/>
          <a:p>
            <a:r>
              <a:rPr lang="zh-CN" altLang="en-US" sz="1200" dirty="0">
                <a:solidFill>
                  <a:schemeClr val="accent1"/>
                </a:solidFill>
                <a:latin typeface="ui-monospace"/>
              </a:rPr>
              <a:t>如果 </a:t>
            </a:r>
            <a:r>
              <a:rPr lang="en-US" altLang="zh-CN" sz="1200" dirty="0">
                <a:solidFill>
                  <a:schemeClr val="accent1"/>
                </a:solidFill>
                <a:latin typeface="ui-monospace"/>
              </a:rPr>
              <a:t>p[</a:t>
            </a:r>
            <a:r>
              <a:rPr lang="en-US" altLang="zh-CN" sz="1200" dirty="0" err="1">
                <a:solidFill>
                  <a:schemeClr val="accent1"/>
                </a:solidFill>
                <a:latin typeface="ui-monospace"/>
              </a:rPr>
              <a:t>i</a:t>
            </a:r>
            <a:r>
              <a:rPr lang="en-US" altLang="zh-CN" sz="1200" dirty="0">
                <a:solidFill>
                  <a:schemeClr val="accent1"/>
                </a:solidFill>
                <a:latin typeface="ui-monospace"/>
              </a:rPr>
              <a:t>]!=p[j-1]</a:t>
            </a:r>
            <a:r>
              <a:rPr lang="zh-CN" altLang="en-US" sz="1200" dirty="0">
                <a:solidFill>
                  <a:schemeClr val="accent1"/>
                </a:solidFill>
                <a:latin typeface="ui-monospace"/>
              </a:rPr>
              <a:t>，则需要找新的最长公共前后缀，使得 </a:t>
            </a:r>
            <a:r>
              <a:rPr lang="en-US" altLang="zh-CN" sz="1200" dirty="0">
                <a:solidFill>
                  <a:schemeClr val="accent1"/>
                </a:solidFill>
                <a:latin typeface="ui-monospace"/>
                <a:sym typeface="Wingdings 2" panose="05020102010507070707" pitchFamily="18" charset="2"/>
              </a:rPr>
              <a:t>+p[</a:t>
            </a:r>
            <a:r>
              <a:rPr lang="en-US" altLang="zh-CN" sz="1200" dirty="0" err="1">
                <a:solidFill>
                  <a:schemeClr val="accent1"/>
                </a:solidFill>
                <a:latin typeface="ui-monospace"/>
                <a:sym typeface="Wingdings 2" panose="05020102010507070707" pitchFamily="18" charset="2"/>
              </a:rPr>
              <a:t>i</a:t>
            </a:r>
            <a:r>
              <a:rPr lang="en-US" altLang="zh-CN" sz="1200" dirty="0">
                <a:solidFill>
                  <a:schemeClr val="accent1"/>
                </a:solidFill>
                <a:latin typeface="ui-monospace"/>
                <a:sym typeface="Wingdings 2" panose="05020102010507070707" pitchFamily="18" charset="2"/>
              </a:rPr>
              <a:t>‘] = +p[j-1]</a:t>
            </a:r>
            <a:endParaRPr lang="en-US" sz="1200" dirty="0">
              <a:solidFill>
                <a:schemeClr val="accent1"/>
              </a:solidFill>
              <a:latin typeface="ui-monospace"/>
            </a:endParaRPr>
          </a:p>
        </p:txBody>
      </p:sp>
      <p:pic>
        <p:nvPicPr>
          <p:cNvPr id="2191" name="Picture 2190">
            <a:extLst>
              <a:ext uri="{FF2B5EF4-FFF2-40B4-BE49-F238E27FC236}">
                <a16:creationId xmlns:a16="http://schemas.microsoft.com/office/drawing/2014/main" id="{09A52EDB-582C-2BD9-A44A-8C5C4F06986A}"/>
              </a:ext>
            </a:extLst>
          </p:cNvPr>
          <p:cNvPicPr>
            <a:picLocks noChangeAspect="1"/>
          </p:cNvPicPr>
          <p:nvPr/>
        </p:nvPicPr>
        <p:blipFill>
          <a:blip r:embed="rId9"/>
          <a:stretch>
            <a:fillRect/>
          </a:stretch>
        </p:blipFill>
        <p:spPr>
          <a:xfrm>
            <a:off x="9054873" y="4366462"/>
            <a:ext cx="2965554" cy="423069"/>
          </a:xfrm>
          <a:prstGeom prst="rect">
            <a:avLst/>
          </a:prstGeom>
        </p:spPr>
      </p:pic>
      <p:sp>
        <p:nvSpPr>
          <p:cNvPr id="20" name="TextBox 19">
            <a:extLst>
              <a:ext uri="{FF2B5EF4-FFF2-40B4-BE49-F238E27FC236}">
                <a16:creationId xmlns:a16="http://schemas.microsoft.com/office/drawing/2014/main" id="{CC198F87-7F47-1185-89C7-2473B57D3859}"/>
              </a:ext>
            </a:extLst>
          </p:cNvPr>
          <p:cNvSpPr txBox="1"/>
          <p:nvPr/>
        </p:nvSpPr>
        <p:spPr>
          <a:xfrm>
            <a:off x="7732457" y="4652878"/>
            <a:ext cx="4281578" cy="461665"/>
          </a:xfrm>
          <a:prstGeom prst="rect">
            <a:avLst/>
          </a:prstGeom>
          <a:noFill/>
        </p:spPr>
        <p:txBody>
          <a:bodyPr wrap="square">
            <a:spAutoFit/>
          </a:bodyPr>
          <a:lstStyle/>
          <a:p>
            <a:r>
              <a:rPr lang="zh-CN" altLang="en-US" sz="1200" dirty="0">
                <a:solidFill>
                  <a:schemeClr val="accent1"/>
                </a:solidFill>
                <a:latin typeface="ui-monospace"/>
              </a:rPr>
              <a:t>等同于，在</a:t>
            </a:r>
            <a:r>
              <a:rPr lang="en-US" altLang="zh-CN" sz="1200" dirty="0">
                <a:solidFill>
                  <a:schemeClr val="accent1"/>
                </a:solidFill>
                <a:latin typeface="ui-monospace"/>
                <a:sym typeface="Wingdings 2" panose="05020102010507070707" pitchFamily="18" charset="2"/>
              </a:rPr>
              <a:t>(</a:t>
            </a:r>
            <a:r>
              <a:rPr lang="zh-CN" altLang="en-US" sz="1200" dirty="0">
                <a:solidFill>
                  <a:schemeClr val="accent1"/>
                </a:solidFill>
                <a:latin typeface="ui-monospace"/>
                <a:sym typeface="Wingdings 2" panose="05020102010507070707" pitchFamily="18" charset="2"/>
              </a:rPr>
              <a:t>或</a:t>
            </a:r>
            <a:r>
              <a:rPr lang="en-US" altLang="zh-CN" sz="1200" dirty="0">
                <a:solidFill>
                  <a:schemeClr val="accent1"/>
                </a:solidFill>
                <a:latin typeface="ui-monospace"/>
                <a:sym typeface="Wingdings 2" panose="05020102010507070707" pitchFamily="18" charset="2"/>
              </a:rPr>
              <a:t>)</a:t>
            </a:r>
            <a:r>
              <a:rPr lang="zh-CN" altLang="en-US" sz="1200" dirty="0">
                <a:solidFill>
                  <a:schemeClr val="accent1"/>
                </a:solidFill>
                <a:latin typeface="ui-monospace"/>
                <a:sym typeface="Wingdings 2" panose="05020102010507070707" pitchFamily="18" charset="2"/>
              </a:rPr>
              <a:t>中</a:t>
            </a:r>
            <a:r>
              <a:rPr lang="zh-CN" altLang="en-US" sz="1200" dirty="0">
                <a:solidFill>
                  <a:schemeClr val="accent1"/>
                </a:solidFill>
                <a:latin typeface="ui-monospace"/>
              </a:rPr>
              <a:t>找最长公共前后缀，也就是当长度为</a:t>
            </a:r>
            <a:r>
              <a:rPr lang="en-US" altLang="zh-CN" sz="1200" dirty="0" err="1">
                <a:solidFill>
                  <a:schemeClr val="accent1"/>
                </a:solidFill>
                <a:latin typeface="ui-monospace"/>
              </a:rPr>
              <a:t>i</a:t>
            </a:r>
            <a:r>
              <a:rPr lang="zh-CN" altLang="en-US" sz="1200" dirty="0">
                <a:solidFill>
                  <a:schemeClr val="accent1"/>
                </a:solidFill>
                <a:latin typeface="ui-monospace"/>
              </a:rPr>
              <a:t>时的 </a:t>
            </a:r>
            <a:r>
              <a:rPr lang="en-US" altLang="zh-CN" sz="1200" dirty="0">
                <a:solidFill>
                  <a:schemeClr val="accent1"/>
                </a:solidFill>
                <a:latin typeface="ui-monospace"/>
              </a:rPr>
              <a:t>next[</a:t>
            </a:r>
            <a:r>
              <a:rPr lang="en-US" altLang="zh-CN" sz="1200" dirty="0" err="1">
                <a:solidFill>
                  <a:schemeClr val="accent1"/>
                </a:solidFill>
                <a:latin typeface="ui-monospace"/>
              </a:rPr>
              <a:t>i</a:t>
            </a:r>
            <a:r>
              <a:rPr lang="en-US" altLang="zh-CN" sz="1200" dirty="0">
                <a:solidFill>
                  <a:schemeClr val="accent1"/>
                </a:solidFill>
                <a:latin typeface="ui-monospace"/>
              </a:rPr>
              <a:t>]</a:t>
            </a:r>
            <a:r>
              <a:rPr lang="zh-CN" altLang="en-US" sz="1200" dirty="0">
                <a:solidFill>
                  <a:schemeClr val="accent1"/>
                </a:solidFill>
                <a:latin typeface="ui-monospace"/>
              </a:rPr>
              <a:t>，令</a:t>
            </a:r>
            <a:r>
              <a:rPr lang="en-US" altLang="zh-CN" sz="1200" dirty="0" err="1">
                <a:solidFill>
                  <a:schemeClr val="accent1"/>
                </a:solidFill>
                <a:latin typeface="ui-monospace"/>
              </a:rPr>
              <a:t>i</a:t>
            </a:r>
            <a:r>
              <a:rPr lang="en-US" altLang="zh-CN" sz="1200" dirty="0">
                <a:solidFill>
                  <a:schemeClr val="accent1"/>
                </a:solidFill>
                <a:latin typeface="ui-monospace"/>
              </a:rPr>
              <a:t>=next[</a:t>
            </a:r>
            <a:r>
              <a:rPr lang="en-US" altLang="zh-CN" sz="1200" dirty="0" err="1">
                <a:solidFill>
                  <a:schemeClr val="accent1"/>
                </a:solidFill>
                <a:latin typeface="ui-monospace"/>
              </a:rPr>
              <a:t>i</a:t>
            </a:r>
            <a:r>
              <a:rPr lang="en-US" altLang="zh-CN" sz="1200" dirty="0">
                <a:solidFill>
                  <a:schemeClr val="accent1"/>
                </a:solidFill>
                <a:latin typeface="ui-monospace"/>
              </a:rPr>
              <a:t>]</a:t>
            </a:r>
            <a:r>
              <a:rPr lang="zh-CN" altLang="en-US" sz="1200" dirty="0">
                <a:solidFill>
                  <a:schemeClr val="accent1"/>
                </a:solidFill>
                <a:latin typeface="ui-monospace"/>
              </a:rPr>
              <a:t>，继续找寻</a:t>
            </a:r>
            <a:r>
              <a:rPr lang="en-US" altLang="zh-CN" sz="1200" dirty="0">
                <a:solidFill>
                  <a:schemeClr val="accent1"/>
                </a:solidFill>
                <a:latin typeface="ui-monospace"/>
              </a:rPr>
              <a:t>p[</a:t>
            </a:r>
            <a:r>
              <a:rPr lang="en-US" altLang="zh-CN" sz="1200" dirty="0" err="1">
                <a:solidFill>
                  <a:schemeClr val="accent1"/>
                </a:solidFill>
                <a:latin typeface="ui-monospace"/>
              </a:rPr>
              <a:t>i</a:t>
            </a:r>
            <a:r>
              <a:rPr lang="en-US" altLang="zh-CN" sz="1200" dirty="0">
                <a:solidFill>
                  <a:schemeClr val="accent1"/>
                </a:solidFill>
                <a:latin typeface="ui-monospace"/>
              </a:rPr>
              <a:t>]=p[j-1]</a:t>
            </a:r>
            <a:endParaRPr lang="en-US" sz="1200" dirty="0">
              <a:solidFill>
                <a:schemeClr val="accent1"/>
              </a:solidFill>
              <a:latin typeface="ui-monospace"/>
            </a:endParaRPr>
          </a:p>
        </p:txBody>
      </p:sp>
      <p:pic>
        <p:nvPicPr>
          <p:cNvPr id="2254" name="Picture 2253">
            <a:extLst>
              <a:ext uri="{FF2B5EF4-FFF2-40B4-BE49-F238E27FC236}">
                <a16:creationId xmlns:a16="http://schemas.microsoft.com/office/drawing/2014/main" id="{0D5E9529-B8F6-C4BE-13BF-94201468623C}"/>
              </a:ext>
            </a:extLst>
          </p:cNvPr>
          <p:cNvPicPr>
            <a:picLocks noChangeAspect="1"/>
          </p:cNvPicPr>
          <p:nvPr/>
        </p:nvPicPr>
        <p:blipFill>
          <a:blip r:embed="rId10"/>
          <a:stretch>
            <a:fillRect/>
          </a:stretch>
        </p:blipFill>
        <p:spPr>
          <a:xfrm>
            <a:off x="9054873" y="5171283"/>
            <a:ext cx="2965421" cy="423051"/>
          </a:xfrm>
          <a:prstGeom prst="rect">
            <a:avLst/>
          </a:prstGeom>
        </p:spPr>
      </p:pic>
      <p:sp>
        <p:nvSpPr>
          <p:cNvPr id="21" name="TextBox 20">
            <a:extLst>
              <a:ext uri="{FF2B5EF4-FFF2-40B4-BE49-F238E27FC236}">
                <a16:creationId xmlns:a16="http://schemas.microsoft.com/office/drawing/2014/main" id="{86A03FCE-3E2F-73CA-1B07-A239A0A17B6F}"/>
              </a:ext>
            </a:extLst>
          </p:cNvPr>
          <p:cNvSpPr txBox="1"/>
          <p:nvPr/>
        </p:nvSpPr>
        <p:spPr>
          <a:xfrm>
            <a:off x="7732457" y="5567740"/>
            <a:ext cx="2749805" cy="1200329"/>
          </a:xfrm>
          <a:prstGeom prst="rect">
            <a:avLst/>
          </a:prstGeom>
          <a:noFill/>
        </p:spPr>
        <p:txBody>
          <a:bodyPr wrap="square">
            <a:spAutoFit/>
          </a:bodyPr>
          <a:lstStyle/>
          <a:p>
            <a:r>
              <a:rPr lang="zh-CN" altLang="en-US" sz="1200" dirty="0">
                <a:solidFill>
                  <a:schemeClr val="accent1"/>
                </a:solidFill>
                <a:latin typeface="ui-monospace"/>
              </a:rPr>
              <a:t>回到</a:t>
            </a:r>
            <a:r>
              <a:rPr lang="en-US" altLang="zh-CN" sz="1200" dirty="0">
                <a:solidFill>
                  <a:schemeClr val="accent1"/>
                </a:solidFill>
                <a:latin typeface="ui-monospace"/>
              </a:rPr>
              <a:t>KMP</a:t>
            </a:r>
            <a:r>
              <a:rPr lang="zh-CN" altLang="en-US" sz="1200" dirty="0">
                <a:solidFill>
                  <a:schemeClr val="accent1"/>
                </a:solidFill>
                <a:latin typeface="ui-monospace"/>
              </a:rPr>
              <a:t>算法，当匹配到主串</a:t>
            </a:r>
            <a:r>
              <a:rPr lang="en-US" altLang="zh-CN" sz="1200" dirty="0">
                <a:solidFill>
                  <a:schemeClr val="accent1"/>
                </a:solidFill>
                <a:latin typeface="ui-monospace"/>
              </a:rPr>
              <a:t>s[</a:t>
            </a:r>
            <a:r>
              <a:rPr lang="en-US" altLang="zh-CN" sz="1200" dirty="0" err="1">
                <a:solidFill>
                  <a:schemeClr val="accent1"/>
                </a:solidFill>
                <a:latin typeface="ui-monospace"/>
              </a:rPr>
              <a:t>i</a:t>
            </a:r>
            <a:r>
              <a:rPr lang="en-US" altLang="zh-CN" sz="1200" dirty="0">
                <a:solidFill>
                  <a:schemeClr val="accent1"/>
                </a:solidFill>
                <a:latin typeface="ui-monospace"/>
              </a:rPr>
              <a:t>]</a:t>
            </a:r>
            <a:r>
              <a:rPr lang="zh-CN" altLang="en-US" sz="1200" dirty="0">
                <a:solidFill>
                  <a:schemeClr val="accent1"/>
                </a:solidFill>
                <a:latin typeface="ui-monospace"/>
              </a:rPr>
              <a:t>和字串</a:t>
            </a:r>
            <a:r>
              <a:rPr lang="en-US" altLang="zh-CN" sz="1200" dirty="0">
                <a:solidFill>
                  <a:schemeClr val="accent1"/>
                </a:solidFill>
                <a:latin typeface="ui-monospace"/>
              </a:rPr>
              <a:t>p[j]</a:t>
            </a:r>
            <a:r>
              <a:rPr lang="zh-CN" altLang="en-US" sz="1200" dirty="0">
                <a:solidFill>
                  <a:schemeClr val="accent1"/>
                </a:solidFill>
                <a:latin typeface="ui-monospace"/>
              </a:rPr>
              <a:t>不相同时，不同于暴力方式下偏移一个位置后再依次比对，可以转换为求</a:t>
            </a:r>
            <a:r>
              <a:rPr lang="en-US" altLang="zh-CN" sz="1200" dirty="0">
                <a:solidFill>
                  <a:schemeClr val="accent1"/>
                </a:solidFill>
                <a:latin typeface="ui-monospace"/>
                <a:sym typeface="Wingdings 2" panose="05020102010507070707" pitchFamily="18" charset="2"/>
              </a:rPr>
              <a:t></a:t>
            </a:r>
            <a:r>
              <a:rPr lang="zh-CN" altLang="en-US" sz="1200" dirty="0">
                <a:solidFill>
                  <a:schemeClr val="accent1"/>
                </a:solidFill>
                <a:latin typeface="ui-monospace"/>
                <a:sym typeface="Wingdings 2" panose="05020102010507070707" pitchFamily="18" charset="2"/>
              </a:rPr>
              <a:t>区域的最长公共前后缀，将字串偏移相应位置后再依次匹配后续字符</a:t>
            </a:r>
            <a:endParaRPr lang="en-US" sz="1200" dirty="0">
              <a:solidFill>
                <a:schemeClr val="accent1"/>
              </a:solidFill>
              <a:latin typeface="ui-monospace"/>
            </a:endParaRPr>
          </a:p>
        </p:txBody>
      </p:sp>
      <p:pic>
        <p:nvPicPr>
          <p:cNvPr id="2320" name="Picture 2319">
            <a:extLst>
              <a:ext uri="{FF2B5EF4-FFF2-40B4-BE49-F238E27FC236}">
                <a16:creationId xmlns:a16="http://schemas.microsoft.com/office/drawing/2014/main" id="{8D494628-EE0D-34AA-FBD4-EF653BD71023}"/>
              </a:ext>
            </a:extLst>
          </p:cNvPr>
          <p:cNvPicPr>
            <a:picLocks noChangeAspect="1"/>
          </p:cNvPicPr>
          <p:nvPr/>
        </p:nvPicPr>
        <p:blipFill>
          <a:blip r:embed="rId11"/>
          <a:stretch>
            <a:fillRect/>
          </a:stretch>
        </p:blipFill>
        <p:spPr>
          <a:xfrm>
            <a:off x="10434018" y="6158460"/>
            <a:ext cx="1655127" cy="732482"/>
          </a:xfrm>
          <a:prstGeom prst="rect">
            <a:avLst/>
          </a:prstGeom>
        </p:spPr>
      </p:pic>
      <p:pic>
        <p:nvPicPr>
          <p:cNvPr id="2356" name="Picture 2355">
            <a:extLst>
              <a:ext uri="{FF2B5EF4-FFF2-40B4-BE49-F238E27FC236}">
                <a16:creationId xmlns:a16="http://schemas.microsoft.com/office/drawing/2014/main" id="{8252AEC3-D378-EBDE-0C50-1313DC7382B1}"/>
              </a:ext>
            </a:extLst>
          </p:cNvPr>
          <p:cNvPicPr>
            <a:picLocks noChangeAspect="1"/>
          </p:cNvPicPr>
          <p:nvPr/>
        </p:nvPicPr>
        <p:blipFill>
          <a:blip r:embed="rId12"/>
          <a:stretch>
            <a:fillRect/>
          </a:stretch>
        </p:blipFill>
        <p:spPr>
          <a:xfrm>
            <a:off x="10434017" y="5495973"/>
            <a:ext cx="1655127" cy="732482"/>
          </a:xfrm>
          <a:prstGeom prst="rect">
            <a:avLst/>
          </a:prstGeom>
        </p:spPr>
      </p:pic>
      <p:sp>
        <p:nvSpPr>
          <p:cNvPr id="22" name="TextBox 21">
            <a:extLst>
              <a:ext uri="{FF2B5EF4-FFF2-40B4-BE49-F238E27FC236}">
                <a16:creationId xmlns:a16="http://schemas.microsoft.com/office/drawing/2014/main" id="{A2D0B00B-6FC6-7695-343C-F93E32A157BC}"/>
              </a:ext>
            </a:extLst>
          </p:cNvPr>
          <p:cNvSpPr txBox="1"/>
          <p:nvPr/>
        </p:nvSpPr>
        <p:spPr>
          <a:xfrm>
            <a:off x="3189560" y="5947515"/>
            <a:ext cx="4281578" cy="830997"/>
          </a:xfrm>
          <a:prstGeom prst="rect">
            <a:avLst/>
          </a:prstGeom>
          <a:noFill/>
        </p:spPr>
        <p:txBody>
          <a:bodyPr wrap="square">
            <a:spAutoFit/>
          </a:bodyPr>
          <a:lstStyle/>
          <a:p>
            <a:r>
              <a:rPr lang="zh-CN" altLang="en-US" sz="1200" dirty="0">
                <a:solidFill>
                  <a:schemeClr val="accent1"/>
                </a:solidFill>
              </a:rPr>
              <a:t>均可使用</a:t>
            </a:r>
            <a:r>
              <a:rPr lang="zh-CN" altLang="en-US" sz="1200" b="1" dirty="0">
                <a:solidFill>
                  <a:schemeClr val="accent1"/>
                </a:solidFill>
              </a:rPr>
              <a:t>顺序存储</a:t>
            </a:r>
            <a:r>
              <a:rPr lang="zh-CN" altLang="en-US" sz="1200" dirty="0">
                <a:solidFill>
                  <a:schemeClr val="accent1"/>
                </a:solidFill>
              </a:rPr>
              <a:t>和</a:t>
            </a:r>
            <a:r>
              <a:rPr lang="zh-CN" altLang="en-US" sz="1200" b="1" dirty="0">
                <a:solidFill>
                  <a:schemeClr val="accent1"/>
                </a:solidFill>
              </a:rPr>
              <a:t>链式存储</a:t>
            </a:r>
            <a:endParaRPr lang="en-US" altLang="zh-CN" sz="1200" b="1" dirty="0">
              <a:solidFill>
                <a:schemeClr val="accent1"/>
              </a:solidFill>
            </a:endParaRPr>
          </a:p>
          <a:p>
            <a:r>
              <a:rPr lang="zh-CN" altLang="en-US" sz="1200" b="1" dirty="0">
                <a:solidFill>
                  <a:schemeClr val="accent1"/>
                </a:solidFill>
              </a:rPr>
              <a:t>循环队列</a:t>
            </a:r>
            <a:r>
              <a:rPr lang="zh-CN" altLang="en-US" sz="1200" dirty="0">
                <a:solidFill>
                  <a:schemeClr val="accent1"/>
                </a:solidFill>
              </a:rPr>
              <a:t>：将队列存储空间的最后一个位置绕到第一个位置，形成逻辑上的环状空间，避免</a:t>
            </a:r>
            <a:r>
              <a:rPr lang="zh-CN" altLang="en-US" sz="1200" b="1" dirty="0">
                <a:solidFill>
                  <a:schemeClr val="accent1"/>
                </a:solidFill>
              </a:rPr>
              <a:t>假溢出</a:t>
            </a:r>
            <a:r>
              <a:rPr lang="zh-CN" altLang="en-US" sz="1200" dirty="0">
                <a:solidFill>
                  <a:schemeClr val="accent1"/>
                </a:solidFill>
              </a:rPr>
              <a:t> </a:t>
            </a:r>
            <a:endParaRPr lang="en-US" altLang="zh-CN" sz="1200" dirty="0">
              <a:solidFill>
                <a:schemeClr val="accent1"/>
              </a:solidFill>
            </a:endParaRPr>
          </a:p>
          <a:p>
            <a:r>
              <a:rPr lang="zh-CN" altLang="en-US" sz="1200" dirty="0">
                <a:solidFill>
                  <a:schemeClr val="accent1"/>
                </a:solidFill>
              </a:rPr>
              <a:t>栈的应用：</a:t>
            </a:r>
            <a:r>
              <a:rPr lang="zh-CN" altLang="en-US" sz="1200" b="1" dirty="0">
                <a:solidFill>
                  <a:schemeClr val="accent1"/>
                </a:solidFill>
              </a:rPr>
              <a:t>递归</a:t>
            </a:r>
            <a:r>
              <a:rPr lang="zh-CN" altLang="en-US" sz="1200" dirty="0">
                <a:solidFill>
                  <a:schemeClr val="accent1"/>
                </a:solidFill>
              </a:rPr>
              <a:t> 表达式计算等</a:t>
            </a:r>
            <a:endParaRPr lang="en-US" sz="1200" dirty="0">
              <a:solidFill>
                <a:schemeClr val="accent1"/>
              </a:solidFill>
            </a:endParaRPr>
          </a:p>
        </p:txBody>
      </p:sp>
    </p:spTree>
    <p:extLst>
      <p:ext uri="{BB962C8B-B14F-4D97-AF65-F5344CB8AC3E}">
        <p14:creationId xmlns:p14="http://schemas.microsoft.com/office/powerpoint/2010/main" val="4213739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CA83C5-434B-C2BB-C03E-FEA77C2BBB11}"/>
              </a:ext>
            </a:extLst>
          </p:cNvPr>
          <p:cNvSpPr txBox="1"/>
          <p:nvPr/>
        </p:nvSpPr>
        <p:spPr>
          <a:xfrm>
            <a:off x="0" y="959472"/>
            <a:ext cx="2986206" cy="600164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线性结构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i="0" u="none" strike="noStrike" kern="1200" cap="none" spc="0" normalizeH="0" baseline="0" noProof="0" dirty="0">
                <a:ln>
                  <a:noFill/>
                </a:ln>
                <a:effectLst/>
                <a:uLnTx/>
                <a:uFillTx/>
                <a:latin typeface="Arial" panose="020B0604020202020204" pitchFamily="34" charset="0"/>
                <a:ea typeface="Punctuation SC"/>
                <a:cs typeface="+mn-cs"/>
              </a:rPr>
              <a:t>线性表 </a:t>
            </a:r>
            <a:r>
              <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i="0" u="none" strike="noStrike" kern="1200" cap="none" spc="0" normalizeH="0" baseline="0" noProof="0" dirty="0">
                <a:ln>
                  <a:noFill/>
                </a:ln>
                <a:effectLst/>
                <a:uLnTx/>
                <a:uFillTx/>
                <a:latin typeface="Arial" panose="020B0604020202020204" pitchFamily="34" charset="0"/>
                <a:ea typeface="Punctuation SC"/>
                <a:cs typeface="+mn-cs"/>
              </a:rPr>
              <a:t>顺序表、链表</a:t>
            </a:r>
            <a:r>
              <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栈和队列</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串</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effectLst/>
                <a:uLnTx/>
                <a:uFillTx/>
                <a:latin typeface="Arial" panose="020B0604020202020204" pitchFamily="34" charset="0"/>
                <a:ea typeface="Punctuation SC"/>
                <a:cs typeface="+mn-cs"/>
              </a:rPr>
              <a:t>数组、矩阵、广义表</a:t>
            </a:r>
            <a:endPar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1" i="0" u="none" strike="noStrike" kern="1200" cap="none" spc="0" normalizeH="0" baseline="0" noProof="0" dirty="0">
                <a:ln>
                  <a:noFill/>
                </a:ln>
                <a:effectLst/>
                <a:uLnTx/>
                <a:uFillTx/>
                <a:latin typeface="Arial" panose="020B0604020202020204" pitchFamily="34" charset="0"/>
                <a:ea typeface="Punctuation SC"/>
                <a:cs typeface="+mn-cs"/>
              </a:rPr>
              <a:t>数组</a:t>
            </a:r>
            <a:endPar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kumimoji="0" lang="zh-CN" altLang="en-US" sz="1200" b="1" i="0" u="none" strike="noStrike" kern="1200" cap="none" spc="0" normalizeH="0" baseline="0" noProof="0" dirty="0">
                <a:ln>
                  <a:noFill/>
                </a:ln>
                <a:effectLst/>
                <a:uLnTx/>
                <a:uFillTx/>
                <a:latin typeface="Arial" panose="020B0604020202020204" pitchFamily="34" charset="0"/>
                <a:ea typeface="Punctuation SC"/>
                <a:cs typeface="+mn-cs"/>
              </a:rPr>
              <a:t>矩阵</a:t>
            </a:r>
            <a:endPar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1" i="0" u="none" strike="noStrike" kern="1200" cap="none" spc="0" normalizeH="0" baseline="0" noProof="0" dirty="0">
                <a:ln>
                  <a:noFill/>
                </a:ln>
                <a:effectLst/>
                <a:uLnTx/>
                <a:uFillTx/>
                <a:latin typeface="Arial" panose="020B0604020202020204" pitchFamily="34" charset="0"/>
                <a:ea typeface="Punctuation SC"/>
                <a:cs typeface="+mn-cs"/>
              </a:rPr>
              <a:t>广义表</a:t>
            </a:r>
            <a:endPar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effectLst/>
                <a:uLnTx/>
                <a:uFillTx/>
                <a:latin typeface="Arial" panose="020B0604020202020204" pitchFamily="34" charset="0"/>
                <a:ea typeface="Punctuation SC"/>
                <a:cs typeface="+mn-cs"/>
              </a:rPr>
              <a:t>树</a:t>
            </a:r>
            <a:endPar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树与二叉树</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性质和存储</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遍历</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线索二叉树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最优二叉树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森林</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图</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定义和存储</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遍历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生成树和最小生成树</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拓扑排序和关键路径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最短路径</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查找算法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静态查找表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动态查找表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哈希表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排序算法</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简单排序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希尔排序</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快速排序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堆排序</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归并排序</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F6E8EA44-BACD-2DF7-D1BB-48B659756CE3}"/>
              </a:ext>
            </a:extLst>
          </p:cNvPr>
          <p:cNvSpPr txBox="1"/>
          <p:nvPr/>
        </p:nvSpPr>
        <p:spPr>
          <a:xfrm>
            <a:off x="11473" y="218648"/>
            <a:ext cx="1620957"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数据结构</a:t>
            </a:r>
            <a:endParaRPr lang="en-US" dirty="0"/>
          </a:p>
        </p:txBody>
      </p:sp>
      <p:cxnSp>
        <p:nvCxnSpPr>
          <p:cNvPr id="7" name="Straight Connector 6">
            <a:extLst>
              <a:ext uri="{FF2B5EF4-FFF2-40B4-BE49-F238E27FC236}">
                <a16:creationId xmlns:a16="http://schemas.microsoft.com/office/drawing/2014/main" id="{A7CFB97A-E7E7-BB6E-4BA9-8E7CB22DC8F7}"/>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1" name="Group 10">
            <a:extLst>
              <a:ext uri="{FF2B5EF4-FFF2-40B4-BE49-F238E27FC236}">
                <a16:creationId xmlns:a16="http://schemas.microsoft.com/office/drawing/2014/main" id="{98BD0C93-DD89-25A7-1553-E3F85FE0D7B8}"/>
              </a:ext>
            </a:extLst>
          </p:cNvPr>
          <p:cNvGrpSpPr/>
          <p:nvPr/>
        </p:nvGrpSpPr>
        <p:grpSpPr>
          <a:xfrm>
            <a:off x="3106164" y="151546"/>
            <a:ext cx="4386653" cy="941593"/>
            <a:chOff x="7614613" y="5950488"/>
            <a:chExt cx="4386653" cy="941593"/>
          </a:xfrm>
        </p:grpSpPr>
        <p:sp>
          <p:nvSpPr>
            <p:cNvPr id="12" name="Rectangle: Rounded Corners 11">
              <a:extLst>
                <a:ext uri="{FF2B5EF4-FFF2-40B4-BE49-F238E27FC236}">
                  <a16:creationId xmlns:a16="http://schemas.microsoft.com/office/drawing/2014/main" id="{01574168-1441-BE9C-0656-1623F1FA4E3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▶数组 </a:t>
              </a:r>
              <a:r>
                <a:rPr lang="en-US" altLang="zh-CN" sz="1200" dirty="0">
                  <a:solidFill>
                    <a:schemeClr val="bg1"/>
                  </a:solidFill>
                  <a:latin typeface="ui-monospace"/>
                </a:rPr>
                <a:t>array</a:t>
              </a:r>
              <a:endParaRPr lang="en-US" sz="1200" dirty="0">
                <a:solidFill>
                  <a:schemeClr val="bg1"/>
                </a:solidFill>
              </a:endParaRPr>
            </a:p>
          </p:txBody>
        </p:sp>
        <p:sp>
          <p:nvSpPr>
            <p:cNvPr id="13" name="TextBox 12">
              <a:extLst>
                <a:ext uri="{FF2B5EF4-FFF2-40B4-BE49-F238E27FC236}">
                  <a16:creationId xmlns:a16="http://schemas.microsoft.com/office/drawing/2014/main" id="{99A4E7D9-2F45-730B-49F2-2D0574D0A953}"/>
                </a:ext>
              </a:extLst>
            </p:cNvPr>
            <p:cNvSpPr txBox="1"/>
            <p:nvPr/>
          </p:nvSpPr>
          <p:spPr>
            <a:xfrm>
              <a:off x="7667294" y="6245750"/>
              <a:ext cx="2400540" cy="646331"/>
            </a:xfrm>
            <a:prstGeom prst="rect">
              <a:avLst/>
            </a:prstGeom>
            <a:noFill/>
          </p:spPr>
          <p:txBody>
            <a:bodyPr wrap="square">
              <a:spAutoFit/>
            </a:bodyPr>
            <a:lstStyle/>
            <a:p>
              <a:r>
                <a:rPr lang="zh-CN" altLang="en-US" sz="1200" dirty="0">
                  <a:solidFill>
                    <a:schemeClr val="accent1"/>
                  </a:solidFill>
                  <a:latin typeface="ui-monospace"/>
                </a:rPr>
                <a:t>存储于一个连续空间且具有</a:t>
              </a:r>
              <a:r>
                <a:rPr lang="zh-CN" altLang="en-US" sz="1200" b="1" dirty="0">
                  <a:solidFill>
                    <a:schemeClr val="accent1"/>
                  </a:solidFill>
                  <a:latin typeface="ui-monospace"/>
                </a:rPr>
                <a:t>相同数据类型</a:t>
              </a:r>
              <a:r>
                <a:rPr lang="zh-CN" altLang="en-US" sz="1200" dirty="0">
                  <a:solidFill>
                    <a:schemeClr val="accent1"/>
                  </a:solidFill>
                  <a:latin typeface="ui-monospace"/>
                </a:rPr>
                <a:t>的元素集合，可通过</a:t>
              </a:r>
              <a:r>
                <a:rPr lang="zh-CN" altLang="en-US" sz="1200" b="1" dirty="0">
                  <a:solidFill>
                    <a:schemeClr val="accent1"/>
                  </a:solidFill>
                  <a:latin typeface="ui-monospace"/>
                </a:rPr>
                <a:t>索引</a:t>
              </a:r>
              <a:r>
                <a:rPr lang="en-US" altLang="zh-CN" sz="1200" b="1" dirty="0">
                  <a:solidFill>
                    <a:schemeClr val="accent1"/>
                  </a:solidFill>
                  <a:latin typeface="ui-monospace"/>
                </a:rPr>
                <a:t>(</a:t>
              </a:r>
              <a:r>
                <a:rPr lang="zh-CN" altLang="en-US" sz="1200" b="1" dirty="0">
                  <a:solidFill>
                    <a:schemeClr val="accent1"/>
                  </a:solidFill>
                  <a:latin typeface="ui-monospace"/>
                </a:rPr>
                <a:t>下标</a:t>
              </a:r>
              <a:r>
                <a:rPr lang="en-US" altLang="zh-CN" sz="1200" b="1" dirty="0">
                  <a:solidFill>
                    <a:schemeClr val="accent1"/>
                  </a:solidFill>
                  <a:latin typeface="ui-monospace"/>
                </a:rPr>
                <a:t>)</a:t>
              </a:r>
              <a:r>
                <a:rPr lang="zh-CN" altLang="en-US" sz="1200" dirty="0">
                  <a:solidFill>
                    <a:schemeClr val="accent1"/>
                  </a:solidFill>
                  <a:latin typeface="ui-monospace"/>
                </a:rPr>
                <a:t>来访问元素</a:t>
              </a:r>
              <a:endParaRPr lang="en-US" sz="1200" dirty="0">
                <a:solidFill>
                  <a:schemeClr val="accent1"/>
                </a:solidFill>
              </a:endParaRPr>
            </a:p>
          </p:txBody>
        </p:sp>
      </p:grpSp>
      <p:grpSp>
        <p:nvGrpSpPr>
          <p:cNvPr id="14" name="Group 13">
            <a:extLst>
              <a:ext uri="{FF2B5EF4-FFF2-40B4-BE49-F238E27FC236}">
                <a16:creationId xmlns:a16="http://schemas.microsoft.com/office/drawing/2014/main" id="{5B4E26C1-0201-23F8-2BCB-C5049651CA54}"/>
              </a:ext>
            </a:extLst>
          </p:cNvPr>
          <p:cNvGrpSpPr/>
          <p:nvPr/>
        </p:nvGrpSpPr>
        <p:grpSpPr>
          <a:xfrm>
            <a:off x="7679921" y="149450"/>
            <a:ext cx="4386653" cy="1126259"/>
            <a:chOff x="7614613" y="5950488"/>
            <a:chExt cx="4386653" cy="1126259"/>
          </a:xfrm>
        </p:grpSpPr>
        <p:sp>
          <p:nvSpPr>
            <p:cNvPr id="15" name="Rectangle: Rounded Corners 14">
              <a:extLst>
                <a:ext uri="{FF2B5EF4-FFF2-40B4-BE49-F238E27FC236}">
                  <a16:creationId xmlns:a16="http://schemas.microsoft.com/office/drawing/2014/main" id="{C8F3528E-AC5F-DB44-EF32-EAA0A41FEA2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▶树的性质</a:t>
              </a:r>
              <a:endParaRPr lang="en-US" altLang="zh-CN" sz="1200" dirty="0">
                <a:solidFill>
                  <a:schemeClr val="bg1"/>
                </a:solidFill>
                <a:latin typeface="ui-monospace"/>
              </a:endParaRPr>
            </a:p>
          </p:txBody>
        </p:sp>
        <p:sp>
          <p:nvSpPr>
            <p:cNvPr id="16" name="TextBox 15">
              <a:extLst>
                <a:ext uri="{FF2B5EF4-FFF2-40B4-BE49-F238E27FC236}">
                  <a16:creationId xmlns:a16="http://schemas.microsoft.com/office/drawing/2014/main" id="{79FC3330-7375-B3A4-F904-B63F170EC04B}"/>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性质</a:t>
              </a:r>
              <a:r>
                <a:rPr lang="en-US" altLang="zh-CN" sz="1200" dirty="0">
                  <a:solidFill>
                    <a:schemeClr val="accent1"/>
                  </a:solidFill>
                  <a:latin typeface="ui-monospace"/>
                </a:rPr>
                <a:t>1</a:t>
              </a:r>
              <a:r>
                <a:rPr lang="zh-CN" altLang="en-US" sz="1200" dirty="0">
                  <a:solidFill>
                    <a:schemeClr val="accent1"/>
                  </a:solidFill>
                  <a:latin typeface="ui-monospace"/>
                </a:rPr>
                <a:t>：树中的节点总数等于树中所有节点的度数之和</a:t>
              </a:r>
              <a:r>
                <a:rPr lang="en-US" altLang="zh-CN" sz="1200" dirty="0">
                  <a:solidFill>
                    <a:schemeClr val="accent1"/>
                  </a:solidFill>
                  <a:latin typeface="ui-monospace"/>
                </a:rPr>
                <a:t>+1</a:t>
              </a:r>
            </a:p>
            <a:p>
              <a:r>
                <a:rPr lang="zh-CN" altLang="en-US" sz="1200" dirty="0">
                  <a:solidFill>
                    <a:schemeClr val="accent1"/>
                  </a:solidFill>
                  <a:latin typeface="ui-monospace"/>
                </a:rPr>
                <a:t>性质</a:t>
              </a:r>
              <a:r>
                <a:rPr lang="en-US" altLang="zh-CN" sz="1200" dirty="0">
                  <a:solidFill>
                    <a:schemeClr val="accent1"/>
                  </a:solidFill>
                  <a:latin typeface="ui-monospace"/>
                </a:rPr>
                <a:t>2</a:t>
              </a:r>
              <a:r>
                <a:rPr lang="zh-CN" altLang="en-US" sz="1200" dirty="0">
                  <a:solidFill>
                    <a:schemeClr val="accent1"/>
                  </a:solidFill>
                  <a:latin typeface="ui-monospace"/>
                </a:rPr>
                <a:t>：度为</a:t>
              </a:r>
              <a:r>
                <a:rPr lang="en-US" altLang="zh-CN" sz="1200" dirty="0">
                  <a:solidFill>
                    <a:schemeClr val="accent1"/>
                  </a:solidFill>
                  <a:latin typeface="ui-monospace"/>
                </a:rPr>
                <a:t>m</a:t>
              </a:r>
              <a:r>
                <a:rPr lang="zh-CN" altLang="en-US" sz="1200" dirty="0">
                  <a:solidFill>
                    <a:schemeClr val="accent1"/>
                  </a:solidFill>
                  <a:latin typeface="ui-monospace"/>
                </a:rPr>
                <a:t>的树中第 </a:t>
              </a:r>
              <a:r>
                <a:rPr lang="en-US" altLang="zh-CN" sz="1200" dirty="0" err="1">
                  <a:solidFill>
                    <a:schemeClr val="accent1"/>
                  </a:solidFill>
                  <a:latin typeface="ui-monospace"/>
                </a:rPr>
                <a:t>i</a:t>
              </a:r>
              <a:r>
                <a:rPr lang="en-US" altLang="zh-CN" sz="1200" dirty="0">
                  <a:solidFill>
                    <a:schemeClr val="accent1"/>
                  </a:solidFill>
                  <a:latin typeface="ui-monospace"/>
                </a:rPr>
                <a:t> </a:t>
              </a:r>
              <a:r>
                <a:rPr lang="zh-CN" altLang="en-US" sz="1200" dirty="0">
                  <a:solidFill>
                    <a:schemeClr val="accent1"/>
                  </a:solidFill>
                  <a:latin typeface="ui-monospace"/>
                </a:rPr>
                <a:t>层 </a:t>
              </a:r>
              <a:r>
                <a:rPr lang="en-US" altLang="zh-CN" sz="1200" dirty="0">
                  <a:solidFill>
                    <a:schemeClr val="accent1"/>
                  </a:solidFill>
                  <a:latin typeface="ui-monospace"/>
                </a:rPr>
                <a:t>(i≥1)</a:t>
              </a:r>
              <a:r>
                <a:rPr lang="zh-CN" altLang="en-US" sz="1200" dirty="0">
                  <a:solidFill>
                    <a:schemeClr val="accent1"/>
                  </a:solidFill>
                  <a:latin typeface="ui-monospace"/>
                </a:rPr>
                <a:t>上至多有 </a:t>
              </a:r>
              <a:r>
                <a:rPr lang="en-US" altLang="zh-CN" sz="1200" dirty="0">
                  <a:solidFill>
                    <a:schemeClr val="accent1"/>
                  </a:solidFill>
                  <a:latin typeface="ui-monospace"/>
                </a:rPr>
                <a:t>m</a:t>
              </a:r>
              <a:r>
                <a:rPr lang="en-US" altLang="zh-CN" sz="1200" baseline="30000" dirty="0">
                  <a:solidFill>
                    <a:schemeClr val="accent1"/>
                  </a:solidFill>
                  <a:latin typeface="ui-monospace"/>
                </a:rPr>
                <a:t>i-1 </a:t>
              </a:r>
              <a:r>
                <a:rPr lang="zh-CN" altLang="en-US" sz="1200" dirty="0">
                  <a:solidFill>
                    <a:schemeClr val="accent1"/>
                  </a:solidFill>
                  <a:latin typeface="ui-monospace"/>
                </a:rPr>
                <a:t>个节点</a:t>
              </a:r>
              <a:endParaRPr lang="en-US" altLang="zh-CN" sz="1200" dirty="0">
                <a:solidFill>
                  <a:schemeClr val="accent1"/>
                </a:solidFill>
                <a:latin typeface="ui-monospace"/>
              </a:endParaRPr>
            </a:p>
            <a:p>
              <a:r>
                <a:rPr lang="zh-CN" altLang="en-US" sz="1200" dirty="0">
                  <a:solidFill>
                    <a:schemeClr val="accent1"/>
                  </a:solidFill>
                  <a:latin typeface="ui-monospace"/>
                </a:rPr>
                <a:t>性质</a:t>
              </a:r>
              <a:r>
                <a:rPr lang="en-US" altLang="zh-CN" sz="1200" dirty="0">
                  <a:solidFill>
                    <a:schemeClr val="accent1"/>
                  </a:solidFill>
                  <a:latin typeface="ui-monospace"/>
                </a:rPr>
                <a:t>3</a:t>
              </a:r>
              <a:r>
                <a:rPr lang="zh-CN" altLang="en-US" sz="1200" dirty="0">
                  <a:solidFill>
                    <a:schemeClr val="accent1"/>
                  </a:solidFill>
                  <a:latin typeface="ui-monospace"/>
                </a:rPr>
                <a:t>：高度为</a:t>
              </a:r>
              <a:r>
                <a:rPr lang="en-US" altLang="zh-CN" sz="1200" dirty="0">
                  <a:solidFill>
                    <a:schemeClr val="accent1"/>
                  </a:solidFill>
                  <a:latin typeface="ui-monospace"/>
                </a:rPr>
                <a:t>h</a:t>
              </a:r>
              <a:r>
                <a:rPr lang="zh-CN" altLang="en-US" sz="1200" dirty="0">
                  <a:solidFill>
                    <a:schemeClr val="accent1"/>
                  </a:solidFill>
                  <a:latin typeface="ui-monospace"/>
                </a:rPr>
                <a:t>的</a:t>
              </a:r>
              <a:r>
                <a:rPr lang="en-US" altLang="zh-CN" sz="1200" dirty="0">
                  <a:solidFill>
                    <a:schemeClr val="accent1"/>
                  </a:solidFill>
                  <a:latin typeface="ui-monospace"/>
                </a:rPr>
                <a:t>m</a:t>
              </a:r>
              <a:r>
                <a:rPr lang="zh-CN" altLang="en-US" sz="1200" dirty="0">
                  <a:solidFill>
                    <a:schemeClr val="accent1"/>
                  </a:solidFill>
                  <a:latin typeface="ui-monospace"/>
                </a:rPr>
                <a:t>次树至多有 </a:t>
              </a:r>
              <a:r>
                <a:rPr lang="en-US" altLang="zh-CN" sz="1200" dirty="0">
                  <a:solidFill>
                    <a:schemeClr val="accent1"/>
                  </a:solidFill>
                  <a:latin typeface="ui-monospace"/>
                </a:rPr>
                <a:t>m</a:t>
              </a:r>
              <a:r>
                <a:rPr lang="en-US" altLang="zh-CN" sz="1200" baseline="30000" dirty="0">
                  <a:solidFill>
                    <a:schemeClr val="accent1"/>
                  </a:solidFill>
                  <a:latin typeface="ui-monospace"/>
                </a:rPr>
                <a:t>h</a:t>
              </a:r>
              <a:r>
                <a:rPr lang="en-US" altLang="zh-CN" sz="1200" dirty="0">
                  <a:solidFill>
                    <a:schemeClr val="accent1"/>
                  </a:solidFill>
                  <a:latin typeface="ui-monospace"/>
                </a:rPr>
                <a:t>-1 / m -1 </a:t>
              </a:r>
              <a:r>
                <a:rPr lang="zh-CN" altLang="en-US" sz="1200" dirty="0">
                  <a:solidFill>
                    <a:schemeClr val="accent1"/>
                  </a:solidFill>
                  <a:latin typeface="ui-monospace"/>
                </a:rPr>
                <a:t>个节点</a:t>
              </a:r>
              <a:endParaRPr lang="en-US" altLang="zh-CN" sz="1200" dirty="0">
                <a:solidFill>
                  <a:schemeClr val="accent1"/>
                </a:solidFill>
                <a:latin typeface="ui-monospace"/>
              </a:endParaRPr>
            </a:p>
            <a:p>
              <a:r>
                <a:rPr lang="zh-CN" altLang="en-US" sz="1200" dirty="0">
                  <a:solidFill>
                    <a:schemeClr val="accent1"/>
                  </a:solidFill>
                  <a:latin typeface="ui-monospace"/>
                </a:rPr>
                <a:t>性质</a:t>
              </a:r>
              <a:r>
                <a:rPr lang="en-US" altLang="zh-CN" sz="1200" dirty="0">
                  <a:solidFill>
                    <a:schemeClr val="accent1"/>
                  </a:solidFill>
                  <a:latin typeface="ui-monospace"/>
                </a:rPr>
                <a:t>4</a:t>
              </a:r>
              <a:r>
                <a:rPr lang="zh-CN" altLang="en-US" sz="1200" dirty="0">
                  <a:solidFill>
                    <a:schemeClr val="accent1"/>
                  </a:solidFill>
                  <a:latin typeface="ui-monospace"/>
                </a:rPr>
                <a:t>：具有</a:t>
              </a:r>
              <a:r>
                <a:rPr lang="en-US" altLang="zh-CN" sz="1200" dirty="0">
                  <a:solidFill>
                    <a:schemeClr val="accent1"/>
                  </a:solidFill>
                  <a:latin typeface="ui-monospace"/>
                </a:rPr>
                <a:t>n</a:t>
              </a:r>
              <a:r>
                <a:rPr lang="zh-CN" altLang="en-US" sz="1200" dirty="0">
                  <a:solidFill>
                    <a:schemeClr val="accent1"/>
                  </a:solidFill>
                  <a:latin typeface="ui-monospace"/>
                </a:rPr>
                <a:t>个节点度为</a:t>
              </a:r>
              <a:r>
                <a:rPr lang="en-US" altLang="zh-CN" sz="1200" dirty="0">
                  <a:solidFill>
                    <a:schemeClr val="accent1"/>
                  </a:solidFill>
                  <a:latin typeface="ui-monospace"/>
                </a:rPr>
                <a:t>m</a:t>
              </a:r>
              <a:r>
                <a:rPr lang="zh-CN" altLang="en-US" sz="1200" dirty="0">
                  <a:solidFill>
                    <a:schemeClr val="accent1"/>
                  </a:solidFill>
                  <a:latin typeface="ui-monospace"/>
                </a:rPr>
                <a:t>的树的最小高度为</a:t>
              </a:r>
              <a:r>
                <a:rPr lang="en-US" altLang="zh-CN" sz="1200" dirty="0">
                  <a:solidFill>
                    <a:schemeClr val="accent1"/>
                  </a:solidFill>
                  <a:latin typeface="ui-monospace"/>
                </a:rPr>
                <a:t>[</a:t>
              </a:r>
              <a:r>
                <a:rPr lang="en-US" altLang="zh-CN" sz="1200" dirty="0" err="1">
                  <a:solidFill>
                    <a:schemeClr val="accent1"/>
                  </a:solidFill>
                  <a:latin typeface="ui-monospace"/>
                </a:rPr>
                <a:t>log</a:t>
              </a:r>
              <a:r>
                <a:rPr lang="en-US" altLang="zh-CN" sz="1200" baseline="-25000" dirty="0" err="1">
                  <a:solidFill>
                    <a:schemeClr val="accent1"/>
                  </a:solidFill>
                  <a:latin typeface="ui-monospace"/>
                </a:rPr>
                <a:t>m</a:t>
              </a:r>
              <a:r>
                <a:rPr lang="en-US" altLang="zh-CN" sz="1200" dirty="0">
                  <a:solidFill>
                    <a:schemeClr val="accent1"/>
                  </a:solidFill>
                  <a:latin typeface="ui-monospace"/>
                </a:rPr>
                <a:t>(n(m-1)+1)]</a:t>
              </a:r>
              <a:endParaRPr lang="en-US" sz="1200" dirty="0">
                <a:solidFill>
                  <a:schemeClr val="accent1"/>
                </a:solidFill>
                <a:latin typeface="ui-monospace"/>
              </a:endParaRPr>
            </a:p>
          </p:txBody>
        </p:sp>
      </p:grpSp>
      <p:pic>
        <p:nvPicPr>
          <p:cNvPr id="2257" name="Picture 2256">
            <a:extLst>
              <a:ext uri="{FF2B5EF4-FFF2-40B4-BE49-F238E27FC236}">
                <a16:creationId xmlns:a16="http://schemas.microsoft.com/office/drawing/2014/main" id="{3CB0B8CF-6121-1445-B92D-E760B3144F84}"/>
              </a:ext>
            </a:extLst>
          </p:cNvPr>
          <p:cNvPicPr>
            <a:picLocks noChangeAspect="1"/>
          </p:cNvPicPr>
          <p:nvPr/>
        </p:nvPicPr>
        <p:blipFill>
          <a:blip r:embed="rId2"/>
          <a:stretch>
            <a:fillRect/>
          </a:stretch>
        </p:blipFill>
        <p:spPr>
          <a:xfrm>
            <a:off x="5540938" y="474855"/>
            <a:ext cx="1828644" cy="814887"/>
          </a:xfrm>
          <a:prstGeom prst="rect">
            <a:avLst/>
          </a:prstGeom>
        </p:spPr>
      </p:pic>
      <p:grpSp>
        <p:nvGrpSpPr>
          <p:cNvPr id="4" name="Group 3">
            <a:extLst>
              <a:ext uri="{FF2B5EF4-FFF2-40B4-BE49-F238E27FC236}">
                <a16:creationId xmlns:a16="http://schemas.microsoft.com/office/drawing/2014/main" id="{7C2CC9AA-9389-E429-E516-2009743CAEC6}"/>
              </a:ext>
            </a:extLst>
          </p:cNvPr>
          <p:cNvGrpSpPr/>
          <p:nvPr/>
        </p:nvGrpSpPr>
        <p:grpSpPr>
          <a:xfrm>
            <a:off x="3106164" y="1280882"/>
            <a:ext cx="4386653" cy="941593"/>
            <a:chOff x="7614613" y="5950488"/>
            <a:chExt cx="4386653" cy="941593"/>
          </a:xfrm>
        </p:grpSpPr>
        <p:sp>
          <p:nvSpPr>
            <p:cNvPr id="5" name="Rectangle: Rounded Corners 4">
              <a:extLst>
                <a:ext uri="{FF2B5EF4-FFF2-40B4-BE49-F238E27FC236}">
                  <a16:creationId xmlns:a16="http://schemas.microsoft.com/office/drawing/2014/main" id="{DFA2F5F1-5326-F05D-1373-3CD99020DFF1}"/>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▶矩阵 </a:t>
              </a:r>
              <a:r>
                <a:rPr lang="en-US" altLang="zh-CN" sz="1200" dirty="0">
                  <a:solidFill>
                    <a:schemeClr val="bg1"/>
                  </a:solidFill>
                  <a:latin typeface="ui-monospace"/>
                </a:rPr>
                <a:t>matrices</a:t>
              </a:r>
              <a:endParaRPr lang="en-US" sz="1200" dirty="0">
                <a:solidFill>
                  <a:schemeClr val="bg1"/>
                </a:solidFill>
              </a:endParaRPr>
            </a:p>
          </p:txBody>
        </p:sp>
        <p:sp>
          <p:nvSpPr>
            <p:cNvPr id="8" name="TextBox 7">
              <a:extLst>
                <a:ext uri="{FF2B5EF4-FFF2-40B4-BE49-F238E27FC236}">
                  <a16:creationId xmlns:a16="http://schemas.microsoft.com/office/drawing/2014/main" id="{40A1670D-58BE-A195-ECD6-B879A0E97369}"/>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具有</a:t>
              </a:r>
              <a:r>
                <a:rPr lang="en-US" altLang="zh-CN" sz="1200" dirty="0">
                  <a:solidFill>
                    <a:schemeClr val="accent1"/>
                  </a:solidFill>
                  <a:latin typeface="ui-monospace"/>
                </a:rPr>
                <a:t>m</a:t>
              </a:r>
              <a:r>
                <a:rPr lang="zh-CN" altLang="en-US" sz="1200" dirty="0">
                  <a:solidFill>
                    <a:schemeClr val="accent1"/>
                  </a:solidFill>
                  <a:latin typeface="ui-monospace"/>
                </a:rPr>
                <a:t>行</a:t>
              </a:r>
              <a:r>
                <a:rPr lang="en-US" altLang="zh-CN" sz="1200" dirty="0">
                  <a:solidFill>
                    <a:schemeClr val="accent1"/>
                  </a:solidFill>
                  <a:latin typeface="ui-monospace"/>
                </a:rPr>
                <a:t>n</a:t>
              </a:r>
              <a:r>
                <a:rPr lang="zh-CN" altLang="en-US" sz="1200" dirty="0">
                  <a:solidFill>
                    <a:schemeClr val="accent1"/>
                  </a:solidFill>
                  <a:latin typeface="ui-monospace"/>
                </a:rPr>
                <a:t>列的二维数组</a:t>
              </a:r>
              <a:endParaRPr lang="en-US" altLang="zh-CN" sz="1200" dirty="0">
                <a:solidFill>
                  <a:schemeClr val="accent1"/>
                </a:solidFill>
                <a:latin typeface="ui-monospace"/>
              </a:endParaRPr>
            </a:p>
            <a:p>
              <a:r>
                <a:rPr lang="zh-CN" altLang="en-US" sz="1200" dirty="0">
                  <a:solidFill>
                    <a:schemeClr val="accent1"/>
                  </a:solidFill>
                  <a:latin typeface="ui-monospace"/>
                </a:rPr>
                <a:t>存储方式：按行优先，按列优先</a:t>
              </a:r>
              <a:endParaRPr lang="en-US" altLang="zh-CN" sz="1200" dirty="0">
                <a:solidFill>
                  <a:schemeClr val="accent1"/>
                </a:solidFill>
                <a:latin typeface="ui-monospace"/>
              </a:endParaRPr>
            </a:p>
            <a:p>
              <a:r>
                <a:rPr lang="zh-CN" altLang="en-US" sz="1200" dirty="0">
                  <a:solidFill>
                    <a:schemeClr val="accent1"/>
                  </a:solidFill>
                  <a:latin typeface="ui-monospace"/>
                </a:rPr>
                <a:t>压缩存储，以按行存储为例</a:t>
              </a:r>
              <a:endParaRPr lang="en-US" altLang="zh-CN" sz="1200" dirty="0">
                <a:solidFill>
                  <a:schemeClr val="accent1"/>
                </a:solidFill>
                <a:latin typeface="ui-monospace"/>
              </a:endParaRPr>
            </a:p>
          </p:txBody>
        </p:sp>
      </p:grpSp>
      <p:pic>
        <p:nvPicPr>
          <p:cNvPr id="2341" name="Picture 2340">
            <a:extLst>
              <a:ext uri="{FF2B5EF4-FFF2-40B4-BE49-F238E27FC236}">
                <a16:creationId xmlns:a16="http://schemas.microsoft.com/office/drawing/2014/main" id="{7FD2D65F-0449-357D-B5DC-960F8F6DF5AC}"/>
              </a:ext>
            </a:extLst>
          </p:cNvPr>
          <p:cNvPicPr>
            <a:picLocks noChangeAspect="1"/>
          </p:cNvPicPr>
          <p:nvPr/>
        </p:nvPicPr>
        <p:blipFill>
          <a:blip r:embed="rId3"/>
          <a:stretch>
            <a:fillRect/>
          </a:stretch>
        </p:blipFill>
        <p:spPr>
          <a:xfrm>
            <a:off x="6503903" y="1625305"/>
            <a:ext cx="944337" cy="827912"/>
          </a:xfrm>
          <a:prstGeom prst="rect">
            <a:avLst/>
          </a:prstGeom>
        </p:spPr>
      </p:pic>
      <p:pic>
        <p:nvPicPr>
          <p:cNvPr id="2366" name="Picture 2365">
            <a:extLst>
              <a:ext uri="{FF2B5EF4-FFF2-40B4-BE49-F238E27FC236}">
                <a16:creationId xmlns:a16="http://schemas.microsoft.com/office/drawing/2014/main" id="{C2D2ACFB-8FFD-03A3-BD21-968412B9ECB2}"/>
              </a:ext>
            </a:extLst>
          </p:cNvPr>
          <p:cNvPicPr>
            <a:picLocks noChangeAspect="1"/>
          </p:cNvPicPr>
          <p:nvPr/>
        </p:nvPicPr>
        <p:blipFill>
          <a:blip r:embed="rId4"/>
          <a:stretch>
            <a:fillRect/>
          </a:stretch>
        </p:blipFill>
        <p:spPr>
          <a:xfrm>
            <a:off x="3208796" y="2272899"/>
            <a:ext cx="739256" cy="951145"/>
          </a:xfrm>
          <a:prstGeom prst="rect">
            <a:avLst/>
          </a:prstGeom>
        </p:spPr>
      </p:pic>
      <p:pic>
        <p:nvPicPr>
          <p:cNvPr id="2127" name="Picture 2126">
            <a:extLst>
              <a:ext uri="{FF2B5EF4-FFF2-40B4-BE49-F238E27FC236}">
                <a16:creationId xmlns:a16="http://schemas.microsoft.com/office/drawing/2014/main" id="{BB72AAD8-A6AB-17AD-F5B7-4500B87A6DB3}"/>
              </a:ext>
            </a:extLst>
          </p:cNvPr>
          <p:cNvPicPr>
            <a:picLocks noChangeAspect="1"/>
          </p:cNvPicPr>
          <p:nvPr/>
        </p:nvPicPr>
        <p:blipFill>
          <a:blip r:embed="rId5"/>
          <a:stretch>
            <a:fillRect/>
          </a:stretch>
        </p:blipFill>
        <p:spPr>
          <a:xfrm>
            <a:off x="3898672" y="2224041"/>
            <a:ext cx="1725996" cy="961883"/>
          </a:xfrm>
          <a:prstGeom prst="rect">
            <a:avLst/>
          </a:prstGeom>
        </p:spPr>
      </p:pic>
      <p:pic>
        <p:nvPicPr>
          <p:cNvPr id="2134" name="Picture 2133">
            <a:extLst>
              <a:ext uri="{FF2B5EF4-FFF2-40B4-BE49-F238E27FC236}">
                <a16:creationId xmlns:a16="http://schemas.microsoft.com/office/drawing/2014/main" id="{9727C5D9-808B-8D0B-D52B-A6E19B8CE689}"/>
              </a:ext>
            </a:extLst>
          </p:cNvPr>
          <p:cNvPicPr>
            <a:picLocks noChangeAspect="1"/>
          </p:cNvPicPr>
          <p:nvPr/>
        </p:nvPicPr>
        <p:blipFill>
          <a:blip r:embed="rId6"/>
          <a:stretch>
            <a:fillRect/>
          </a:stretch>
        </p:blipFill>
        <p:spPr>
          <a:xfrm>
            <a:off x="5726148" y="2288139"/>
            <a:ext cx="758091" cy="951146"/>
          </a:xfrm>
          <a:prstGeom prst="rect">
            <a:avLst/>
          </a:prstGeom>
        </p:spPr>
      </p:pic>
      <p:pic>
        <p:nvPicPr>
          <p:cNvPr id="2137" name="Picture 2136">
            <a:extLst>
              <a:ext uri="{FF2B5EF4-FFF2-40B4-BE49-F238E27FC236}">
                <a16:creationId xmlns:a16="http://schemas.microsoft.com/office/drawing/2014/main" id="{8F617D9F-62A3-CDE5-E0C5-51CB57167AA0}"/>
              </a:ext>
            </a:extLst>
          </p:cNvPr>
          <p:cNvPicPr>
            <a:picLocks noChangeAspect="1"/>
          </p:cNvPicPr>
          <p:nvPr/>
        </p:nvPicPr>
        <p:blipFill>
          <a:blip r:embed="rId7"/>
          <a:stretch>
            <a:fillRect/>
          </a:stretch>
        </p:blipFill>
        <p:spPr>
          <a:xfrm>
            <a:off x="6448859" y="2475550"/>
            <a:ext cx="1051084" cy="385239"/>
          </a:xfrm>
          <a:prstGeom prst="rect">
            <a:avLst/>
          </a:prstGeom>
        </p:spPr>
      </p:pic>
      <p:pic>
        <p:nvPicPr>
          <p:cNvPr id="2253" name="Picture 2252">
            <a:extLst>
              <a:ext uri="{FF2B5EF4-FFF2-40B4-BE49-F238E27FC236}">
                <a16:creationId xmlns:a16="http://schemas.microsoft.com/office/drawing/2014/main" id="{8E6AD749-92B1-B6A3-C7CC-E23BE0100808}"/>
              </a:ext>
            </a:extLst>
          </p:cNvPr>
          <p:cNvPicPr>
            <a:picLocks noChangeAspect="1"/>
          </p:cNvPicPr>
          <p:nvPr/>
        </p:nvPicPr>
        <p:blipFill>
          <a:blip r:embed="rId8"/>
          <a:stretch>
            <a:fillRect/>
          </a:stretch>
        </p:blipFill>
        <p:spPr>
          <a:xfrm>
            <a:off x="6581763" y="2877665"/>
            <a:ext cx="824536" cy="2024963"/>
          </a:xfrm>
          <a:prstGeom prst="rect">
            <a:avLst/>
          </a:prstGeom>
        </p:spPr>
      </p:pic>
      <p:pic>
        <p:nvPicPr>
          <p:cNvPr id="2258" name="Picture 2257">
            <a:extLst>
              <a:ext uri="{FF2B5EF4-FFF2-40B4-BE49-F238E27FC236}">
                <a16:creationId xmlns:a16="http://schemas.microsoft.com/office/drawing/2014/main" id="{CDDCE69E-0CBF-FFD8-EA4C-8ADA1605E449}"/>
              </a:ext>
            </a:extLst>
          </p:cNvPr>
          <p:cNvPicPr>
            <a:picLocks noChangeAspect="1"/>
          </p:cNvPicPr>
          <p:nvPr/>
        </p:nvPicPr>
        <p:blipFill>
          <a:blip r:embed="rId9"/>
          <a:stretch>
            <a:fillRect/>
          </a:stretch>
        </p:blipFill>
        <p:spPr>
          <a:xfrm>
            <a:off x="3179101" y="3205588"/>
            <a:ext cx="1769084" cy="1693880"/>
          </a:xfrm>
          <a:prstGeom prst="rect">
            <a:avLst/>
          </a:prstGeom>
        </p:spPr>
      </p:pic>
      <p:pic>
        <p:nvPicPr>
          <p:cNvPr id="2275" name="Picture 2274">
            <a:extLst>
              <a:ext uri="{FF2B5EF4-FFF2-40B4-BE49-F238E27FC236}">
                <a16:creationId xmlns:a16="http://schemas.microsoft.com/office/drawing/2014/main" id="{418745CB-D39E-D1CC-51F1-076DB5E57BB1}"/>
              </a:ext>
            </a:extLst>
          </p:cNvPr>
          <p:cNvPicPr>
            <a:picLocks noChangeAspect="1"/>
          </p:cNvPicPr>
          <p:nvPr/>
        </p:nvPicPr>
        <p:blipFill>
          <a:blip r:embed="rId10"/>
          <a:stretch>
            <a:fillRect/>
          </a:stretch>
        </p:blipFill>
        <p:spPr>
          <a:xfrm>
            <a:off x="5540938" y="4130353"/>
            <a:ext cx="864067" cy="401999"/>
          </a:xfrm>
          <a:prstGeom prst="rect">
            <a:avLst/>
          </a:prstGeom>
        </p:spPr>
      </p:pic>
      <p:grpSp>
        <p:nvGrpSpPr>
          <p:cNvPr id="20" name="Group 19">
            <a:extLst>
              <a:ext uri="{FF2B5EF4-FFF2-40B4-BE49-F238E27FC236}">
                <a16:creationId xmlns:a16="http://schemas.microsoft.com/office/drawing/2014/main" id="{E488D599-F882-2344-1F5F-2867F6E25BB9}"/>
              </a:ext>
            </a:extLst>
          </p:cNvPr>
          <p:cNvGrpSpPr/>
          <p:nvPr/>
        </p:nvGrpSpPr>
        <p:grpSpPr>
          <a:xfrm>
            <a:off x="5145330" y="3447813"/>
            <a:ext cx="1542353" cy="646331"/>
            <a:chOff x="4983748" y="3408157"/>
            <a:chExt cx="1542353" cy="646331"/>
          </a:xfrm>
        </p:grpSpPr>
        <p:sp>
          <p:nvSpPr>
            <p:cNvPr id="17" name="TextBox 16">
              <a:extLst>
                <a:ext uri="{FF2B5EF4-FFF2-40B4-BE49-F238E27FC236}">
                  <a16:creationId xmlns:a16="http://schemas.microsoft.com/office/drawing/2014/main" id="{94275EFD-4AF9-F1F9-5E69-7AB701273D11}"/>
                </a:ext>
              </a:extLst>
            </p:cNvPr>
            <p:cNvSpPr txBox="1"/>
            <p:nvPr/>
          </p:nvSpPr>
          <p:spPr>
            <a:xfrm>
              <a:off x="4983748" y="3408157"/>
              <a:ext cx="1542353" cy="646331"/>
            </a:xfrm>
            <a:prstGeom prst="rect">
              <a:avLst/>
            </a:prstGeom>
            <a:noFill/>
          </p:spPr>
          <p:txBody>
            <a:bodyPr wrap="square">
              <a:spAutoFit/>
            </a:bodyPr>
            <a:lstStyle/>
            <a:p>
              <a:r>
                <a:rPr lang="zh-CN" altLang="en-US" sz="1200" dirty="0">
                  <a:solidFill>
                    <a:schemeClr val="accent1"/>
                  </a:solidFill>
                  <a:latin typeface="ui-monospace"/>
                </a:rPr>
                <a:t>三元组顺序表</a:t>
              </a:r>
              <a:endParaRPr lang="en-US" altLang="zh-CN" sz="1200" dirty="0">
                <a:solidFill>
                  <a:schemeClr val="accent1"/>
                </a:solidFill>
                <a:latin typeface="ui-monospace"/>
              </a:endParaRPr>
            </a:p>
            <a:p>
              <a:endParaRPr lang="en-US" altLang="zh-CN" sz="1200" dirty="0">
                <a:solidFill>
                  <a:schemeClr val="accent1"/>
                </a:solidFill>
                <a:latin typeface="ui-monospace"/>
              </a:endParaRPr>
            </a:p>
            <a:p>
              <a:r>
                <a:rPr lang="zh-CN" altLang="en-US" sz="1200" dirty="0">
                  <a:solidFill>
                    <a:schemeClr val="accent1"/>
                  </a:solidFill>
                  <a:latin typeface="ui-monospace"/>
                </a:rPr>
                <a:t>十字链表</a:t>
              </a:r>
              <a:endParaRPr lang="en-US" altLang="zh-CN" sz="1200" dirty="0">
                <a:solidFill>
                  <a:schemeClr val="accent1"/>
                </a:solidFill>
                <a:latin typeface="ui-monospace"/>
              </a:endParaRPr>
            </a:p>
          </p:txBody>
        </p:sp>
        <p:sp>
          <p:nvSpPr>
            <p:cNvPr id="18" name="Arrow: Right 17">
              <a:extLst>
                <a:ext uri="{FF2B5EF4-FFF2-40B4-BE49-F238E27FC236}">
                  <a16:creationId xmlns:a16="http://schemas.microsoft.com/office/drawing/2014/main" id="{987D45B3-A939-53E6-545C-F776CE6EDD2C}"/>
                </a:ext>
              </a:extLst>
            </p:cNvPr>
            <p:cNvSpPr/>
            <p:nvPr/>
          </p:nvSpPr>
          <p:spPr>
            <a:xfrm>
              <a:off x="6048320" y="3506872"/>
              <a:ext cx="95360" cy="69056"/>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BC9453D2-F08E-C90D-142B-41A1FC0CBFFF}"/>
                </a:ext>
              </a:extLst>
            </p:cNvPr>
            <p:cNvSpPr/>
            <p:nvPr/>
          </p:nvSpPr>
          <p:spPr>
            <a:xfrm rot="5400000">
              <a:off x="5741772" y="3899416"/>
              <a:ext cx="95360" cy="69056"/>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4BD489DC-8B94-C7D1-6F12-528FF5D22D7F}"/>
              </a:ext>
            </a:extLst>
          </p:cNvPr>
          <p:cNvGrpSpPr/>
          <p:nvPr/>
        </p:nvGrpSpPr>
        <p:grpSpPr>
          <a:xfrm>
            <a:off x="3101718" y="4938904"/>
            <a:ext cx="4386653" cy="941593"/>
            <a:chOff x="7614613" y="5950488"/>
            <a:chExt cx="4386653" cy="941593"/>
          </a:xfrm>
        </p:grpSpPr>
        <p:sp>
          <p:nvSpPr>
            <p:cNvPr id="22" name="Rectangle: Rounded Corners 21">
              <a:extLst>
                <a:ext uri="{FF2B5EF4-FFF2-40B4-BE49-F238E27FC236}">
                  <a16:creationId xmlns:a16="http://schemas.microsoft.com/office/drawing/2014/main" id="{314DC867-8258-275E-D964-BE8D0887683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▶树 </a:t>
              </a:r>
              <a:r>
                <a:rPr lang="en-US" altLang="zh-CN" sz="1200" dirty="0">
                  <a:solidFill>
                    <a:schemeClr val="bg1"/>
                  </a:solidFill>
                  <a:latin typeface="ui-monospace"/>
                </a:rPr>
                <a:t>tree</a:t>
              </a:r>
              <a:endParaRPr lang="en-US" sz="1200" dirty="0">
                <a:solidFill>
                  <a:schemeClr val="bg1"/>
                </a:solidFill>
              </a:endParaRPr>
            </a:p>
          </p:txBody>
        </p:sp>
        <p:sp>
          <p:nvSpPr>
            <p:cNvPr id="23" name="TextBox 22">
              <a:extLst>
                <a:ext uri="{FF2B5EF4-FFF2-40B4-BE49-F238E27FC236}">
                  <a16:creationId xmlns:a16="http://schemas.microsoft.com/office/drawing/2014/main" id="{5EEA33BF-A8E1-7974-CE2A-4A98417A69BF}"/>
                </a:ext>
              </a:extLst>
            </p:cNvPr>
            <p:cNvSpPr txBox="1"/>
            <p:nvPr/>
          </p:nvSpPr>
          <p:spPr>
            <a:xfrm>
              <a:off x="7667293" y="6245750"/>
              <a:ext cx="3050759" cy="646331"/>
            </a:xfrm>
            <a:prstGeom prst="rect">
              <a:avLst/>
            </a:prstGeom>
            <a:noFill/>
          </p:spPr>
          <p:txBody>
            <a:bodyPr wrap="square">
              <a:spAutoFit/>
            </a:bodyPr>
            <a:lstStyle/>
            <a:p>
              <a:r>
                <a:rPr lang="zh-CN" altLang="en-US" sz="1200" dirty="0">
                  <a:solidFill>
                    <a:schemeClr val="accent1"/>
                  </a:solidFill>
                  <a:latin typeface="ui-monospace"/>
                </a:rPr>
                <a:t>一种</a:t>
              </a:r>
              <a:r>
                <a:rPr lang="zh-CN" altLang="en-US" sz="1200" b="1" dirty="0">
                  <a:solidFill>
                    <a:schemeClr val="accent1"/>
                  </a:solidFill>
                  <a:latin typeface="ui-monospace"/>
                </a:rPr>
                <a:t> 非线性 </a:t>
              </a:r>
              <a:r>
                <a:rPr lang="zh-CN" altLang="en-US" sz="1200" dirty="0">
                  <a:solidFill>
                    <a:schemeClr val="accent1"/>
                  </a:solidFill>
                  <a:latin typeface="ui-monospace"/>
                </a:rPr>
                <a:t>的数据结构，由一个</a:t>
              </a:r>
              <a:r>
                <a:rPr lang="zh-CN" altLang="en-US" sz="1200" b="1" dirty="0">
                  <a:solidFill>
                    <a:schemeClr val="accent1"/>
                  </a:solidFill>
                  <a:latin typeface="ui-monospace"/>
                </a:rPr>
                <a:t>根节点</a:t>
              </a:r>
              <a:r>
                <a:rPr lang="en-US" altLang="zh-CN" sz="1200" b="1" dirty="0">
                  <a:solidFill>
                    <a:schemeClr val="accent1"/>
                  </a:solidFill>
                  <a:latin typeface="ui-monospace"/>
                </a:rPr>
                <a:t>(Root)</a:t>
              </a:r>
              <a:r>
                <a:rPr lang="en-US" altLang="zh-CN" sz="1200" dirty="0">
                  <a:solidFill>
                    <a:schemeClr val="accent1"/>
                  </a:solidFill>
                  <a:latin typeface="ui-monospace"/>
                </a:rPr>
                <a:t> </a:t>
              </a:r>
              <a:r>
                <a:rPr lang="zh-CN" altLang="en-US" sz="1200" dirty="0">
                  <a:solidFill>
                    <a:schemeClr val="accent1"/>
                  </a:solidFill>
                  <a:latin typeface="ui-monospace"/>
                </a:rPr>
                <a:t>以及若干个</a:t>
              </a:r>
              <a:r>
                <a:rPr lang="zh-CN" altLang="en-US" sz="1200" b="1" dirty="0">
                  <a:solidFill>
                    <a:schemeClr val="accent1"/>
                  </a:solidFill>
                  <a:latin typeface="ui-monospace"/>
                </a:rPr>
                <a:t>子节点</a:t>
              </a:r>
              <a:r>
                <a:rPr lang="en-US" altLang="zh-CN" sz="1200" b="1" dirty="0">
                  <a:solidFill>
                    <a:schemeClr val="accent1"/>
                  </a:solidFill>
                  <a:latin typeface="ui-monospace"/>
                </a:rPr>
                <a:t>(Children)</a:t>
              </a:r>
              <a:r>
                <a:rPr lang="en-US" altLang="zh-CN" sz="1200" dirty="0">
                  <a:solidFill>
                    <a:schemeClr val="accent1"/>
                  </a:solidFill>
                  <a:latin typeface="ui-monospace"/>
                </a:rPr>
                <a:t> </a:t>
              </a:r>
              <a:r>
                <a:rPr lang="zh-CN" altLang="en-US" sz="1200" dirty="0">
                  <a:solidFill>
                    <a:schemeClr val="accent1"/>
                  </a:solidFill>
                  <a:latin typeface="ui-monospace"/>
                </a:rPr>
                <a:t>构成，节点之间存在一种 </a:t>
              </a:r>
              <a:r>
                <a:rPr lang="zh-CN" altLang="en-US" sz="1200" b="1" dirty="0">
                  <a:solidFill>
                    <a:schemeClr val="accent1"/>
                  </a:solidFill>
                  <a:latin typeface="ui-monospace"/>
                </a:rPr>
                <a:t>层级</a:t>
              </a:r>
              <a:r>
                <a:rPr lang="en-US" altLang="zh-CN" sz="1200" b="1" dirty="0">
                  <a:solidFill>
                    <a:schemeClr val="accent1"/>
                  </a:solidFill>
                  <a:latin typeface="ui-monospace"/>
                </a:rPr>
                <a:t>(Hierarchical)</a:t>
              </a:r>
              <a:r>
                <a:rPr lang="zh-CN" altLang="en-US" sz="1200" b="1" dirty="0">
                  <a:solidFill>
                    <a:schemeClr val="accent1"/>
                  </a:solidFill>
                  <a:latin typeface="ui-monospace"/>
                </a:rPr>
                <a:t>关系</a:t>
              </a:r>
              <a:endParaRPr lang="en-US" sz="1200" b="1" dirty="0">
                <a:solidFill>
                  <a:schemeClr val="accent1"/>
                </a:solidFill>
              </a:endParaRPr>
            </a:p>
          </p:txBody>
        </p:sp>
      </p:grpSp>
      <p:graphicFrame>
        <p:nvGraphicFramePr>
          <p:cNvPr id="27" name="Table 26">
            <a:extLst>
              <a:ext uri="{FF2B5EF4-FFF2-40B4-BE49-F238E27FC236}">
                <a16:creationId xmlns:a16="http://schemas.microsoft.com/office/drawing/2014/main" id="{E1C6E9AE-B3E5-A03F-96CE-42F354E66F73}"/>
              </a:ext>
            </a:extLst>
          </p:cNvPr>
          <p:cNvGraphicFramePr>
            <a:graphicFrameLocks noGrp="1"/>
          </p:cNvGraphicFramePr>
          <p:nvPr>
            <p:extLst>
              <p:ext uri="{D42A27DB-BD31-4B8C-83A1-F6EECF244321}">
                <p14:modId xmlns:p14="http://schemas.microsoft.com/office/powerpoint/2010/main" val="3268937076"/>
              </p:ext>
            </p:extLst>
          </p:nvPr>
        </p:nvGraphicFramePr>
        <p:xfrm>
          <a:off x="3145546" y="6030562"/>
          <a:ext cx="2985699" cy="685800"/>
        </p:xfrm>
        <a:graphic>
          <a:graphicData uri="http://schemas.openxmlformats.org/drawingml/2006/table">
            <a:tbl>
              <a:tblPr firstRow="1" bandRow="1">
                <a:tableStyleId>{5C22544A-7EE6-4342-B048-85BDC9FD1C3A}</a:tableStyleId>
              </a:tblPr>
              <a:tblGrid>
                <a:gridCol w="956176">
                  <a:extLst>
                    <a:ext uri="{9D8B030D-6E8A-4147-A177-3AD203B41FA5}">
                      <a16:colId xmlns:a16="http://schemas.microsoft.com/office/drawing/2014/main" val="3930132947"/>
                    </a:ext>
                  </a:extLst>
                </a:gridCol>
                <a:gridCol w="2029523">
                  <a:extLst>
                    <a:ext uri="{9D8B030D-6E8A-4147-A177-3AD203B41FA5}">
                      <a16:colId xmlns:a16="http://schemas.microsoft.com/office/drawing/2014/main" val="3896726423"/>
                    </a:ext>
                  </a:extLst>
                </a:gridCol>
              </a:tblGrid>
              <a:tr h="228589">
                <a:tc>
                  <a:txBody>
                    <a:bodyPr/>
                    <a:lstStyle/>
                    <a:p>
                      <a:r>
                        <a:rPr lang="zh-CN" altLang="en-US" sz="900" b="0" dirty="0">
                          <a:solidFill>
                            <a:sysClr val="windowText" lastClr="000000"/>
                          </a:solidFill>
                        </a:rPr>
                        <a:t>节点的度</a:t>
                      </a:r>
                      <a:endParaRPr lang="en-US" sz="900"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900" b="0" dirty="0">
                          <a:solidFill>
                            <a:sysClr val="windowText" lastClr="000000"/>
                          </a:solidFill>
                        </a:rPr>
                        <a:t>子节点的数量</a:t>
                      </a:r>
                      <a:endParaRPr lang="en-US" sz="900"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94172"/>
                  </a:ext>
                </a:extLst>
              </a:tr>
              <a:tr h="228589">
                <a:tc>
                  <a:txBody>
                    <a:bodyPr/>
                    <a:lstStyle/>
                    <a:p>
                      <a:r>
                        <a:rPr lang="zh-CN" altLang="en-US" sz="900" b="0" dirty="0">
                          <a:solidFill>
                            <a:sysClr val="windowText" lastClr="000000"/>
                          </a:solidFill>
                        </a:rPr>
                        <a:t>树的度</a:t>
                      </a:r>
                      <a:endParaRPr lang="en-US" sz="900"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900" b="0" dirty="0">
                          <a:solidFill>
                            <a:sysClr val="windowText" lastClr="000000"/>
                          </a:solidFill>
                        </a:rPr>
                        <a:t>所有节点的最大度数</a:t>
                      </a:r>
                      <a:endParaRPr lang="en-US" sz="900"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7071486"/>
                  </a:ext>
                </a:extLst>
              </a:tr>
              <a:tr h="228589">
                <a:tc>
                  <a:txBody>
                    <a:bodyPr/>
                    <a:lstStyle/>
                    <a:p>
                      <a:r>
                        <a:rPr lang="zh-CN" altLang="en-US" sz="900" b="0" dirty="0">
                          <a:solidFill>
                            <a:sysClr val="windowText" lastClr="000000"/>
                          </a:solidFill>
                        </a:rPr>
                        <a:t>树的深</a:t>
                      </a:r>
                      <a:r>
                        <a:rPr lang="en-US" altLang="zh-CN" sz="900" b="0" dirty="0">
                          <a:solidFill>
                            <a:sysClr val="windowText" lastClr="000000"/>
                          </a:solidFill>
                        </a:rPr>
                        <a:t>/</a:t>
                      </a:r>
                      <a:r>
                        <a:rPr lang="zh-CN" altLang="en-US" sz="900" b="0" dirty="0">
                          <a:solidFill>
                            <a:sysClr val="windowText" lastClr="000000"/>
                          </a:solidFill>
                        </a:rPr>
                        <a:t>高度</a:t>
                      </a:r>
                      <a:endParaRPr lang="en-US" sz="900"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900" b="0" dirty="0">
                          <a:solidFill>
                            <a:sysClr val="windowText" lastClr="000000"/>
                          </a:solidFill>
                        </a:rPr>
                        <a:t>根节点到最远叶节点的最长路径长度</a:t>
                      </a:r>
                      <a:endParaRPr lang="en-US" sz="900" b="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8476618"/>
                  </a:ext>
                </a:extLst>
              </a:tr>
            </a:tbl>
          </a:graphicData>
        </a:graphic>
      </p:graphicFrame>
      <p:pic>
        <p:nvPicPr>
          <p:cNvPr id="1037" name="Picture 1036">
            <a:extLst>
              <a:ext uri="{FF2B5EF4-FFF2-40B4-BE49-F238E27FC236}">
                <a16:creationId xmlns:a16="http://schemas.microsoft.com/office/drawing/2014/main" id="{2DEB0ADF-27B5-B142-9DF1-03C5F5EB1391}"/>
              </a:ext>
            </a:extLst>
          </p:cNvPr>
          <p:cNvPicPr>
            <a:picLocks noChangeAspect="1"/>
          </p:cNvPicPr>
          <p:nvPr/>
        </p:nvPicPr>
        <p:blipFill>
          <a:blip r:embed="rId11"/>
          <a:stretch>
            <a:fillRect/>
          </a:stretch>
        </p:blipFill>
        <p:spPr>
          <a:xfrm>
            <a:off x="6182254" y="5376986"/>
            <a:ext cx="1307317" cy="1171296"/>
          </a:xfrm>
          <a:prstGeom prst="rect">
            <a:avLst/>
          </a:prstGeom>
        </p:spPr>
      </p:pic>
      <p:grpSp>
        <p:nvGrpSpPr>
          <p:cNvPr id="9" name="Group 8">
            <a:extLst>
              <a:ext uri="{FF2B5EF4-FFF2-40B4-BE49-F238E27FC236}">
                <a16:creationId xmlns:a16="http://schemas.microsoft.com/office/drawing/2014/main" id="{221FC096-658F-8C03-5838-A7C4E7B369DD}"/>
              </a:ext>
            </a:extLst>
          </p:cNvPr>
          <p:cNvGrpSpPr/>
          <p:nvPr/>
        </p:nvGrpSpPr>
        <p:grpSpPr>
          <a:xfrm>
            <a:off x="7684837" y="1275438"/>
            <a:ext cx="4386653" cy="941593"/>
            <a:chOff x="7614613" y="5950488"/>
            <a:chExt cx="4386653" cy="941593"/>
          </a:xfrm>
        </p:grpSpPr>
        <p:sp>
          <p:nvSpPr>
            <p:cNvPr id="10" name="Rectangle: Rounded Corners 9">
              <a:extLst>
                <a:ext uri="{FF2B5EF4-FFF2-40B4-BE49-F238E27FC236}">
                  <a16:creationId xmlns:a16="http://schemas.microsoft.com/office/drawing/2014/main" id="{39F68ABF-2921-E19D-BD9B-1542F52C8C89}"/>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▶二叉树 </a:t>
              </a:r>
              <a:r>
                <a:rPr lang="en-US" altLang="zh-CN" sz="1200" dirty="0">
                  <a:solidFill>
                    <a:schemeClr val="bg1"/>
                  </a:solidFill>
                  <a:latin typeface="ui-monospace"/>
                </a:rPr>
                <a:t>binary tree</a:t>
              </a:r>
            </a:p>
          </p:txBody>
        </p:sp>
        <p:sp>
          <p:nvSpPr>
            <p:cNvPr id="24" name="TextBox 23">
              <a:extLst>
                <a:ext uri="{FF2B5EF4-FFF2-40B4-BE49-F238E27FC236}">
                  <a16:creationId xmlns:a16="http://schemas.microsoft.com/office/drawing/2014/main" id="{5436A084-4663-F49E-42A9-A7D00389D0A6}"/>
                </a:ext>
              </a:extLst>
            </p:cNvPr>
            <p:cNvSpPr txBox="1"/>
            <p:nvPr/>
          </p:nvSpPr>
          <p:spPr>
            <a:xfrm>
              <a:off x="7667294" y="6245750"/>
              <a:ext cx="1881452" cy="646331"/>
            </a:xfrm>
            <a:prstGeom prst="rect">
              <a:avLst/>
            </a:prstGeom>
            <a:noFill/>
          </p:spPr>
          <p:txBody>
            <a:bodyPr wrap="square">
              <a:spAutoFit/>
            </a:bodyPr>
            <a:lstStyle/>
            <a:p>
              <a:r>
                <a:rPr lang="zh-CN" altLang="en-US" sz="1200" dirty="0">
                  <a:solidFill>
                    <a:schemeClr val="accent1"/>
                  </a:solidFill>
                  <a:latin typeface="ui-monospace"/>
                </a:rPr>
                <a:t>每个节点最多只能有两个子节点 </a:t>
              </a:r>
              <a:r>
                <a:rPr lang="en-US" altLang="zh-CN" sz="1200" dirty="0">
                  <a:solidFill>
                    <a:schemeClr val="accent1"/>
                  </a:solidFill>
                  <a:latin typeface="ui-monospace"/>
                </a:rPr>
                <a:t>(</a:t>
              </a:r>
              <a:r>
                <a:rPr lang="zh-CN" altLang="en-US" sz="1200" dirty="0">
                  <a:solidFill>
                    <a:schemeClr val="accent1"/>
                  </a:solidFill>
                  <a:latin typeface="ui-monospace"/>
                </a:rPr>
                <a:t>度最大为</a:t>
              </a:r>
              <a:r>
                <a:rPr lang="en-US" altLang="zh-CN" sz="1200" dirty="0">
                  <a:solidFill>
                    <a:schemeClr val="accent1"/>
                  </a:solidFill>
                  <a:latin typeface="ui-monospace"/>
                </a:rPr>
                <a:t>2)</a:t>
              </a:r>
              <a:r>
                <a:rPr lang="zh-CN" altLang="en-US" sz="1200" dirty="0">
                  <a:solidFill>
                    <a:schemeClr val="accent1"/>
                  </a:solidFill>
                  <a:latin typeface="ui-monospace"/>
                </a:rPr>
                <a:t>，称为左右子树</a:t>
              </a:r>
              <a:endParaRPr lang="en-US" sz="1200" dirty="0">
                <a:solidFill>
                  <a:schemeClr val="accent1"/>
                </a:solidFill>
                <a:latin typeface="ui-monospace"/>
              </a:endParaRPr>
            </a:p>
          </p:txBody>
        </p:sp>
      </p:grpSp>
      <p:pic>
        <p:nvPicPr>
          <p:cNvPr id="25" name="Picture 24">
            <a:extLst>
              <a:ext uri="{FF2B5EF4-FFF2-40B4-BE49-F238E27FC236}">
                <a16:creationId xmlns:a16="http://schemas.microsoft.com/office/drawing/2014/main" id="{E357FD87-418C-D46C-1A22-DEAD0866E13C}"/>
              </a:ext>
            </a:extLst>
          </p:cNvPr>
          <p:cNvPicPr>
            <a:picLocks noChangeAspect="1"/>
          </p:cNvPicPr>
          <p:nvPr/>
        </p:nvPicPr>
        <p:blipFill>
          <a:blip r:embed="rId12"/>
          <a:stretch>
            <a:fillRect/>
          </a:stretch>
        </p:blipFill>
        <p:spPr>
          <a:xfrm>
            <a:off x="9242053" y="1606214"/>
            <a:ext cx="966103" cy="989106"/>
          </a:xfrm>
          <a:prstGeom prst="rect">
            <a:avLst/>
          </a:prstGeom>
        </p:spPr>
      </p:pic>
      <p:grpSp>
        <p:nvGrpSpPr>
          <p:cNvPr id="28" name="Group 27">
            <a:extLst>
              <a:ext uri="{FF2B5EF4-FFF2-40B4-BE49-F238E27FC236}">
                <a16:creationId xmlns:a16="http://schemas.microsoft.com/office/drawing/2014/main" id="{1821E176-34BF-8A01-EE31-2285D2D18502}"/>
              </a:ext>
            </a:extLst>
          </p:cNvPr>
          <p:cNvGrpSpPr/>
          <p:nvPr/>
        </p:nvGrpSpPr>
        <p:grpSpPr>
          <a:xfrm>
            <a:off x="7684837" y="2542689"/>
            <a:ext cx="4386653" cy="1126259"/>
            <a:chOff x="7614613" y="5950488"/>
            <a:chExt cx="4386653" cy="1126259"/>
          </a:xfrm>
        </p:grpSpPr>
        <p:sp>
          <p:nvSpPr>
            <p:cNvPr id="29" name="Rectangle: Rounded Corners 28">
              <a:extLst>
                <a:ext uri="{FF2B5EF4-FFF2-40B4-BE49-F238E27FC236}">
                  <a16:creationId xmlns:a16="http://schemas.microsoft.com/office/drawing/2014/main" id="{D4AC16D7-C54B-10AC-8278-F5FEE5ACEE84}"/>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▶二叉树的性质</a:t>
              </a:r>
              <a:endParaRPr lang="en-US" altLang="zh-CN" sz="1200" dirty="0">
                <a:solidFill>
                  <a:schemeClr val="bg1"/>
                </a:solidFill>
                <a:latin typeface="ui-monospace"/>
              </a:endParaRPr>
            </a:p>
          </p:txBody>
        </p:sp>
        <p:sp>
          <p:nvSpPr>
            <p:cNvPr id="30" name="TextBox 29">
              <a:extLst>
                <a:ext uri="{FF2B5EF4-FFF2-40B4-BE49-F238E27FC236}">
                  <a16:creationId xmlns:a16="http://schemas.microsoft.com/office/drawing/2014/main" id="{2304F18B-B086-42E3-096E-A061E747B8FB}"/>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性质</a:t>
              </a:r>
              <a:r>
                <a:rPr lang="en-US" altLang="zh-CN" sz="1200" dirty="0">
                  <a:solidFill>
                    <a:schemeClr val="accent1"/>
                  </a:solidFill>
                  <a:latin typeface="ui-monospace"/>
                </a:rPr>
                <a:t>1</a:t>
              </a:r>
              <a:r>
                <a:rPr lang="zh-CN" altLang="en-US" sz="1200" dirty="0">
                  <a:solidFill>
                    <a:schemeClr val="accent1"/>
                  </a:solidFill>
                  <a:latin typeface="ui-monospace"/>
                </a:rPr>
                <a:t>：二叉树第 </a:t>
              </a:r>
              <a:r>
                <a:rPr lang="en-US" altLang="zh-CN" sz="1200" dirty="0">
                  <a:solidFill>
                    <a:schemeClr val="accent1"/>
                  </a:solidFill>
                  <a:latin typeface="ui-monospace"/>
                </a:rPr>
                <a:t>I </a:t>
              </a:r>
              <a:r>
                <a:rPr lang="zh-CN" altLang="en-US" sz="1200" dirty="0">
                  <a:solidFill>
                    <a:schemeClr val="accent1"/>
                  </a:solidFill>
                  <a:latin typeface="ui-monospace"/>
                </a:rPr>
                <a:t>层 </a:t>
              </a:r>
              <a:r>
                <a:rPr lang="en-US" altLang="zh-CN" sz="1200" dirty="0">
                  <a:solidFill>
                    <a:schemeClr val="accent1"/>
                  </a:solidFill>
                  <a:latin typeface="ui-monospace"/>
                </a:rPr>
                <a:t>(i≥1)</a:t>
              </a:r>
              <a:r>
                <a:rPr lang="zh-CN" altLang="en-US" sz="1200" dirty="0">
                  <a:solidFill>
                    <a:schemeClr val="accent1"/>
                  </a:solidFill>
                  <a:latin typeface="ui-monospace"/>
                </a:rPr>
                <a:t>上最多有 </a:t>
              </a:r>
              <a:r>
                <a:rPr lang="en-US" altLang="zh-CN" sz="1200" dirty="0">
                  <a:solidFill>
                    <a:schemeClr val="accent1"/>
                  </a:solidFill>
                  <a:latin typeface="ui-monospace"/>
                </a:rPr>
                <a:t>2</a:t>
              </a:r>
              <a:r>
                <a:rPr lang="en-US" altLang="zh-CN" sz="1200" baseline="30000" dirty="0">
                  <a:solidFill>
                    <a:schemeClr val="accent1"/>
                  </a:solidFill>
                  <a:latin typeface="ui-monospace"/>
                </a:rPr>
                <a:t>i-1 </a:t>
              </a:r>
              <a:r>
                <a:rPr lang="zh-CN" altLang="en-US" sz="1200" dirty="0">
                  <a:solidFill>
                    <a:schemeClr val="accent1"/>
                  </a:solidFill>
                  <a:latin typeface="ui-monospace"/>
                </a:rPr>
                <a:t>个节点</a:t>
              </a:r>
              <a:endParaRPr lang="en-US" altLang="zh-CN" sz="1200" dirty="0">
                <a:solidFill>
                  <a:schemeClr val="accent1"/>
                </a:solidFill>
                <a:latin typeface="ui-monospace"/>
              </a:endParaRPr>
            </a:p>
            <a:p>
              <a:r>
                <a:rPr lang="zh-CN" altLang="en-US" sz="1200" dirty="0">
                  <a:solidFill>
                    <a:schemeClr val="accent1"/>
                  </a:solidFill>
                  <a:latin typeface="ui-monospace"/>
                </a:rPr>
                <a:t>性质</a:t>
              </a:r>
              <a:r>
                <a:rPr lang="en-US" altLang="zh-CN" sz="1200" dirty="0">
                  <a:solidFill>
                    <a:schemeClr val="accent1"/>
                  </a:solidFill>
                  <a:latin typeface="ui-monospace"/>
                </a:rPr>
                <a:t>2</a:t>
              </a:r>
              <a:r>
                <a:rPr lang="zh-CN" altLang="en-US" sz="1200" dirty="0">
                  <a:solidFill>
                    <a:schemeClr val="accent1"/>
                  </a:solidFill>
                  <a:latin typeface="ui-monospace"/>
                </a:rPr>
                <a:t>：高度为</a:t>
              </a:r>
              <a:r>
                <a:rPr lang="en-US" altLang="zh-CN" sz="1200" dirty="0">
                  <a:solidFill>
                    <a:schemeClr val="accent1"/>
                  </a:solidFill>
                  <a:latin typeface="ui-monospace"/>
                </a:rPr>
                <a:t>h</a:t>
              </a:r>
              <a:r>
                <a:rPr lang="zh-CN" altLang="en-US" sz="1200" dirty="0">
                  <a:solidFill>
                    <a:schemeClr val="accent1"/>
                  </a:solidFill>
                  <a:latin typeface="ui-monospace"/>
                </a:rPr>
                <a:t>的二叉树至多有 </a:t>
              </a:r>
              <a:r>
                <a:rPr lang="en-US" altLang="zh-CN" sz="1200" dirty="0">
                  <a:solidFill>
                    <a:schemeClr val="accent1"/>
                  </a:solidFill>
                  <a:latin typeface="ui-monospace"/>
                </a:rPr>
                <a:t>2</a:t>
              </a:r>
              <a:r>
                <a:rPr lang="en-US" altLang="zh-CN" sz="1200" baseline="30000" dirty="0">
                  <a:solidFill>
                    <a:schemeClr val="accent1"/>
                  </a:solidFill>
                  <a:latin typeface="ui-monospace"/>
                </a:rPr>
                <a:t>h</a:t>
              </a:r>
              <a:r>
                <a:rPr lang="en-US" altLang="zh-CN" sz="1200" dirty="0">
                  <a:solidFill>
                    <a:schemeClr val="accent1"/>
                  </a:solidFill>
                  <a:latin typeface="ui-monospace"/>
                </a:rPr>
                <a:t>-1 </a:t>
              </a:r>
              <a:r>
                <a:rPr lang="zh-CN" altLang="en-US" sz="1200" dirty="0">
                  <a:solidFill>
                    <a:schemeClr val="accent1"/>
                  </a:solidFill>
                  <a:latin typeface="ui-monospace"/>
                </a:rPr>
                <a:t>个节点</a:t>
              </a:r>
              <a:endParaRPr lang="en-US" altLang="zh-CN" sz="1200" dirty="0">
                <a:solidFill>
                  <a:schemeClr val="accent1"/>
                </a:solidFill>
                <a:latin typeface="ui-monospace"/>
              </a:endParaRPr>
            </a:p>
            <a:p>
              <a:r>
                <a:rPr lang="zh-CN" altLang="en-US" sz="1200" dirty="0">
                  <a:solidFill>
                    <a:schemeClr val="accent1"/>
                  </a:solidFill>
                  <a:latin typeface="ui-monospace"/>
                </a:rPr>
                <a:t>性质</a:t>
              </a:r>
              <a:r>
                <a:rPr lang="en-US" altLang="zh-CN" sz="1200" dirty="0">
                  <a:solidFill>
                    <a:schemeClr val="accent1"/>
                  </a:solidFill>
                  <a:latin typeface="ui-monospace"/>
                </a:rPr>
                <a:t>3</a:t>
              </a:r>
              <a:r>
                <a:rPr lang="zh-CN" altLang="en-US" sz="1200" dirty="0">
                  <a:solidFill>
                    <a:schemeClr val="accent1"/>
                  </a:solidFill>
                  <a:latin typeface="ui-monospace"/>
                </a:rPr>
                <a:t>：二叉树中度为</a:t>
              </a:r>
              <a:r>
                <a:rPr lang="en-US" altLang="zh-CN" sz="1200" dirty="0">
                  <a:solidFill>
                    <a:schemeClr val="accent1"/>
                  </a:solidFill>
                  <a:latin typeface="ui-monospace"/>
                </a:rPr>
                <a:t>0</a:t>
              </a:r>
              <a:r>
                <a:rPr lang="zh-CN" altLang="en-US" sz="1200" dirty="0">
                  <a:solidFill>
                    <a:schemeClr val="accent1"/>
                  </a:solidFill>
                  <a:latin typeface="ui-monospace"/>
                </a:rPr>
                <a:t>的节点数等于度为</a:t>
              </a:r>
              <a:r>
                <a:rPr lang="en-US" altLang="zh-CN" sz="1200" dirty="0">
                  <a:solidFill>
                    <a:schemeClr val="accent1"/>
                  </a:solidFill>
                  <a:latin typeface="ui-monospace"/>
                </a:rPr>
                <a:t>2</a:t>
              </a:r>
              <a:r>
                <a:rPr lang="zh-CN" altLang="en-US" sz="1200" dirty="0">
                  <a:solidFill>
                    <a:schemeClr val="accent1"/>
                  </a:solidFill>
                  <a:latin typeface="ui-monospace"/>
                </a:rPr>
                <a:t>的节点数</a:t>
              </a:r>
              <a:r>
                <a:rPr lang="en-US" altLang="zh-CN" sz="1200" dirty="0">
                  <a:solidFill>
                    <a:schemeClr val="accent1"/>
                  </a:solidFill>
                  <a:latin typeface="ui-monospace"/>
                </a:rPr>
                <a:t>+1</a:t>
              </a:r>
            </a:p>
            <a:p>
              <a:r>
                <a:rPr lang="zh-CN" altLang="en-US" sz="1200" dirty="0">
                  <a:solidFill>
                    <a:schemeClr val="accent1"/>
                  </a:solidFill>
                  <a:latin typeface="ui-monospace"/>
                </a:rPr>
                <a:t>性质</a:t>
              </a:r>
              <a:r>
                <a:rPr lang="en-US" altLang="zh-CN" sz="1200" dirty="0">
                  <a:solidFill>
                    <a:schemeClr val="accent1"/>
                  </a:solidFill>
                  <a:latin typeface="ui-monospace"/>
                </a:rPr>
                <a:t>4</a:t>
              </a:r>
              <a:r>
                <a:rPr lang="zh-CN" altLang="en-US" sz="1200" dirty="0">
                  <a:solidFill>
                    <a:schemeClr val="accent1"/>
                  </a:solidFill>
                  <a:latin typeface="ui-monospace"/>
                </a:rPr>
                <a:t>：有</a:t>
              </a:r>
              <a:r>
                <a:rPr lang="en-US" altLang="zh-CN" sz="1200" dirty="0">
                  <a:solidFill>
                    <a:schemeClr val="accent1"/>
                  </a:solidFill>
                  <a:latin typeface="ui-monospace"/>
                </a:rPr>
                <a:t>n</a:t>
              </a:r>
              <a:r>
                <a:rPr lang="zh-CN" altLang="en-US" sz="1200" dirty="0">
                  <a:solidFill>
                    <a:schemeClr val="accent1"/>
                  </a:solidFill>
                  <a:latin typeface="ui-monospace"/>
                </a:rPr>
                <a:t>个节点的完全二叉树高度为⌊</a:t>
              </a:r>
              <a:r>
                <a:rPr lang="en-US" altLang="zh-CN" sz="1200" dirty="0">
                  <a:solidFill>
                    <a:schemeClr val="accent1"/>
                  </a:solidFill>
                  <a:latin typeface="ui-monospace"/>
                </a:rPr>
                <a:t>log</a:t>
              </a:r>
              <a:r>
                <a:rPr lang="en-US" altLang="zh-CN" sz="1200" baseline="-25000" dirty="0">
                  <a:solidFill>
                    <a:schemeClr val="accent1"/>
                  </a:solidFill>
                  <a:latin typeface="ui-monospace"/>
                </a:rPr>
                <a:t>2</a:t>
              </a:r>
              <a:r>
                <a:rPr lang="en-US" altLang="zh-CN" sz="1200" dirty="0">
                  <a:solidFill>
                    <a:schemeClr val="accent1"/>
                  </a:solidFill>
                  <a:latin typeface="ui-monospace"/>
                </a:rPr>
                <a:t>n⌋+1</a:t>
              </a:r>
              <a:r>
                <a:rPr lang="zh-CN" altLang="en-US" sz="1200" dirty="0">
                  <a:solidFill>
                    <a:schemeClr val="accent1"/>
                  </a:solidFill>
                  <a:latin typeface="ui-monospace"/>
                </a:rPr>
                <a:t>或</a:t>
              </a:r>
              <a:r>
                <a:rPr lang="en-US" altLang="zh-CN" sz="1200" dirty="0">
                  <a:solidFill>
                    <a:schemeClr val="accent1"/>
                  </a:solidFill>
                  <a:latin typeface="ui-monospace"/>
                </a:rPr>
                <a:t>⌈log</a:t>
              </a:r>
              <a:r>
                <a:rPr lang="en-US" altLang="zh-CN" sz="1200" baseline="-25000" dirty="0">
                  <a:solidFill>
                    <a:schemeClr val="accent1"/>
                  </a:solidFill>
                  <a:latin typeface="ui-monospace"/>
                </a:rPr>
                <a:t>2</a:t>
              </a:r>
              <a:r>
                <a:rPr lang="en-US" altLang="zh-CN" sz="1200" dirty="0">
                  <a:solidFill>
                    <a:schemeClr val="accent1"/>
                  </a:solidFill>
                  <a:latin typeface="ui-monospace"/>
                </a:rPr>
                <a:t>(n+1)⌉</a:t>
              </a:r>
            </a:p>
          </p:txBody>
        </p:sp>
      </p:grpSp>
      <p:pic>
        <p:nvPicPr>
          <p:cNvPr id="2267" name="Picture 2266">
            <a:extLst>
              <a:ext uri="{FF2B5EF4-FFF2-40B4-BE49-F238E27FC236}">
                <a16:creationId xmlns:a16="http://schemas.microsoft.com/office/drawing/2014/main" id="{1B00896C-37E2-0D7B-FD6B-FF6EA53A5D7F}"/>
              </a:ext>
            </a:extLst>
          </p:cNvPr>
          <p:cNvPicPr>
            <a:picLocks noChangeAspect="1"/>
          </p:cNvPicPr>
          <p:nvPr/>
        </p:nvPicPr>
        <p:blipFill>
          <a:blip r:embed="rId13"/>
          <a:stretch>
            <a:fillRect/>
          </a:stretch>
        </p:blipFill>
        <p:spPr>
          <a:xfrm>
            <a:off x="10273141" y="1591877"/>
            <a:ext cx="838209" cy="997236"/>
          </a:xfrm>
          <a:prstGeom prst="rect">
            <a:avLst/>
          </a:prstGeom>
        </p:spPr>
      </p:pic>
      <p:grpSp>
        <p:nvGrpSpPr>
          <p:cNvPr id="31" name="Group 30">
            <a:extLst>
              <a:ext uri="{FF2B5EF4-FFF2-40B4-BE49-F238E27FC236}">
                <a16:creationId xmlns:a16="http://schemas.microsoft.com/office/drawing/2014/main" id="{DA0DF2CA-2A69-31C1-A62D-2AA4563A7317}"/>
              </a:ext>
            </a:extLst>
          </p:cNvPr>
          <p:cNvGrpSpPr/>
          <p:nvPr/>
        </p:nvGrpSpPr>
        <p:grpSpPr>
          <a:xfrm>
            <a:off x="7688911" y="3642554"/>
            <a:ext cx="4386653" cy="572261"/>
            <a:chOff x="7614613" y="5950488"/>
            <a:chExt cx="4386653" cy="572261"/>
          </a:xfrm>
        </p:grpSpPr>
        <p:sp>
          <p:nvSpPr>
            <p:cNvPr id="32" name="Rectangle: Rounded Corners 31">
              <a:extLst>
                <a:ext uri="{FF2B5EF4-FFF2-40B4-BE49-F238E27FC236}">
                  <a16:creationId xmlns:a16="http://schemas.microsoft.com/office/drawing/2014/main" id="{E6AE8F98-BCC8-86E5-7F89-5C60712E21C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▶二叉树的存储结构</a:t>
              </a:r>
              <a:endParaRPr lang="en-US" altLang="zh-CN" sz="1200" dirty="0">
                <a:solidFill>
                  <a:schemeClr val="bg1"/>
                </a:solidFill>
                <a:latin typeface="ui-monospace"/>
              </a:endParaRPr>
            </a:p>
          </p:txBody>
        </p:sp>
        <p:sp>
          <p:nvSpPr>
            <p:cNvPr id="33" name="TextBox 32">
              <a:extLst>
                <a:ext uri="{FF2B5EF4-FFF2-40B4-BE49-F238E27FC236}">
                  <a16:creationId xmlns:a16="http://schemas.microsoft.com/office/drawing/2014/main" id="{AEB1D700-8BCB-D0AB-6764-14158A70A3DF}"/>
                </a:ext>
              </a:extLst>
            </p:cNvPr>
            <p:cNvSpPr txBox="1"/>
            <p:nvPr/>
          </p:nvSpPr>
          <p:spPr>
            <a:xfrm>
              <a:off x="7667294" y="6245750"/>
              <a:ext cx="4281578" cy="276999"/>
            </a:xfrm>
            <a:prstGeom prst="rect">
              <a:avLst/>
            </a:prstGeom>
            <a:noFill/>
          </p:spPr>
          <p:txBody>
            <a:bodyPr wrap="square">
              <a:spAutoFit/>
            </a:bodyPr>
            <a:lstStyle/>
            <a:p>
              <a:endParaRPr lang="en-US" altLang="zh-CN" sz="1200" dirty="0">
                <a:solidFill>
                  <a:schemeClr val="accent1"/>
                </a:solidFill>
                <a:latin typeface="ui-monospace"/>
              </a:endParaRPr>
            </a:p>
          </p:txBody>
        </p:sp>
      </p:grpSp>
      <p:pic>
        <p:nvPicPr>
          <p:cNvPr id="2269" name="Picture 2268">
            <a:extLst>
              <a:ext uri="{FF2B5EF4-FFF2-40B4-BE49-F238E27FC236}">
                <a16:creationId xmlns:a16="http://schemas.microsoft.com/office/drawing/2014/main" id="{44E9EA4A-93D5-50F7-B6F6-1A13445E82FE}"/>
              </a:ext>
            </a:extLst>
          </p:cNvPr>
          <p:cNvPicPr>
            <a:picLocks noChangeAspect="1"/>
          </p:cNvPicPr>
          <p:nvPr/>
        </p:nvPicPr>
        <p:blipFill>
          <a:blip r:embed="rId14"/>
          <a:srcRect t="61642"/>
          <a:stretch/>
        </p:blipFill>
        <p:spPr>
          <a:xfrm>
            <a:off x="8194606" y="4579130"/>
            <a:ext cx="999474" cy="533861"/>
          </a:xfrm>
          <a:prstGeom prst="rect">
            <a:avLst/>
          </a:prstGeom>
        </p:spPr>
      </p:pic>
      <p:pic>
        <p:nvPicPr>
          <p:cNvPr id="2062" name="Picture 2061">
            <a:extLst>
              <a:ext uri="{FF2B5EF4-FFF2-40B4-BE49-F238E27FC236}">
                <a16:creationId xmlns:a16="http://schemas.microsoft.com/office/drawing/2014/main" id="{C2C89A08-65AE-1126-FC95-11635701CD63}"/>
              </a:ext>
            </a:extLst>
          </p:cNvPr>
          <p:cNvPicPr>
            <a:picLocks noChangeAspect="1"/>
          </p:cNvPicPr>
          <p:nvPr/>
        </p:nvPicPr>
        <p:blipFill>
          <a:blip r:embed="rId15"/>
          <a:stretch>
            <a:fillRect/>
          </a:stretch>
        </p:blipFill>
        <p:spPr>
          <a:xfrm>
            <a:off x="7706308" y="3986460"/>
            <a:ext cx="832230" cy="1060995"/>
          </a:xfrm>
          <a:prstGeom prst="rect">
            <a:avLst/>
          </a:prstGeom>
        </p:spPr>
      </p:pic>
      <p:pic>
        <p:nvPicPr>
          <p:cNvPr id="2087" name="Picture 2086">
            <a:extLst>
              <a:ext uri="{FF2B5EF4-FFF2-40B4-BE49-F238E27FC236}">
                <a16:creationId xmlns:a16="http://schemas.microsoft.com/office/drawing/2014/main" id="{2FDDE257-6C3A-6493-170E-44BE5D29C9B3}"/>
              </a:ext>
            </a:extLst>
          </p:cNvPr>
          <p:cNvPicPr>
            <a:picLocks noChangeAspect="1"/>
          </p:cNvPicPr>
          <p:nvPr/>
        </p:nvPicPr>
        <p:blipFill>
          <a:blip r:embed="rId16"/>
          <a:stretch>
            <a:fillRect/>
          </a:stretch>
        </p:blipFill>
        <p:spPr>
          <a:xfrm>
            <a:off x="9065626" y="4053134"/>
            <a:ext cx="1295194" cy="1060995"/>
          </a:xfrm>
          <a:prstGeom prst="rect">
            <a:avLst/>
          </a:prstGeom>
        </p:spPr>
      </p:pic>
      <p:pic>
        <p:nvPicPr>
          <p:cNvPr id="2294" name="Picture 2293">
            <a:extLst>
              <a:ext uri="{FF2B5EF4-FFF2-40B4-BE49-F238E27FC236}">
                <a16:creationId xmlns:a16="http://schemas.microsoft.com/office/drawing/2014/main" id="{DDE95CEF-2061-708C-C3FC-D6CD137F90CC}"/>
              </a:ext>
            </a:extLst>
          </p:cNvPr>
          <p:cNvPicPr>
            <a:picLocks noChangeAspect="1"/>
          </p:cNvPicPr>
          <p:nvPr/>
        </p:nvPicPr>
        <p:blipFill>
          <a:blip r:embed="rId17"/>
          <a:stretch>
            <a:fillRect/>
          </a:stretch>
        </p:blipFill>
        <p:spPr>
          <a:xfrm>
            <a:off x="10419026" y="4100150"/>
            <a:ext cx="1637378" cy="995073"/>
          </a:xfrm>
          <a:prstGeom prst="rect">
            <a:avLst/>
          </a:prstGeom>
        </p:spPr>
      </p:pic>
      <p:grpSp>
        <p:nvGrpSpPr>
          <p:cNvPr id="2295" name="Group 2294">
            <a:extLst>
              <a:ext uri="{FF2B5EF4-FFF2-40B4-BE49-F238E27FC236}">
                <a16:creationId xmlns:a16="http://schemas.microsoft.com/office/drawing/2014/main" id="{AEECE19D-F8EC-3FF7-5651-2243E55C1FA3}"/>
              </a:ext>
            </a:extLst>
          </p:cNvPr>
          <p:cNvGrpSpPr/>
          <p:nvPr/>
        </p:nvGrpSpPr>
        <p:grpSpPr>
          <a:xfrm>
            <a:off x="7679921" y="5077935"/>
            <a:ext cx="4386653" cy="1680257"/>
            <a:chOff x="7614613" y="5950488"/>
            <a:chExt cx="4386653" cy="1680257"/>
          </a:xfrm>
        </p:grpSpPr>
        <p:sp>
          <p:nvSpPr>
            <p:cNvPr id="2296" name="Rectangle: Rounded Corners 2295">
              <a:extLst>
                <a:ext uri="{FF2B5EF4-FFF2-40B4-BE49-F238E27FC236}">
                  <a16:creationId xmlns:a16="http://schemas.microsoft.com/office/drawing/2014/main" id="{76B36AFB-7DB3-0F7F-ED45-31AAC6B328B2}"/>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▶二叉树的遍历和组合构造</a:t>
              </a:r>
              <a:endParaRPr lang="en-US" altLang="zh-CN" sz="1200" dirty="0">
                <a:solidFill>
                  <a:schemeClr val="bg1"/>
                </a:solidFill>
                <a:latin typeface="ui-monospace"/>
              </a:endParaRPr>
            </a:p>
          </p:txBody>
        </p:sp>
        <p:sp>
          <p:nvSpPr>
            <p:cNvPr id="2297" name="TextBox 2296">
              <a:extLst>
                <a:ext uri="{FF2B5EF4-FFF2-40B4-BE49-F238E27FC236}">
                  <a16:creationId xmlns:a16="http://schemas.microsoft.com/office/drawing/2014/main" id="{8CBC3B40-46FF-2E1D-6315-C688D544FDE2}"/>
                </a:ext>
              </a:extLst>
            </p:cNvPr>
            <p:cNvSpPr txBox="1"/>
            <p:nvPr/>
          </p:nvSpPr>
          <p:spPr>
            <a:xfrm>
              <a:off x="7667294" y="6245750"/>
              <a:ext cx="4281578" cy="1384995"/>
            </a:xfrm>
            <a:prstGeom prst="rect">
              <a:avLst/>
            </a:prstGeom>
            <a:noFill/>
          </p:spPr>
          <p:txBody>
            <a:bodyPr wrap="square">
              <a:spAutoFit/>
            </a:bodyPr>
            <a:lstStyle/>
            <a:p>
              <a:r>
                <a:rPr lang="zh-CN" altLang="en-US" sz="1200" dirty="0">
                  <a:solidFill>
                    <a:schemeClr val="accent1"/>
                  </a:solidFill>
                  <a:latin typeface="ui-monospace"/>
                </a:rPr>
                <a:t>先序遍历：根</a:t>
              </a:r>
              <a:r>
                <a:rPr lang="en-US" altLang="zh-CN" sz="1200" dirty="0">
                  <a:solidFill>
                    <a:schemeClr val="accent1"/>
                  </a:solidFill>
                  <a:latin typeface="ui-monospace"/>
                </a:rPr>
                <a:t>&gt;</a:t>
              </a:r>
              <a:r>
                <a:rPr lang="zh-CN" altLang="en-US" sz="1200" dirty="0">
                  <a:solidFill>
                    <a:schemeClr val="accent1"/>
                  </a:solidFill>
                  <a:latin typeface="ui-monospace"/>
                </a:rPr>
                <a:t>左</a:t>
              </a:r>
              <a:r>
                <a:rPr lang="en-US" altLang="zh-CN" sz="1200" dirty="0">
                  <a:solidFill>
                    <a:schemeClr val="accent1"/>
                  </a:solidFill>
                  <a:latin typeface="ui-monospace"/>
                </a:rPr>
                <a:t>&gt;</a:t>
              </a:r>
              <a:r>
                <a:rPr lang="zh-CN" altLang="en-US" sz="1200" dirty="0">
                  <a:solidFill>
                    <a:schemeClr val="accent1"/>
                  </a:solidFill>
                  <a:latin typeface="ui-monospace"/>
                </a:rPr>
                <a:t>右 </a:t>
              </a:r>
              <a:r>
                <a:rPr lang="en-US" altLang="zh-CN" sz="1200" dirty="0">
                  <a:solidFill>
                    <a:schemeClr val="accent1"/>
                  </a:solidFill>
                  <a:latin typeface="ui-monospace"/>
                </a:rPr>
                <a:t>A B DG CEF</a:t>
              </a:r>
            </a:p>
            <a:p>
              <a:r>
                <a:rPr lang="zh-CN" altLang="en-US" sz="1200" dirty="0">
                  <a:solidFill>
                    <a:schemeClr val="accent1"/>
                  </a:solidFill>
                  <a:latin typeface="ui-monospace"/>
                </a:rPr>
                <a:t>中序遍历：左</a:t>
              </a:r>
              <a:r>
                <a:rPr lang="en-US" altLang="zh-CN" sz="1200" dirty="0">
                  <a:solidFill>
                    <a:schemeClr val="accent1"/>
                  </a:solidFill>
                  <a:latin typeface="ui-monospace"/>
                </a:rPr>
                <a:t>&gt;</a:t>
              </a:r>
              <a:r>
                <a:rPr lang="zh-CN" altLang="en-US" sz="1200" dirty="0">
                  <a:solidFill>
                    <a:schemeClr val="accent1"/>
                  </a:solidFill>
                  <a:latin typeface="ui-monospace"/>
                </a:rPr>
                <a:t>根</a:t>
              </a:r>
              <a:r>
                <a:rPr lang="en-US" altLang="zh-CN" sz="1200" dirty="0">
                  <a:solidFill>
                    <a:schemeClr val="accent1"/>
                  </a:solidFill>
                  <a:latin typeface="ui-monospace"/>
                </a:rPr>
                <a:t>&gt;</a:t>
              </a:r>
              <a:r>
                <a:rPr lang="zh-CN" altLang="en-US" sz="1200" dirty="0">
                  <a:solidFill>
                    <a:schemeClr val="accent1"/>
                  </a:solidFill>
                  <a:latin typeface="ui-monospace"/>
                </a:rPr>
                <a:t>右 </a:t>
              </a:r>
              <a:r>
                <a:rPr lang="en-US" altLang="zh-CN" sz="1200" dirty="0">
                  <a:solidFill>
                    <a:schemeClr val="accent1"/>
                  </a:solidFill>
                  <a:latin typeface="ui-monospace"/>
                </a:rPr>
                <a:t>B DG A ECF</a:t>
              </a:r>
            </a:p>
            <a:p>
              <a:r>
                <a:rPr lang="zh-CN" altLang="en-US" sz="1200" dirty="0">
                  <a:solidFill>
                    <a:schemeClr val="accent1"/>
                  </a:solidFill>
                  <a:latin typeface="ui-monospace"/>
                </a:rPr>
                <a:t>后序遍历：左</a:t>
              </a:r>
              <a:r>
                <a:rPr lang="en-US" altLang="zh-CN" sz="1200" dirty="0">
                  <a:solidFill>
                    <a:schemeClr val="accent1"/>
                  </a:solidFill>
                  <a:latin typeface="ui-monospace"/>
                </a:rPr>
                <a:t>&gt;</a:t>
              </a:r>
              <a:r>
                <a:rPr lang="zh-CN" altLang="en-US" sz="1200" dirty="0">
                  <a:solidFill>
                    <a:schemeClr val="accent1"/>
                  </a:solidFill>
                  <a:latin typeface="ui-monospace"/>
                </a:rPr>
                <a:t>右</a:t>
              </a:r>
              <a:r>
                <a:rPr lang="en-US" altLang="zh-CN" sz="1200" dirty="0">
                  <a:solidFill>
                    <a:schemeClr val="accent1"/>
                  </a:solidFill>
                  <a:latin typeface="ui-monospace"/>
                </a:rPr>
                <a:t>&gt;</a:t>
              </a:r>
              <a:r>
                <a:rPr lang="zh-CN" altLang="en-US" sz="1200" dirty="0">
                  <a:solidFill>
                    <a:schemeClr val="accent1"/>
                  </a:solidFill>
                  <a:latin typeface="ui-monospace"/>
                </a:rPr>
                <a:t>根 </a:t>
              </a:r>
              <a:r>
                <a:rPr lang="en-US" altLang="zh-CN" sz="1200" dirty="0">
                  <a:solidFill>
                    <a:schemeClr val="accent1"/>
                  </a:solidFill>
                  <a:latin typeface="ui-monospace"/>
                </a:rPr>
                <a:t>GD B EFC A</a:t>
              </a:r>
            </a:p>
            <a:p>
              <a:r>
                <a:rPr lang="zh-CN" altLang="en-US" sz="1200" dirty="0">
                  <a:solidFill>
                    <a:schemeClr val="accent1"/>
                  </a:solidFill>
                  <a:latin typeface="ui-monospace"/>
                </a:rPr>
                <a:t>层次遍历：每层依次从左往右访问 </a:t>
              </a:r>
              <a:r>
                <a:rPr lang="en-US" altLang="zh-CN" sz="1200" dirty="0">
                  <a:solidFill>
                    <a:schemeClr val="accent1"/>
                  </a:solidFill>
                  <a:latin typeface="ui-monospace"/>
                </a:rPr>
                <a:t>A BC DEF G</a:t>
              </a:r>
            </a:p>
            <a:p>
              <a:r>
                <a:rPr lang="zh-CN" altLang="en-US" sz="1200" dirty="0">
                  <a:solidFill>
                    <a:schemeClr val="accent1"/>
                  </a:solidFill>
                  <a:latin typeface="ui-monospace"/>
                </a:rPr>
                <a:t>先序</a:t>
              </a:r>
              <a:r>
                <a:rPr lang="en-US" altLang="zh-CN" sz="1200" dirty="0">
                  <a:solidFill>
                    <a:schemeClr val="accent1"/>
                  </a:solidFill>
                  <a:latin typeface="ui-monospace"/>
                </a:rPr>
                <a:t>+</a:t>
              </a:r>
              <a:r>
                <a:rPr lang="zh-CN" altLang="en-US" sz="1200" dirty="0">
                  <a:solidFill>
                    <a:schemeClr val="accent1"/>
                  </a:solidFill>
                  <a:latin typeface="ui-monospace"/>
                </a:rPr>
                <a:t>中序构造</a:t>
              </a:r>
              <a:endParaRPr lang="en-US" altLang="zh-CN" sz="1200" dirty="0">
                <a:solidFill>
                  <a:schemeClr val="accent1"/>
                </a:solidFill>
                <a:latin typeface="ui-monospace"/>
              </a:endParaRPr>
            </a:p>
            <a:p>
              <a:r>
                <a:rPr lang="zh-CN" altLang="en-US" sz="1200" dirty="0">
                  <a:solidFill>
                    <a:schemeClr val="accent1"/>
                  </a:solidFill>
                  <a:latin typeface="ui-monospace"/>
                </a:rPr>
                <a:t>后序</a:t>
              </a:r>
              <a:r>
                <a:rPr lang="en-US" altLang="zh-CN" sz="1200" dirty="0">
                  <a:solidFill>
                    <a:schemeClr val="accent1"/>
                  </a:solidFill>
                  <a:latin typeface="ui-monospace"/>
                </a:rPr>
                <a:t>+</a:t>
              </a:r>
              <a:r>
                <a:rPr lang="zh-CN" altLang="en-US" sz="1200" dirty="0">
                  <a:solidFill>
                    <a:schemeClr val="accent1"/>
                  </a:solidFill>
                  <a:latin typeface="ui-monospace"/>
                </a:rPr>
                <a:t>中序构造</a:t>
              </a:r>
              <a:endParaRPr lang="en-US" altLang="zh-CN" sz="1200" dirty="0">
                <a:solidFill>
                  <a:schemeClr val="accent1"/>
                </a:solidFill>
                <a:latin typeface="ui-monospace"/>
              </a:endParaRPr>
            </a:p>
            <a:p>
              <a:r>
                <a:rPr lang="zh-CN" altLang="en-US" sz="1200" dirty="0">
                  <a:solidFill>
                    <a:schemeClr val="accent1"/>
                  </a:solidFill>
                  <a:latin typeface="ui-monospace"/>
                </a:rPr>
                <a:t>层次</a:t>
              </a:r>
              <a:r>
                <a:rPr lang="en-US" altLang="zh-CN" sz="1200" dirty="0">
                  <a:solidFill>
                    <a:schemeClr val="accent1"/>
                  </a:solidFill>
                  <a:latin typeface="ui-monospace"/>
                </a:rPr>
                <a:t>+</a:t>
              </a:r>
              <a:r>
                <a:rPr lang="zh-CN" altLang="en-US" sz="1200" dirty="0">
                  <a:solidFill>
                    <a:schemeClr val="accent1"/>
                  </a:solidFill>
                  <a:latin typeface="ui-monospace"/>
                </a:rPr>
                <a:t>中序构造</a:t>
              </a:r>
              <a:endParaRPr lang="en-US" altLang="zh-CN" sz="1200" dirty="0">
                <a:solidFill>
                  <a:schemeClr val="accent1"/>
                </a:solidFill>
                <a:latin typeface="ui-monospace"/>
              </a:endParaRPr>
            </a:p>
          </p:txBody>
        </p:sp>
      </p:grpSp>
      <p:pic>
        <p:nvPicPr>
          <p:cNvPr id="2312" name="Picture 2311">
            <a:extLst>
              <a:ext uri="{FF2B5EF4-FFF2-40B4-BE49-F238E27FC236}">
                <a16:creationId xmlns:a16="http://schemas.microsoft.com/office/drawing/2014/main" id="{F80EA3F0-710A-4E83-C32C-3EB6D0A50576}"/>
              </a:ext>
            </a:extLst>
          </p:cNvPr>
          <p:cNvPicPr>
            <a:picLocks noChangeAspect="1"/>
          </p:cNvPicPr>
          <p:nvPr/>
        </p:nvPicPr>
        <p:blipFill>
          <a:blip r:embed="rId18"/>
          <a:stretch>
            <a:fillRect/>
          </a:stretch>
        </p:blipFill>
        <p:spPr>
          <a:xfrm>
            <a:off x="11086461" y="5464625"/>
            <a:ext cx="1035208" cy="1282065"/>
          </a:xfrm>
          <a:prstGeom prst="rect">
            <a:avLst/>
          </a:prstGeom>
        </p:spPr>
      </p:pic>
      <p:pic>
        <p:nvPicPr>
          <p:cNvPr id="2155" name="Picture 2154">
            <a:extLst>
              <a:ext uri="{FF2B5EF4-FFF2-40B4-BE49-F238E27FC236}">
                <a16:creationId xmlns:a16="http://schemas.microsoft.com/office/drawing/2014/main" id="{3C072745-75D2-95F3-5C33-A0343506EBBD}"/>
              </a:ext>
            </a:extLst>
          </p:cNvPr>
          <p:cNvPicPr>
            <a:picLocks noChangeAspect="1"/>
          </p:cNvPicPr>
          <p:nvPr/>
        </p:nvPicPr>
        <p:blipFill>
          <a:blip r:embed="rId19"/>
          <a:stretch>
            <a:fillRect/>
          </a:stretch>
        </p:blipFill>
        <p:spPr>
          <a:xfrm>
            <a:off x="11101781" y="1576740"/>
            <a:ext cx="966103" cy="1002748"/>
          </a:xfrm>
          <a:prstGeom prst="rect">
            <a:avLst/>
          </a:prstGeom>
        </p:spPr>
      </p:pic>
    </p:spTree>
    <p:extLst>
      <p:ext uri="{BB962C8B-B14F-4D97-AF65-F5344CB8AC3E}">
        <p14:creationId xmlns:p14="http://schemas.microsoft.com/office/powerpoint/2010/main" val="3885106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CA83C5-434B-C2BB-C03E-FEA77C2BBB11}"/>
              </a:ext>
            </a:extLst>
          </p:cNvPr>
          <p:cNvSpPr txBox="1"/>
          <p:nvPr/>
        </p:nvSpPr>
        <p:spPr>
          <a:xfrm>
            <a:off x="0" y="959472"/>
            <a:ext cx="2986206" cy="600164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线性结构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i="0" u="none" strike="noStrike" kern="1200" cap="none" spc="0" normalizeH="0" baseline="0" noProof="0" dirty="0">
                <a:ln>
                  <a:noFill/>
                </a:ln>
                <a:effectLst/>
                <a:uLnTx/>
                <a:uFillTx/>
                <a:latin typeface="Arial" panose="020B0604020202020204" pitchFamily="34" charset="0"/>
                <a:ea typeface="Punctuation SC"/>
                <a:cs typeface="+mn-cs"/>
              </a:rPr>
              <a:t>线性表 </a:t>
            </a:r>
            <a:r>
              <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i="0" u="none" strike="noStrike" kern="1200" cap="none" spc="0" normalizeH="0" baseline="0" noProof="0" dirty="0">
                <a:ln>
                  <a:noFill/>
                </a:ln>
                <a:effectLst/>
                <a:uLnTx/>
                <a:uFillTx/>
                <a:latin typeface="Arial" panose="020B0604020202020204" pitchFamily="34" charset="0"/>
                <a:ea typeface="Punctuation SC"/>
                <a:cs typeface="+mn-cs"/>
              </a:rPr>
              <a:t>顺序表、链表</a:t>
            </a:r>
            <a:r>
              <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栈和队列</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串</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i="0" u="none" strike="noStrike" kern="1200" cap="none" spc="0" normalizeH="0" baseline="0" noProof="0" dirty="0">
                <a:ln>
                  <a:noFill/>
                </a:ln>
                <a:effectLst/>
                <a:uLnTx/>
                <a:uFillTx/>
                <a:latin typeface="Arial" panose="020B0604020202020204" pitchFamily="34" charset="0"/>
                <a:ea typeface="Punctuation SC"/>
                <a:cs typeface="+mn-cs"/>
              </a:rPr>
              <a:t>数组、矩阵、广义表</a:t>
            </a:r>
            <a:endPar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i="0" u="none" strike="noStrike" kern="1200" cap="none" spc="0" normalizeH="0" baseline="0" noProof="0" dirty="0">
                <a:ln>
                  <a:noFill/>
                </a:ln>
                <a:effectLst/>
                <a:uLnTx/>
                <a:uFillTx/>
                <a:latin typeface="Arial" panose="020B0604020202020204" pitchFamily="34" charset="0"/>
                <a:ea typeface="Punctuation SC"/>
                <a:cs typeface="+mn-cs"/>
              </a:rPr>
              <a:t>数组</a:t>
            </a:r>
            <a:endPar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kumimoji="0" lang="zh-CN" altLang="en-US" sz="1200" i="0" u="none" strike="noStrike" kern="1200" cap="none" spc="0" normalizeH="0" baseline="0" noProof="0" dirty="0">
                <a:ln>
                  <a:noFill/>
                </a:ln>
                <a:effectLst/>
                <a:uLnTx/>
                <a:uFillTx/>
                <a:latin typeface="Arial" panose="020B0604020202020204" pitchFamily="34" charset="0"/>
                <a:ea typeface="Punctuation SC"/>
                <a:cs typeface="+mn-cs"/>
              </a:rPr>
              <a:t>矩阵</a:t>
            </a:r>
            <a:endPar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i="0" u="none" strike="noStrike" kern="1200" cap="none" spc="0" normalizeH="0" baseline="0" noProof="0" dirty="0">
                <a:ln>
                  <a:noFill/>
                </a:ln>
                <a:effectLst/>
                <a:uLnTx/>
                <a:uFillTx/>
                <a:latin typeface="Arial" panose="020B0604020202020204" pitchFamily="34" charset="0"/>
                <a:ea typeface="Punctuation SC"/>
                <a:cs typeface="+mn-cs"/>
              </a:rPr>
              <a:t>广义表</a:t>
            </a:r>
            <a:endPar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i="0" u="none" strike="noStrike" kern="1200" cap="none" spc="0" normalizeH="0" baseline="0" noProof="0" dirty="0">
                <a:ln>
                  <a:noFill/>
                </a:ln>
                <a:effectLst/>
                <a:uLnTx/>
                <a:uFillTx/>
                <a:latin typeface="Arial" panose="020B0604020202020204" pitchFamily="34" charset="0"/>
                <a:ea typeface="Punctuation SC"/>
                <a:cs typeface="+mn-cs"/>
              </a:rPr>
              <a:t>树</a:t>
            </a:r>
            <a:endPar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树与二叉树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性质和存储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遍历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线索二叉树</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最优二叉树</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森林</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图</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定义和存储</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遍历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生成树和最小生成树</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拓扑排序和关键路径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最短路径</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查找算法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静态查找表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动态查找表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哈希表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排序算法</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简单排序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希尔排序</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快速排序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堆排序</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归并排序</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F6E8EA44-BACD-2DF7-D1BB-48B659756CE3}"/>
              </a:ext>
            </a:extLst>
          </p:cNvPr>
          <p:cNvSpPr txBox="1"/>
          <p:nvPr/>
        </p:nvSpPr>
        <p:spPr>
          <a:xfrm>
            <a:off x="11473" y="218648"/>
            <a:ext cx="1620957"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数据结构</a:t>
            </a:r>
            <a:endParaRPr lang="en-US" dirty="0"/>
          </a:p>
        </p:txBody>
      </p:sp>
      <p:cxnSp>
        <p:nvCxnSpPr>
          <p:cNvPr id="7" name="Straight Connector 6">
            <a:extLst>
              <a:ext uri="{FF2B5EF4-FFF2-40B4-BE49-F238E27FC236}">
                <a16:creationId xmlns:a16="http://schemas.microsoft.com/office/drawing/2014/main" id="{A7CFB97A-E7E7-BB6E-4BA9-8E7CB22DC8F7}"/>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4" name="Group 13">
            <a:extLst>
              <a:ext uri="{FF2B5EF4-FFF2-40B4-BE49-F238E27FC236}">
                <a16:creationId xmlns:a16="http://schemas.microsoft.com/office/drawing/2014/main" id="{5B4E26C1-0201-23F8-2BCB-C5049651CA54}"/>
              </a:ext>
            </a:extLst>
          </p:cNvPr>
          <p:cNvGrpSpPr/>
          <p:nvPr/>
        </p:nvGrpSpPr>
        <p:grpSpPr>
          <a:xfrm>
            <a:off x="7679921" y="149450"/>
            <a:ext cx="4386653" cy="756927"/>
            <a:chOff x="7614613" y="5950488"/>
            <a:chExt cx="4386653" cy="756927"/>
          </a:xfrm>
        </p:grpSpPr>
        <p:sp>
          <p:nvSpPr>
            <p:cNvPr id="15" name="Rectangle: Rounded Corners 14">
              <a:extLst>
                <a:ext uri="{FF2B5EF4-FFF2-40B4-BE49-F238E27FC236}">
                  <a16:creationId xmlns:a16="http://schemas.microsoft.com/office/drawing/2014/main" id="{C8F3528E-AC5F-DB44-EF32-EAA0A41FEA2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▶哈夫曼编码</a:t>
              </a:r>
              <a:endParaRPr lang="en-US" altLang="zh-CN" sz="1200" dirty="0">
                <a:solidFill>
                  <a:schemeClr val="bg1"/>
                </a:solidFill>
                <a:latin typeface="ui-monospace"/>
              </a:endParaRPr>
            </a:p>
          </p:txBody>
        </p:sp>
        <p:sp>
          <p:nvSpPr>
            <p:cNvPr id="16" name="TextBox 15">
              <a:extLst>
                <a:ext uri="{FF2B5EF4-FFF2-40B4-BE49-F238E27FC236}">
                  <a16:creationId xmlns:a16="http://schemas.microsoft.com/office/drawing/2014/main" id="{79FC3330-7375-B3A4-F904-B63F170EC04B}"/>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等长编码：对每个字符编制相同长度的二进制码</a:t>
              </a:r>
              <a:endParaRPr lang="en-US" altLang="zh-CN" sz="1200" dirty="0">
                <a:solidFill>
                  <a:schemeClr val="accent1"/>
                </a:solidFill>
                <a:latin typeface="ui-monospace"/>
              </a:endParaRPr>
            </a:p>
            <a:p>
              <a:r>
                <a:rPr lang="zh-CN" altLang="en-US" sz="1200" dirty="0">
                  <a:solidFill>
                    <a:schemeClr val="accent1"/>
                  </a:solidFill>
                  <a:latin typeface="ui-monospace"/>
                </a:rPr>
                <a:t>过程及其压缩比：先构造哈夫曼树，再根据左</a:t>
              </a:r>
              <a:r>
                <a:rPr lang="en-US" altLang="zh-CN" sz="1200" dirty="0">
                  <a:solidFill>
                    <a:schemeClr val="accent1"/>
                  </a:solidFill>
                  <a:latin typeface="ui-monospace"/>
                </a:rPr>
                <a:t>0</a:t>
              </a:r>
              <a:r>
                <a:rPr lang="zh-CN" altLang="en-US" sz="1200" dirty="0">
                  <a:solidFill>
                    <a:schemeClr val="accent1"/>
                  </a:solidFill>
                  <a:latin typeface="ui-monospace"/>
                </a:rPr>
                <a:t>右</a:t>
              </a:r>
              <a:r>
                <a:rPr lang="en-US" altLang="zh-CN" sz="1200" dirty="0">
                  <a:solidFill>
                    <a:schemeClr val="accent1"/>
                  </a:solidFill>
                  <a:latin typeface="ui-monospace"/>
                </a:rPr>
                <a:t>1</a:t>
              </a:r>
              <a:r>
                <a:rPr lang="zh-CN" altLang="en-US" sz="1200" dirty="0">
                  <a:solidFill>
                    <a:schemeClr val="accent1"/>
                  </a:solidFill>
                  <a:latin typeface="ui-monospace"/>
                </a:rPr>
                <a:t>构建编码</a:t>
              </a:r>
              <a:endParaRPr lang="en-US" sz="1200" dirty="0">
                <a:solidFill>
                  <a:schemeClr val="accent1"/>
                </a:solidFill>
                <a:latin typeface="ui-monospace"/>
              </a:endParaRPr>
            </a:p>
          </p:txBody>
        </p:sp>
      </p:grpSp>
      <p:grpSp>
        <p:nvGrpSpPr>
          <p:cNvPr id="26" name="Group 25">
            <a:extLst>
              <a:ext uri="{FF2B5EF4-FFF2-40B4-BE49-F238E27FC236}">
                <a16:creationId xmlns:a16="http://schemas.microsoft.com/office/drawing/2014/main" id="{7402F13C-3359-E6CE-5C05-2E496B40BEC0}"/>
              </a:ext>
            </a:extLst>
          </p:cNvPr>
          <p:cNvGrpSpPr/>
          <p:nvPr/>
        </p:nvGrpSpPr>
        <p:grpSpPr>
          <a:xfrm>
            <a:off x="3106164" y="143372"/>
            <a:ext cx="4386653" cy="756927"/>
            <a:chOff x="7614613" y="5950488"/>
            <a:chExt cx="4386653" cy="756927"/>
          </a:xfrm>
        </p:grpSpPr>
        <p:sp>
          <p:nvSpPr>
            <p:cNvPr id="34" name="Rectangle: Rounded Corners 33">
              <a:extLst>
                <a:ext uri="{FF2B5EF4-FFF2-40B4-BE49-F238E27FC236}">
                  <a16:creationId xmlns:a16="http://schemas.microsoft.com/office/drawing/2014/main" id="{B555C743-FC53-F0F5-0691-B617FAE32E06}"/>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▶平衡二叉树 </a:t>
              </a:r>
              <a:r>
                <a:rPr lang="en-US" altLang="zh-CN" sz="1200" dirty="0">
                  <a:solidFill>
                    <a:schemeClr val="bg1"/>
                  </a:solidFill>
                  <a:latin typeface="ui-monospace"/>
                </a:rPr>
                <a:t>(AVL</a:t>
              </a:r>
              <a:r>
                <a:rPr lang="zh-CN" altLang="en-US" sz="1200" dirty="0">
                  <a:solidFill>
                    <a:schemeClr val="bg1"/>
                  </a:solidFill>
                  <a:latin typeface="ui-monospace"/>
                </a:rPr>
                <a:t>树</a:t>
              </a:r>
              <a:r>
                <a:rPr lang="en-US" altLang="zh-CN" sz="1200" dirty="0">
                  <a:solidFill>
                    <a:schemeClr val="bg1"/>
                  </a:solidFill>
                  <a:latin typeface="ui-monospace"/>
                </a:rPr>
                <a:t>)</a:t>
              </a:r>
            </a:p>
          </p:txBody>
        </p:sp>
        <p:sp>
          <p:nvSpPr>
            <p:cNvPr id="35" name="TextBox 34">
              <a:extLst>
                <a:ext uri="{FF2B5EF4-FFF2-40B4-BE49-F238E27FC236}">
                  <a16:creationId xmlns:a16="http://schemas.microsoft.com/office/drawing/2014/main" id="{99DA43C9-ABCC-D0FD-6ADA-A74F7DF741D1}"/>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二叉树中的任意节点的左右子树的高度之差绝对值不超过</a:t>
              </a:r>
              <a:r>
                <a:rPr lang="en-US" altLang="zh-CN" sz="1200" dirty="0">
                  <a:solidFill>
                    <a:schemeClr val="accent1"/>
                  </a:solidFill>
                  <a:latin typeface="ui-monospace"/>
                </a:rPr>
                <a:t>1</a:t>
              </a:r>
              <a:r>
                <a:rPr lang="zh-CN" altLang="en-US" sz="1200" dirty="0">
                  <a:solidFill>
                    <a:schemeClr val="accent1"/>
                  </a:solidFill>
                  <a:latin typeface="ui-monospace"/>
                </a:rPr>
                <a:t>，且为二叉排序树</a:t>
              </a:r>
              <a:endParaRPr lang="en-US" sz="1200" dirty="0">
                <a:solidFill>
                  <a:schemeClr val="accent1"/>
                </a:solidFill>
                <a:latin typeface="ui-monospace"/>
              </a:endParaRPr>
            </a:p>
          </p:txBody>
        </p:sp>
      </p:grpSp>
      <p:grpSp>
        <p:nvGrpSpPr>
          <p:cNvPr id="36" name="Group 35">
            <a:extLst>
              <a:ext uri="{FF2B5EF4-FFF2-40B4-BE49-F238E27FC236}">
                <a16:creationId xmlns:a16="http://schemas.microsoft.com/office/drawing/2014/main" id="{9C1BEDAD-88B6-D777-4FBF-86DEB78D13F9}"/>
              </a:ext>
            </a:extLst>
          </p:cNvPr>
          <p:cNvGrpSpPr/>
          <p:nvPr/>
        </p:nvGrpSpPr>
        <p:grpSpPr>
          <a:xfrm>
            <a:off x="3106163" y="981604"/>
            <a:ext cx="4386653" cy="1126259"/>
            <a:chOff x="7614613" y="5950488"/>
            <a:chExt cx="4386653" cy="1126259"/>
          </a:xfrm>
        </p:grpSpPr>
        <p:sp>
          <p:nvSpPr>
            <p:cNvPr id="37" name="Rectangle: Rounded Corners 36">
              <a:extLst>
                <a:ext uri="{FF2B5EF4-FFF2-40B4-BE49-F238E27FC236}">
                  <a16:creationId xmlns:a16="http://schemas.microsoft.com/office/drawing/2014/main" id="{6D8B7E71-921B-668B-BF98-5AF9DA3058A2}"/>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▶二叉排序树</a:t>
              </a:r>
              <a:endParaRPr lang="en-US" altLang="zh-CN" sz="1200" dirty="0">
                <a:solidFill>
                  <a:schemeClr val="bg1"/>
                </a:solidFill>
                <a:latin typeface="ui-monospace"/>
              </a:endParaRPr>
            </a:p>
          </p:txBody>
        </p:sp>
        <p:sp>
          <p:nvSpPr>
            <p:cNvPr id="38" name="TextBox 37">
              <a:extLst>
                <a:ext uri="{FF2B5EF4-FFF2-40B4-BE49-F238E27FC236}">
                  <a16:creationId xmlns:a16="http://schemas.microsoft.com/office/drawing/2014/main" id="{33C5F29F-E8B7-4E91-2ED7-38AE61FC5DF0}"/>
                </a:ext>
              </a:extLst>
            </p:cNvPr>
            <p:cNvSpPr txBox="1"/>
            <p:nvPr/>
          </p:nvSpPr>
          <p:spPr>
            <a:xfrm>
              <a:off x="7667293" y="6245750"/>
              <a:ext cx="3273643" cy="830997"/>
            </a:xfrm>
            <a:prstGeom prst="rect">
              <a:avLst/>
            </a:prstGeom>
            <a:noFill/>
          </p:spPr>
          <p:txBody>
            <a:bodyPr wrap="square">
              <a:spAutoFit/>
            </a:bodyPr>
            <a:lstStyle/>
            <a:p>
              <a:r>
                <a:rPr lang="zh-CN" altLang="en-US" sz="1200" dirty="0">
                  <a:solidFill>
                    <a:schemeClr val="accent1"/>
                  </a:solidFill>
                  <a:latin typeface="ui-monospace"/>
                </a:rPr>
                <a:t>根节点的值大于左子树所有节点值，小于右子树所有节点值。</a:t>
              </a:r>
              <a:endParaRPr lang="en-US" altLang="zh-CN" sz="1200" dirty="0">
                <a:solidFill>
                  <a:schemeClr val="accent1"/>
                </a:solidFill>
                <a:latin typeface="ui-monospace"/>
              </a:endParaRPr>
            </a:p>
            <a:p>
              <a:r>
                <a:rPr lang="zh-CN" altLang="en-US" sz="1200" dirty="0">
                  <a:solidFill>
                    <a:schemeClr val="accent1"/>
                  </a:solidFill>
                  <a:latin typeface="ui-monospace"/>
                </a:rPr>
                <a:t>中序遍历的结果是有序序列。</a:t>
              </a:r>
              <a:endParaRPr lang="en-US" altLang="zh-CN" sz="1200" dirty="0">
                <a:solidFill>
                  <a:schemeClr val="accent1"/>
                </a:solidFill>
                <a:latin typeface="ui-monospace"/>
              </a:endParaRPr>
            </a:p>
            <a:p>
              <a:r>
                <a:rPr lang="zh-CN" altLang="en-US" sz="1200" dirty="0">
                  <a:solidFill>
                    <a:schemeClr val="accent1"/>
                  </a:solidFill>
                  <a:latin typeface="ui-monospace"/>
                </a:rPr>
                <a:t>可用过关键字序列反向构造。</a:t>
              </a:r>
              <a:endParaRPr lang="en-US" altLang="zh-CN" sz="1200" dirty="0">
                <a:solidFill>
                  <a:schemeClr val="accent1"/>
                </a:solidFill>
                <a:latin typeface="ui-monospace"/>
              </a:endParaRPr>
            </a:p>
          </p:txBody>
        </p:sp>
      </p:grpSp>
      <p:pic>
        <p:nvPicPr>
          <p:cNvPr id="52" name="Picture 51">
            <a:extLst>
              <a:ext uri="{FF2B5EF4-FFF2-40B4-BE49-F238E27FC236}">
                <a16:creationId xmlns:a16="http://schemas.microsoft.com/office/drawing/2014/main" id="{3BA204D4-85DD-F423-0C8E-3F7210043E5A}"/>
              </a:ext>
            </a:extLst>
          </p:cNvPr>
          <p:cNvPicPr>
            <a:picLocks noChangeAspect="1"/>
          </p:cNvPicPr>
          <p:nvPr/>
        </p:nvPicPr>
        <p:blipFill>
          <a:blip r:embed="rId2"/>
          <a:stretch>
            <a:fillRect/>
          </a:stretch>
        </p:blipFill>
        <p:spPr>
          <a:xfrm>
            <a:off x="6348834" y="1349460"/>
            <a:ext cx="1030597" cy="1213183"/>
          </a:xfrm>
          <a:prstGeom prst="rect">
            <a:avLst/>
          </a:prstGeom>
        </p:spPr>
      </p:pic>
      <p:grpSp>
        <p:nvGrpSpPr>
          <p:cNvPr id="53" name="Group 52">
            <a:extLst>
              <a:ext uri="{FF2B5EF4-FFF2-40B4-BE49-F238E27FC236}">
                <a16:creationId xmlns:a16="http://schemas.microsoft.com/office/drawing/2014/main" id="{05D9B78B-6CEA-0193-A066-8C4DA732017F}"/>
              </a:ext>
            </a:extLst>
          </p:cNvPr>
          <p:cNvGrpSpPr/>
          <p:nvPr/>
        </p:nvGrpSpPr>
        <p:grpSpPr>
          <a:xfrm>
            <a:off x="3106163" y="2643603"/>
            <a:ext cx="4386653" cy="1495591"/>
            <a:chOff x="7614613" y="5950488"/>
            <a:chExt cx="4386653" cy="1495591"/>
          </a:xfrm>
        </p:grpSpPr>
        <p:sp>
          <p:nvSpPr>
            <p:cNvPr id="54" name="Rectangle: Rounded Corners 53">
              <a:extLst>
                <a:ext uri="{FF2B5EF4-FFF2-40B4-BE49-F238E27FC236}">
                  <a16:creationId xmlns:a16="http://schemas.microsoft.com/office/drawing/2014/main" id="{0642B01E-218C-89EE-5087-EB588F753E79}"/>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▶最优二叉树 </a:t>
              </a:r>
              <a:r>
                <a:rPr lang="en-US" altLang="zh-CN" sz="1200" dirty="0">
                  <a:solidFill>
                    <a:schemeClr val="bg1"/>
                  </a:solidFill>
                  <a:latin typeface="ui-monospace"/>
                </a:rPr>
                <a:t>(</a:t>
              </a:r>
              <a:r>
                <a:rPr lang="zh-CN" altLang="en-US" sz="1200" dirty="0">
                  <a:solidFill>
                    <a:schemeClr val="bg1"/>
                  </a:solidFill>
                  <a:latin typeface="ui-monospace"/>
                </a:rPr>
                <a:t>哈夫曼树</a:t>
              </a:r>
              <a:r>
                <a:rPr lang="en-US" altLang="zh-CN" sz="1200" dirty="0">
                  <a:solidFill>
                    <a:schemeClr val="bg1"/>
                  </a:solidFill>
                  <a:latin typeface="ui-monospace"/>
                </a:rPr>
                <a:t>)</a:t>
              </a:r>
            </a:p>
          </p:txBody>
        </p:sp>
        <p:sp>
          <p:nvSpPr>
            <p:cNvPr id="55" name="TextBox 54">
              <a:extLst>
                <a:ext uri="{FF2B5EF4-FFF2-40B4-BE49-F238E27FC236}">
                  <a16:creationId xmlns:a16="http://schemas.microsoft.com/office/drawing/2014/main" id="{B87996C5-6C94-AD30-39D1-276102F1D56A}"/>
                </a:ext>
              </a:extLst>
            </p:cNvPr>
            <p:cNvSpPr txBox="1"/>
            <p:nvPr/>
          </p:nvSpPr>
          <p:spPr>
            <a:xfrm>
              <a:off x="7667294" y="6245750"/>
              <a:ext cx="4281578" cy="1200329"/>
            </a:xfrm>
            <a:prstGeom prst="rect">
              <a:avLst/>
            </a:prstGeom>
            <a:noFill/>
          </p:spPr>
          <p:txBody>
            <a:bodyPr wrap="square">
              <a:spAutoFit/>
            </a:bodyPr>
            <a:lstStyle/>
            <a:p>
              <a:r>
                <a:rPr lang="zh-CN" altLang="en-US" sz="1200" dirty="0">
                  <a:solidFill>
                    <a:schemeClr val="accent1"/>
                  </a:solidFill>
                  <a:latin typeface="ui-monospace"/>
                </a:rPr>
                <a:t>路径：从一个节点到另一个节点的通路</a:t>
              </a:r>
              <a:endParaRPr lang="en-US" altLang="zh-CN" sz="1200" dirty="0">
                <a:solidFill>
                  <a:schemeClr val="accent1"/>
                </a:solidFill>
                <a:latin typeface="ui-monospace"/>
              </a:endParaRPr>
            </a:p>
            <a:p>
              <a:r>
                <a:rPr lang="zh-CN" altLang="en-US" sz="1200" dirty="0">
                  <a:solidFill>
                    <a:schemeClr val="accent1"/>
                  </a:solidFill>
                  <a:latin typeface="ui-monospace"/>
                </a:rPr>
                <a:t>路径长度：路径上的分支数目</a:t>
              </a:r>
              <a:endParaRPr lang="en-US" altLang="zh-CN" sz="1200" dirty="0">
                <a:solidFill>
                  <a:schemeClr val="accent1"/>
                </a:solidFill>
                <a:latin typeface="ui-monospace"/>
              </a:endParaRPr>
            </a:p>
            <a:p>
              <a:r>
                <a:rPr lang="zh-CN" altLang="en-US" sz="1200" dirty="0">
                  <a:solidFill>
                    <a:schemeClr val="accent1"/>
                  </a:solidFill>
                  <a:latin typeface="ui-monospace"/>
                </a:rPr>
                <a:t>树的路径长度：根节点到每个叶子节点的路径长度之和</a:t>
              </a:r>
              <a:endParaRPr lang="en-US" altLang="zh-CN" sz="1200" dirty="0">
                <a:solidFill>
                  <a:schemeClr val="accent1"/>
                </a:solidFill>
                <a:latin typeface="ui-monospace"/>
              </a:endParaRPr>
            </a:p>
            <a:p>
              <a:r>
                <a:rPr lang="zh-CN" altLang="en-US" sz="1200" b="1" dirty="0">
                  <a:solidFill>
                    <a:schemeClr val="accent1"/>
                  </a:solidFill>
                  <a:latin typeface="ui-monospace"/>
                </a:rPr>
                <a:t>带权路径长度</a:t>
              </a:r>
              <a:r>
                <a:rPr lang="zh-CN" altLang="en-US" sz="1200" dirty="0">
                  <a:solidFill>
                    <a:schemeClr val="accent1"/>
                  </a:solidFill>
                  <a:latin typeface="ui-monospace"/>
                </a:rPr>
                <a:t>：路径长度与权值的乘积</a:t>
              </a:r>
              <a:endParaRPr lang="en-US" altLang="zh-CN" sz="1200" dirty="0">
                <a:solidFill>
                  <a:schemeClr val="accent1"/>
                </a:solidFill>
                <a:latin typeface="ui-monospace"/>
              </a:endParaRPr>
            </a:p>
            <a:p>
              <a:r>
                <a:rPr lang="zh-CN" altLang="en-US" sz="1200" dirty="0">
                  <a:solidFill>
                    <a:schemeClr val="accent1"/>
                  </a:solidFill>
                  <a:latin typeface="ui-monospace"/>
                </a:rPr>
                <a:t>树的带权路径长度：所有叶子节点的带权路径长度之和</a:t>
              </a:r>
              <a:endParaRPr lang="en-US" altLang="zh-CN" sz="1200" dirty="0">
                <a:solidFill>
                  <a:schemeClr val="accent1"/>
                </a:solidFill>
                <a:latin typeface="ui-monospace"/>
              </a:endParaRPr>
            </a:p>
            <a:p>
              <a:r>
                <a:rPr lang="zh-CN" altLang="en-US" sz="1200" dirty="0">
                  <a:solidFill>
                    <a:schemeClr val="accent1"/>
                  </a:solidFill>
                  <a:latin typeface="ui-monospace"/>
                </a:rPr>
                <a:t>哈夫曼树：带权路径长度最小 </a:t>
              </a:r>
              <a:r>
                <a:rPr lang="en-US" altLang="zh-CN" sz="1200" dirty="0">
                  <a:solidFill>
                    <a:schemeClr val="accent1"/>
                  </a:solidFill>
                  <a:latin typeface="ui-monospace"/>
                </a:rPr>
                <a:t>(WPL) </a:t>
              </a:r>
              <a:r>
                <a:rPr lang="zh-CN" altLang="en-US" sz="1200" dirty="0">
                  <a:solidFill>
                    <a:schemeClr val="accent1"/>
                  </a:solidFill>
                  <a:latin typeface="ui-monospace"/>
                </a:rPr>
                <a:t>的二叉树</a:t>
              </a:r>
              <a:endParaRPr lang="en-US" sz="1200" dirty="0">
                <a:solidFill>
                  <a:schemeClr val="accent1"/>
                </a:solidFill>
                <a:latin typeface="ui-monospace"/>
              </a:endParaRPr>
            </a:p>
          </p:txBody>
        </p:sp>
      </p:grpSp>
      <p:grpSp>
        <p:nvGrpSpPr>
          <p:cNvPr id="56" name="Group 55">
            <a:extLst>
              <a:ext uri="{FF2B5EF4-FFF2-40B4-BE49-F238E27FC236}">
                <a16:creationId xmlns:a16="http://schemas.microsoft.com/office/drawing/2014/main" id="{9B08A75D-FCA1-61E3-4BB9-40455E5F0015}"/>
              </a:ext>
            </a:extLst>
          </p:cNvPr>
          <p:cNvGrpSpPr/>
          <p:nvPr/>
        </p:nvGrpSpPr>
        <p:grpSpPr>
          <a:xfrm>
            <a:off x="3106163" y="4291594"/>
            <a:ext cx="4386653" cy="2418920"/>
            <a:chOff x="7614613" y="5950488"/>
            <a:chExt cx="4386653" cy="2418920"/>
          </a:xfrm>
        </p:grpSpPr>
        <p:sp>
          <p:nvSpPr>
            <p:cNvPr id="57" name="Rectangle: Rounded Corners 56">
              <a:extLst>
                <a:ext uri="{FF2B5EF4-FFF2-40B4-BE49-F238E27FC236}">
                  <a16:creationId xmlns:a16="http://schemas.microsoft.com/office/drawing/2014/main" id="{63502195-EFA7-6AC3-B703-04456058206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▶最优二叉树的构造</a:t>
              </a:r>
              <a:endParaRPr lang="en-US" altLang="zh-CN" sz="1200" dirty="0">
                <a:solidFill>
                  <a:schemeClr val="bg1"/>
                </a:solidFill>
                <a:latin typeface="ui-monospace"/>
              </a:endParaRPr>
            </a:p>
          </p:txBody>
        </p:sp>
        <p:sp>
          <p:nvSpPr>
            <p:cNvPr id="58" name="TextBox 57">
              <a:extLst>
                <a:ext uri="{FF2B5EF4-FFF2-40B4-BE49-F238E27FC236}">
                  <a16:creationId xmlns:a16="http://schemas.microsoft.com/office/drawing/2014/main" id="{D0148434-B36A-7400-23C2-068A2DB2B5F9}"/>
                </a:ext>
              </a:extLst>
            </p:cNvPr>
            <p:cNvSpPr txBox="1"/>
            <p:nvPr/>
          </p:nvSpPr>
          <p:spPr>
            <a:xfrm>
              <a:off x="7667294" y="6245750"/>
              <a:ext cx="4281578" cy="2123658"/>
            </a:xfrm>
            <a:prstGeom prst="rect">
              <a:avLst/>
            </a:prstGeom>
            <a:noFill/>
          </p:spPr>
          <p:txBody>
            <a:bodyPr wrap="square">
              <a:spAutoFit/>
            </a:bodyPr>
            <a:lstStyle/>
            <a:p>
              <a:r>
                <a:rPr lang="zh-CN" altLang="en-US" sz="1200" dirty="0">
                  <a:solidFill>
                    <a:schemeClr val="accent1"/>
                  </a:solidFill>
                  <a:latin typeface="ui-monospace"/>
                </a:rPr>
                <a:t>步骤</a:t>
              </a:r>
              <a:r>
                <a:rPr lang="en-US" altLang="zh-CN" sz="1200" dirty="0">
                  <a:solidFill>
                    <a:schemeClr val="accent1"/>
                  </a:solidFill>
                  <a:latin typeface="ui-monospace"/>
                </a:rPr>
                <a:t>1</a:t>
              </a:r>
              <a:r>
                <a:rPr lang="zh-CN" altLang="en-US" sz="1200" dirty="0">
                  <a:solidFill>
                    <a:schemeClr val="accent1"/>
                  </a:solidFill>
                  <a:latin typeface="ui-monospace"/>
                </a:rPr>
                <a:t>：将</a:t>
              </a:r>
              <a:r>
                <a:rPr lang="en-US" altLang="zh-CN" sz="1200" dirty="0">
                  <a:solidFill>
                    <a:schemeClr val="accent1"/>
                  </a:solidFill>
                  <a:latin typeface="ui-monospace"/>
                </a:rPr>
                <a:t>n</a:t>
              </a:r>
              <a:r>
                <a:rPr lang="zh-CN" altLang="en-US" sz="1200" dirty="0">
                  <a:solidFill>
                    <a:schemeClr val="accent1"/>
                  </a:solidFill>
                  <a:latin typeface="ui-monospace"/>
                </a:rPr>
                <a:t>个权值</a:t>
              </a:r>
              <a:r>
                <a:rPr lang="en-US" altLang="zh-CN" sz="1200" dirty="0">
                  <a:solidFill>
                    <a:schemeClr val="accent1"/>
                  </a:solidFill>
                  <a:latin typeface="ui-monospace"/>
                </a:rPr>
                <a:t>w</a:t>
              </a:r>
              <a:r>
                <a:rPr lang="zh-CN" altLang="en-US" sz="1200" dirty="0">
                  <a:solidFill>
                    <a:schemeClr val="accent1"/>
                  </a:solidFill>
                  <a:latin typeface="ui-monospace"/>
                </a:rPr>
                <a:t>节点构成</a:t>
              </a:r>
              <a:r>
                <a:rPr lang="en-US" altLang="zh-CN" sz="1200" dirty="0">
                  <a:solidFill>
                    <a:schemeClr val="accent1"/>
                  </a:solidFill>
                  <a:latin typeface="ui-monospace"/>
                </a:rPr>
                <a:t>n</a:t>
              </a:r>
              <a:r>
                <a:rPr lang="zh-CN" altLang="en-US" sz="1200" dirty="0">
                  <a:solidFill>
                    <a:schemeClr val="accent1"/>
                  </a:solidFill>
                  <a:latin typeface="ui-monospace"/>
                </a:rPr>
                <a:t>棵二叉树的集合</a:t>
              </a:r>
              <a:r>
                <a:rPr lang="en-US" altLang="zh-CN" sz="1200" dirty="0">
                  <a:solidFill>
                    <a:schemeClr val="accent1"/>
                  </a:solidFill>
                  <a:latin typeface="ui-monospace"/>
                </a:rPr>
                <a:t>F</a:t>
              </a:r>
            </a:p>
            <a:p>
              <a:r>
                <a:rPr lang="zh-CN" altLang="en-US" sz="1200" dirty="0">
                  <a:solidFill>
                    <a:schemeClr val="accent1"/>
                  </a:solidFill>
                  <a:latin typeface="ui-monospace"/>
                </a:rPr>
                <a:t>步骤</a:t>
              </a:r>
              <a:r>
                <a:rPr lang="en-US" altLang="zh-CN" sz="1200" dirty="0">
                  <a:solidFill>
                    <a:schemeClr val="accent1"/>
                  </a:solidFill>
                  <a:latin typeface="ui-monospace"/>
                </a:rPr>
                <a:t>2</a:t>
              </a:r>
              <a:r>
                <a:rPr lang="zh-CN" altLang="en-US" sz="1200" dirty="0">
                  <a:solidFill>
                    <a:schemeClr val="accent1"/>
                  </a:solidFill>
                  <a:latin typeface="ui-monospace"/>
                </a:rPr>
                <a:t>：选取权值最小的树构成左右子树，根节点为权值之和</a:t>
              </a:r>
              <a:endParaRPr lang="en-US" altLang="zh-CN" sz="1200" dirty="0">
                <a:solidFill>
                  <a:schemeClr val="accent1"/>
                </a:solidFill>
                <a:latin typeface="ui-monospace"/>
              </a:endParaRPr>
            </a:p>
            <a:p>
              <a:r>
                <a:rPr lang="zh-CN" altLang="en-US" sz="1200" dirty="0">
                  <a:solidFill>
                    <a:schemeClr val="accent1"/>
                  </a:solidFill>
                  <a:latin typeface="ui-monospace"/>
                </a:rPr>
                <a:t>步骤</a:t>
              </a:r>
              <a:r>
                <a:rPr lang="en-US" altLang="zh-CN" sz="1200" dirty="0">
                  <a:solidFill>
                    <a:schemeClr val="accent1"/>
                  </a:solidFill>
                  <a:latin typeface="ui-monospace"/>
                </a:rPr>
                <a:t>3</a:t>
              </a:r>
              <a:r>
                <a:rPr lang="zh-CN" altLang="en-US" sz="1200" dirty="0">
                  <a:solidFill>
                    <a:schemeClr val="accent1"/>
                  </a:solidFill>
                  <a:latin typeface="ui-monospace"/>
                </a:rPr>
                <a:t>：将新树替换原两棵树 </a:t>
              </a:r>
              <a:r>
                <a:rPr lang="en-US" altLang="zh-CN" sz="1200" dirty="0">
                  <a:solidFill>
                    <a:schemeClr val="accent1"/>
                  </a:solidFill>
                  <a:latin typeface="ui-monospace"/>
                </a:rPr>
                <a:t>(</a:t>
              </a:r>
              <a:r>
                <a:rPr lang="zh-CN" altLang="en-US" sz="1200" dirty="0">
                  <a:solidFill>
                    <a:schemeClr val="accent1"/>
                  </a:solidFill>
                  <a:latin typeface="ui-monospace"/>
                </a:rPr>
                <a:t>重复步骤</a:t>
              </a:r>
              <a:r>
                <a:rPr lang="en-US" altLang="zh-CN" sz="1200" dirty="0">
                  <a:solidFill>
                    <a:schemeClr val="accent1"/>
                  </a:solidFill>
                  <a:latin typeface="ui-monospace"/>
                </a:rPr>
                <a:t>2</a:t>
              </a:r>
              <a:r>
                <a:rPr lang="zh-CN" altLang="en-US" sz="1200" dirty="0">
                  <a:solidFill>
                    <a:schemeClr val="accent1"/>
                  </a:solidFill>
                  <a:latin typeface="ui-monospace"/>
                </a:rPr>
                <a:t>和</a:t>
              </a:r>
              <a:r>
                <a:rPr lang="en-US" altLang="zh-CN" sz="1200" dirty="0">
                  <a:solidFill>
                    <a:schemeClr val="accent1"/>
                  </a:solidFill>
                  <a:latin typeface="ui-monospace"/>
                </a:rPr>
                <a:t>3)</a:t>
              </a:r>
            </a:p>
            <a:p>
              <a:r>
                <a:rPr lang="zh-CN" altLang="en-US" sz="1200" dirty="0">
                  <a:solidFill>
                    <a:schemeClr val="accent1"/>
                  </a:solidFill>
                  <a:latin typeface="ui-monospace"/>
                </a:rPr>
                <a:t>性质</a:t>
              </a:r>
              <a:r>
                <a:rPr lang="en-US" altLang="zh-CN" sz="1200" dirty="0">
                  <a:solidFill>
                    <a:schemeClr val="accent1"/>
                  </a:solidFill>
                  <a:latin typeface="ui-monospace"/>
                </a:rPr>
                <a:t>1</a:t>
              </a:r>
              <a:r>
                <a:rPr lang="zh-CN" altLang="en-US" sz="1200" dirty="0">
                  <a:solidFill>
                    <a:schemeClr val="accent1"/>
                  </a:solidFill>
                  <a:latin typeface="ui-monospace"/>
                </a:rPr>
                <a:t>：权值大小的分布</a:t>
              </a:r>
              <a:endParaRPr lang="en-US" altLang="zh-CN" sz="1200" dirty="0">
                <a:solidFill>
                  <a:schemeClr val="accent1"/>
                </a:solidFill>
                <a:latin typeface="ui-monospace"/>
              </a:endParaRPr>
            </a:p>
            <a:p>
              <a:r>
                <a:rPr lang="zh-CN" altLang="en-US" sz="1200" dirty="0">
                  <a:solidFill>
                    <a:schemeClr val="accent1"/>
                  </a:solidFill>
                  <a:latin typeface="ui-monospace"/>
                </a:rPr>
                <a:t>性质</a:t>
              </a:r>
              <a:r>
                <a:rPr lang="en-US" altLang="zh-CN" sz="1200" dirty="0">
                  <a:solidFill>
                    <a:schemeClr val="accent1"/>
                  </a:solidFill>
                  <a:latin typeface="ui-monospace"/>
                </a:rPr>
                <a:t>2</a:t>
              </a:r>
              <a:r>
                <a:rPr lang="zh-CN" altLang="en-US" sz="1200" dirty="0">
                  <a:solidFill>
                    <a:schemeClr val="accent1"/>
                  </a:solidFill>
                  <a:latin typeface="ui-monospace"/>
                </a:rPr>
                <a:t>：只有度为</a:t>
              </a:r>
              <a:r>
                <a:rPr lang="en-US" altLang="zh-CN" sz="1200" dirty="0">
                  <a:solidFill>
                    <a:schemeClr val="accent1"/>
                  </a:solidFill>
                  <a:latin typeface="ui-monospace"/>
                </a:rPr>
                <a:t>0</a:t>
              </a:r>
              <a:r>
                <a:rPr lang="zh-CN" altLang="en-US" sz="1200" dirty="0">
                  <a:solidFill>
                    <a:schemeClr val="accent1"/>
                  </a:solidFill>
                  <a:latin typeface="ui-monospace"/>
                </a:rPr>
                <a:t>和</a:t>
              </a:r>
              <a:r>
                <a:rPr lang="en-US" altLang="zh-CN" sz="1200" dirty="0">
                  <a:solidFill>
                    <a:schemeClr val="accent1"/>
                  </a:solidFill>
                  <a:latin typeface="ui-monospace"/>
                </a:rPr>
                <a:t>2</a:t>
              </a:r>
              <a:r>
                <a:rPr lang="zh-CN" altLang="en-US" sz="1200" dirty="0">
                  <a:solidFill>
                    <a:schemeClr val="accent1"/>
                  </a:solidFill>
                  <a:latin typeface="ui-monospace"/>
                </a:rPr>
                <a:t>的节点</a:t>
              </a:r>
              <a:endParaRPr lang="en-US" altLang="zh-CN" sz="1200" dirty="0">
                <a:solidFill>
                  <a:schemeClr val="accent1"/>
                </a:solidFill>
                <a:latin typeface="ui-monospace"/>
              </a:endParaRPr>
            </a:p>
            <a:p>
              <a:r>
                <a:rPr lang="zh-CN" altLang="en-US" sz="1200" dirty="0">
                  <a:solidFill>
                    <a:schemeClr val="accent1"/>
                  </a:solidFill>
                  <a:latin typeface="ui-monospace"/>
                </a:rPr>
                <a:t>性质</a:t>
              </a:r>
              <a:r>
                <a:rPr lang="en-US" altLang="zh-CN" sz="1200" dirty="0">
                  <a:solidFill>
                    <a:schemeClr val="accent1"/>
                  </a:solidFill>
                  <a:latin typeface="ui-monospace"/>
                </a:rPr>
                <a:t>3</a:t>
              </a:r>
              <a:r>
                <a:rPr lang="zh-CN" altLang="en-US" sz="1200" dirty="0">
                  <a:solidFill>
                    <a:schemeClr val="accent1"/>
                  </a:solidFill>
                  <a:latin typeface="ui-monospace"/>
                </a:rPr>
                <a:t>：节点总数为</a:t>
              </a:r>
              <a:r>
                <a:rPr lang="en-US" altLang="zh-CN" sz="1200" dirty="0">
                  <a:solidFill>
                    <a:schemeClr val="accent1"/>
                  </a:solidFill>
                  <a:latin typeface="ui-monospace"/>
                </a:rPr>
                <a:t>2n-1</a:t>
              </a:r>
            </a:p>
            <a:p>
              <a:r>
                <a:rPr lang="zh-CN" altLang="en-US" sz="1200" dirty="0">
                  <a:solidFill>
                    <a:schemeClr val="accent1"/>
                  </a:solidFill>
                  <a:latin typeface="ui-monospace"/>
                </a:rPr>
                <a:t>规则</a:t>
              </a:r>
              <a:r>
                <a:rPr lang="en-US" altLang="zh-CN" sz="1200" dirty="0">
                  <a:solidFill>
                    <a:schemeClr val="accent1"/>
                  </a:solidFill>
                  <a:latin typeface="ui-monospace"/>
                </a:rPr>
                <a:t>1</a:t>
              </a:r>
              <a:r>
                <a:rPr lang="zh-CN" altLang="en-US" sz="1200" dirty="0">
                  <a:solidFill>
                    <a:schemeClr val="accent1"/>
                  </a:solidFill>
                  <a:latin typeface="ui-monospace"/>
                </a:rPr>
                <a:t>：从前往后找权值最小</a:t>
              </a:r>
              <a:endParaRPr lang="en-US" altLang="zh-CN" sz="1200" dirty="0">
                <a:solidFill>
                  <a:schemeClr val="accent1"/>
                </a:solidFill>
                <a:latin typeface="ui-monospace"/>
              </a:endParaRPr>
            </a:p>
            <a:p>
              <a:r>
                <a:rPr lang="zh-CN" altLang="en-US" sz="1200" dirty="0">
                  <a:solidFill>
                    <a:schemeClr val="accent1"/>
                  </a:solidFill>
                  <a:latin typeface="ui-monospace"/>
                </a:rPr>
                <a:t>规则</a:t>
              </a:r>
              <a:r>
                <a:rPr lang="en-US" altLang="zh-CN" sz="1200" dirty="0">
                  <a:solidFill>
                    <a:schemeClr val="accent1"/>
                  </a:solidFill>
                  <a:latin typeface="ui-monospace"/>
                </a:rPr>
                <a:t>2</a:t>
              </a:r>
              <a:r>
                <a:rPr lang="zh-CN" altLang="en-US" sz="1200" dirty="0">
                  <a:solidFill>
                    <a:schemeClr val="accent1"/>
                  </a:solidFill>
                  <a:latin typeface="ui-monospace"/>
                </a:rPr>
                <a:t>：小值放左，大值放右</a:t>
              </a:r>
              <a:endParaRPr lang="en-US" altLang="zh-CN" sz="1200" dirty="0">
                <a:solidFill>
                  <a:schemeClr val="accent1"/>
                </a:solidFill>
                <a:latin typeface="ui-monospace"/>
              </a:endParaRPr>
            </a:p>
            <a:p>
              <a:r>
                <a:rPr lang="zh-CN" altLang="en-US" sz="1200" dirty="0">
                  <a:solidFill>
                    <a:schemeClr val="accent1"/>
                  </a:solidFill>
                  <a:latin typeface="ui-monospace"/>
                </a:rPr>
                <a:t>规则</a:t>
              </a:r>
              <a:r>
                <a:rPr lang="en-US" altLang="zh-CN" sz="1200" dirty="0">
                  <a:solidFill>
                    <a:schemeClr val="accent1"/>
                  </a:solidFill>
                  <a:latin typeface="ui-monospace"/>
                </a:rPr>
                <a:t>3</a:t>
              </a:r>
              <a:r>
                <a:rPr lang="zh-CN" altLang="en-US" sz="1200" dirty="0">
                  <a:solidFill>
                    <a:schemeClr val="accent1"/>
                  </a:solidFill>
                  <a:latin typeface="ui-monospace"/>
                </a:rPr>
                <a:t>：新节点放入末尾</a:t>
              </a:r>
              <a:endParaRPr lang="en-US" altLang="zh-CN" sz="1200" dirty="0">
                <a:solidFill>
                  <a:schemeClr val="accent1"/>
                </a:solidFill>
                <a:latin typeface="ui-monospace"/>
              </a:endParaRPr>
            </a:p>
            <a:p>
              <a:r>
                <a:rPr lang="zh-CN" altLang="en-US" sz="1200" dirty="0">
                  <a:solidFill>
                    <a:schemeClr val="accent1"/>
                  </a:solidFill>
                  <a:latin typeface="ui-monospace"/>
                </a:rPr>
                <a:t>规则</a:t>
              </a:r>
              <a:r>
                <a:rPr lang="en-US" altLang="zh-CN" sz="1200" dirty="0">
                  <a:solidFill>
                    <a:schemeClr val="accent1"/>
                  </a:solidFill>
                  <a:latin typeface="ui-monospace"/>
                </a:rPr>
                <a:t>4</a:t>
              </a:r>
              <a:r>
                <a:rPr lang="zh-CN" altLang="en-US" sz="1200" dirty="0">
                  <a:solidFill>
                    <a:schemeClr val="accent1"/>
                  </a:solidFill>
                  <a:latin typeface="ui-monospace"/>
                </a:rPr>
                <a:t>：权值相同，同从前往后</a:t>
              </a:r>
              <a:endParaRPr lang="en-US" altLang="zh-CN" sz="1200" dirty="0">
                <a:solidFill>
                  <a:schemeClr val="accent1"/>
                </a:solidFill>
                <a:latin typeface="ui-monospace"/>
              </a:endParaRPr>
            </a:p>
            <a:p>
              <a:r>
                <a:rPr lang="zh-CN" altLang="en-US" sz="1200" dirty="0">
                  <a:solidFill>
                    <a:schemeClr val="accent1"/>
                  </a:solidFill>
                  <a:latin typeface="ui-monospace"/>
                </a:rPr>
                <a:t>规则</a:t>
              </a:r>
              <a:r>
                <a:rPr lang="en-US" altLang="zh-CN" sz="1200" dirty="0">
                  <a:solidFill>
                    <a:schemeClr val="accent1"/>
                  </a:solidFill>
                  <a:latin typeface="ui-monospace"/>
                </a:rPr>
                <a:t>5</a:t>
              </a:r>
              <a:r>
                <a:rPr lang="zh-CN" altLang="en-US" sz="1200" dirty="0">
                  <a:solidFill>
                    <a:schemeClr val="accent1"/>
                  </a:solidFill>
                  <a:latin typeface="ui-monospace"/>
                </a:rPr>
                <a:t>：用到子树时再调用</a:t>
              </a:r>
              <a:endParaRPr lang="en-US" sz="1200" dirty="0">
                <a:solidFill>
                  <a:schemeClr val="accent1"/>
                </a:solidFill>
                <a:latin typeface="ui-monospace"/>
              </a:endParaRPr>
            </a:p>
          </p:txBody>
        </p:sp>
      </p:grpSp>
      <p:pic>
        <p:nvPicPr>
          <p:cNvPr id="2403" name="Picture 2402">
            <a:extLst>
              <a:ext uri="{FF2B5EF4-FFF2-40B4-BE49-F238E27FC236}">
                <a16:creationId xmlns:a16="http://schemas.microsoft.com/office/drawing/2014/main" id="{194659CC-8ABE-A422-3B5F-5768708D6888}"/>
              </a:ext>
            </a:extLst>
          </p:cNvPr>
          <p:cNvPicPr>
            <a:picLocks noChangeAspect="1"/>
          </p:cNvPicPr>
          <p:nvPr/>
        </p:nvPicPr>
        <p:blipFill>
          <a:blip r:embed="rId3"/>
          <a:stretch>
            <a:fillRect/>
          </a:stretch>
        </p:blipFill>
        <p:spPr>
          <a:xfrm>
            <a:off x="6097980" y="5139363"/>
            <a:ext cx="1230939" cy="1471029"/>
          </a:xfrm>
          <a:prstGeom prst="rect">
            <a:avLst/>
          </a:prstGeom>
        </p:spPr>
      </p:pic>
      <p:sp>
        <p:nvSpPr>
          <p:cNvPr id="62" name="TextBox 61">
            <a:extLst>
              <a:ext uri="{FF2B5EF4-FFF2-40B4-BE49-F238E27FC236}">
                <a16:creationId xmlns:a16="http://schemas.microsoft.com/office/drawing/2014/main" id="{6DB3F118-B0EC-C4BD-D30D-16596EB6F19F}"/>
              </a:ext>
            </a:extLst>
          </p:cNvPr>
          <p:cNvSpPr txBox="1"/>
          <p:nvPr/>
        </p:nvSpPr>
        <p:spPr>
          <a:xfrm>
            <a:off x="5446323" y="6379917"/>
            <a:ext cx="986167" cy="246221"/>
          </a:xfrm>
          <a:prstGeom prst="rect">
            <a:avLst/>
          </a:prstGeom>
          <a:noFill/>
        </p:spPr>
        <p:txBody>
          <a:bodyPr wrap="none" rtlCol="0">
            <a:spAutoFit/>
          </a:bodyPr>
          <a:lstStyle/>
          <a:p>
            <a:r>
              <a:rPr lang="en-US" altLang="zh-CN" sz="1000" dirty="0"/>
              <a:t>18 32 4 8 12 26</a:t>
            </a:r>
            <a:endParaRPr lang="en-US" sz="1000" dirty="0"/>
          </a:p>
        </p:txBody>
      </p:sp>
      <p:pic>
        <p:nvPicPr>
          <p:cNvPr id="63" name="Picture 62">
            <a:extLst>
              <a:ext uri="{FF2B5EF4-FFF2-40B4-BE49-F238E27FC236}">
                <a16:creationId xmlns:a16="http://schemas.microsoft.com/office/drawing/2014/main" id="{E782A43F-C4D1-C497-CA29-298F5E23DDA2}"/>
              </a:ext>
            </a:extLst>
          </p:cNvPr>
          <p:cNvPicPr>
            <a:picLocks noChangeAspect="1"/>
          </p:cNvPicPr>
          <p:nvPr/>
        </p:nvPicPr>
        <p:blipFill>
          <a:blip r:embed="rId4"/>
          <a:stretch>
            <a:fillRect/>
          </a:stretch>
        </p:blipFill>
        <p:spPr>
          <a:xfrm>
            <a:off x="7972503" y="959472"/>
            <a:ext cx="1883036" cy="496365"/>
          </a:xfrm>
          <a:prstGeom prst="rect">
            <a:avLst/>
          </a:prstGeom>
        </p:spPr>
      </p:pic>
      <p:pic>
        <p:nvPicPr>
          <p:cNvPr id="2240" name="Picture 2239">
            <a:extLst>
              <a:ext uri="{FF2B5EF4-FFF2-40B4-BE49-F238E27FC236}">
                <a16:creationId xmlns:a16="http://schemas.microsoft.com/office/drawing/2014/main" id="{92BCF32C-0950-5A30-CA11-04F03DD157BF}"/>
              </a:ext>
            </a:extLst>
          </p:cNvPr>
          <p:cNvPicPr>
            <a:picLocks noChangeAspect="1"/>
          </p:cNvPicPr>
          <p:nvPr/>
        </p:nvPicPr>
        <p:blipFill>
          <a:blip r:embed="rId5"/>
          <a:stretch>
            <a:fillRect/>
          </a:stretch>
        </p:blipFill>
        <p:spPr>
          <a:xfrm>
            <a:off x="10231816" y="900299"/>
            <a:ext cx="1585704" cy="1396160"/>
          </a:xfrm>
          <a:prstGeom prst="rect">
            <a:avLst/>
          </a:prstGeom>
        </p:spPr>
      </p:pic>
      <p:pic>
        <p:nvPicPr>
          <p:cNvPr id="2242" name="Picture 2241">
            <a:extLst>
              <a:ext uri="{FF2B5EF4-FFF2-40B4-BE49-F238E27FC236}">
                <a16:creationId xmlns:a16="http://schemas.microsoft.com/office/drawing/2014/main" id="{5A7F0BD2-25B6-38EB-AB1A-0E66AA6F4BAD}"/>
              </a:ext>
            </a:extLst>
          </p:cNvPr>
          <p:cNvPicPr>
            <a:picLocks noChangeAspect="1"/>
          </p:cNvPicPr>
          <p:nvPr/>
        </p:nvPicPr>
        <p:blipFill>
          <a:blip r:embed="rId6"/>
          <a:stretch>
            <a:fillRect/>
          </a:stretch>
        </p:blipFill>
        <p:spPr>
          <a:xfrm>
            <a:off x="8145190" y="1676543"/>
            <a:ext cx="1585704" cy="514839"/>
          </a:xfrm>
          <a:prstGeom prst="rect">
            <a:avLst/>
          </a:prstGeom>
        </p:spPr>
      </p:pic>
      <p:sp>
        <p:nvSpPr>
          <p:cNvPr id="2243" name="TextBox 2242">
            <a:extLst>
              <a:ext uri="{FF2B5EF4-FFF2-40B4-BE49-F238E27FC236}">
                <a16:creationId xmlns:a16="http://schemas.microsoft.com/office/drawing/2014/main" id="{04AADD52-FEF7-8A8F-BEF4-F567214737E0}"/>
              </a:ext>
            </a:extLst>
          </p:cNvPr>
          <p:cNvSpPr txBox="1"/>
          <p:nvPr/>
        </p:nvSpPr>
        <p:spPr>
          <a:xfrm>
            <a:off x="7729838" y="2296459"/>
            <a:ext cx="4281578" cy="276999"/>
          </a:xfrm>
          <a:prstGeom prst="rect">
            <a:avLst/>
          </a:prstGeom>
          <a:noFill/>
        </p:spPr>
        <p:txBody>
          <a:bodyPr wrap="square">
            <a:spAutoFit/>
          </a:bodyPr>
          <a:lstStyle/>
          <a:p>
            <a:r>
              <a:rPr lang="zh-CN" altLang="en-US" sz="1200" dirty="0">
                <a:solidFill>
                  <a:schemeClr val="accent1"/>
                </a:solidFill>
                <a:latin typeface="ui-monospace"/>
              </a:rPr>
              <a:t>等长编码长度为</a:t>
            </a:r>
            <a:r>
              <a:rPr lang="en-US" altLang="zh-CN" sz="1200" dirty="0">
                <a:solidFill>
                  <a:schemeClr val="accent1"/>
                </a:solidFill>
                <a:latin typeface="ui-monospace"/>
              </a:rPr>
              <a:t>3 (2</a:t>
            </a:r>
            <a:r>
              <a:rPr lang="en-US" altLang="zh-CN" sz="1200" baseline="30000" dirty="0">
                <a:solidFill>
                  <a:schemeClr val="accent1"/>
                </a:solidFill>
                <a:latin typeface="ui-monospace"/>
              </a:rPr>
              <a:t>2</a:t>
            </a:r>
            <a:r>
              <a:rPr lang="en-US" altLang="zh-CN" sz="1200" dirty="0">
                <a:solidFill>
                  <a:schemeClr val="accent1"/>
                </a:solidFill>
                <a:latin typeface="ui-monospace"/>
              </a:rPr>
              <a:t>&lt;5&lt;2</a:t>
            </a:r>
            <a:r>
              <a:rPr lang="en-US" altLang="zh-CN" sz="1200" baseline="30000" dirty="0">
                <a:solidFill>
                  <a:schemeClr val="accent1"/>
                </a:solidFill>
                <a:latin typeface="ui-monospace"/>
              </a:rPr>
              <a:t>3</a:t>
            </a:r>
            <a:r>
              <a:rPr lang="en-US" altLang="zh-CN" sz="1200" dirty="0">
                <a:solidFill>
                  <a:schemeClr val="accent1"/>
                </a:solidFill>
                <a:latin typeface="ui-monospace"/>
              </a:rPr>
              <a:t>)</a:t>
            </a:r>
            <a:r>
              <a:rPr lang="zh-CN" altLang="en-US" sz="1200" dirty="0">
                <a:solidFill>
                  <a:schemeClr val="accent1"/>
                </a:solidFill>
                <a:latin typeface="ui-monospace"/>
              </a:rPr>
              <a:t>，压缩比为 </a:t>
            </a:r>
            <a:r>
              <a:rPr lang="en-US" altLang="zh-CN" sz="1050" dirty="0">
                <a:solidFill>
                  <a:schemeClr val="accent1"/>
                </a:solidFill>
                <a:latin typeface="ui-monospace"/>
              </a:rPr>
              <a:t>1-(40*1+60*3)/100*3=0.27</a:t>
            </a:r>
            <a:endParaRPr lang="en-US" sz="1200" dirty="0">
              <a:solidFill>
                <a:schemeClr val="accent1"/>
              </a:solidFill>
              <a:latin typeface="ui-monospace"/>
            </a:endParaRPr>
          </a:p>
        </p:txBody>
      </p:sp>
      <p:grpSp>
        <p:nvGrpSpPr>
          <p:cNvPr id="2244" name="Group 2243">
            <a:extLst>
              <a:ext uri="{FF2B5EF4-FFF2-40B4-BE49-F238E27FC236}">
                <a16:creationId xmlns:a16="http://schemas.microsoft.com/office/drawing/2014/main" id="{52FE86F6-D2DE-787A-D8BD-3689B182FC0F}"/>
              </a:ext>
            </a:extLst>
          </p:cNvPr>
          <p:cNvGrpSpPr/>
          <p:nvPr/>
        </p:nvGrpSpPr>
        <p:grpSpPr>
          <a:xfrm>
            <a:off x="7679921" y="2573458"/>
            <a:ext cx="4386653" cy="941593"/>
            <a:chOff x="7614613" y="5950488"/>
            <a:chExt cx="4386653" cy="941593"/>
          </a:xfrm>
        </p:grpSpPr>
        <p:sp>
          <p:nvSpPr>
            <p:cNvPr id="2245" name="Rectangle: Rounded Corners 2244">
              <a:extLst>
                <a:ext uri="{FF2B5EF4-FFF2-40B4-BE49-F238E27FC236}">
                  <a16:creationId xmlns:a16="http://schemas.microsoft.com/office/drawing/2014/main" id="{656770EB-18D6-7BBE-73A6-5E557BFF6C1C}"/>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▶线索二叉树</a:t>
              </a:r>
              <a:endParaRPr lang="en-US" altLang="zh-CN" sz="1200" dirty="0">
                <a:solidFill>
                  <a:schemeClr val="bg1"/>
                </a:solidFill>
                <a:latin typeface="ui-monospace"/>
              </a:endParaRPr>
            </a:p>
          </p:txBody>
        </p:sp>
        <p:sp>
          <p:nvSpPr>
            <p:cNvPr id="2246" name="TextBox 2245">
              <a:extLst>
                <a:ext uri="{FF2B5EF4-FFF2-40B4-BE49-F238E27FC236}">
                  <a16:creationId xmlns:a16="http://schemas.microsoft.com/office/drawing/2014/main" id="{FC133CCD-1033-6836-DBBB-0D4BD41ACADC}"/>
                </a:ext>
              </a:extLst>
            </p:cNvPr>
            <p:cNvSpPr txBox="1"/>
            <p:nvPr/>
          </p:nvSpPr>
          <p:spPr>
            <a:xfrm>
              <a:off x="7667294" y="6245750"/>
              <a:ext cx="4267657" cy="646331"/>
            </a:xfrm>
            <a:prstGeom prst="rect">
              <a:avLst/>
            </a:prstGeom>
            <a:noFill/>
          </p:spPr>
          <p:txBody>
            <a:bodyPr wrap="square">
              <a:spAutoFit/>
            </a:bodyPr>
            <a:lstStyle/>
            <a:p>
              <a:r>
                <a:rPr lang="zh-CN" altLang="en-US" sz="1200" dirty="0">
                  <a:solidFill>
                    <a:schemeClr val="accent1"/>
                  </a:solidFill>
                  <a:latin typeface="ui-monospace"/>
                </a:rPr>
                <a:t>对于</a:t>
              </a:r>
              <a:r>
                <a:rPr lang="en-US" altLang="zh-CN" sz="1200" dirty="0">
                  <a:solidFill>
                    <a:schemeClr val="accent1"/>
                  </a:solidFill>
                  <a:latin typeface="ui-monospace"/>
                </a:rPr>
                <a:t>n</a:t>
              </a:r>
              <a:r>
                <a:rPr lang="zh-CN" altLang="en-US" sz="1200" dirty="0">
                  <a:solidFill>
                    <a:schemeClr val="accent1"/>
                  </a:solidFill>
                  <a:latin typeface="ui-monospace"/>
                </a:rPr>
                <a:t>个结点的二叉树，在存储结构中有</a:t>
              </a:r>
              <a:r>
                <a:rPr lang="en-US" altLang="zh-CN" sz="1200" dirty="0">
                  <a:solidFill>
                    <a:schemeClr val="accent1"/>
                  </a:solidFill>
                  <a:latin typeface="ui-monospace"/>
                </a:rPr>
                <a:t>n+1</a:t>
              </a:r>
              <a:r>
                <a:rPr lang="zh-CN" altLang="en-US" sz="1200" dirty="0">
                  <a:solidFill>
                    <a:schemeClr val="accent1"/>
                  </a:solidFill>
                  <a:latin typeface="ui-monospace"/>
                </a:rPr>
                <a:t>个空链域，利用这些空链域存放在某种遍历次序下该结点的前驱结点和后继结点的指针，称为</a:t>
              </a:r>
              <a:r>
                <a:rPr lang="zh-CN" altLang="en-US" sz="1200" b="1" dirty="0">
                  <a:solidFill>
                    <a:schemeClr val="accent1"/>
                  </a:solidFill>
                  <a:latin typeface="ui-monospace"/>
                </a:rPr>
                <a:t>线索。</a:t>
              </a:r>
              <a:r>
                <a:rPr lang="zh-CN" altLang="en-US" sz="1200" dirty="0">
                  <a:solidFill>
                    <a:schemeClr val="accent1"/>
                  </a:solidFill>
                  <a:latin typeface="ui-monospace"/>
                </a:rPr>
                <a:t>加上线索的二叉树称为线索二叉树。</a:t>
              </a:r>
              <a:endParaRPr lang="en-US" sz="1200" dirty="0">
                <a:solidFill>
                  <a:schemeClr val="accent1"/>
                </a:solidFill>
                <a:latin typeface="ui-monospace"/>
              </a:endParaRPr>
            </a:p>
          </p:txBody>
        </p:sp>
      </p:grpSp>
      <p:grpSp>
        <p:nvGrpSpPr>
          <p:cNvPr id="2251" name="Group 2250">
            <a:extLst>
              <a:ext uri="{FF2B5EF4-FFF2-40B4-BE49-F238E27FC236}">
                <a16:creationId xmlns:a16="http://schemas.microsoft.com/office/drawing/2014/main" id="{C8E1D26D-9707-54D3-A9B6-B6DCABB63BAC}"/>
              </a:ext>
            </a:extLst>
          </p:cNvPr>
          <p:cNvGrpSpPr/>
          <p:nvPr/>
        </p:nvGrpSpPr>
        <p:grpSpPr>
          <a:xfrm>
            <a:off x="7666003" y="4982601"/>
            <a:ext cx="4386653" cy="572261"/>
            <a:chOff x="7614613" y="5950488"/>
            <a:chExt cx="4386653" cy="572261"/>
          </a:xfrm>
        </p:grpSpPr>
        <p:sp>
          <p:nvSpPr>
            <p:cNvPr id="2252" name="Rectangle: Rounded Corners 2251">
              <a:extLst>
                <a:ext uri="{FF2B5EF4-FFF2-40B4-BE49-F238E27FC236}">
                  <a16:creationId xmlns:a16="http://schemas.microsoft.com/office/drawing/2014/main" id="{526A3ABB-7C76-DC14-5991-B52022567D57}"/>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▶森林</a:t>
              </a:r>
              <a:endParaRPr lang="en-US" altLang="zh-CN" sz="1200" dirty="0">
                <a:solidFill>
                  <a:schemeClr val="bg1"/>
                </a:solidFill>
                <a:latin typeface="ui-monospace"/>
              </a:endParaRPr>
            </a:p>
          </p:txBody>
        </p:sp>
        <p:sp>
          <p:nvSpPr>
            <p:cNvPr id="2254" name="TextBox 2253">
              <a:extLst>
                <a:ext uri="{FF2B5EF4-FFF2-40B4-BE49-F238E27FC236}">
                  <a16:creationId xmlns:a16="http://schemas.microsoft.com/office/drawing/2014/main" id="{695B16BE-4C58-B297-DAFC-D7B23FE8FC07}"/>
                </a:ext>
              </a:extLst>
            </p:cNvPr>
            <p:cNvSpPr txBox="1"/>
            <p:nvPr/>
          </p:nvSpPr>
          <p:spPr>
            <a:xfrm>
              <a:off x="7667294" y="6245750"/>
              <a:ext cx="4281578" cy="276999"/>
            </a:xfrm>
            <a:prstGeom prst="rect">
              <a:avLst/>
            </a:prstGeom>
            <a:noFill/>
          </p:spPr>
          <p:txBody>
            <a:bodyPr wrap="square">
              <a:spAutoFit/>
            </a:bodyPr>
            <a:lstStyle/>
            <a:p>
              <a:r>
                <a:rPr lang="en-US" altLang="zh-CN" sz="1200" dirty="0">
                  <a:solidFill>
                    <a:schemeClr val="accent1"/>
                  </a:solidFill>
                  <a:latin typeface="ui-monospace"/>
                </a:rPr>
                <a:t>m(m&gt;=0)</a:t>
              </a:r>
              <a:r>
                <a:rPr lang="zh-CN" altLang="en-US" sz="1200" dirty="0">
                  <a:solidFill>
                    <a:schemeClr val="accent1"/>
                  </a:solidFill>
                  <a:latin typeface="ui-monospace"/>
                </a:rPr>
                <a:t>棵互不相交的树集合</a:t>
              </a:r>
              <a:endParaRPr lang="en-US" altLang="zh-CN" sz="1200" dirty="0">
                <a:solidFill>
                  <a:schemeClr val="accent1"/>
                </a:solidFill>
                <a:latin typeface="ui-monospace"/>
              </a:endParaRPr>
            </a:p>
          </p:txBody>
        </p:sp>
      </p:grpSp>
      <p:pic>
        <p:nvPicPr>
          <p:cNvPr id="2531" name="Picture 2530">
            <a:extLst>
              <a:ext uri="{FF2B5EF4-FFF2-40B4-BE49-F238E27FC236}">
                <a16:creationId xmlns:a16="http://schemas.microsoft.com/office/drawing/2014/main" id="{D2D6F103-558F-1895-AE50-AE9D27A7B25F}"/>
              </a:ext>
            </a:extLst>
          </p:cNvPr>
          <p:cNvPicPr>
            <a:picLocks noChangeAspect="1"/>
          </p:cNvPicPr>
          <p:nvPr/>
        </p:nvPicPr>
        <p:blipFill>
          <a:blip r:embed="rId7"/>
          <a:stretch>
            <a:fillRect/>
          </a:stretch>
        </p:blipFill>
        <p:spPr>
          <a:xfrm>
            <a:off x="7679921" y="3584732"/>
            <a:ext cx="1597136" cy="1311614"/>
          </a:xfrm>
          <a:prstGeom prst="rect">
            <a:avLst/>
          </a:prstGeom>
        </p:spPr>
      </p:pic>
      <p:pic>
        <p:nvPicPr>
          <p:cNvPr id="2256" name="Picture 2255">
            <a:extLst>
              <a:ext uri="{FF2B5EF4-FFF2-40B4-BE49-F238E27FC236}">
                <a16:creationId xmlns:a16="http://schemas.microsoft.com/office/drawing/2014/main" id="{1A244863-CA9E-7E08-D3E6-269E1E5452E8}"/>
              </a:ext>
            </a:extLst>
          </p:cNvPr>
          <p:cNvPicPr>
            <a:picLocks noChangeAspect="1"/>
          </p:cNvPicPr>
          <p:nvPr/>
        </p:nvPicPr>
        <p:blipFill>
          <a:blip r:embed="rId8"/>
          <a:stretch>
            <a:fillRect/>
          </a:stretch>
        </p:blipFill>
        <p:spPr>
          <a:xfrm>
            <a:off x="8735334" y="3568137"/>
            <a:ext cx="1083446" cy="189954"/>
          </a:xfrm>
          <a:prstGeom prst="rect">
            <a:avLst/>
          </a:prstGeom>
        </p:spPr>
      </p:pic>
      <p:pic>
        <p:nvPicPr>
          <p:cNvPr id="2646" name="Picture 2645">
            <a:extLst>
              <a:ext uri="{FF2B5EF4-FFF2-40B4-BE49-F238E27FC236}">
                <a16:creationId xmlns:a16="http://schemas.microsoft.com/office/drawing/2014/main" id="{369FBC79-2784-716C-19A1-84F61115F4B5}"/>
              </a:ext>
            </a:extLst>
          </p:cNvPr>
          <p:cNvPicPr>
            <a:picLocks noChangeAspect="1"/>
          </p:cNvPicPr>
          <p:nvPr/>
        </p:nvPicPr>
        <p:blipFill>
          <a:blip r:embed="rId9"/>
          <a:stretch>
            <a:fillRect/>
          </a:stretch>
        </p:blipFill>
        <p:spPr>
          <a:xfrm>
            <a:off x="9350574" y="3811178"/>
            <a:ext cx="2649685" cy="1065795"/>
          </a:xfrm>
          <a:prstGeom prst="rect">
            <a:avLst/>
          </a:prstGeom>
        </p:spPr>
      </p:pic>
      <p:graphicFrame>
        <p:nvGraphicFramePr>
          <p:cNvPr id="2259" name="Table 2258">
            <a:extLst>
              <a:ext uri="{FF2B5EF4-FFF2-40B4-BE49-F238E27FC236}">
                <a16:creationId xmlns:a16="http://schemas.microsoft.com/office/drawing/2014/main" id="{063E95FC-0A1A-3ECD-180D-BDADDF190FFA}"/>
              </a:ext>
            </a:extLst>
          </p:cNvPr>
          <p:cNvGraphicFramePr>
            <a:graphicFrameLocks noGrp="1"/>
          </p:cNvGraphicFramePr>
          <p:nvPr>
            <p:extLst>
              <p:ext uri="{D42A27DB-BD31-4B8C-83A1-F6EECF244321}">
                <p14:modId xmlns:p14="http://schemas.microsoft.com/office/powerpoint/2010/main" val="505203402"/>
              </p:ext>
            </p:extLst>
          </p:nvPr>
        </p:nvGraphicFramePr>
        <p:xfrm>
          <a:off x="7729836" y="5604071"/>
          <a:ext cx="4281580" cy="842010"/>
        </p:xfrm>
        <a:graphic>
          <a:graphicData uri="http://schemas.openxmlformats.org/drawingml/2006/table">
            <a:tbl>
              <a:tblPr/>
              <a:tblGrid>
                <a:gridCol w="1232816">
                  <a:extLst>
                    <a:ext uri="{9D8B030D-6E8A-4147-A177-3AD203B41FA5}">
                      <a16:colId xmlns:a16="http://schemas.microsoft.com/office/drawing/2014/main" val="3556351807"/>
                    </a:ext>
                  </a:extLst>
                </a:gridCol>
                <a:gridCol w="3048764">
                  <a:extLst>
                    <a:ext uri="{9D8B030D-6E8A-4147-A177-3AD203B41FA5}">
                      <a16:colId xmlns:a16="http://schemas.microsoft.com/office/drawing/2014/main" val="2180510050"/>
                    </a:ext>
                  </a:extLst>
                </a:gridCol>
              </a:tblGrid>
              <a:tr h="0">
                <a:tc>
                  <a:txBody>
                    <a:bodyPr/>
                    <a:lstStyle/>
                    <a:p>
                      <a:pPr algn="l" rtl="0" fontAlgn="base"/>
                      <a:r>
                        <a:rPr lang="zh-CN" altLang="en-US" sz="1100" b="0" i="0" u="none" strike="noStrike">
                          <a:effectLst/>
                          <a:ea typeface="Microsoft YaHei" panose="020B0503020204020204" pitchFamily="34" charset="-122"/>
                        </a:rPr>
                        <a:t>双亲表示法</a:t>
                      </a:r>
                      <a:r>
                        <a:rPr lang="zh-CN" altLang="en-US" sz="1100" b="0" i="0">
                          <a:effectLst/>
                          <a:ea typeface="Microsoft YaHei" panose="020B0503020204020204" pitchFamily="34" charset="-122"/>
                        </a:rPr>
                        <a:t> </a:t>
                      </a:r>
                      <a:endParaRPr lang="zh-CN" altLang="en-US"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u="none" strike="noStrike" dirty="0">
                          <a:effectLst/>
                          <a:ea typeface="Microsoft YaHei" panose="020B0503020204020204" pitchFamily="34" charset="-122"/>
                        </a:rPr>
                        <a:t>存储结点及其父结点位置信息</a:t>
                      </a:r>
                      <a:r>
                        <a:rPr lang="zh-CN" altLang="en-US" sz="1100" b="0" i="0" dirty="0">
                          <a:effectLst/>
                          <a:ea typeface="Microsoft YaHei" panose="020B0503020204020204" pitchFamily="34" charset="-122"/>
                        </a:rPr>
                        <a:t> </a:t>
                      </a:r>
                      <a:endParaRPr lang="zh-CN" altLang="en-US"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2321636134"/>
                  </a:ext>
                </a:extLst>
              </a:tr>
              <a:tr h="0">
                <a:tc>
                  <a:txBody>
                    <a:bodyPr/>
                    <a:lstStyle/>
                    <a:p>
                      <a:pPr algn="l" rtl="0" fontAlgn="base"/>
                      <a:r>
                        <a:rPr lang="zh-CN" altLang="en-US" sz="1100" b="0" i="0" u="none" strike="noStrike" dirty="0">
                          <a:effectLst/>
                          <a:ea typeface="Microsoft YaHei" panose="020B0503020204020204" pitchFamily="34" charset="-122"/>
                        </a:rPr>
                        <a:t>孩子表示法</a:t>
                      </a:r>
                      <a:r>
                        <a:rPr lang="zh-CN" altLang="en-US" sz="1100" b="0" i="0" dirty="0">
                          <a:effectLst/>
                          <a:ea typeface="Microsoft YaHei" panose="020B0503020204020204" pitchFamily="34" charset="-122"/>
                        </a:rPr>
                        <a:t> </a:t>
                      </a:r>
                      <a:endParaRPr lang="zh-CN" altLang="en-US"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u="none" strike="noStrike">
                          <a:effectLst/>
                          <a:ea typeface="Microsoft YaHei" panose="020B0503020204020204" pitchFamily="34" charset="-122"/>
                        </a:rPr>
                        <a:t>存储结点的孩子结点位置信息的链表</a:t>
                      </a:r>
                      <a:r>
                        <a:rPr lang="zh-CN" altLang="en-US" sz="1100" b="0" i="0">
                          <a:effectLst/>
                          <a:ea typeface="Microsoft YaHei" panose="020B0503020204020204" pitchFamily="34" charset="-122"/>
                        </a:rPr>
                        <a:t> </a:t>
                      </a:r>
                      <a:endParaRPr lang="zh-CN" altLang="en-US"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2568539367"/>
                  </a:ext>
                </a:extLst>
              </a:tr>
              <a:tr h="0">
                <a:tc>
                  <a:txBody>
                    <a:bodyPr/>
                    <a:lstStyle/>
                    <a:p>
                      <a:pPr algn="l" rtl="0" fontAlgn="base"/>
                      <a:r>
                        <a:rPr lang="zh-CN" altLang="en-US" sz="1100" b="0" i="0" u="none" strike="noStrike" dirty="0">
                          <a:effectLst/>
                          <a:ea typeface="Microsoft YaHei" panose="020B0503020204020204" pitchFamily="34" charset="-122"/>
                        </a:rPr>
                        <a:t>孩子兄弟表示法</a:t>
                      </a:r>
                      <a:r>
                        <a:rPr lang="zh-CN" altLang="en-US" sz="1100" b="0" i="0" dirty="0">
                          <a:effectLst/>
                          <a:ea typeface="Microsoft YaHei" panose="020B0503020204020204" pitchFamily="34" charset="-122"/>
                        </a:rPr>
                        <a:t> </a:t>
                      </a:r>
                      <a:endParaRPr lang="zh-CN" altLang="en-US"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u="none" strike="noStrike" dirty="0">
                          <a:effectLst/>
                          <a:ea typeface="Microsoft YaHei" panose="020B0503020204020204" pitchFamily="34" charset="-122"/>
                        </a:rPr>
                        <a:t>结点中设置两个指针域指向该结点的第一个孩子和下一个兄弟</a:t>
                      </a:r>
                      <a:r>
                        <a:rPr lang="zh-CN" altLang="en-US" sz="1100" b="0" i="0" dirty="0">
                          <a:effectLst/>
                          <a:ea typeface="Microsoft YaHei" panose="020B0503020204020204" pitchFamily="34" charset="-122"/>
                        </a:rPr>
                        <a:t> </a:t>
                      </a:r>
                      <a:endParaRPr lang="zh-CN" altLang="en-US"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1304963975"/>
                  </a:ext>
                </a:extLst>
              </a:tr>
            </a:tbl>
          </a:graphicData>
        </a:graphic>
      </p:graphicFrame>
    </p:spTree>
    <p:extLst>
      <p:ext uri="{BB962C8B-B14F-4D97-AF65-F5344CB8AC3E}">
        <p14:creationId xmlns:p14="http://schemas.microsoft.com/office/powerpoint/2010/main" val="2861637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CA83C5-434B-C2BB-C03E-FEA77C2BBB11}"/>
              </a:ext>
            </a:extLst>
          </p:cNvPr>
          <p:cNvSpPr txBox="1"/>
          <p:nvPr/>
        </p:nvSpPr>
        <p:spPr>
          <a:xfrm>
            <a:off x="0" y="959472"/>
            <a:ext cx="2986206" cy="600164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线性结构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i="0" u="none" strike="noStrike" kern="1200" cap="none" spc="0" normalizeH="0" baseline="0" noProof="0" dirty="0">
                <a:ln>
                  <a:noFill/>
                </a:ln>
                <a:effectLst/>
                <a:uLnTx/>
                <a:uFillTx/>
                <a:latin typeface="Arial" panose="020B0604020202020204" pitchFamily="34" charset="0"/>
                <a:ea typeface="Punctuation SC"/>
                <a:cs typeface="+mn-cs"/>
              </a:rPr>
              <a:t>线性表 </a:t>
            </a:r>
            <a:r>
              <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i="0" u="none" strike="noStrike" kern="1200" cap="none" spc="0" normalizeH="0" baseline="0" noProof="0" dirty="0">
                <a:ln>
                  <a:noFill/>
                </a:ln>
                <a:effectLst/>
                <a:uLnTx/>
                <a:uFillTx/>
                <a:latin typeface="Arial" panose="020B0604020202020204" pitchFamily="34" charset="0"/>
                <a:ea typeface="Punctuation SC"/>
                <a:cs typeface="+mn-cs"/>
              </a:rPr>
              <a:t>顺序表、链表</a:t>
            </a:r>
            <a:r>
              <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栈和队列</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串</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数组、矩阵、广义表</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数组</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矩阵</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广义表</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树</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树与二叉树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性质和存储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遍历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线索二叉树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最优二叉树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森林</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图</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1"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1" i="0" u="none" strike="noStrike" kern="1200" cap="none" spc="0" normalizeH="0" baseline="0" noProof="0" dirty="0">
                <a:ln>
                  <a:noFill/>
                </a:ln>
                <a:effectLst/>
                <a:uLnTx/>
                <a:uFillTx/>
                <a:latin typeface="Arial" panose="020B0604020202020204" pitchFamily="34" charset="0"/>
                <a:ea typeface="Punctuation SC"/>
                <a:cs typeface="+mn-cs"/>
              </a:rPr>
              <a:t>定义和存储</a:t>
            </a:r>
            <a:endPar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遍历</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1"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1" i="0" u="none" strike="noStrike" kern="1200" cap="none" spc="0" normalizeH="0" baseline="0" noProof="0" dirty="0">
                <a:ln>
                  <a:noFill/>
                </a:ln>
                <a:effectLst/>
                <a:uLnTx/>
                <a:uFillTx/>
                <a:latin typeface="Arial" panose="020B0604020202020204" pitchFamily="34" charset="0"/>
                <a:ea typeface="Punctuation SC"/>
                <a:cs typeface="+mn-cs"/>
              </a:rPr>
              <a:t>生成树和最小生成树</a:t>
            </a:r>
            <a:endPar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拓扑排序和关键路径</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1"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1" i="0" u="none" strike="noStrike" kern="1200" cap="none" spc="0" normalizeH="0" baseline="0" noProof="0" dirty="0">
                <a:ln>
                  <a:noFill/>
                </a:ln>
                <a:effectLst/>
                <a:uLnTx/>
                <a:uFillTx/>
                <a:latin typeface="Arial" panose="020B0604020202020204" pitchFamily="34" charset="0"/>
                <a:ea typeface="Punctuation SC"/>
                <a:cs typeface="+mn-cs"/>
              </a:rPr>
              <a:t>最短路径</a:t>
            </a:r>
            <a:endPar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查找算法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静态查找表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动态查找表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哈希表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排序算法</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简单排序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希尔排序</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快速排序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堆排序</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归并排序</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F6E8EA44-BACD-2DF7-D1BB-48B659756CE3}"/>
              </a:ext>
            </a:extLst>
          </p:cNvPr>
          <p:cNvSpPr txBox="1"/>
          <p:nvPr/>
        </p:nvSpPr>
        <p:spPr>
          <a:xfrm>
            <a:off x="11473" y="218648"/>
            <a:ext cx="1620957"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数据结构</a:t>
            </a:r>
            <a:endParaRPr lang="en-US" dirty="0"/>
          </a:p>
        </p:txBody>
      </p:sp>
      <p:cxnSp>
        <p:nvCxnSpPr>
          <p:cNvPr id="7" name="Straight Connector 6">
            <a:extLst>
              <a:ext uri="{FF2B5EF4-FFF2-40B4-BE49-F238E27FC236}">
                <a16:creationId xmlns:a16="http://schemas.microsoft.com/office/drawing/2014/main" id="{A7CFB97A-E7E7-BB6E-4BA9-8E7CB22DC8F7}"/>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1" name="Group 10">
            <a:extLst>
              <a:ext uri="{FF2B5EF4-FFF2-40B4-BE49-F238E27FC236}">
                <a16:creationId xmlns:a16="http://schemas.microsoft.com/office/drawing/2014/main" id="{98BD0C93-DD89-25A7-1553-E3F85FE0D7B8}"/>
              </a:ext>
            </a:extLst>
          </p:cNvPr>
          <p:cNvGrpSpPr/>
          <p:nvPr/>
        </p:nvGrpSpPr>
        <p:grpSpPr>
          <a:xfrm>
            <a:off x="3119859" y="78451"/>
            <a:ext cx="4386653" cy="572261"/>
            <a:chOff x="7614613" y="5950488"/>
            <a:chExt cx="4386653" cy="572261"/>
          </a:xfrm>
        </p:grpSpPr>
        <p:sp>
          <p:nvSpPr>
            <p:cNvPr id="12" name="Rectangle: Rounded Corners 11">
              <a:extLst>
                <a:ext uri="{FF2B5EF4-FFF2-40B4-BE49-F238E27FC236}">
                  <a16:creationId xmlns:a16="http://schemas.microsoft.com/office/drawing/2014/main" id="{01574168-1441-BE9C-0656-1623F1FA4E3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▶图 </a:t>
              </a:r>
              <a:r>
                <a:rPr lang="en-US" altLang="zh-CN" sz="1200" dirty="0">
                  <a:solidFill>
                    <a:schemeClr val="bg1"/>
                  </a:solidFill>
                  <a:latin typeface="ui-monospace"/>
                </a:rPr>
                <a:t>graph</a:t>
              </a:r>
              <a:endParaRPr lang="en-US" sz="1200" dirty="0">
                <a:solidFill>
                  <a:schemeClr val="bg1"/>
                </a:solidFill>
              </a:endParaRPr>
            </a:p>
          </p:txBody>
        </p:sp>
        <p:sp>
          <p:nvSpPr>
            <p:cNvPr id="13" name="TextBox 12">
              <a:extLst>
                <a:ext uri="{FF2B5EF4-FFF2-40B4-BE49-F238E27FC236}">
                  <a16:creationId xmlns:a16="http://schemas.microsoft.com/office/drawing/2014/main" id="{99A4E7D9-2F45-730B-49F2-2D0574D0A953}"/>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rPr>
                <a:t>由顶点</a:t>
              </a:r>
              <a:r>
                <a:rPr lang="en-US" altLang="zh-CN" sz="1200" dirty="0">
                  <a:solidFill>
                    <a:schemeClr val="accent1"/>
                  </a:solidFill>
                </a:rPr>
                <a:t>V</a:t>
              </a:r>
              <a:r>
                <a:rPr lang="zh-CN" altLang="en-US" sz="1200" dirty="0">
                  <a:solidFill>
                    <a:schemeClr val="accent1"/>
                  </a:solidFill>
                </a:rPr>
                <a:t>和连接这些节点的边</a:t>
              </a:r>
              <a:r>
                <a:rPr lang="en-US" altLang="zh-CN" sz="1200" dirty="0">
                  <a:solidFill>
                    <a:schemeClr val="accent1"/>
                  </a:solidFill>
                </a:rPr>
                <a:t>E</a:t>
              </a:r>
              <a:r>
                <a:rPr lang="zh-CN" altLang="en-US" sz="1200" dirty="0">
                  <a:solidFill>
                    <a:schemeClr val="accent1"/>
                  </a:solidFill>
                </a:rPr>
                <a:t>组成的集合</a:t>
              </a:r>
              <a:endParaRPr lang="en-US" sz="1200" dirty="0">
                <a:solidFill>
                  <a:schemeClr val="accent1"/>
                </a:solidFill>
              </a:endParaRPr>
            </a:p>
          </p:txBody>
        </p:sp>
      </p:grpSp>
      <p:grpSp>
        <p:nvGrpSpPr>
          <p:cNvPr id="14" name="Group 13">
            <a:extLst>
              <a:ext uri="{FF2B5EF4-FFF2-40B4-BE49-F238E27FC236}">
                <a16:creationId xmlns:a16="http://schemas.microsoft.com/office/drawing/2014/main" id="{5B4E26C1-0201-23F8-2BCB-C5049651CA54}"/>
              </a:ext>
            </a:extLst>
          </p:cNvPr>
          <p:cNvGrpSpPr/>
          <p:nvPr/>
        </p:nvGrpSpPr>
        <p:grpSpPr>
          <a:xfrm>
            <a:off x="7679921" y="1062379"/>
            <a:ext cx="4386653" cy="1310925"/>
            <a:chOff x="7614613" y="5950488"/>
            <a:chExt cx="4386653" cy="1310925"/>
          </a:xfrm>
        </p:grpSpPr>
        <p:sp>
          <p:nvSpPr>
            <p:cNvPr id="15" name="Rectangle: Rounded Corners 14">
              <a:extLst>
                <a:ext uri="{FF2B5EF4-FFF2-40B4-BE49-F238E27FC236}">
                  <a16:creationId xmlns:a16="http://schemas.microsoft.com/office/drawing/2014/main" id="{C8F3528E-AC5F-DB44-EF32-EAA0A41FEA2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▶深度优先遍历 </a:t>
              </a:r>
              <a:r>
                <a:rPr lang="en-US" altLang="zh-CN" sz="1200" dirty="0">
                  <a:solidFill>
                    <a:schemeClr val="bg1"/>
                  </a:solidFill>
                  <a:latin typeface="ui-monospace"/>
                </a:rPr>
                <a:t>DFS</a:t>
              </a:r>
            </a:p>
          </p:txBody>
        </p:sp>
        <p:sp>
          <p:nvSpPr>
            <p:cNvPr id="16" name="TextBox 15">
              <a:extLst>
                <a:ext uri="{FF2B5EF4-FFF2-40B4-BE49-F238E27FC236}">
                  <a16:creationId xmlns:a16="http://schemas.microsoft.com/office/drawing/2014/main" id="{79FC3330-7375-B3A4-F904-B63F170EC04B}"/>
                </a:ext>
              </a:extLst>
            </p:cNvPr>
            <p:cNvSpPr txBox="1"/>
            <p:nvPr/>
          </p:nvSpPr>
          <p:spPr>
            <a:xfrm>
              <a:off x="7667294" y="6245750"/>
              <a:ext cx="4281578" cy="1015663"/>
            </a:xfrm>
            <a:prstGeom prst="rect">
              <a:avLst/>
            </a:prstGeom>
            <a:noFill/>
          </p:spPr>
          <p:txBody>
            <a:bodyPr wrap="square">
              <a:spAutoFit/>
            </a:bodyPr>
            <a:lstStyle/>
            <a:p>
              <a:r>
                <a:rPr lang="en-US" altLang="zh-CN" sz="1200" dirty="0">
                  <a:solidFill>
                    <a:schemeClr val="accent1"/>
                  </a:solidFill>
                  <a:latin typeface="ui-monospace"/>
                </a:rPr>
                <a:t>1.</a:t>
              </a:r>
              <a:r>
                <a:rPr lang="zh-CN" altLang="en-US" sz="1200" dirty="0">
                  <a:solidFill>
                    <a:schemeClr val="accent1"/>
                  </a:solidFill>
                  <a:latin typeface="ui-monospace"/>
                </a:rPr>
                <a:t>首先访问出发顶点</a:t>
              </a:r>
              <a:r>
                <a:rPr lang="en-US" altLang="zh-CN" sz="1200" dirty="0">
                  <a:solidFill>
                    <a:schemeClr val="accent1"/>
                  </a:solidFill>
                  <a:latin typeface="ui-monospace"/>
                </a:rPr>
                <a:t>V </a:t>
              </a:r>
            </a:p>
            <a:p>
              <a:r>
                <a:rPr lang="en-US" altLang="zh-CN" sz="1200" dirty="0">
                  <a:solidFill>
                    <a:schemeClr val="accent1"/>
                  </a:solidFill>
                  <a:latin typeface="ui-monospace"/>
                </a:rPr>
                <a:t>2.</a:t>
              </a:r>
              <a:r>
                <a:rPr lang="zh-CN" altLang="en-US" sz="1200" dirty="0">
                  <a:solidFill>
                    <a:schemeClr val="accent1"/>
                  </a:solidFill>
                  <a:latin typeface="ui-monospace"/>
                </a:rPr>
                <a:t>依次从</a:t>
              </a:r>
              <a:r>
                <a:rPr lang="en-US" altLang="zh-CN" sz="1200" dirty="0">
                  <a:solidFill>
                    <a:schemeClr val="accent1"/>
                  </a:solidFill>
                  <a:latin typeface="ui-monospace"/>
                </a:rPr>
                <a:t>V</a:t>
              </a:r>
              <a:r>
                <a:rPr lang="zh-CN" altLang="en-US" sz="1200" dirty="0">
                  <a:solidFill>
                    <a:schemeClr val="accent1"/>
                  </a:solidFill>
                  <a:latin typeface="ui-monospace"/>
                </a:rPr>
                <a:t>出发搜索</a:t>
              </a:r>
              <a:r>
                <a:rPr lang="en-US" altLang="zh-CN" sz="1200" dirty="0">
                  <a:solidFill>
                    <a:schemeClr val="accent1"/>
                  </a:solidFill>
                  <a:latin typeface="ui-monospace"/>
                </a:rPr>
                <a:t>V</a:t>
              </a:r>
              <a:r>
                <a:rPr lang="zh-CN" altLang="en-US" sz="1200" dirty="0">
                  <a:solidFill>
                    <a:schemeClr val="accent1"/>
                  </a:solidFill>
                  <a:latin typeface="ui-monospace"/>
                </a:rPr>
                <a:t>的任意一个邻接点</a:t>
              </a:r>
              <a:r>
                <a:rPr lang="en-US" altLang="zh-CN" sz="1200" dirty="0">
                  <a:solidFill>
                    <a:schemeClr val="accent1"/>
                  </a:solidFill>
                  <a:latin typeface="ui-monospace"/>
                </a:rPr>
                <a:t>W </a:t>
              </a:r>
            </a:p>
            <a:p>
              <a:r>
                <a:rPr lang="en-US" altLang="zh-CN" sz="1200" dirty="0">
                  <a:solidFill>
                    <a:schemeClr val="accent1"/>
                  </a:solidFill>
                  <a:latin typeface="ui-monospace"/>
                </a:rPr>
                <a:t>3.</a:t>
              </a:r>
              <a:r>
                <a:rPr lang="zh-CN" altLang="en-US" sz="1200" dirty="0">
                  <a:solidFill>
                    <a:schemeClr val="accent1"/>
                  </a:solidFill>
                  <a:latin typeface="ui-monospace"/>
                </a:rPr>
                <a:t>若</a:t>
              </a:r>
              <a:r>
                <a:rPr lang="en-US" altLang="zh-CN" sz="1200" dirty="0">
                  <a:solidFill>
                    <a:schemeClr val="accent1"/>
                  </a:solidFill>
                  <a:latin typeface="ui-monospace"/>
                </a:rPr>
                <a:t>W</a:t>
              </a:r>
              <a:r>
                <a:rPr lang="zh-CN" altLang="en-US" sz="1200" dirty="0">
                  <a:solidFill>
                    <a:schemeClr val="accent1"/>
                  </a:solidFill>
                  <a:latin typeface="ui-monospace"/>
                </a:rPr>
                <a:t>未访问过则从该点出发继续深度优先遍历</a:t>
              </a:r>
              <a:endParaRPr lang="en-US" altLang="zh-CN" sz="1200" dirty="0">
                <a:solidFill>
                  <a:schemeClr val="accent1"/>
                </a:solidFill>
                <a:latin typeface="ui-monospace"/>
              </a:endParaRPr>
            </a:p>
            <a:p>
              <a:r>
                <a:rPr lang="en-US" altLang="zh-CN" sz="1200" dirty="0">
                  <a:solidFill>
                    <a:srgbClr val="4472C4"/>
                  </a:solidFill>
                  <a:latin typeface="Calibri" panose="020F0502020204030204"/>
                  <a:ea typeface="等线" panose="02010600030101010101" pitchFamily="2" charset="-122"/>
                </a:rPr>
                <a:t>v</a:t>
              </a:r>
              <a:r>
                <a:rPr lang="en-US" altLang="zh-CN" sz="1200" baseline="-25000" dirty="0">
                  <a:solidFill>
                    <a:srgbClr val="4472C4"/>
                  </a:solidFill>
                  <a:latin typeface="Calibri" panose="020F0502020204030204"/>
                  <a:ea typeface="等线" panose="02010600030101010101" pitchFamily="2" charset="-122"/>
                </a:rPr>
                <a:t>1</a:t>
              </a:r>
              <a:r>
                <a:rPr kumimoji="0" lang="en-US" altLang="zh-CN" sz="1200" b="0" i="0" u="none" strike="noStrike" kern="1200" cap="none" spc="0" normalizeH="0" noProof="0" dirty="0">
                  <a:ln>
                    <a:noFill/>
                  </a:ln>
                  <a:solidFill>
                    <a:srgbClr val="4472C4"/>
                  </a:solidFill>
                  <a:effectLst/>
                  <a:uLnTx/>
                  <a:uFillTx/>
                  <a:latin typeface="Calibri" panose="020F0502020204030204"/>
                  <a:ea typeface="等线" panose="02010600030101010101" pitchFamily="2" charset="-122"/>
                  <a:cs typeface="+mn-cs"/>
                </a:rPr>
                <a:t>&gt;</a:t>
              </a:r>
              <a:r>
                <a:rPr kumimoji="0" lang="en-US" altLang="zh-CN" sz="12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v</a:t>
              </a:r>
              <a:r>
                <a:rPr lang="en-US" altLang="zh-CN" sz="1200" baseline="-25000" dirty="0">
                  <a:solidFill>
                    <a:srgbClr val="4472C4"/>
                  </a:solidFill>
                  <a:latin typeface="Calibri" panose="020F0502020204030204"/>
                  <a:ea typeface="等线" panose="02010600030101010101" pitchFamily="2" charset="-122"/>
                </a:rPr>
                <a:t>2</a:t>
              </a:r>
              <a:r>
                <a:rPr kumimoji="0" lang="en-US" altLang="zh-CN" sz="1200" b="0" i="0" u="none" strike="noStrike" kern="1200" cap="none" spc="0" normalizeH="0" noProof="0" dirty="0">
                  <a:ln>
                    <a:noFill/>
                  </a:ln>
                  <a:solidFill>
                    <a:srgbClr val="4472C4"/>
                  </a:solidFill>
                  <a:effectLst/>
                  <a:uLnTx/>
                  <a:uFillTx/>
                  <a:latin typeface="Calibri" panose="020F0502020204030204"/>
                  <a:ea typeface="等线" panose="02010600030101010101" pitchFamily="2" charset="-122"/>
                  <a:cs typeface="+mn-cs"/>
                </a:rPr>
                <a:t>&gt;</a:t>
              </a:r>
              <a:r>
                <a:rPr kumimoji="0" lang="en-US" altLang="zh-CN" sz="12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v</a:t>
              </a:r>
              <a:r>
                <a:rPr lang="en-US" altLang="zh-CN" sz="1200" baseline="-25000" dirty="0">
                  <a:solidFill>
                    <a:srgbClr val="4472C4"/>
                  </a:solidFill>
                  <a:latin typeface="Calibri" panose="020F0502020204030204"/>
                  <a:ea typeface="等线" panose="02010600030101010101" pitchFamily="2" charset="-122"/>
                </a:rPr>
                <a:t>4</a:t>
              </a:r>
              <a:r>
                <a:rPr kumimoji="0" lang="en-US" altLang="zh-CN" sz="1200" b="0" i="0" u="none" strike="noStrike" kern="1200" cap="none" spc="0" normalizeH="0" noProof="0" dirty="0">
                  <a:ln>
                    <a:noFill/>
                  </a:ln>
                  <a:solidFill>
                    <a:srgbClr val="4472C4"/>
                  </a:solidFill>
                  <a:effectLst/>
                  <a:uLnTx/>
                  <a:uFillTx/>
                  <a:latin typeface="Calibri" panose="020F0502020204030204"/>
                  <a:ea typeface="等线" panose="02010600030101010101" pitchFamily="2" charset="-122"/>
                  <a:cs typeface="+mn-cs"/>
                </a:rPr>
                <a:t>&gt;</a:t>
              </a:r>
              <a:r>
                <a:rPr kumimoji="0" lang="en-US" altLang="zh-CN" sz="12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v</a:t>
              </a:r>
              <a:r>
                <a:rPr kumimoji="0" lang="en-US" altLang="zh-CN" sz="1200" b="0" i="0" u="none" strike="noStrike" kern="1200" cap="none" spc="0" normalizeH="0" baseline="-25000" noProof="0" dirty="0">
                  <a:ln>
                    <a:noFill/>
                  </a:ln>
                  <a:solidFill>
                    <a:srgbClr val="4472C4"/>
                  </a:solidFill>
                  <a:effectLst/>
                  <a:uLnTx/>
                  <a:uFillTx/>
                  <a:latin typeface="Calibri" panose="020F0502020204030204"/>
                  <a:ea typeface="等线" panose="02010600030101010101" pitchFamily="2" charset="-122"/>
                  <a:cs typeface="+mn-cs"/>
                </a:rPr>
                <a:t>5</a:t>
              </a:r>
              <a:r>
                <a:rPr kumimoji="0" lang="en-US" altLang="zh-CN" sz="1200" b="0" i="0" u="none" strike="noStrike" kern="1200" cap="none" spc="0" normalizeH="0" noProof="0" dirty="0">
                  <a:ln>
                    <a:noFill/>
                  </a:ln>
                  <a:solidFill>
                    <a:srgbClr val="4472C4"/>
                  </a:solidFill>
                  <a:effectLst/>
                  <a:uLnTx/>
                  <a:uFillTx/>
                  <a:latin typeface="Calibri" panose="020F0502020204030204"/>
                  <a:ea typeface="等线" panose="02010600030101010101" pitchFamily="2" charset="-122"/>
                  <a:cs typeface="+mn-cs"/>
                </a:rPr>
                <a:t>&gt;</a:t>
              </a:r>
              <a:r>
                <a:rPr kumimoji="0" lang="en-US" altLang="zh-CN" sz="12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v</a:t>
              </a:r>
              <a:r>
                <a:rPr lang="en-US" altLang="zh-CN" sz="1200" baseline="-25000" dirty="0">
                  <a:solidFill>
                    <a:srgbClr val="4472C4"/>
                  </a:solidFill>
                  <a:latin typeface="Calibri" panose="020F0502020204030204"/>
                  <a:ea typeface="等线" panose="02010600030101010101" pitchFamily="2" charset="-122"/>
                </a:rPr>
                <a:t>3</a:t>
              </a:r>
              <a:endParaRPr lang="en-US" altLang="zh-CN" sz="1200" dirty="0">
                <a:solidFill>
                  <a:srgbClr val="4472C4"/>
                </a:solidFill>
                <a:latin typeface="ui-monospace"/>
              </a:endParaRPr>
            </a:p>
            <a:p>
              <a:r>
                <a:rPr lang="zh-CN" altLang="en-US" sz="1200" dirty="0">
                  <a:solidFill>
                    <a:schemeClr val="accent1"/>
                  </a:solidFill>
                  <a:latin typeface="ui-monospace"/>
                </a:rPr>
                <a:t>理念：递归</a:t>
              </a:r>
              <a:r>
                <a:rPr lang="en-US" altLang="zh-CN" sz="1200" dirty="0">
                  <a:solidFill>
                    <a:schemeClr val="accent1"/>
                  </a:solidFill>
                  <a:latin typeface="ui-monospace"/>
                </a:rPr>
                <a:t>/</a:t>
              </a:r>
              <a:r>
                <a:rPr lang="zh-CN" altLang="en-US" sz="1200" dirty="0">
                  <a:solidFill>
                    <a:schemeClr val="accent1"/>
                  </a:solidFill>
                  <a:latin typeface="ui-monospace"/>
                </a:rPr>
                <a:t>回溯</a:t>
              </a:r>
              <a:r>
                <a:rPr lang="en-US" altLang="zh-CN" sz="1200" dirty="0">
                  <a:solidFill>
                    <a:schemeClr val="accent1"/>
                  </a:solidFill>
                  <a:latin typeface="ui-monospace"/>
                </a:rPr>
                <a:t>/</a:t>
              </a:r>
              <a:r>
                <a:rPr lang="zh-CN" altLang="en-US" sz="1200" dirty="0">
                  <a:solidFill>
                    <a:schemeClr val="accent1"/>
                  </a:solidFill>
                  <a:latin typeface="ui-monospace"/>
                </a:rPr>
                <a:t>栈</a:t>
              </a:r>
              <a:r>
                <a:rPr lang="en-US" altLang="zh-CN" sz="1200" dirty="0">
                  <a:solidFill>
                    <a:schemeClr val="accent1"/>
                  </a:solidFill>
                  <a:latin typeface="ui-monospace"/>
                </a:rPr>
                <a:t> </a:t>
              </a:r>
              <a:r>
                <a:rPr lang="zh-CN" altLang="en-US" sz="1200" dirty="0">
                  <a:solidFill>
                    <a:schemeClr val="accent1"/>
                  </a:solidFill>
                  <a:latin typeface="ui-monospace"/>
                </a:rPr>
                <a:t>时间复杂度：邻接矩阵</a:t>
              </a:r>
              <a:r>
                <a:rPr lang="en-US" altLang="zh-CN" sz="1200" dirty="0">
                  <a:solidFill>
                    <a:schemeClr val="accent1"/>
                  </a:solidFill>
                  <a:latin typeface="ui-monospace"/>
                </a:rPr>
                <a:t>O(n</a:t>
              </a:r>
              <a:r>
                <a:rPr lang="en-US" altLang="zh-CN" sz="1200" baseline="30000" dirty="0">
                  <a:solidFill>
                    <a:schemeClr val="accent1"/>
                  </a:solidFill>
                  <a:latin typeface="ui-monospace"/>
                </a:rPr>
                <a:t>2</a:t>
              </a:r>
              <a:r>
                <a:rPr lang="en-US" altLang="zh-CN" sz="1200" dirty="0">
                  <a:solidFill>
                    <a:schemeClr val="accent1"/>
                  </a:solidFill>
                  <a:latin typeface="ui-monospace"/>
                </a:rPr>
                <a:t>) </a:t>
              </a:r>
              <a:r>
                <a:rPr lang="zh-CN" altLang="en-US" sz="1200" dirty="0">
                  <a:solidFill>
                    <a:schemeClr val="accent1"/>
                  </a:solidFill>
                  <a:latin typeface="ui-monospace"/>
                </a:rPr>
                <a:t>邻接表</a:t>
              </a:r>
              <a:r>
                <a:rPr lang="en-US" altLang="zh-CN" sz="1200" dirty="0">
                  <a:solidFill>
                    <a:schemeClr val="accent1"/>
                  </a:solidFill>
                  <a:latin typeface="ui-monospace"/>
                </a:rPr>
                <a:t>O(</a:t>
              </a:r>
              <a:r>
                <a:rPr lang="en-US" altLang="zh-CN" sz="1200" dirty="0" err="1">
                  <a:solidFill>
                    <a:schemeClr val="accent1"/>
                  </a:solidFill>
                  <a:latin typeface="ui-monospace"/>
                </a:rPr>
                <a:t>n+e</a:t>
              </a:r>
              <a:r>
                <a:rPr lang="en-US" altLang="zh-CN" sz="1200" dirty="0">
                  <a:solidFill>
                    <a:schemeClr val="accent1"/>
                  </a:solidFill>
                  <a:latin typeface="ui-monospace"/>
                </a:rPr>
                <a:t>)</a:t>
              </a:r>
              <a:endParaRPr lang="en-US" sz="1200" dirty="0">
                <a:solidFill>
                  <a:schemeClr val="accent1"/>
                </a:solidFill>
                <a:latin typeface="ui-monospace"/>
              </a:endParaRPr>
            </a:p>
          </p:txBody>
        </p:sp>
      </p:grpSp>
      <p:pic>
        <p:nvPicPr>
          <p:cNvPr id="2833" name="Picture 2832">
            <a:extLst>
              <a:ext uri="{FF2B5EF4-FFF2-40B4-BE49-F238E27FC236}">
                <a16:creationId xmlns:a16="http://schemas.microsoft.com/office/drawing/2014/main" id="{FA895E97-9C4E-E570-1273-02343FD1AB3F}"/>
              </a:ext>
            </a:extLst>
          </p:cNvPr>
          <p:cNvPicPr>
            <a:picLocks noChangeAspect="1"/>
          </p:cNvPicPr>
          <p:nvPr/>
        </p:nvPicPr>
        <p:blipFill>
          <a:blip r:embed="rId2"/>
          <a:stretch>
            <a:fillRect/>
          </a:stretch>
        </p:blipFill>
        <p:spPr>
          <a:xfrm>
            <a:off x="3295525" y="607657"/>
            <a:ext cx="3951096" cy="1143417"/>
          </a:xfrm>
          <a:prstGeom prst="rect">
            <a:avLst/>
          </a:prstGeom>
        </p:spPr>
      </p:pic>
      <p:graphicFrame>
        <p:nvGraphicFramePr>
          <p:cNvPr id="9" name="Table 8">
            <a:extLst>
              <a:ext uri="{FF2B5EF4-FFF2-40B4-BE49-F238E27FC236}">
                <a16:creationId xmlns:a16="http://schemas.microsoft.com/office/drawing/2014/main" id="{E882BB1F-6989-223D-EA3F-046FAF617B56}"/>
              </a:ext>
            </a:extLst>
          </p:cNvPr>
          <p:cNvGraphicFramePr>
            <a:graphicFrameLocks noGrp="1"/>
          </p:cNvGraphicFramePr>
          <p:nvPr>
            <p:extLst>
              <p:ext uri="{D42A27DB-BD31-4B8C-83A1-F6EECF244321}">
                <p14:modId xmlns:p14="http://schemas.microsoft.com/office/powerpoint/2010/main" val="2357449066"/>
              </p:ext>
            </p:extLst>
          </p:nvPr>
        </p:nvGraphicFramePr>
        <p:xfrm>
          <a:off x="3295526" y="2164026"/>
          <a:ext cx="3951095" cy="899160"/>
        </p:xfrm>
        <a:graphic>
          <a:graphicData uri="http://schemas.openxmlformats.org/drawingml/2006/table">
            <a:tbl>
              <a:tblPr/>
              <a:tblGrid>
                <a:gridCol w="1568574">
                  <a:extLst>
                    <a:ext uri="{9D8B030D-6E8A-4147-A177-3AD203B41FA5}">
                      <a16:colId xmlns:a16="http://schemas.microsoft.com/office/drawing/2014/main" val="3556351807"/>
                    </a:ext>
                  </a:extLst>
                </a:gridCol>
                <a:gridCol w="2382521">
                  <a:extLst>
                    <a:ext uri="{9D8B030D-6E8A-4147-A177-3AD203B41FA5}">
                      <a16:colId xmlns:a16="http://schemas.microsoft.com/office/drawing/2014/main" val="2180510050"/>
                    </a:ext>
                  </a:extLst>
                </a:gridCol>
              </a:tblGrid>
              <a:tr h="0">
                <a:tc>
                  <a:txBody>
                    <a:bodyPr/>
                    <a:lstStyle/>
                    <a:p>
                      <a:pPr algn="l" rtl="0" fontAlgn="base"/>
                      <a:r>
                        <a:rPr lang="zh-CN" altLang="en-US" sz="1100" b="0" i="0" u="none" strike="noStrike" dirty="0">
                          <a:effectLst/>
                          <a:ea typeface="Microsoft YaHei" panose="020B0503020204020204" pitchFamily="34" charset="-122"/>
                        </a:rPr>
                        <a:t>度</a:t>
                      </a:r>
                      <a:endParaRPr lang="zh-CN" altLang="en-US"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u="none" strike="noStrike" dirty="0">
                          <a:effectLst/>
                          <a:ea typeface="Microsoft YaHei" panose="020B0503020204020204" pitchFamily="34" charset="-122"/>
                        </a:rPr>
                        <a:t>关联该顶点的边的数目</a:t>
                      </a:r>
                      <a:r>
                        <a:rPr lang="en-US" altLang="zh-CN" sz="1100" b="0" i="0" u="none" strike="noStrike" dirty="0">
                          <a:effectLst/>
                          <a:ea typeface="Microsoft YaHei" panose="020B0503020204020204" pitchFamily="34" charset="-122"/>
                        </a:rPr>
                        <a:t>D(v)</a:t>
                      </a:r>
                      <a:endParaRPr lang="zh-CN" altLang="en-US"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2321636134"/>
                  </a:ext>
                </a:extLst>
              </a:tr>
              <a:tr h="0">
                <a:tc>
                  <a:txBody>
                    <a:bodyPr/>
                    <a:lstStyle/>
                    <a:p>
                      <a:pPr algn="l" rtl="0" fontAlgn="base"/>
                      <a:r>
                        <a:rPr lang="zh-CN" altLang="en-US" sz="1100" b="0" i="0" u="none" strike="noStrike" dirty="0">
                          <a:effectLst/>
                          <a:ea typeface="Microsoft YaHei" panose="020B0503020204020204" pitchFamily="34" charset="-122"/>
                        </a:rPr>
                        <a:t>出度</a:t>
                      </a:r>
                      <a:r>
                        <a:rPr lang="en-US" altLang="zh-CN" sz="1100" b="0" i="0" u="none" strike="noStrike" dirty="0">
                          <a:effectLst/>
                          <a:ea typeface="Microsoft YaHei" panose="020B0503020204020204" pitchFamily="34" charset="-122"/>
                        </a:rPr>
                        <a:t>/</a:t>
                      </a:r>
                      <a:r>
                        <a:rPr lang="zh-CN" altLang="en-US" sz="1100" b="0" i="0" u="none" strike="noStrike" dirty="0">
                          <a:effectLst/>
                          <a:ea typeface="Microsoft YaHei" panose="020B0503020204020204" pitchFamily="34" charset="-122"/>
                        </a:rPr>
                        <a:t>入度</a:t>
                      </a:r>
                      <a:r>
                        <a:rPr lang="zh-CN" altLang="en-US" sz="1100" b="0" i="0" dirty="0">
                          <a:effectLst/>
                          <a:ea typeface="Microsoft YaHei" panose="020B0503020204020204" pitchFamily="34" charset="-122"/>
                        </a:rPr>
                        <a:t> </a:t>
                      </a:r>
                      <a:endParaRPr lang="zh-CN" altLang="en-US"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u="none" strike="noStrike" dirty="0">
                          <a:effectLst/>
                          <a:ea typeface="Microsoft YaHei" panose="020B0503020204020204" pitchFamily="34" charset="-122"/>
                        </a:rPr>
                        <a:t>以该顶点为起点或终点的有向边</a:t>
                      </a:r>
                      <a:endParaRPr lang="zh-CN" altLang="en-US"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2568539367"/>
                  </a:ext>
                </a:extLst>
              </a:tr>
              <a:tr h="0">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zh-CN" altLang="en-US" sz="1100" b="0" i="0" u="none" strike="noStrike" kern="1200" dirty="0">
                          <a:solidFill>
                            <a:schemeClr val="tx1"/>
                          </a:solidFill>
                          <a:effectLst/>
                          <a:latin typeface="+mn-lt"/>
                          <a:ea typeface="Microsoft YaHei" panose="020B0503020204020204" pitchFamily="34" charset="-122"/>
                          <a:cs typeface="+mn-cs"/>
                        </a:rPr>
                        <a:t>连通图</a:t>
                      </a:r>
                      <a:r>
                        <a:rPr lang="en-US" altLang="zh-CN" sz="1100" b="0" i="0" u="none" strike="noStrike" kern="1200" dirty="0">
                          <a:solidFill>
                            <a:schemeClr val="tx1"/>
                          </a:solidFill>
                          <a:effectLst/>
                          <a:latin typeface="+mn-lt"/>
                          <a:ea typeface="Microsoft YaHei" panose="020B0503020204020204" pitchFamily="34" charset="-122"/>
                          <a:cs typeface="+mn-cs"/>
                        </a:rPr>
                        <a:t>/</a:t>
                      </a:r>
                      <a:r>
                        <a:rPr lang="zh-CN" altLang="en-US" sz="1100" b="0" i="0" u="none" strike="noStrike" kern="1200" dirty="0">
                          <a:solidFill>
                            <a:schemeClr val="tx1"/>
                          </a:solidFill>
                          <a:effectLst/>
                          <a:latin typeface="+mn-lt"/>
                          <a:ea typeface="Microsoft YaHei" panose="020B0503020204020204" pitchFamily="34" charset="-122"/>
                          <a:cs typeface="+mn-cs"/>
                        </a:rPr>
                        <a:t>强连通图</a:t>
                      </a: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zh-CN" altLang="en-US" sz="1100" b="0" i="0" u="none" strike="noStrike" kern="1200" dirty="0">
                          <a:solidFill>
                            <a:schemeClr val="tx1"/>
                          </a:solidFill>
                          <a:effectLst/>
                          <a:latin typeface="+mn-lt"/>
                          <a:ea typeface="Microsoft YaHei" panose="020B0503020204020204" pitchFamily="34" charset="-122"/>
                          <a:cs typeface="+mn-cs"/>
                        </a:rPr>
                        <a:t>稠密图</a:t>
                      </a:r>
                      <a:r>
                        <a:rPr lang="en-US" altLang="zh-CN" sz="1100" b="0" i="0" u="none" strike="noStrike" kern="1200" dirty="0">
                          <a:solidFill>
                            <a:schemeClr val="tx1"/>
                          </a:solidFill>
                          <a:effectLst/>
                          <a:latin typeface="+mn-lt"/>
                          <a:ea typeface="Microsoft YaHei" panose="020B0503020204020204" pitchFamily="34" charset="-122"/>
                          <a:cs typeface="+mn-cs"/>
                        </a:rPr>
                        <a:t>/</a:t>
                      </a:r>
                      <a:r>
                        <a:rPr lang="zh-CN" altLang="en-US" sz="1100" b="0" i="0" u="none" strike="noStrike" kern="1200" dirty="0">
                          <a:solidFill>
                            <a:schemeClr val="tx1"/>
                          </a:solidFill>
                          <a:effectLst/>
                          <a:latin typeface="+mn-lt"/>
                          <a:ea typeface="Microsoft YaHei" panose="020B0503020204020204" pitchFamily="34" charset="-122"/>
                          <a:cs typeface="+mn-cs"/>
                        </a:rPr>
                        <a:t>稀疏图</a:t>
                      </a: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3258359543"/>
                  </a:ext>
                </a:extLst>
              </a:tr>
              <a:tr h="0">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zh-CN" altLang="en-US" sz="1100" b="0" i="0" u="none" strike="noStrike" kern="1200" dirty="0">
                          <a:solidFill>
                            <a:schemeClr val="tx1"/>
                          </a:solidFill>
                          <a:effectLst/>
                          <a:latin typeface="+mn-lt"/>
                          <a:ea typeface="Microsoft YaHei" panose="020B0503020204020204" pitchFamily="34" charset="-122"/>
                          <a:cs typeface="+mn-cs"/>
                        </a:rPr>
                        <a:t>网</a:t>
                      </a: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u="none" strike="noStrike" kern="1200" dirty="0">
                          <a:solidFill>
                            <a:schemeClr val="tx1"/>
                          </a:solidFill>
                          <a:effectLst/>
                          <a:latin typeface="+mn-lt"/>
                          <a:ea typeface="Microsoft YaHei" panose="020B0503020204020204" pitchFamily="34" charset="-122"/>
                          <a:cs typeface="+mn-cs"/>
                        </a:rPr>
                        <a:t>带权值</a:t>
                      </a: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915132641"/>
                  </a:ext>
                </a:extLst>
              </a:tr>
            </a:tbl>
          </a:graphicData>
        </a:graphic>
      </p:graphicFrame>
      <p:grpSp>
        <p:nvGrpSpPr>
          <p:cNvPr id="34" name="Group 33">
            <a:extLst>
              <a:ext uri="{FF2B5EF4-FFF2-40B4-BE49-F238E27FC236}">
                <a16:creationId xmlns:a16="http://schemas.microsoft.com/office/drawing/2014/main" id="{D9BA19B1-BD1A-BF35-E667-76FC6956BCC1}"/>
              </a:ext>
            </a:extLst>
          </p:cNvPr>
          <p:cNvGrpSpPr/>
          <p:nvPr/>
        </p:nvGrpSpPr>
        <p:grpSpPr>
          <a:xfrm>
            <a:off x="3172540" y="1756724"/>
            <a:ext cx="4324605" cy="304186"/>
            <a:chOff x="3172540" y="2207536"/>
            <a:chExt cx="4324605" cy="304186"/>
          </a:xfrm>
        </p:grpSpPr>
        <p:sp>
          <p:nvSpPr>
            <p:cNvPr id="10" name="TextBox 9">
              <a:extLst>
                <a:ext uri="{FF2B5EF4-FFF2-40B4-BE49-F238E27FC236}">
                  <a16:creationId xmlns:a16="http://schemas.microsoft.com/office/drawing/2014/main" id="{602937CF-2546-722E-392E-27843F82E837}"/>
                </a:ext>
              </a:extLst>
            </p:cNvPr>
            <p:cNvSpPr txBox="1"/>
            <p:nvPr/>
          </p:nvSpPr>
          <p:spPr>
            <a:xfrm>
              <a:off x="3172540" y="2230396"/>
              <a:ext cx="4281578" cy="276999"/>
            </a:xfrm>
            <a:prstGeom prst="rect">
              <a:avLst/>
            </a:prstGeom>
            <a:noFill/>
          </p:spPr>
          <p:txBody>
            <a:bodyPr wrap="square">
              <a:spAutoFit/>
            </a:bodyPr>
            <a:lstStyle/>
            <a:p>
              <a:r>
                <a:rPr lang="zh-CN" altLang="en-US" sz="1200" dirty="0">
                  <a:solidFill>
                    <a:schemeClr val="accent1"/>
                  </a:solidFill>
                </a:rPr>
                <a:t>顶点数</a:t>
              </a:r>
              <a:r>
                <a:rPr lang="en-US" altLang="zh-CN" sz="1200" dirty="0">
                  <a:solidFill>
                    <a:schemeClr val="accent1"/>
                  </a:solidFill>
                </a:rPr>
                <a:t>n</a:t>
              </a:r>
              <a:r>
                <a:rPr lang="zh-CN" altLang="en-US" sz="1200" dirty="0">
                  <a:solidFill>
                    <a:schemeClr val="accent1"/>
                  </a:solidFill>
                </a:rPr>
                <a:t>、边数</a:t>
              </a:r>
              <a:r>
                <a:rPr lang="en-US" altLang="zh-CN" sz="1200" dirty="0">
                  <a:solidFill>
                    <a:schemeClr val="accent1"/>
                  </a:solidFill>
                </a:rPr>
                <a:t>e</a:t>
              </a:r>
              <a:r>
                <a:rPr lang="zh-CN" altLang="en-US" sz="1200" dirty="0">
                  <a:solidFill>
                    <a:schemeClr val="accent1"/>
                  </a:solidFill>
                </a:rPr>
                <a:t>、各顶点的度</a:t>
              </a:r>
              <a:r>
                <a:rPr lang="en-US" altLang="zh-CN" sz="1200" dirty="0">
                  <a:solidFill>
                    <a:schemeClr val="accent1"/>
                  </a:solidFill>
                </a:rPr>
                <a:t>D(v)</a:t>
              </a:r>
              <a:r>
                <a:rPr lang="zh-CN" altLang="en-US" sz="1200" dirty="0">
                  <a:solidFill>
                    <a:schemeClr val="accent1"/>
                  </a:solidFill>
                </a:rPr>
                <a:t>之间的关系</a:t>
              </a:r>
              <a:endParaRPr lang="en-US" sz="1200" dirty="0">
                <a:solidFill>
                  <a:schemeClr val="accent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CDDCE12-1779-45AC-2F4E-A4D909D1E96A}"/>
                    </a:ext>
                  </a:extLst>
                </p:cNvPr>
                <p:cNvSpPr txBox="1"/>
                <p:nvPr/>
              </p:nvSpPr>
              <p:spPr>
                <a:xfrm>
                  <a:off x="6307267" y="2207536"/>
                  <a:ext cx="1189878" cy="304186"/>
                </a:xfrm>
                <a:prstGeom prst="rect">
                  <a:avLst/>
                </a:prstGeom>
                <a:noFill/>
              </p:spPr>
              <p:txBody>
                <a:bodyPr wrap="none" lIns="0" tIns="0" rIns="0" bIns="0" rtlCol="0">
                  <a:spAutoFit/>
                </a:bodyPr>
                <a:lstStyle/>
                <a:p>
                  <a:r>
                    <a:rPr lang="en-US" altLang="zh-CN" sz="1400" dirty="0"/>
                    <a:t>e</a:t>
                  </a:r>
                  <a14:m>
                    <m:oMath xmlns:m="http://schemas.openxmlformats.org/officeDocument/2006/math">
                      <m:r>
                        <a:rPr lang="pt-BR" altLang="zh-CN" sz="1400" i="1" smtClean="0">
                          <a:latin typeface="Cambria Math" panose="02040503050406030204" pitchFamily="18" charset="0"/>
                        </a:rPr>
                        <m:t>=</m:t>
                      </m:r>
                      <m:f>
                        <m:fPr>
                          <m:ctrlPr>
                            <a:rPr lang="pt-BR" altLang="zh-CN" sz="1400" i="1">
                              <a:latin typeface="Cambria Math" panose="02040503050406030204" pitchFamily="18" charset="0"/>
                            </a:rPr>
                          </m:ctrlPr>
                        </m:fPr>
                        <m:num>
                          <m:r>
                            <a:rPr lang="pt-BR" altLang="zh-CN" sz="1400" i="1">
                              <a:latin typeface="Cambria Math" panose="02040503050406030204" pitchFamily="18" charset="0"/>
                            </a:rPr>
                            <m:t>1</m:t>
                          </m:r>
                        </m:num>
                        <m:den>
                          <m:r>
                            <a:rPr lang="pt-BR" altLang="zh-CN" sz="1400" i="1">
                              <a:latin typeface="Cambria Math" panose="02040503050406030204" pitchFamily="18" charset="0"/>
                            </a:rPr>
                            <m:t>2</m:t>
                          </m:r>
                        </m:den>
                      </m:f>
                      <m:nary>
                        <m:naryPr>
                          <m:chr m:val="∑"/>
                          <m:ctrlPr>
                            <a:rPr lang="pt-BR" altLang="zh-CN" sz="1400" i="1" smtClean="0">
                              <a:latin typeface="Cambria Math" panose="02040503050406030204" pitchFamily="18" charset="0"/>
                            </a:rPr>
                          </m:ctrlPr>
                        </m:naryPr>
                        <m:sub>
                          <m:r>
                            <m:rPr>
                              <m:brk m:alnAt="23"/>
                            </m:rPr>
                            <a:rPr lang="en-US" altLang="zh-CN" sz="1400" b="0" i="1" smtClean="0">
                              <a:latin typeface="Cambria Math" panose="02040503050406030204" pitchFamily="18" charset="0"/>
                            </a:rPr>
                            <m:t>𝑖</m:t>
                          </m:r>
                          <m:r>
                            <a:rPr lang="en-US" altLang="zh-CN" sz="1400" b="0" i="1" smtClean="0">
                              <a:latin typeface="Cambria Math" panose="02040503050406030204" pitchFamily="18" charset="0"/>
                            </a:rPr>
                            <m:t>=1</m:t>
                          </m:r>
                        </m:sub>
                        <m:sup>
                          <m:r>
                            <a:rPr lang="pt-BR" altLang="zh-CN" sz="1400" i="1" smtClean="0">
                              <a:latin typeface="Cambria Math" panose="02040503050406030204" pitchFamily="18" charset="0"/>
                            </a:rPr>
                            <m:t>𝑛</m:t>
                          </m:r>
                        </m:sup>
                        <m:e>
                          <m:r>
                            <a:rPr lang="en-US" altLang="zh-CN" sz="1400" b="0" i="1" smtClean="0">
                              <a:latin typeface="Cambria Math" panose="02040503050406030204" pitchFamily="18" charset="0"/>
                            </a:rPr>
                            <m:t>𝐷</m:t>
                          </m:r>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𝑣</m:t>
                              </m:r>
                            </m:e>
                            <m:sub>
                              <m:r>
                                <a:rPr lang="en-US" altLang="zh-CN" sz="1400" b="0" i="1" smtClean="0">
                                  <a:latin typeface="Cambria Math" panose="02040503050406030204" pitchFamily="18" charset="0"/>
                                </a:rPr>
                                <m:t>𝑖</m:t>
                              </m:r>
                            </m:sub>
                          </m:sSub>
                          <m:r>
                            <a:rPr lang="en-US" altLang="zh-CN" sz="1400" b="0" i="1" smtClean="0">
                              <a:latin typeface="Cambria Math" panose="02040503050406030204" pitchFamily="18" charset="0"/>
                            </a:rPr>
                            <m:t>)</m:t>
                          </m:r>
                        </m:e>
                      </m:nary>
                    </m:oMath>
                  </a14:m>
                  <a:endParaRPr lang="en-US" sz="1400" dirty="0"/>
                </a:p>
              </p:txBody>
            </p:sp>
          </mc:Choice>
          <mc:Fallback xmlns="">
            <p:sp>
              <p:nvSpPr>
                <p:cNvPr id="31" name="TextBox 30">
                  <a:extLst>
                    <a:ext uri="{FF2B5EF4-FFF2-40B4-BE49-F238E27FC236}">
                      <a16:creationId xmlns:a16="http://schemas.microsoft.com/office/drawing/2014/main" id="{9CDDCE12-1779-45AC-2F4E-A4D909D1E96A}"/>
                    </a:ext>
                  </a:extLst>
                </p:cNvPr>
                <p:cNvSpPr txBox="1">
                  <a:spLocks noRot="1" noChangeAspect="1" noMove="1" noResize="1" noEditPoints="1" noAdjustHandles="1" noChangeArrowheads="1" noChangeShapeType="1" noTextEdit="1"/>
                </p:cNvSpPr>
                <p:nvPr/>
              </p:nvSpPr>
              <p:spPr>
                <a:xfrm>
                  <a:off x="6307267" y="2207536"/>
                  <a:ext cx="1189878" cy="304186"/>
                </a:xfrm>
                <a:prstGeom prst="rect">
                  <a:avLst/>
                </a:prstGeom>
                <a:blipFill>
                  <a:blip r:embed="rId3"/>
                  <a:stretch>
                    <a:fillRect l="-9231" t="-102000" r="-5128" b="-164000"/>
                  </a:stretch>
                </a:blipFill>
              </p:spPr>
              <p:txBody>
                <a:bodyPr/>
                <a:lstStyle/>
                <a:p>
                  <a:r>
                    <a:rPr lang="en-US">
                      <a:noFill/>
                    </a:rPr>
                    <a:t> </a:t>
                  </a:r>
                </a:p>
              </p:txBody>
            </p:sp>
          </mc:Fallback>
        </mc:AlternateContent>
      </p:grpSp>
      <p:grpSp>
        <p:nvGrpSpPr>
          <p:cNvPr id="35" name="Group 34">
            <a:extLst>
              <a:ext uri="{FF2B5EF4-FFF2-40B4-BE49-F238E27FC236}">
                <a16:creationId xmlns:a16="http://schemas.microsoft.com/office/drawing/2014/main" id="{92865D97-9857-CA07-0227-47BA2C5DE91A}"/>
              </a:ext>
            </a:extLst>
          </p:cNvPr>
          <p:cNvGrpSpPr/>
          <p:nvPr/>
        </p:nvGrpSpPr>
        <p:grpSpPr>
          <a:xfrm>
            <a:off x="3098779" y="3127180"/>
            <a:ext cx="4386653" cy="572261"/>
            <a:chOff x="7614613" y="5950488"/>
            <a:chExt cx="4386653" cy="572261"/>
          </a:xfrm>
        </p:grpSpPr>
        <p:sp>
          <p:nvSpPr>
            <p:cNvPr id="36" name="Rectangle: Rounded Corners 35">
              <a:extLst>
                <a:ext uri="{FF2B5EF4-FFF2-40B4-BE49-F238E27FC236}">
                  <a16:creationId xmlns:a16="http://schemas.microsoft.com/office/drawing/2014/main" id="{FBB7B9DE-96B5-7F3B-4F7E-601AECA964EF}"/>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▶存储结构 </a:t>
              </a:r>
              <a:endParaRPr lang="en-US" sz="1200" dirty="0">
                <a:solidFill>
                  <a:schemeClr val="bg1"/>
                </a:solidFill>
              </a:endParaRPr>
            </a:p>
          </p:txBody>
        </p:sp>
        <p:sp>
          <p:nvSpPr>
            <p:cNvPr id="41" name="TextBox 40">
              <a:extLst>
                <a:ext uri="{FF2B5EF4-FFF2-40B4-BE49-F238E27FC236}">
                  <a16:creationId xmlns:a16="http://schemas.microsoft.com/office/drawing/2014/main" id="{C02361E2-D69C-39A2-4F95-28EDC5FBB15A}"/>
                </a:ext>
              </a:extLst>
            </p:cNvPr>
            <p:cNvSpPr txBox="1"/>
            <p:nvPr/>
          </p:nvSpPr>
          <p:spPr>
            <a:xfrm>
              <a:off x="7667294" y="6245750"/>
              <a:ext cx="4281578" cy="276999"/>
            </a:xfrm>
            <a:prstGeom prst="rect">
              <a:avLst/>
            </a:prstGeom>
            <a:noFill/>
          </p:spPr>
          <p:txBody>
            <a:bodyPr wrap="square">
              <a:spAutoFit/>
            </a:bodyPr>
            <a:lstStyle/>
            <a:p>
              <a:endParaRPr lang="en-US" sz="1200" dirty="0">
                <a:solidFill>
                  <a:schemeClr val="accent1"/>
                </a:solidFill>
              </a:endParaRPr>
            </a:p>
          </p:txBody>
        </p:sp>
      </p:grpSp>
      <p:pic>
        <p:nvPicPr>
          <p:cNvPr id="2946" name="Picture 2945">
            <a:extLst>
              <a:ext uri="{FF2B5EF4-FFF2-40B4-BE49-F238E27FC236}">
                <a16:creationId xmlns:a16="http://schemas.microsoft.com/office/drawing/2014/main" id="{764316FC-F262-5669-617D-38A93ED563D2}"/>
              </a:ext>
            </a:extLst>
          </p:cNvPr>
          <p:cNvPicPr>
            <a:picLocks noChangeAspect="1"/>
          </p:cNvPicPr>
          <p:nvPr/>
        </p:nvPicPr>
        <p:blipFill>
          <a:blip r:embed="rId4"/>
          <a:stretch>
            <a:fillRect/>
          </a:stretch>
        </p:blipFill>
        <p:spPr>
          <a:xfrm>
            <a:off x="5558955" y="3786858"/>
            <a:ext cx="1861444" cy="1170051"/>
          </a:xfrm>
          <a:prstGeom prst="rect">
            <a:avLst/>
          </a:prstGeom>
        </p:spPr>
      </p:pic>
      <p:pic>
        <p:nvPicPr>
          <p:cNvPr id="2959" name="Picture 2958">
            <a:extLst>
              <a:ext uri="{FF2B5EF4-FFF2-40B4-BE49-F238E27FC236}">
                <a16:creationId xmlns:a16="http://schemas.microsoft.com/office/drawing/2014/main" id="{6FD40537-397C-2838-29E4-278A3413C9A2}"/>
              </a:ext>
            </a:extLst>
          </p:cNvPr>
          <p:cNvPicPr>
            <a:picLocks noChangeAspect="1"/>
          </p:cNvPicPr>
          <p:nvPr/>
        </p:nvPicPr>
        <p:blipFill>
          <a:blip r:embed="rId5"/>
          <a:stretch>
            <a:fillRect/>
          </a:stretch>
        </p:blipFill>
        <p:spPr>
          <a:xfrm>
            <a:off x="3148999" y="3742890"/>
            <a:ext cx="1000206" cy="1229983"/>
          </a:xfrm>
          <a:prstGeom prst="rect">
            <a:avLst/>
          </a:prstGeom>
        </p:spPr>
      </p:pic>
      <p:pic>
        <p:nvPicPr>
          <p:cNvPr id="2964" name="Picture 2963">
            <a:extLst>
              <a:ext uri="{FF2B5EF4-FFF2-40B4-BE49-F238E27FC236}">
                <a16:creationId xmlns:a16="http://schemas.microsoft.com/office/drawing/2014/main" id="{E6EEFAB8-855E-745D-3F0D-1382B048777C}"/>
              </a:ext>
            </a:extLst>
          </p:cNvPr>
          <p:cNvPicPr>
            <a:picLocks noChangeAspect="1"/>
          </p:cNvPicPr>
          <p:nvPr/>
        </p:nvPicPr>
        <p:blipFill>
          <a:blip r:embed="rId6"/>
          <a:stretch>
            <a:fillRect/>
          </a:stretch>
        </p:blipFill>
        <p:spPr>
          <a:xfrm>
            <a:off x="4221945" y="3531144"/>
            <a:ext cx="1253316" cy="1445430"/>
          </a:xfrm>
          <a:prstGeom prst="rect">
            <a:avLst/>
          </a:prstGeom>
        </p:spPr>
      </p:pic>
      <p:grpSp>
        <p:nvGrpSpPr>
          <p:cNvPr id="45" name="Group 44">
            <a:extLst>
              <a:ext uri="{FF2B5EF4-FFF2-40B4-BE49-F238E27FC236}">
                <a16:creationId xmlns:a16="http://schemas.microsoft.com/office/drawing/2014/main" id="{962A078B-BF94-522B-A5CD-211A52A1229E}"/>
              </a:ext>
            </a:extLst>
          </p:cNvPr>
          <p:cNvGrpSpPr/>
          <p:nvPr/>
        </p:nvGrpSpPr>
        <p:grpSpPr>
          <a:xfrm>
            <a:off x="7648619" y="61371"/>
            <a:ext cx="4386653" cy="756927"/>
            <a:chOff x="7614613" y="5950488"/>
            <a:chExt cx="4386653" cy="756927"/>
          </a:xfrm>
        </p:grpSpPr>
        <p:sp>
          <p:nvSpPr>
            <p:cNvPr id="46" name="Rectangle: Rounded Corners 45">
              <a:extLst>
                <a:ext uri="{FF2B5EF4-FFF2-40B4-BE49-F238E27FC236}">
                  <a16:creationId xmlns:a16="http://schemas.microsoft.com/office/drawing/2014/main" id="{B25AEEDD-68D3-D426-5928-75962509FFA7}"/>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▶遍历 </a:t>
              </a:r>
              <a:endParaRPr lang="en-US" sz="1200" dirty="0">
                <a:solidFill>
                  <a:schemeClr val="bg1"/>
                </a:solidFill>
              </a:endParaRPr>
            </a:p>
          </p:txBody>
        </p:sp>
        <p:sp>
          <p:nvSpPr>
            <p:cNvPr id="47" name="TextBox 46">
              <a:extLst>
                <a:ext uri="{FF2B5EF4-FFF2-40B4-BE49-F238E27FC236}">
                  <a16:creationId xmlns:a16="http://schemas.microsoft.com/office/drawing/2014/main" id="{FFF08BD4-53D3-20CB-E674-A292A5F7A556}"/>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rPr>
                <a:t>从图的任意结点出发，沿着某条搜索路径</a:t>
              </a:r>
              <a:endParaRPr lang="en-US" altLang="zh-CN" sz="1200" dirty="0">
                <a:solidFill>
                  <a:schemeClr val="accent1"/>
                </a:solidFill>
              </a:endParaRPr>
            </a:p>
            <a:p>
              <a:r>
                <a:rPr lang="zh-CN" altLang="en-US" sz="1200" dirty="0">
                  <a:solidFill>
                    <a:schemeClr val="accent1"/>
                  </a:solidFill>
                </a:rPr>
                <a:t>对图中所有结点进行访问且只访问一次</a:t>
              </a:r>
              <a:endParaRPr lang="en-US" sz="1200" dirty="0">
                <a:solidFill>
                  <a:schemeClr val="accent1"/>
                </a:solidFill>
              </a:endParaRPr>
            </a:p>
          </p:txBody>
        </p:sp>
      </p:grpSp>
      <p:grpSp>
        <p:nvGrpSpPr>
          <p:cNvPr id="50" name="Group 49">
            <a:extLst>
              <a:ext uri="{FF2B5EF4-FFF2-40B4-BE49-F238E27FC236}">
                <a16:creationId xmlns:a16="http://schemas.microsoft.com/office/drawing/2014/main" id="{D3FE16CD-BDD1-B37F-8B26-395C8A3414FB}"/>
              </a:ext>
            </a:extLst>
          </p:cNvPr>
          <p:cNvGrpSpPr/>
          <p:nvPr/>
        </p:nvGrpSpPr>
        <p:grpSpPr>
          <a:xfrm>
            <a:off x="7679921" y="2326946"/>
            <a:ext cx="4386653" cy="1310925"/>
            <a:chOff x="7614613" y="5950488"/>
            <a:chExt cx="4386653" cy="1310925"/>
          </a:xfrm>
        </p:grpSpPr>
        <p:sp>
          <p:nvSpPr>
            <p:cNvPr id="51" name="Rectangle: Rounded Corners 50">
              <a:extLst>
                <a:ext uri="{FF2B5EF4-FFF2-40B4-BE49-F238E27FC236}">
                  <a16:creationId xmlns:a16="http://schemas.microsoft.com/office/drawing/2014/main" id="{A4028A7F-BD12-7223-D263-0BFEE7DCDD6C}"/>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▶广度优先遍历 </a:t>
              </a:r>
              <a:r>
                <a:rPr lang="en-US" altLang="zh-CN" sz="1200" dirty="0">
                  <a:solidFill>
                    <a:schemeClr val="bg1"/>
                  </a:solidFill>
                  <a:latin typeface="ui-monospace"/>
                </a:rPr>
                <a:t>BFS</a:t>
              </a:r>
            </a:p>
          </p:txBody>
        </p:sp>
        <p:sp>
          <p:nvSpPr>
            <p:cNvPr id="52" name="TextBox 51">
              <a:extLst>
                <a:ext uri="{FF2B5EF4-FFF2-40B4-BE49-F238E27FC236}">
                  <a16:creationId xmlns:a16="http://schemas.microsoft.com/office/drawing/2014/main" id="{D8ADF7B2-B113-0396-23ED-E526DDB4F01D}"/>
                </a:ext>
              </a:extLst>
            </p:cNvPr>
            <p:cNvSpPr txBox="1"/>
            <p:nvPr/>
          </p:nvSpPr>
          <p:spPr>
            <a:xfrm>
              <a:off x="7667294" y="6245750"/>
              <a:ext cx="4281578" cy="1015663"/>
            </a:xfrm>
            <a:prstGeom prst="rect">
              <a:avLst/>
            </a:prstGeom>
            <a:noFill/>
          </p:spPr>
          <p:txBody>
            <a:bodyPr wrap="square">
              <a:spAutoFit/>
            </a:bodyPr>
            <a:lstStyle/>
            <a:p>
              <a:r>
                <a:rPr lang="en-US" altLang="zh-CN" sz="1200" dirty="0">
                  <a:solidFill>
                    <a:schemeClr val="accent1"/>
                  </a:solidFill>
                  <a:latin typeface="ui-monospace"/>
                </a:rPr>
                <a:t>1.</a:t>
              </a:r>
              <a:r>
                <a:rPr lang="zh-CN" altLang="en-US" sz="1200" dirty="0">
                  <a:solidFill>
                    <a:schemeClr val="accent1"/>
                  </a:solidFill>
                  <a:latin typeface="ui-monospace"/>
                </a:rPr>
                <a:t>首先访问出发顶点</a:t>
              </a:r>
              <a:r>
                <a:rPr lang="en-US" altLang="zh-CN" sz="1200" dirty="0">
                  <a:solidFill>
                    <a:schemeClr val="accent1"/>
                  </a:solidFill>
                  <a:latin typeface="ui-monospace"/>
                </a:rPr>
                <a:t>V </a:t>
              </a:r>
            </a:p>
            <a:p>
              <a:r>
                <a:rPr lang="en-US" altLang="zh-CN" sz="1200" dirty="0">
                  <a:solidFill>
                    <a:schemeClr val="accent1"/>
                  </a:solidFill>
                  <a:latin typeface="ui-monospace"/>
                </a:rPr>
                <a:t>2.</a:t>
              </a:r>
              <a:r>
                <a:rPr lang="zh-CN" altLang="en-US" sz="1200" dirty="0">
                  <a:solidFill>
                    <a:schemeClr val="accent1"/>
                  </a:solidFill>
                  <a:latin typeface="ui-monospace"/>
                </a:rPr>
                <a:t>然后访问与顶点</a:t>
              </a:r>
              <a:r>
                <a:rPr lang="en-US" altLang="zh-CN" sz="1200" dirty="0">
                  <a:solidFill>
                    <a:schemeClr val="accent1"/>
                  </a:solidFill>
                  <a:latin typeface="ui-monospace"/>
                </a:rPr>
                <a:t>V</a:t>
              </a:r>
              <a:r>
                <a:rPr lang="zh-CN" altLang="en-US" sz="1200" dirty="0">
                  <a:solidFill>
                    <a:schemeClr val="accent1"/>
                  </a:solidFill>
                  <a:latin typeface="ui-monospace"/>
                </a:rPr>
                <a:t>邻接的全部未访问顶点</a:t>
              </a:r>
              <a:r>
                <a:rPr lang="en-US" altLang="zh-CN" sz="1200" dirty="0">
                  <a:solidFill>
                    <a:schemeClr val="accent1"/>
                  </a:solidFill>
                  <a:latin typeface="ui-monospace"/>
                </a:rPr>
                <a:t>W</a:t>
              </a:r>
              <a:r>
                <a:rPr lang="zh-CN" altLang="en-US" sz="1200" dirty="0">
                  <a:solidFill>
                    <a:schemeClr val="accent1"/>
                  </a:solidFill>
                  <a:latin typeface="ui-monospace"/>
                </a:rPr>
                <a:t>、</a:t>
              </a:r>
              <a:r>
                <a:rPr lang="en-US" altLang="zh-CN" sz="1200" dirty="0">
                  <a:solidFill>
                    <a:schemeClr val="accent1"/>
                  </a:solidFill>
                  <a:latin typeface="ui-monospace"/>
                </a:rPr>
                <a:t>X</a:t>
              </a:r>
              <a:r>
                <a:rPr lang="zh-CN" altLang="en-US" sz="1200" dirty="0">
                  <a:solidFill>
                    <a:schemeClr val="accent1"/>
                  </a:solidFill>
                  <a:latin typeface="ui-monospace"/>
                </a:rPr>
                <a:t>、</a:t>
              </a:r>
              <a:r>
                <a:rPr lang="en-US" altLang="zh-CN" sz="1200" dirty="0">
                  <a:solidFill>
                    <a:schemeClr val="accent1"/>
                  </a:solidFill>
                  <a:latin typeface="ui-monospace"/>
                </a:rPr>
                <a:t>Y… </a:t>
              </a:r>
            </a:p>
            <a:p>
              <a:r>
                <a:rPr lang="en-US" altLang="zh-CN" sz="1200" dirty="0">
                  <a:solidFill>
                    <a:schemeClr val="accent1"/>
                  </a:solidFill>
                  <a:latin typeface="ui-monospace"/>
                </a:rPr>
                <a:t>3.</a:t>
              </a:r>
              <a:r>
                <a:rPr lang="zh-CN" altLang="en-US" sz="1200" dirty="0">
                  <a:solidFill>
                    <a:schemeClr val="accent1"/>
                  </a:solidFill>
                  <a:latin typeface="ui-monospace"/>
                </a:rPr>
                <a:t>然后在依次访问</a:t>
              </a:r>
              <a:r>
                <a:rPr lang="en-US" altLang="zh-CN" sz="1200" dirty="0">
                  <a:solidFill>
                    <a:schemeClr val="accent1"/>
                  </a:solidFill>
                  <a:latin typeface="ui-monospace"/>
                </a:rPr>
                <a:t>W</a:t>
              </a:r>
              <a:r>
                <a:rPr lang="zh-CN" altLang="en-US" sz="1200" dirty="0">
                  <a:solidFill>
                    <a:schemeClr val="accent1"/>
                  </a:solidFill>
                  <a:latin typeface="ui-monospace"/>
                </a:rPr>
                <a:t>等的邻接的未访问的顶点</a:t>
              </a:r>
              <a:endParaRPr lang="en-US" altLang="zh-CN" sz="1200" dirty="0">
                <a:solidFill>
                  <a:schemeClr val="accent1"/>
                </a:solidFill>
                <a:latin typeface="ui-monospace"/>
              </a:endParaRPr>
            </a:p>
            <a:p>
              <a:r>
                <a:rPr lang="en-US" altLang="zh-CN" sz="1200" dirty="0">
                  <a:solidFill>
                    <a:srgbClr val="4472C4"/>
                  </a:solidFill>
                  <a:latin typeface="Calibri" panose="020F0502020204030204"/>
                  <a:ea typeface="等线" panose="02010600030101010101" pitchFamily="2" charset="-122"/>
                </a:rPr>
                <a:t>v</a:t>
              </a:r>
              <a:r>
                <a:rPr lang="en-US" altLang="zh-CN" sz="1200" baseline="-25000" dirty="0">
                  <a:solidFill>
                    <a:srgbClr val="4472C4"/>
                  </a:solidFill>
                  <a:latin typeface="Calibri" panose="020F0502020204030204"/>
                  <a:ea typeface="等线" panose="02010600030101010101" pitchFamily="2" charset="-122"/>
                </a:rPr>
                <a:t>1</a:t>
              </a:r>
              <a:r>
                <a:rPr kumimoji="0" lang="en-US" altLang="zh-CN" sz="1200" b="0" i="0" u="none" strike="noStrike" kern="1200" cap="none" spc="0" normalizeH="0" noProof="0" dirty="0">
                  <a:ln>
                    <a:noFill/>
                  </a:ln>
                  <a:solidFill>
                    <a:srgbClr val="4472C4"/>
                  </a:solidFill>
                  <a:effectLst/>
                  <a:uLnTx/>
                  <a:uFillTx/>
                  <a:latin typeface="Calibri" panose="020F0502020204030204"/>
                  <a:ea typeface="等线" panose="02010600030101010101" pitchFamily="2" charset="-122"/>
                  <a:cs typeface="+mn-cs"/>
                </a:rPr>
                <a:t>&gt;</a:t>
              </a:r>
              <a:r>
                <a:rPr kumimoji="0" lang="en-US" altLang="zh-CN" sz="12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v</a:t>
              </a:r>
              <a:r>
                <a:rPr lang="en-US" altLang="zh-CN" sz="1200" baseline="-25000" dirty="0">
                  <a:solidFill>
                    <a:srgbClr val="4472C4"/>
                  </a:solidFill>
                  <a:latin typeface="Calibri" panose="020F0502020204030204"/>
                  <a:ea typeface="等线" panose="02010600030101010101" pitchFamily="2" charset="-122"/>
                </a:rPr>
                <a:t>2</a:t>
              </a:r>
              <a:r>
                <a:rPr kumimoji="0" lang="en-US" altLang="zh-CN" sz="1200" b="0" i="0" u="none" strike="noStrike" kern="1200" cap="none" spc="0" normalizeH="0" noProof="0" dirty="0">
                  <a:ln>
                    <a:noFill/>
                  </a:ln>
                  <a:solidFill>
                    <a:srgbClr val="4472C4"/>
                  </a:solidFill>
                  <a:effectLst/>
                  <a:uLnTx/>
                  <a:uFillTx/>
                  <a:latin typeface="Calibri" panose="020F0502020204030204"/>
                  <a:ea typeface="等线" panose="02010600030101010101" pitchFamily="2" charset="-122"/>
                  <a:cs typeface="+mn-cs"/>
                </a:rPr>
                <a:t>&gt;</a:t>
              </a:r>
              <a:r>
                <a:rPr kumimoji="0" lang="en-US" altLang="zh-CN" sz="12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v</a:t>
              </a:r>
              <a:r>
                <a:rPr lang="en-US" altLang="zh-CN" sz="1200" baseline="-25000" dirty="0">
                  <a:solidFill>
                    <a:srgbClr val="4472C4"/>
                  </a:solidFill>
                  <a:latin typeface="Calibri" panose="020F0502020204030204"/>
                  <a:ea typeface="等线" panose="02010600030101010101" pitchFamily="2" charset="-122"/>
                </a:rPr>
                <a:t>3</a:t>
              </a:r>
              <a:r>
                <a:rPr kumimoji="0" lang="en-US" altLang="zh-CN" sz="1200" b="0" i="0" u="none" strike="noStrike" kern="1200" cap="none" spc="0" normalizeH="0" noProof="0" dirty="0">
                  <a:ln>
                    <a:noFill/>
                  </a:ln>
                  <a:solidFill>
                    <a:srgbClr val="4472C4"/>
                  </a:solidFill>
                  <a:effectLst/>
                  <a:uLnTx/>
                  <a:uFillTx/>
                  <a:latin typeface="Calibri" panose="020F0502020204030204"/>
                  <a:ea typeface="等线" panose="02010600030101010101" pitchFamily="2" charset="-122"/>
                  <a:cs typeface="+mn-cs"/>
                </a:rPr>
                <a:t>&gt;</a:t>
              </a:r>
              <a:r>
                <a:rPr kumimoji="0" lang="en-US" altLang="zh-CN" sz="12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v</a:t>
              </a:r>
              <a:r>
                <a:rPr lang="en-US" altLang="zh-CN" sz="1200" baseline="-25000" dirty="0">
                  <a:solidFill>
                    <a:srgbClr val="4472C4"/>
                  </a:solidFill>
                  <a:latin typeface="Calibri" panose="020F0502020204030204"/>
                  <a:ea typeface="等线" panose="02010600030101010101" pitchFamily="2" charset="-122"/>
                </a:rPr>
                <a:t>4</a:t>
              </a:r>
              <a:r>
                <a:rPr kumimoji="0" lang="en-US" altLang="zh-CN" sz="1200" b="0" i="0" u="none" strike="noStrike" kern="1200" cap="none" spc="0" normalizeH="0" noProof="0" dirty="0">
                  <a:ln>
                    <a:noFill/>
                  </a:ln>
                  <a:solidFill>
                    <a:srgbClr val="4472C4"/>
                  </a:solidFill>
                  <a:effectLst/>
                  <a:uLnTx/>
                  <a:uFillTx/>
                  <a:latin typeface="Calibri" panose="020F0502020204030204"/>
                  <a:ea typeface="等线" panose="02010600030101010101" pitchFamily="2" charset="-122"/>
                  <a:cs typeface="+mn-cs"/>
                </a:rPr>
                <a:t>&gt;</a:t>
              </a:r>
              <a:r>
                <a:rPr kumimoji="0" lang="en-US" altLang="zh-CN" sz="12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v</a:t>
              </a:r>
              <a:r>
                <a:rPr kumimoji="0" lang="en-US" altLang="zh-CN" sz="1200" b="0" i="0" u="none" strike="noStrike" kern="1200" cap="none" spc="0" normalizeH="0" baseline="-25000" noProof="0" dirty="0">
                  <a:ln>
                    <a:noFill/>
                  </a:ln>
                  <a:solidFill>
                    <a:srgbClr val="4472C4"/>
                  </a:solidFill>
                  <a:effectLst/>
                  <a:uLnTx/>
                  <a:uFillTx/>
                  <a:latin typeface="Calibri" panose="020F0502020204030204"/>
                  <a:ea typeface="等线" panose="02010600030101010101" pitchFamily="2" charset="-122"/>
                  <a:cs typeface="+mn-cs"/>
                </a:rPr>
                <a:t>5</a:t>
              </a:r>
              <a:endParaRPr lang="en-US" altLang="zh-CN" sz="1200" dirty="0">
                <a:solidFill>
                  <a:srgbClr val="4472C4"/>
                </a:solidFill>
                <a:latin typeface="ui-monospace"/>
              </a:endParaRPr>
            </a:p>
            <a:p>
              <a:r>
                <a:rPr lang="zh-CN" altLang="en-US" sz="1200" dirty="0">
                  <a:solidFill>
                    <a:schemeClr val="accent1"/>
                  </a:solidFill>
                  <a:latin typeface="ui-monospace"/>
                </a:rPr>
                <a:t>理念：队列</a:t>
              </a:r>
              <a:r>
                <a:rPr lang="en-US" altLang="zh-CN" sz="1200" dirty="0">
                  <a:solidFill>
                    <a:schemeClr val="accent1"/>
                  </a:solidFill>
                  <a:latin typeface="ui-monospace"/>
                </a:rPr>
                <a:t> </a:t>
              </a:r>
              <a:r>
                <a:rPr lang="zh-CN" altLang="en-US" sz="1200" dirty="0">
                  <a:solidFill>
                    <a:schemeClr val="accent1"/>
                  </a:solidFill>
                  <a:latin typeface="ui-monospace"/>
                </a:rPr>
                <a:t>时间复杂度：邻接矩阵</a:t>
              </a:r>
              <a:r>
                <a:rPr lang="en-US" altLang="zh-CN" sz="1200" dirty="0">
                  <a:solidFill>
                    <a:schemeClr val="accent1"/>
                  </a:solidFill>
                  <a:latin typeface="ui-monospace"/>
                </a:rPr>
                <a:t>O(n</a:t>
              </a:r>
              <a:r>
                <a:rPr lang="en-US" altLang="zh-CN" sz="1200" baseline="30000" dirty="0">
                  <a:solidFill>
                    <a:schemeClr val="accent1"/>
                  </a:solidFill>
                  <a:latin typeface="ui-monospace"/>
                </a:rPr>
                <a:t>2</a:t>
              </a:r>
              <a:r>
                <a:rPr lang="en-US" altLang="zh-CN" sz="1200" dirty="0">
                  <a:solidFill>
                    <a:schemeClr val="accent1"/>
                  </a:solidFill>
                  <a:latin typeface="ui-monospace"/>
                </a:rPr>
                <a:t>) </a:t>
              </a:r>
              <a:r>
                <a:rPr lang="zh-CN" altLang="en-US" sz="1200" dirty="0">
                  <a:solidFill>
                    <a:schemeClr val="accent1"/>
                  </a:solidFill>
                  <a:latin typeface="ui-monospace"/>
                </a:rPr>
                <a:t>邻接表</a:t>
              </a:r>
              <a:r>
                <a:rPr lang="en-US" altLang="zh-CN" sz="1200" dirty="0">
                  <a:solidFill>
                    <a:schemeClr val="accent1"/>
                  </a:solidFill>
                  <a:latin typeface="ui-monospace"/>
                </a:rPr>
                <a:t>O(</a:t>
              </a:r>
              <a:r>
                <a:rPr lang="en-US" altLang="zh-CN" sz="1200" dirty="0" err="1">
                  <a:solidFill>
                    <a:schemeClr val="accent1"/>
                  </a:solidFill>
                  <a:latin typeface="ui-monospace"/>
                </a:rPr>
                <a:t>n+e</a:t>
              </a:r>
              <a:r>
                <a:rPr lang="en-US" altLang="zh-CN" sz="1200" dirty="0">
                  <a:solidFill>
                    <a:schemeClr val="accent1"/>
                  </a:solidFill>
                  <a:latin typeface="ui-monospace"/>
                </a:rPr>
                <a:t>)</a:t>
              </a:r>
              <a:endParaRPr lang="en-US" sz="1200" dirty="0">
                <a:solidFill>
                  <a:schemeClr val="accent1"/>
                </a:solidFill>
                <a:latin typeface="ui-monospace"/>
              </a:endParaRPr>
            </a:p>
          </p:txBody>
        </p:sp>
      </p:grpSp>
      <p:pic>
        <p:nvPicPr>
          <p:cNvPr id="53" name="Picture 52">
            <a:extLst>
              <a:ext uri="{FF2B5EF4-FFF2-40B4-BE49-F238E27FC236}">
                <a16:creationId xmlns:a16="http://schemas.microsoft.com/office/drawing/2014/main" id="{34B8E6F3-86BB-0810-4E45-5E9A408B231A}"/>
              </a:ext>
            </a:extLst>
          </p:cNvPr>
          <p:cNvPicPr>
            <a:picLocks noChangeAspect="1"/>
          </p:cNvPicPr>
          <p:nvPr/>
        </p:nvPicPr>
        <p:blipFill>
          <a:blip r:embed="rId7"/>
          <a:stretch>
            <a:fillRect/>
          </a:stretch>
        </p:blipFill>
        <p:spPr>
          <a:xfrm>
            <a:off x="10715714" y="395557"/>
            <a:ext cx="1191147" cy="647158"/>
          </a:xfrm>
          <a:prstGeom prst="rect">
            <a:avLst/>
          </a:prstGeom>
        </p:spPr>
      </p:pic>
      <p:grpSp>
        <p:nvGrpSpPr>
          <p:cNvPr id="54" name="Group 53">
            <a:extLst>
              <a:ext uri="{FF2B5EF4-FFF2-40B4-BE49-F238E27FC236}">
                <a16:creationId xmlns:a16="http://schemas.microsoft.com/office/drawing/2014/main" id="{32966D9F-DE2D-1E56-4D82-0257E08E8318}"/>
              </a:ext>
            </a:extLst>
          </p:cNvPr>
          <p:cNvGrpSpPr/>
          <p:nvPr/>
        </p:nvGrpSpPr>
        <p:grpSpPr>
          <a:xfrm>
            <a:off x="7679920" y="3585639"/>
            <a:ext cx="4386653" cy="3342250"/>
            <a:chOff x="7614613" y="5950488"/>
            <a:chExt cx="4386653" cy="3342250"/>
          </a:xfrm>
        </p:grpSpPr>
        <p:sp>
          <p:nvSpPr>
            <p:cNvPr id="55" name="Rectangle: Rounded Corners 54">
              <a:extLst>
                <a:ext uri="{FF2B5EF4-FFF2-40B4-BE49-F238E27FC236}">
                  <a16:creationId xmlns:a16="http://schemas.microsoft.com/office/drawing/2014/main" id="{D4ED5EF2-9BA6-2FD8-8C24-363D20DE8DE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▶拓扑排序</a:t>
              </a:r>
              <a:endParaRPr lang="en-US" altLang="zh-CN" sz="1200" dirty="0">
                <a:solidFill>
                  <a:schemeClr val="bg1"/>
                </a:solidFill>
                <a:latin typeface="ui-monospace"/>
              </a:endParaRPr>
            </a:p>
          </p:txBody>
        </p:sp>
        <p:sp>
          <p:nvSpPr>
            <p:cNvPr id="56" name="TextBox 55">
              <a:extLst>
                <a:ext uri="{FF2B5EF4-FFF2-40B4-BE49-F238E27FC236}">
                  <a16:creationId xmlns:a16="http://schemas.microsoft.com/office/drawing/2014/main" id="{FF5E95B5-FCE9-E656-8273-34CBBF348DAD}"/>
                </a:ext>
              </a:extLst>
            </p:cNvPr>
            <p:cNvSpPr txBox="1"/>
            <p:nvPr/>
          </p:nvSpPr>
          <p:spPr>
            <a:xfrm>
              <a:off x="7667294" y="6245750"/>
              <a:ext cx="4281578" cy="3046988"/>
            </a:xfrm>
            <a:prstGeom prst="rect">
              <a:avLst/>
            </a:prstGeom>
            <a:noFill/>
          </p:spPr>
          <p:txBody>
            <a:bodyPr wrap="square">
              <a:spAutoFit/>
            </a:bodyPr>
            <a:lstStyle/>
            <a:p>
              <a:r>
                <a:rPr lang="zh-CN" altLang="en-US" sz="1200" dirty="0">
                  <a:solidFill>
                    <a:schemeClr val="accent1"/>
                  </a:solidFill>
                  <a:latin typeface="ui-monospace"/>
                </a:rPr>
                <a:t>顶点活动网</a:t>
              </a:r>
              <a:r>
                <a:rPr lang="en-US" altLang="zh-CN" sz="1200" dirty="0">
                  <a:solidFill>
                    <a:schemeClr val="accent1"/>
                  </a:solidFill>
                  <a:latin typeface="ui-monospace"/>
                </a:rPr>
                <a:t>(AOV</a:t>
              </a:r>
              <a:r>
                <a:rPr lang="zh-CN" altLang="en-US" sz="1200" dirty="0">
                  <a:solidFill>
                    <a:schemeClr val="accent1"/>
                  </a:solidFill>
                  <a:latin typeface="ui-monospace"/>
                </a:rPr>
                <a:t>网</a:t>
              </a:r>
              <a:r>
                <a:rPr lang="en-US" altLang="zh-CN" sz="1200" dirty="0">
                  <a:solidFill>
                    <a:schemeClr val="accent1"/>
                  </a:solidFill>
                  <a:latin typeface="ui-monospace"/>
                </a:rPr>
                <a:t>)</a:t>
              </a:r>
              <a:r>
                <a:rPr lang="zh-CN" altLang="en-US" sz="1200" dirty="0">
                  <a:solidFill>
                    <a:schemeClr val="accent1"/>
                  </a:solidFill>
                  <a:latin typeface="ui-monospace"/>
                </a:rPr>
                <a:t>：形象地反映出整个工程中各个活动之间的先后关系的有向图</a:t>
              </a:r>
              <a:endParaRPr lang="en-US" altLang="zh-CN" sz="1200" dirty="0">
                <a:solidFill>
                  <a:schemeClr val="accent1"/>
                </a:solidFill>
                <a:latin typeface="ui-monospace"/>
              </a:endParaRPr>
            </a:p>
            <a:p>
              <a:r>
                <a:rPr lang="zh-CN" altLang="en-US" sz="1200" dirty="0">
                  <a:solidFill>
                    <a:schemeClr val="accent1"/>
                  </a:solidFill>
                  <a:latin typeface="ui-monospace"/>
                </a:rPr>
                <a:t>有向无环图</a:t>
              </a:r>
              <a:r>
                <a:rPr lang="en-US" altLang="zh-CN" sz="1200" dirty="0">
                  <a:solidFill>
                    <a:schemeClr val="accent1"/>
                  </a:solidFill>
                  <a:latin typeface="ui-monospace"/>
                </a:rPr>
                <a:t>(DAG</a:t>
              </a:r>
              <a:r>
                <a:rPr lang="zh-CN" altLang="en-US" sz="1200" dirty="0">
                  <a:solidFill>
                    <a:schemeClr val="accent1"/>
                  </a:solidFill>
                  <a:latin typeface="ui-monospace"/>
                </a:rPr>
                <a:t>图</a:t>
              </a:r>
              <a:r>
                <a:rPr lang="en-US" altLang="zh-CN" sz="1200" dirty="0">
                  <a:solidFill>
                    <a:schemeClr val="accent1"/>
                  </a:solidFill>
                  <a:latin typeface="ui-monospace"/>
                </a:rPr>
                <a:t>)</a:t>
              </a:r>
              <a:r>
                <a:rPr lang="zh-CN" altLang="en-US" sz="1200" dirty="0">
                  <a:solidFill>
                    <a:schemeClr val="accent1"/>
                  </a:solidFill>
                  <a:latin typeface="ui-monospace"/>
                </a:rPr>
                <a:t>：不存在回路的有向图</a:t>
              </a:r>
              <a:endParaRPr lang="en-US" altLang="zh-CN" sz="1200" dirty="0">
                <a:solidFill>
                  <a:schemeClr val="accent1"/>
                </a:solidFill>
                <a:latin typeface="ui-monospace"/>
              </a:endParaRPr>
            </a:p>
            <a:p>
              <a:r>
                <a:rPr lang="zh-CN" altLang="en-US" sz="1200" dirty="0">
                  <a:solidFill>
                    <a:schemeClr val="accent1"/>
                  </a:solidFill>
                  <a:latin typeface="ui-monospace"/>
                </a:rPr>
                <a:t>算法：依次输出没有入度的顶点，并删除该</a:t>
              </a:r>
              <a:endParaRPr lang="en-US" altLang="zh-CN" sz="1200" dirty="0">
                <a:solidFill>
                  <a:schemeClr val="accent1"/>
                </a:solidFill>
                <a:latin typeface="ui-monospace"/>
              </a:endParaRPr>
            </a:p>
            <a:p>
              <a:r>
                <a:rPr lang="zh-CN" altLang="en-US" sz="1200" dirty="0">
                  <a:solidFill>
                    <a:schemeClr val="accent1"/>
                  </a:solidFill>
                  <a:latin typeface="ui-monospace"/>
                </a:rPr>
                <a:t>点和以该点为弧尾的弧</a:t>
              </a:r>
              <a:endParaRPr lang="en-US" altLang="zh-CN" sz="1200" dirty="0">
                <a:solidFill>
                  <a:schemeClr val="accent1"/>
                </a:solidFill>
                <a:latin typeface="ui-monospace"/>
              </a:endParaRPr>
            </a:p>
            <a:p>
              <a:r>
                <a:rPr lang="zh-CN" altLang="en-US" sz="1200" dirty="0">
                  <a:solidFill>
                    <a:schemeClr val="accent1"/>
                  </a:solidFill>
                  <a:latin typeface="ui-monospace"/>
                </a:rPr>
                <a:t>边活动网</a:t>
              </a:r>
              <a:r>
                <a:rPr lang="en-US" altLang="zh-CN" sz="1200" dirty="0">
                  <a:solidFill>
                    <a:schemeClr val="accent1"/>
                  </a:solidFill>
                  <a:latin typeface="ui-monospace"/>
                </a:rPr>
                <a:t>(AOE</a:t>
              </a:r>
              <a:r>
                <a:rPr lang="zh-CN" altLang="en-US" sz="1200" dirty="0">
                  <a:solidFill>
                    <a:schemeClr val="accent1"/>
                  </a:solidFill>
                  <a:latin typeface="ui-monospace"/>
                </a:rPr>
                <a:t>网</a:t>
              </a:r>
              <a:r>
                <a:rPr lang="en-US" altLang="zh-CN" sz="1200" dirty="0">
                  <a:solidFill>
                    <a:schemeClr val="accent1"/>
                  </a:solidFill>
                  <a:latin typeface="ui-monospace"/>
                </a:rPr>
                <a:t>)</a:t>
              </a:r>
              <a:r>
                <a:rPr lang="zh-CN" altLang="en-US" sz="1200" dirty="0">
                  <a:solidFill>
                    <a:schemeClr val="accent1"/>
                  </a:solidFill>
                  <a:latin typeface="ui-monospace"/>
                </a:rPr>
                <a:t>：以边表示活动，且边有权值</a:t>
              </a:r>
              <a:endParaRPr lang="en-US" altLang="zh-CN" sz="1200" dirty="0">
                <a:solidFill>
                  <a:schemeClr val="accent1"/>
                </a:solidFill>
                <a:latin typeface="ui-monospace"/>
              </a:endParaRPr>
            </a:p>
            <a:p>
              <a:r>
                <a:rPr lang="zh-CN" altLang="en-US" sz="1200" dirty="0">
                  <a:solidFill>
                    <a:schemeClr val="accent1"/>
                  </a:solidFill>
                  <a:latin typeface="ui-monospace"/>
                </a:rPr>
                <a:t>入度为</a:t>
              </a:r>
              <a:r>
                <a:rPr lang="en-US" altLang="zh-CN" sz="1200" dirty="0">
                  <a:solidFill>
                    <a:schemeClr val="accent1"/>
                  </a:solidFill>
                  <a:latin typeface="ui-monospace"/>
                </a:rPr>
                <a:t>0</a:t>
              </a:r>
              <a:r>
                <a:rPr lang="zh-CN" altLang="en-US" sz="1200" dirty="0">
                  <a:solidFill>
                    <a:schemeClr val="accent1"/>
                  </a:solidFill>
                  <a:latin typeface="ui-monospace"/>
                </a:rPr>
                <a:t>的为</a:t>
              </a:r>
              <a:r>
                <a:rPr lang="zh-CN" altLang="en-US" sz="1200" b="1" dirty="0">
                  <a:solidFill>
                    <a:schemeClr val="accent1"/>
                  </a:solidFill>
                  <a:latin typeface="ui-monospace"/>
                </a:rPr>
                <a:t>源点</a:t>
              </a:r>
              <a:r>
                <a:rPr lang="zh-CN" altLang="en-US" sz="1200" dirty="0">
                  <a:solidFill>
                    <a:schemeClr val="accent1"/>
                  </a:solidFill>
                  <a:latin typeface="ui-monospace"/>
                </a:rPr>
                <a:t>，出度为</a:t>
              </a:r>
              <a:r>
                <a:rPr lang="en-US" altLang="zh-CN" sz="1200" dirty="0">
                  <a:solidFill>
                    <a:schemeClr val="accent1"/>
                  </a:solidFill>
                  <a:latin typeface="ui-monospace"/>
                </a:rPr>
                <a:t>0</a:t>
              </a:r>
              <a:r>
                <a:rPr lang="zh-CN" altLang="en-US" sz="1200" dirty="0">
                  <a:solidFill>
                    <a:schemeClr val="accent1"/>
                  </a:solidFill>
                  <a:latin typeface="ui-monospace"/>
                </a:rPr>
                <a:t>的为</a:t>
              </a:r>
              <a:r>
                <a:rPr lang="zh-CN" altLang="en-US" sz="1200" b="1" dirty="0">
                  <a:solidFill>
                    <a:schemeClr val="accent1"/>
                  </a:solidFill>
                  <a:latin typeface="ui-monospace"/>
                </a:rPr>
                <a:t>汇点</a:t>
              </a:r>
              <a:endParaRPr lang="en-US" altLang="zh-CN" sz="1200" b="1" dirty="0">
                <a:solidFill>
                  <a:schemeClr val="accent1"/>
                </a:solidFill>
                <a:latin typeface="ui-monospace"/>
              </a:endParaRPr>
            </a:p>
            <a:p>
              <a:r>
                <a:rPr lang="zh-CN" altLang="en-US" sz="1200" dirty="0">
                  <a:solidFill>
                    <a:schemeClr val="accent1"/>
                  </a:solidFill>
                  <a:latin typeface="ui-monospace"/>
                </a:rPr>
                <a:t>事件最早发生时间</a:t>
              </a:r>
              <a:r>
                <a:rPr lang="en-US" altLang="zh-CN" sz="1200" dirty="0" err="1">
                  <a:solidFill>
                    <a:schemeClr val="accent1"/>
                  </a:solidFill>
                  <a:latin typeface="ui-monospace"/>
                </a:rPr>
                <a:t>etv</a:t>
              </a:r>
              <a:r>
                <a:rPr lang="zh-CN" altLang="en-US" sz="1200" dirty="0">
                  <a:solidFill>
                    <a:schemeClr val="accent1"/>
                  </a:solidFill>
                  <a:latin typeface="ui-monospace"/>
                </a:rPr>
                <a:t>：从源点到该顶点的最长路径</a:t>
              </a:r>
              <a:endParaRPr lang="en-US" altLang="zh-CN" sz="1200" dirty="0">
                <a:solidFill>
                  <a:schemeClr val="accent1"/>
                </a:solidFill>
                <a:latin typeface="ui-monospace"/>
              </a:endParaRPr>
            </a:p>
            <a:p>
              <a:r>
                <a:rPr lang="zh-CN" altLang="en-US" sz="1200" dirty="0">
                  <a:solidFill>
                    <a:schemeClr val="accent1"/>
                  </a:solidFill>
                  <a:latin typeface="ui-monospace"/>
                </a:rPr>
                <a:t>事件最晚发生时间</a:t>
              </a:r>
              <a:r>
                <a:rPr lang="en-US" altLang="zh-CN" sz="1200" dirty="0" err="1">
                  <a:solidFill>
                    <a:schemeClr val="accent1"/>
                  </a:solidFill>
                  <a:latin typeface="ui-monospace"/>
                </a:rPr>
                <a:t>itv</a:t>
              </a:r>
              <a:endParaRPr lang="en-US" altLang="zh-CN" sz="1200" dirty="0">
                <a:solidFill>
                  <a:schemeClr val="accent1"/>
                </a:solidFill>
                <a:latin typeface="ui-monospace"/>
              </a:endParaRPr>
            </a:p>
            <a:p>
              <a:r>
                <a:rPr lang="zh-CN" altLang="en-US" sz="1200" dirty="0">
                  <a:solidFill>
                    <a:schemeClr val="accent1"/>
                  </a:solidFill>
                  <a:latin typeface="ui-monospace"/>
                </a:rPr>
                <a:t>活动最早开始时间</a:t>
              </a:r>
              <a:r>
                <a:rPr lang="en-US" altLang="zh-CN" sz="1200" dirty="0" err="1">
                  <a:solidFill>
                    <a:schemeClr val="accent1"/>
                  </a:solidFill>
                  <a:latin typeface="ui-monospace"/>
                </a:rPr>
                <a:t>ete</a:t>
              </a:r>
              <a:r>
                <a:rPr lang="zh-CN" altLang="en-US" sz="1200" dirty="0">
                  <a:solidFill>
                    <a:schemeClr val="accent1"/>
                  </a:solidFill>
                  <a:latin typeface="ui-monospace"/>
                </a:rPr>
                <a:t>：弧头的事件的最早发生时间</a:t>
              </a:r>
              <a:endParaRPr lang="en-US" altLang="zh-CN" sz="1200" dirty="0">
                <a:solidFill>
                  <a:schemeClr val="accent1"/>
                </a:solidFill>
                <a:latin typeface="ui-monospace"/>
              </a:endParaRPr>
            </a:p>
            <a:p>
              <a:r>
                <a:rPr lang="zh-CN" altLang="en-US" sz="1200" dirty="0">
                  <a:solidFill>
                    <a:schemeClr val="accent1"/>
                  </a:solidFill>
                  <a:latin typeface="ui-monospace"/>
                </a:rPr>
                <a:t>活动最晚开始时间</a:t>
              </a:r>
              <a:r>
                <a:rPr lang="en-US" altLang="zh-CN" sz="1200" dirty="0" err="1">
                  <a:solidFill>
                    <a:schemeClr val="accent1"/>
                  </a:solidFill>
                  <a:latin typeface="ui-monospace"/>
                </a:rPr>
                <a:t>ite</a:t>
              </a:r>
              <a:r>
                <a:rPr lang="zh-CN" altLang="en-US" sz="1200" dirty="0">
                  <a:solidFill>
                    <a:schemeClr val="accent1"/>
                  </a:solidFill>
                  <a:latin typeface="ui-monospace"/>
                </a:rPr>
                <a:t>：保证弧尾事件的最晚发生时间不拖后</a:t>
              </a:r>
              <a:endParaRPr lang="en-US" altLang="zh-CN" sz="1200" dirty="0">
                <a:solidFill>
                  <a:schemeClr val="accent1"/>
                </a:solidFill>
                <a:latin typeface="ui-monospace"/>
              </a:endParaRPr>
            </a:p>
            <a:p>
              <a:r>
                <a:rPr lang="zh-CN" altLang="en-US" sz="1200" dirty="0">
                  <a:solidFill>
                    <a:schemeClr val="accent1"/>
                  </a:solidFill>
                  <a:latin typeface="ui-monospace"/>
                </a:rPr>
                <a:t>关键路径：如果弧的最早开始时间等于最晚开始时间，那么称这条弧所代表的活动为</a:t>
              </a:r>
              <a:r>
                <a:rPr lang="zh-CN" altLang="en-US" sz="1200" b="1" dirty="0">
                  <a:solidFill>
                    <a:schemeClr val="accent1"/>
                  </a:solidFill>
                  <a:latin typeface="ui-monospace"/>
                </a:rPr>
                <a:t>关键活动</a:t>
              </a:r>
              <a:r>
                <a:rPr lang="zh-CN" altLang="en-US" sz="1200" dirty="0">
                  <a:solidFill>
                    <a:schemeClr val="accent1"/>
                  </a:solidFill>
                  <a:latin typeface="ui-monospace"/>
                </a:rPr>
                <a:t>，由关键活动所构成的路径称为</a:t>
              </a:r>
              <a:r>
                <a:rPr lang="zh-CN" altLang="en-US" sz="1200" b="1" dirty="0">
                  <a:solidFill>
                    <a:schemeClr val="accent1"/>
                  </a:solidFill>
                  <a:latin typeface="ui-monospace"/>
                </a:rPr>
                <a:t>关键路径</a:t>
              </a:r>
              <a:endParaRPr lang="en-US" altLang="zh-CN" sz="1200" b="1" dirty="0">
                <a:solidFill>
                  <a:schemeClr val="accent1"/>
                </a:solidFill>
                <a:latin typeface="ui-monospace"/>
              </a:endParaRPr>
            </a:p>
            <a:p>
              <a:r>
                <a:rPr lang="zh-CN" altLang="en-US" sz="1200" dirty="0">
                  <a:solidFill>
                    <a:schemeClr val="accent1"/>
                  </a:solidFill>
                  <a:latin typeface="ui-monospace"/>
                </a:rPr>
                <a:t>最短路径：从连接图中的某个顶点出发到达到达另外一个顶点所经过的边的权重和最小的那一条路径 </a:t>
              </a:r>
              <a:endParaRPr lang="en-US" sz="1200" dirty="0">
                <a:solidFill>
                  <a:schemeClr val="accent1"/>
                </a:solidFill>
                <a:latin typeface="ui-monospace"/>
              </a:endParaRPr>
            </a:p>
          </p:txBody>
        </p:sp>
      </p:grpSp>
      <p:pic>
        <p:nvPicPr>
          <p:cNvPr id="3049" name="Picture 3048">
            <a:extLst>
              <a:ext uri="{FF2B5EF4-FFF2-40B4-BE49-F238E27FC236}">
                <a16:creationId xmlns:a16="http://schemas.microsoft.com/office/drawing/2014/main" id="{9727754E-6AB2-E9E5-EA8B-D2AB466CFEC0}"/>
              </a:ext>
            </a:extLst>
          </p:cNvPr>
          <p:cNvPicPr>
            <a:picLocks noChangeAspect="1"/>
          </p:cNvPicPr>
          <p:nvPr/>
        </p:nvPicPr>
        <p:blipFill>
          <a:blip r:embed="rId8"/>
          <a:stretch>
            <a:fillRect/>
          </a:stretch>
        </p:blipFill>
        <p:spPr>
          <a:xfrm>
            <a:off x="10945600" y="4151488"/>
            <a:ext cx="1066318" cy="978990"/>
          </a:xfrm>
          <a:prstGeom prst="rect">
            <a:avLst/>
          </a:prstGeom>
        </p:spPr>
      </p:pic>
      <p:grpSp>
        <p:nvGrpSpPr>
          <p:cNvPr id="57" name="Group 56">
            <a:extLst>
              <a:ext uri="{FF2B5EF4-FFF2-40B4-BE49-F238E27FC236}">
                <a16:creationId xmlns:a16="http://schemas.microsoft.com/office/drawing/2014/main" id="{386EC45D-C776-4A78-EA9A-8232BB031388}"/>
              </a:ext>
            </a:extLst>
          </p:cNvPr>
          <p:cNvGrpSpPr/>
          <p:nvPr/>
        </p:nvGrpSpPr>
        <p:grpSpPr>
          <a:xfrm>
            <a:off x="3099751" y="5059822"/>
            <a:ext cx="4386653" cy="1126259"/>
            <a:chOff x="7614613" y="5950488"/>
            <a:chExt cx="4386653" cy="1126259"/>
          </a:xfrm>
        </p:grpSpPr>
        <p:sp>
          <p:nvSpPr>
            <p:cNvPr id="58" name="Rectangle: Rounded Corners 57">
              <a:extLst>
                <a:ext uri="{FF2B5EF4-FFF2-40B4-BE49-F238E27FC236}">
                  <a16:creationId xmlns:a16="http://schemas.microsoft.com/office/drawing/2014/main" id="{F701FB10-120E-ED99-169A-5284E8BA3AA8}"/>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▶生成树</a:t>
              </a:r>
              <a:endParaRPr lang="en-US" altLang="zh-CN" sz="1200" dirty="0">
                <a:solidFill>
                  <a:schemeClr val="bg1"/>
                </a:solidFill>
                <a:latin typeface="ui-monospace"/>
              </a:endParaRPr>
            </a:p>
          </p:txBody>
        </p:sp>
        <p:sp>
          <p:nvSpPr>
            <p:cNvPr id="59" name="TextBox 58">
              <a:extLst>
                <a:ext uri="{FF2B5EF4-FFF2-40B4-BE49-F238E27FC236}">
                  <a16:creationId xmlns:a16="http://schemas.microsoft.com/office/drawing/2014/main" id="{4F234A1C-5819-B631-B0A2-4E4CC34A5BFC}"/>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在一给定的无向图</a:t>
              </a:r>
              <a:r>
                <a:rPr lang="en-US" altLang="zh-CN" sz="1200" dirty="0">
                  <a:solidFill>
                    <a:schemeClr val="accent1"/>
                  </a:solidFill>
                  <a:latin typeface="ui-monospace"/>
                </a:rPr>
                <a:t>G = (V, E) </a:t>
              </a:r>
              <a:r>
                <a:rPr lang="zh-CN" altLang="en-US" sz="1200" dirty="0">
                  <a:solidFill>
                    <a:schemeClr val="accent1"/>
                  </a:solidFill>
                  <a:latin typeface="ui-monospace"/>
                </a:rPr>
                <a:t>中，</a:t>
              </a:r>
              <a:r>
                <a:rPr lang="en-US" altLang="zh-CN" sz="1200" dirty="0">
                  <a:solidFill>
                    <a:schemeClr val="accent1"/>
                  </a:solidFill>
                  <a:latin typeface="ui-monospace"/>
                </a:rPr>
                <a:t>(u, v) </a:t>
              </a:r>
              <a:r>
                <a:rPr lang="zh-CN" altLang="en-US" sz="1200" dirty="0">
                  <a:solidFill>
                    <a:schemeClr val="accent1"/>
                  </a:solidFill>
                  <a:latin typeface="ui-monospace"/>
                </a:rPr>
                <a:t>代表连接顶点 </a:t>
              </a:r>
              <a:r>
                <a:rPr lang="en-US" altLang="zh-CN" sz="1200" dirty="0">
                  <a:solidFill>
                    <a:schemeClr val="accent1"/>
                  </a:solidFill>
                  <a:latin typeface="ui-monospace"/>
                </a:rPr>
                <a:t>u </a:t>
              </a:r>
              <a:r>
                <a:rPr lang="zh-CN" altLang="en-US" sz="1200" dirty="0">
                  <a:solidFill>
                    <a:schemeClr val="accent1"/>
                  </a:solidFill>
                  <a:latin typeface="ui-monospace"/>
                </a:rPr>
                <a:t>与顶点 </a:t>
              </a:r>
              <a:r>
                <a:rPr lang="en-US" altLang="zh-CN" sz="1200" dirty="0">
                  <a:solidFill>
                    <a:schemeClr val="accent1"/>
                  </a:solidFill>
                  <a:latin typeface="ui-monospace"/>
                </a:rPr>
                <a:t>v </a:t>
              </a:r>
              <a:r>
                <a:rPr lang="zh-CN" altLang="en-US" sz="1200" dirty="0">
                  <a:solidFill>
                    <a:schemeClr val="accent1"/>
                  </a:solidFill>
                  <a:latin typeface="ui-monospace"/>
                </a:rPr>
                <a:t>的边，而 </a:t>
              </a:r>
              <a:r>
                <a:rPr lang="en-US" altLang="zh-CN" sz="1200" dirty="0">
                  <a:solidFill>
                    <a:schemeClr val="accent1"/>
                  </a:solidFill>
                  <a:latin typeface="ui-monospace"/>
                </a:rPr>
                <a:t>w(u, v) </a:t>
              </a:r>
              <a:r>
                <a:rPr lang="zh-CN" altLang="en-US" sz="1200" dirty="0">
                  <a:solidFill>
                    <a:schemeClr val="accent1"/>
                  </a:solidFill>
                  <a:latin typeface="ui-monospace"/>
                </a:rPr>
                <a:t>代表此边的权重，若存在 </a:t>
              </a:r>
              <a:r>
                <a:rPr lang="en-US" altLang="zh-CN" sz="1200" dirty="0">
                  <a:solidFill>
                    <a:schemeClr val="accent1"/>
                  </a:solidFill>
                  <a:latin typeface="ui-monospace"/>
                </a:rPr>
                <a:t>T </a:t>
              </a:r>
              <a:r>
                <a:rPr lang="zh-CN" altLang="en-US" sz="1200" dirty="0">
                  <a:solidFill>
                    <a:schemeClr val="accent1"/>
                  </a:solidFill>
                  <a:latin typeface="ui-monospace"/>
                </a:rPr>
                <a:t>为 </a:t>
              </a:r>
              <a:r>
                <a:rPr lang="en-US" altLang="zh-CN" sz="1200" dirty="0">
                  <a:solidFill>
                    <a:schemeClr val="accent1"/>
                  </a:solidFill>
                  <a:latin typeface="ui-monospace"/>
                </a:rPr>
                <a:t>E </a:t>
              </a:r>
              <a:r>
                <a:rPr lang="zh-CN" altLang="en-US" sz="1200" dirty="0">
                  <a:solidFill>
                    <a:schemeClr val="accent1"/>
                  </a:solidFill>
                  <a:latin typeface="ui-monospace"/>
                </a:rPr>
                <a:t>的子集且为无循环图，使得联通所有结点的的 </a:t>
              </a:r>
              <a:r>
                <a:rPr lang="en-US" altLang="zh-CN" sz="1200" dirty="0">
                  <a:solidFill>
                    <a:schemeClr val="accent1"/>
                  </a:solidFill>
                  <a:latin typeface="ui-monospace"/>
                </a:rPr>
                <a:t>w(T) </a:t>
              </a:r>
              <a:r>
                <a:rPr lang="zh-CN" altLang="en-US" sz="1200" dirty="0">
                  <a:solidFill>
                    <a:schemeClr val="accent1"/>
                  </a:solidFill>
                  <a:latin typeface="ui-monospace"/>
                </a:rPr>
                <a:t>最小，则此 </a:t>
              </a:r>
              <a:r>
                <a:rPr lang="en-US" altLang="zh-CN" sz="1200" dirty="0">
                  <a:solidFill>
                    <a:schemeClr val="accent1"/>
                  </a:solidFill>
                  <a:latin typeface="ui-monospace"/>
                </a:rPr>
                <a:t>T </a:t>
              </a:r>
              <a:r>
                <a:rPr lang="zh-CN" altLang="en-US" sz="1200" dirty="0">
                  <a:solidFill>
                    <a:schemeClr val="accent1"/>
                  </a:solidFill>
                  <a:latin typeface="ui-monospace"/>
                </a:rPr>
                <a:t>为 </a:t>
              </a:r>
              <a:r>
                <a:rPr lang="en-US" altLang="zh-CN" sz="1200" dirty="0">
                  <a:solidFill>
                    <a:schemeClr val="accent1"/>
                  </a:solidFill>
                  <a:latin typeface="ui-monospace"/>
                </a:rPr>
                <a:t>G </a:t>
              </a:r>
              <a:r>
                <a:rPr lang="zh-CN" altLang="en-US" sz="1200" dirty="0">
                  <a:solidFill>
                    <a:schemeClr val="accent1"/>
                  </a:solidFill>
                  <a:latin typeface="ui-monospace"/>
                </a:rPr>
                <a:t>的最小生成树 </a:t>
              </a:r>
              <a:endParaRPr lang="en-US" sz="1200" dirty="0">
                <a:solidFill>
                  <a:schemeClr val="accent1"/>
                </a:solidFill>
                <a:latin typeface="ui-monospace"/>
              </a:endParaRPr>
            </a:p>
          </p:txBody>
        </p:sp>
      </p:grpSp>
      <p:graphicFrame>
        <p:nvGraphicFramePr>
          <p:cNvPr id="60" name="Table 59">
            <a:extLst>
              <a:ext uri="{FF2B5EF4-FFF2-40B4-BE49-F238E27FC236}">
                <a16:creationId xmlns:a16="http://schemas.microsoft.com/office/drawing/2014/main" id="{221350E9-A1B3-2DF8-7A4A-1420964D4E78}"/>
              </a:ext>
            </a:extLst>
          </p:cNvPr>
          <p:cNvGraphicFramePr>
            <a:graphicFrameLocks noGrp="1"/>
          </p:cNvGraphicFramePr>
          <p:nvPr>
            <p:extLst>
              <p:ext uri="{D42A27DB-BD31-4B8C-83A1-F6EECF244321}">
                <p14:modId xmlns:p14="http://schemas.microsoft.com/office/powerpoint/2010/main" val="1634439234"/>
              </p:ext>
            </p:extLst>
          </p:nvPr>
        </p:nvGraphicFramePr>
        <p:xfrm>
          <a:off x="3179243" y="6190175"/>
          <a:ext cx="4254624" cy="571500"/>
        </p:xfrm>
        <a:graphic>
          <a:graphicData uri="http://schemas.openxmlformats.org/drawingml/2006/table">
            <a:tbl>
              <a:tblPr/>
              <a:tblGrid>
                <a:gridCol w="851983">
                  <a:extLst>
                    <a:ext uri="{9D8B030D-6E8A-4147-A177-3AD203B41FA5}">
                      <a16:colId xmlns:a16="http://schemas.microsoft.com/office/drawing/2014/main" val="3140823930"/>
                    </a:ext>
                  </a:extLst>
                </a:gridCol>
                <a:gridCol w="3402641">
                  <a:extLst>
                    <a:ext uri="{9D8B030D-6E8A-4147-A177-3AD203B41FA5}">
                      <a16:colId xmlns:a16="http://schemas.microsoft.com/office/drawing/2014/main" val="1512100898"/>
                    </a:ext>
                  </a:extLst>
                </a:gridCol>
              </a:tblGrid>
              <a:tr h="0">
                <a:tc>
                  <a:txBody>
                    <a:bodyPr/>
                    <a:lstStyle/>
                    <a:p>
                      <a:pPr algn="l" rtl="0" fontAlgn="base"/>
                      <a:r>
                        <a:rPr lang="zh-CN" altLang="en-US" sz="1000" b="0" i="0" u="none" strike="noStrike" dirty="0">
                          <a:effectLst/>
                          <a:ea typeface="Microsoft YaHei" panose="020B0503020204020204" pitchFamily="34" charset="-122"/>
                        </a:rPr>
                        <a:t>普里姆算法</a:t>
                      </a:r>
                      <a:r>
                        <a:rPr lang="zh-CN" altLang="en-US" sz="1000" b="0" i="0" dirty="0">
                          <a:effectLst/>
                          <a:ea typeface="Microsoft YaHei" panose="020B0503020204020204" pitchFamily="34" charset="-122"/>
                        </a:rPr>
                        <a:t> </a:t>
                      </a:r>
                      <a:endParaRPr lang="zh-CN" altLang="en-US" sz="1400"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000" b="0" i="0" u="none" strike="noStrike" dirty="0">
                          <a:effectLst/>
                          <a:ea typeface="Microsoft YaHei" panose="020B0503020204020204" pitchFamily="34" charset="-122"/>
                        </a:rPr>
                        <a:t>从任一顶点出发，依次寻找权值最小边的邻接点计入集合</a:t>
                      </a:r>
                      <a:r>
                        <a:rPr lang="zh-CN" altLang="en-US" sz="1000" b="0" i="0" dirty="0">
                          <a:effectLst/>
                          <a:ea typeface="Microsoft YaHei" panose="020B0503020204020204" pitchFamily="34" charset="-122"/>
                        </a:rPr>
                        <a:t> </a:t>
                      </a:r>
                      <a:endParaRPr lang="zh-CN" altLang="en-US" sz="1400"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405530499"/>
                  </a:ext>
                </a:extLst>
              </a:tr>
              <a:tr h="0">
                <a:tc>
                  <a:txBody>
                    <a:bodyPr/>
                    <a:lstStyle/>
                    <a:p>
                      <a:pPr algn="l" rtl="0" fontAlgn="base"/>
                      <a:r>
                        <a:rPr lang="zh-CN" altLang="en-US" sz="1000" b="0" i="0" u="none" strike="noStrike">
                          <a:effectLst/>
                          <a:ea typeface="Microsoft YaHei" panose="020B0503020204020204" pitchFamily="34" charset="-122"/>
                        </a:rPr>
                        <a:t>克鲁斯卡尔算法</a:t>
                      </a:r>
                      <a:r>
                        <a:rPr lang="zh-CN" altLang="en-US" sz="1000" b="0" i="0">
                          <a:effectLst/>
                          <a:ea typeface="Microsoft YaHei" panose="020B0503020204020204" pitchFamily="34" charset="-122"/>
                        </a:rPr>
                        <a:t> </a:t>
                      </a:r>
                      <a:endParaRPr lang="zh-CN" altLang="en-US" sz="1400"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000" b="0" i="0" u="none" strike="noStrike" dirty="0">
                          <a:effectLst/>
                          <a:ea typeface="Microsoft YaHei" panose="020B0503020204020204" pitchFamily="34" charset="-122"/>
                        </a:rPr>
                        <a:t>依次选取权值最小的边直至囊括所有结点，注意检查不能形成环路</a:t>
                      </a:r>
                      <a:r>
                        <a:rPr lang="zh-CN" altLang="en-US" sz="1000" b="0" i="0" dirty="0">
                          <a:effectLst/>
                          <a:ea typeface="Microsoft YaHei" panose="020B0503020204020204" pitchFamily="34" charset="-122"/>
                        </a:rPr>
                        <a:t> </a:t>
                      </a:r>
                      <a:endParaRPr lang="zh-CN" altLang="en-US" sz="1400"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1270802066"/>
                  </a:ext>
                </a:extLst>
              </a:tr>
            </a:tbl>
          </a:graphicData>
        </a:graphic>
      </p:graphicFrame>
    </p:spTree>
    <p:extLst>
      <p:ext uri="{BB962C8B-B14F-4D97-AF65-F5344CB8AC3E}">
        <p14:creationId xmlns:p14="http://schemas.microsoft.com/office/powerpoint/2010/main" val="2102366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CA83C5-434B-C2BB-C03E-FEA77C2BBB11}"/>
              </a:ext>
            </a:extLst>
          </p:cNvPr>
          <p:cNvSpPr txBox="1"/>
          <p:nvPr/>
        </p:nvSpPr>
        <p:spPr>
          <a:xfrm>
            <a:off x="0" y="959472"/>
            <a:ext cx="2986206" cy="600164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线性结构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i="0" u="none" strike="noStrike" kern="1200" cap="none" spc="0" normalizeH="0" baseline="0" noProof="0" dirty="0">
                <a:ln>
                  <a:noFill/>
                </a:ln>
                <a:effectLst/>
                <a:uLnTx/>
                <a:uFillTx/>
                <a:latin typeface="Arial" panose="020B0604020202020204" pitchFamily="34" charset="0"/>
                <a:ea typeface="Punctuation SC"/>
                <a:cs typeface="+mn-cs"/>
              </a:rPr>
              <a:t>线性表 </a:t>
            </a:r>
            <a:r>
              <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i="0" u="none" strike="noStrike" kern="1200" cap="none" spc="0" normalizeH="0" baseline="0" noProof="0" dirty="0">
                <a:ln>
                  <a:noFill/>
                </a:ln>
                <a:effectLst/>
                <a:uLnTx/>
                <a:uFillTx/>
                <a:latin typeface="Arial" panose="020B0604020202020204" pitchFamily="34" charset="0"/>
                <a:ea typeface="Punctuation SC"/>
                <a:cs typeface="+mn-cs"/>
              </a:rPr>
              <a:t>顺序表、链表</a:t>
            </a:r>
            <a:r>
              <a:rPr kumimoji="0" lang="en-US" altLang="zh-CN" sz="1200" i="0" u="none" strike="noStrike" kern="1200" cap="none" spc="0" normalizeH="0" baseline="0" noProof="0" dirty="0">
                <a:ln>
                  <a:noFill/>
                </a:ln>
                <a:effectLst/>
                <a:uLnTx/>
                <a:uFillTx/>
                <a:latin typeface="Arial" panose="020B0604020202020204" pitchFamily="34" charset="0"/>
                <a:ea typeface="Punctuation SC"/>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栈和队列</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串</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数组、矩阵、广义表</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数组</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矩阵</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eaLnBrk="0" fontAlgn="base" hangingPunct="0">
              <a:spcBef>
                <a:spcPct val="0"/>
              </a:spcBef>
              <a:spcAft>
                <a:spcPct val="0"/>
              </a:spcAft>
              <a:defRPr/>
            </a:pPr>
            <a:r>
              <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广义表</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树</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树与二叉树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性质和存储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遍历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线索二叉树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最优二叉树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森林</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图</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定义和存储</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遍历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生成树和最小生成树</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dirty="0">
                <a:latin typeface="Arial" panose="020B0604020202020204" pitchFamily="34" charset="0"/>
                <a:ea typeface="Punctuation SC"/>
              </a:rPr>
              <a:t>-</a:t>
            </a:r>
            <a:r>
              <a:rPr lang="zh-CN" altLang="en-US" sz="1200" dirty="0">
                <a:latin typeface="Arial" panose="020B0604020202020204" pitchFamily="34" charset="0"/>
                <a:ea typeface="Punctuation SC"/>
              </a:rPr>
              <a:t>拓扑排序和关键路径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0" i="0" u="none" strike="noStrike" kern="1200" cap="none" spc="0" normalizeH="0" baseline="0" noProof="0" dirty="0">
                <a:ln>
                  <a:noFill/>
                </a:ln>
                <a:effectLst/>
                <a:uLnTx/>
                <a:uFillTx/>
                <a:latin typeface="Arial" panose="020B0604020202020204" pitchFamily="34" charset="0"/>
                <a:ea typeface="Punctuation SC"/>
                <a:cs typeface="+mn-cs"/>
              </a:rPr>
              <a:t>最短路径</a:t>
            </a:r>
            <a:endParaRPr kumimoji="0" lang="en-US" altLang="zh-CN" sz="1200" b="0"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查找算法</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静态查找表</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动态查找表</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哈希表</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a:ln>
                  <a:noFill/>
                </a:ln>
                <a:effectLst/>
                <a:uLnTx/>
                <a:uFillTx/>
                <a:latin typeface="Arial" panose="020B0604020202020204" pitchFamily="34" charset="0"/>
                <a:ea typeface="Punctuation SC"/>
                <a:cs typeface="+mn-cs"/>
              </a:rPr>
              <a:t>排序算法</a:t>
            </a:r>
            <a:endPar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简单排序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1"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1" i="0" u="none" strike="noStrike" kern="1200" cap="none" spc="0" normalizeH="0" baseline="0" noProof="0" dirty="0">
                <a:ln>
                  <a:noFill/>
                </a:ln>
                <a:effectLst/>
                <a:uLnTx/>
                <a:uFillTx/>
                <a:latin typeface="Arial" panose="020B0604020202020204" pitchFamily="34" charset="0"/>
                <a:ea typeface="Punctuation SC"/>
                <a:cs typeface="+mn-cs"/>
              </a:rPr>
              <a:t>希尔排序</a:t>
            </a:r>
            <a:endPar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快速排序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1" i="0" u="none" strike="noStrike" kern="1200" cap="none" spc="0" normalizeH="0" baseline="0" noProof="0" dirty="0">
                <a:ln>
                  <a:noFill/>
                </a:ln>
                <a:effectLst/>
                <a:uLnTx/>
                <a:uFillTx/>
                <a:latin typeface="Arial" panose="020B0604020202020204" pitchFamily="34" charset="0"/>
                <a:ea typeface="Punctuation SC"/>
                <a:cs typeface="+mn-cs"/>
              </a:rPr>
              <a:t>-</a:t>
            </a:r>
            <a:r>
              <a:rPr kumimoji="0" lang="zh-CN" altLang="en-US" sz="1200" b="1" i="0" u="none" strike="noStrike" kern="1200" cap="none" spc="0" normalizeH="0" baseline="0" noProof="0" dirty="0">
                <a:ln>
                  <a:noFill/>
                </a:ln>
                <a:effectLst/>
                <a:uLnTx/>
                <a:uFillTx/>
                <a:latin typeface="Arial" panose="020B0604020202020204" pitchFamily="34" charset="0"/>
                <a:ea typeface="Punctuation SC"/>
                <a:cs typeface="+mn-cs"/>
              </a:rPr>
              <a:t>堆排序</a:t>
            </a:r>
            <a:endParaRPr kumimoji="0" lang="en-US" altLang="zh-CN" sz="1200" b="1" i="0" u="none" strike="noStrike" kern="1200" cap="none" spc="0" normalizeH="0" baseline="0" noProof="0" dirty="0">
              <a:ln>
                <a:noFill/>
              </a:ln>
              <a:effectLst/>
              <a:uLnTx/>
              <a:uFillTx/>
              <a:latin typeface="Arial" panose="020B0604020202020204" pitchFamily="34" charset="0"/>
              <a:ea typeface="Punctuation SC"/>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归并排序</a:t>
            </a:r>
            <a:endParaRPr lang="en-US" altLang="zh-CN" sz="1200" b="1"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F6E8EA44-BACD-2DF7-D1BB-48B659756CE3}"/>
              </a:ext>
            </a:extLst>
          </p:cNvPr>
          <p:cNvSpPr txBox="1"/>
          <p:nvPr/>
        </p:nvSpPr>
        <p:spPr>
          <a:xfrm>
            <a:off x="11473" y="218648"/>
            <a:ext cx="1620957"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数据结构</a:t>
            </a:r>
            <a:endParaRPr lang="en-US" dirty="0"/>
          </a:p>
        </p:txBody>
      </p:sp>
      <p:cxnSp>
        <p:nvCxnSpPr>
          <p:cNvPr id="7" name="Straight Connector 6">
            <a:extLst>
              <a:ext uri="{FF2B5EF4-FFF2-40B4-BE49-F238E27FC236}">
                <a16:creationId xmlns:a16="http://schemas.microsoft.com/office/drawing/2014/main" id="{A7CFB97A-E7E7-BB6E-4BA9-8E7CB22DC8F7}"/>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1" name="Group 10">
            <a:extLst>
              <a:ext uri="{FF2B5EF4-FFF2-40B4-BE49-F238E27FC236}">
                <a16:creationId xmlns:a16="http://schemas.microsoft.com/office/drawing/2014/main" id="{98BD0C93-DD89-25A7-1553-E3F85FE0D7B8}"/>
              </a:ext>
            </a:extLst>
          </p:cNvPr>
          <p:cNvGrpSpPr/>
          <p:nvPr/>
        </p:nvGrpSpPr>
        <p:grpSpPr>
          <a:xfrm>
            <a:off x="3119859" y="40595"/>
            <a:ext cx="4386653" cy="1864922"/>
            <a:chOff x="7614613" y="5950488"/>
            <a:chExt cx="4386653" cy="1864922"/>
          </a:xfrm>
        </p:grpSpPr>
        <p:sp>
          <p:nvSpPr>
            <p:cNvPr id="12" name="Rectangle: Rounded Corners 11">
              <a:extLst>
                <a:ext uri="{FF2B5EF4-FFF2-40B4-BE49-F238E27FC236}">
                  <a16:creationId xmlns:a16="http://schemas.microsoft.com/office/drawing/2014/main" id="{01574168-1441-BE9C-0656-1623F1FA4E3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▶静态查找</a:t>
              </a:r>
              <a:endParaRPr lang="en-US" sz="1200" dirty="0">
                <a:solidFill>
                  <a:schemeClr val="bg1"/>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9A4E7D9-2F45-730B-49F2-2D0574D0A953}"/>
                    </a:ext>
                  </a:extLst>
                </p:cNvPr>
                <p:cNvSpPr txBox="1"/>
                <p:nvPr/>
              </p:nvSpPr>
              <p:spPr>
                <a:xfrm>
                  <a:off x="7667294" y="6245750"/>
                  <a:ext cx="4281578" cy="1569660"/>
                </a:xfrm>
                <a:prstGeom prst="rect">
                  <a:avLst/>
                </a:prstGeom>
                <a:noFill/>
              </p:spPr>
              <p:txBody>
                <a:bodyPr wrap="square">
                  <a:spAutoFit/>
                </a:bodyPr>
                <a:lstStyle/>
                <a:p>
                  <a:r>
                    <a:rPr lang="zh-CN" altLang="en-US" sz="1200" dirty="0">
                      <a:solidFill>
                        <a:schemeClr val="accent1"/>
                      </a:solidFill>
                      <a:latin typeface="ui-monospace"/>
                    </a:rPr>
                    <a:t>定义：只对表执行查找操作</a:t>
                  </a:r>
                  <a:endParaRPr lang="en-US" altLang="zh-CN" sz="1200" dirty="0">
                    <a:solidFill>
                      <a:schemeClr val="accent1"/>
                    </a:solidFill>
                    <a:latin typeface="ui-monospace"/>
                  </a:endParaRPr>
                </a:p>
                <a:p>
                  <a:r>
                    <a:rPr lang="zh-CN" altLang="en-US" sz="1200" dirty="0">
                      <a:solidFill>
                        <a:schemeClr val="accent1"/>
                      </a:solidFill>
                      <a:latin typeface="ui-monospace"/>
                    </a:rPr>
                    <a:t>顺序查找：将待查找元素从头到尾与表中元素比较直至找到</a:t>
                  </a:r>
                  <a:endParaRPr lang="en-US" altLang="zh-CN" sz="1200" dirty="0">
                    <a:solidFill>
                      <a:schemeClr val="accent1"/>
                    </a:solidFill>
                    <a:latin typeface="ui-monospace"/>
                  </a:endParaRPr>
                </a:p>
                <a:p>
                  <a:r>
                    <a:rPr lang="zh-CN" altLang="en-US" sz="1200" dirty="0">
                      <a:solidFill>
                        <a:schemeClr val="accent1"/>
                      </a:solidFill>
                      <a:latin typeface="ui-monospace"/>
                    </a:rPr>
                    <a:t>平均查找长度</a:t>
                  </a:r>
                  <a:r>
                    <a:rPr lang="en-US" altLang="zh-CN" sz="1200" dirty="0">
                      <a:solidFill>
                        <a:schemeClr val="accent1"/>
                      </a:solidFill>
                      <a:latin typeface="ui-monospace"/>
                    </a:rPr>
                    <a:t>ASL </a:t>
                  </a:r>
                  <a:r>
                    <a:rPr lang="en-US" altLang="zh-CN" sz="1200" dirty="0">
                      <a:solidFill>
                        <a:schemeClr val="accent1"/>
                      </a:solidFill>
                      <a:latin typeface="ui-monospace"/>
                      <a:sym typeface="Wingdings" panose="05000000000000000000" pitchFamily="2" charset="2"/>
                    </a:rPr>
                    <a:t>= </a:t>
                  </a:r>
                  <a14:m>
                    <m:oMath xmlns:m="http://schemas.openxmlformats.org/officeDocument/2006/math">
                      <m:f>
                        <m:fPr>
                          <m:type m:val="skw"/>
                          <m:ctrlPr>
                            <a:rPr lang="zh-CN" altLang="en-US" sz="1200" b="0" i="1" smtClean="0">
                              <a:solidFill>
                                <a:schemeClr val="accent1"/>
                              </a:solidFill>
                              <a:latin typeface="Cambria Math" panose="02040503050406030204" pitchFamily="18" charset="0"/>
                              <a:sym typeface="Wingdings" panose="05000000000000000000" pitchFamily="2" charset="2"/>
                            </a:rPr>
                          </m:ctrlPr>
                        </m:fPr>
                        <m:num>
                          <m:r>
                            <m:rPr>
                              <m:sty m:val="p"/>
                            </m:rPr>
                            <a:rPr lang="en-US" altLang="zh-CN" sz="1200" i="1">
                              <a:solidFill>
                                <a:schemeClr val="accent1"/>
                              </a:solidFill>
                              <a:latin typeface="Cambria Math" panose="02040503050406030204" pitchFamily="18" charset="0"/>
                              <a:sym typeface="Wingdings" panose="05000000000000000000" pitchFamily="2" charset="2"/>
                            </a:rPr>
                            <m:t>n</m:t>
                          </m:r>
                          <m:r>
                            <a:rPr lang="en-US" altLang="zh-CN" sz="1200" b="0" i="1" smtClean="0">
                              <a:solidFill>
                                <a:schemeClr val="accent1"/>
                              </a:solidFill>
                              <a:latin typeface="Cambria Math" panose="02040503050406030204" pitchFamily="18" charset="0"/>
                              <a:sym typeface="Wingdings" panose="05000000000000000000" pitchFamily="2" charset="2"/>
                            </a:rPr>
                            <m:t>+1</m:t>
                          </m:r>
                        </m:num>
                        <m:den>
                          <m:r>
                            <a:rPr lang="en-US" altLang="zh-CN" sz="1200" b="0" i="1" smtClean="0">
                              <a:solidFill>
                                <a:schemeClr val="accent1"/>
                              </a:solidFill>
                              <a:latin typeface="Cambria Math" panose="02040503050406030204" pitchFamily="18" charset="0"/>
                              <a:sym typeface="Wingdings" panose="05000000000000000000" pitchFamily="2" charset="2"/>
                            </a:rPr>
                            <m:t>2</m:t>
                          </m:r>
                        </m:den>
                      </m:f>
                    </m:oMath>
                  </a14:m>
                  <a:endParaRPr lang="en-US" altLang="zh-CN" sz="1200" dirty="0">
                    <a:solidFill>
                      <a:schemeClr val="accent1"/>
                    </a:solidFill>
                    <a:latin typeface="ui-monospace"/>
                  </a:endParaRPr>
                </a:p>
                <a:p>
                  <a:r>
                    <a:rPr lang="zh-CN" altLang="en-US" sz="1200" b="1" dirty="0">
                      <a:solidFill>
                        <a:schemeClr val="accent1"/>
                      </a:solidFill>
                      <a:latin typeface="ui-monospace"/>
                    </a:rPr>
                    <a:t>二分查找</a:t>
                  </a:r>
                  <a:r>
                    <a:rPr lang="zh-CN" altLang="en-US" sz="1200" dirty="0">
                      <a:solidFill>
                        <a:schemeClr val="accent1"/>
                      </a:solidFill>
                      <a:latin typeface="ui-monospace"/>
                    </a:rPr>
                    <a:t>：在有序排列的序列中折半范围查找元素。中间值的位置若是小数向下取整</a:t>
                  </a:r>
                  <a:endParaRPr lang="en-US" altLang="zh-CN" sz="1200" dirty="0">
                    <a:solidFill>
                      <a:schemeClr val="accent1"/>
                    </a:solidFill>
                    <a:latin typeface="ui-monospace"/>
                  </a:endParaRPr>
                </a:p>
                <a:p>
                  <a:r>
                    <a:rPr lang="zh-CN" altLang="en-US" sz="1200" dirty="0">
                      <a:solidFill>
                        <a:schemeClr val="accent1"/>
                      </a:solidFill>
                      <a:latin typeface="ui-monospace"/>
                    </a:rPr>
                    <a:t>最多比较次数：⌊</a:t>
                  </a:r>
                  <a:r>
                    <a:rPr lang="en-US" altLang="zh-CN" sz="1200" dirty="0">
                      <a:solidFill>
                        <a:schemeClr val="accent1"/>
                      </a:solidFill>
                      <a:latin typeface="ui-monospace"/>
                    </a:rPr>
                    <a:t>log</a:t>
                  </a:r>
                  <a:r>
                    <a:rPr lang="en-US" altLang="zh-CN" sz="1200" baseline="-25000" dirty="0">
                      <a:solidFill>
                        <a:schemeClr val="accent1"/>
                      </a:solidFill>
                      <a:latin typeface="ui-monospace"/>
                    </a:rPr>
                    <a:t>2</a:t>
                  </a:r>
                  <a:r>
                    <a:rPr lang="en-US" altLang="zh-CN" sz="1200" dirty="0">
                      <a:solidFill>
                        <a:schemeClr val="accent1"/>
                      </a:solidFill>
                      <a:latin typeface="ui-monospace"/>
                    </a:rPr>
                    <a:t>n⌋+1</a:t>
                  </a:r>
                </a:p>
                <a:p>
                  <a:r>
                    <a:rPr lang="zh-CN" altLang="en-US" sz="1200" dirty="0">
                      <a:solidFill>
                        <a:schemeClr val="accent1"/>
                      </a:solidFill>
                      <a:latin typeface="ui-monospace"/>
                    </a:rPr>
                    <a:t>平均查找长度</a:t>
                  </a:r>
                  <a:r>
                    <a:rPr lang="en-US" altLang="zh-CN" sz="1200" dirty="0">
                      <a:solidFill>
                        <a:schemeClr val="accent1"/>
                      </a:solidFill>
                      <a:latin typeface="ui-monospace"/>
                    </a:rPr>
                    <a:t>ASL ≈ log</a:t>
                  </a:r>
                  <a:r>
                    <a:rPr lang="en-US" altLang="zh-CN" sz="1200" baseline="-25000" dirty="0">
                      <a:solidFill>
                        <a:schemeClr val="accent1"/>
                      </a:solidFill>
                      <a:latin typeface="ui-monospace"/>
                    </a:rPr>
                    <a:t>2</a:t>
                  </a:r>
                  <a:r>
                    <a:rPr lang="en-US" altLang="zh-CN" sz="1200" dirty="0">
                      <a:solidFill>
                        <a:schemeClr val="accent1"/>
                      </a:solidFill>
                      <a:latin typeface="ui-monospace"/>
                    </a:rPr>
                    <a:t>(n+1)-1</a:t>
                  </a:r>
                </a:p>
                <a:p>
                  <a:r>
                    <a:rPr lang="zh-CN" altLang="en-US" sz="1200" dirty="0">
                      <a:solidFill>
                        <a:schemeClr val="accent1"/>
                      </a:solidFill>
                      <a:latin typeface="ui-monospace"/>
                    </a:rPr>
                    <a:t>折半查找判定树</a:t>
                  </a:r>
                  <a:endParaRPr lang="en-US" sz="1200" dirty="0">
                    <a:solidFill>
                      <a:schemeClr val="accent1"/>
                    </a:solidFill>
                  </a:endParaRPr>
                </a:p>
              </p:txBody>
            </p:sp>
          </mc:Choice>
          <mc:Fallback xmlns="">
            <p:sp>
              <p:nvSpPr>
                <p:cNvPr id="13" name="TextBox 12">
                  <a:extLst>
                    <a:ext uri="{FF2B5EF4-FFF2-40B4-BE49-F238E27FC236}">
                      <a16:creationId xmlns:a16="http://schemas.microsoft.com/office/drawing/2014/main" id="{99A4E7D9-2F45-730B-49F2-2D0574D0A953}"/>
                    </a:ext>
                  </a:extLst>
                </p:cNvPr>
                <p:cNvSpPr txBox="1">
                  <a:spLocks noRot="1" noChangeAspect="1" noMove="1" noResize="1" noEditPoints="1" noAdjustHandles="1" noChangeArrowheads="1" noChangeShapeType="1" noTextEdit="1"/>
                </p:cNvSpPr>
                <p:nvPr/>
              </p:nvSpPr>
              <p:spPr>
                <a:xfrm>
                  <a:off x="7667294" y="6245750"/>
                  <a:ext cx="4281578" cy="1569660"/>
                </a:xfrm>
                <a:prstGeom prst="rect">
                  <a:avLst/>
                </a:prstGeom>
                <a:blipFill>
                  <a:blip r:embed="rId2"/>
                  <a:stretch>
                    <a:fillRect b="-1938"/>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5B4E26C1-0201-23F8-2BCB-C5049651CA54}"/>
              </a:ext>
            </a:extLst>
          </p:cNvPr>
          <p:cNvGrpSpPr/>
          <p:nvPr/>
        </p:nvGrpSpPr>
        <p:grpSpPr>
          <a:xfrm>
            <a:off x="7679921" y="51128"/>
            <a:ext cx="4386653" cy="572261"/>
            <a:chOff x="7614613" y="5950488"/>
            <a:chExt cx="4386653" cy="572261"/>
          </a:xfrm>
        </p:grpSpPr>
        <p:sp>
          <p:nvSpPr>
            <p:cNvPr id="15" name="Rectangle: Rounded Corners 14">
              <a:extLst>
                <a:ext uri="{FF2B5EF4-FFF2-40B4-BE49-F238E27FC236}">
                  <a16:creationId xmlns:a16="http://schemas.microsoft.com/office/drawing/2014/main" id="{C8F3528E-AC5F-DB44-EF32-EAA0A41FEA2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▶堆 </a:t>
              </a:r>
              <a:r>
                <a:rPr lang="en-US" altLang="zh-CN" sz="1200" dirty="0">
                  <a:solidFill>
                    <a:schemeClr val="bg1"/>
                  </a:solidFill>
                  <a:latin typeface="ui-monospace"/>
                </a:rPr>
                <a:t>heap</a:t>
              </a:r>
            </a:p>
          </p:txBody>
        </p:sp>
        <p:sp>
          <p:nvSpPr>
            <p:cNvPr id="16" name="TextBox 15">
              <a:extLst>
                <a:ext uri="{FF2B5EF4-FFF2-40B4-BE49-F238E27FC236}">
                  <a16:creationId xmlns:a16="http://schemas.microsoft.com/office/drawing/2014/main" id="{79FC3330-7375-B3A4-F904-B63F170EC04B}"/>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latin typeface="ui-monospace"/>
                </a:rPr>
                <a:t>从完全二叉树的角度出发，符合以下规则：</a:t>
              </a:r>
              <a:endParaRPr lang="en-US" sz="1200" dirty="0">
                <a:solidFill>
                  <a:schemeClr val="accent1"/>
                </a:solidFill>
                <a:latin typeface="ui-monospace"/>
              </a:endParaRPr>
            </a:p>
          </p:txBody>
        </p:sp>
      </p:grpSp>
      <p:grpSp>
        <p:nvGrpSpPr>
          <p:cNvPr id="9" name="Group 8">
            <a:extLst>
              <a:ext uri="{FF2B5EF4-FFF2-40B4-BE49-F238E27FC236}">
                <a16:creationId xmlns:a16="http://schemas.microsoft.com/office/drawing/2014/main" id="{6AACB8BA-9B93-69CA-946E-278F30AFE3F7}"/>
              </a:ext>
            </a:extLst>
          </p:cNvPr>
          <p:cNvGrpSpPr/>
          <p:nvPr/>
        </p:nvGrpSpPr>
        <p:grpSpPr>
          <a:xfrm>
            <a:off x="3119858" y="1857977"/>
            <a:ext cx="4386653" cy="941593"/>
            <a:chOff x="7614613" y="5950488"/>
            <a:chExt cx="4386653" cy="941593"/>
          </a:xfrm>
        </p:grpSpPr>
        <p:sp>
          <p:nvSpPr>
            <p:cNvPr id="10" name="Rectangle: Rounded Corners 9">
              <a:extLst>
                <a:ext uri="{FF2B5EF4-FFF2-40B4-BE49-F238E27FC236}">
                  <a16:creationId xmlns:a16="http://schemas.microsoft.com/office/drawing/2014/main" id="{7C0618EB-53E6-9AA0-76CA-E0AEE896044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▶动态查找</a:t>
              </a:r>
              <a:endParaRPr lang="en-US" sz="1200" dirty="0">
                <a:solidFill>
                  <a:schemeClr val="bg1"/>
                </a:solidFill>
              </a:endParaRPr>
            </a:p>
          </p:txBody>
        </p:sp>
        <p:sp>
          <p:nvSpPr>
            <p:cNvPr id="31" name="TextBox 30">
              <a:extLst>
                <a:ext uri="{FF2B5EF4-FFF2-40B4-BE49-F238E27FC236}">
                  <a16:creationId xmlns:a16="http://schemas.microsoft.com/office/drawing/2014/main" id="{03639AD3-9C72-82D6-8202-A2A8876EC0AE}"/>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定义：查找时没有找到对应元素，则向查找表中插入未找到的元素，或者从查找表中删除某个指定的元素</a:t>
              </a:r>
              <a:endParaRPr lang="en-US" altLang="zh-CN" sz="1200" dirty="0">
                <a:solidFill>
                  <a:schemeClr val="accent1"/>
                </a:solidFill>
                <a:latin typeface="ui-monospace"/>
              </a:endParaRPr>
            </a:p>
            <a:p>
              <a:r>
                <a:rPr lang="zh-CN" altLang="en-US" sz="1200" b="1" dirty="0">
                  <a:solidFill>
                    <a:schemeClr val="accent1"/>
                  </a:solidFill>
                  <a:latin typeface="ui-monospace"/>
                </a:rPr>
                <a:t>二叉搜索树 </a:t>
              </a:r>
              <a:r>
                <a:rPr lang="en-US" altLang="zh-CN" sz="1200" b="1" dirty="0">
                  <a:solidFill>
                    <a:schemeClr val="accent1"/>
                  </a:solidFill>
                  <a:latin typeface="ui-monospace"/>
                </a:rPr>
                <a:t>BST</a:t>
              </a:r>
              <a:endParaRPr lang="en-US" sz="1200" dirty="0">
                <a:solidFill>
                  <a:schemeClr val="accent1"/>
                </a:solidFill>
              </a:endParaRPr>
            </a:p>
          </p:txBody>
        </p:sp>
      </p:grpSp>
      <p:grpSp>
        <p:nvGrpSpPr>
          <p:cNvPr id="32" name="Group 31">
            <a:extLst>
              <a:ext uri="{FF2B5EF4-FFF2-40B4-BE49-F238E27FC236}">
                <a16:creationId xmlns:a16="http://schemas.microsoft.com/office/drawing/2014/main" id="{48BA2663-F9BF-A879-4623-ABE37CF82DB1}"/>
              </a:ext>
            </a:extLst>
          </p:cNvPr>
          <p:cNvGrpSpPr/>
          <p:nvPr/>
        </p:nvGrpSpPr>
        <p:grpSpPr>
          <a:xfrm>
            <a:off x="3094809" y="2772661"/>
            <a:ext cx="4386653" cy="1495591"/>
            <a:chOff x="7614613" y="5950488"/>
            <a:chExt cx="4386653" cy="1495591"/>
          </a:xfrm>
        </p:grpSpPr>
        <p:sp>
          <p:nvSpPr>
            <p:cNvPr id="33" name="Rectangle: Rounded Corners 32">
              <a:extLst>
                <a:ext uri="{FF2B5EF4-FFF2-40B4-BE49-F238E27FC236}">
                  <a16:creationId xmlns:a16="http://schemas.microsoft.com/office/drawing/2014/main" id="{B1A71A6A-0A3A-22BE-AC5F-4C080AF13504}"/>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▶哈希表 散列 </a:t>
              </a:r>
              <a:r>
                <a:rPr lang="en-US" altLang="zh-CN" sz="1200" dirty="0">
                  <a:solidFill>
                    <a:schemeClr val="bg1"/>
                  </a:solidFill>
                  <a:latin typeface="ui-monospace"/>
                </a:rPr>
                <a:t>hash</a:t>
              </a:r>
              <a:endParaRPr lang="en-US" sz="1200" dirty="0">
                <a:solidFill>
                  <a:schemeClr val="bg1"/>
                </a:solidFill>
              </a:endParaRPr>
            </a:p>
          </p:txBody>
        </p:sp>
        <p:sp>
          <p:nvSpPr>
            <p:cNvPr id="34" name="TextBox 33">
              <a:extLst>
                <a:ext uri="{FF2B5EF4-FFF2-40B4-BE49-F238E27FC236}">
                  <a16:creationId xmlns:a16="http://schemas.microsoft.com/office/drawing/2014/main" id="{6353A7E7-4CB3-F700-CB77-3F1D4D58ACD2}"/>
                </a:ext>
              </a:extLst>
            </p:cNvPr>
            <p:cNvSpPr txBox="1"/>
            <p:nvPr/>
          </p:nvSpPr>
          <p:spPr>
            <a:xfrm>
              <a:off x="7667294" y="6245750"/>
              <a:ext cx="4281578" cy="1200329"/>
            </a:xfrm>
            <a:prstGeom prst="rect">
              <a:avLst/>
            </a:prstGeom>
            <a:noFill/>
          </p:spPr>
          <p:txBody>
            <a:bodyPr wrap="square">
              <a:spAutoFit/>
            </a:bodyPr>
            <a:lstStyle/>
            <a:p>
              <a:r>
                <a:rPr lang="zh-CN" altLang="en-US" sz="1200" dirty="0">
                  <a:solidFill>
                    <a:schemeClr val="accent1"/>
                  </a:solidFill>
                  <a:latin typeface="ui-monospace"/>
                </a:rPr>
                <a:t>定义：通过计算哈希值，打破元素之间原有的关系，使集合中的元素按照散列函数的分类进行排列</a:t>
              </a:r>
              <a:endParaRPr lang="en-US" altLang="zh-CN" sz="1200" dirty="0">
                <a:solidFill>
                  <a:schemeClr val="accent1"/>
                </a:solidFill>
                <a:latin typeface="ui-monospace"/>
              </a:endParaRPr>
            </a:p>
            <a:p>
              <a:r>
                <a:rPr lang="zh-CN" altLang="en-US" sz="1200" b="1" dirty="0">
                  <a:solidFill>
                    <a:schemeClr val="accent1"/>
                  </a:solidFill>
                </a:rPr>
                <a:t>哈希</a:t>
              </a:r>
              <a:r>
                <a:rPr lang="zh-CN" altLang="en-US" sz="1200" dirty="0">
                  <a:solidFill>
                    <a:schemeClr val="accent1"/>
                  </a:solidFill>
                </a:rPr>
                <a:t>：通过一次计算大幅度缩小查找范围 </a:t>
              </a:r>
            </a:p>
            <a:p>
              <a:r>
                <a:rPr lang="zh-CN" altLang="en-US" sz="1200" b="1" dirty="0">
                  <a:solidFill>
                    <a:schemeClr val="accent1"/>
                  </a:solidFill>
                </a:rPr>
                <a:t>哈希函数</a:t>
              </a:r>
              <a:r>
                <a:rPr lang="zh-CN" altLang="en-US" sz="1200" dirty="0">
                  <a:solidFill>
                    <a:schemeClr val="accent1"/>
                  </a:solidFill>
                </a:rPr>
                <a:t>：考虑关键字的长度和分布情况、哈希值的范围</a:t>
              </a:r>
              <a:endParaRPr lang="en-US" altLang="zh-CN" sz="1200" dirty="0">
                <a:solidFill>
                  <a:schemeClr val="accent1"/>
                </a:solidFill>
              </a:endParaRPr>
            </a:p>
            <a:p>
              <a:r>
                <a:rPr lang="zh-CN" altLang="en-US" sz="1200" dirty="0">
                  <a:solidFill>
                    <a:schemeClr val="accent1"/>
                  </a:solidFill>
                </a:rPr>
                <a:t>冲突与同义词</a:t>
              </a:r>
              <a:endParaRPr lang="en-US" altLang="zh-CN" sz="1200" dirty="0">
                <a:solidFill>
                  <a:schemeClr val="accent1"/>
                </a:solidFill>
              </a:endParaRPr>
            </a:p>
            <a:p>
              <a:r>
                <a:rPr lang="en-US" altLang="zh-CN" sz="1200" dirty="0">
                  <a:solidFill>
                    <a:schemeClr val="accent1"/>
                  </a:solidFill>
                </a:rPr>
                <a:t>&gt;</a:t>
              </a:r>
              <a:r>
                <a:rPr lang="zh-CN" altLang="en-US" sz="1200" b="1" dirty="0">
                  <a:solidFill>
                    <a:schemeClr val="accent1"/>
                  </a:solidFill>
                </a:rPr>
                <a:t>构造</a:t>
              </a:r>
              <a:r>
                <a:rPr lang="zh-CN" altLang="en-US" sz="1200" dirty="0">
                  <a:solidFill>
                    <a:schemeClr val="accent1"/>
                  </a:solidFill>
                </a:rPr>
                <a:t>哈希函数</a:t>
              </a:r>
              <a:endParaRPr lang="en-US" altLang="zh-CN" sz="1200" dirty="0">
                <a:solidFill>
                  <a:schemeClr val="accent1"/>
                </a:solidFill>
              </a:endParaRPr>
            </a:p>
          </p:txBody>
        </p:sp>
      </p:grpSp>
      <p:graphicFrame>
        <p:nvGraphicFramePr>
          <p:cNvPr id="35" name="Table 34">
            <a:extLst>
              <a:ext uri="{FF2B5EF4-FFF2-40B4-BE49-F238E27FC236}">
                <a16:creationId xmlns:a16="http://schemas.microsoft.com/office/drawing/2014/main" id="{C7A26A8A-1FAA-B536-5A30-EBF73CEA8445}"/>
              </a:ext>
            </a:extLst>
          </p:cNvPr>
          <p:cNvGraphicFramePr>
            <a:graphicFrameLocks noGrp="1"/>
          </p:cNvGraphicFramePr>
          <p:nvPr>
            <p:extLst>
              <p:ext uri="{D42A27DB-BD31-4B8C-83A1-F6EECF244321}">
                <p14:modId xmlns:p14="http://schemas.microsoft.com/office/powerpoint/2010/main" val="2857706938"/>
              </p:ext>
            </p:extLst>
          </p:nvPr>
        </p:nvGraphicFramePr>
        <p:xfrm>
          <a:off x="3185606" y="4262293"/>
          <a:ext cx="4256528" cy="1348740"/>
        </p:xfrm>
        <a:graphic>
          <a:graphicData uri="http://schemas.openxmlformats.org/drawingml/2006/table">
            <a:tbl>
              <a:tblPr/>
              <a:tblGrid>
                <a:gridCol w="993104">
                  <a:extLst>
                    <a:ext uri="{9D8B030D-6E8A-4147-A177-3AD203B41FA5}">
                      <a16:colId xmlns:a16="http://schemas.microsoft.com/office/drawing/2014/main" val="3673606400"/>
                    </a:ext>
                  </a:extLst>
                </a:gridCol>
                <a:gridCol w="3263424">
                  <a:extLst>
                    <a:ext uri="{9D8B030D-6E8A-4147-A177-3AD203B41FA5}">
                      <a16:colId xmlns:a16="http://schemas.microsoft.com/office/drawing/2014/main" val="3439907875"/>
                    </a:ext>
                  </a:extLst>
                </a:gridCol>
              </a:tblGrid>
              <a:tr h="0">
                <a:tc>
                  <a:txBody>
                    <a:bodyPr/>
                    <a:lstStyle/>
                    <a:p>
                      <a:pPr algn="l" rtl="0" fontAlgn="base"/>
                      <a:r>
                        <a:rPr lang="zh-CN" altLang="en-US" sz="1100" b="0" i="0" dirty="0">
                          <a:effectLst/>
                          <a:ea typeface="Calibri" panose="020F0502020204030204" pitchFamily="34" charset="0"/>
                        </a:rPr>
                        <a:t>直接定址法 </a:t>
                      </a:r>
                      <a:endParaRPr lang="zh-CN" altLang="en-US"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dirty="0">
                          <a:effectLst/>
                          <a:ea typeface="Calibri" panose="020F0502020204030204" pitchFamily="34" charset="0"/>
                        </a:rPr>
                        <a:t> 取某个线性函数值</a:t>
                      </a: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3037420238"/>
                  </a:ext>
                </a:extLst>
              </a:tr>
              <a:tr h="0">
                <a:tc>
                  <a:txBody>
                    <a:bodyPr/>
                    <a:lstStyle/>
                    <a:p>
                      <a:pPr algn="l" rtl="0" fontAlgn="base"/>
                      <a:r>
                        <a:rPr lang="zh-CN" altLang="en-US" sz="1100" b="1" i="0" dirty="0">
                          <a:effectLst/>
                          <a:ea typeface="Calibri" panose="020F0502020204030204" pitchFamily="34" charset="0"/>
                        </a:rPr>
                        <a:t>除留余数法 </a:t>
                      </a:r>
                      <a:endParaRPr lang="zh-CN" altLang="en-US" b="1"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dirty="0">
                          <a:effectLst/>
                          <a:ea typeface="Calibri" panose="020F0502020204030204" pitchFamily="34" charset="0"/>
                        </a:rPr>
                        <a:t> 取接近长度 </a:t>
                      </a:r>
                      <a:r>
                        <a:rPr lang="en-US" altLang="zh-CN" sz="1100" b="0" i="0" dirty="0">
                          <a:effectLst/>
                          <a:ea typeface="Calibri" panose="020F0502020204030204" pitchFamily="34" charset="0"/>
                        </a:rPr>
                        <a:t>m </a:t>
                      </a:r>
                      <a:r>
                        <a:rPr lang="zh-CN" altLang="en-US" sz="1100" b="0" i="0" dirty="0">
                          <a:effectLst/>
                          <a:ea typeface="Calibri" panose="020F0502020204030204" pitchFamily="34" charset="0"/>
                        </a:rPr>
                        <a:t>的最大质数 </a:t>
                      </a:r>
                      <a:r>
                        <a:rPr lang="en-US" altLang="zh-CN" sz="1100" b="0" i="0" dirty="0">
                          <a:effectLst/>
                          <a:ea typeface="Calibri" panose="020F0502020204030204" pitchFamily="34" charset="0"/>
                        </a:rPr>
                        <a:t>p </a:t>
                      </a:r>
                      <a:r>
                        <a:rPr lang="zh-CN" altLang="en-US" sz="1100" b="0" i="0" dirty="0">
                          <a:effectLst/>
                          <a:ea typeface="Calibri" panose="020F0502020204030204" pitchFamily="34" charset="0"/>
                        </a:rPr>
                        <a:t>求余数</a:t>
                      </a: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4127164124"/>
                  </a:ext>
                </a:extLst>
              </a:tr>
              <a:tr h="0">
                <a:tc>
                  <a:txBody>
                    <a:bodyPr/>
                    <a:lstStyle/>
                    <a:p>
                      <a:pPr algn="l" rtl="0" fontAlgn="base"/>
                      <a:r>
                        <a:rPr lang="zh-CN" altLang="en-US" sz="1100" b="0" i="0">
                          <a:effectLst/>
                          <a:ea typeface="Calibri" panose="020F0502020204030204" pitchFamily="34" charset="0"/>
                        </a:rPr>
                        <a:t>数字分析法 </a:t>
                      </a:r>
                      <a:endParaRPr lang="zh-CN" altLang="en-US"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dirty="0">
                          <a:effectLst/>
                          <a:ea typeface="Calibri" panose="020F0502020204030204" pitchFamily="34" charset="0"/>
                        </a:rPr>
                        <a:t> </a:t>
                      </a: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1702846102"/>
                  </a:ext>
                </a:extLst>
              </a:tr>
              <a:tr h="0">
                <a:tc>
                  <a:txBody>
                    <a:bodyPr/>
                    <a:lstStyle/>
                    <a:p>
                      <a:pPr algn="l" rtl="0" fontAlgn="base"/>
                      <a:r>
                        <a:rPr lang="zh-CN" altLang="en-US" sz="1100" b="0" i="0" dirty="0">
                          <a:effectLst/>
                          <a:ea typeface="Calibri" panose="020F0502020204030204" pitchFamily="34" charset="0"/>
                        </a:rPr>
                        <a:t>平方取中法 </a:t>
                      </a:r>
                      <a:endParaRPr lang="zh-CN" altLang="en-US"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a:effectLst/>
                          <a:ea typeface="Calibri" panose="020F0502020204030204" pitchFamily="34" charset="0"/>
                        </a:rPr>
                        <a:t> </a:t>
                      </a: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4267577355"/>
                  </a:ext>
                </a:extLst>
              </a:tr>
              <a:tr h="0">
                <a:tc>
                  <a:txBody>
                    <a:bodyPr/>
                    <a:lstStyle/>
                    <a:p>
                      <a:pPr algn="l" rtl="0" fontAlgn="base"/>
                      <a:r>
                        <a:rPr lang="zh-CN" altLang="en-US" sz="1100" b="0" i="0">
                          <a:effectLst/>
                          <a:latin typeface="Calibri" panose="020F0502020204030204" pitchFamily="34" charset="0"/>
                        </a:rPr>
                        <a:t>折叠法 </a:t>
                      </a:r>
                      <a:endParaRPr lang="zh-CN" altLang="en-US" b="0" i="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dirty="0">
                          <a:effectLst/>
                          <a:ea typeface="Calibri" panose="020F0502020204030204" pitchFamily="34" charset="0"/>
                        </a:rPr>
                        <a:t> </a:t>
                      </a: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241458135"/>
                  </a:ext>
                </a:extLst>
              </a:tr>
              <a:tr h="0">
                <a:tc>
                  <a:txBody>
                    <a:bodyPr/>
                    <a:lstStyle/>
                    <a:p>
                      <a:pPr algn="l" rtl="0" fontAlgn="base"/>
                      <a:r>
                        <a:rPr lang="zh-CN" altLang="en-US" sz="1100" b="0" i="0" dirty="0">
                          <a:effectLst/>
                          <a:ea typeface="Calibri" panose="020F0502020204030204" pitchFamily="34" charset="0"/>
                        </a:rPr>
                        <a:t>随机数法 </a:t>
                      </a:r>
                      <a:endParaRPr lang="zh-CN" altLang="en-US"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dirty="0">
                          <a:effectLst/>
                          <a:ea typeface="Calibri" panose="020F0502020204030204" pitchFamily="34" charset="0"/>
                        </a:rPr>
                        <a:t> </a:t>
                      </a: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3686031411"/>
                  </a:ext>
                </a:extLst>
              </a:tr>
            </a:tbl>
          </a:graphicData>
        </a:graphic>
      </p:graphicFrame>
      <p:sp>
        <p:nvSpPr>
          <p:cNvPr id="4" name="TextBox 3">
            <a:extLst>
              <a:ext uri="{FF2B5EF4-FFF2-40B4-BE49-F238E27FC236}">
                <a16:creationId xmlns:a16="http://schemas.microsoft.com/office/drawing/2014/main" id="{206A1B22-8CDF-4F5D-7B9D-929CFECE5D23}"/>
              </a:ext>
            </a:extLst>
          </p:cNvPr>
          <p:cNvSpPr txBox="1"/>
          <p:nvPr/>
        </p:nvSpPr>
        <p:spPr>
          <a:xfrm>
            <a:off x="3172395" y="5610842"/>
            <a:ext cx="4281578" cy="276999"/>
          </a:xfrm>
          <a:prstGeom prst="rect">
            <a:avLst/>
          </a:prstGeom>
          <a:noFill/>
        </p:spPr>
        <p:txBody>
          <a:bodyPr wrap="square">
            <a:spAutoFit/>
          </a:bodyPr>
          <a:lstStyle/>
          <a:p>
            <a:r>
              <a:rPr lang="en-US" altLang="zh-CN" sz="1200" dirty="0">
                <a:solidFill>
                  <a:schemeClr val="accent1"/>
                </a:solidFill>
              </a:rPr>
              <a:t>&gt;</a:t>
            </a:r>
            <a:r>
              <a:rPr lang="zh-CN" altLang="en-US" sz="1200" b="1" dirty="0">
                <a:solidFill>
                  <a:schemeClr val="accent1"/>
                </a:solidFill>
              </a:rPr>
              <a:t>解决冲突</a:t>
            </a:r>
            <a:endParaRPr lang="en-US" altLang="zh-CN" sz="1200" dirty="0">
              <a:solidFill>
                <a:schemeClr val="accent1"/>
              </a:solidFill>
            </a:endParaRPr>
          </a:p>
        </p:txBody>
      </p:sp>
      <p:graphicFrame>
        <p:nvGraphicFramePr>
          <p:cNvPr id="5" name="Table 4">
            <a:extLst>
              <a:ext uri="{FF2B5EF4-FFF2-40B4-BE49-F238E27FC236}">
                <a16:creationId xmlns:a16="http://schemas.microsoft.com/office/drawing/2014/main" id="{88926B11-66DF-BA38-0690-DB54F4C0651A}"/>
              </a:ext>
            </a:extLst>
          </p:cNvPr>
          <p:cNvGraphicFramePr>
            <a:graphicFrameLocks noGrp="1"/>
          </p:cNvGraphicFramePr>
          <p:nvPr>
            <p:extLst>
              <p:ext uri="{D42A27DB-BD31-4B8C-83A1-F6EECF244321}">
                <p14:modId xmlns:p14="http://schemas.microsoft.com/office/powerpoint/2010/main" val="3978498602"/>
              </p:ext>
            </p:extLst>
          </p:nvPr>
        </p:nvGraphicFramePr>
        <p:xfrm>
          <a:off x="3172395" y="5866758"/>
          <a:ext cx="4256528" cy="617220"/>
        </p:xfrm>
        <a:graphic>
          <a:graphicData uri="http://schemas.openxmlformats.org/drawingml/2006/table">
            <a:tbl>
              <a:tblPr/>
              <a:tblGrid>
                <a:gridCol w="993104">
                  <a:extLst>
                    <a:ext uri="{9D8B030D-6E8A-4147-A177-3AD203B41FA5}">
                      <a16:colId xmlns:a16="http://schemas.microsoft.com/office/drawing/2014/main" val="3673606400"/>
                    </a:ext>
                  </a:extLst>
                </a:gridCol>
                <a:gridCol w="3263424">
                  <a:extLst>
                    <a:ext uri="{9D8B030D-6E8A-4147-A177-3AD203B41FA5}">
                      <a16:colId xmlns:a16="http://schemas.microsoft.com/office/drawing/2014/main" val="3439907875"/>
                    </a:ext>
                  </a:extLst>
                </a:gridCol>
              </a:tblGrid>
              <a:tr h="0">
                <a:tc>
                  <a:txBody>
                    <a:bodyPr/>
                    <a:lstStyle/>
                    <a:p>
                      <a:pPr algn="l" rtl="0" fontAlgn="base"/>
                      <a:r>
                        <a:rPr lang="zh-CN" altLang="en-US" sz="1100" b="1" i="0" dirty="0">
                          <a:effectLst/>
                          <a:ea typeface="Calibri" panose="020F0502020204030204" pitchFamily="34" charset="0"/>
                        </a:rPr>
                        <a:t>开放定址法 </a:t>
                      </a:r>
                      <a:endParaRPr lang="zh-CN" altLang="en-US" b="1"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dirty="0">
                          <a:effectLst/>
                          <a:ea typeface="Calibri" panose="020F0502020204030204" pitchFamily="34" charset="0"/>
                        </a:rPr>
                        <a:t>使用探查技术在散列表中寻找下一个空地址</a:t>
                      </a:r>
                      <a:endParaRPr lang="en-US" altLang="zh-CN" sz="1100" b="0" i="0" dirty="0">
                        <a:effectLst/>
                        <a:ea typeface="Calibri" panose="020F0502020204030204" pitchFamily="34" charset="0"/>
                      </a:endParaRPr>
                    </a:p>
                    <a:p>
                      <a:pPr algn="l" rtl="0" fontAlgn="base"/>
                      <a:r>
                        <a:rPr lang="en-US" altLang="zh-CN" sz="1100" b="0" i="0" dirty="0">
                          <a:effectLst/>
                          <a:ea typeface="Calibri" panose="020F0502020204030204" pitchFamily="34" charset="0"/>
                        </a:rPr>
                        <a:t>-</a:t>
                      </a:r>
                      <a:r>
                        <a:rPr lang="zh-CN" altLang="en-US" sz="1100" b="0" i="0" dirty="0">
                          <a:effectLst/>
                          <a:ea typeface="Calibri" panose="020F0502020204030204" pitchFamily="34" charset="0"/>
                        </a:rPr>
                        <a:t>线性探查法</a:t>
                      </a:r>
                      <a:r>
                        <a:rPr lang="en-US" altLang="zh-CN" sz="1100" b="0" i="0" dirty="0">
                          <a:effectLst/>
                          <a:ea typeface="Calibri" panose="020F0502020204030204" pitchFamily="34" charset="0"/>
                        </a:rPr>
                        <a:t>/</a:t>
                      </a:r>
                      <a:r>
                        <a:rPr lang="zh-CN" altLang="en-US" sz="1100" b="0" i="0" dirty="0">
                          <a:effectLst/>
                          <a:ea typeface="Calibri" panose="020F0502020204030204" pitchFamily="34" charset="0"/>
                        </a:rPr>
                        <a:t>二次探查法</a:t>
                      </a:r>
                      <a:r>
                        <a:rPr lang="en-US" altLang="zh-CN" sz="1100" b="0" i="0" dirty="0">
                          <a:effectLst/>
                          <a:ea typeface="Calibri" panose="020F0502020204030204" pitchFamily="34" charset="0"/>
                        </a:rPr>
                        <a:t>/</a:t>
                      </a:r>
                      <a:r>
                        <a:rPr lang="zh-CN" altLang="en-US" sz="1100" b="0" i="0" dirty="0">
                          <a:effectLst/>
                          <a:ea typeface="Calibri" panose="020F0502020204030204" pitchFamily="34" charset="0"/>
                        </a:rPr>
                        <a:t>随机探查法</a:t>
                      </a:r>
                      <a:r>
                        <a:rPr lang="en-US" altLang="zh-CN" sz="1100" b="0" i="0" dirty="0">
                          <a:effectLst/>
                          <a:ea typeface="Calibri" panose="020F0502020204030204" pitchFamily="34" charset="0"/>
                        </a:rPr>
                        <a:t>/</a:t>
                      </a:r>
                      <a:r>
                        <a:rPr lang="zh-CN" altLang="en-US" sz="1100" b="0" i="0" dirty="0">
                          <a:effectLst/>
                          <a:ea typeface="Calibri" panose="020F0502020204030204" pitchFamily="34" charset="0"/>
                        </a:rPr>
                        <a:t>双重探查法</a:t>
                      </a:r>
                      <a:endParaRPr lang="en-US" altLang="zh-CN" sz="1100" b="0" i="0" dirty="0">
                        <a:effectLst/>
                        <a:ea typeface="Calibri" panose="020F0502020204030204" pitchFamily="34" charset="0"/>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3037420238"/>
                  </a:ext>
                </a:extLst>
              </a:tr>
              <a:tr h="0">
                <a:tc>
                  <a:txBody>
                    <a:bodyPr/>
                    <a:lstStyle/>
                    <a:p>
                      <a:pPr algn="l" rtl="0" fontAlgn="base"/>
                      <a:r>
                        <a:rPr lang="zh-CN" altLang="en-US" sz="1100" b="0" i="0" dirty="0">
                          <a:effectLst/>
                          <a:latin typeface="Calibri" panose="020F0502020204030204" pitchFamily="34" charset="0"/>
                        </a:rPr>
                        <a:t>链地址法</a:t>
                      </a:r>
                      <a:endParaRPr lang="zh-CN" altLang="en-US" b="0" i="0" dirty="0">
                        <a:effectLst/>
                      </a:endParaRP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tc>
                  <a:txBody>
                    <a:bodyPr/>
                    <a:lstStyle/>
                    <a:p>
                      <a:pPr algn="l" rtl="0" fontAlgn="base"/>
                      <a:r>
                        <a:rPr lang="zh-CN" altLang="en-US" sz="1100" b="0" i="0" dirty="0">
                          <a:effectLst/>
                          <a:ea typeface="Calibri" panose="020F0502020204030204" pitchFamily="34" charset="0"/>
                        </a:rPr>
                        <a:t> </a:t>
                      </a:r>
                    </a:p>
                  </a:txBody>
                  <a:tcPr marT="28575" marB="28575">
                    <a:lnL w="9525" cap="flat" cmpd="sng" algn="ctr">
                      <a:solidFill>
                        <a:srgbClr val="909090"/>
                      </a:solidFill>
                      <a:prstDash val="solid"/>
                      <a:round/>
                      <a:headEnd type="none" w="med" len="med"/>
                      <a:tailEnd type="none" w="med" len="med"/>
                    </a:lnL>
                    <a:lnR w="9525" cap="flat" cmpd="sng" algn="ctr">
                      <a:solidFill>
                        <a:srgbClr val="909090"/>
                      </a:solidFill>
                      <a:prstDash val="solid"/>
                      <a:round/>
                      <a:headEnd type="none" w="med" len="med"/>
                      <a:tailEnd type="none" w="med" len="med"/>
                    </a:lnR>
                    <a:lnT w="9525" cap="flat" cmpd="sng" algn="ctr">
                      <a:solidFill>
                        <a:srgbClr val="909090"/>
                      </a:solidFill>
                      <a:prstDash val="solid"/>
                      <a:round/>
                      <a:headEnd type="none" w="med" len="med"/>
                      <a:tailEnd type="none" w="med" len="med"/>
                    </a:lnT>
                    <a:lnB w="9525" cap="flat" cmpd="sng" algn="ctr">
                      <a:solidFill>
                        <a:srgbClr val="909090"/>
                      </a:solidFill>
                      <a:prstDash val="solid"/>
                      <a:round/>
                      <a:headEnd type="none" w="med" len="med"/>
                      <a:tailEnd type="none" w="med" len="med"/>
                    </a:lnB>
                    <a:noFill/>
                  </a:tcPr>
                </a:tc>
                <a:extLst>
                  <a:ext uri="{0D108BD9-81ED-4DB2-BD59-A6C34878D82A}">
                    <a16:rowId xmlns:a16="http://schemas.microsoft.com/office/drawing/2014/main" val="3685988399"/>
                  </a:ext>
                </a:extLst>
              </a:tr>
            </a:tbl>
          </a:graphicData>
        </a:graphic>
      </p:graphicFrame>
      <p:sp>
        <p:nvSpPr>
          <p:cNvPr id="8" name="TextBox 7">
            <a:extLst>
              <a:ext uri="{FF2B5EF4-FFF2-40B4-BE49-F238E27FC236}">
                <a16:creationId xmlns:a16="http://schemas.microsoft.com/office/drawing/2014/main" id="{9DF47F4C-B530-7BDB-3CDF-A649E35B80FE}"/>
              </a:ext>
            </a:extLst>
          </p:cNvPr>
          <p:cNvSpPr txBox="1"/>
          <p:nvPr/>
        </p:nvSpPr>
        <p:spPr>
          <a:xfrm>
            <a:off x="3147490" y="6528796"/>
            <a:ext cx="4281578" cy="276999"/>
          </a:xfrm>
          <a:prstGeom prst="rect">
            <a:avLst/>
          </a:prstGeom>
          <a:noFill/>
        </p:spPr>
        <p:txBody>
          <a:bodyPr wrap="square">
            <a:spAutoFit/>
          </a:bodyPr>
          <a:lstStyle/>
          <a:p>
            <a:r>
              <a:rPr lang="zh-CN" altLang="en-US" sz="1200" dirty="0">
                <a:solidFill>
                  <a:schemeClr val="accent1"/>
                </a:solidFill>
              </a:rPr>
              <a:t>影响因素：分布均匀，减少冲突和</a:t>
            </a:r>
            <a:r>
              <a:rPr lang="zh-CN" altLang="en-US" sz="1200" b="1" dirty="0">
                <a:solidFill>
                  <a:schemeClr val="accent1"/>
                </a:solidFill>
              </a:rPr>
              <a:t>装填因子</a:t>
            </a:r>
            <a:endParaRPr lang="en-US" altLang="zh-CN" sz="1200" b="1" dirty="0">
              <a:solidFill>
                <a:schemeClr val="accent1"/>
              </a:solidFill>
            </a:endParaRPr>
          </a:p>
        </p:txBody>
      </p:sp>
      <p:pic>
        <p:nvPicPr>
          <p:cNvPr id="26" name="Picture 25">
            <a:extLst>
              <a:ext uri="{FF2B5EF4-FFF2-40B4-BE49-F238E27FC236}">
                <a16:creationId xmlns:a16="http://schemas.microsoft.com/office/drawing/2014/main" id="{015C0D4C-0646-05BC-00E1-7FAF4ECB8FD8}"/>
              </a:ext>
            </a:extLst>
          </p:cNvPr>
          <p:cNvPicPr>
            <a:picLocks noChangeAspect="1"/>
          </p:cNvPicPr>
          <p:nvPr/>
        </p:nvPicPr>
        <p:blipFill>
          <a:blip r:embed="rId3"/>
          <a:stretch>
            <a:fillRect/>
          </a:stretch>
        </p:blipFill>
        <p:spPr>
          <a:xfrm>
            <a:off x="9238351" y="462910"/>
            <a:ext cx="2801249" cy="512753"/>
          </a:xfrm>
          <a:prstGeom prst="rect">
            <a:avLst/>
          </a:prstGeom>
        </p:spPr>
      </p:pic>
      <p:sp>
        <p:nvSpPr>
          <p:cNvPr id="27" name="TextBox 26">
            <a:extLst>
              <a:ext uri="{FF2B5EF4-FFF2-40B4-BE49-F238E27FC236}">
                <a16:creationId xmlns:a16="http://schemas.microsoft.com/office/drawing/2014/main" id="{94BD2AA7-A166-DBCD-0879-E1A475EBC45F}"/>
              </a:ext>
            </a:extLst>
          </p:cNvPr>
          <p:cNvSpPr txBox="1"/>
          <p:nvPr/>
        </p:nvSpPr>
        <p:spPr>
          <a:xfrm>
            <a:off x="7732458" y="860439"/>
            <a:ext cx="4281578" cy="276999"/>
          </a:xfrm>
          <a:prstGeom prst="rect">
            <a:avLst/>
          </a:prstGeom>
          <a:noFill/>
        </p:spPr>
        <p:txBody>
          <a:bodyPr wrap="square">
            <a:spAutoFit/>
          </a:bodyPr>
          <a:lstStyle/>
          <a:p>
            <a:r>
              <a:rPr lang="zh-CN" altLang="en-US" sz="1200" dirty="0">
                <a:solidFill>
                  <a:schemeClr val="accent1"/>
                </a:solidFill>
                <a:latin typeface="ui-monospace"/>
              </a:rPr>
              <a:t>构建过程：根据大小调整子树中根节点和左右节点的位置</a:t>
            </a:r>
            <a:endParaRPr lang="en-US" sz="1200" dirty="0">
              <a:solidFill>
                <a:schemeClr val="accent1"/>
              </a:solidFill>
              <a:latin typeface="ui-monospace"/>
            </a:endParaRPr>
          </a:p>
        </p:txBody>
      </p:sp>
      <p:grpSp>
        <p:nvGrpSpPr>
          <p:cNvPr id="28" name="Group 27">
            <a:extLst>
              <a:ext uri="{FF2B5EF4-FFF2-40B4-BE49-F238E27FC236}">
                <a16:creationId xmlns:a16="http://schemas.microsoft.com/office/drawing/2014/main" id="{D92A8B61-D16F-4D71-601D-F1B2998FF60E}"/>
              </a:ext>
            </a:extLst>
          </p:cNvPr>
          <p:cNvGrpSpPr/>
          <p:nvPr/>
        </p:nvGrpSpPr>
        <p:grpSpPr>
          <a:xfrm>
            <a:off x="7679920" y="1094609"/>
            <a:ext cx="4386653" cy="572261"/>
            <a:chOff x="7614613" y="5950488"/>
            <a:chExt cx="4386653" cy="572261"/>
          </a:xfrm>
        </p:grpSpPr>
        <p:sp>
          <p:nvSpPr>
            <p:cNvPr id="29" name="Rectangle: Rounded Corners 28">
              <a:extLst>
                <a:ext uri="{FF2B5EF4-FFF2-40B4-BE49-F238E27FC236}">
                  <a16:creationId xmlns:a16="http://schemas.microsoft.com/office/drawing/2014/main" id="{F647B61F-8D16-764A-1A9C-B9EDDDF5C21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▶排序 </a:t>
              </a:r>
              <a:r>
                <a:rPr lang="en-US" altLang="zh-CN" sz="1200" dirty="0">
                  <a:solidFill>
                    <a:schemeClr val="bg1"/>
                  </a:solidFill>
                  <a:latin typeface="ui-monospace"/>
                </a:rPr>
                <a:t>sorting</a:t>
              </a:r>
            </a:p>
          </p:txBody>
        </p:sp>
        <p:sp>
          <p:nvSpPr>
            <p:cNvPr id="30" name="TextBox 29">
              <a:extLst>
                <a:ext uri="{FF2B5EF4-FFF2-40B4-BE49-F238E27FC236}">
                  <a16:creationId xmlns:a16="http://schemas.microsoft.com/office/drawing/2014/main" id="{6EC715C9-A06F-635D-AAA5-3F92DEB8A806}"/>
                </a:ext>
              </a:extLst>
            </p:cNvPr>
            <p:cNvSpPr txBox="1"/>
            <p:nvPr/>
          </p:nvSpPr>
          <p:spPr>
            <a:xfrm>
              <a:off x="7667294" y="6245750"/>
              <a:ext cx="4281578" cy="276999"/>
            </a:xfrm>
            <a:prstGeom prst="rect">
              <a:avLst/>
            </a:prstGeom>
            <a:noFill/>
          </p:spPr>
          <p:txBody>
            <a:bodyPr wrap="square">
              <a:spAutoFit/>
            </a:bodyPr>
            <a:lstStyle/>
            <a:p>
              <a:endParaRPr lang="en-US" sz="1200" dirty="0">
                <a:solidFill>
                  <a:schemeClr val="accent1"/>
                </a:solidFill>
                <a:latin typeface="ui-monospace"/>
              </a:endParaRPr>
            </a:p>
          </p:txBody>
        </p:sp>
      </p:grpSp>
      <p:sp>
        <p:nvSpPr>
          <p:cNvPr id="44" name="TextBox 43">
            <a:extLst>
              <a:ext uri="{FF2B5EF4-FFF2-40B4-BE49-F238E27FC236}">
                <a16:creationId xmlns:a16="http://schemas.microsoft.com/office/drawing/2014/main" id="{7E741DE7-BCA1-00E7-DB07-2286F1C39068}"/>
              </a:ext>
            </a:extLst>
          </p:cNvPr>
          <p:cNvSpPr txBox="1"/>
          <p:nvPr/>
        </p:nvSpPr>
        <p:spPr>
          <a:xfrm>
            <a:off x="7714883" y="3329820"/>
            <a:ext cx="4281578" cy="2862322"/>
          </a:xfrm>
          <a:prstGeom prst="rect">
            <a:avLst/>
          </a:prstGeom>
          <a:noFill/>
        </p:spPr>
        <p:txBody>
          <a:bodyPr wrap="square">
            <a:spAutoFit/>
          </a:bodyPr>
          <a:lstStyle/>
          <a:p>
            <a:r>
              <a:rPr lang="zh-CN" altLang="en-US" sz="1200" b="1" dirty="0">
                <a:solidFill>
                  <a:schemeClr val="accent1"/>
                </a:solidFill>
                <a:latin typeface="ui-monospace"/>
              </a:rPr>
              <a:t>直接插入排序</a:t>
            </a:r>
            <a:r>
              <a:rPr lang="zh-CN" altLang="en-US" sz="1200" dirty="0">
                <a:solidFill>
                  <a:schemeClr val="accent1"/>
                </a:solidFill>
                <a:latin typeface="ui-monospace"/>
              </a:rPr>
              <a:t> </a:t>
            </a:r>
            <a:r>
              <a:rPr lang="en-US" altLang="zh-CN" sz="1200" dirty="0">
                <a:solidFill>
                  <a:schemeClr val="accent1"/>
                </a:solidFill>
                <a:latin typeface="ui-monospace"/>
              </a:rPr>
              <a:t>(straight insertion sort)</a:t>
            </a:r>
            <a:r>
              <a:rPr lang="zh-CN" altLang="en-US" sz="1200" dirty="0">
                <a:solidFill>
                  <a:schemeClr val="accent1"/>
                </a:solidFill>
                <a:latin typeface="ui-monospace"/>
              </a:rPr>
              <a:t>：逐一将元素与之前位置的元素比较，若小于则交换位置，直至不小于</a:t>
            </a:r>
            <a:endParaRPr lang="en-US" altLang="zh-CN" sz="1200" dirty="0">
              <a:solidFill>
                <a:schemeClr val="accent1"/>
              </a:solidFill>
              <a:latin typeface="ui-monospace"/>
            </a:endParaRPr>
          </a:p>
          <a:p>
            <a:r>
              <a:rPr lang="zh-CN" altLang="en-US" sz="1200" b="1" dirty="0">
                <a:solidFill>
                  <a:schemeClr val="accent1"/>
                </a:solidFill>
                <a:latin typeface="ui-monospace"/>
              </a:rPr>
              <a:t>希尔排序 </a:t>
            </a:r>
            <a:r>
              <a:rPr lang="en-US" altLang="zh-CN" sz="1200" dirty="0">
                <a:solidFill>
                  <a:schemeClr val="accent1"/>
                </a:solidFill>
                <a:latin typeface="ui-monospace"/>
              </a:rPr>
              <a:t>(</a:t>
            </a:r>
            <a:r>
              <a:rPr lang="en-US" sz="1200" dirty="0">
                <a:solidFill>
                  <a:schemeClr val="accent1"/>
                </a:solidFill>
                <a:latin typeface="ui-monospace"/>
              </a:rPr>
              <a:t>shells sort)</a:t>
            </a:r>
            <a:r>
              <a:rPr lang="zh-CN" altLang="en-US" sz="1200" dirty="0">
                <a:solidFill>
                  <a:schemeClr val="accent1"/>
                </a:solidFill>
                <a:latin typeface="ui-monospace"/>
              </a:rPr>
              <a:t>：又称 缩小增量法。先取一个小于</a:t>
            </a:r>
            <a:r>
              <a:rPr lang="en-US" altLang="zh-CN" sz="1200" dirty="0">
                <a:solidFill>
                  <a:schemeClr val="accent1"/>
                </a:solidFill>
                <a:latin typeface="ui-monospace"/>
              </a:rPr>
              <a:t>n</a:t>
            </a:r>
            <a:r>
              <a:rPr lang="zh-CN" altLang="en-US" sz="1200" dirty="0">
                <a:solidFill>
                  <a:schemeClr val="accent1"/>
                </a:solidFill>
                <a:latin typeface="ui-monospace"/>
              </a:rPr>
              <a:t>的增量</a:t>
            </a:r>
            <a:r>
              <a:rPr lang="en-US" altLang="zh-CN" sz="1200" dirty="0">
                <a:solidFill>
                  <a:schemeClr val="accent1"/>
                </a:solidFill>
                <a:latin typeface="ui-monospace"/>
              </a:rPr>
              <a:t>d</a:t>
            </a:r>
            <a:r>
              <a:rPr lang="zh-CN" altLang="en-US" sz="1200" dirty="0">
                <a:solidFill>
                  <a:schemeClr val="accent1"/>
                </a:solidFill>
                <a:latin typeface="ui-monospace"/>
              </a:rPr>
              <a:t>，将距离为</a:t>
            </a:r>
            <a:r>
              <a:rPr lang="en-US" altLang="zh-CN" sz="1200" dirty="0">
                <a:solidFill>
                  <a:schemeClr val="accent1"/>
                </a:solidFill>
                <a:latin typeface="ui-monospace"/>
              </a:rPr>
              <a:t>d</a:t>
            </a:r>
            <a:r>
              <a:rPr lang="zh-CN" altLang="en-US" sz="1200" dirty="0">
                <a:solidFill>
                  <a:schemeClr val="accent1"/>
                </a:solidFill>
                <a:latin typeface="ui-monospace"/>
              </a:rPr>
              <a:t>的值放入同一组，进行插入排序；然后取第二个增量，直至增量为</a:t>
            </a:r>
            <a:r>
              <a:rPr lang="en-US" altLang="zh-CN" sz="1200" dirty="0">
                <a:solidFill>
                  <a:schemeClr val="accent1"/>
                </a:solidFill>
                <a:latin typeface="ui-monospace"/>
              </a:rPr>
              <a:t>1</a:t>
            </a:r>
            <a:r>
              <a:rPr lang="zh-CN" altLang="en-US" sz="1200" dirty="0">
                <a:solidFill>
                  <a:schemeClr val="accent1"/>
                </a:solidFill>
                <a:latin typeface="ui-monospace"/>
              </a:rPr>
              <a:t>，进行直接插入排序</a:t>
            </a:r>
            <a:endParaRPr lang="en-US" altLang="zh-CN" sz="1200" dirty="0">
              <a:solidFill>
                <a:schemeClr val="accent1"/>
              </a:solidFill>
              <a:latin typeface="ui-monospace"/>
            </a:endParaRPr>
          </a:p>
          <a:p>
            <a:r>
              <a:rPr lang="zh-CN" altLang="en-US" sz="1200" b="1" dirty="0">
                <a:solidFill>
                  <a:schemeClr val="accent1"/>
                </a:solidFill>
                <a:latin typeface="ui-monospace"/>
              </a:rPr>
              <a:t>选择排序 </a:t>
            </a:r>
            <a:r>
              <a:rPr lang="en-US" altLang="zh-CN" sz="1200" dirty="0">
                <a:solidFill>
                  <a:schemeClr val="accent1"/>
                </a:solidFill>
                <a:latin typeface="ui-monospace"/>
              </a:rPr>
              <a:t>(selection sort)</a:t>
            </a:r>
            <a:r>
              <a:rPr lang="zh-CN" altLang="en-US" sz="1200" dirty="0">
                <a:solidFill>
                  <a:schemeClr val="accent1"/>
                </a:solidFill>
                <a:latin typeface="ui-monospace"/>
              </a:rPr>
              <a:t>：在指针范围内，将最小值与开头位置进行交换，缩小指针区域并重复</a:t>
            </a:r>
            <a:endParaRPr lang="en-US" sz="1200" dirty="0">
              <a:solidFill>
                <a:schemeClr val="accent1"/>
              </a:solidFill>
              <a:latin typeface="ui-monospace"/>
            </a:endParaRPr>
          </a:p>
          <a:p>
            <a:r>
              <a:rPr lang="zh-CN" altLang="en-US" sz="1200" b="1" dirty="0">
                <a:solidFill>
                  <a:schemeClr val="accent1"/>
                </a:solidFill>
                <a:latin typeface="ui-monospace"/>
              </a:rPr>
              <a:t>堆排序 </a:t>
            </a:r>
            <a:r>
              <a:rPr lang="en-US" altLang="zh-CN" sz="1200" dirty="0">
                <a:solidFill>
                  <a:schemeClr val="accent1"/>
                </a:solidFill>
                <a:latin typeface="ui-monospace"/>
              </a:rPr>
              <a:t>(heap sort)</a:t>
            </a:r>
            <a:r>
              <a:rPr lang="zh-CN" altLang="en-US" sz="1200" dirty="0">
                <a:solidFill>
                  <a:schemeClr val="accent1"/>
                </a:solidFill>
                <a:latin typeface="ui-monospace"/>
              </a:rPr>
              <a:t>：将序列建立为大顶堆，然后将首位</a:t>
            </a:r>
            <a:r>
              <a:rPr lang="en-US" altLang="zh-CN" sz="1200" dirty="0">
                <a:solidFill>
                  <a:schemeClr val="accent1"/>
                </a:solidFill>
                <a:latin typeface="ui-monospace"/>
              </a:rPr>
              <a:t>(</a:t>
            </a:r>
            <a:r>
              <a:rPr lang="zh-CN" altLang="en-US" sz="1200" dirty="0">
                <a:solidFill>
                  <a:schemeClr val="accent1"/>
                </a:solidFill>
                <a:latin typeface="ui-monospace"/>
              </a:rPr>
              <a:t>最大值</a:t>
            </a:r>
            <a:r>
              <a:rPr lang="en-US" altLang="zh-CN" sz="1200" dirty="0">
                <a:solidFill>
                  <a:schemeClr val="accent1"/>
                </a:solidFill>
                <a:latin typeface="ui-monospace"/>
              </a:rPr>
              <a:t>)</a:t>
            </a:r>
            <a:r>
              <a:rPr lang="zh-CN" altLang="en-US" sz="1200" dirty="0">
                <a:solidFill>
                  <a:schemeClr val="accent1"/>
                </a:solidFill>
                <a:latin typeface="ui-monospace"/>
              </a:rPr>
              <a:t>和末尾进行交换，然后重复进行大顶堆和交换操作</a:t>
            </a:r>
            <a:endParaRPr lang="en-US" altLang="zh-CN" sz="1200" dirty="0">
              <a:solidFill>
                <a:schemeClr val="accent1"/>
              </a:solidFill>
              <a:latin typeface="ui-monospace"/>
            </a:endParaRPr>
          </a:p>
          <a:p>
            <a:r>
              <a:rPr lang="zh-CN" altLang="en-US" sz="1200" b="1" dirty="0">
                <a:solidFill>
                  <a:schemeClr val="accent1"/>
                </a:solidFill>
                <a:latin typeface="ui-monospace"/>
              </a:rPr>
              <a:t>冒泡排序 </a:t>
            </a:r>
            <a:r>
              <a:rPr lang="en-US" altLang="zh-CN" sz="1200" dirty="0">
                <a:solidFill>
                  <a:schemeClr val="accent1"/>
                </a:solidFill>
                <a:latin typeface="ui-monospace"/>
              </a:rPr>
              <a:t>(bubble sort)</a:t>
            </a:r>
            <a:r>
              <a:rPr lang="zh-CN" altLang="en-US" sz="1200" dirty="0">
                <a:solidFill>
                  <a:schemeClr val="accent1"/>
                </a:solidFill>
                <a:latin typeface="ui-monospace"/>
              </a:rPr>
              <a:t>：依次对比两两元素，如果逆序则交换位置，最终最大值会排至最后，重复操作</a:t>
            </a:r>
            <a:endParaRPr lang="en-US" altLang="zh-CN" sz="1200" dirty="0">
              <a:solidFill>
                <a:schemeClr val="accent1"/>
              </a:solidFill>
              <a:latin typeface="ui-monospace"/>
            </a:endParaRPr>
          </a:p>
          <a:p>
            <a:r>
              <a:rPr lang="zh-CN" altLang="en-US" sz="1200" b="1" dirty="0">
                <a:solidFill>
                  <a:schemeClr val="accent1"/>
                </a:solidFill>
                <a:latin typeface="ui-monospace"/>
              </a:rPr>
              <a:t>快速排序 </a:t>
            </a:r>
            <a:r>
              <a:rPr lang="en-US" altLang="zh-CN" sz="1200" dirty="0">
                <a:solidFill>
                  <a:schemeClr val="accent1"/>
                </a:solidFill>
                <a:latin typeface="ui-monospace"/>
              </a:rPr>
              <a:t>(quick sort)</a:t>
            </a:r>
            <a:r>
              <a:rPr lang="zh-CN" altLang="en-US" sz="1200" dirty="0">
                <a:solidFill>
                  <a:schemeClr val="accent1"/>
                </a:solidFill>
                <a:latin typeface="ui-monospace"/>
              </a:rPr>
              <a:t>：基于枢轴值依次排序，将序列分为左序列均小于枢轴，右区域均大于枢轴，枢轴归位，重复</a:t>
            </a:r>
            <a:endParaRPr lang="en-US" altLang="zh-CN" sz="1200" dirty="0">
              <a:solidFill>
                <a:schemeClr val="accent1"/>
              </a:solidFill>
              <a:latin typeface="ui-monospace"/>
            </a:endParaRPr>
          </a:p>
          <a:p>
            <a:r>
              <a:rPr lang="zh-CN" altLang="en-US" sz="1200" b="1" dirty="0">
                <a:solidFill>
                  <a:schemeClr val="accent1"/>
                </a:solidFill>
                <a:latin typeface="ui-monospace"/>
              </a:rPr>
              <a:t>归并排序 </a:t>
            </a:r>
            <a:r>
              <a:rPr lang="en-US" altLang="zh-CN" sz="1200" dirty="0">
                <a:solidFill>
                  <a:schemeClr val="accent1"/>
                </a:solidFill>
                <a:latin typeface="ui-monospace"/>
              </a:rPr>
              <a:t>(merging sort)</a:t>
            </a:r>
            <a:r>
              <a:rPr lang="zh-CN" altLang="en-US" sz="1200" dirty="0">
                <a:solidFill>
                  <a:schemeClr val="accent1"/>
                </a:solidFill>
                <a:latin typeface="ui-monospace"/>
              </a:rPr>
              <a:t>：先将序列递归平均分组，之后进行合并，依次加两个序列的值进行，将较小值计入次序</a:t>
            </a:r>
            <a:endParaRPr lang="en-US" sz="1200" dirty="0">
              <a:solidFill>
                <a:schemeClr val="accent1"/>
              </a:solidFill>
              <a:latin typeface="ui-monospace"/>
            </a:endParaRPr>
          </a:p>
        </p:txBody>
      </p:sp>
      <p:graphicFrame>
        <p:nvGraphicFramePr>
          <p:cNvPr id="45" name="Table 44">
            <a:extLst>
              <a:ext uri="{FF2B5EF4-FFF2-40B4-BE49-F238E27FC236}">
                <a16:creationId xmlns:a16="http://schemas.microsoft.com/office/drawing/2014/main" id="{4AE064B5-072B-8BCD-04CD-BA9ACA048D61}"/>
              </a:ext>
            </a:extLst>
          </p:cNvPr>
          <p:cNvGraphicFramePr>
            <a:graphicFrameLocks noGrp="1"/>
          </p:cNvGraphicFramePr>
          <p:nvPr>
            <p:extLst>
              <p:ext uri="{D42A27DB-BD31-4B8C-83A1-F6EECF244321}">
                <p14:modId xmlns:p14="http://schemas.microsoft.com/office/powerpoint/2010/main" val="1190409960"/>
              </p:ext>
            </p:extLst>
          </p:nvPr>
        </p:nvGraphicFramePr>
        <p:xfrm>
          <a:off x="7710989" y="1422113"/>
          <a:ext cx="4317012" cy="1888744"/>
        </p:xfrm>
        <a:graphic>
          <a:graphicData uri="http://schemas.openxmlformats.org/drawingml/2006/table">
            <a:tbl>
              <a:tblPr firstRow="1" bandRow="1">
                <a:tableStyleId>{5C22544A-7EE6-4342-B048-85BDC9FD1C3A}</a:tableStyleId>
              </a:tblPr>
              <a:tblGrid>
                <a:gridCol w="795811">
                  <a:extLst>
                    <a:ext uri="{9D8B030D-6E8A-4147-A177-3AD203B41FA5}">
                      <a16:colId xmlns:a16="http://schemas.microsoft.com/office/drawing/2014/main" val="4196207211"/>
                    </a:ext>
                  </a:extLst>
                </a:gridCol>
                <a:gridCol w="613945">
                  <a:extLst>
                    <a:ext uri="{9D8B030D-6E8A-4147-A177-3AD203B41FA5}">
                      <a16:colId xmlns:a16="http://schemas.microsoft.com/office/drawing/2014/main" val="3523767036"/>
                    </a:ext>
                  </a:extLst>
                </a:gridCol>
                <a:gridCol w="654050">
                  <a:extLst>
                    <a:ext uri="{9D8B030D-6E8A-4147-A177-3AD203B41FA5}">
                      <a16:colId xmlns:a16="http://schemas.microsoft.com/office/drawing/2014/main" val="2142024621"/>
                    </a:ext>
                  </a:extLst>
                </a:gridCol>
                <a:gridCol w="609600">
                  <a:extLst>
                    <a:ext uri="{9D8B030D-6E8A-4147-A177-3AD203B41FA5}">
                      <a16:colId xmlns:a16="http://schemas.microsoft.com/office/drawing/2014/main" val="3875319614"/>
                    </a:ext>
                  </a:extLst>
                </a:gridCol>
                <a:gridCol w="621964">
                  <a:extLst>
                    <a:ext uri="{9D8B030D-6E8A-4147-A177-3AD203B41FA5}">
                      <a16:colId xmlns:a16="http://schemas.microsoft.com/office/drawing/2014/main" val="1694196444"/>
                    </a:ext>
                  </a:extLst>
                </a:gridCol>
                <a:gridCol w="514686">
                  <a:extLst>
                    <a:ext uri="{9D8B030D-6E8A-4147-A177-3AD203B41FA5}">
                      <a16:colId xmlns:a16="http://schemas.microsoft.com/office/drawing/2014/main" val="3742223195"/>
                    </a:ext>
                  </a:extLst>
                </a:gridCol>
                <a:gridCol w="506956">
                  <a:extLst>
                    <a:ext uri="{9D8B030D-6E8A-4147-A177-3AD203B41FA5}">
                      <a16:colId xmlns:a16="http://schemas.microsoft.com/office/drawing/2014/main" val="2858133253"/>
                    </a:ext>
                  </a:extLst>
                </a:gridCol>
              </a:tblGrid>
              <a:tr h="331816">
                <a:tc>
                  <a:txBody>
                    <a:bodyPr/>
                    <a:lstStyle/>
                    <a:p>
                      <a:pPr algn="ctr"/>
                      <a:r>
                        <a:rPr lang="zh-CN" altLang="en-US" sz="800" b="1" dirty="0">
                          <a:solidFill>
                            <a:schemeClr val="tx1"/>
                          </a:solidFill>
                        </a:rPr>
                        <a:t>算法</a:t>
                      </a:r>
                      <a:endParaRPr lang="en-US" sz="8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800" b="1" dirty="0">
                          <a:solidFill>
                            <a:schemeClr val="tx1"/>
                          </a:solidFill>
                        </a:rPr>
                        <a:t>平均时间复杂度</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800" b="1" dirty="0">
                          <a:solidFill>
                            <a:schemeClr val="tx1"/>
                          </a:solidFill>
                        </a:rPr>
                        <a:t>最坏时间复杂度</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800" b="1" dirty="0">
                          <a:solidFill>
                            <a:schemeClr val="tx1"/>
                          </a:solidFill>
                        </a:rPr>
                        <a:t>最好时间复杂度</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800" b="1" dirty="0">
                          <a:solidFill>
                            <a:schemeClr val="tx1"/>
                          </a:solidFill>
                        </a:rPr>
                        <a:t>空间复杂度</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800" b="1" dirty="0">
                          <a:solidFill>
                            <a:schemeClr val="tx1"/>
                          </a:solidFill>
                        </a:rPr>
                        <a:t>稳定性</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800" b="1" dirty="0">
                          <a:solidFill>
                            <a:schemeClr val="tx1"/>
                          </a:solidFill>
                        </a:rPr>
                        <a:t>归位</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5607175"/>
                  </a:ext>
                </a:extLst>
              </a:tr>
              <a:tr h="243332">
                <a:tc>
                  <a:txBody>
                    <a:bodyPr/>
                    <a:lstStyle/>
                    <a:p>
                      <a:pPr algn="ctr"/>
                      <a:r>
                        <a:rPr lang="zh-CN" altLang="en-US" sz="800" b="1">
                          <a:solidFill>
                            <a:schemeClr val="tx1"/>
                          </a:solidFill>
                        </a:rPr>
                        <a:t>直接插入排序</a:t>
                      </a:r>
                      <a:endParaRPr lang="en-US" sz="8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a:t>
                      </a:r>
                      <a:r>
                        <a:rPr lang="en-US" altLang="zh-CN" sz="800" b="1" dirty="0">
                          <a:solidFill>
                            <a:schemeClr val="tx1"/>
                          </a:solidFill>
                        </a:rPr>
                        <a:t>n</a:t>
                      </a:r>
                      <a:r>
                        <a:rPr lang="en-US" altLang="zh-CN" sz="800" b="1" baseline="30000" dirty="0">
                          <a:solidFill>
                            <a:schemeClr val="tx1"/>
                          </a:solidFill>
                        </a:rPr>
                        <a:t>2</a:t>
                      </a:r>
                      <a:r>
                        <a:rPr lang="en-US" sz="8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a:t>
                      </a:r>
                      <a:r>
                        <a:rPr lang="en-US" altLang="zh-CN" sz="800" b="1" dirty="0">
                          <a:solidFill>
                            <a:schemeClr val="tx1"/>
                          </a:solidFill>
                        </a:rPr>
                        <a:t>n</a:t>
                      </a:r>
                      <a:r>
                        <a:rPr lang="en-US" altLang="zh-CN" sz="800" b="1" baseline="30000" dirty="0">
                          <a:solidFill>
                            <a:schemeClr val="tx1"/>
                          </a:solidFill>
                        </a:rPr>
                        <a:t>2</a:t>
                      </a:r>
                      <a:r>
                        <a:rPr lang="en-US" sz="8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a:t>
                      </a:r>
                      <a:r>
                        <a:rPr lang="en-US" altLang="zh-CN" sz="800" b="1" dirty="0">
                          <a:solidFill>
                            <a:schemeClr val="tx1"/>
                          </a:solidFill>
                        </a:rPr>
                        <a:t>n</a:t>
                      </a:r>
                      <a:r>
                        <a:rPr lang="en-US" sz="8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a:solidFill>
                            <a:schemeClr val="tx1"/>
                          </a:solidFill>
                        </a:rPr>
                        <a:t>O(1)</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172854">
                <a:tc>
                  <a:txBody>
                    <a:bodyPr/>
                    <a:lstStyle/>
                    <a:p>
                      <a:pPr algn="ctr"/>
                      <a:r>
                        <a:rPr lang="zh-CN" altLang="en-US" sz="800" b="1">
                          <a:solidFill>
                            <a:schemeClr val="tx1"/>
                          </a:solidFill>
                        </a:rPr>
                        <a:t>希尔排序</a:t>
                      </a:r>
                      <a:endParaRPr lang="en-US" sz="8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a:solidFill>
                            <a:schemeClr val="tx1"/>
                          </a:solidFill>
                        </a:rPr>
                        <a:t>O(n¹·³)</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a:t>
                      </a:r>
                      <a:r>
                        <a:rPr lang="en-US" altLang="zh-CN" sz="800" b="1" dirty="0">
                          <a:solidFill>
                            <a:schemeClr val="tx1"/>
                          </a:solidFill>
                        </a:rPr>
                        <a:t>n</a:t>
                      </a:r>
                      <a:r>
                        <a:rPr lang="en-US" altLang="zh-CN" sz="800" b="1" baseline="30000" dirty="0">
                          <a:solidFill>
                            <a:schemeClr val="tx1"/>
                          </a:solidFill>
                        </a:rPr>
                        <a:t>2</a:t>
                      </a:r>
                      <a:r>
                        <a:rPr lang="en-US" sz="8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a:t>
                      </a:r>
                      <a:r>
                        <a:rPr lang="en-US" altLang="zh-CN" sz="800" b="1" dirty="0">
                          <a:solidFill>
                            <a:schemeClr val="tx1"/>
                          </a:solidFill>
                        </a:rPr>
                        <a:t>n</a:t>
                      </a:r>
                      <a:r>
                        <a:rPr lang="en-US" sz="8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43332">
                <a:tc>
                  <a:txBody>
                    <a:bodyPr/>
                    <a:lstStyle/>
                    <a:p>
                      <a:pPr algn="ctr"/>
                      <a:r>
                        <a:rPr lang="zh-CN" altLang="en-US" sz="800" b="1">
                          <a:solidFill>
                            <a:schemeClr val="tx1"/>
                          </a:solidFill>
                        </a:rPr>
                        <a:t>简单选择排序</a:t>
                      </a:r>
                      <a:endParaRPr lang="en-US" sz="8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schemeClr val="tx1"/>
                          </a:solidFill>
                        </a:rPr>
                        <a:t>O(</a:t>
                      </a:r>
                      <a:r>
                        <a:rPr lang="en-US" altLang="zh-CN" sz="800" b="1" dirty="0">
                          <a:solidFill>
                            <a:schemeClr val="tx1"/>
                          </a:solidFill>
                        </a:rPr>
                        <a:t>n</a:t>
                      </a:r>
                      <a:r>
                        <a:rPr lang="en-US" altLang="zh-CN" sz="800" b="1" baseline="30000" dirty="0">
                          <a:solidFill>
                            <a:schemeClr val="tx1"/>
                          </a:solidFill>
                        </a:rPr>
                        <a:t>2</a:t>
                      </a:r>
                      <a:r>
                        <a:rPr lang="en-US" sz="8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a:t>
                      </a:r>
                      <a:r>
                        <a:rPr lang="en-US" altLang="zh-CN" sz="800" b="1" dirty="0">
                          <a:solidFill>
                            <a:schemeClr val="tx1"/>
                          </a:solidFill>
                        </a:rPr>
                        <a:t>n</a:t>
                      </a:r>
                      <a:r>
                        <a:rPr lang="en-US" altLang="zh-CN" sz="800" b="1" baseline="30000" dirty="0">
                          <a:solidFill>
                            <a:schemeClr val="tx1"/>
                          </a:solidFill>
                        </a:rPr>
                        <a:t>2</a:t>
                      </a:r>
                      <a:r>
                        <a:rPr lang="en-US" sz="8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a:t>
                      </a:r>
                      <a:r>
                        <a:rPr lang="en-US" altLang="zh-CN" sz="800" b="1" dirty="0">
                          <a:solidFill>
                            <a:schemeClr val="tx1"/>
                          </a:solidFill>
                        </a:rPr>
                        <a:t>n</a:t>
                      </a:r>
                      <a:r>
                        <a:rPr lang="en-US" altLang="zh-CN" sz="800" b="1" baseline="30000" dirty="0">
                          <a:solidFill>
                            <a:schemeClr val="tx1"/>
                          </a:solidFill>
                        </a:rPr>
                        <a:t>2</a:t>
                      </a:r>
                      <a:r>
                        <a:rPr lang="en-US" sz="8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7826130"/>
                  </a:ext>
                </a:extLst>
              </a:tr>
              <a:tr h="172854">
                <a:tc>
                  <a:txBody>
                    <a:bodyPr/>
                    <a:lstStyle/>
                    <a:p>
                      <a:pPr algn="ctr"/>
                      <a:r>
                        <a:rPr lang="zh-CN" altLang="en-US" sz="800" b="1">
                          <a:solidFill>
                            <a:schemeClr val="tx1"/>
                          </a:solidFill>
                        </a:rPr>
                        <a:t>堆排序</a:t>
                      </a:r>
                      <a:endParaRPr lang="en-US" sz="8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O(nlog</a:t>
                      </a:r>
                      <a:r>
                        <a:rPr lang="en-US" sz="800" b="1" baseline="-25000" dirty="0">
                          <a:solidFill>
                            <a:schemeClr val="tx1"/>
                          </a:solidFill>
                        </a:rPr>
                        <a:t>2</a:t>
                      </a:r>
                      <a:r>
                        <a:rPr lang="en-US" sz="800" b="1" dirty="0">
                          <a:solidFill>
                            <a:schemeClr val="tx1"/>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O(nlog</a:t>
                      </a:r>
                      <a:r>
                        <a:rPr lang="en-US" sz="800" b="1" baseline="-25000" dirty="0">
                          <a:solidFill>
                            <a:schemeClr val="tx1"/>
                          </a:solidFill>
                        </a:rPr>
                        <a:t>2</a:t>
                      </a:r>
                      <a:r>
                        <a:rPr lang="en-US" sz="800" b="1" dirty="0">
                          <a:solidFill>
                            <a:schemeClr val="tx1"/>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O(nlog</a:t>
                      </a:r>
                      <a:r>
                        <a:rPr lang="en-US" sz="800" b="1" baseline="-25000" dirty="0">
                          <a:solidFill>
                            <a:schemeClr val="tx1"/>
                          </a:solidFill>
                        </a:rPr>
                        <a:t>2</a:t>
                      </a:r>
                      <a:r>
                        <a:rPr lang="en-US" sz="800" b="1" dirty="0">
                          <a:solidFill>
                            <a:schemeClr val="tx1"/>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9753178"/>
                  </a:ext>
                </a:extLst>
              </a:tr>
              <a:tr h="172854">
                <a:tc>
                  <a:txBody>
                    <a:bodyPr/>
                    <a:lstStyle/>
                    <a:p>
                      <a:pPr algn="ctr"/>
                      <a:r>
                        <a:rPr lang="zh-CN" altLang="en-US" sz="800" b="1" dirty="0">
                          <a:solidFill>
                            <a:schemeClr val="tx1"/>
                          </a:solidFill>
                        </a:rPr>
                        <a:t>冒泡排序</a:t>
                      </a:r>
                      <a:endParaRPr lang="en-US" sz="8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a:t>
                      </a:r>
                      <a:r>
                        <a:rPr lang="en-US" altLang="zh-CN" sz="800" b="1" dirty="0">
                          <a:solidFill>
                            <a:schemeClr val="tx1"/>
                          </a:solidFill>
                        </a:rPr>
                        <a:t>n</a:t>
                      </a:r>
                      <a:r>
                        <a:rPr lang="en-US" altLang="zh-CN" sz="800" b="1" baseline="30000" dirty="0">
                          <a:solidFill>
                            <a:schemeClr val="tx1"/>
                          </a:solidFill>
                        </a:rPr>
                        <a:t>2</a:t>
                      </a:r>
                      <a:r>
                        <a:rPr lang="en-US" sz="8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a:t>
                      </a:r>
                      <a:r>
                        <a:rPr lang="en-US" altLang="zh-CN" sz="800" b="1" dirty="0">
                          <a:solidFill>
                            <a:schemeClr val="tx1"/>
                          </a:solidFill>
                        </a:rPr>
                        <a:t>n</a:t>
                      </a:r>
                      <a:r>
                        <a:rPr lang="en-US" altLang="zh-CN" sz="800" b="1" baseline="30000" dirty="0">
                          <a:solidFill>
                            <a:schemeClr val="tx1"/>
                          </a:solidFill>
                        </a:rPr>
                        <a:t>2</a:t>
                      </a:r>
                      <a:r>
                        <a:rPr lang="en-US" sz="8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a:t>
                      </a:r>
                      <a:r>
                        <a:rPr lang="en-US" altLang="zh-CN" sz="800" b="1" dirty="0">
                          <a:solidFill>
                            <a:schemeClr val="tx1"/>
                          </a:solidFill>
                        </a:rPr>
                        <a:t>n</a:t>
                      </a:r>
                      <a:r>
                        <a:rPr lang="en-US" sz="8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8069755"/>
                  </a:ext>
                </a:extLst>
              </a:tr>
              <a:tr h="172854">
                <a:tc>
                  <a:txBody>
                    <a:bodyPr/>
                    <a:lstStyle/>
                    <a:p>
                      <a:pPr algn="ctr"/>
                      <a:r>
                        <a:rPr lang="zh-CN" altLang="en-US" sz="800" b="1">
                          <a:solidFill>
                            <a:schemeClr val="tx1"/>
                          </a:solidFill>
                        </a:rPr>
                        <a:t>快速排序</a:t>
                      </a:r>
                      <a:endParaRPr lang="en-US" sz="8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O(nlog</a:t>
                      </a:r>
                      <a:r>
                        <a:rPr lang="en-US" sz="800" b="1" baseline="-25000" dirty="0">
                          <a:solidFill>
                            <a:schemeClr val="tx1"/>
                          </a:solidFill>
                        </a:rPr>
                        <a:t>2</a:t>
                      </a:r>
                      <a:r>
                        <a:rPr lang="en-US" sz="800" b="1" dirty="0">
                          <a:solidFill>
                            <a:schemeClr val="tx1"/>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a:t>
                      </a:r>
                      <a:r>
                        <a:rPr lang="en-US" altLang="zh-CN" sz="800" b="1" dirty="0">
                          <a:solidFill>
                            <a:schemeClr val="tx1"/>
                          </a:solidFill>
                        </a:rPr>
                        <a:t>n</a:t>
                      </a:r>
                      <a:r>
                        <a:rPr lang="en-US" altLang="zh-CN" sz="800" b="1" baseline="30000" dirty="0">
                          <a:solidFill>
                            <a:schemeClr val="tx1"/>
                          </a:solidFill>
                        </a:rPr>
                        <a:t>2</a:t>
                      </a:r>
                      <a:r>
                        <a:rPr lang="en-US" sz="8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O(nlog</a:t>
                      </a:r>
                      <a:r>
                        <a:rPr lang="en-US" sz="800" b="1" baseline="-25000" dirty="0">
                          <a:solidFill>
                            <a:schemeClr val="tx1"/>
                          </a:solidFill>
                        </a:rPr>
                        <a:t>2</a:t>
                      </a:r>
                      <a:r>
                        <a:rPr lang="en-US" sz="800" b="1" dirty="0">
                          <a:solidFill>
                            <a:schemeClr val="tx1"/>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O(log</a:t>
                      </a:r>
                      <a:r>
                        <a:rPr lang="en-US" sz="800" b="1" baseline="-25000" dirty="0">
                          <a:solidFill>
                            <a:schemeClr val="tx1"/>
                          </a:solidFill>
                        </a:rPr>
                        <a:t>2</a:t>
                      </a:r>
                      <a:r>
                        <a:rPr lang="en-US" sz="800" b="1" dirty="0">
                          <a:solidFill>
                            <a:schemeClr val="tx1"/>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9869675"/>
                  </a:ext>
                </a:extLst>
              </a:tr>
              <a:tr h="172854">
                <a:tc>
                  <a:txBody>
                    <a:bodyPr/>
                    <a:lstStyle/>
                    <a:p>
                      <a:pPr algn="ctr"/>
                      <a:r>
                        <a:rPr lang="zh-CN" altLang="en-US" sz="800" b="1">
                          <a:solidFill>
                            <a:schemeClr val="tx1"/>
                          </a:solidFill>
                        </a:rPr>
                        <a:t>归并排序</a:t>
                      </a:r>
                      <a:endParaRPr lang="en-US" sz="8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O(nlog</a:t>
                      </a:r>
                      <a:r>
                        <a:rPr lang="en-US" sz="800" b="1" baseline="-25000" dirty="0">
                          <a:solidFill>
                            <a:schemeClr val="tx1"/>
                          </a:solidFill>
                        </a:rPr>
                        <a:t>2</a:t>
                      </a:r>
                      <a:r>
                        <a:rPr lang="en-US" sz="800" b="1" dirty="0">
                          <a:solidFill>
                            <a:schemeClr val="tx1"/>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O(nlog</a:t>
                      </a:r>
                      <a:r>
                        <a:rPr lang="en-US" sz="800" b="1" baseline="-25000" dirty="0">
                          <a:solidFill>
                            <a:schemeClr val="tx1"/>
                          </a:solidFill>
                        </a:rPr>
                        <a:t>2</a:t>
                      </a:r>
                      <a:r>
                        <a:rPr lang="en-US" sz="800" b="1" dirty="0">
                          <a:solidFill>
                            <a:schemeClr val="tx1"/>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800" b="1" dirty="0">
                          <a:solidFill>
                            <a:schemeClr val="tx1"/>
                          </a:solidFill>
                        </a:rPr>
                        <a:t>O(nlog</a:t>
                      </a:r>
                      <a:r>
                        <a:rPr lang="en-US" sz="800" b="1" baseline="-25000" dirty="0">
                          <a:solidFill>
                            <a:schemeClr val="tx1"/>
                          </a:solidFill>
                        </a:rPr>
                        <a:t>2</a:t>
                      </a:r>
                      <a:r>
                        <a:rPr lang="en-US" sz="800" b="1" dirty="0">
                          <a:solidFill>
                            <a:schemeClr val="tx1"/>
                          </a:solidFill>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schemeClr val="tx1"/>
                          </a:solidFill>
                        </a:rPr>
                        <a:t>O(</a:t>
                      </a:r>
                      <a:r>
                        <a:rPr lang="en-US" altLang="zh-CN" sz="800" b="1" dirty="0">
                          <a:solidFill>
                            <a:schemeClr val="tx1"/>
                          </a:solidFill>
                        </a:rPr>
                        <a:t>n</a:t>
                      </a:r>
                      <a:r>
                        <a:rPr lang="en-US" sz="800" b="1"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t>❌</a:t>
                      </a:r>
                      <a:endParaRPr lang="en-US"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3479894"/>
                  </a:ext>
                </a:extLst>
              </a:tr>
            </a:tbl>
          </a:graphicData>
        </a:graphic>
      </p:graphicFrame>
      <p:grpSp>
        <p:nvGrpSpPr>
          <p:cNvPr id="17" name="Group 16">
            <a:extLst>
              <a:ext uri="{FF2B5EF4-FFF2-40B4-BE49-F238E27FC236}">
                <a16:creationId xmlns:a16="http://schemas.microsoft.com/office/drawing/2014/main" id="{F326EF43-5D3C-300E-08F4-40D8B2008B43}"/>
              </a:ext>
            </a:extLst>
          </p:cNvPr>
          <p:cNvGrpSpPr/>
          <p:nvPr/>
        </p:nvGrpSpPr>
        <p:grpSpPr>
          <a:xfrm>
            <a:off x="7679920" y="6118463"/>
            <a:ext cx="4386653" cy="756927"/>
            <a:chOff x="7614613" y="5950488"/>
            <a:chExt cx="4386653" cy="756927"/>
          </a:xfrm>
        </p:grpSpPr>
        <p:sp>
          <p:nvSpPr>
            <p:cNvPr id="18" name="Rectangle: Rounded Corners 17">
              <a:extLst>
                <a:ext uri="{FF2B5EF4-FFF2-40B4-BE49-F238E27FC236}">
                  <a16:creationId xmlns:a16="http://schemas.microsoft.com/office/drawing/2014/main" id="{EBD6487A-1CD8-8D0E-FB25-0C69049CB73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▶时间复杂度</a:t>
              </a:r>
              <a:endParaRPr lang="en-US" sz="1200" dirty="0">
                <a:solidFill>
                  <a:schemeClr val="bg1"/>
                </a:solidFill>
              </a:endParaRPr>
            </a:p>
          </p:txBody>
        </p:sp>
        <p:sp>
          <p:nvSpPr>
            <p:cNvPr id="19" name="TextBox 18">
              <a:extLst>
                <a:ext uri="{FF2B5EF4-FFF2-40B4-BE49-F238E27FC236}">
                  <a16:creationId xmlns:a16="http://schemas.microsoft.com/office/drawing/2014/main" id="{983AA576-17B1-381D-62FF-EBE24AD3B7C6}"/>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常数阶</a:t>
              </a:r>
              <a:r>
                <a:rPr lang="en-US" altLang="zh-CN" sz="1200" dirty="0">
                  <a:solidFill>
                    <a:schemeClr val="accent1"/>
                  </a:solidFill>
                  <a:latin typeface="ui-monospace"/>
                </a:rPr>
                <a:t>O(1)</a:t>
              </a:r>
              <a:r>
                <a:rPr lang="zh-CN" altLang="en-US" sz="1200" dirty="0">
                  <a:solidFill>
                    <a:schemeClr val="accent1"/>
                  </a:solidFill>
                  <a:latin typeface="ui-monospace"/>
                </a:rPr>
                <a:t> 对数阶</a:t>
              </a:r>
              <a:r>
                <a:rPr lang="en-US" altLang="zh-CN" sz="1200" dirty="0">
                  <a:solidFill>
                    <a:schemeClr val="accent1"/>
                  </a:solidFill>
                  <a:latin typeface="ui-monospace"/>
                </a:rPr>
                <a:t>O(log</a:t>
              </a:r>
              <a:r>
                <a:rPr lang="en-US" altLang="zh-CN" sz="1200" baseline="-25000" dirty="0">
                  <a:solidFill>
                    <a:schemeClr val="accent1"/>
                  </a:solidFill>
                  <a:latin typeface="ui-monospace"/>
                </a:rPr>
                <a:t>2</a:t>
              </a:r>
              <a:r>
                <a:rPr lang="en-US" altLang="zh-CN" sz="1200" dirty="0">
                  <a:solidFill>
                    <a:schemeClr val="accent1"/>
                  </a:solidFill>
                  <a:latin typeface="ui-monospace"/>
                </a:rPr>
                <a:t>n)</a:t>
              </a:r>
              <a:r>
                <a:rPr lang="zh-CN" altLang="en-US" sz="1200" dirty="0">
                  <a:solidFill>
                    <a:schemeClr val="accent1"/>
                  </a:solidFill>
                  <a:latin typeface="ui-monospace"/>
                </a:rPr>
                <a:t> 线性阶</a:t>
              </a:r>
              <a:r>
                <a:rPr lang="en-US" altLang="zh-CN" sz="1200" dirty="0">
                  <a:solidFill>
                    <a:schemeClr val="accent1"/>
                  </a:solidFill>
                  <a:latin typeface="ui-monospace"/>
                </a:rPr>
                <a:t>O(n)</a:t>
              </a:r>
              <a:r>
                <a:rPr lang="zh-CN" altLang="en-US" sz="1200" dirty="0">
                  <a:solidFill>
                    <a:schemeClr val="accent1"/>
                  </a:solidFill>
                  <a:latin typeface="ui-monospace"/>
                </a:rPr>
                <a:t> 线性对数阶</a:t>
              </a:r>
              <a:r>
                <a:rPr lang="en-US" altLang="zh-CN" sz="1200" dirty="0">
                  <a:solidFill>
                    <a:schemeClr val="accent1"/>
                  </a:solidFill>
                  <a:latin typeface="ui-monospace"/>
                </a:rPr>
                <a:t>O(nlog</a:t>
              </a:r>
              <a:r>
                <a:rPr lang="en-US" altLang="zh-CN" sz="1200" baseline="-25000" dirty="0">
                  <a:solidFill>
                    <a:schemeClr val="accent1"/>
                  </a:solidFill>
                  <a:latin typeface="ui-monospace"/>
                </a:rPr>
                <a:t>2</a:t>
              </a:r>
              <a:r>
                <a:rPr lang="en-US" altLang="zh-CN" sz="1200" dirty="0">
                  <a:solidFill>
                    <a:schemeClr val="accent1"/>
                  </a:solidFill>
                  <a:latin typeface="ui-monospace"/>
                </a:rPr>
                <a:t>n)</a:t>
              </a:r>
            </a:p>
            <a:p>
              <a:r>
                <a:rPr lang="zh-CN" altLang="en-US" sz="1200" dirty="0">
                  <a:solidFill>
                    <a:schemeClr val="accent1"/>
                  </a:solidFill>
                  <a:latin typeface="ui-monospace"/>
                </a:rPr>
                <a:t>平方阶</a:t>
              </a:r>
              <a:r>
                <a:rPr lang="en-US" altLang="zh-CN" sz="1200" dirty="0">
                  <a:solidFill>
                    <a:schemeClr val="accent1"/>
                  </a:solidFill>
                  <a:latin typeface="ui-monospace"/>
                </a:rPr>
                <a:t>O(n</a:t>
              </a:r>
              <a:r>
                <a:rPr lang="en-US" altLang="zh-CN" sz="1200" baseline="30000" dirty="0">
                  <a:solidFill>
                    <a:schemeClr val="accent1"/>
                  </a:solidFill>
                  <a:latin typeface="ui-monospace"/>
                </a:rPr>
                <a:t>2</a:t>
              </a:r>
              <a:r>
                <a:rPr lang="en-US" altLang="zh-CN" sz="1200" dirty="0">
                  <a:solidFill>
                    <a:schemeClr val="accent1"/>
                  </a:solidFill>
                  <a:latin typeface="ui-monospace"/>
                </a:rPr>
                <a:t>)</a:t>
              </a:r>
              <a:r>
                <a:rPr lang="zh-CN" altLang="en-US" sz="1200" dirty="0">
                  <a:solidFill>
                    <a:schemeClr val="accent1"/>
                  </a:solidFill>
                  <a:latin typeface="ui-monospace"/>
                </a:rPr>
                <a:t> 立方阶</a:t>
              </a:r>
              <a:r>
                <a:rPr lang="en-US" altLang="zh-CN" sz="1200" dirty="0">
                  <a:solidFill>
                    <a:schemeClr val="accent1"/>
                  </a:solidFill>
                  <a:latin typeface="ui-monospace"/>
                </a:rPr>
                <a:t>O(n</a:t>
              </a:r>
              <a:r>
                <a:rPr lang="en-US" altLang="zh-CN" sz="1200" baseline="30000" dirty="0">
                  <a:solidFill>
                    <a:schemeClr val="accent1"/>
                  </a:solidFill>
                  <a:latin typeface="ui-monospace"/>
                </a:rPr>
                <a:t>3</a:t>
              </a:r>
              <a:r>
                <a:rPr lang="en-US" altLang="zh-CN" sz="1200" dirty="0">
                  <a:solidFill>
                    <a:schemeClr val="accent1"/>
                  </a:solidFill>
                  <a:latin typeface="ui-monospace"/>
                </a:rPr>
                <a:t>)</a:t>
              </a:r>
              <a:r>
                <a:rPr lang="zh-CN" altLang="en-US" sz="1200" dirty="0">
                  <a:solidFill>
                    <a:schemeClr val="accent1"/>
                  </a:solidFill>
                  <a:latin typeface="ui-monospace"/>
                </a:rPr>
                <a:t> 指数阶</a:t>
              </a:r>
              <a:r>
                <a:rPr lang="en-US" altLang="zh-CN" sz="1200" dirty="0">
                  <a:solidFill>
                    <a:schemeClr val="accent1"/>
                  </a:solidFill>
                  <a:latin typeface="ui-monospace"/>
                </a:rPr>
                <a:t>O(2</a:t>
              </a:r>
              <a:r>
                <a:rPr lang="en-US" altLang="zh-CN" sz="1200" baseline="30000" dirty="0">
                  <a:solidFill>
                    <a:schemeClr val="accent1"/>
                  </a:solidFill>
                  <a:latin typeface="ui-monospace"/>
                </a:rPr>
                <a:t>n</a:t>
              </a:r>
              <a:r>
                <a:rPr lang="en-US" altLang="zh-CN" sz="1200" dirty="0">
                  <a:solidFill>
                    <a:schemeClr val="accent1"/>
                  </a:solidFill>
                  <a:latin typeface="ui-monospace"/>
                </a:rPr>
                <a:t>)</a:t>
              </a:r>
              <a:r>
                <a:rPr lang="zh-CN" altLang="en-US" sz="1200" dirty="0">
                  <a:solidFill>
                    <a:schemeClr val="accent1"/>
                  </a:solidFill>
                  <a:latin typeface="ui-monospace"/>
                </a:rPr>
                <a:t> 阶乘阶</a:t>
              </a:r>
              <a:r>
                <a:rPr lang="en-US" altLang="zh-CN" sz="1200" dirty="0">
                  <a:solidFill>
                    <a:schemeClr val="accent1"/>
                  </a:solidFill>
                  <a:latin typeface="ui-monospace"/>
                </a:rPr>
                <a:t>O(n!)</a:t>
              </a:r>
              <a:r>
                <a:rPr lang="zh-CN" altLang="en-US" sz="1200" dirty="0">
                  <a:solidFill>
                    <a:schemeClr val="accent1"/>
                  </a:solidFill>
                  <a:latin typeface="ui-monospace"/>
                </a:rPr>
                <a:t> </a:t>
              </a:r>
              <a:r>
                <a:rPr lang="en-US" altLang="zh-CN" sz="1200" dirty="0">
                  <a:solidFill>
                    <a:schemeClr val="accent1"/>
                  </a:solidFill>
                  <a:latin typeface="ui-monospace"/>
                </a:rPr>
                <a:t>n</a:t>
              </a:r>
              <a:r>
                <a:rPr lang="zh-CN" altLang="en-US" sz="1200" dirty="0">
                  <a:solidFill>
                    <a:schemeClr val="accent1"/>
                  </a:solidFill>
                  <a:latin typeface="ui-monospace"/>
                </a:rPr>
                <a:t>次方阶</a:t>
              </a:r>
              <a:r>
                <a:rPr lang="en-US" altLang="zh-CN" sz="1200" dirty="0">
                  <a:solidFill>
                    <a:schemeClr val="accent1"/>
                  </a:solidFill>
                  <a:latin typeface="ui-monospace"/>
                </a:rPr>
                <a:t>O(</a:t>
              </a:r>
              <a:r>
                <a:rPr lang="en-US" altLang="zh-CN" sz="1200" dirty="0" err="1">
                  <a:solidFill>
                    <a:schemeClr val="accent1"/>
                  </a:solidFill>
                  <a:latin typeface="ui-monospace"/>
                </a:rPr>
                <a:t>n</a:t>
              </a:r>
              <a:r>
                <a:rPr lang="en-US" altLang="zh-CN" sz="1200" baseline="30000" dirty="0" err="1">
                  <a:solidFill>
                    <a:schemeClr val="accent1"/>
                  </a:solidFill>
                  <a:latin typeface="ui-monospace"/>
                </a:rPr>
                <a:t>n</a:t>
              </a:r>
              <a:r>
                <a:rPr lang="en-US" altLang="zh-CN" sz="1200" dirty="0">
                  <a:solidFill>
                    <a:schemeClr val="accent1"/>
                  </a:solidFill>
                  <a:latin typeface="ui-monospace"/>
                </a:rPr>
                <a:t>)</a:t>
              </a:r>
              <a:r>
                <a:rPr lang="zh-CN" altLang="en-US" sz="1200" dirty="0">
                  <a:solidFill>
                    <a:schemeClr val="accent1"/>
                  </a:solidFill>
                  <a:latin typeface="ui-monospace"/>
                </a:rPr>
                <a:t> </a:t>
              </a:r>
              <a:endParaRPr lang="en-US" sz="1200" dirty="0">
                <a:solidFill>
                  <a:schemeClr val="accent1"/>
                </a:solidFill>
              </a:endParaRPr>
            </a:p>
          </p:txBody>
        </p:sp>
      </p:grpSp>
    </p:spTree>
    <p:extLst>
      <p:ext uri="{BB962C8B-B14F-4D97-AF65-F5344CB8AC3E}">
        <p14:creationId xmlns:p14="http://schemas.microsoft.com/office/powerpoint/2010/main" val="1950137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D86264-6199-89CB-8833-0170ACBBC34D}"/>
              </a:ext>
            </a:extLst>
          </p:cNvPr>
          <p:cNvPicPr>
            <a:picLocks noChangeAspect="1"/>
          </p:cNvPicPr>
          <p:nvPr/>
        </p:nvPicPr>
        <p:blipFill>
          <a:blip r:embed="rId2"/>
          <a:stretch>
            <a:fillRect/>
          </a:stretch>
        </p:blipFill>
        <p:spPr>
          <a:xfrm>
            <a:off x="257440" y="130744"/>
            <a:ext cx="3940850" cy="2212406"/>
          </a:xfrm>
          <a:prstGeom prst="rect">
            <a:avLst/>
          </a:prstGeom>
        </p:spPr>
      </p:pic>
      <p:pic>
        <p:nvPicPr>
          <p:cNvPr id="3" name="Picture 2">
            <a:extLst>
              <a:ext uri="{FF2B5EF4-FFF2-40B4-BE49-F238E27FC236}">
                <a16:creationId xmlns:a16="http://schemas.microsoft.com/office/drawing/2014/main" id="{2537F003-4E72-D6C0-7278-07BBD65D1FCD}"/>
              </a:ext>
            </a:extLst>
          </p:cNvPr>
          <p:cNvPicPr>
            <a:picLocks noChangeAspect="1"/>
          </p:cNvPicPr>
          <p:nvPr/>
        </p:nvPicPr>
        <p:blipFill>
          <a:blip r:embed="rId3"/>
          <a:stretch>
            <a:fillRect/>
          </a:stretch>
        </p:blipFill>
        <p:spPr>
          <a:xfrm>
            <a:off x="257440" y="2562225"/>
            <a:ext cx="1747582" cy="1535752"/>
          </a:xfrm>
          <a:prstGeom prst="rect">
            <a:avLst/>
          </a:prstGeom>
        </p:spPr>
      </p:pic>
      <p:pic>
        <p:nvPicPr>
          <p:cNvPr id="4" name="Picture 3">
            <a:extLst>
              <a:ext uri="{FF2B5EF4-FFF2-40B4-BE49-F238E27FC236}">
                <a16:creationId xmlns:a16="http://schemas.microsoft.com/office/drawing/2014/main" id="{5F25B501-4112-630C-2B33-A62409E0358B}"/>
              </a:ext>
            </a:extLst>
          </p:cNvPr>
          <p:cNvPicPr>
            <a:picLocks noChangeAspect="1"/>
          </p:cNvPicPr>
          <p:nvPr/>
        </p:nvPicPr>
        <p:blipFill>
          <a:blip r:embed="rId4"/>
          <a:stretch>
            <a:fillRect/>
          </a:stretch>
        </p:blipFill>
        <p:spPr>
          <a:xfrm>
            <a:off x="2227865" y="2686050"/>
            <a:ext cx="6063326" cy="1145551"/>
          </a:xfrm>
          <a:prstGeom prst="rect">
            <a:avLst/>
          </a:prstGeom>
        </p:spPr>
      </p:pic>
      <p:pic>
        <p:nvPicPr>
          <p:cNvPr id="5" name="Picture 4">
            <a:extLst>
              <a:ext uri="{FF2B5EF4-FFF2-40B4-BE49-F238E27FC236}">
                <a16:creationId xmlns:a16="http://schemas.microsoft.com/office/drawing/2014/main" id="{921D2D78-D34C-EB31-E4DE-76732B118FEF}"/>
              </a:ext>
            </a:extLst>
          </p:cNvPr>
          <p:cNvPicPr>
            <a:picLocks noChangeAspect="1"/>
          </p:cNvPicPr>
          <p:nvPr/>
        </p:nvPicPr>
        <p:blipFill>
          <a:blip r:embed="rId5"/>
          <a:stretch>
            <a:fillRect/>
          </a:stretch>
        </p:blipFill>
        <p:spPr>
          <a:xfrm>
            <a:off x="9317042" y="4295776"/>
            <a:ext cx="2676958" cy="1676008"/>
          </a:xfrm>
          <a:prstGeom prst="rect">
            <a:avLst/>
          </a:prstGeom>
        </p:spPr>
      </p:pic>
    </p:spTree>
    <p:extLst>
      <p:ext uri="{BB962C8B-B14F-4D97-AF65-F5344CB8AC3E}">
        <p14:creationId xmlns:p14="http://schemas.microsoft.com/office/powerpoint/2010/main" val="1415548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23B87F10-CD69-DC7D-5E36-9F3861EB6B00}"/>
              </a:ext>
            </a:extLst>
          </p:cNvPr>
          <p:cNvGrpSpPr/>
          <p:nvPr/>
        </p:nvGrpSpPr>
        <p:grpSpPr>
          <a:xfrm>
            <a:off x="7645699" y="5212204"/>
            <a:ext cx="4386653" cy="1495591"/>
            <a:chOff x="7614613" y="5950488"/>
            <a:chExt cx="4386653" cy="1495591"/>
          </a:xfrm>
        </p:grpSpPr>
        <p:sp>
          <p:nvSpPr>
            <p:cNvPr id="44" name="Rectangle: Rounded Corners 43">
              <a:extLst>
                <a:ext uri="{FF2B5EF4-FFF2-40B4-BE49-F238E27FC236}">
                  <a16:creationId xmlns:a16="http://schemas.microsoft.com/office/drawing/2014/main" id="{D0F531B5-C725-6C21-511E-C1EA6F28EDEE}"/>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▶流水线</a:t>
              </a:r>
              <a:endParaRPr lang="en-US" sz="1200" dirty="0">
                <a:solidFill>
                  <a:schemeClr val="bg1"/>
                </a:solidFill>
              </a:endParaRPr>
            </a:p>
          </p:txBody>
        </p:sp>
        <p:sp>
          <p:nvSpPr>
            <p:cNvPr id="45" name="TextBox 44">
              <a:extLst>
                <a:ext uri="{FF2B5EF4-FFF2-40B4-BE49-F238E27FC236}">
                  <a16:creationId xmlns:a16="http://schemas.microsoft.com/office/drawing/2014/main" id="{A42196DB-F65D-6D0E-C349-440B1B9363D9}"/>
                </a:ext>
              </a:extLst>
            </p:cNvPr>
            <p:cNvSpPr txBox="1"/>
            <p:nvPr/>
          </p:nvSpPr>
          <p:spPr>
            <a:xfrm>
              <a:off x="7667294" y="6245750"/>
              <a:ext cx="4281578" cy="1200329"/>
            </a:xfrm>
            <a:prstGeom prst="rect">
              <a:avLst/>
            </a:prstGeom>
            <a:noFill/>
          </p:spPr>
          <p:txBody>
            <a:bodyPr wrap="square">
              <a:spAutoFit/>
            </a:bodyPr>
            <a:lstStyle/>
            <a:p>
              <a:r>
                <a:rPr lang="zh-CN" altLang="en-US" sz="1200" dirty="0">
                  <a:solidFill>
                    <a:schemeClr val="accent1"/>
                  </a:solidFill>
                  <a:latin typeface="ui-monospace"/>
                </a:rPr>
                <a:t>执行时间：首条总时间</a:t>
              </a:r>
              <a:r>
                <a:rPr lang="en-US" altLang="zh-CN" sz="1200" dirty="0">
                  <a:solidFill>
                    <a:schemeClr val="accent1"/>
                  </a:solidFill>
                  <a:latin typeface="ui-monospace"/>
                </a:rPr>
                <a:t>+(n-1)*</a:t>
              </a:r>
              <a:r>
                <a:rPr lang="zh-CN" altLang="en-US" sz="1200" dirty="0">
                  <a:solidFill>
                    <a:schemeClr val="accent1"/>
                  </a:solidFill>
                  <a:latin typeface="ui-monospace"/>
                </a:rPr>
                <a:t>最长操作时间</a:t>
              </a:r>
              <a:endParaRPr lang="en-US" altLang="zh-CN" sz="1200" dirty="0">
                <a:solidFill>
                  <a:schemeClr val="accent1"/>
                </a:solidFill>
                <a:latin typeface="ui-monospace"/>
              </a:endParaRPr>
            </a:p>
            <a:p>
              <a:r>
                <a:rPr lang="zh-CN" altLang="en-US" sz="1200" dirty="0">
                  <a:solidFill>
                    <a:schemeClr val="accent1"/>
                  </a:solidFill>
                  <a:latin typeface="ui-monospace"/>
                </a:rPr>
                <a:t>加速比：不采用和采用的时间比</a:t>
              </a:r>
              <a:endParaRPr lang="en-US" altLang="zh-CN" sz="1200" dirty="0">
                <a:solidFill>
                  <a:schemeClr val="accent1"/>
                </a:solidFill>
                <a:latin typeface="ui-monospace"/>
              </a:endParaRPr>
            </a:p>
            <a:p>
              <a:r>
                <a:rPr lang="zh-CN" altLang="en-US" sz="1200" dirty="0">
                  <a:solidFill>
                    <a:schemeClr val="accent1"/>
                  </a:solidFill>
                  <a:latin typeface="ui-monospace"/>
                </a:rPr>
                <a:t>操作周期：最长操作时间</a:t>
              </a:r>
              <a:endParaRPr lang="en-US" altLang="zh-CN" sz="1200" dirty="0">
                <a:solidFill>
                  <a:schemeClr val="accent1"/>
                </a:solidFill>
                <a:latin typeface="ui-monospace"/>
              </a:endParaRPr>
            </a:p>
            <a:p>
              <a:r>
                <a:rPr lang="zh-CN" altLang="en-US" sz="1200" dirty="0">
                  <a:solidFill>
                    <a:schemeClr val="accent1"/>
                  </a:solidFill>
                  <a:latin typeface="ui-monospace"/>
                </a:rPr>
                <a:t>吞吐率：</a:t>
              </a:r>
              <a:r>
                <a:rPr lang="en-US" altLang="zh-CN" sz="1200" dirty="0">
                  <a:solidFill>
                    <a:schemeClr val="accent1"/>
                  </a:solidFill>
                  <a:latin typeface="ui-monospace"/>
                </a:rPr>
                <a:t>1/</a:t>
              </a:r>
              <a:r>
                <a:rPr lang="zh-CN" altLang="en-US" sz="1200" dirty="0">
                  <a:solidFill>
                    <a:schemeClr val="accent1"/>
                  </a:solidFill>
                  <a:latin typeface="ui-monospace"/>
                </a:rPr>
                <a:t>最长操作时间</a:t>
              </a:r>
              <a:endParaRPr lang="en-US" altLang="zh-CN" sz="1200" dirty="0">
                <a:solidFill>
                  <a:schemeClr val="accent1"/>
                </a:solidFill>
                <a:latin typeface="ui-monospace"/>
              </a:endParaRPr>
            </a:p>
            <a:p>
              <a:r>
                <a:rPr lang="en-US" altLang="zh-CN" sz="1200" dirty="0">
                  <a:solidFill>
                    <a:schemeClr val="accent1"/>
                  </a:solidFill>
                  <a:latin typeface="ui-monospace"/>
                </a:rPr>
                <a:t>n</a:t>
              </a:r>
              <a:r>
                <a:rPr lang="zh-CN" altLang="en-US" sz="1200" dirty="0">
                  <a:solidFill>
                    <a:schemeClr val="accent1"/>
                  </a:solidFill>
                  <a:latin typeface="ui-monospace"/>
                </a:rPr>
                <a:t>条指令的吞吐率：</a:t>
              </a:r>
              <a:endParaRPr lang="en-US" altLang="zh-CN" sz="1200" dirty="0">
                <a:solidFill>
                  <a:schemeClr val="accent1"/>
                </a:solidFill>
                <a:latin typeface="ui-monospace"/>
              </a:endParaRPr>
            </a:p>
            <a:p>
              <a:r>
                <a:rPr lang="en-US" altLang="zh-CN" sz="1200" dirty="0">
                  <a:solidFill>
                    <a:schemeClr val="accent1"/>
                  </a:solidFill>
                  <a:latin typeface="ui-monospace"/>
                </a:rPr>
                <a:t>n/</a:t>
              </a:r>
              <a:r>
                <a:rPr lang="zh-CN" altLang="en-US" sz="1200" dirty="0">
                  <a:solidFill>
                    <a:schemeClr val="accent1"/>
                  </a:solidFill>
                  <a:latin typeface="ui-monospace"/>
                </a:rPr>
                <a:t>执行时间</a:t>
              </a:r>
              <a:endParaRPr lang="en-US" altLang="zh-CN" sz="1200" dirty="0">
                <a:solidFill>
                  <a:schemeClr val="accent1"/>
                </a:solidFill>
                <a:latin typeface="ui-monospace"/>
              </a:endParaRPr>
            </a:p>
          </p:txBody>
        </p:sp>
      </p:grpSp>
      <p:pic>
        <p:nvPicPr>
          <p:cNvPr id="46" name="Picture 45">
            <a:extLst>
              <a:ext uri="{FF2B5EF4-FFF2-40B4-BE49-F238E27FC236}">
                <a16:creationId xmlns:a16="http://schemas.microsoft.com/office/drawing/2014/main" id="{1C75230D-4552-494B-0885-B199F33FE1DB}"/>
              </a:ext>
            </a:extLst>
          </p:cNvPr>
          <p:cNvPicPr>
            <a:picLocks noChangeAspect="1"/>
          </p:cNvPicPr>
          <p:nvPr/>
        </p:nvPicPr>
        <p:blipFill>
          <a:blip r:embed="rId2"/>
          <a:stretch>
            <a:fillRect/>
          </a:stretch>
        </p:blipFill>
        <p:spPr>
          <a:xfrm>
            <a:off x="9348633" y="6237010"/>
            <a:ext cx="2695379" cy="509241"/>
          </a:xfrm>
          <a:prstGeom prst="rect">
            <a:avLst/>
          </a:prstGeom>
        </p:spPr>
      </p:pic>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CA83C5-434B-C2BB-C03E-FEA77C2BBB11}"/>
              </a:ext>
            </a:extLst>
          </p:cNvPr>
          <p:cNvSpPr txBox="1"/>
          <p:nvPr/>
        </p:nvSpPr>
        <p:spPr>
          <a:xfrm>
            <a:off x="0" y="959472"/>
            <a:ext cx="2986206" cy="433965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计算机系统 </a:t>
            </a:r>
            <a:r>
              <a:rPr lang="en-US" altLang="zh-CN" sz="1200" b="1" dirty="0">
                <a:latin typeface="Arial" panose="020B0604020202020204" pitchFamily="34" charset="0"/>
                <a:ea typeface="Punctuation SC"/>
              </a:rPr>
              <a:t>(3-7)</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-CPU</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进制转换</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数据表示</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校验码</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存储系统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输入输出技术</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计算机体系结构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总线</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加密技术和认证技术</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 [20-22,48-50]</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 </a:t>
            </a:r>
            <a:r>
              <a:rPr lang="en-US" altLang="zh-CN" sz="1200" dirty="0">
                <a:latin typeface="Arial" panose="020B0604020202020204" pitchFamily="34" charset="0"/>
                <a:ea typeface="Punctuation SC"/>
              </a:rPr>
              <a:t>(10-12)</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 </a:t>
            </a:r>
            <a:r>
              <a:rPr lang="en-US" altLang="zh-CN" sz="1200" dirty="0">
                <a:latin typeface="Arial" panose="020B0604020202020204" pitchFamily="34" charset="0"/>
                <a:ea typeface="Punctuation SC"/>
              </a:rPr>
              <a:t>(12)</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 </a:t>
            </a:r>
            <a:r>
              <a:rPr lang="en-US" altLang="zh-CN" sz="1200" dirty="0">
                <a:latin typeface="Arial" panose="020B0604020202020204" pitchFamily="34" charset="0"/>
                <a:ea typeface="Punctuation SC"/>
              </a:rPr>
              <a:t>(6-8)</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 </a:t>
            </a:r>
            <a:r>
              <a:rPr lang="en-US" altLang="zh-CN" sz="1200" dirty="0">
                <a:latin typeface="Arial" panose="020B0604020202020204" pitchFamily="34" charset="0"/>
                <a:ea typeface="Punctuation SC"/>
              </a:rPr>
              <a:t>(10)</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 </a:t>
            </a:r>
            <a:r>
              <a:rPr lang="en-US" altLang="zh-CN" sz="1200" dirty="0">
                <a:latin typeface="Arial" panose="020B0604020202020204" pitchFamily="34" charset="0"/>
                <a:ea typeface="Punctuation SC"/>
              </a:rPr>
              <a:t>(15)</a:t>
            </a:r>
          </a:p>
        </p:txBody>
      </p:sp>
      <p:sp>
        <p:nvSpPr>
          <p:cNvPr id="6" name="TextBox 5">
            <a:extLst>
              <a:ext uri="{FF2B5EF4-FFF2-40B4-BE49-F238E27FC236}">
                <a16:creationId xmlns:a16="http://schemas.microsoft.com/office/drawing/2014/main" id="{F6E8EA44-BACD-2DF7-D1BB-48B659756CE3}"/>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A7CFB97A-E7E7-BB6E-4BA9-8E7CB22DC8F7}"/>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1" name="Group 10">
            <a:extLst>
              <a:ext uri="{FF2B5EF4-FFF2-40B4-BE49-F238E27FC236}">
                <a16:creationId xmlns:a16="http://schemas.microsoft.com/office/drawing/2014/main" id="{98BD0C93-DD89-25A7-1553-E3F85FE0D7B8}"/>
              </a:ext>
            </a:extLst>
          </p:cNvPr>
          <p:cNvGrpSpPr/>
          <p:nvPr/>
        </p:nvGrpSpPr>
        <p:grpSpPr>
          <a:xfrm>
            <a:off x="3119859" y="40595"/>
            <a:ext cx="4386653" cy="1310925"/>
            <a:chOff x="7614613" y="5950488"/>
            <a:chExt cx="4386653" cy="1310925"/>
          </a:xfrm>
        </p:grpSpPr>
        <p:sp>
          <p:nvSpPr>
            <p:cNvPr id="12" name="Rectangle: Rounded Corners 11">
              <a:extLst>
                <a:ext uri="{FF2B5EF4-FFF2-40B4-BE49-F238E27FC236}">
                  <a16:creationId xmlns:a16="http://schemas.microsoft.com/office/drawing/2014/main" id="{01574168-1441-BE9C-0656-1623F1FA4E3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▶中央处理单元 </a:t>
              </a:r>
              <a:r>
                <a:rPr lang="en-US" altLang="zh-CN" sz="1200" dirty="0">
                  <a:solidFill>
                    <a:schemeClr val="bg1"/>
                  </a:solidFill>
                  <a:latin typeface="ui-monospace"/>
                </a:rPr>
                <a:t>CPU</a:t>
              </a:r>
              <a:endParaRPr lang="en-US" sz="1200" dirty="0">
                <a:solidFill>
                  <a:schemeClr val="bg1"/>
                </a:solidFill>
              </a:endParaRPr>
            </a:p>
          </p:txBody>
        </p:sp>
        <p:sp>
          <p:nvSpPr>
            <p:cNvPr id="13" name="TextBox 12">
              <a:extLst>
                <a:ext uri="{FF2B5EF4-FFF2-40B4-BE49-F238E27FC236}">
                  <a16:creationId xmlns:a16="http://schemas.microsoft.com/office/drawing/2014/main" id="{99A4E7D9-2F45-730B-49F2-2D0574D0A953}"/>
                </a:ext>
              </a:extLst>
            </p:cNvPr>
            <p:cNvSpPr txBox="1"/>
            <p:nvPr/>
          </p:nvSpPr>
          <p:spPr>
            <a:xfrm>
              <a:off x="7667294" y="6245750"/>
              <a:ext cx="4281578" cy="1015663"/>
            </a:xfrm>
            <a:prstGeom prst="rect">
              <a:avLst/>
            </a:prstGeom>
            <a:noFill/>
          </p:spPr>
          <p:txBody>
            <a:bodyPr wrap="square">
              <a:spAutoFit/>
            </a:bodyPr>
            <a:lstStyle/>
            <a:p>
              <a:r>
                <a:rPr lang="zh-CN" altLang="en-US" sz="1200" dirty="0">
                  <a:solidFill>
                    <a:schemeClr val="accent1"/>
                  </a:solidFill>
                  <a:latin typeface="ui-monospace"/>
                </a:rPr>
                <a:t>运算器、控制器、寄存器组、总线</a:t>
              </a:r>
              <a:endParaRPr lang="en-US" altLang="zh-CN" sz="1200" dirty="0">
                <a:solidFill>
                  <a:schemeClr val="accent1"/>
                </a:solidFill>
                <a:latin typeface="ui-monospace"/>
              </a:endParaRPr>
            </a:p>
            <a:p>
              <a:r>
                <a:rPr lang="zh-CN" altLang="en-US" sz="1200" dirty="0">
                  <a:solidFill>
                    <a:schemeClr val="accent1"/>
                  </a:solidFill>
                  <a:latin typeface="ui-monospace"/>
                </a:rPr>
                <a:t>程序控制、操作控制、时间控制、</a:t>
              </a:r>
              <a:endParaRPr lang="en-US" altLang="zh-CN" sz="1200" dirty="0">
                <a:solidFill>
                  <a:schemeClr val="accent1"/>
                </a:solidFill>
                <a:latin typeface="ui-monospace"/>
              </a:endParaRPr>
            </a:p>
            <a:p>
              <a:r>
                <a:rPr lang="zh-CN" altLang="en-US" sz="1200" dirty="0">
                  <a:solidFill>
                    <a:schemeClr val="accent1"/>
                  </a:solidFill>
                  <a:latin typeface="ui-monospace"/>
                </a:rPr>
                <a:t>数据处理</a:t>
              </a:r>
              <a:endParaRPr lang="en-US" altLang="zh-CN" sz="1200" dirty="0">
                <a:solidFill>
                  <a:schemeClr val="accent1"/>
                </a:solidFill>
                <a:latin typeface="ui-monospace"/>
              </a:endParaRPr>
            </a:p>
            <a:p>
              <a:r>
                <a:rPr lang="zh-CN" altLang="en-US" sz="1200" dirty="0">
                  <a:solidFill>
                    <a:schemeClr val="accent1"/>
                  </a:solidFill>
                  <a:latin typeface="ui-monospace"/>
                </a:rPr>
                <a:t>获取指令</a:t>
              </a:r>
              <a:r>
                <a:rPr lang="en-US" altLang="zh-CN" sz="1200" dirty="0">
                  <a:solidFill>
                    <a:schemeClr val="accent1"/>
                  </a:solidFill>
                  <a:latin typeface="ui-monospace"/>
                </a:rPr>
                <a:t>&gt;</a:t>
              </a:r>
              <a:r>
                <a:rPr lang="zh-CN" altLang="en-US" sz="1200" dirty="0">
                  <a:solidFill>
                    <a:schemeClr val="accent1"/>
                  </a:solidFill>
                  <a:latin typeface="ui-monospace"/>
                </a:rPr>
                <a:t>译码</a:t>
              </a:r>
              <a:r>
                <a:rPr lang="en-US" altLang="zh-CN" sz="1200" dirty="0">
                  <a:solidFill>
                    <a:schemeClr val="accent1"/>
                  </a:solidFill>
                  <a:latin typeface="ui-monospace"/>
                </a:rPr>
                <a:t>&gt;</a:t>
              </a:r>
              <a:r>
                <a:rPr lang="zh-CN" altLang="en-US" sz="1200" dirty="0">
                  <a:solidFill>
                    <a:schemeClr val="accent1"/>
                  </a:solidFill>
                  <a:latin typeface="ui-monospace"/>
                </a:rPr>
                <a:t>执行</a:t>
              </a:r>
              <a:r>
                <a:rPr lang="en-US" altLang="zh-CN" sz="1200" dirty="0">
                  <a:solidFill>
                    <a:schemeClr val="accent1"/>
                  </a:solidFill>
                  <a:latin typeface="ui-monospace"/>
                </a:rPr>
                <a:t>&gt;</a:t>
              </a:r>
              <a:r>
                <a:rPr lang="zh-CN" altLang="en-US" sz="1200" dirty="0">
                  <a:solidFill>
                    <a:schemeClr val="accent1"/>
                  </a:solidFill>
                  <a:latin typeface="ui-monospace"/>
                </a:rPr>
                <a:t>访问数据</a:t>
              </a:r>
              <a:r>
                <a:rPr lang="en-US" altLang="zh-CN" sz="1200" dirty="0">
                  <a:solidFill>
                    <a:schemeClr val="accent1"/>
                  </a:solidFill>
                  <a:latin typeface="ui-monospace"/>
                </a:rPr>
                <a:t>&gt;</a:t>
              </a:r>
              <a:r>
                <a:rPr lang="zh-CN" altLang="en-US" sz="1200" dirty="0">
                  <a:solidFill>
                    <a:schemeClr val="accent1"/>
                  </a:solidFill>
                  <a:latin typeface="ui-monospace"/>
                </a:rPr>
                <a:t>回写</a:t>
              </a:r>
              <a:endParaRPr lang="en-US" altLang="zh-CN" sz="1200" dirty="0">
                <a:solidFill>
                  <a:schemeClr val="accent1"/>
                </a:solidFill>
                <a:latin typeface="ui-monospace"/>
              </a:endParaRPr>
            </a:p>
            <a:p>
              <a:r>
                <a:rPr lang="zh-CN" altLang="en-US" sz="1200" dirty="0">
                  <a:solidFill>
                    <a:schemeClr val="accent1"/>
                  </a:solidFill>
                  <a:latin typeface="ui-monospace"/>
                </a:rPr>
                <a:t>结果</a:t>
              </a:r>
              <a:endParaRPr lang="en-US" altLang="zh-CN" sz="1200" dirty="0">
                <a:solidFill>
                  <a:schemeClr val="accent1"/>
                </a:solidFill>
                <a:latin typeface="ui-monospace"/>
              </a:endParaRPr>
            </a:p>
          </p:txBody>
        </p:sp>
      </p:grpSp>
      <p:grpSp>
        <p:nvGrpSpPr>
          <p:cNvPr id="4" name="Group 3">
            <a:extLst>
              <a:ext uri="{FF2B5EF4-FFF2-40B4-BE49-F238E27FC236}">
                <a16:creationId xmlns:a16="http://schemas.microsoft.com/office/drawing/2014/main" id="{9F743307-E42F-8F5E-6A26-CA2FC1D8F467}"/>
              </a:ext>
            </a:extLst>
          </p:cNvPr>
          <p:cNvGrpSpPr/>
          <p:nvPr/>
        </p:nvGrpSpPr>
        <p:grpSpPr>
          <a:xfrm>
            <a:off x="3097889" y="1846157"/>
            <a:ext cx="4386653" cy="1310925"/>
            <a:chOff x="7614613" y="5950488"/>
            <a:chExt cx="4386653" cy="1310925"/>
          </a:xfrm>
        </p:grpSpPr>
        <p:sp>
          <p:nvSpPr>
            <p:cNvPr id="5" name="Rectangle: Rounded Corners 4">
              <a:extLst>
                <a:ext uri="{FF2B5EF4-FFF2-40B4-BE49-F238E27FC236}">
                  <a16:creationId xmlns:a16="http://schemas.microsoft.com/office/drawing/2014/main" id="{3C48710B-5BF6-8BA3-DAAB-619BD4D0B56E}"/>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▶运算器单元 </a:t>
              </a:r>
              <a:r>
                <a:rPr lang="en-US" altLang="zh-CN" sz="1200" dirty="0">
                  <a:solidFill>
                    <a:schemeClr val="bg1"/>
                  </a:solidFill>
                  <a:latin typeface="ui-monospace"/>
                </a:rPr>
                <a:t>ALU</a:t>
              </a:r>
              <a:endParaRPr lang="en-US" sz="1200" dirty="0">
                <a:solidFill>
                  <a:schemeClr val="bg1"/>
                </a:solidFill>
              </a:endParaRPr>
            </a:p>
          </p:txBody>
        </p:sp>
        <p:sp>
          <p:nvSpPr>
            <p:cNvPr id="8" name="TextBox 7">
              <a:extLst>
                <a:ext uri="{FF2B5EF4-FFF2-40B4-BE49-F238E27FC236}">
                  <a16:creationId xmlns:a16="http://schemas.microsoft.com/office/drawing/2014/main" id="{D4BB86B5-FE4F-CF05-EF39-B63A6FA42910}"/>
                </a:ext>
              </a:extLst>
            </p:cNvPr>
            <p:cNvSpPr txBox="1"/>
            <p:nvPr/>
          </p:nvSpPr>
          <p:spPr>
            <a:xfrm>
              <a:off x="7667294" y="6245750"/>
              <a:ext cx="4281578" cy="1015663"/>
            </a:xfrm>
            <a:prstGeom prst="rect">
              <a:avLst/>
            </a:prstGeom>
            <a:noFill/>
          </p:spPr>
          <p:txBody>
            <a:bodyPr wrap="square">
              <a:spAutoFit/>
            </a:bodyPr>
            <a:lstStyle/>
            <a:p>
              <a:r>
                <a:rPr lang="zh-CN" altLang="en-US" sz="1200" dirty="0">
                  <a:solidFill>
                    <a:schemeClr val="accent1"/>
                  </a:solidFill>
                  <a:latin typeface="ui-monospace"/>
                </a:rPr>
                <a:t>执行具体的算术运算、逻辑运算和逻辑测试，并返回结果</a:t>
              </a:r>
              <a:endParaRPr lang="en-US" altLang="zh-CN" sz="1200" dirty="0">
                <a:solidFill>
                  <a:schemeClr val="accent1"/>
                </a:solidFill>
                <a:latin typeface="ui-monospace"/>
              </a:endParaRPr>
            </a:p>
            <a:p>
              <a:r>
                <a:rPr lang="zh-CN" altLang="en-US" sz="1200" b="1" dirty="0">
                  <a:solidFill>
                    <a:schemeClr val="accent1"/>
                  </a:solidFill>
                  <a:latin typeface="ui-monospace"/>
                </a:rPr>
                <a:t>算术逻辑单元</a:t>
              </a:r>
              <a:r>
                <a:rPr lang="zh-CN" altLang="en-US" sz="1200" dirty="0">
                  <a:solidFill>
                    <a:schemeClr val="accent1"/>
                  </a:solidFill>
                  <a:latin typeface="ui-monospace"/>
                </a:rPr>
                <a:t> </a:t>
              </a:r>
              <a:r>
                <a:rPr lang="en-US" altLang="zh-CN" sz="1200" dirty="0">
                  <a:solidFill>
                    <a:schemeClr val="accent1"/>
                  </a:solidFill>
                  <a:latin typeface="ui-monospace"/>
                </a:rPr>
                <a:t>(ALU)</a:t>
              </a:r>
              <a:r>
                <a:rPr lang="zh-CN" altLang="en-US" sz="1200" dirty="0">
                  <a:solidFill>
                    <a:schemeClr val="accent1"/>
                  </a:solidFill>
                  <a:latin typeface="ui-monospace"/>
                </a:rPr>
                <a:t>：执行算术运算、逻辑运算</a:t>
              </a:r>
              <a:endParaRPr lang="en-US" altLang="zh-CN" sz="1200" dirty="0">
                <a:solidFill>
                  <a:schemeClr val="accent1"/>
                </a:solidFill>
                <a:latin typeface="ui-monospace"/>
              </a:endParaRPr>
            </a:p>
            <a:p>
              <a:r>
                <a:rPr lang="zh-CN" altLang="en-US" sz="1200" b="1" dirty="0">
                  <a:solidFill>
                    <a:schemeClr val="accent1"/>
                  </a:solidFill>
                  <a:latin typeface="ui-monospace"/>
                </a:rPr>
                <a:t>累加</a:t>
              </a:r>
              <a:r>
                <a:rPr lang="zh-CN" altLang="en-US" sz="1200" dirty="0">
                  <a:solidFill>
                    <a:schemeClr val="accent1"/>
                  </a:solidFill>
                  <a:latin typeface="ui-monospace"/>
                </a:rPr>
                <a:t>寄存器 </a:t>
              </a:r>
              <a:r>
                <a:rPr lang="en-US" altLang="zh-CN" sz="1200" dirty="0">
                  <a:solidFill>
                    <a:schemeClr val="accent1"/>
                  </a:solidFill>
                  <a:latin typeface="ui-monospace"/>
                </a:rPr>
                <a:t>(AC)</a:t>
              </a:r>
              <a:r>
                <a:rPr lang="zh-CN" altLang="en-US" sz="1200" dirty="0">
                  <a:solidFill>
                    <a:schemeClr val="accent1"/>
                  </a:solidFill>
                  <a:latin typeface="ui-monospace"/>
                </a:rPr>
                <a:t>：为</a:t>
              </a:r>
              <a:r>
                <a:rPr lang="en-US" altLang="zh-CN" sz="1200" dirty="0">
                  <a:solidFill>
                    <a:schemeClr val="accent1"/>
                  </a:solidFill>
                  <a:latin typeface="ui-monospace"/>
                </a:rPr>
                <a:t>ALU</a:t>
              </a:r>
              <a:r>
                <a:rPr lang="zh-CN" altLang="en-US" sz="1200" dirty="0">
                  <a:solidFill>
                    <a:schemeClr val="accent1"/>
                  </a:solidFill>
                  <a:latin typeface="ui-monospace"/>
                </a:rPr>
                <a:t>提供数据和暂存运算结果</a:t>
              </a:r>
              <a:endParaRPr lang="en-US" altLang="zh-CN" sz="1200" dirty="0">
                <a:solidFill>
                  <a:schemeClr val="accent1"/>
                </a:solidFill>
                <a:latin typeface="ui-monospace"/>
              </a:endParaRPr>
            </a:p>
            <a:p>
              <a:r>
                <a:rPr lang="zh-CN" altLang="en-US" sz="1200" dirty="0">
                  <a:solidFill>
                    <a:schemeClr val="accent1"/>
                  </a:solidFill>
                  <a:latin typeface="ui-monospace"/>
                </a:rPr>
                <a:t>数据</a:t>
              </a:r>
              <a:r>
                <a:rPr lang="zh-CN" altLang="en-US" sz="1200" b="1" dirty="0">
                  <a:solidFill>
                    <a:schemeClr val="accent1"/>
                  </a:solidFill>
                  <a:latin typeface="ui-monospace"/>
                </a:rPr>
                <a:t>缓冲</a:t>
              </a:r>
              <a:r>
                <a:rPr lang="zh-CN" altLang="en-US" sz="1200" dirty="0">
                  <a:solidFill>
                    <a:schemeClr val="accent1"/>
                  </a:solidFill>
                  <a:latin typeface="ui-monospace"/>
                </a:rPr>
                <a:t>寄存器 </a:t>
              </a:r>
              <a:r>
                <a:rPr lang="en-US" altLang="zh-CN" sz="1200" dirty="0">
                  <a:solidFill>
                    <a:schemeClr val="accent1"/>
                  </a:solidFill>
                  <a:latin typeface="ui-monospace"/>
                </a:rPr>
                <a:t>(DR)</a:t>
              </a:r>
              <a:r>
                <a:rPr lang="zh-CN" altLang="en-US" sz="1200" dirty="0">
                  <a:solidFill>
                    <a:schemeClr val="accent1"/>
                  </a:solidFill>
                  <a:latin typeface="ui-monospace"/>
                </a:rPr>
                <a:t>：</a:t>
              </a:r>
              <a:r>
                <a:rPr lang="en-US" altLang="zh-CN" sz="1200" dirty="0">
                  <a:solidFill>
                    <a:schemeClr val="accent1"/>
                  </a:solidFill>
                  <a:latin typeface="ui-monospace"/>
                </a:rPr>
                <a:t>CPU </a:t>
              </a:r>
              <a:r>
                <a:rPr lang="en-US" altLang="zh-CN" sz="1200" dirty="0">
                  <a:solidFill>
                    <a:schemeClr val="accent1"/>
                  </a:solidFill>
                  <a:latin typeface="ui-monospace"/>
                  <a:sym typeface="Wingdings" panose="05000000000000000000" pitchFamily="2" charset="2"/>
                </a:rPr>
                <a:t> </a:t>
              </a:r>
              <a:r>
                <a:rPr lang="zh-CN" altLang="en-US" sz="1200" dirty="0">
                  <a:solidFill>
                    <a:schemeClr val="accent1"/>
                  </a:solidFill>
                  <a:latin typeface="ui-monospace"/>
                  <a:sym typeface="Wingdings" panose="05000000000000000000" pitchFamily="2" charset="2"/>
                </a:rPr>
                <a:t>内存进行数据中转</a:t>
              </a:r>
              <a:endParaRPr lang="en-US" altLang="zh-CN" sz="1200" dirty="0">
                <a:solidFill>
                  <a:schemeClr val="accent1"/>
                </a:solidFill>
                <a:latin typeface="ui-monospace"/>
              </a:endParaRPr>
            </a:p>
            <a:p>
              <a:r>
                <a:rPr lang="zh-CN" altLang="en-US" sz="1200" b="1" dirty="0">
                  <a:solidFill>
                    <a:schemeClr val="accent1"/>
                  </a:solidFill>
                  <a:latin typeface="ui-monospace"/>
                </a:rPr>
                <a:t>状态</a:t>
              </a:r>
              <a:r>
                <a:rPr lang="zh-CN" altLang="en-US" sz="1200" dirty="0">
                  <a:solidFill>
                    <a:schemeClr val="accent1"/>
                  </a:solidFill>
                  <a:latin typeface="ui-monospace"/>
                </a:rPr>
                <a:t>条件寄存器 </a:t>
              </a:r>
              <a:r>
                <a:rPr lang="en-US" altLang="zh-CN" sz="1200" dirty="0">
                  <a:solidFill>
                    <a:schemeClr val="accent1"/>
                  </a:solidFill>
                  <a:latin typeface="ui-monospace"/>
                </a:rPr>
                <a:t>(PSW)</a:t>
              </a:r>
              <a:r>
                <a:rPr lang="zh-CN" altLang="en-US" sz="1200" dirty="0">
                  <a:solidFill>
                    <a:schemeClr val="accent1"/>
                  </a:solidFill>
                  <a:latin typeface="ui-monospace"/>
                </a:rPr>
                <a:t>：更新指令执行的状态标志和控制标志</a:t>
              </a:r>
              <a:endParaRPr lang="en-US" sz="1200" dirty="0">
                <a:solidFill>
                  <a:schemeClr val="accent1"/>
                </a:solidFill>
              </a:endParaRPr>
            </a:p>
          </p:txBody>
        </p:sp>
      </p:grpSp>
      <p:grpSp>
        <p:nvGrpSpPr>
          <p:cNvPr id="9" name="Group 8">
            <a:extLst>
              <a:ext uri="{FF2B5EF4-FFF2-40B4-BE49-F238E27FC236}">
                <a16:creationId xmlns:a16="http://schemas.microsoft.com/office/drawing/2014/main" id="{6CF38B61-B9B0-4326-F950-B55E26EE4081}"/>
              </a:ext>
            </a:extLst>
          </p:cNvPr>
          <p:cNvGrpSpPr/>
          <p:nvPr/>
        </p:nvGrpSpPr>
        <p:grpSpPr>
          <a:xfrm>
            <a:off x="3097889" y="3139060"/>
            <a:ext cx="4386653" cy="1495591"/>
            <a:chOff x="7614613" y="5950488"/>
            <a:chExt cx="4386653" cy="1495591"/>
          </a:xfrm>
        </p:grpSpPr>
        <p:sp>
          <p:nvSpPr>
            <p:cNvPr id="10" name="Rectangle: Rounded Corners 9">
              <a:extLst>
                <a:ext uri="{FF2B5EF4-FFF2-40B4-BE49-F238E27FC236}">
                  <a16:creationId xmlns:a16="http://schemas.microsoft.com/office/drawing/2014/main" id="{D73FE7B3-A759-855C-E669-7222DBAD8854}"/>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▶控制器单元 </a:t>
              </a:r>
              <a:r>
                <a:rPr lang="en-US" altLang="zh-CN" sz="1200" dirty="0">
                  <a:solidFill>
                    <a:schemeClr val="bg1"/>
                  </a:solidFill>
                  <a:latin typeface="ui-monospace"/>
                </a:rPr>
                <a:t>CU</a:t>
              </a:r>
              <a:endParaRPr lang="en-US" sz="1200" dirty="0">
                <a:solidFill>
                  <a:schemeClr val="bg1"/>
                </a:solidFill>
              </a:endParaRPr>
            </a:p>
          </p:txBody>
        </p:sp>
        <p:sp>
          <p:nvSpPr>
            <p:cNvPr id="17" name="TextBox 16">
              <a:extLst>
                <a:ext uri="{FF2B5EF4-FFF2-40B4-BE49-F238E27FC236}">
                  <a16:creationId xmlns:a16="http://schemas.microsoft.com/office/drawing/2014/main" id="{348EEAD7-13D4-DA10-112B-3A35E0789E1C}"/>
                </a:ext>
              </a:extLst>
            </p:cNvPr>
            <p:cNvSpPr txBox="1"/>
            <p:nvPr/>
          </p:nvSpPr>
          <p:spPr>
            <a:xfrm>
              <a:off x="7667294" y="6245750"/>
              <a:ext cx="4281578" cy="1200329"/>
            </a:xfrm>
            <a:prstGeom prst="rect">
              <a:avLst/>
            </a:prstGeom>
            <a:noFill/>
          </p:spPr>
          <p:txBody>
            <a:bodyPr wrap="square">
              <a:spAutoFit/>
            </a:bodyPr>
            <a:lstStyle/>
            <a:p>
              <a:r>
                <a:rPr lang="zh-CN" altLang="en-US" sz="1200" dirty="0">
                  <a:solidFill>
                    <a:schemeClr val="accent1"/>
                  </a:solidFill>
                  <a:latin typeface="ui-monospace"/>
                </a:rPr>
                <a:t>生成控制信号，保证程序指令有序正确的执行并处理异常事件，实现自动化和稳定性</a:t>
              </a:r>
              <a:endParaRPr lang="en-US" altLang="zh-CN" sz="1200" dirty="0">
                <a:solidFill>
                  <a:schemeClr val="accent1"/>
                </a:solidFill>
                <a:latin typeface="ui-monospace"/>
              </a:endParaRPr>
            </a:p>
            <a:p>
              <a:r>
                <a:rPr lang="zh-CN" altLang="en-US" sz="1200" b="1" dirty="0">
                  <a:solidFill>
                    <a:schemeClr val="accent1"/>
                  </a:solidFill>
                  <a:latin typeface="ui-monospace"/>
                </a:rPr>
                <a:t>程序计数器 </a:t>
              </a:r>
              <a:r>
                <a:rPr lang="en-US" altLang="zh-CN" sz="1200" dirty="0">
                  <a:solidFill>
                    <a:schemeClr val="accent1"/>
                  </a:solidFill>
                  <a:latin typeface="ui-monospace"/>
                </a:rPr>
                <a:t>(PC)</a:t>
              </a:r>
              <a:r>
                <a:rPr lang="zh-CN" altLang="en-US" sz="1200" dirty="0">
                  <a:solidFill>
                    <a:schemeClr val="accent1"/>
                  </a:solidFill>
                  <a:latin typeface="ui-monospace"/>
                </a:rPr>
                <a:t>：存储指令地址和指令计数。</a:t>
              </a:r>
              <a:endParaRPr lang="en-US" altLang="zh-CN" sz="1200" dirty="0">
                <a:solidFill>
                  <a:schemeClr val="accent1"/>
                </a:solidFill>
                <a:latin typeface="ui-monospace"/>
              </a:endParaRPr>
            </a:p>
            <a:p>
              <a:r>
                <a:rPr lang="zh-CN" altLang="en-US" sz="1200" dirty="0">
                  <a:solidFill>
                    <a:schemeClr val="accent1"/>
                  </a:solidFill>
                  <a:latin typeface="ui-monospace"/>
                </a:rPr>
                <a:t>指令寄存器 </a:t>
              </a:r>
              <a:r>
                <a:rPr lang="en-US" altLang="zh-CN" sz="1200" dirty="0">
                  <a:solidFill>
                    <a:schemeClr val="accent1"/>
                  </a:solidFill>
                  <a:latin typeface="ui-monospace"/>
                </a:rPr>
                <a:t>(IR)</a:t>
              </a:r>
              <a:r>
                <a:rPr lang="zh-CN" altLang="en-US" sz="1200" dirty="0">
                  <a:solidFill>
                    <a:schemeClr val="accent1"/>
                  </a:solidFill>
                  <a:latin typeface="ui-monospace"/>
                </a:rPr>
                <a:t>：内存</a:t>
              </a:r>
              <a:r>
                <a:rPr lang="en-US" altLang="zh-CN" sz="1200" dirty="0">
                  <a:solidFill>
                    <a:schemeClr val="accent1"/>
                  </a:solidFill>
                  <a:latin typeface="ui-monospace"/>
                </a:rPr>
                <a:t>&gt;DR&gt;IR</a:t>
              </a:r>
              <a:r>
                <a:rPr lang="zh-CN" altLang="en-US" sz="1200" dirty="0">
                  <a:solidFill>
                    <a:schemeClr val="accent1"/>
                  </a:solidFill>
                  <a:latin typeface="ui-monospace"/>
                </a:rPr>
                <a:t>暂存执行的指令</a:t>
              </a:r>
              <a:r>
                <a:rPr lang="en-US" altLang="zh-CN" sz="1200" dirty="0">
                  <a:solidFill>
                    <a:schemeClr val="accent1"/>
                  </a:solidFill>
                  <a:latin typeface="ui-monospace"/>
                </a:rPr>
                <a:t>(</a:t>
              </a:r>
              <a:r>
                <a:rPr lang="zh-CN" altLang="en-US" sz="1200" dirty="0">
                  <a:solidFill>
                    <a:schemeClr val="accent1"/>
                  </a:solidFill>
                  <a:latin typeface="ui-monospace"/>
                </a:rPr>
                <a:t>操作码</a:t>
              </a:r>
              <a:r>
                <a:rPr lang="en-US" altLang="zh-CN" sz="1200" dirty="0">
                  <a:solidFill>
                    <a:schemeClr val="accent1"/>
                  </a:solidFill>
                  <a:latin typeface="ui-monospace"/>
                </a:rPr>
                <a:t>/</a:t>
              </a:r>
              <a:r>
                <a:rPr lang="zh-CN" altLang="en-US" sz="1200" dirty="0">
                  <a:solidFill>
                    <a:schemeClr val="accent1"/>
                  </a:solidFill>
                  <a:latin typeface="ui-monospace"/>
                </a:rPr>
                <a:t>地址码</a:t>
              </a:r>
              <a:r>
                <a:rPr lang="en-US" altLang="zh-CN" sz="1200" dirty="0">
                  <a:solidFill>
                    <a:schemeClr val="accent1"/>
                  </a:solidFill>
                  <a:latin typeface="ui-monospace"/>
                </a:rPr>
                <a:t>)</a:t>
              </a:r>
            </a:p>
            <a:p>
              <a:r>
                <a:rPr lang="zh-CN" altLang="en-US" sz="1200" dirty="0">
                  <a:solidFill>
                    <a:schemeClr val="accent1"/>
                  </a:solidFill>
                  <a:latin typeface="ui-monospace"/>
                </a:rPr>
                <a:t>指令</a:t>
              </a:r>
              <a:r>
                <a:rPr lang="zh-CN" altLang="en-US" sz="1200" b="1" dirty="0">
                  <a:solidFill>
                    <a:schemeClr val="accent1"/>
                  </a:solidFill>
                  <a:latin typeface="ui-monospace"/>
                </a:rPr>
                <a:t>译码</a:t>
              </a:r>
              <a:r>
                <a:rPr lang="zh-CN" altLang="en-US" sz="1200" dirty="0">
                  <a:solidFill>
                    <a:schemeClr val="accent1"/>
                  </a:solidFill>
                  <a:latin typeface="ui-monospace"/>
                </a:rPr>
                <a:t>器 </a:t>
              </a:r>
              <a:r>
                <a:rPr lang="en-US" altLang="zh-CN" sz="1200" dirty="0">
                  <a:solidFill>
                    <a:schemeClr val="accent1"/>
                  </a:solidFill>
                  <a:latin typeface="ui-monospace"/>
                </a:rPr>
                <a:t>(ID)</a:t>
              </a:r>
              <a:r>
                <a:rPr lang="zh-CN" altLang="en-US" sz="1200" dirty="0">
                  <a:solidFill>
                    <a:schemeClr val="accent1"/>
                  </a:solidFill>
                  <a:latin typeface="ui-monospace"/>
                </a:rPr>
                <a:t>：分析指令的操作码和操作数，确定操作类型</a:t>
              </a:r>
              <a:endParaRPr lang="en-US" altLang="zh-CN" sz="1200" dirty="0">
                <a:solidFill>
                  <a:schemeClr val="accent1"/>
                </a:solidFill>
                <a:latin typeface="ui-monospace"/>
              </a:endParaRPr>
            </a:p>
            <a:p>
              <a:r>
                <a:rPr lang="zh-CN" altLang="en-US" sz="1200" dirty="0">
                  <a:solidFill>
                    <a:schemeClr val="accent1"/>
                  </a:solidFill>
                  <a:latin typeface="ui-monospace"/>
                </a:rPr>
                <a:t>地址寄存器 </a:t>
              </a:r>
              <a:r>
                <a:rPr lang="en-US" altLang="zh-CN" sz="1200" dirty="0">
                  <a:solidFill>
                    <a:schemeClr val="accent1"/>
                  </a:solidFill>
                  <a:latin typeface="ui-monospace"/>
                </a:rPr>
                <a:t>(AR)</a:t>
              </a:r>
              <a:r>
                <a:rPr lang="zh-CN" altLang="en-US" sz="1200" dirty="0">
                  <a:solidFill>
                    <a:schemeClr val="accent1"/>
                  </a:solidFill>
                  <a:latin typeface="ui-monospace"/>
                </a:rPr>
                <a:t>：保存访问的内存单元的地址</a:t>
              </a:r>
              <a:endParaRPr lang="en-US" altLang="zh-CN" sz="1200" dirty="0">
                <a:solidFill>
                  <a:schemeClr val="accent1"/>
                </a:solidFill>
                <a:latin typeface="ui-monospace"/>
              </a:endParaRPr>
            </a:p>
          </p:txBody>
        </p:sp>
      </p:grpSp>
      <p:sp>
        <p:nvSpPr>
          <p:cNvPr id="18" name="TextBox 17">
            <a:extLst>
              <a:ext uri="{FF2B5EF4-FFF2-40B4-BE49-F238E27FC236}">
                <a16:creationId xmlns:a16="http://schemas.microsoft.com/office/drawing/2014/main" id="{A182C21F-D487-C6B6-7BBD-083FB0587508}"/>
              </a:ext>
            </a:extLst>
          </p:cNvPr>
          <p:cNvSpPr txBox="1"/>
          <p:nvPr/>
        </p:nvSpPr>
        <p:spPr>
          <a:xfrm>
            <a:off x="6885631" y="31470"/>
            <a:ext cx="623889" cy="307777"/>
          </a:xfrm>
          <a:prstGeom prst="rect">
            <a:avLst/>
          </a:prstGeom>
          <a:noFill/>
        </p:spPr>
        <p:txBody>
          <a:bodyPr wrap="none" rtlCol="0">
            <a:spAutoFit/>
          </a:bodyPr>
          <a:lstStyle/>
          <a:p>
            <a:r>
              <a:rPr lang="en-US" altLang="zh-CN" sz="1400" dirty="0">
                <a:solidFill>
                  <a:schemeClr val="bg1"/>
                </a:solidFill>
                <a:hlinkClick r:id="rId3"/>
              </a:rPr>
              <a:t>&gt;&gt;link</a:t>
            </a:r>
            <a:endParaRPr lang="en-US" sz="1400" dirty="0">
              <a:solidFill>
                <a:schemeClr val="bg1"/>
              </a:solidFill>
            </a:endParaRPr>
          </a:p>
        </p:txBody>
      </p:sp>
      <p:grpSp>
        <p:nvGrpSpPr>
          <p:cNvPr id="19" name="Group 18">
            <a:extLst>
              <a:ext uri="{FF2B5EF4-FFF2-40B4-BE49-F238E27FC236}">
                <a16:creationId xmlns:a16="http://schemas.microsoft.com/office/drawing/2014/main" id="{A7B49C89-E50D-F8E4-E1F4-8B41B2F9AB13}"/>
              </a:ext>
            </a:extLst>
          </p:cNvPr>
          <p:cNvGrpSpPr/>
          <p:nvPr/>
        </p:nvGrpSpPr>
        <p:grpSpPr>
          <a:xfrm>
            <a:off x="7692846" y="34122"/>
            <a:ext cx="4386653" cy="941593"/>
            <a:chOff x="7614613" y="5950488"/>
            <a:chExt cx="4386653" cy="941593"/>
          </a:xfrm>
        </p:grpSpPr>
        <p:sp>
          <p:nvSpPr>
            <p:cNvPr id="20" name="Rectangle: Rounded Corners 19">
              <a:extLst>
                <a:ext uri="{FF2B5EF4-FFF2-40B4-BE49-F238E27FC236}">
                  <a16:creationId xmlns:a16="http://schemas.microsoft.com/office/drawing/2014/main" id="{69008BF0-25A7-3850-A044-8A723D6C4625}"/>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▶基本单位 进制</a:t>
              </a:r>
              <a:endParaRPr lang="en-US" sz="1200" dirty="0">
                <a:solidFill>
                  <a:schemeClr val="bg1"/>
                </a:solidFill>
              </a:endParaRPr>
            </a:p>
          </p:txBody>
        </p:sp>
        <p:sp>
          <p:nvSpPr>
            <p:cNvPr id="21" name="TextBox 20">
              <a:extLst>
                <a:ext uri="{FF2B5EF4-FFF2-40B4-BE49-F238E27FC236}">
                  <a16:creationId xmlns:a16="http://schemas.microsoft.com/office/drawing/2014/main" id="{060B3D2C-DAA3-1D27-49CB-8F9CD18EDD00}"/>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位</a:t>
              </a:r>
              <a:r>
                <a:rPr lang="en-US" altLang="zh-CN" sz="1200" dirty="0">
                  <a:solidFill>
                    <a:schemeClr val="accent1"/>
                  </a:solidFill>
                  <a:latin typeface="ui-monospace"/>
                </a:rPr>
                <a:t>(</a:t>
              </a:r>
              <a:r>
                <a:rPr lang="zh-CN" altLang="en-US" sz="1200" dirty="0">
                  <a:solidFill>
                    <a:schemeClr val="accent1"/>
                  </a:solidFill>
                  <a:latin typeface="ui-monospace"/>
                </a:rPr>
                <a:t>比特</a:t>
              </a:r>
              <a:r>
                <a:rPr lang="en-US" altLang="zh-CN" sz="1200" dirty="0">
                  <a:solidFill>
                    <a:schemeClr val="accent1"/>
                  </a:solidFill>
                  <a:latin typeface="ui-monospace"/>
                </a:rPr>
                <a:t>)bit/b </a:t>
              </a:r>
              <a:r>
                <a:rPr lang="zh-CN" altLang="en-US" sz="1200" dirty="0">
                  <a:solidFill>
                    <a:schemeClr val="accent1"/>
                  </a:solidFill>
                  <a:latin typeface="ui-monospace"/>
                </a:rPr>
                <a:t>字节</a:t>
              </a:r>
              <a:r>
                <a:rPr lang="en-US" altLang="zh-CN" sz="1200" dirty="0">
                  <a:solidFill>
                    <a:schemeClr val="accent1"/>
                  </a:solidFill>
                  <a:latin typeface="ui-monospace"/>
                </a:rPr>
                <a:t>byte/B = 8b 1024B=KB/MB/GB/TB</a:t>
              </a:r>
            </a:p>
            <a:p>
              <a:r>
                <a:rPr lang="zh-CN" altLang="en-US" sz="1200" dirty="0">
                  <a:solidFill>
                    <a:schemeClr val="accent1"/>
                  </a:solidFill>
                  <a:latin typeface="ui-monospace"/>
                </a:rPr>
                <a:t>十</a:t>
              </a:r>
              <a:r>
                <a:rPr lang="en-US" altLang="zh-CN" sz="1200" dirty="0">
                  <a:solidFill>
                    <a:schemeClr val="accent1"/>
                  </a:solidFill>
                  <a:latin typeface="ui-monospace"/>
                </a:rPr>
                <a:t>D(0-9) </a:t>
              </a:r>
              <a:r>
                <a:rPr lang="zh-CN" altLang="en-US" sz="1200" dirty="0">
                  <a:solidFill>
                    <a:schemeClr val="accent1"/>
                  </a:solidFill>
                  <a:latin typeface="ui-monospace"/>
                </a:rPr>
                <a:t>二</a:t>
              </a:r>
              <a:r>
                <a:rPr lang="en-US" altLang="zh-CN" sz="1200" dirty="0">
                  <a:solidFill>
                    <a:schemeClr val="accent1"/>
                  </a:solidFill>
                  <a:latin typeface="ui-monospace"/>
                </a:rPr>
                <a:t>B(0,1) </a:t>
              </a:r>
              <a:r>
                <a:rPr lang="zh-CN" altLang="en-US" sz="1200" dirty="0">
                  <a:solidFill>
                    <a:schemeClr val="accent1"/>
                  </a:solidFill>
                  <a:latin typeface="ui-monospace"/>
                </a:rPr>
                <a:t>八</a:t>
              </a:r>
              <a:r>
                <a:rPr lang="en-US" altLang="zh-CN" sz="1200" dirty="0">
                  <a:solidFill>
                    <a:schemeClr val="accent1"/>
                  </a:solidFill>
                  <a:latin typeface="ui-monospace"/>
                </a:rPr>
                <a:t>O(0-7) </a:t>
              </a:r>
              <a:r>
                <a:rPr lang="zh-CN" altLang="en-US" sz="1200" dirty="0">
                  <a:solidFill>
                    <a:schemeClr val="accent1"/>
                  </a:solidFill>
                  <a:latin typeface="ui-monospace"/>
                </a:rPr>
                <a:t>十六</a:t>
              </a:r>
              <a:r>
                <a:rPr lang="en-US" altLang="zh-CN" sz="1200" dirty="0">
                  <a:solidFill>
                    <a:schemeClr val="accent1"/>
                  </a:solidFill>
                  <a:latin typeface="ui-monospace"/>
                </a:rPr>
                <a:t>H(0-F)</a:t>
              </a:r>
            </a:p>
            <a:p>
              <a:r>
                <a:rPr lang="zh-CN" altLang="en-US" sz="1200" dirty="0">
                  <a:solidFill>
                    <a:schemeClr val="accent1"/>
                  </a:solidFill>
                  <a:latin typeface="ui-monospace"/>
                </a:rPr>
                <a:t>整数：按权展开求和</a:t>
              </a:r>
              <a:r>
                <a:rPr lang="en-US" altLang="zh-CN" sz="1200" dirty="0">
                  <a:solidFill>
                    <a:schemeClr val="accent1"/>
                  </a:solidFill>
                  <a:latin typeface="ui-monospace"/>
                </a:rPr>
                <a:t>/</a:t>
              </a:r>
              <a:r>
                <a:rPr lang="zh-CN" altLang="en-US" sz="1200" dirty="0">
                  <a:solidFill>
                    <a:schemeClr val="accent1"/>
                  </a:solidFill>
                  <a:latin typeface="ui-monospace"/>
                </a:rPr>
                <a:t>整除取余 小数：相乘取整</a:t>
              </a:r>
              <a:endParaRPr lang="en-US" altLang="zh-CN" sz="1200" dirty="0">
                <a:solidFill>
                  <a:schemeClr val="accent1"/>
                </a:solidFill>
                <a:latin typeface="ui-monospace"/>
              </a:endParaRPr>
            </a:p>
          </p:txBody>
        </p:sp>
      </p:grpSp>
      <p:pic>
        <p:nvPicPr>
          <p:cNvPr id="2272" name="Picture 2271">
            <a:extLst>
              <a:ext uri="{FF2B5EF4-FFF2-40B4-BE49-F238E27FC236}">
                <a16:creationId xmlns:a16="http://schemas.microsoft.com/office/drawing/2014/main" id="{9F4CC9A2-79B0-0970-AB62-BD87CDE456E3}"/>
              </a:ext>
            </a:extLst>
          </p:cNvPr>
          <p:cNvPicPr>
            <a:picLocks noChangeAspect="1"/>
          </p:cNvPicPr>
          <p:nvPr/>
        </p:nvPicPr>
        <p:blipFill>
          <a:blip r:embed="rId4"/>
          <a:stretch>
            <a:fillRect/>
          </a:stretch>
        </p:blipFill>
        <p:spPr>
          <a:xfrm>
            <a:off x="11130164" y="273983"/>
            <a:ext cx="952043" cy="836643"/>
          </a:xfrm>
          <a:prstGeom prst="rect">
            <a:avLst/>
          </a:prstGeom>
        </p:spPr>
      </p:pic>
      <p:sp>
        <p:nvSpPr>
          <p:cNvPr id="25" name="TextBox 24">
            <a:extLst>
              <a:ext uri="{FF2B5EF4-FFF2-40B4-BE49-F238E27FC236}">
                <a16:creationId xmlns:a16="http://schemas.microsoft.com/office/drawing/2014/main" id="{FCE853DE-1C84-10BF-3F61-DAA2599D1F07}"/>
              </a:ext>
            </a:extLst>
          </p:cNvPr>
          <p:cNvSpPr txBox="1"/>
          <p:nvPr/>
        </p:nvSpPr>
        <p:spPr>
          <a:xfrm>
            <a:off x="6246736" y="4970956"/>
            <a:ext cx="1207382" cy="830997"/>
          </a:xfrm>
          <a:prstGeom prst="rect">
            <a:avLst/>
          </a:prstGeom>
          <a:noFill/>
        </p:spPr>
        <p:txBody>
          <a:bodyPr wrap="none" rtlCol="0">
            <a:spAutoFit/>
          </a:bodyPr>
          <a:lstStyle/>
          <a:p>
            <a:r>
              <a:rPr lang="en-US" sz="1200" dirty="0"/>
              <a:t>-45 = 1 0101101</a:t>
            </a:r>
          </a:p>
          <a:p>
            <a:r>
              <a:rPr lang="en-US" sz="1200" dirty="0"/>
              <a:t>       = 1 1010010</a:t>
            </a:r>
          </a:p>
          <a:p>
            <a:r>
              <a:rPr lang="en-US" sz="1200" dirty="0"/>
              <a:t>       = 1 1010011</a:t>
            </a:r>
          </a:p>
          <a:p>
            <a:r>
              <a:rPr lang="en-US" sz="1200" dirty="0"/>
              <a:t>       = 0 1010011</a:t>
            </a:r>
          </a:p>
        </p:txBody>
      </p:sp>
      <p:pic>
        <p:nvPicPr>
          <p:cNvPr id="27" name="Picture 26">
            <a:extLst>
              <a:ext uri="{FF2B5EF4-FFF2-40B4-BE49-F238E27FC236}">
                <a16:creationId xmlns:a16="http://schemas.microsoft.com/office/drawing/2014/main" id="{EF7B465D-11EA-B47E-5036-90884BEDCE9F}"/>
              </a:ext>
            </a:extLst>
          </p:cNvPr>
          <p:cNvPicPr>
            <a:picLocks noChangeAspect="1"/>
          </p:cNvPicPr>
          <p:nvPr/>
        </p:nvPicPr>
        <p:blipFill>
          <a:blip r:embed="rId5"/>
          <a:srcRect t="3307"/>
          <a:stretch/>
        </p:blipFill>
        <p:spPr>
          <a:xfrm>
            <a:off x="3224634" y="5776339"/>
            <a:ext cx="4161097" cy="991120"/>
          </a:xfrm>
          <a:prstGeom prst="rect">
            <a:avLst/>
          </a:prstGeom>
        </p:spPr>
      </p:pic>
      <p:grpSp>
        <p:nvGrpSpPr>
          <p:cNvPr id="26" name="Group 25">
            <a:extLst>
              <a:ext uri="{FF2B5EF4-FFF2-40B4-BE49-F238E27FC236}">
                <a16:creationId xmlns:a16="http://schemas.microsoft.com/office/drawing/2014/main" id="{4943B5AA-D9C9-5057-9130-37EC1721E6D6}"/>
              </a:ext>
            </a:extLst>
          </p:cNvPr>
          <p:cNvGrpSpPr/>
          <p:nvPr/>
        </p:nvGrpSpPr>
        <p:grpSpPr>
          <a:xfrm>
            <a:off x="7698093" y="981440"/>
            <a:ext cx="4386653" cy="1310925"/>
            <a:chOff x="7614613" y="5950488"/>
            <a:chExt cx="4386653" cy="1310925"/>
          </a:xfrm>
        </p:grpSpPr>
        <p:sp>
          <p:nvSpPr>
            <p:cNvPr id="28" name="Rectangle: Rounded Corners 27">
              <a:extLst>
                <a:ext uri="{FF2B5EF4-FFF2-40B4-BE49-F238E27FC236}">
                  <a16:creationId xmlns:a16="http://schemas.microsoft.com/office/drawing/2014/main" id="{92FB2561-6B86-4059-7063-AD4B0A8964D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▶浮点数</a:t>
              </a:r>
              <a:endParaRPr lang="en-US" altLang="zh-CN" sz="1200" dirty="0">
                <a:solidFill>
                  <a:schemeClr val="bg1"/>
                </a:solidFill>
                <a:latin typeface="ui-monospace"/>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6A34CD3-A0EF-4DBA-F0E0-159063842FE5}"/>
                    </a:ext>
                  </a:extLst>
                </p:cNvPr>
                <p:cNvSpPr txBox="1"/>
                <p:nvPr/>
              </p:nvSpPr>
              <p:spPr>
                <a:xfrm>
                  <a:off x="7667294" y="6245750"/>
                  <a:ext cx="4281578" cy="1015663"/>
                </a:xfrm>
                <a:prstGeom prst="rect">
                  <a:avLst/>
                </a:prstGeom>
                <a:noFill/>
              </p:spPr>
              <p:txBody>
                <a:bodyPr wrap="square">
                  <a:spAutoFit/>
                </a:bodyPr>
                <a:lstStyle/>
                <a:p>
                  <a:r>
                    <a:rPr lang="zh-CN" altLang="en-US" sz="1200" dirty="0">
                      <a:solidFill>
                        <a:schemeClr val="accent1"/>
                      </a:solidFill>
                      <a:latin typeface="ui-monospace"/>
                    </a:rPr>
                    <a:t>用 </a:t>
                  </a:r>
                  <a:r>
                    <a:rPr lang="en-US" altLang="zh-CN" sz="1200" b="1" dirty="0">
                      <a:solidFill>
                        <a:schemeClr val="accent1"/>
                      </a:solidFill>
                      <a:latin typeface="ui-monospace"/>
                    </a:rPr>
                    <a:t>[</a:t>
                  </a:r>
                  <a:r>
                    <a:rPr lang="zh-CN" altLang="en-US" sz="1200" b="1" dirty="0">
                      <a:solidFill>
                        <a:schemeClr val="accent1"/>
                      </a:solidFill>
                      <a:latin typeface="ui-monospace"/>
                    </a:rPr>
                    <a:t>阶符</a:t>
                  </a:r>
                  <a:r>
                    <a:rPr lang="en-US" altLang="zh-CN" sz="1200" b="1" dirty="0">
                      <a:solidFill>
                        <a:schemeClr val="accent1"/>
                      </a:solidFill>
                      <a:latin typeface="ui-monospace"/>
                    </a:rPr>
                    <a:t>+</a:t>
                  </a:r>
                  <a:r>
                    <a:rPr lang="zh-CN" altLang="en-US" sz="1200" b="1" dirty="0">
                      <a:solidFill>
                        <a:schemeClr val="accent1"/>
                      </a:solidFill>
                      <a:latin typeface="ui-monospace"/>
                    </a:rPr>
                    <a:t>阶码</a:t>
                  </a:r>
                  <a:r>
                    <a:rPr lang="en-US" altLang="zh-CN" sz="1200" b="1" dirty="0">
                      <a:solidFill>
                        <a:schemeClr val="accent1"/>
                      </a:solidFill>
                      <a:latin typeface="ui-monospace"/>
                    </a:rPr>
                    <a:t>] + [</a:t>
                  </a:r>
                  <a:r>
                    <a:rPr lang="zh-CN" altLang="en-US" sz="1200" b="1" dirty="0">
                      <a:solidFill>
                        <a:schemeClr val="accent1"/>
                      </a:solidFill>
                      <a:latin typeface="ui-monospace"/>
                    </a:rPr>
                    <a:t>数符</a:t>
                  </a:r>
                  <a:r>
                    <a:rPr lang="en-US" altLang="zh-CN" sz="1200" b="1" dirty="0">
                      <a:solidFill>
                        <a:schemeClr val="accent1"/>
                      </a:solidFill>
                      <a:latin typeface="ui-monospace"/>
                    </a:rPr>
                    <a:t>+</a:t>
                  </a:r>
                  <a:r>
                    <a:rPr lang="zh-CN" altLang="en-US" sz="1200" b="1" dirty="0">
                      <a:solidFill>
                        <a:schemeClr val="accent1"/>
                      </a:solidFill>
                      <a:latin typeface="ui-monospace"/>
                    </a:rPr>
                    <a:t>尾数</a:t>
                  </a:r>
                  <a:r>
                    <a:rPr lang="en-US" altLang="zh-CN" sz="1200" b="1" dirty="0">
                      <a:solidFill>
                        <a:schemeClr val="accent1"/>
                      </a:solidFill>
                      <a:latin typeface="ui-monospace"/>
                    </a:rPr>
                    <a:t>]</a:t>
                  </a:r>
                  <a:r>
                    <a:rPr lang="zh-CN" altLang="en-US" sz="1200" dirty="0">
                      <a:solidFill>
                        <a:schemeClr val="accent1"/>
                      </a:solidFill>
                      <a:latin typeface="ui-monospace"/>
                    </a:rPr>
                    <a:t> 表示 </a:t>
                  </a:r>
                  <a14:m>
                    <m:oMath xmlns:m="http://schemas.openxmlformats.org/officeDocument/2006/math">
                      <m:r>
                        <m:rPr>
                          <m:sty m:val="p"/>
                        </m:rPr>
                        <a:rPr lang="en-US" altLang="zh-CN" sz="1200" b="0" i="0" smtClean="0">
                          <a:solidFill>
                            <a:schemeClr val="accent1"/>
                          </a:solidFill>
                          <a:latin typeface="Cambria Math" panose="02040503050406030204" pitchFamily="18" charset="0"/>
                        </a:rPr>
                        <m:t>N</m:t>
                      </m:r>
                      <m:r>
                        <a:rPr lang="en-US" altLang="zh-CN" sz="1200" i="1" smtClean="0">
                          <a:solidFill>
                            <a:schemeClr val="accent1"/>
                          </a:solidFill>
                          <a:latin typeface="Cambria Math" panose="02040503050406030204" pitchFamily="18" charset="0"/>
                        </a:rPr>
                        <m:t>=</m:t>
                      </m:r>
                      <m:sSup>
                        <m:sSupPr>
                          <m:ctrlPr>
                            <a:rPr lang="en-US" altLang="zh-CN" sz="1200" i="1" smtClean="0">
                              <a:solidFill>
                                <a:schemeClr val="accent1"/>
                              </a:solidFill>
                              <a:latin typeface="Cambria Math" panose="02040503050406030204" pitchFamily="18" charset="0"/>
                            </a:rPr>
                          </m:ctrlPr>
                        </m:sSupPr>
                        <m:e>
                          <m:r>
                            <a:rPr lang="en-US" altLang="zh-CN" sz="1200" b="0" i="1" smtClean="0">
                              <a:solidFill>
                                <a:schemeClr val="accent1"/>
                              </a:solidFill>
                              <a:latin typeface="Cambria Math" panose="02040503050406030204" pitchFamily="18" charset="0"/>
                            </a:rPr>
                            <m:t>2</m:t>
                          </m:r>
                        </m:e>
                        <m:sup>
                          <m:r>
                            <a:rPr lang="en-US" altLang="zh-CN" sz="1200" b="0" i="1" smtClean="0">
                              <a:solidFill>
                                <a:schemeClr val="accent1"/>
                              </a:solidFill>
                              <a:latin typeface="Cambria Math" panose="02040503050406030204" pitchFamily="18" charset="0"/>
                            </a:rPr>
                            <m:t>𝐸</m:t>
                          </m:r>
                        </m:sup>
                      </m:sSup>
                      <m:r>
                        <a:rPr lang="en-US" altLang="zh-CN" sz="1200" b="0" i="1" smtClean="0">
                          <a:solidFill>
                            <a:schemeClr val="accent1"/>
                          </a:solidFill>
                          <a:latin typeface="Cambria Math" panose="02040503050406030204" pitchFamily="18" charset="0"/>
                        </a:rPr>
                        <m:t>∗</m:t>
                      </m:r>
                      <m:r>
                        <a:rPr lang="en-US" altLang="zh-CN" sz="1200" b="0" i="1" smtClean="0">
                          <a:solidFill>
                            <a:schemeClr val="accent1"/>
                          </a:solidFill>
                          <a:latin typeface="Cambria Math" panose="02040503050406030204" pitchFamily="18" charset="0"/>
                        </a:rPr>
                        <m:t>𝐹</m:t>
                      </m:r>
                    </m:oMath>
                  </a14:m>
                  <a:endParaRPr lang="en-US" altLang="zh-CN" sz="1200" dirty="0">
                    <a:solidFill>
                      <a:schemeClr val="accent1"/>
                    </a:solidFill>
                    <a:latin typeface="ui-monospace"/>
                  </a:endParaRPr>
                </a:p>
                <a:p>
                  <a:r>
                    <a:rPr lang="zh-CN" altLang="en-US" sz="1200" dirty="0">
                      <a:solidFill>
                        <a:schemeClr val="accent1"/>
                      </a:solidFill>
                      <a:latin typeface="ui-monospace"/>
                    </a:rPr>
                    <a:t>阶码决定数值范围，尾数决定精度</a:t>
                  </a:r>
                  <a:endParaRPr lang="en-US" sz="1200" dirty="0">
                    <a:solidFill>
                      <a:schemeClr val="accent1"/>
                    </a:solidFill>
                    <a:latin typeface="ui-monospace"/>
                  </a:endParaRPr>
                </a:p>
                <a:p>
                  <a:r>
                    <a:rPr lang="zh-CN" altLang="en-US" sz="1200" dirty="0">
                      <a:solidFill>
                        <a:schemeClr val="accent1"/>
                      </a:solidFill>
                      <a:latin typeface="ui-monospace"/>
                    </a:rPr>
                    <a:t>运算时先</a:t>
                  </a:r>
                  <a:r>
                    <a:rPr lang="zh-CN" altLang="en-US" sz="1200" b="1" dirty="0">
                      <a:solidFill>
                        <a:schemeClr val="accent1"/>
                      </a:solidFill>
                      <a:latin typeface="ui-monospace"/>
                    </a:rPr>
                    <a:t>对阶</a:t>
                  </a:r>
                  <a:r>
                    <a:rPr lang="zh-CN" altLang="en-US" sz="1200" dirty="0">
                      <a:solidFill>
                        <a:schemeClr val="accent1"/>
                      </a:solidFill>
                      <a:latin typeface="ui-monospace"/>
                    </a:rPr>
                    <a:t>：统一阶码，小阶向大阶对齐，尾数右移</a:t>
                  </a:r>
                  <a:endParaRPr lang="en-US" altLang="zh-CN" sz="1200" dirty="0">
                    <a:solidFill>
                      <a:schemeClr val="accent1"/>
                    </a:solidFill>
                    <a:latin typeface="ui-monospace"/>
                  </a:endParaRPr>
                </a:p>
                <a:p>
                  <a:r>
                    <a:rPr lang="zh-CN" altLang="en-US" sz="1200" dirty="0">
                      <a:solidFill>
                        <a:schemeClr val="accent1"/>
                      </a:solidFill>
                      <a:latin typeface="ui-monospace"/>
                    </a:rPr>
                    <a:t>规格化：其绝对值区间为 </a:t>
                  </a:r>
                  <a:r>
                    <a:rPr lang="en-US" altLang="zh-CN" sz="1200" dirty="0">
                      <a:solidFill>
                        <a:schemeClr val="accent1"/>
                      </a:solidFill>
                      <a:latin typeface="ui-monospace"/>
                    </a:rPr>
                    <a:t>[0.5,1]</a:t>
                  </a:r>
                  <a:r>
                    <a:rPr lang="zh-CN" altLang="en-US" sz="1200" dirty="0">
                      <a:solidFill>
                        <a:schemeClr val="accent1"/>
                      </a:solidFill>
                      <a:latin typeface="ui-monospace"/>
                    </a:rPr>
                    <a:t>，</a:t>
                  </a:r>
                  <a:r>
                    <a:rPr lang="en-US" altLang="zh-CN" sz="1200" dirty="0">
                      <a:solidFill>
                        <a:schemeClr val="accent1"/>
                      </a:solidFill>
                      <a:latin typeface="ui-monospace"/>
                    </a:rPr>
                    <a:t>IEEE 754</a:t>
                  </a:r>
                </a:p>
                <a:p>
                  <a:r>
                    <a:rPr lang="en-US" altLang="zh-CN" sz="1200" dirty="0">
                      <a:solidFill>
                        <a:schemeClr val="accent1"/>
                      </a:solidFill>
                      <a:latin typeface="ui-monospace"/>
                    </a:rPr>
                    <a:t>R</a:t>
                  </a:r>
                  <a:r>
                    <a:rPr lang="zh-CN" altLang="en-US" sz="1200" dirty="0">
                      <a:solidFill>
                        <a:schemeClr val="accent1"/>
                      </a:solidFill>
                      <a:latin typeface="ui-monospace"/>
                    </a:rPr>
                    <a:t>位阶码移码</a:t>
                  </a:r>
                  <a:r>
                    <a:rPr lang="en-US" altLang="zh-CN" sz="1200" dirty="0">
                      <a:solidFill>
                        <a:schemeClr val="accent1"/>
                      </a:solidFill>
                      <a:latin typeface="ui-monospace"/>
                    </a:rPr>
                    <a:t>+M</a:t>
                  </a:r>
                  <a:r>
                    <a:rPr lang="zh-CN" altLang="en-US" sz="1200" dirty="0">
                      <a:solidFill>
                        <a:schemeClr val="accent1"/>
                      </a:solidFill>
                      <a:latin typeface="ui-monospace"/>
                    </a:rPr>
                    <a:t>位尾数补码 可表示范围</a:t>
                  </a:r>
                  <a:r>
                    <a:rPr lang="en-US" altLang="zh-CN" sz="1200" dirty="0">
                      <a:solidFill>
                        <a:schemeClr val="accent1"/>
                      </a:solidFill>
                      <a:latin typeface="ui-monospace"/>
                    </a:rPr>
                    <a:t>:</a:t>
                  </a:r>
                  <a:endParaRPr lang="en-US" altLang="zh-CN" sz="1200" baseline="30000" dirty="0">
                    <a:solidFill>
                      <a:schemeClr val="accent1"/>
                    </a:solidFill>
                    <a:latin typeface="ui-monospace"/>
                  </a:endParaRPr>
                </a:p>
              </p:txBody>
            </p:sp>
          </mc:Choice>
          <mc:Fallback xmlns="">
            <p:sp>
              <p:nvSpPr>
                <p:cNvPr id="29" name="TextBox 28">
                  <a:extLst>
                    <a:ext uri="{FF2B5EF4-FFF2-40B4-BE49-F238E27FC236}">
                      <a16:creationId xmlns:a16="http://schemas.microsoft.com/office/drawing/2014/main" id="{C6A34CD3-A0EF-4DBA-F0E0-159063842FE5}"/>
                    </a:ext>
                  </a:extLst>
                </p:cNvPr>
                <p:cNvSpPr txBox="1">
                  <a:spLocks noRot="1" noChangeAspect="1" noMove="1" noResize="1" noEditPoints="1" noAdjustHandles="1" noChangeArrowheads="1" noChangeShapeType="1" noTextEdit="1"/>
                </p:cNvSpPr>
                <p:nvPr/>
              </p:nvSpPr>
              <p:spPr>
                <a:xfrm>
                  <a:off x="7667294" y="6245750"/>
                  <a:ext cx="4281578" cy="1015663"/>
                </a:xfrm>
                <a:prstGeom prst="rect">
                  <a:avLst/>
                </a:prstGeom>
                <a:blipFill>
                  <a:blip r:embed="rId6"/>
                  <a:stretch>
                    <a:fillRect b="-359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959144-B2A5-49A8-7A0B-B92D1EC8C81A}"/>
                  </a:ext>
                </a:extLst>
              </p:cNvPr>
              <p:cNvSpPr txBox="1"/>
              <p:nvPr/>
            </p:nvSpPr>
            <p:spPr>
              <a:xfrm>
                <a:off x="9054791" y="2164987"/>
                <a:ext cx="3096104" cy="343940"/>
              </a:xfrm>
              <a:prstGeom prst="rect">
                <a:avLst/>
              </a:prstGeom>
              <a:noFill/>
            </p:spPr>
            <p:txBody>
              <a:bodyPr wrap="none" rtlCol="0">
                <a:spAutoFit/>
              </a:bodyPr>
              <a:lstStyle/>
              <a:p>
                <a14:m>
                  <m:oMath xmlns:m="http://schemas.openxmlformats.org/officeDocument/2006/math">
                    <m:sSup>
                      <m:sSupPr>
                        <m:ctrlPr>
                          <a:rPr lang="en-US" sz="1400" i="1" smtClean="0">
                            <a:solidFill>
                              <a:srgbClr val="4472C4"/>
                            </a:solidFill>
                            <a:latin typeface="Cambria Math" panose="02040503050406030204" pitchFamily="18" charset="0"/>
                          </a:rPr>
                        </m:ctrlPr>
                      </m:sSupPr>
                      <m:e>
                        <m:r>
                          <a:rPr lang="en-US" sz="1400" b="0" i="1" smtClean="0">
                            <a:solidFill>
                              <a:srgbClr val="4472C4"/>
                            </a:solidFill>
                            <a:latin typeface="Cambria Math" panose="02040503050406030204" pitchFamily="18" charset="0"/>
                          </a:rPr>
                          <m:t>−1∗2</m:t>
                        </m:r>
                      </m:e>
                      <m:sup>
                        <m:sSup>
                          <m:sSupPr>
                            <m:ctrlPr>
                              <a:rPr lang="en-US" sz="1400" i="1" smtClean="0">
                                <a:solidFill>
                                  <a:srgbClr val="4472C4"/>
                                </a:solidFill>
                                <a:latin typeface="Cambria Math" panose="02040503050406030204" pitchFamily="18" charset="0"/>
                              </a:rPr>
                            </m:ctrlPr>
                          </m:sSupPr>
                          <m:e>
                            <m:r>
                              <a:rPr lang="en-US" sz="1400" b="0" i="1" smtClean="0">
                                <a:solidFill>
                                  <a:srgbClr val="4472C4"/>
                                </a:solidFill>
                                <a:latin typeface="Cambria Math" panose="02040503050406030204" pitchFamily="18" charset="0"/>
                              </a:rPr>
                              <m:t>(2</m:t>
                            </m:r>
                          </m:e>
                          <m:sup>
                            <m:r>
                              <a:rPr lang="en-US" sz="1400" b="0" i="1" smtClean="0">
                                <a:solidFill>
                                  <a:srgbClr val="4472C4"/>
                                </a:solidFill>
                                <a:latin typeface="Cambria Math" panose="02040503050406030204" pitchFamily="18" charset="0"/>
                              </a:rPr>
                              <m:t>𝑅</m:t>
                            </m:r>
                            <m:r>
                              <a:rPr lang="en-US" sz="1400" b="0" i="1" smtClean="0">
                                <a:solidFill>
                                  <a:srgbClr val="4472C4"/>
                                </a:solidFill>
                                <a:latin typeface="Cambria Math" panose="02040503050406030204" pitchFamily="18" charset="0"/>
                              </a:rPr>
                              <m:t>−1</m:t>
                            </m:r>
                          </m:sup>
                        </m:sSup>
                        <m:r>
                          <a:rPr lang="en-US" sz="1400" b="0" i="1" smtClean="0">
                            <a:solidFill>
                              <a:srgbClr val="4472C4"/>
                            </a:solidFill>
                            <a:latin typeface="Cambria Math" panose="02040503050406030204" pitchFamily="18" charset="0"/>
                          </a:rPr>
                          <m:t>−1)</m:t>
                        </m:r>
                      </m:sup>
                    </m:sSup>
                  </m:oMath>
                </a14:m>
                <a:r>
                  <a:rPr lang="en-US" sz="1400" dirty="0">
                    <a:solidFill>
                      <a:srgbClr val="4472C4"/>
                    </a:solidFill>
                  </a:rPr>
                  <a:t>~(</a:t>
                </a:r>
                <a14:m>
                  <m:oMath xmlns:m="http://schemas.openxmlformats.org/officeDocument/2006/math">
                    <m:sSup>
                      <m:sSupPr>
                        <m:ctrlPr>
                          <a:rPr lang="en-US" sz="1400" i="1">
                            <a:solidFill>
                              <a:srgbClr val="4472C4"/>
                            </a:solidFill>
                            <a:latin typeface="Cambria Math" panose="02040503050406030204" pitchFamily="18" charset="0"/>
                          </a:rPr>
                        </m:ctrlPr>
                      </m:sSupPr>
                      <m:e>
                        <m:r>
                          <a:rPr lang="en-US" sz="1400" b="0" i="1" smtClean="0">
                            <a:solidFill>
                              <a:srgbClr val="4472C4"/>
                            </a:solidFill>
                            <a:latin typeface="Cambria Math" panose="02040503050406030204" pitchFamily="18" charset="0"/>
                          </a:rPr>
                          <m:t>1−</m:t>
                        </m:r>
                        <m:r>
                          <a:rPr lang="en-US" sz="1400" i="1">
                            <a:solidFill>
                              <a:srgbClr val="4472C4"/>
                            </a:solidFill>
                            <a:latin typeface="Cambria Math" panose="02040503050406030204" pitchFamily="18" charset="0"/>
                          </a:rPr>
                          <m:t>2</m:t>
                        </m:r>
                      </m:e>
                      <m:sup>
                        <m:r>
                          <a:rPr lang="en-US" sz="1400" b="0" i="1" smtClean="0">
                            <a:solidFill>
                              <a:srgbClr val="4472C4"/>
                            </a:solidFill>
                            <a:latin typeface="Cambria Math" panose="02040503050406030204" pitchFamily="18" charset="0"/>
                          </a:rPr>
                          <m:t>−</m:t>
                        </m:r>
                        <m:r>
                          <a:rPr lang="en-US" sz="1400" b="0" i="1" smtClean="0">
                            <a:solidFill>
                              <a:srgbClr val="4472C4"/>
                            </a:solidFill>
                            <a:latin typeface="Cambria Math" panose="02040503050406030204" pitchFamily="18" charset="0"/>
                          </a:rPr>
                          <m:t>𝑀</m:t>
                        </m:r>
                        <m:r>
                          <a:rPr lang="en-US" sz="1400" b="0" i="1" smtClean="0">
                            <a:solidFill>
                              <a:srgbClr val="4472C4"/>
                            </a:solidFill>
                            <a:latin typeface="Cambria Math" panose="02040503050406030204" pitchFamily="18" charset="0"/>
                          </a:rPr>
                          <m:t>+1</m:t>
                        </m:r>
                      </m:sup>
                    </m:sSup>
                  </m:oMath>
                </a14:m>
                <a:r>
                  <a:rPr lang="en-US" sz="1400" dirty="0">
                    <a:solidFill>
                      <a:srgbClr val="4472C4"/>
                    </a:solidFill>
                  </a:rPr>
                  <a:t>)* </a:t>
                </a:r>
                <a14:m>
                  <m:oMath xmlns:m="http://schemas.openxmlformats.org/officeDocument/2006/math">
                    <m:sSup>
                      <m:sSupPr>
                        <m:ctrlPr>
                          <a:rPr lang="en-US" sz="1400" i="1">
                            <a:solidFill>
                              <a:srgbClr val="4472C4"/>
                            </a:solidFill>
                            <a:latin typeface="Cambria Math" panose="02040503050406030204" pitchFamily="18" charset="0"/>
                          </a:rPr>
                        </m:ctrlPr>
                      </m:sSupPr>
                      <m:e>
                        <m:r>
                          <a:rPr lang="en-US" sz="1400" i="1">
                            <a:solidFill>
                              <a:srgbClr val="4472C4"/>
                            </a:solidFill>
                            <a:latin typeface="Cambria Math" panose="02040503050406030204" pitchFamily="18" charset="0"/>
                          </a:rPr>
                          <m:t>2</m:t>
                        </m:r>
                      </m:e>
                      <m:sup>
                        <m:sSup>
                          <m:sSupPr>
                            <m:ctrlPr>
                              <a:rPr lang="en-US" sz="1400" i="1">
                                <a:solidFill>
                                  <a:srgbClr val="4472C4"/>
                                </a:solidFill>
                                <a:latin typeface="Cambria Math" panose="02040503050406030204" pitchFamily="18" charset="0"/>
                              </a:rPr>
                            </m:ctrlPr>
                          </m:sSupPr>
                          <m:e>
                            <m:r>
                              <a:rPr lang="en-US" sz="1400" i="1">
                                <a:solidFill>
                                  <a:srgbClr val="4472C4"/>
                                </a:solidFill>
                                <a:latin typeface="Cambria Math" panose="02040503050406030204" pitchFamily="18" charset="0"/>
                              </a:rPr>
                              <m:t>(2</m:t>
                            </m:r>
                          </m:e>
                          <m:sup>
                            <m:r>
                              <a:rPr lang="en-US" sz="1400" i="1">
                                <a:solidFill>
                                  <a:srgbClr val="4472C4"/>
                                </a:solidFill>
                                <a:latin typeface="Cambria Math" panose="02040503050406030204" pitchFamily="18" charset="0"/>
                              </a:rPr>
                              <m:t>𝑅</m:t>
                            </m:r>
                            <m:r>
                              <a:rPr lang="en-US" sz="1400" i="1">
                                <a:solidFill>
                                  <a:srgbClr val="4472C4"/>
                                </a:solidFill>
                                <a:latin typeface="Cambria Math" panose="02040503050406030204" pitchFamily="18" charset="0"/>
                              </a:rPr>
                              <m:t>−1</m:t>
                            </m:r>
                          </m:sup>
                        </m:sSup>
                        <m:r>
                          <a:rPr lang="en-US" sz="1400" i="1">
                            <a:solidFill>
                              <a:srgbClr val="4472C4"/>
                            </a:solidFill>
                            <a:latin typeface="Cambria Math" panose="02040503050406030204" pitchFamily="18" charset="0"/>
                          </a:rPr>
                          <m:t>−1)</m:t>
                        </m:r>
                      </m:sup>
                    </m:sSup>
                  </m:oMath>
                </a14:m>
                <a:endParaRPr lang="en-US" sz="1400" dirty="0">
                  <a:solidFill>
                    <a:srgbClr val="4472C4"/>
                  </a:solidFill>
                </a:endParaRPr>
              </a:p>
            </p:txBody>
          </p:sp>
        </mc:Choice>
        <mc:Fallback xmlns="">
          <p:sp>
            <p:nvSpPr>
              <p:cNvPr id="30" name="TextBox 29">
                <a:extLst>
                  <a:ext uri="{FF2B5EF4-FFF2-40B4-BE49-F238E27FC236}">
                    <a16:creationId xmlns:a16="http://schemas.microsoft.com/office/drawing/2014/main" id="{F1959144-B2A5-49A8-7A0B-B92D1EC8C81A}"/>
                  </a:ext>
                </a:extLst>
              </p:cNvPr>
              <p:cNvSpPr txBox="1">
                <a:spLocks noRot="1" noChangeAspect="1" noMove="1" noResize="1" noEditPoints="1" noAdjustHandles="1" noChangeArrowheads="1" noChangeShapeType="1" noTextEdit="1"/>
              </p:cNvSpPr>
              <p:nvPr/>
            </p:nvSpPr>
            <p:spPr>
              <a:xfrm>
                <a:off x="9054791" y="2164987"/>
                <a:ext cx="3096104" cy="343940"/>
              </a:xfrm>
              <a:prstGeom prst="rect">
                <a:avLst/>
              </a:prstGeom>
              <a:blipFill>
                <a:blip r:embed="rId7"/>
                <a:stretch>
                  <a:fillRect b="-17544"/>
                </a:stretch>
              </a:blipFill>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30407ED4-6131-4EA9-B9A6-E2DDDD27F642}"/>
              </a:ext>
            </a:extLst>
          </p:cNvPr>
          <p:cNvGrpSpPr/>
          <p:nvPr/>
        </p:nvGrpSpPr>
        <p:grpSpPr>
          <a:xfrm>
            <a:off x="7698093" y="2461651"/>
            <a:ext cx="4386653" cy="1495591"/>
            <a:chOff x="7614613" y="5950488"/>
            <a:chExt cx="4386653" cy="1495591"/>
          </a:xfrm>
        </p:grpSpPr>
        <p:sp>
          <p:nvSpPr>
            <p:cNvPr id="33" name="Rectangle: Rounded Corners 32">
              <a:extLst>
                <a:ext uri="{FF2B5EF4-FFF2-40B4-BE49-F238E27FC236}">
                  <a16:creationId xmlns:a16="http://schemas.microsoft.com/office/drawing/2014/main" id="{A1CF8EC2-9731-4C1C-B3A7-4100EAE04938}"/>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▶操作数寻址</a:t>
              </a:r>
              <a:endParaRPr lang="en-US" altLang="zh-CN" sz="1200" dirty="0">
                <a:solidFill>
                  <a:schemeClr val="bg1"/>
                </a:solidFill>
                <a:latin typeface="ui-monospace"/>
              </a:endParaRPr>
            </a:p>
          </p:txBody>
        </p:sp>
        <p:sp>
          <p:nvSpPr>
            <p:cNvPr id="34" name="TextBox 33">
              <a:extLst>
                <a:ext uri="{FF2B5EF4-FFF2-40B4-BE49-F238E27FC236}">
                  <a16:creationId xmlns:a16="http://schemas.microsoft.com/office/drawing/2014/main" id="{340F9EF0-43C8-E81A-8FCD-411C407DC36D}"/>
                </a:ext>
              </a:extLst>
            </p:cNvPr>
            <p:cNvSpPr txBox="1"/>
            <p:nvPr/>
          </p:nvSpPr>
          <p:spPr>
            <a:xfrm>
              <a:off x="7667294" y="6245750"/>
              <a:ext cx="4281578" cy="1200329"/>
            </a:xfrm>
            <a:prstGeom prst="rect">
              <a:avLst/>
            </a:prstGeom>
            <a:noFill/>
          </p:spPr>
          <p:txBody>
            <a:bodyPr wrap="square">
              <a:spAutoFit/>
            </a:bodyPr>
            <a:lstStyle/>
            <a:p>
              <a:r>
                <a:rPr lang="zh-CN" altLang="en-US" sz="1200" dirty="0">
                  <a:solidFill>
                    <a:schemeClr val="accent1"/>
                  </a:solidFill>
                  <a:latin typeface="ui-monospace"/>
                </a:rPr>
                <a:t>立即寻址：指令中 </a:t>
              </a:r>
              <a:r>
                <a:rPr lang="en-US" altLang="zh-CN" sz="1200" dirty="0">
                  <a:solidFill>
                    <a:schemeClr val="accent1"/>
                  </a:solidFill>
                  <a:latin typeface="ui-monospace"/>
                </a:rPr>
                <a:t>1</a:t>
              </a:r>
              <a:endParaRPr lang="en-US" altLang="zh-CN" sz="1200" baseline="30000" dirty="0">
                <a:solidFill>
                  <a:schemeClr val="accent1"/>
                </a:solidFill>
                <a:latin typeface="ui-monospace"/>
              </a:endParaRPr>
            </a:p>
            <a:p>
              <a:r>
                <a:rPr lang="zh-CN" altLang="en-US" sz="1200" dirty="0">
                  <a:solidFill>
                    <a:schemeClr val="accent1"/>
                  </a:solidFill>
                  <a:latin typeface="ui-monospace"/>
                </a:rPr>
                <a:t>直接寻址：内存地址 </a:t>
              </a:r>
              <a:r>
                <a:rPr lang="en-US" altLang="zh-CN" sz="1200" dirty="0">
                  <a:solidFill>
                    <a:schemeClr val="accent1"/>
                  </a:solidFill>
                  <a:latin typeface="ui-monospace"/>
                </a:rPr>
                <a:t>3</a:t>
              </a:r>
            </a:p>
            <a:p>
              <a:r>
                <a:rPr lang="zh-CN" altLang="en-US" sz="1200" dirty="0">
                  <a:solidFill>
                    <a:schemeClr val="accent1"/>
                  </a:solidFill>
                  <a:latin typeface="ui-monospace"/>
                </a:rPr>
                <a:t>寄存器寻址：寄存器名 </a:t>
              </a:r>
              <a:r>
                <a:rPr lang="en-US" altLang="zh-CN" sz="1200" dirty="0">
                  <a:solidFill>
                    <a:schemeClr val="accent1"/>
                  </a:solidFill>
                  <a:latin typeface="ui-monospace"/>
                </a:rPr>
                <a:t>2</a:t>
              </a:r>
            </a:p>
            <a:p>
              <a:r>
                <a:rPr lang="zh-CN" altLang="en-US" sz="1200" dirty="0">
                  <a:solidFill>
                    <a:schemeClr val="accent1"/>
                  </a:solidFill>
                  <a:latin typeface="ui-monospace"/>
                </a:rPr>
                <a:t>寄存器间接寻址：内存地址在寄存器中 </a:t>
              </a:r>
              <a:r>
                <a:rPr lang="en-US" altLang="zh-CN" sz="1200" dirty="0">
                  <a:solidFill>
                    <a:schemeClr val="accent1"/>
                  </a:solidFill>
                  <a:latin typeface="ui-monospace"/>
                </a:rPr>
                <a:t>4</a:t>
              </a:r>
            </a:p>
            <a:p>
              <a:r>
                <a:rPr lang="zh-CN" altLang="en-US" sz="1200" dirty="0">
                  <a:solidFill>
                    <a:schemeClr val="accent1"/>
                  </a:solidFill>
                  <a:latin typeface="ui-monospace"/>
                </a:rPr>
                <a:t>间接寻址：地址的地址 </a:t>
              </a:r>
              <a:r>
                <a:rPr lang="en-US" altLang="zh-CN" sz="1200" dirty="0">
                  <a:solidFill>
                    <a:schemeClr val="accent1"/>
                  </a:solidFill>
                  <a:latin typeface="ui-monospace"/>
                </a:rPr>
                <a:t>5</a:t>
              </a:r>
            </a:p>
            <a:p>
              <a:r>
                <a:rPr lang="zh-CN" altLang="en-US" sz="1200" dirty="0">
                  <a:solidFill>
                    <a:schemeClr val="accent1"/>
                  </a:solidFill>
                  <a:latin typeface="ui-monospace"/>
                </a:rPr>
                <a:t>相对寻址</a:t>
              </a:r>
              <a:r>
                <a:rPr lang="en-US" altLang="zh-CN" sz="1200" dirty="0">
                  <a:solidFill>
                    <a:schemeClr val="accent1"/>
                  </a:solidFill>
                  <a:latin typeface="ui-monospace"/>
                </a:rPr>
                <a:t>/</a:t>
              </a:r>
              <a:r>
                <a:rPr lang="zh-CN" altLang="en-US" sz="1200" dirty="0">
                  <a:solidFill>
                    <a:schemeClr val="accent1"/>
                  </a:solidFill>
                  <a:latin typeface="ui-monospace"/>
                </a:rPr>
                <a:t>变址寻址</a:t>
              </a:r>
              <a:endParaRPr lang="en-US" altLang="zh-CN" sz="1200" dirty="0">
                <a:solidFill>
                  <a:schemeClr val="accent1"/>
                </a:solidFill>
                <a:latin typeface="ui-monospace"/>
              </a:endParaRPr>
            </a:p>
          </p:txBody>
        </p:sp>
      </p:grpSp>
      <p:grpSp>
        <p:nvGrpSpPr>
          <p:cNvPr id="36" name="Group 35">
            <a:extLst>
              <a:ext uri="{FF2B5EF4-FFF2-40B4-BE49-F238E27FC236}">
                <a16:creationId xmlns:a16="http://schemas.microsoft.com/office/drawing/2014/main" id="{CC6DE6CF-B7FA-5209-02C7-5D60C86F4D88}"/>
              </a:ext>
            </a:extLst>
          </p:cNvPr>
          <p:cNvGrpSpPr/>
          <p:nvPr/>
        </p:nvGrpSpPr>
        <p:grpSpPr>
          <a:xfrm>
            <a:off x="7698093" y="3906276"/>
            <a:ext cx="4386653" cy="1319197"/>
            <a:chOff x="7614613" y="5950488"/>
            <a:chExt cx="4386653" cy="1319197"/>
          </a:xfrm>
        </p:grpSpPr>
        <p:sp>
          <p:nvSpPr>
            <p:cNvPr id="37" name="Rectangle: Rounded Corners 36">
              <a:extLst>
                <a:ext uri="{FF2B5EF4-FFF2-40B4-BE49-F238E27FC236}">
                  <a16:creationId xmlns:a16="http://schemas.microsoft.com/office/drawing/2014/main" id="{96600D4B-FDE8-7C02-7409-4DD1C135BC51}"/>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▶校验码</a:t>
              </a:r>
              <a:endParaRPr lang="en-US" altLang="zh-CN" sz="1200" dirty="0">
                <a:solidFill>
                  <a:schemeClr val="bg1"/>
                </a:solidFill>
                <a:latin typeface="ui-monospace"/>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2C87B94-1888-AE02-823C-EBD04057F9EF}"/>
                    </a:ext>
                  </a:extLst>
                </p:cNvPr>
                <p:cNvSpPr txBox="1"/>
                <p:nvPr/>
              </p:nvSpPr>
              <p:spPr>
                <a:xfrm>
                  <a:off x="7667294" y="6245750"/>
                  <a:ext cx="4281578" cy="1023935"/>
                </a:xfrm>
                <a:prstGeom prst="rect">
                  <a:avLst/>
                </a:prstGeom>
                <a:noFill/>
              </p:spPr>
              <p:txBody>
                <a:bodyPr wrap="square">
                  <a:spAutoFit/>
                </a:bodyPr>
                <a:lstStyle/>
                <a:p>
                  <a:r>
                    <a:rPr lang="zh-CN" altLang="en-US" sz="1200" dirty="0">
                      <a:solidFill>
                        <a:schemeClr val="accent1"/>
                      </a:solidFill>
                      <a:latin typeface="ui-monospace"/>
                    </a:rPr>
                    <a:t>码距：两个编码之间至少有多少个二进制位不同</a:t>
                  </a:r>
                  <a:endParaRPr lang="en-US" altLang="zh-CN" sz="1200" dirty="0">
                    <a:solidFill>
                      <a:schemeClr val="accent1"/>
                    </a:solidFill>
                    <a:latin typeface="ui-monospace"/>
                  </a:endParaRPr>
                </a:p>
                <a:p>
                  <a:r>
                    <a:rPr lang="zh-CN" altLang="en-US" sz="1200" dirty="0">
                      <a:solidFill>
                        <a:schemeClr val="accent1"/>
                      </a:solidFill>
                      <a:latin typeface="ui-monospace"/>
                    </a:rPr>
                    <a:t>奇偶校验码：将编码中</a:t>
                  </a:r>
                  <a:r>
                    <a:rPr lang="en-US" altLang="zh-CN" sz="1200" b="1" dirty="0">
                      <a:solidFill>
                        <a:schemeClr val="accent1"/>
                      </a:solidFill>
                      <a:latin typeface="ui-monospace"/>
                    </a:rPr>
                    <a:t>1</a:t>
                  </a:r>
                  <a:r>
                    <a:rPr lang="zh-CN" altLang="en-US" sz="1200" b="1" dirty="0">
                      <a:solidFill>
                        <a:schemeClr val="accent1"/>
                      </a:solidFill>
                      <a:latin typeface="ui-monospace"/>
                    </a:rPr>
                    <a:t>的个数</a:t>
                  </a:r>
                  <a:r>
                    <a:rPr lang="zh-CN" altLang="en-US" sz="1200" dirty="0">
                      <a:solidFill>
                        <a:schemeClr val="accent1"/>
                      </a:solidFill>
                      <a:latin typeface="ui-monospace"/>
                    </a:rPr>
                    <a:t>变为奇数或偶数，可以检测 奇数个错误，码距</a:t>
                  </a:r>
                  <a:r>
                    <a:rPr lang="en-US" altLang="zh-CN" sz="1200" dirty="0">
                      <a:solidFill>
                        <a:schemeClr val="accent1"/>
                      </a:solidFill>
                      <a:latin typeface="ui-monospace"/>
                    </a:rPr>
                    <a:t>2</a:t>
                  </a:r>
                  <a:r>
                    <a:rPr lang="zh-CN" altLang="en-US" sz="1200" dirty="0">
                      <a:solidFill>
                        <a:schemeClr val="accent1"/>
                      </a:solidFill>
                      <a:latin typeface="ui-monospace"/>
                    </a:rPr>
                    <a:t>不能纠错</a:t>
                  </a:r>
                  <a:endParaRPr lang="en-US" altLang="zh-CN" sz="1200" dirty="0">
                    <a:solidFill>
                      <a:schemeClr val="accent1"/>
                    </a:solidFill>
                    <a:latin typeface="ui-monospace"/>
                  </a:endParaRPr>
                </a:p>
                <a:p>
                  <a:r>
                    <a:rPr lang="zh-CN" altLang="en-US" sz="1200" dirty="0">
                      <a:solidFill>
                        <a:schemeClr val="accent1"/>
                      </a:solidFill>
                      <a:latin typeface="ui-monospace"/>
                    </a:rPr>
                    <a:t>海明码：数据位之间的特定位置插入</a:t>
                  </a:r>
                  <a:r>
                    <a:rPr lang="en-US" altLang="zh-CN" sz="1200" dirty="0">
                      <a:solidFill>
                        <a:schemeClr val="accent1"/>
                      </a:solidFill>
                      <a:latin typeface="ui-monospace"/>
                    </a:rPr>
                    <a:t>k</a:t>
                  </a:r>
                  <a:r>
                    <a:rPr lang="zh-CN" altLang="en-US" sz="1200" dirty="0">
                      <a:solidFill>
                        <a:schemeClr val="accent1"/>
                      </a:solidFill>
                      <a:latin typeface="ui-monospace"/>
                    </a:rPr>
                    <a:t>个校验位</a:t>
                  </a:r>
                  <a14:m>
                    <m:oMath xmlns:m="http://schemas.openxmlformats.org/officeDocument/2006/math">
                      <m:sSup>
                        <m:sSupPr>
                          <m:ctrlPr>
                            <a:rPr lang="en-US" altLang="zh-CN" sz="1200" b="1" i="1">
                              <a:solidFill>
                                <a:schemeClr val="accent1"/>
                              </a:solidFill>
                              <a:latin typeface="Cambria Math" panose="02040503050406030204" pitchFamily="18" charset="0"/>
                            </a:rPr>
                          </m:ctrlPr>
                        </m:sSupPr>
                        <m:e>
                          <m:r>
                            <a:rPr lang="en-US" altLang="zh-CN" sz="1200" b="1" i="1" smtClean="0">
                              <a:solidFill>
                                <a:schemeClr val="accent1"/>
                              </a:solidFill>
                              <a:latin typeface="Cambria Math" panose="02040503050406030204" pitchFamily="18" charset="0"/>
                            </a:rPr>
                            <m:t> </m:t>
                          </m:r>
                          <m:r>
                            <a:rPr lang="en-US" altLang="zh-CN" sz="1200" b="1" i="1">
                              <a:solidFill>
                                <a:schemeClr val="accent1"/>
                              </a:solidFill>
                              <a:latin typeface="Cambria Math" panose="02040503050406030204" pitchFamily="18" charset="0"/>
                            </a:rPr>
                            <m:t>𝟐</m:t>
                          </m:r>
                        </m:e>
                        <m:sup>
                          <m:r>
                            <a:rPr lang="en-US" altLang="zh-CN" sz="1200" b="1" i="1">
                              <a:solidFill>
                                <a:schemeClr val="accent1"/>
                              </a:solidFill>
                              <a:latin typeface="Cambria Math" panose="02040503050406030204" pitchFamily="18" charset="0"/>
                            </a:rPr>
                            <m:t>𝒌</m:t>
                          </m:r>
                        </m:sup>
                      </m:sSup>
                    </m:oMath>
                  </a14:m>
                  <a:r>
                    <a:rPr lang="en-US" altLang="zh-CN" sz="1200" b="1" dirty="0">
                      <a:solidFill>
                        <a:schemeClr val="accent1"/>
                      </a:solidFill>
                      <a:latin typeface="ui-monospace"/>
                    </a:rPr>
                    <a:t>-1</a:t>
                  </a:r>
                  <a:r>
                    <a:rPr lang="zh-CN" altLang="en-US" sz="1200" b="1" dirty="0">
                      <a:solidFill>
                        <a:schemeClr val="accent1"/>
                      </a:solidFill>
                      <a:latin typeface="ui-monospace"/>
                    </a:rPr>
                    <a:t> </a:t>
                  </a:r>
                  <a14:m>
                    <m:oMath xmlns:m="http://schemas.openxmlformats.org/officeDocument/2006/math">
                      <m:r>
                        <a:rPr lang="en-US" altLang="zh-CN" sz="1200" b="1" i="1" smtClean="0">
                          <a:solidFill>
                            <a:schemeClr val="accent1"/>
                          </a:solidFill>
                          <a:latin typeface="Cambria Math" panose="02040503050406030204" pitchFamily="18" charset="0"/>
                          <a:ea typeface="Cambria Math" panose="02040503050406030204" pitchFamily="18" charset="0"/>
                        </a:rPr>
                        <m:t>≥</m:t>
                      </m:r>
                    </m:oMath>
                  </a14:m>
                  <a:r>
                    <a:rPr lang="en-US" altLang="zh-CN" sz="1200" b="1" dirty="0">
                      <a:solidFill>
                        <a:schemeClr val="accent1"/>
                      </a:solidFill>
                      <a:latin typeface="ui-monospace"/>
                    </a:rPr>
                    <a:t> </a:t>
                  </a:r>
                  <a:r>
                    <a:rPr lang="en-US" altLang="zh-CN" sz="1200" b="1" dirty="0" err="1">
                      <a:solidFill>
                        <a:schemeClr val="accent1"/>
                      </a:solidFill>
                      <a:latin typeface="ui-monospace"/>
                    </a:rPr>
                    <a:t>n+k</a:t>
                  </a:r>
                  <a:endParaRPr lang="en-US" altLang="zh-CN" sz="1200" b="1" dirty="0">
                    <a:solidFill>
                      <a:schemeClr val="accent1"/>
                    </a:solidFill>
                    <a:latin typeface="ui-monospace"/>
                  </a:endParaRPr>
                </a:p>
                <a:p>
                  <a:r>
                    <a:rPr lang="zh-CN" altLang="en-US" sz="1200" dirty="0">
                      <a:solidFill>
                        <a:schemeClr val="accent1"/>
                      </a:solidFill>
                      <a:latin typeface="ui-monospace"/>
                    </a:rPr>
                    <a:t>循环冗余校验码</a:t>
                  </a:r>
                  <a:r>
                    <a:rPr lang="en-US" altLang="zh-CN" sz="1200" dirty="0">
                      <a:solidFill>
                        <a:schemeClr val="accent1"/>
                      </a:solidFill>
                      <a:latin typeface="ui-monospace"/>
                    </a:rPr>
                    <a:t>CRC</a:t>
                  </a:r>
                  <a:r>
                    <a:rPr lang="zh-CN" altLang="en-US" sz="1200" dirty="0">
                      <a:solidFill>
                        <a:schemeClr val="accent1"/>
                      </a:solidFill>
                      <a:latin typeface="ui-monospace"/>
                    </a:rPr>
                    <a:t>：</a:t>
                  </a:r>
                  <a:r>
                    <a:rPr lang="zh-CN" altLang="en-US" sz="1200" b="1" dirty="0">
                      <a:solidFill>
                        <a:schemeClr val="accent1"/>
                      </a:solidFill>
                      <a:latin typeface="ui-monospace"/>
                    </a:rPr>
                    <a:t>模</a:t>
                  </a:r>
                  <a:r>
                    <a:rPr lang="en-US" altLang="zh-CN" sz="1200" b="1" dirty="0">
                      <a:solidFill>
                        <a:schemeClr val="accent1"/>
                      </a:solidFill>
                      <a:latin typeface="ui-monospace"/>
                    </a:rPr>
                    <a:t>2</a:t>
                  </a:r>
                  <a:r>
                    <a:rPr lang="zh-CN" altLang="en-US" sz="1200" b="1" dirty="0">
                      <a:solidFill>
                        <a:schemeClr val="accent1"/>
                      </a:solidFill>
                      <a:latin typeface="ui-monospace"/>
                    </a:rPr>
                    <a:t>运算</a:t>
                  </a:r>
                  <a:r>
                    <a:rPr lang="zh-CN" altLang="en-US" sz="1200" dirty="0">
                      <a:solidFill>
                        <a:schemeClr val="accent1"/>
                      </a:solidFill>
                      <a:latin typeface="ui-monospace"/>
                    </a:rPr>
                    <a:t> </a:t>
                  </a:r>
                  <a:r>
                    <a:rPr lang="en-US" altLang="zh-CN" sz="1200" dirty="0">
                      <a:solidFill>
                        <a:schemeClr val="accent1"/>
                      </a:solidFill>
                      <a:latin typeface="ui-monospace"/>
                    </a:rPr>
                    <a:t>k</a:t>
                  </a:r>
                  <a:r>
                    <a:rPr lang="zh-CN" altLang="en-US" sz="1200" dirty="0">
                      <a:solidFill>
                        <a:schemeClr val="accent1"/>
                      </a:solidFill>
                      <a:latin typeface="ui-monospace"/>
                    </a:rPr>
                    <a:t>位</a:t>
                  </a:r>
                  <a:r>
                    <a:rPr lang="en-US" altLang="zh-CN" sz="1200" dirty="0">
                      <a:solidFill>
                        <a:schemeClr val="accent1"/>
                      </a:solidFill>
                      <a:latin typeface="ui-monospace"/>
                    </a:rPr>
                    <a:t>+r</a:t>
                  </a:r>
                  <a:r>
                    <a:rPr lang="zh-CN" altLang="en-US" sz="1200" dirty="0">
                      <a:solidFill>
                        <a:schemeClr val="accent1"/>
                      </a:solidFill>
                      <a:latin typeface="ui-monospace"/>
                    </a:rPr>
                    <a:t>检验码，码距</a:t>
                  </a:r>
                  <a:r>
                    <a:rPr lang="en-US" altLang="zh-CN" sz="1200" dirty="0">
                      <a:solidFill>
                        <a:schemeClr val="accent1"/>
                      </a:solidFill>
                      <a:latin typeface="ui-monospace"/>
                    </a:rPr>
                    <a:t>2</a:t>
                  </a:r>
                  <a:r>
                    <a:rPr lang="zh-CN" altLang="en-US" sz="1200" dirty="0">
                      <a:solidFill>
                        <a:schemeClr val="accent1"/>
                      </a:solidFill>
                      <a:latin typeface="ui-monospace"/>
                    </a:rPr>
                    <a:t>不能纠错</a:t>
                  </a:r>
                  <a:endParaRPr lang="en-US" altLang="zh-CN" sz="1200" dirty="0">
                    <a:solidFill>
                      <a:schemeClr val="accent1"/>
                    </a:solidFill>
                    <a:latin typeface="ui-monospace"/>
                  </a:endParaRPr>
                </a:p>
              </p:txBody>
            </p:sp>
          </mc:Choice>
          <mc:Fallback xmlns="">
            <p:sp>
              <p:nvSpPr>
                <p:cNvPr id="38" name="TextBox 37">
                  <a:extLst>
                    <a:ext uri="{FF2B5EF4-FFF2-40B4-BE49-F238E27FC236}">
                      <a16:creationId xmlns:a16="http://schemas.microsoft.com/office/drawing/2014/main" id="{62C87B94-1888-AE02-823C-EBD04057F9EF}"/>
                    </a:ext>
                  </a:extLst>
                </p:cNvPr>
                <p:cNvSpPr txBox="1">
                  <a:spLocks noRot="1" noChangeAspect="1" noMove="1" noResize="1" noEditPoints="1" noAdjustHandles="1" noChangeArrowheads="1" noChangeShapeType="1" noTextEdit="1"/>
                </p:cNvSpPr>
                <p:nvPr/>
              </p:nvSpPr>
              <p:spPr>
                <a:xfrm>
                  <a:off x="7667294" y="6245750"/>
                  <a:ext cx="4281578" cy="1023935"/>
                </a:xfrm>
                <a:prstGeom prst="rect">
                  <a:avLst/>
                </a:prstGeom>
                <a:blipFill>
                  <a:blip r:embed="rId8"/>
                  <a:stretch>
                    <a:fillRect b="-3571"/>
                  </a:stretch>
                </a:blipFill>
              </p:spPr>
              <p:txBody>
                <a:bodyPr/>
                <a:lstStyle/>
                <a:p>
                  <a:r>
                    <a:rPr lang="en-US">
                      <a:noFill/>
                    </a:rPr>
                    <a:t> </a:t>
                  </a:r>
                </a:p>
              </p:txBody>
            </p:sp>
          </mc:Fallback>
        </mc:AlternateContent>
      </p:grpSp>
      <p:pic>
        <p:nvPicPr>
          <p:cNvPr id="39" name="Picture 38">
            <a:extLst>
              <a:ext uri="{FF2B5EF4-FFF2-40B4-BE49-F238E27FC236}">
                <a16:creationId xmlns:a16="http://schemas.microsoft.com/office/drawing/2014/main" id="{9C7A9244-9D75-4699-7F31-23124C70E0D4}"/>
              </a:ext>
            </a:extLst>
          </p:cNvPr>
          <p:cNvPicPr>
            <a:picLocks noChangeAspect="1"/>
          </p:cNvPicPr>
          <p:nvPr/>
        </p:nvPicPr>
        <p:blipFill>
          <a:blip r:embed="rId9"/>
          <a:stretch>
            <a:fillRect/>
          </a:stretch>
        </p:blipFill>
        <p:spPr>
          <a:xfrm>
            <a:off x="10942913" y="2830145"/>
            <a:ext cx="1037045" cy="828145"/>
          </a:xfrm>
          <a:prstGeom prst="rect">
            <a:avLst/>
          </a:prstGeom>
        </p:spPr>
      </p:pic>
      <p:grpSp>
        <p:nvGrpSpPr>
          <p:cNvPr id="40" name="Group 39">
            <a:extLst>
              <a:ext uri="{FF2B5EF4-FFF2-40B4-BE49-F238E27FC236}">
                <a16:creationId xmlns:a16="http://schemas.microsoft.com/office/drawing/2014/main" id="{73F69914-559F-9641-59AB-BD544F5D637C}"/>
              </a:ext>
            </a:extLst>
          </p:cNvPr>
          <p:cNvGrpSpPr/>
          <p:nvPr/>
        </p:nvGrpSpPr>
        <p:grpSpPr>
          <a:xfrm>
            <a:off x="3097889" y="4622036"/>
            <a:ext cx="4386653" cy="1126259"/>
            <a:chOff x="7614613" y="5950488"/>
            <a:chExt cx="4386653" cy="1126259"/>
          </a:xfrm>
        </p:grpSpPr>
        <p:sp>
          <p:nvSpPr>
            <p:cNvPr id="41" name="Rectangle: Rounded Corners 40">
              <a:extLst>
                <a:ext uri="{FF2B5EF4-FFF2-40B4-BE49-F238E27FC236}">
                  <a16:creationId xmlns:a16="http://schemas.microsoft.com/office/drawing/2014/main" id="{4329F132-82E7-7E16-85C6-2EA7E22156F8}"/>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▶数据表示</a:t>
              </a:r>
              <a:endParaRPr lang="en-US" altLang="zh-CN" sz="1200" dirty="0">
                <a:solidFill>
                  <a:schemeClr val="bg1"/>
                </a:solidFill>
                <a:latin typeface="ui-monospace"/>
              </a:endParaRPr>
            </a:p>
          </p:txBody>
        </p:sp>
        <p:sp>
          <p:nvSpPr>
            <p:cNvPr id="42" name="TextBox 41">
              <a:extLst>
                <a:ext uri="{FF2B5EF4-FFF2-40B4-BE49-F238E27FC236}">
                  <a16:creationId xmlns:a16="http://schemas.microsoft.com/office/drawing/2014/main" id="{60B06F5F-B43E-F1F2-502D-8303E5FD6E99}"/>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原码：最高位为符号位，</a:t>
              </a:r>
              <a:r>
                <a:rPr lang="en-US" altLang="zh-CN" sz="1200" dirty="0">
                  <a:solidFill>
                    <a:schemeClr val="accent1"/>
                  </a:solidFill>
                  <a:latin typeface="ui-monospace"/>
                </a:rPr>
                <a:t>0</a:t>
              </a:r>
              <a:r>
                <a:rPr lang="zh-CN" altLang="en-US" sz="1200" dirty="0">
                  <a:solidFill>
                    <a:schemeClr val="accent1"/>
                  </a:solidFill>
                  <a:latin typeface="ui-monospace"/>
                </a:rPr>
                <a:t>正</a:t>
              </a:r>
              <a:r>
                <a:rPr lang="en-US" altLang="zh-CN" sz="1200" dirty="0">
                  <a:solidFill>
                    <a:schemeClr val="accent1"/>
                  </a:solidFill>
                  <a:latin typeface="ui-monospace"/>
                </a:rPr>
                <a:t>1</a:t>
              </a:r>
              <a:r>
                <a:rPr lang="zh-CN" altLang="en-US" sz="1200" dirty="0">
                  <a:solidFill>
                    <a:schemeClr val="accent1"/>
                  </a:solidFill>
                  <a:latin typeface="ui-monospace"/>
                </a:rPr>
                <a:t>负</a:t>
              </a:r>
              <a:endParaRPr lang="en-US" altLang="zh-CN" sz="1200" dirty="0">
                <a:solidFill>
                  <a:schemeClr val="accent1"/>
                </a:solidFill>
                <a:latin typeface="ui-monospace"/>
              </a:endParaRPr>
            </a:p>
            <a:p>
              <a:r>
                <a:rPr lang="zh-CN" altLang="en-US" sz="1200" dirty="0">
                  <a:solidFill>
                    <a:schemeClr val="accent1"/>
                  </a:solidFill>
                  <a:latin typeface="ui-monospace"/>
                </a:rPr>
                <a:t>反码：正数相同，负数时绝对值</a:t>
              </a:r>
              <a:r>
                <a:rPr lang="zh-CN" altLang="en-US" sz="1200" b="1" dirty="0">
                  <a:solidFill>
                    <a:schemeClr val="accent1"/>
                  </a:solidFill>
                  <a:latin typeface="ui-monospace"/>
                </a:rPr>
                <a:t>按位求反</a:t>
              </a:r>
              <a:endParaRPr lang="en-US" altLang="zh-CN" sz="1200" b="1" dirty="0">
                <a:solidFill>
                  <a:schemeClr val="accent1"/>
                </a:solidFill>
                <a:latin typeface="ui-monospace"/>
              </a:endParaRPr>
            </a:p>
            <a:p>
              <a:r>
                <a:rPr lang="zh-CN" altLang="en-US" sz="1200" dirty="0">
                  <a:solidFill>
                    <a:schemeClr val="accent1"/>
                  </a:solidFill>
                  <a:latin typeface="ui-monospace"/>
                </a:rPr>
                <a:t>补码：正数相同负数时</a:t>
              </a:r>
              <a:r>
                <a:rPr lang="zh-CN" altLang="en-US" sz="1200" b="1" dirty="0">
                  <a:solidFill>
                    <a:schemeClr val="accent1"/>
                  </a:solidFill>
                  <a:latin typeface="ui-monospace"/>
                </a:rPr>
                <a:t>反码</a:t>
              </a:r>
              <a:r>
                <a:rPr lang="en-US" altLang="zh-CN" sz="1200" b="1" dirty="0">
                  <a:solidFill>
                    <a:schemeClr val="accent1"/>
                  </a:solidFill>
                  <a:latin typeface="ui-monospace"/>
                </a:rPr>
                <a:t>+1</a:t>
              </a:r>
            </a:p>
            <a:p>
              <a:r>
                <a:rPr lang="zh-CN" altLang="en-US" sz="1200" dirty="0">
                  <a:solidFill>
                    <a:schemeClr val="accent1"/>
                  </a:solidFill>
                  <a:latin typeface="ui-monospace"/>
                </a:rPr>
                <a:t>移码：补码符号位取反</a:t>
              </a:r>
              <a:endParaRPr lang="en-US" sz="1200" dirty="0">
                <a:solidFill>
                  <a:schemeClr val="accent1"/>
                </a:solidFill>
                <a:latin typeface="ui-monospace"/>
              </a:endParaRPr>
            </a:p>
          </p:txBody>
        </p:sp>
      </p:grpSp>
      <p:pic>
        <p:nvPicPr>
          <p:cNvPr id="14" name="Picture 13">
            <a:extLst>
              <a:ext uri="{FF2B5EF4-FFF2-40B4-BE49-F238E27FC236}">
                <a16:creationId xmlns:a16="http://schemas.microsoft.com/office/drawing/2014/main" id="{FBB2E212-95E8-0671-8742-B817063B4FFD}"/>
              </a:ext>
            </a:extLst>
          </p:cNvPr>
          <p:cNvPicPr>
            <a:picLocks noChangeAspect="1"/>
          </p:cNvPicPr>
          <p:nvPr/>
        </p:nvPicPr>
        <p:blipFill>
          <a:blip r:embed="rId10"/>
          <a:stretch>
            <a:fillRect/>
          </a:stretch>
        </p:blipFill>
        <p:spPr>
          <a:xfrm>
            <a:off x="5248540" y="435544"/>
            <a:ext cx="2322060" cy="1303612"/>
          </a:xfrm>
          <a:prstGeom prst="rect">
            <a:avLst/>
          </a:prstGeom>
        </p:spPr>
      </p:pic>
    </p:spTree>
    <p:extLst>
      <p:ext uri="{BB962C8B-B14F-4D97-AF65-F5344CB8AC3E}">
        <p14:creationId xmlns:p14="http://schemas.microsoft.com/office/powerpoint/2010/main" val="1974519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CA83C5-434B-C2BB-C03E-FEA77C2BBB11}"/>
              </a:ext>
            </a:extLst>
          </p:cNvPr>
          <p:cNvSpPr txBox="1"/>
          <p:nvPr/>
        </p:nvSpPr>
        <p:spPr>
          <a:xfrm>
            <a:off x="0" y="959472"/>
            <a:ext cx="2986206" cy="433965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计算机系统 </a:t>
            </a:r>
            <a:r>
              <a:rPr lang="en-US" altLang="zh-CN" sz="1200" b="1" dirty="0">
                <a:latin typeface="Arial" panose="020B0604020202020204" pitchFamily="34" charset="0"/>
                <a:ea typeface="Punctuation SC"/>
              </a:rPr>
              <a:t>(3-7)</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-CPU</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进制转换</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数据表示</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校验码</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存储系统</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输入输出技术</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计算机体系结构</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总线</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加密技术和认证技术</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F6E8EA44-BACD-2DF7-D1BB-48B659756CE3}"/>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A7CFB97A-E7E7-BB6E-4BA9-8E7CB22DC8F7}"/>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1" name="Group 10">
            <a:extLst>
              <a:ext uri="{FF2B5EF4-FFF2-40B4-BE49-F238E27FC236}">
                <a16:creationId xmlns:a16="http://schemas.microsoft.com/office/drawing/2014/main" id="{98BD0C93-DD89-25A7-1553-E3F85FE0D7B8}"/>
              </a:ext>
            </a:extLst>
          </p:cNvPr>
          <p:cNvGrpSpPr/>
          <p:nvPr/>
        </p:nvGrpSpPr>
        <p:grpSpPr>
          <a:xfrm>
            <a:off x="3119859" y="40595"/>
            <a:ext cx="4386653" cy="572261"/>
            <a:chOff x="7614613" y="5950488"/>
            <a:chExt cx="4386653" cy="572261"/>
          </a:xfrm>
        </p:grpSpPr>
        <p:sp>
          <p:nvSpPr>
            <p:cNvPr id="12" name="Rectangle: Rounded Corners 11">
              <a:extLst>
                <a:ext uri="{FF2B5EF4-FFF2-40B4-BE49-F238E27FC236}">
                  <a16:creationId xmlns:a16="http://schemas.microsoft.com/office/drawing/2014/main" id="{01574168-1441-BE9C-0656-1623F1FA4E3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▶指令系统</a:t>
              </a:r>
              <a:endParaRPr lang="en-US" sz="1200" dirty="0">
                <a:solidFill>
                  <a:schemeClr val="bg1"/>
                </a:solidFill>
              </a:endParaRPr>
            </a:p>
          </p:txBody>
        </p:sp>
        <p:sp>
          <p:nvSpPr>
            <p:cNvPr id="13" name="TextBox 12">
              <a:extLst>
                <a:ext uri="{FF2B5EF4-FFF2-40B4-BE49-F238E27FC236}">
                  <a16:creationId xmlns:a16="http://schemas.microsoft.com/office/drawing/2014/main" id="{99A4E7D9-2F45-730B-49F2-2D0574D0A953}"/>
                </a:ext>
              </a:extLst>
            </p:cNvPr>
            <p:cNvSpPr txBox="1"/>
            <p:nvPr/>
          </p:nvSpPr>
          <p:spPr>
            <a:xfrm>
              <a:off x="7667294" y="6245750"/>
              <a:ext cx="4281578" cy="276999"/>
            </a:xfrm>
            <a:prstGeom prst="rect">
              <a:avLst/>
            </a:prstGeom>
            <a:noFill/>
          </p:spPr>
          <p:txBody>
            <a:bodyPr wrap="square">
              <a:spAutoFit/>
            </a:bodyPr>
            <a:lstStyle/>
            <a:p>
              <a:endParaRPr lang="en-US" altLang="zh-CN" sz="1200" dirty="0">
                <a:solidFill>
                  <a:schemeClr val="accent1"/>
                </a:solidFill>
                <a:latin typeface="ui-monospace"/>
              </a:endParaRPr>
            </a:p>
          </p:txBody>
        </p:sp>
      </p:grpSp>
      <p:grpSp>
        <p:nvGrpSpPr>
          <p:cNvPr id="14" name="Group 13">
            <a:extLst>
              <a:ext uri="{FF2B5EF4-FFF2-40B4-BE49-F238E27FC236}">
                <a16:creationId xmlns:a16="http://schemas.microsoft.com/office/drawing/2014/main" id="{5B4E26C1-0201-23F8-2BCB-C5049651CA54}"/>
              </a:ext>
            </a:extLst>
          </p:cNvPr>
          <p:cNvGrpSpPr/>
          <p:nvPr/>
        </p:nvGrpSpPr>
        <p:grpSpPr>
          <a:xfrm>
            <a:off x="3117336" y="3966522"/>
            <a:ext cx="4386653" cy="1126259"/>
            <a:chOff x="7614613" y="5950488"/>
            <a:chExt cx="4386653" cy="1126259"/>
          </a:xfrm>
        </p:grpSpPr>
        <p:sp>
          <p:nvSpPr>
            <p:cNvPr id="15" name="Rectangle: Rounded Corners 14">
              <a:extLst>
                <a:ext uri="{FF2B5EF4-FFF2-40B4-BE49-F238E27FC236}">
                  <a16:creationId xmlns:a16="http://schemas.microsoft.com/office/drawing/2014/main" id="{C8F3528E-AC5F-DB44-EF32-EAA0A41FEA2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▶高速缓存 </a:t>
              </a:r>
              <a:r>
                <a:rPr lang="en-US" altLang="zh-CN" sz="1200" dirty="0">
                  <a:solidFill>
                    <a:schemeClr val="bg1"/>
                  </a:solidFill>
                  <a:latin typeface="ui-monospace"/>
                </a:rPr>
                <a:t>Cache</a:t>
              </a:r>
            </a:p>
          </p:txBody>
        </p:sp>
        <p:sp>
          <p:nvSpPr>
            <p:cNvPr id="16" name="TextBox 15">
              <a:extLst>
                <a:ext uri="{FF2B5EF4-FFF2-40B4-BE49-F238E27FC236}">
                  <a16:creationId xmlns:a16="http://schemas.microsoft.com/office/drawing/2014/main" id="{79FC3330-7375-B3A4-F904-B63F170EC04B}"/>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容量与命中率：在合理成本下提高命中率</a:t>
              </a:r>
              <a:endParaRPr lang="en-US" altLang="zh-CN" sz="1200" dirty="0">
                <a:solidFill>
                  <a:schemeClr val="accent1"/>
                </a:solidFill>
                <a:latin typeface="ui-monospace"/>
              </a:endParaRPr>
            </a:p>
            <a:p>
              <a:r>
                <a:rPr lang="zh-CN" altLang="en-US" sz="1200" dirty="0">
                  <a:solidFill>
                    <a:schemeClr val="accent1"/>
                  </a:solidFill>
                  <a:latin typeface="ui-monospace"/>
                </a:rPr>
                <a:t>替换算法：目的是提高命中率</a:t>
              </a:r>
              <a:endParaRPr lang="en-US" altLang="zh-CN" sz="1200" dirty="0">
                <a:solidFill>
                  <a:schemeClr val="accent1"/>
                </a:solidFill>
                <a:latin typeface="ui-monospace"/>
              </a:endParaRPr>
            </a:p>
            <a:p>
              <a:r>
                <a:rPr lang="zh-CN" altLang="en-US" sz="1200" dirty="0">
                  <a:solidFill>
                    <a:schemeClr val="accent1"/>
                  </a:solidFill>
                  <a:latin typeface="ui-monospace"/>
                </a:rPr>
                <a:t>地址映像：主存地址和</a:t>
              </a:r>
              <a:r>
                <a:rPr lang="en-US" altLang="zh-CN" sz="1200" dirty="0">
                  <a:solidFill>
                    <a:schemeClr val="accent1"/>
                  </a:solidFill>
                  <a:latin typeface="ui-monospace"/>
                </a:rPr>
                <a:t>Cache</a:t>
              </a:r>
              <a:r>
                <a:rPr lang="zh-CN" altLang="en-US" sz="1200" dirty="0">
                  <a:solidFill>
                    <a:schemeClr val="accent1"/>
                  </a:solidFill>
                  <a:latin typeface="ui-monospace"/>
                </a:rPr>
                <a:t>地址的转换，是由</a:t>
              </a:r>
              <a:r>
                <a:rPr lang="zh-CN" altLang="en-US" sz="1200" b="1" dirty="0">
                  <a:solidFill>
                    <a:schemeClr val="accent1"/>
                  </a:solidFill>
                  <a:latin typeface="ui-monospace"/>
                </a:rPr>
                <a:t>硬件</a:t>
              </a:r>
              <a:r>
                <a:rPr lang="zh-CN" altLang="en-US" sz="1200" dirty="0">
                  <a:solidFill>
                    <a:schemeClr val="accent1"/>
                  </a:solidFill>
                  <a:latin typeface="ui-monospace"/>
                </a:rPr>
                <a:t>自动完成</a:t>
              </a:r>
              <a:endParaRPr lang="en-US" altLang="zh-CN" sz="1200" dirty="0">
                <a:solidFill>
                  <a:schemeClr val="accent1"/>
                </a:solidFill>
                <a:latin typeface="ui-monospace"/>
              </a:endParaRPr>
            </a:p>
            <a:p>
              <a:r>
                <a:rPr lang="zh-CN" altLang="en-US" sz="1200" dirty="0">
                  <a:solidFill>
                    <a:schemeClr val="accent1"/>
                  </a:solidFill>
                  <a:latin typeface="ui-monospace"/>
                </a:rPr>
                <a:t>冲突次数：全相联映像</a:t>
              </a:r>
              <a:r>
                <a:rPr lang="en-US" altLang="zh-CN" sz="1200" dirty="0">
                  <a:solidFill>
                    <a:schemeClr val="accent1"/>
                  </a:solidFill>
                  <a:latin typeface="ui-monospace"/>
                </a:rPr>
                <a:t>&lt;</a:t>
              </a:r>
              <a:r>
                <a:rPr lang="zh-CN" altLang="en-US" sz="1200" dirty="0">
                  <a:solidFill>
                    <a:schemeClr val="accent1"/>
                  </a:solidFill>
                  <a:latin typeface="ui-monospace"/>
                </a:rPr>
                <a:t>组相联映像</a:t>
              </a:r>
              <a:r>
                <a:rPr lang="en-US" altLang="zh-CN" sz="1200" dirty="0">
                  <a:solidFill>
                    <a:schemeClr val="accent1"/>
                  </a:solidFill>
                  <a:latin typeface="ui-monospace"/>
                </a:rPr>
                <a:t>&lt;</a:t>
              </a:r>
              <a:r>
                <a:rPr lang="zh-CN" altLang="en-US" sz="1200" dirty="0">
                  <a:solidFill>
                    <a:schemeClr val="accent1"/>
                  </a:solidFill>
                  <a:latin typeface="ui-monospace"/>
                </a:rPr>
                <a:t>直接相连映像</a:t>
              </a:r>
              <a:endParaRPr lang="en-US" sz="1200" dirty="0">
                <a:solidFill>
                  <a:schemeClr val="accent1"/>
                </a:solidFill>
                <a:latin typeface="ui-monospace"/>
              </a:endParaRPr>
            </a:p>
          </p:txBody>
        </p:sp>
      </p:grpSp>
      <p:graphicFrame>
        <p:nvGraphicFramePr>
          <p:cNvPr id="31" name="Table 30">
            <a:extLst>
              <a:ext uri="{FF2B5EF4-FFF2-40B4-BE49-F238E27FC236}">
                <a16:creationId xmlns:a16="http://schemas.microsoft.com/office/drawing/2014/main" id="{A7998AFE-C30B-234C-3050-FDB48899B15C}"/>
              </a:ext>
            </a:extLst>
          </p:cNvPr>
          <p:cNvGraphicFramePr>
            <a:graphicFrameLocks noGrp="1"/>
          </p:cNvGraphicFramePr>
          <p:nvPr>
            <p:extLst>
              <p:ext uri="{D42A27DB-BD31-4B8C-83A1-F6EECF244321}">
                <p14:modId xmlns:p14="http://schemas.microsoft.com/office/powerpoint/2010/main" val="879036125"/>
              </p:ext>
            </p:extLst>
          </p:nvPr>
        </p:nvGraphicFramePr>
        <p:xfrm>
          <a:off x="3169874" y="376018"/>
          <a:ext cx="4281579" cy="2103120"/>
        </p:xfrm>
        <a:graphic>
          <a:graphicData uri="http://schemas.openxmlformats.org/drawingml/2006/table">
            <a:tbl>
              <a:tblPr firstRow="1" bandRow="1">
                <a:tableStyleId>{5C22544A-7EE6-4342-B048-85BDC9FD1C3A}</a:tableStyleId>
              </a:tblPr>
              <a:tblGrid>
                <a:gridCol w="1268776">
                  <a:extLst>
                    <a:ext uri="{9D8B030D-6E8A-4147-A177-3AD203B41FA5}">
                      <a16:colId xmlns:a16="http://schemas.microsoft.com/office/drawing/2014/main" val="4196207211"/>
                    </a:ext>
                  </a:extLst>
                </a:gridCol>
                <a:gridCol w="1585610">
                  <a:extLst>
                    <a:ext uri="{9D8B030D-6E8A-4147-A177-3AD203B41FA5}">
                      <a16:colId xmlns:a16="http://schemas.microsoft.com/office/drawing/2014/main" val="3523767036"/>
                    </a:ext>
                  </a:extLst>
                </a:gridCol>
                <a:gridCol w="1427193">
                  <a:extLst>
                    <a:ext uri="{9D8B030D-6E8A-4147-A177-3AD203B41FA5}">
                      <a16:colId xmlns:a16="http://schemas.microsoft.com/office/drawing/2014/main" val="2142024621"/>
                    </a:ext>
                  </a:extLst>
                </a:gridCol>
              </a:tblGrid>
              <a:tr h="204220">
                <a:tc>
                  <a:txBody>
                    <a:bodyPr/>
                    <a:lstStyle/>
                    <a:p>
                      <a:pPr algn="ct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RISC</a:t>
                      </a:r>
                    </a:p>
                    <a:p>
                      <a:pPr algn="ctr"/>
                      <a:r>
                        <a:rPr lang="zh-CN" altLang="en-US" sz="900" b="0" dirty="0">
                          <a:solidFill>
                            <a:schemeClr val="tx1"/>
                          </a:solidFill>
                        </a:rPr>
                        <a:t>精简指令集计算机</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CISC</a:t>
                      </a:r>
                    </a:p>
                    <a:p>
                      <a:pPr algn="ctr"/>
                      <a:r>
                        <a:rPr lang="zh-CN" altLang="en-US" sz="900" b="0" dirty="0">
                          <a:solidFill>
                            <a:schemeClr val="tx1"/>
                          </a:solidFill>
                        </a:rPr>
                        <a:t>复杂指令集计算机</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5607175"/>
                  </a:ext>
                </a:extLst>
              </a:tr>
              <a:tr h="204220">
                <a:tc>
                  <a:txBody>
                    <a:bodyPr/>
                    <a:lstStyle/>
                    <a:p>
                      <a:pPr algn="ctr"/>
                      <a:r>
                        <a:rPr lang="zh-CN" altLang="en-US" sz="900" b="0" dirty="0">
                          <a:solidFill>
                            <a:schemeClr val="tx1"/>
                          </a:solidFill>
                        </a:rPr>
                        <a:t>指令种类</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少、精简</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多、丰富</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0" dirty="0">
                          <a:solidFill>
                            <a:schemeClr val="tx1"/>
                          </a:solidFill>
                        </a:rPr>
                        <a:t>指令复杂度</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低、简单</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高、丰富</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zh-CN" altLang="en-US" sz="900" b="0" dirty="0">
                          <a:solidFill>
                            <a:schemeClr val="tx1"/>
                          </a:solidFill>
                        </a:rPr>
                        <a:t>指令长度</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固定</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变化</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7826130"/>
                  </a:ext>
                </a:extLst>
              </a:tr>
              <a:tr h="204220">
                <a:tc>
                  <a:txBody>
                    <a:bodyPr/>
                    <a:lstStyle/>
                    <a:p>
                      <a:pPr algn="ctr"/>
                      <a:r>
                        <a:rPr lang="zh-CN" altLang="en-US" sz="900" b="0" dirty="0">
                          <a:solidFill>
                            <a:schemeClr val="tx1"/>
                          </a:solidFill>
                        </a:rPr>
                        <a:t>寻址方式</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少</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复杂多样</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9753178"/>
                  </a:ext>
                </a:extLst>
              </a:tr>
              <a:tr h="204220">
                <a:tc>
                  <a:txBody>
                    <a:bodyPr/>
                    <a:lstStyle/>
                    <a:p>
                      <a:pPr algn="ctr"/>
                      <a:r>
                        <a:rPr lang="zh-CN" altLang="en-US" sz="900" b="0" dirty="0">
                          <a:solidFill>
                            <a:schemeClr val="tx1"/>
                          </a:solidFill>
                        </a:rPr>
                        <a:t>实现译码方式</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硬布线控制逻辑</a:t>
                      </a:r>
                      <a:endParaRPr lang="en-US" altLang="zh-CN" sz="900" b="0" dirty="0">
                        <a:solidFill>
                          <a:schemeClr val="tx1"/>
                        </a:solidFill>
                      </a:endParaRPr>
                    </a:p>
                    <a:p>
                      <a:pPr algn="ctr"/>
                      <a:r>
                        <a:rPr lang="zh-CN" altLang="en-US" sz="900" b="0" dirty="0">
                          <a:solidFill>
                            <a:schemeClr val="tx1"/>
                          </a:solidFill>
                        </a:rPr>
                        <a:t>组合逻辑控制器</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微程序控制技术</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8069755"/>
                  </a:ext>
                </a:extLst>
              </a:tr>
              <a:tr h="204220">
                <a:tc>
                  <a:txBody>
                    <a:bodyPr/>
                    <a:lstStyle/>
                    <a:p>
                      <a:pPr algn="ctr"/>
                      <a:r>
                        <a:rPr lang="zh-CN" altLang="en-US" sz="900" b="0" dirty="0">
                          <a:solidFill>
                            <a:schemeClr val="tx1"/>
                          </a:solidFill>
                        </a:rPr>
                        <a:t>通用寄存器数量</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多、大量</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一般</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8545333"/>
                  </a:ext>
                </a:extLst>
              </a:tr>
              <a:tr h="0">
                <a:tc>
                  <a:txBody>
                    <a:bodyPr/>
                    <a:lstStyle/>
                    <a:p>
                      <a:pPr algn="ctr"/>
                      <a:r>
                        <a:rPr lang="zh-CN" altLang="en-US" sz="900" b="0" dirty="0">
                          <a:solidFill>
                            <a:schemeClr val="tx1"/>
                          </a:solidFill>
                        </a:rPr>
                        <a:t>流水线技术</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支持</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不支持</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6159506"/>
                  </a:ext>
                </a:extLst>
              </a:tr>
            </a:tbl>
          </a:graphicData>
        </a:graphic>
      </p:graphicFrame>
      <p:grpSp>
        <p:nvGrpSpPr>
          <p:cNvPr id="45" name="Group 44">
            <a:extLst>
              <a:ext uri="{FF2B5EF4-FFF2-40B4-BE49-F238E27FC236}">
                <a16:creationId xmlns:a16="http://schemas.microsoft.com/office/drawing/2014/main" id="{356F640D-FFE6-3D8E-BAC1-7B5C02D2B5E0}"/>
              </a:ext>
            </a:extLst>
          </p:cNvPr>
          <p:cNvGrpSpPr/>
          <p:nvPr/>
        </p:nvGrpSpPr>
        <p:grpSpPr>
          <a:xfrm>
            <a:off x="3117336" y="2528287"/>
            <a:ext cx="4386653" cy="1495591"/>
            <a:chOff x="7614613" y="5950488"/>
            <a:chExt cx="4386653" cy="1495591"/>
          </a:xfrm>
        </p:grpSpPr>
        <p:sp>
          <p:nvSpPr>
            <p:cNvPr id="46" name="Rectangle: Rounded Corners 45">
              <a:extLst>
                <a:ext uri="{FF2B5EF4-FFF2-40B4-BE49-F238E27FC236}">
                  <a16:creationId xmlns:a16="http://schemas.microsoft.com/office/drawing/2014/main" id="{20F2DFF0-275F-B3EF-FAB9-267202B03470}"/>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▶存储器</a:t>
              </a:r>
              <a:endParaRPr lang="en-US" sz="1200" dirty="0">
                <a:solidFill>
                  <a:schemeClr val="bg1"/>
                </a:solidFill>
              </a:endParaRPr>
            </a:p>
          </p:txBody>
        </p:sp>
        <p:sp>
          <p:nvSpPr>
            <p:cNvPr id="47" name="TextBox 46">
              <a:extLst>
                <a:ext uri="{FF2B5EF4-FFF2-40B4-BE49-F238E27FC236}">
                  <a16:creationId xmlns:a16="http://schemas.microsoft.com/office/drawing/2014/main" id="{CF2BF451-202D-185D-0445-4772E496CD83}"/>
                </a:ext>
              </a:extLst>
            </p:cNvPr>
            <p:cNvSpPr txBox="1"/>
            <p:nvPr/>
          </p:nvSpPr>
          <p:spPr>
            <a:xfrm>
              <a:off x="7667294" y="6245750"/>
              <a:ext cx="4281578" cy="1200329"/>
            </a:xfrm>
            <a:prstGeom prst="rect">
              <a:avLst/>
            </a:prstGeom>
            <a:noFill/>
          </p:spPr>
          <p:txBody>
            <a:bodyPr wrap="square">
              <a:spAutoFit/>
            </a:bodyPr>
            <a:lstStyle/>
            <a:p>
              <a:r>
                <a:rPr lang="zh-CN" altLang="en-US" sz="1200" dirty="0">
                  <a:solidFill>
                    <a:schemeClr val="accent1"/>
                  </a:solidFill>
                  <a:latin typeface="ui-monospace"/>
                </a:rPr>
                <a:t>高速缓存 </a:t>
              </a:r>
              <a:r>
                <a:rPr lang="en-US" altLang="zh-CN" sz="1200" dirty="0">
                  <a:solidFill>
                    <a:schemeClr val="accent1"/>
                  </a:solidFill>
                  <a:latin typeface="ui-monospace"/>
                </a:rPr>
                <a:t>Cache</a:t>
              </a:r>
              <a:r>
                <a:rPr lang="zh-CN" altLang="en-US" sz="1200" dirty="0">
                  <a:solidFill>
                    <a:schemeClr val="accent1"/>
                  </a:solidFill>
                  <a:latin typeface="ui-monospace"/>
                </a:rPr>
                <a:t>：</a:t>
              </a:r>
              <a:r>
                <a:rPr lang="en-US" altLang="zh-CN" sz="1200" b="1" dirty="0">
                  <a:solidFill>
                    <a:schemeClr val="accent1"/>
                  </a:solidFill>
                  <a:latin typeface="ui-monospace"/>
                </a:rPr>
                <a:t>SRAM</a:t>
              </a:r>
              <a:r>
                <a:rPr lang="en-US" altLang="zh-CN" sz="1200" dirty="0">
                  <a:solidFill>
                    <a:schemeClr val="accent1"/>
                  </a:solidFill>
                  <a:latin typeface="ui-monospace"/>
                </a:rPr>
                <a:t> </a:t>
              </a:r>
              <a:r>
                <a:rPr lang="zh-CN" altLang="en-US" sz="1200" dirty="0">
                  <a:solidFill>
                    <a:schemeClr val="accent1"/>
                  </a:solidFill>
                  <a:latin typeface="ui-monospace"/>
                </a:rPr>
                <a:t>静态随机存取存储器</a:t>
              </a:r>
              <a:endParaRPr lang="en-US" altLang="zh-CN" sz="1200" dirty="0">
                <a:solidFill>
                  <a:schemeClr val="accent1"/>
                </a:solidFill>
                <a:latin typeface="ui-monospace"/>
              </a:endParaRPr>
            </a:p>
            <a:p>
              <a:r>
                <a:rPr lang="zh-CN" altLang="en-US" sz="1200" dirty="0">
                  <a:solidFill>
                    <a:schemeClr val="accent1"/>
                  </a:solidFill>
                  <a:latin typeface="ui-monospace"/>
                </a:rPr>
                <a:t>内存</a:t>
              </a:r>
              <a:r>
                <a:rPr lang="en-US" altLang="zh-CN" sz="1200" dirty="0">
                  <a:solidFill>
                    <a:schemeClr val="accent1"/>
                  </a:solidFill>
                  <a:latin typeface="ui-monospace"/>
                </a:rPr>
                <a:t>/</a:t>
              </a:r>
              <a:r>
                <a:rPr lang="zh-CN" altLang="en-US" sz="1200" dirty="0">
                  <a:solidFill>
                    <a:schemeClr val="accent1"/>
                  </a:solidFill>
                  <a:latin typeface="ui-monospace"/>
                </a:rPr>
                <a:t>主存：</a:t>
              </a:r>
              <a:r>
                <a:rPr lang="en-US" altLang="zh-CN" sz="1200" b="1" dirty="0">
                  <a:solidFill>
                    <a:schemeClr val="accent1"/>
                  </a:solidFill>
                  <a:latin typeface="ui-monospace"/>
                </a:rPr>
                <a:t>DRAM</a:t>
              </a:r>
              <a:r>
                <a:rPr lang="en-US" altLang="zh-CN" sz="1200" dirty="0">
                  <a:solidFill>
                    <a:schemeClr val="accent1"/>
                  </a:solidFill>
                  <a:latin typeface="ui-monospace"/>
                </a:rPr>
                <a:t> </a:t>
              </a:r>
              <a:r>
                <a:rPr lang="zh-CN" altLang="en-US" sz="1200" dirty="0">
                  <a:solidFill>
                    <a:schemeClr val="accent1"/>
                  </a:solidFill>
                  <a:latin typeface="ui-monospace"/>
                </a:rPr>
                <a:t>动态随机存储器，周期性刷新</a:t>
              </a:r>
              <a:endParaRPr lang="en-US" altLang="zh-CN" sz="1200" dirty="0">
                <a:solidFill>
                  <a:schemeClr val="accent1"/>
                </a:solidFill>
                <a:latin typeface="ui-monospace"/>
              </a:endParaRPr>
            </a:p>
            <a:p>
              <a:r>
                <a:rPr lang="en-US" altLang="zh-CN" sz="1200" dirty="0">
                  <a:solidFill>
                    <a:schemeClr val="accent1"/>
                  </a:solidFill>
                  <a:latin typeface="ui-monospace"/>
                </a:rPr>
                <a:t>RAM/ROM</a:t>
              </a:r>
              <a:r>
                <a:rPr lang="zh-CN" altLang="en-US" sz="1200" dirty="0">
                  <a:solidFill>
                    <a:schemeClr val="accent1"/>
                  </a:solidFill>
                  <a:latin typeface="ui-monospace"/>
                </a:rPr>
                <a:t>：随机，断电丢失</a:t>
              </a:r>
              <a:r>
                <a:rPr lang="en-US" altLang="zh-CN" sz="1200" dirty="0">
                  <a:solidFill>
                    <a:schemeClr val="accent1"/>
                  </a:solidFill>
                  <a:latin typeface="ui-monospace"/>
                </a:rPr>
                <a:t>/</a:t>
              </a:r>
              <a:r>
                <a:rPr lang="zh-CN" altLang="en-US" sz="1200" dirty="0">
                  <a:solidFill>
                    <a:schemeClr val="accent1"/>
                  </a:solidFill>
                  <a:latin typeface="ui-monospace"/>
                </a:rPr>
                <a:t>只读，断电不丢失</a:t>
              </a:r>
              <a:endParaRPr lang="en-US" altLang="zh-CN" sz="1200" dirty="0">
                <a:solidFill>
                  <a:schemeClr val="accent1"/>
                </a:solidFill>
                <a:latin typeface="ui-monospace"/>
              </a:endParaRPr>
            </a:p>
            <a:p>
              <a:r>
                <a:rPr lang="zh-CN" altLang="en-US" sz="1200" dirty="0">
                  <a:solidFill>
                    <a:schemeClr val="accent1"/>
                  </a:solidFill>
                  <a:latin typeface="ui-monospace"/>
                </a:rPr>
                <a:t>闪存</a:t>
              </a:r>
              <a:r>
                <a:rPr lang="en-US" altLang="zh-CN" sz="1200" dirty="0">
                  <a:solidFill>
                    <a:schemeClr val="accent1"/>
                  </a:solidFill>
                  <a:latin typeface="ui-monospace"/>
                </a:rPr>
                <a:t>FLASH</a:t>
              </a:r>
              <a:r>
                <a:rPr lang="zh-CN" altLang="en-US" sz="1200" dirty="0">
                  <a:solidFill>
                    <a:schemeClr val="accent1"/>
                  </a:solidFill>
                  <a:latin typeface="ui-monospace"/>
                </a:rPr>
                <a:t>：</a:t>
              </a:r>
              <a:r>
                <a:rPr lang="en-US" altLang="zh-CN" sz="1200" dirty="0">
                  <a:solidFill>
                    <a:schemeClr val="accent1"/>
                  </a:solidFill>
                  <a:latin typeface="ui-monospace"/>
                </a:rPr>
                <a:t>EEPROM</a:t>
              </a:r>
              <a:r>
                <a:rPr lang="zh-CN" altLang="en-US" sz="1200" dirty="0">
                  <a:solidFill>
                    <a:schemeClr val="accent1"/>
                  </a:solidFill>
                  <a:latin typeface="ui-monospace"/>
                </a:rPr>
                <a:t>，按</a:t>
              </a:r>
              <a:r>
                <a:rPr lang="zh-CN" altLang="en-US" sz="1200" b="1" dirty="0">
                  <a:solidFill>
                    <a:schemeClr val="accent1"/>
                  </a:solidFill>
                  <a:latin typeface="ui-monospace"/>
                </a:rPr>
                <a:t>块</a:t>
              </a:r>
              <a:r>
                <a:rPr lang="zh-CN" altLang="en-US" sz="1200" dirty="0">
                  <a:solidFill>
                    <a:schemeClr val="accent1"/>
                  </a:solidFill>
                  <a:latin typeface="ui-monospace"/>
                </a:rPr>
                <a:t>为单位，可代替辅存</a:t>
              </a:r>
              <a:endParaRPr lang="en-US" altLang="zh-CN" sz="1200" dirty="0">
                <a:solidFill>
                  <a:schemeClr val="accent1"/>
                </a:solidFill>
                <a:latin typeface="ui-monospace"/>
              </a:endParaRPr>
            </a:p>
            <a:p>
              <a:r>
                <a:rPr lang="zh-CN" altLang="en-US" sz="1200" dirty="0">
                  <a:solidFill>
                    <a:schemeClr val="accent1"/>
                  </a:solidFill>
                  <a:latin typeface="ui-monospace"/>
                </a:rPr>
                <a:t>相联存储器：按</a:t>
              </a:r>
              <a:r>
                <a:rPr lang="zh-CN" altLang="en-US" sz="1200" b="1" dirty="0">
                  <a:solidFill>
                    <a:schemeClr val="accent1"/>
                  </a:solidFill>
                  <a:latin typeface="ui-monospace"/>
                </a:rPr>
                <a:t>内容</a:t>
              </a:r>
              <a:r>
                <a:rPr lang="zh-CN" altLang="en-US" sz="1200" dirty="0">
                  <a:solidFill>
                    <a:schemeClr val="accent1"/>
                  </a:solidFill>
                  <a:latin typeface="ui-monospace"/>
                </a:rPr>
                <a:t>存储</a:t>
              </a:r>
              <a:endParaRPr lang="en-US" altLang="zh-CN" sz="1200" dirty="0">
                <a:solidFill>
                  <a:schemeClr val="accent1"/>
                </a:solidFill>
                <a:latin typeface="ui-monospace"/>
              </a:endParaRPr>
            </a:p>
            <a:p>
              <a:r>
                <a:rPr lang="zh-CN" altLang="en-US" sz="1200" dirty="0">
                  <a:solidFill>
                    <a:schemeClr val="accent1"/>
                  </a:solidFill>
                  <a:latin typeface="ui-monospace"/>
                </a:rPr>
                <a:t>虚拟存储器：主存</a:t>
              </a:r>
              <a:r>
                <a:rPr lang="en-US" altLang="zh-CN" sz="1200" dirty="0">
                  <a:solidFill>
                    <a:schemeClr val="accent1"/>
                  </a:solidFill>
                  <a:latin typeface="ui-monospace"/>
                </a:rPr>
                <a:t>+</a:t>
              </a:r>
              <a:r>
                <a:rPr lang="zh-CN" altLang="en-US" sz="1200" dirty="0">
                  <a:solidFill>
                    <a:schemeClr val="accent1"/>
                  </a:solidFill>
                  <a:latin typeface="ui-monospace"/>
                </a:rPr>
                <a:t>辅存</a:t>
              </a:r>
              <a:endParaRPr lang="en-US" altLang="zh-CN" sz="1200" dirty="0">
                <a:solidFill>
                  <a:schemeClr val="accent1"/>
                </a:solidFill>
                <a:latin typeface="ui-monospace"/>
              </a:endParaRPr>
            </a:p>
          </p:txBody>
        </p:sp>
      </p:grpSp>
      <p:pic>
        <p:nvPicPr>
          <p:cNvPr id="48" name="Picture 47">
            <a:extLst>
              <a:ext uri="{FF2B5EF4-FFF2-40B4-BE49-F238E27FC236}">
                <a16:creationId xmlns:a16="http://schemas.microsoft.com/office/drawing/2014/main" id="{8A253E84-46C3-7A43-76E9-B986D1822E83}"/>
              </a:ext>
            </a:extLst>
          </p:cNvPr>
          <p:cNvPicPr>
            <a:picLocks noChangeAspect="1"/>
          </p:cNvPicPr>
          <p:nvPr/>
        </p:nvPicPr>
        <p:blipFill>
          <a:blip r:embed="rId2"/>
          <a:stretch>
            <a:fillRect/>
          </a:stretch>
        </p:blipFill>
        <p:spPr>
          <a:xfrm>
            <a:off x="6605849" y="2916139"/>
            <a:ext cx="847417" cy="676715"/>
          </a:xfrm>
          <a:prstGeom prst="rect">
            <a:avLst/>
          </a:prstGeom>
        </p:spPr>
      </p:pic>
      <p:grpSp>
        <p:nvGrpSpPr>
          <p:cNvPr id="49" name="Group 48">
            <a:extLst>
              <a:ext uri="{FF2B5EF4-FFF2-40B4-BE49-F238E27FC236}">
                <a16:creationId xmlns:a16="http://schemas.microsoft.com/office/drawing/2014/main" id="{6ACE5342-8270-4DD2-D416-2CE77D76CAEF}"/>
              </a:ext>
            </a:extLst>
          </p:cNvPr>
          <p:cNvGrpSpPr/>
          <p:nvPr/>
        </p:nvGrpSpPr>
        <p:grpSpPr>
          <a:xfrm>
            <a:off x="3093374" y="5048300"/>
            <a:ext cx="4386653" cy="1126259"/>
            <a:chOff x="7614613" y="5950488"/>
            <a:chExt cx="4386653" cy="1126259"/>
          </a:xfrm>
        </p:grpSpPr>
        <p:sp>
          <p:nvSpPr>
            <p:cNvPr id="50" name="Rectangle: Rounded Corners 49">
              <a:extLst>
                <a:ext uri="{FF2B5EF4-FFF2-40B4-BE49-F238E27FC236}">
                  <a16:creationId xmlns:a16="http://schemas.microsoft.com/office/drawing/2014/main" id="{C6D57160-E0D7-0865-D689-DB8F1EDF0BD4}"/>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▶中断</a:t>
              </a:r>
              <a:endParaRPr lang="en-US" altLang="zh-CN" sz="1200" dirty="0">
                <a:solidFill>
                  <a:schemeClr val="bg1"/>
                </a:solidFill>
                <a:latin typeface="ui-monospace"/>
              </a:endParaRPr>
            </a:p>
          </p:txBody>
        </p:sp>
        <p:sp>
          <p:nvSpPr>
            <p:cNvPr id="51" name="TextBox 50">
              <a:extLst>
                <a:ext uri="{FF2B5EF4-FFF2-40B4-BE49-F238E27FC236}">
                  <a16:creationId xmlns:a16="http://schemas.microsoft.com/office/drawing/2014/main" id="{51E85CE3-AEF6-014B-380F-156FC16E1AA2}"/>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暂停当前程序，执行中断服务程序，完成后返回源程序</a:t>
              </a:r>
              <a:endParaRPr lang="en-US" altLang="zh-CN" sz="1200" dirty="0">
                <a:solidFill>
                  <a:schemeClr val="accent1"/>
                </a:solidFill>
                <a:latin typeface="ui-monospace"/>
              </a:endParaRPr>
            </a:p>
            <a:p>
              <a:r>
                <a:rPr lang="zh-CN" altLang="en-US" sz="1200" dirty="0">
                  <a:solidFill>
                    <a:schemeClr val="accent1"/>
                  </a:solidFill>
                  <a:latin typeface="ui-monospace"/>
                </a:rPr>
                <a:t>中断向量：中断服务程序的入口地址</a:t>
              </a:r>
              <a:endParaRPr lang="en-US" altLang="zh-CN" sz="1200" dirty="0">
                <a:solidFill>
                  <a:schemeClr val="accent1"/>
                </a:solidFill>
                <a:latin typeface="ui-monospace"/>
              </a:endParaRPr>
            </a:p>
            <a:p>
              <a:r>
                <a:rPr lang="zh-CN" altLang="en-US" sz="1200" dirty="0">
                  <a:solidFill>
                    <a:schemeClr val="accent1"/>
                  </a:solidFill>
                  <a:latin typeface="ui-monospace"/>
                </a:rPr>
                <a:t>中断响应时间：从发出中断请求到开始进入中断处理程序</a:t>
              </a:r>
              <a:endParaRPr lang="en-US" altLang="zh-CN" sz="1200" dirty="0">
                <a:solidFill>
                  <a:schemeClr val="accent1"/>
                </a:solidFill>
                <a:latin typeface="ui-monospace"/>
              </a:endParaRPr>
            </a:p>
            <a:p>
              <a:r>
                <a:rPr lang="zh-CN" altLang="en-US" sz="1200" dirty="0">
                  <a:solidFill>
                    <a:schemeClr val="accent1"/>
                  </a:solidFill>
                  <a:latin typeface="ui-monospace"/>
                </a:rPr>
                <a:t>保护断点和现场：堆栈</a:t>
              </a:r>
              <a:endParaRPr lang="en-US" sz="1200" dirty="0">
                <a:solidFill>
                  <a:schemeClr val="accent1"/>
                </a:solidFill>
                <a:latin typeface="ui-monospace"/>
              </a:endParaRPr>
            </a:p>
          </p:txBody>
        </p:sp>
      </p:grpSp>
      <p:grpSp>
        <p:nvGrpSpPr>
          <p:cNvPr id="52" name="Group 51">
            <a:extLst>
              <a:ext uri="{FF2B5EF4-FFF2-40B4-BE49-F238E27FC236}">
                <a16:creationId xmlns:a16="http://schemas.microsoft.com/office/drawing/2014/main" id="{E1F69786-B799-6183-2FC1-17D584B40BFC}"/>
              </a:ext>
            </a:extLst>
          </p:cNvPr>
          <p:cNvGrpSpPr/>
          <p:nvPr/>
        </p:nvGrpSpPr>
        <p:grpSpPr>
          <a:xfrm>
            <a:off x="7674819" y="36928"/>
            <a:ext cx="4386653" cy="572261"/>
            <a:chOff x="7614613" y="5950488"/>
            <a:chExt cx="4386653" cy="572261"/>
          </a:xfrm>
        </p:grpSpPr>
        <p:sp>
          <p:nvSpPr>
            <p:cNvPr id="53" name="Rectangle: Rounded Corners 52">
              <a:extLst>
                <a:ext uri="{FF2B5EF4-FFF2-40B4-BE49-F238E27FC236}">
                  <a16:creationId xmlns:a16="http://schemas.microsoft.com/office/drawing/2014/main" id="{105E78B8-A91B-1A9A-0027-E942413F3058}"/>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▶输入输出</a:t>
              </a:r>
              <a:r>
                <a:rPr lang="en-US" altLang="zh-CN" sz="1200" dirty="0">
                  <a:solidFill>
                    <a:schemeClr val="bg1"/>
                  </a:solidFill>
                  <a:latin typeface="ui-monospace"/>
                </a:rPr>
                <a:t>(I/O)</a:t>
              </a:r>
              <a:r>
                <a:rPr lang="zh-CN" altLang="en-US" sz="1200" dirty="0">
                  <a:solidFill>
                    <a:schemeClr val="bg1"/>
                  </a:solidFill>
                  <a:latin typeface="ui-monospace"/>
                </a:rPr>
                <a:t>控制方式</a:t>
              </a:r>
              <a:endParaRPr lang="en-US" altLang="zh-CN" sz="1200" dirty="0">
                <a:solidFill>
                  <a:schemeClr val="bg1"/>
                </a:solidFill>
                <a:latin typeface="ui-monospace"/>
              </a:endParaRPr>
            </a:p>
          </p:txBody>
        </p:sp>
        <p:sp>
          <p:nvSpPr>
            <p:cNvPr id="54" name="TextBox 53">
              <a:extLst>
                <a:ext uri="{FF2B5EF4-FFF2-40B4-BE49-F238E27FC236}">
                  <a16:creationId xmlns:a16="http://schemas.microsoft.com/office/drawing/2014/main" id="{FAFA9246-9E02-7EF5-839C-A5D6A8B148E6}"/>
                </a:ext>
              </a:extLst>
            </p:cNvPr>
            <p:cNvSpPr txBox="1"/>
            <p:nvPr/>
          </p:nvSpPr>
          <p:spPr>
            <a:xfrm>
              <a:off x="7667294" y="6245750"/>
              <a:ext cx="4281578" cy="276999"/>
            </a:xfrm>
            <a:prstGeom prst="rect">
              <a:avLst/>
            </a:prstGeom>
            <a:noFill/>
          </p:spPr>
          <p:txBody>
            <a:bodyPr wrap="square">
              <a:spAutoFit/>
            </a:bodyPr>
            <a:lstStyle/>
            <a:p>
              <a:endParaRPr lang="en-US" altLang="zh-CN" sz="1200" dirty="0">
                <a:solidFill>
                  <a:schemeClr val="accent1"/>
                </a:solidFill>
                <a:latin typeface="ui-monospace"/>
              </a:endParaRPr>
            </a:p>
          </p:txBody>
        </p:sp>
      </p:grpSp>
      <p:grpSp>
        <p:nvGrpSpPr>
          <p:cNvPr id="55" name="Group 54">
            <a:extLst>
              <a:ext uri="{FF2B5EF4-FFF2-40B4-BE49-F238E27FC236}">
                <a16:creationId xmlns:a16="http://schemas.microsoft.com/office/drawing/2014/main" id="{325B1F57-681C-2094-9A13-8F177CB81438}"/>
              </a:ext>
            </a:extLst>
          </p:cNvPr>
          <p:cNvGrpSpPr/>
          <p:nvPr/>
        </p:nvGrpSpPr>
        <p:grpSpPr>
          <a:xfrm>
            <a:off x="7674819" y="2219271"/>
            <a:ext cx="4386653" cy="1495591"/>
            <a:chOff x="7614613" y="5950488"/>
            <a:chExt cx="4386653" cy="1495591"/>
          </a:xfrm>
        </p:grpSpPr>
        <p:sp>
          <p:nvSpPr>
            <p:cNvPr id="56" name="Rectangle: Rounded Corners 55">
              <a:extLst>
                <a:ext uri="{FF2B5EF4-FFF2-40B4-BE49-F238E27FC236}">
                  <a16:creationId xmlns:a16="http://schemas.microsoft.com/office/drawing/2014/main" id="{5D13806E-8083-11AD-F073-ABFC55591B4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▶总线</a:t>
              </a:r>
              <a:endParaRPr lang="en-US" altLang="zh-CN" sz="1200" dirty="0">
                <a:solidFill>
                  <a:schemeClr val="bg1"/>
                </a:solidFill>
                <a:latin typeface="ui-monospace"/>
              </a:endParaRPr>
            </a:p>
          </p:txBody>
        </p:sp>
        <p:sp>
          <p:nvSpPr>
            <p:cNvPr id="57" name="TextBox 56">
              <a:extLst>
                <a:ext uri="{FF2B5EF4-FFF2-40B4-BE49-F238E27FC236}">
                  <a16:creationId xmlns:a16="http://schemas.microsoft.com/office/drawing/2014/main" id="{C9A2DEC3-77A7-9EB9-47B4-EE96C245D34A}"/>
                </a:ext>
              </a:extLst>
            </p:cNvPr>
            <p:cNvSpPr txBox="1"/>
            <p:nvPr/>
          </p:nvSpPr>
          <p:spPr>
            <a:xfrm>
              <a:off x="7667294" y="6245750"/>
              <a:ext cx="4281578" cy="1200329"/>
            </a:xfrm>
            <a:prstGeom prst="rect">
              <a:avLst/>
            </a:prstGeom>
            <a:noFill/>
          </p:spPr>
          <p:txBody>
            <a:bodyPr wrap="square">
              <a:spAutoFit/>
            </a:bodyPr>
            <a:lstStyle/>
            <a:p>
              <a:r>
                <a:rPr lang="zh-CN" altLang="en-US" sz="1200" dirty="0">
                  <a:solidFill>
                    <a:schemeClr val="accent1"/>
                  </a:solidFill>
                  <a:latin typeface="ui-monospace"/>
                </a:rPr>
                <a:t>负责传输数据地址和控制信号，</a:t>
              </a:r>
              <a:r>
                <a:rPr lang="zh-CN" altLang="en-US" sz="1200" b="1" dirty="0">
                  <a:solidFill>
                    <a:schemeClr val="accent1"/>
                  </a:solidFill>
                  <a:latin typeface="ui-monospace"/>
                </a:rPr>
                <a:t>减少信号线的数量</a:t>
              </a:r>
              <a:endParaRPr lang="en-US" altLang="zh-CN" sz="1200" b="1" dirty="0">
                <a:solidFill>
                  <a:schemeClr val="accent1"/>
                </a:solidFill>
                <a:latin typeface="ui-monospace"/>
              </a:endParaRPr>
            </a:p>
            <a:p>
              <a:r>
                <a:rPr lang="zh-CN" altLang="en-US" sz="1200" dirty="0">
                  <a:solidFill>
                    <a:schemeClr val="accent1"/>
                  </a:solidFill>
                  <a:latin typeface="ui-monospace"/>
                </a:rPr>
                <a:t>系统总线：</a:t>
              </a:r>
              <a:r>
                <a:rPr lang="zh-CN" altLang="en-US" sz="1200" b="1" dirty="0">
                  <a:solidFill>
                    <a:schemeClr val="accent1"/>
                  </a:solidFill>
                  <a:latin typeface="ui-monospace"/>
                </a:rPr>
                <a:t>数</a:t>
              </a:r>
              <a:r>
                <a:rPr lang="zh-CN" altLang="en-US" sz="1200" dirty="0">
                  <a:solidFill>
                    <a:schemeClr val="accent1"/>
                  </a:solidFill>
                  <a:latin typeface="ui-monospace"/>
                </a:rPr>
                <a:t>据总线、</a:t>
              </a:r>
              <a:r>
                <a:rPr lang="zh-CN" altLang="en-US" sz="1200" b="1" dirty="0">
                  <a:solidFill>
                    <a:schemeClr val="accent1"/>
                  </a:solidFill>
                  <a:latin typeface="ui-monospace"/>
                </a:rPr>
                <a:t>地</a:t>
              </a:r>
              <a:r>
                <a:rPr lang="zh-CN" altLang="en-US" sz="1200" dirty="0">
                  <a:solidFill>
                    <a:schemeClr val="accent1"/>
                  </a:solidFill>
                  <a:latin typeface="ui-monospace"/>
                </a:rPr>
                <a:t>址总线和</a:t>
              </a:r>
              <a:r>
                <a:rPr lang="zh-CN" altLang="en-US" sz="1200" b="1" dirty="0">
                  <a:solidFill>
                    <a:schemeClr val="accent1"/>
                  </a:solidFill>
                  <a:latin typeface="ui-monospace"/>
                </a:rPr>
                <a:t>控</a:t>
              </a:r>
              <a:r>
                <a:rPr lang="zh-CN" altLang="en-US" sz="1200" dirty="0">
                  <a:solidFill>
                    <a:schemeClr val="accent1"/>
                  </a:solidFill>
                  <a:latin typeface="ui-monospace"/>
                </a:rPr>
                <a:t>制总线</a:t>
              </a:r>
              <a:endParaRPr lang="en-US" altLang="zh-CN" sz="1200" dirty="0">
                <a:solidFill>
                  <a:schemeClr val="accent1"/>
                </a:solidFill>
                <a:latin typeface="ui-monospace"/>
              </a:endParaRPr>
            </a:p>
            <a:p>
              <a:r>
                <a:rPr lang="en-US" sz="1200" b="1" dirty="0">
                  <a:solidFill>
                    <a:schemeClr val="accent1"/>
                  </a:solidFill>
                  <a:latin typeface="ui-monospace"/>
                </a:rPr>
                <a:t>PCI </a:t>
              </a:r>
              <a:r>
                <a:rPr lang="zh-CN" altLang="en-US" sz="1200" dirty="0">
                  <a:solidFill>
                    <a:schemeClr val="accent1"/>
                  </a:solidFill>
                  <a:latin typeface="ui-monospace"/>
                </a:rPr>
                <a:t>并行内总线 </a:t>
              </a:r>
              <a:r>
                <a:rPr lang="en-US" sz="1200" b="1" dirty="0">
                  <a:solidFill>
                    <a:schemeClr val="accent1"/>
                  </a:solidFill>
                  <a:latin typeface="ui-monospace"/>
                </a:rPr>
                <a:t>SCSI </a:t>
              </a:r>
              <a:r>
                <a:rPr lang="zh-CN" altLang="en-US" sz="1200" dirty="0">
                  <a:solidFill>
                    <a:schemeClr val="accent1"/>
                  </a:solidFill>
                  <a:latin typeface="ui-monospace"/>
                </a:rPr>
                <a:t>并行外总线 </a:t>
              </a:r>
              <a:r>
                <a:rPr lang="en-US" altLang="zh-CN" sz="1200" dirty="0">
                  <a:solidFill>
                    <a:schemeClr val="accent1"/>
                  </a:solidFill>
                  <a:latin typeface="ui-monospace"/>
                </a:rPr>
                <a:t>RS232 </a:t>
              </a:r>
              <a:r>
                <a:rPr lang="zh-CN" altLang="en-US" sz="1200" dirty="0">
                  <a:solidFill>
                    <a:schemeClr val="accent1"/>
                  </a:solidFill>
                  <a:latin typeface="ui-monospace"/>
                </a:rPr>
                <a:t>串行外总线</a:t>
              </a:r>
              <a:endParaRPr lang="en-US" altLang="zh-CN" sz="1200" dirty="0">
                <a:solidFill>
                  <a:schemeClr val="accent1"/>
                </a:solidFill>
                <a:latin typeface="ui-monospace"/>
              </a:endParaRPr>
            </a:p>
            <a:p>
              <a:r>
                <a:rPr lang="zh-CN" altLang="en-US" sz="1200" dirty="0">
                  <a:solidFill>
                    <a:schemeClr val="accent1"/>
                  </a:solidFill>
                  <a:latin typeface="ui-monospace"/>
                </a:rPr>
                <a:t>计算：内存容量</a:t>
              </a:r>
              <a:r>
                <a:rPr lang="en-US" altLang="zh-CN" sz="1200" dirty="0">
                  <a:solidFill>
                    <a:schemeClr val="accent1"/>
                  </a:solidFill>
                  <a:latin typeface="ui-monospace"/>
                </a:rPr>
                <a:t>/</a:t>
              </a:r>
              <a:r>
                <a:rPr lang="zh-CN" altLang="en-US" sz="1200" dirty="0">
                  <a:solidFill>
                    <a:schemeClr val="accent1"/>
                  </a:solidFill>
                  <a:latin typeface="ui-monospace"/>
                </a:rPr>
                <a:t>地址总线宽度 字长</a:t>
              </a:r>
              <a:r>
                <a:rPr lang="en-US" altLang="zh-CN" sz="1200" dirty="0">
                  <a:solidFill>
                    <a:schemeClr val="accent1"/>
                  </a:solidFill>
                  <a:latin typeface="ui-monospace"/>
                </a:rPr>
                <a:t>/</a:t>
              </a:r>
              <a:r>
                <a:rPr lang="zh-CN" altLang="en-US" sz="1200" dirty="0">
                  <a:solidFill>
                    <a:schemeClr val="accent1"/>
                  </a:solidFill>
                  <a:latin typeface="ui-monospace"/>
                </a:rPr>
                <a:t>数据总线宽度</a:t>
              </a:r>
              <a:endParaRPr lang="en-US" altLang="zh-CN" sz="1200" dirty="0">
                <a:solidFill>
                  <a:schemeClr val="accent1"/>
                </a:solidFill>
                <a:latin typeface="ui-monospace"/>
              </a:endParaRPr>
            </a:p>
            <a:p>
              <a:r>
                <a:rPr lang="zh-CN" altLang="en-US" sz="1200" dirty="0">
                  <a:solidFill>
                    <a:schemeClr val="accent1"/>
                  </a:solidFill>
                  <a:latin typeface="ui-monospace"/>
                </a:rPr>
                <a:t>带宽：总线的最大数据传输率</a:t>
              </a:r>
              <a:endParaRPr lang="en-US" altLang="zh-CN" sz="1200" dirty="0">
                <a:solidFill>
                  <a:schemeClr val="accent1"/>
                </a:solidFill>
                <a:latin typeface="ui-monospace"/>
              </a:endParaRPr>
            </a:p>
            <a:p>
              <a:r>
                <a:rPr lang="zh-CN" altLang="en-US" sz="1200" dirty="0">
                  <a:solidFill>
                    <a:schemeClr val="accent1"/>
                  </a:solidFill>
                  <a:latin typeface="ui-monospace"/>
                </a:rPr>
                <a:t>带宽</a:t>
              </a:r>
              <a:r>
                <a:rPr lang="en-US" altLang="zh-CN" sz="1200" dirty="0">
                  <a:solidFill>
                    <a:schemeClr val="accent1"/>
                  </a:solidFill>
                  <a:latin typeface="ui-monospace"/>
                </a:rPr>
                <a:t>=</a:t>
              </a:r>
              <a:r>
                <a:rPr lang="zh-CN" altLang="en-US" sz="1200" dirty="0">
                  <a:solidFill>
                    <a:schemeClr val="accent1"/>
                  </a:solidFill>
                  <a:latin typeface="ui-monospace"/>
                </a:rPr>
                <a:t>时钟频率</a:t>
              </a:r>
              <a:r>
                <a:rPr lang="en-US" altLang="zh-CN" sz="1200" dirty="0">
                  <a:solidFill>
                    <a:schemeClr val="accent1"/>
                  </a:solidFill>
                  <a:latin typeface="ui-monospace"/>
                </a:rPr>
                <a:t>*</a:t>
              </a:r>
              <a:r>
                <a:rPr lang="zh-CN" altLang="en-US" sz="1200" dirty="0">
                  <a:solidFill>
                    <a:schemeClr val="accent1"/>
                  </a:solidFill>
                  <a:latin typeface="ui-monospace"/>
                </a:rPr>
                <a:t>总线宽度</a:t>
              </a:r>
              <a:r>
                <a:rPr lang="en-US" altLang="zh-CN" sz="1200" dirty="0">
                  <a:solidFill>
                    <a:schemeClr val="accent1"/>
                  </a:solidFill>
                  <a:latin typeface="ui-monospace"/>
                </a:rPr>
                <a:t>/</a:t>
              </a:r>
              <a:r>
                <a:rPr lang="zh-CN" altLang="en-US" sz="1200" dirty="0">
                  <a:solidFill>
                    <a:schemeClr val="accent1"/>
                  </a:solidFill>
                  <a:latin typeface="ui-monospace"/>
                </a:rPr>
                <a:t>时钟周期 </a:t>
              </a:r>
              <a:endParaRPr lang="en-US" altLang="zh-CN" sz="1200" dirty="0">
                <a:solidFill>
                  <a:schemeClr val="accent1"/>
                </a:solidFill>
                <a:latin typeface="ui-monospace"/>
              </a:endParaRPr>
            </a:p>
          </p:txBody>
        </p:sp>
      </p:grpSp>
      <p:grpSp>
        <p:nvGrpSpPr>
          <p:cNvPr id="58" name="Group 57">
            <a:extLst>
              <a:ext uri="{FF2B5EF4-FFF2-40B4-BE49-F238E27FC236}">
                <a16:creationId xmlns:a16="http://schemas.microsoft.com/office/drawing/2014/main" id="{98BD0C93-DD89-25A7-1553-E3F85FE0D7B8}"/>
              </a:ext>
            </a:extLst>
          </p:cNvPr>
          <p:cNvGrpSpPr/>
          <p:nvPr/>
        </p:nvGrpSpPr>
        <p:grpSpPr>
          <a:xfrm>
            <a:off x="7651145" y="3709334"/>
            <a:ext cx="4386653" cy="2049588"/>
            <a:chOff x="7614613" y="5950488"/>
            <a:chExt cx="4386653" cy="2049588"/>
          </a:xfrm>
        </p:grpSpPr>
        <p:sp>
          <p:nvSpPr>
            <p:cNvPr id="59" name="Rectangle: Rounded Corners 58">
              <a:extLst>
                <a:ext uri="{FF2B5EF4-FFF2-40B4-BE49-F238E27FC236}">
                  <a16:creationId xmlns:a16="http://schemas.microsoft.com/office/drawing/2014/main" id="{01574168-1441-BE9C-0656-1623F1FA4E3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▶加密技术</a:t>
              </a:r>
              <a:r>
                <a:rPr lang="en-US" altLang="zh-CN" sz="1200" dirty="0">
                  <a:solidFill>
                    <a:schemeClr val="bg1"/>
                  </a:solidFill>
                  <a:latin typeface="ui-monospace"/>
                </a:rPr>
                <a:t>/</a:t>
              </a:r>
              <a:r>
                <a:rPr lang="zh-CN" altLang="en-US" sz="1200" dirty="0">
                  <a:solidFill>
                    <a:schemeClr val="bg1"/>
                  </a:solidFill>
                  <a:latin typeface="ui-monospace"/>
                </a:rPr>
                <a:t>认证技术</a:t>
              </a:r>
              <a:endParaRPr lang="en-US" sz="1200" dirty="0">
                <a:solidFill>
                  <a:schemeClr val="bg1"/>
                </a:solidFill>
              </a:endParaRPr>
            </a:p>
          </p:txBody>
        </p:sp>
        <p:sp>
          <p:nvSpPr>
            <p:cNvPr id="60" name="TextBox 59">
              <a:extLst>
                <a:ext uri="{FF2B5EF4-FFF2-40B4-BE49-F238E27FC236}">
                  <a16:creationId xmlns:a16="http://schemas.microsoft.com/office/drawing/2014/main" id="{99A4E7D9-2F45-730B-49F2-2D0574D0A953}"/>
                </a:ext>
              </a:extLst>
            </p:cNvPr>
            <p:cNvSpPr txBox="1"/>
            <p:nvPr/>
          </p:nvSpPr>
          <p:spPr>
            <a:xfrm>
              <a:off x="7667294" y="6245750"/>
              <a:ext cx="4281578" cy="1754326"/>
            </a:xfrm>
            <a:prstGeom prst="rect">
              <a:avLst/>
            </a:prstGeom>
            <a:noFill/>
          </p:spPr>
          <p:txBody>
            <a:bodyPr wrap="square">
              <a:spAutoFit/>
            </a:bodyPr>
            <a:lstStyle/>
            <a:p>
              <a:r>
                <a:rPr lang="zh-CN" altLang="en-US" sz="1200" dirty="0">
                  <a:solidFill>
                    <a:schemeClr val="accent1"/>
                  </a:solidFill>
                  <a:latin typeface="ui-monospace"/>
                </a:rPr>
                <a:t>窃听</a:t>
              </a:r>
              <a:r>
                <a:rPr lang="en-US" altLang="zh-CN" sz="1200" dirty="0">
                  <a:solidFill>
                    <a:schemeClr val="accent1"/>
                  </a:solidFill>
                  <a:latin typeface="ui-monospace"/>
                </a:rPr>
                <a:t>/</a:t>
              </a:r>
              <a:r>
                <a:rPr lang="zh-CN" altLang="en-US" sz="1200" dirty="0">
                  <a:solidFill>
                    <a:schemeClr val="accent1"/>
                  </a:solidFill>
                  <a:latin typeface="ui-monospace"/>
                </a:rPr>
                <a:t>加密 篡改</a:t>
              </a:r>
              <a:r>
                <a:rPr lang="en-US" altLang="zh-CN" sz="1200" dirty="0">
                  <a:solidFill>
                    <a:schemeClr val="accent1"/>
                  </a:solidFill>
                  <a:latin typeface="ui-monospace"/>
                </a:rPr>
                <a:t>/</a:t>
              </a:r>
              <a:r>
                <a:rPr lang="zh-CN" altLang="en-US" sz="1200" dirty="0">
                  <a:solidFill>
                    <a:schemeClr val="accent1"/>
                  </a:solidFill>
                  <a:latin typeface="ui-monospace"/>
                </a:rPr>
                <a:t>摘要 假冒、否认</a:t>
              </a:r>
              <a:r>
                <a:rPr lang="en-US" altLang="zh-CN" sz="1200" dirty="0">
                  <a:solidFill>
                    <a:schemeClr val="accent1"/>
                  </a:solidFill>
                  <a:latin typeface="ui-monospace"/>
                </a:rPr>
                <a:t>/</a:t>
              </a:r>
              <a:r>
                <a:rPr lang="zh-CN" altLang="en-US" sz="1200" dirty="0">
                  <a:solidFill>
                    <a:schemeClr val="accent1"/>
                  </a:solidFill>
                  <a:latin typeface="ui-monospace"/>
                </a:rPr>
                <a:t>数字签名、数字证书</a:t>
              </a:r>
              <a:endParaRPr lang="en-US" altLang="zh-CN" sz="1200" dirty="0">
                <a:solidFill>
                  <a:schemeClr val="accent1"/>
                </a:solidFill>
                <a:latin typeface="ui-monospace"/>
              </a:endParaRPr>
            </a:p>
            <a:p>
              <a:r>
                <a:rPr lang="zh-CN" altLang="en-US" sz="1200" dirty="0">
                  <a:solidFill>
                    <a:schemeClr val="accent1"/>
                  </a:solidFill>
                  <a:latin typeface="ui-monospace"/>
                </a:rPr>
                <a:t>对称加密：相同的密钥加解密。速度快</a:t>
              </a:r>
              <a:endParaRPr lang="en-US" altLang="zh-CN" sz="1200" dirty="0">
                <a:solidFill>
                  <a:schemeClr val="accent1"/>
                </a:solidFill>
                <a:latin typeface="ui-monospace"/>
              </a:endParaRPr>
            </a:p>
            <a:p>
              <a:r>
                <a:rPr lang="zh-CN" altLang="en-US" sz="1200" dirty="0">
                  <a:solidFill>
                    <a:schemeClr val="accent1"/>
                  </a:solidFill>
                  <a:latin typeface="ui-monospace"/>
                </a:rPr>
                <a:t>非对称加密：不同的私钥公钥加解密。高安全性</a:t>
              </a:r>
              <a:endParaRPr lang="en-US" altLang="zh-CN" sz="1200" dirty="0">
                <a:solidFill>
                  <a:schemeClr val="accent1"/>
                </a:solidFill>
                <a:latin typeface="ui-monospace"/>
              </a:endParaRPr>
            </a:p>
            <a:p>
              <a:r>
                <a:rPr lang="zh-CN" altLang="en-US" sz="1200" dirty="0">
                  <a:solidFill>
                    <a:schemeClr val="accent1"/>
                  </a:solidFill>
                  <a:latin typeface="ui-monospace"/>
                </a:rPr>
                <a:t>认证技术：密码认证</a:t>
              </a:r>
              <a:r>
                <a:rPr lang="en-US" altLang="zh-CN" sz="1200" dirty="0">
                  <a:solidFill>
                    <a:schemeClr val="accent1"/>
                  </a:solidFill>
                  <a:latin typeface="ui-monospace"/>
                </a:rPr>
                <a:t>/</a:t>
              </a:r>
              <a:r>
                <a:rPr lang="zh-CN" altLang="en-US" sz="1200" dirty="0">
                  <a:solidFill>
                    <a:schemeClr val="accent1"/>
                  </a:solidFill>
                  <a:latin typeface="ui-monospace"/>
                </a:rPr>
                <a:t>双因素认证</a:t>
              </a:r>
              <a:r>
                <a:rPr lang="en-US" altLang="zh-CN" sz="1200" dirty="0">
                  <a:solidFill>
                    <a:schemeClr val="accent1"/>
                  </a:solidFill>
                  <a:latin typeface="ui-monospace"/>
                </a:rPr>
                <a:t>/</a:t>
              </a:r>
              <a:r>
                <a:rPr lang="zh-CN" altLang="en-US" sz="1200" dirty="0">
                  <a:solidFill>
                    <a:schemeClr val="accent1"/>
                  </a:solidFill>
                  <a:latin typeface="ui-monospace"/>
                </a:rPr>
                <a:t>生物特征认证</a:t>
              </a:r>
              <a:endParaRPr lang="en-US" altLang="zh-CN" sz="1200" dirty="0">
                <a:solidFill>
                  <a:schemeClr val="accent1"/>
                </a:solidFill>
                <a:latin typeface="ui-monospace"/>
              </a:endParaRPr>
            </a:p>
            <a:p>
              <a:r>
                <a:rPr lang="zh-CN" altLang="en-US" sz="1200" dirty="0">
                  <a:solidFill>
                    <a:schemeClr val="accent1"/>
                  </a:solidFill>
                  <a:latin typeface="ui-monospace"/>
                </a:rPr>
                <a:t>摘要：将明文进行</a:t>
              </a:r>
              <a:r>
                <a:rPr lang="en-US" altLang="zh-CN" sz="1200" dirty="0">
                  <a:solidFill>
                    <a:schemeClr val="accent1"/>
                  </a:solidFill>
                  <a:latin typeface="ui-monospace"/>
                </a:rPr>
                <a:t>Hash</a:t>
              </a:r>
              <a:r>
                <a:rPr lang="zh-CN" altLang="en-US" sz="1200" dirty="0">
                  <a:solidFill>
                    <a:schemeClr val="accent1"/>
                  </a:solidFill>
                  <a:latin typeface="ui-monospace"/>
                </a:rPr>
                <a:t>算法发送并对比</a:t>
              </a:r>
              <a:endParaRPr lang="en-US" altLang="zh-CN" sz="1200" dirty="0">
                <a:solidFill>
                  <a:schemeClr val="accent1"/>
                </a:solidFill>
                <a:latin typeface="ui-monospace"/>
              </a:endParaRPr>
            </a:p>
            <a:p>
              <a:r>
                <a:rPr lang="zh-CN" altLang="en-US" sz="1200" dirty="0">
                  <a:solidFill>
                    <a:schemeClr val="accent1"/>
                  </a:solidFill>
                  <a:latin typeface="ui-monospace"/>
                </a:rPr>
                <a:t>数据完整性、一致性，不可逆，唯一性。</a:t>
              </a:r>
              <a:endParaRPr lang="en-US" altLang="zh-CN" sz="1200" dirty="0">
                <a:solidFill>
                  <a:schemeClr val="accent1"/>
                </a:solidFill>
                <a:latin typeface="ui-monospace"/>
              </a:endParaRPr>
            </a:p>
            <a:p>
              <a:r>
                <a:rPr lang="zh-CN" altLang="en-US" sz="1200" dirty="0">
                  <a:solidFill>
                    <a:schemeClr val="accent1"/>
                  </a:solidFill>
                  <a:latin typeface="ui-monospace"/>
                </a:rPr>
                <a:t>数字签名：结合非对称和散列函数，私钥加密公钥解密</a:t>
              </a:r>
              <a:endParaRPr lang="en-US" altLang="zh-CN" sz="1200" dirty="0">
                <a:solidFill>
                  <a:schemeClr val="accent1"/>
                </a:solidFill>
                <a:latin typeface="ui-monospace"/>
              </a:endParaRPr>
            </a:p>
            <a:p>
              <a:r>
                <a:rPr lang="en-US" altLang="zh-CN" sz="1200" dirty="0">
                  <a:solidFill>
                    <a:schemeClr val="accent1"/>
                  </a:solidFill>
                  <a:latin typeface="ui-monospace"/>
                </a:rPr>
                <a:t>SSL/TLS</a:t>
              </a:r>
              <a:r>
                <a:rPr lang="zh-CN" altLang="en-US" sz="1200" dirty="0">
                  <a:solidFill>
                    <a:schemeClr val="accent1"/>
                  </a:solidFill>
                  <a:latin typeface="ui-monospace"/>
                </a:rPr>
                <a:t>：保护网络通讯的协议</a:t>
              </a:r>
              <a:endParaRPr lang="en-US" altLang="zh-CN" sz="1200" dirty="0">
                <a:solidFill>
                  <a:schemeClr val="accent1"/>
                </a:solidFill>
                <a:latin typeface="ui-monospace"/>
              </a:endParaRPr>
            </a:p>
            <a:p>
              <a:r>
                <a:rPr lang="zh-CN" altLang="en-US" sz="1200" dirty="0">
                  <a:solidFill>
                    <a:schemeClr val="accent1"/>
                  </a:solidFill>
                  <a:latin typeface="ui-monospace"/>
                </a:rPr>
                <a:t>数字证书：</a:t>
              </a:r>
              <a:r>
                <a:rPr lang="en-US" altLang="zh-CN" sz="1200" dirty="0">
                  <a:solidFill>
                    <a:schemeClr val="accent1"/>
                  </a:solidFill>
                  <a:latin typeface="ui-monospace"/>
                </a:rPr>
                <a:t>CA</a:t>
              </a:r>
              <a:r>
                <a:rPr lang="zh-CN" altLang="en-US" sz="1200" dirty="0">
                  <a:solidFill>
                    <a:schemeClr val="accent1"/>
                  </a:solidFill>
                  <a:latin typeface="ui-monospace"/>
                </a:rPr>
                <a:t>机构颁布</a:t>
              </a:r>
              <a:endParaRPr lang="en-US" altLang="zh-CN" sz="1200" dirty="0">
                <a:solidFill>
                  <a:schemeClr val="accent1"/>
                </a:solidFill>
                <a:latin typeface="ui-monospace"/>
              </a:endParaRPr>
            </a:p>
          </p:txBody>
        </p:sp>
      </p:grpSp>
      <p:graphicFrame>
        <p:nvGraphicFramePr>
          <p:cNvPr id="61" name="Table 60">
            <a:extLst>
              <a:ext uri="{FF2B5EF4-FFF2-40B4-BE49-F238E27FC236}">
                <a16:creationId xmlns:a16="http://schemas.microsoft.com/office/drawing/2014/main" id="{FAE33FBB-7BF2-3724-9DD2-487686173734}"/>
              </a:ext>
            </a:extLst>
          </p:cNvPr>
          <p:cNvGraphicFramePr>
            <a:graphicFrameLocks noGrp="1"/>
          </p:cNvGraphicFramePr>
          <p:nvPr>
            <p:extLst>
              <p:ext uri="{D42A27DB-BD31-4B8C-83A1-F6EECF244321}">
                <p14:modId xmlns:p14="http://schemas.microsoft.com/office/powerpoint/2010/main" val="1163880431"/>
              </p:ext>
            </p:extLst>
          </p:nvPr>
        </p:nvGraphicFramePr>
        <p:xfrm>
          <a:off x="7712424" y="6080837"/>
          <a:ext cx="4281575" cy="685800"/>
        </p:xfrm>
        <a:graphic>
          <a:graphicData uri="http://schemas.openxmlformats.org/drawingml/2006/table">
            <a:tbl>
              <a:tblPr firstRow="1" bandRow="1">
                <a:tableStyleId>{5C22544A-7EE6-4342-B048-85BDC9FD1C3A}</a:tableStyleId>
              </a:tblPr>
              <a:tblGrid>
                <a:gridCol w="1030652">
                  <a:extLst>
                    <a:ext uri="{9D8B030D-6E8A-4147-A177-3AD203B41FA5}">
                      <a16:colId xmlns:a16="http://schemas.microsoft.com/office/drawing/2014/main" val="4196207211"/>
                    </a:ext>
                  </a:extLst>
                </a:gridCol>
                <a:gridCol w="3250923">
                  <a:extLst>
                    <a:ext uri="{9D8B030D-6E8A-4147-A177-3AD203B41FA5}">
                      <a16:colId xmlns:a16="http://schemas.microsoft.com/office/drawing/2014/main" val="3523767036"/>
                    </a:ext>
                  </a:extLst>
                </a:gridCol>
              </a:tblGrid>
              <a:tr h="204220">
                <a:tc>
                  <a:txBody>
                    <a:bodyPr/>
                    <a:lstStyle/>
                    <a:p>
                      <a:pPr algn="ctr"/>
                      <a:r>
                        <a:rPr lang="zh-CN" altLang="en-US" sz="900" b="0" dirty="0">
                          <a:solidFill>
                            <a:schemeClr val="tx1"/>
                          </a:solidFill>
                        </a:rPr>
                        <a:t>对称加密</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DES AES 3DES RC-5 IDEA RC4</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5607175"/>
                  </a:ext>
                </a:extLst>
              </a:tr>
              <a:tr h="204220">
                <a:tc>
                  <a:txBody>
                    <a:bodyPr/>
                    <a:lstStyle/>
                    <a:p>
                      <a:pPr algn="ctr"/>
                      <a:r>
                        <a:rPr lang="zh-CN" altLang="en-US" sz="900" b="0" dirty="0">
                          <a:solidFill>
                            <a:schemeClr val="tx1"/>
                          </a:solidFill>
                        </a:rPr>
                        <a:t>非对称加密</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RSA</a:t>
                      </a:r>
                      <a:r>
                        <a:rPr lang="zh-CN" altLang="en-US" sz="900" b="0" dirty="0">
                          <a:solidFill>
                            <a:schemeClr val="tx1"/>
                          </a:solidFill>
                        </a:rPr>
                        <a:t> </a:t>
                      </a:r>
                      <a:r>
                        <a:rPr lang="en-US" altLang="zh-CN" sz="900" b="0" dirty="0">
                          <a:solidFill>
                            <a:schemeClr val="tx1"/>
                          </a:solidFill>
                        </a:rPr>
                        <a:t>ECC DSA</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0" dirty="0">
                          <a:solidFill>
                            <a:schemeClr val="tx1"/>
                          </a:solidFill>
                        </a:rPr>
                        <a:t>摘要加密</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900" b="0" dirty="0">
                          <a:solidFill>
                            <a:schemeClr val="tx1"/>
                          </a:solidFill>
                        </a:rPr>
                        <a:t>Hash</a:t>
                      </a:r>
                      <a:r>
                        <a:rPr lang="zh-CN" altLang="en-US" sz="900" b="0" dirty="0">
                          <a:solidFill>
                            <a:schemeClr val="tx1"/>
                          </a:solidFill>
                        </a:rPr>
                        <a:t>函数 </a:t>
                      </a:r>
                      <a:r>
                        <a:rPr lang="en-US" altLang="zh-CN" sz="900" b="0" dirty="0">
                          <a:solidFill>
                            <a:schemeClr val="tx1"/>
                          </a:solidFill>
                        </a:rPr>
                        <a:t>MD5 SHA</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bl>
          </a:graphicData>
        </a:graphic>
      </p:graphicFrame>
      <p:grpSp>
        <p:nvGrpSpPr>
          <p:cNvPr id="62" name="Group 61">
            <a:extLst>
              <a:ext uri="{FF2B5EF4-FFF2-40B4-BE49-F238E27FC236}">
                <a16:creationId xmlns:a16="http://schemas.microsoft.com/office/drawing/2014/main" id="{0DE70BA2-EDD3-9457-778C-6B9E1D57A809}"/>
              </a:ext>
            </a:extLst>
          </p:cNvPr>
          <p:cNvGrpSpPr/>
          <p:nvPr/>
        </p:nvGrpSpPr>
        <p:grpSpPr>
          <a:xfrm>
            <a:off x="3093374" y="6139088"/>
            <a:ext cx="4386653" cy="774752"/>
            <a:chOff x="7614613" y="5950488"/>
            <a:chExt cx="4386653" cy="774752"/>
          </a:xfrm>
        </p:grpSpPr>
        <p:sp>
          <p:nvSpPr>
            <p:cNvPr id="63" name="Rectangle: Rounded Corners 62">
              <a:extLst>
                <a:ext uri="{FF2B5EF4-FFF2-40B4-BE49-F238E27FC236}">
                  <a16:creationId xmlns:a16="http://schemas.microsoft.com/office/drawing/2014/main" id="{FAE4AD7E-65DF-424A-0060-DAE0FF242818}"/>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▶可靠性公式</a:t>
              </a:r>
              <a:endParaRPr lang="en-US" sz="1200" dirty="0">
                <a:solidFill>
                  <a:schemeClr val="bg1"/>
                </a:solidFill>
              </a:endParaRPr>
            </a:p>
          </p:txBody>
        </p:sp>
        <mc:AlternateContent xmlns:mc="http://schemas.openxmlformats.org/markup-compatibility/2006" xmlns:a14="http://schemas.microsoft.com/office/drawing/2010/main">
          <mc:Choice Requires="a14">
            <p:sp>
              <p:nvSpPr>
                <p:cNvPr id="2240" name="TextBox 2239">
                  <a:extLst>
                    <a:ext uri="{FF2B5EF4-FFF2-40B4-BE49-F238E27FC236}">
                      <a16:creationId xmlns:a16="http://schemas.microsoft.com/office/drawing/2014/main" id="{622E6768-8123-2DB2-C986-A2290F0E366F}"/>
                    </a:ext>
                  </a:extLst>
                </p:cNvPr>
                <p:cNvSpPr txBox="1"/>
                <p:nvPr/>
              </p:nvSpPr>
              <p:spPr>
                <a:xfrm>
                  <a:off x="7667294" y="6245750"/>
                  <a:ext cx="4281578" cy="479490"/>
                </a:xfrm>
                <a:prstGeom prst="rect">
                  <a:avLst/>
                </a:prstGeom>
                <a:noFill/>
              </p:spPr>
              <p:txBody>
                <a:bodyPr wrap="square">
                  <a:spAutoFit/>
                </a:bodyPr>
                <a:lstStyle/>
                <a:p>
                  <a:r>
                    <a:rPr lang="zh-CN" altLang="en-US" sz="1200" dirty="0">
                      <a:solidFill>
                        <a:schemeClr val="accent1"/>
                      </a:solidFill>
                      <a:latin typeface="ui-monospace"/>
                    </a:rPr>
                    <a:t>串联系统：</a:t>
                  </a:r>
                  <a:r>
                    <a:rPr lang="en-US" altLang="zh-CN" sz="1200" dirty="0">
                      <a:solidFill>
                        <a:schemeClr val="accent1"/>
                      </a:solidFill>
                      <a:latin typeface="ui-monospace"/>
                    </a:rPr>
                    <a:t>P=</a:t>
                  </a:r>
                  <a14:m>
                    <m:oMath xmlns:m="http://schemas.openxmlformats.org/officeDocument/2006/math">
                      <m:sSub>
                        <m:sSubPr>
                          <m:ctrlPr>
                            <a:rPr lang="en-US" altLang="zh-CN" sz="1200" i="1" dirty="0" smtClean="0">
                              <a:solidFill>
                                <a:schemeClr val="accent1"/>
                              </a:solidFill>
                              <a:latin typeface="Cambria Math" panose="02040503050406030204" pitchFamily="18" charset="0"/>
                            </a:rPr>
                          </m:ctrlPr>
                        </m:sSubPr>
                        <m:e>
                          <m:r>
                            <a:rPr lang="en-US" altLang="zh-CN" sz="1200" b="0" i="1" dirty="0" smtClean="0">
                              <a:solidFill>
                                <a:schemeClr val="accent1"/>
                              </a:solidFill>
                              <a:latin typeface="Cambria Math" panose="02040503050406030204" pitchFamily="18" charset="0"/>
                            </a:rPr>
                            <m:t>𝑅</m:t>
                          </m:r>
                        </m:e>
                        <m:sub>
                          <m:r>
                            <a:rPr lang="en-US" altLang="zh-CN" sz="1200" b="0" i="1" dirty="0" smtClean="0">
                              <a:solidFill>
                                <a:schemeClr val="accent1"/>
                              </a:solidFill>
                              <a:latin typeface="Cambria Math" panose="02040503050406030204" pitchFamily="18" charset="0"/>
                            </a:rPr>
                            <m:t>1</m:t>
                          </m:r>
                        </m:sub>
                      </m:sSub>
                      <m:sSub>
                        <m:sSubPr>
                          <m:ctrlPr>
                            <a:rPr lang="en-US" altLang="zh-CN" sz="1200" i="1" dirty="0">
                              <a:solidFill>
                                <a:schemeClr val="accent1"/>
                              </a:solidFill>
                              <a:latin typeface="Cambria Math" panose="02040503050406030204" pitchFamily="18" charset="0"/>
                            </a:rPr>
                          </m:ctrlPr>
                        </m:sSubPr>
                        <m:e>
                          <m:r>
                            <a:rPr lang="en-US" altLang="zh-CN" sz="1200" i="1" dirty="0">
                              <a:solidFill>
                                <a:schemeClr val="accent1"/>
                              </a:solidFill>
                              <a:latin typeface="Cambria Math" panose="02040503050406030204" pitchFamily="18" charset="0"/>
                            </a:rPr>
                            <m:t>𝑅</m:t>
                          </m:r>
                        </m:e>
                        <m:sub>
                          <m:r>
                            <a:rPr lang="en-US" altLang="zh-CN" sz="1200" b="0" i="1" dirty="0" smtClean="0">
                              <a:solidFill>
                                <a:schemeClr val="accent1"/>
                              </a:solidFill>
                              <a:latin typeface="Cambria Math" panose="02040503050406030204" pitchFamily="18" charset="0"/>
                            </a:rPr>
                            <m:t>2</m:t>
                          </m:r>
                        </m:sub>
                      </m:sSub>
                      <m:r>
                        <a:rPr lang="en-US" altLang="zh-CN" sz="1200" b="0" i="1" dirty="0" smtClean="0">
                          <a:solidFill>
                            <a:schemeClr val="accent1"/>
                          </a:solidFill>
                          <a:latin typeface="Cambria Math" panose="02040503050406030204" pitchFamily="18" charset="0"/>
                        </a:rPr>
                        <m:t>…</m:t>
                      </m:r>
                      <m:sSub>
                        <m:sSubPr>
                          <m:ctrlPr>
                            <a:rPr lang="en-US" altLang="zh-CN" sz="1200" i="1" dirty="0" smtClean="0">
                              <a:solidFill>
                                <a:schemeClr val="accent1"/>
                              </a:solidFill>
                              <a:latin typeface="Cambria Math" panose="02040503050406030204" pitchFamily="18" charset="0"/>
                            </a:rPr>
                          </m:ctrlPr>
                        </m:sSubPr>
                        <m:e>
                          <m:r>
                            <a:rPr lang="en-US" altLang="zh-CN" sz="1200" i="1" dirty="0">
                              <a:solidFill>
                                <a:schemeClr val="accent1"/>
                              </a:solidFill>
                              <a:latin typeface="Cambria Math" panose="02040503050406030204" pitchFamily="18" charset="0"/>
                            </a:rPr>
                            <m:t>𝑅</m:t>
                          </m:r>
                        </m:e>
                        <m:sub>
                          <m:r>
                            <a:rPr lang="en-US" altLang="zh-CN" sz="1200" b="0" i="1" dirty="0" smtClean="0">
                              <a:solidFill>
                                <a:schemeClr val="accent1"/>
                              </a:solidFill>
                              <a:latin typeface="Cambria Math" panose="02040503050406030204" pitchFamily="18" charset="0"/>
                            </a:rPr>
                            <m:t>𝑁</m:t>
                          </m:r>
                        </m:sub>
                      </m:sSub>
                    </m:oMath>
                  </a14:m>
                  <a:endParaRPr lang="en-US" altLang="zh-CN" sz="1200" dirty="0">
                    <a:solidFill>
                      <a:schemeClr val="accent1"/>
                    </a:solidFill>
                    <a:latin typeface="ui-monospace"/>
                  </a:endParaRPr>
                </a:p>
                <a:p>
                  <a:r>
                    <a:rPr lang="zh-CN" altLang="en-US" sz="1200" dirty="0">
                      <a:solidFill>
                        <a:schemeClr val="accent1"/>
                      </a:solidFill>
                      <a:latin typeface="ui-monospace"/>
                    </a:rPr>
                    <a:t>并联系统：</a:t>
                  </a:r>
                  <a:r>
                    <a:rPr lang="en-US" altLang="zh-CN" sz="1200" dirty="0">
                      <a:solidFill>
                        <a:schemeClr val="accent1"/>
                      </a:solidFill>
                      <a:latin typeface="ui-monospace"/>
                    </a:rPr>
                    <a:t> P=</a:t>
                  </a:r>
                  <a14:m>
                    <m:oMath xmlns:m="http://schemas.openxmlformats.org/officeDocument/2006/math">
                      <m:sSub>
                        <m:sSubPr>
                          <m:ctrlPr>
                            <a:rPr lang="en-US" altLang="zh-CN" sz="1200" i="1" dirty="0" smtClean="0">
                              <a:solidFill>
                                <a:schemeClr val="accent1"/>
                              </a:solidFill>
                              <a:latin typeface="Cambria Math" panose="02040503050406030204" pitchFamily="18" charset="0"/>
                            </a:rPr>
                          </m:ctrlPr>
                        </m:sSubPr>
                        <m:e>
                          <m:r>
                            <a:rPr lang="en-US" altLang="zh-CN" sz="1200" b="0" i="1" dirty="0" smtClean="0">
                              <a:solidFill>
                                <a:schemeClr val="accent1"/>
                              </a:solidFill>
                              <a:latin typeface="Cambria Math" panose="02040503050406030204" pitchFamily="18" charset="0"/>
                            </a:rPr>
                            <m:t>1−(1−</m:t>
                          </m:r>
                          <m:r>
                            <a:rPr lang="en-US" altLang="zh-CN" sz="1200" b="0" i="1" dirty="0" smtClean="0">
                              <a:solidFill>
                                <a:schemeClr val="accent1"/>
                              </a:solidFill>
                              <a:latin typeface="Cambria Math" panose="02040503050406030204" pitchFamily="18" charset="0"/>
                            </a:rPr>
                            <m:t>𝑅</m:t>
                          </m:r>
                        </m:e>
                        <m:sub>
                          <m:r>
                            <a:rPr lang="en-US" altLang="zh-CN" sz="1200" b="0" i="1" dirty="0" smtClean="0">
                              <a:solidFill>
                                <a:schemeClr val="accent1"/>
                              </a:solidFill>
                              <a:latin typeface="Cambria Math" panose="02040503050406030204" pitchFamily="18" charset="0"/>
                            </a:rPr>
                            <m:t>1</m:t>
                          </m:r>
                        </m:sub>
                      </m:sSub>
                      <m:r>
                        <a:rPr lang="en-US" altLang="zh-CN" sz="1200" b="0" i="1" dirty="0" smtClean="0">
                          <a:solidFill>
                            <a:schemeClr val="accent1"/>
                          </a:solidFill>
                          <a:latin typeface="Cambria Math" panose="02040503050406030204" pitchFamily="18" charset="0"/>
                        </a:rPr>
                        <m:t>)(1−</m:t>
                      </m:r>
                      <m:sSub>
                        <m:sSubPr>
                          <m:ctrlPr>
                            <a:rPr lang="en-US" altLang="zh-CN" sz="1200" i="1" dirty="0">
                              <a:solidFill>
                                <a:schemeClr val="accent1"/>
                              </a:solidFill>
                              <a:latin typeface="Cambria Math" panose="02040503050406030204" pitchFamily="18" charset="0"/>
                            </a:rPr>
                          </m:ctrlPr>
                        </m:sSubPr>
                        <m:e>
                          <m:r>
                            <a:rPr lang="en-US" altLang="zh-CN" sz="1200" i="1" dirty="0">
                              <a:solidFill>
                                <a:schemeClr val="accent1"/>
                              </a:solidFill>
                              <a:latin typeface="Cambria Math" panose="02040503050406030204" pitchFamily="18" charset="0"/>
                            </a:rPr>
                            <m:t>𝑅</m:t>
                          </m:r>
                        </m:e>
                        <m:sub>
                          <m:r>
                            <a:rPr lang="en-US" altLang="zh-CN" sz="1200" b="0" i="1" dirty="0" smtClean="0">
                              <a:solidFill>
                                <a:schemeClr val="accent1"/>
                              </a:solidFill>
                              <a:latin typeface="Cambria Math" panose="02040503050406030204" pitchFamily="18" charset="0"/>
                            </a:rPr>
                            <m:t>2</m:t>
                          </m:r>
                        </m:sub>
                      </m:sSub>
                      <m:r>
                        <a:rPr lang="en-US" altLang="zh-CN" sz="1200" b="0" i="1" dirty="0" smtClean="0">
                          <a:solidFill>
                            <a:schemeClr val="accent1"/>
                          </a:solidFill>
                          <a:latin typeface="Cambria Math" panose="02040503050406030204" pitchFamily="18" charset="0"/>
                        </a:rPr>
                        <m:t>)…</m:t>
                      </m:r>
                      <m:sSub>
                        <m:sSubPr>
                          <m:ctrlPr>
                            <a:rPr lang="en-US" altLang="zh-CN" sz="1200" i="1" dirty="0" smtClean="0">
                              <a:solidFill>
                                <a:schemeClr val="accent1"/>
                              </a:solidFill>
                              <a:latin typeface="Cambria Math" panose="02040503050406030204" pitchFamily="18" charset="0"/>
                            </a:rPr>
                          </m:ctrlPr>
                        </m:sSubPr>
                        <m:e>
                          <m:r>
                            <a:rPr lang="en-US" altLang="zh-CN" sz="1200" i="1" dirty="0">
                              <a:solidFill>
                                <a:schemeClr val="accent1"/>
                              </a:solidFill>
                              <a:latin typeface="Cambria Math" panose="02040503050406030204" pitchFamily="18" charset="0"/>
                            </a:rPr>
                            <m:t>(1−</m:t>
                          </m:r>
                          <m:r>
                            <a:rPr lang="en-US" altLang="zh-CN" sz="1200" i="1" dirty="0">
                              <a:solidFill>
                                <a:schemeClr val="accent1"/>
                              </a:solidFill>
                              <a:latin typeface="Cambria Math" panose="02040503050406030204" pitchFamily="18" charset="0"/>
                            </a:rPr>
                            <m:t>𝑅</m:t>
                          </m:r>
                        </m:e>
                        <m:sub>
                          <m:r>
                            <a:rPr lang="en-US" altLang="zh-CN" sz="1200" b="0" i="1" dirty="0" smtClean="0">
                              <a:solidFill>
                                <a:schemeClr val="accent1"/>
                              </a:solidFill>
                              <a:latin typeface="Cambria Math" panose="02040503050406030204" pitchFamily="18" charset="0"/>
                            </a:rPr>
                            <m:t>𝑁</m:t>
                          </m:r>
                        </m:sub>
                      </m:sSub>
                      <m:r>
                        <a:rPr lang="en-US" altLang="zh-CN" sz="1200" b="0" i="1" dirty="0" smtClean="0">
                          <a:solidFill>
                            <a:schemeClr val="accent1"/>
                          </a:solidFill>
                          <a:latin typeface="Cambria Math" panose="02040503050406030204" pitchFamily="18" charset="0"/>
                        </a:rPr>
                        <m:t>)</m:t>
                      </m:r>
                    </m:oMath>
                  </a14:m>
                  <a:endParaRPr lang="en-US" altLang="zh-CN" sz="1200" dirty="0">
                    <a:solidFill>
                      <a:schemeClr val="accent1"/>
                    </a:solidFill>
                    <a:latin typeface="ui-monospace"/>
                  </a:endParaRPr>
                </a:p>
              </p:txBody>
            </p:sp>
          </mc:Choice>
          <mc:Fallback xmlns="">
            <p:sp>
              <p:nvSpPr>
                <p:cNvPr id="2240" name="TextBox 2239">
                  <a:extLst>
                    <a:ext uri="{FF2B5EF4-FFF2-40B4-BE49-F238E27FC236}">
                      <a16:creationId xmlns:a16="http://schemas.microsoft.com/office/drawing/2014/main" id="{622E6768-8123-2DB2-C986-A2290F0E366F}"/>
                    </a:ext>
                  </a:extLst>
                </p:cNvPr>
                <p:cNvSpPr txBox="1">
                  <a:spLocks noRot="1" noChangeAspect="1" noMove="1" noResize="1" noEditPoints="1" noAdjustHandles="1" noChangeArrowheads="1" noChangeShapeType="1" noTextEdit="1"/>
                </p:cNvSpPr>
                <p:nvPr/>
              </p:nvSpPr>
              <p:spPr>
                <a:xfrm>
                  <a:off x="7667294" y="6245750"/>
                  <a:ext cx="4281578" cy="479490"/>
                </a:xfrm>
                <a:prstGeom prst="rect">
                  <a:avLst/>
                </a:prstGeom>
                <a:blipFill>
                  <a:blip r:embed="rId3"/>
                  <a:stretch>
                    <a:fillRect t="-1282" b="-6410"/>
                  </a:stretch>
                </a:blipFill>
              </p:spPr>
              <p:txBody>
                <a:bodyPr/>
                <a:lstStyle/>
                <a:p>
                  <a:r>
                    <a:rPr lang="en-US">
                      <a:noFill/>
                    </a:rPr>
                    <a:t> </a:t>
                  </a:r>
                </a:p>
              </p:txBody>
            </p:sp>
          </mc:Fallback>
        </mc:AlternateContent>
      </p:grpSp>
      <p:graphicFrame>
        <p:nvGraphicFramePr>
          <p:cNvPr id="2241" name="Table 2240">
            <a:extLst>
              <a:ext uri="{FF2B5EF4-FFF2-40B4-BE49-F238E27FC236}">
                <a16:creationId xmlns:a16="http://schemas.microsoft.com/office/drawing/2014/main" id="{F96E6FBF-990B-977A-E5E5-91FD31690707}"/>
              </a:ext>
            </a:extLst>
          </p:cNvPr>
          <p:cNvGraphicFramePr>
            <a:graphicFrameLocks noGrp="1"/>
          </p:cNvGraphicFramePr>
          <p:nvPr>
            <p:extLst>
              <p:ext uri="{D42A27DB-BD31-4B8C-83A1-F6EECF244321}">
                <p14:modId xmlns:p14="http://schemas.microsoft.com/office/powerpoint/2010/main" val="4031615912"/>
              </p:ext>
            </p:extLst>
          </p:nvPr>
        </p:nvGraphicFramePr>
        <p:xfrm>
          <a:off x="7712424" y="404593"/>
          <a:ext cx="4281575" cy="1783080"/>
        </p:xfrm>
        <a:graphic>
          <a:graphicData uri="http://schemas.openxmlformats.org/drawingml/2006/table">
            <a:tbl>
              <a:tblPr firstRow="1" bandRow="1">
                <a:tableStyleId>{5C22544A-7EE6-4342-B048-85BDC9FD1C3A}</a:tableStyleId>
              </a:tblPr>
              <a:tblGrid>
                <a:gridCol w="1030652">
                  <a:extLst>
                    <a:ext uri="{9D8B030D-6E8A-4147-A177-3AD203B41FA5}">
                      <a16:colId xmlns:a16="http://schemas.microsoft.com/office/drawing/2014/main" val="4196207211"/>
                    </a:ext>
                  </a:extLst>
                </a:gridCol>
                <a:gridCol w="3250923">
                  <a:extLst>
                    <a:ext uri="{9D8B030D-6E8A-4147-A177-3AD203B41FA5}">
                      <a16:colId xmlns:a16="http://schemas.microsoft.com/office/drawing/2014/main" val="3523767036"/>
                    </a:ext>
                  </a:extLst>
                </a:gridCol>
              </a:tblGrid>
              <a:tr h="204220">
                <a:tc>
                  <a:txBody>
                    <a:bodyPr/>
                    <a:lstStyle/>
                    <a:p>
                      <a:pPr algn="ctr"/>
                      <a:r>
                        <a:rPr lang="zh-CN" altLang="en-US" sz="900" b="0" dirty="0">
                          <a:solidFill>
                            <a:schemeClr val="tx1"/>
                          </a:solidFill>
                        </a:rPr>
                        <a:t>程序查询方式</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CN" sz="900" b="0" dirty="0">
                          <a:solidFill>
                            <a:schemeClr val="tx1"/>
                          </a:solidFill>
                        </a:rPr>
                        <a:t>-CPU</a:t>
                      </a:r>
                      <a:r>
                        <a:rPr lang="zh-CN" altLang="en-US" sz="900" b="0" dirty="0">
                          <a:solidFill>
                            <a:schemeClr val="tx1"/>
                          </a:solidFill>
                        </a:rPr>
                        <a:t>和</a:t>
                      </a:r>
                      <a:r>
                        <a:rPr lang="en-US" altLang="zh-CN" sz="900" b="0" dirty="0">
                          <a:solidFill>
                            <a:schemeClr val="tx1"/>
                          </a:solidFill>
                        </a:rPr>
                        <a:t>I/O</a:t>
                      </a:r>
                      <a:r>
                        <a:rPr lang="zh-CN" altLang="en-US" sz="900" b="0" dirty="0">
                          <a:solidFill>
                            <a:schemeClr val="tx1"/>
                          </a:solidFill>
                        </a:rPr>
                        <a:t>设备只能串行工作，轮询检查</a:t>
                      </a:r>
                    </a:p>
                    <a:p>
                      <a:pPr algn="l"/>
                      <a:r>
                        <a:rPr lang="en-US" altLang="zh-CN" sz="900" b="0" dirty="0">
                          <a:solidFill>
                            <a:schemeClr val="tx1"/>
                          </a:solidFill>
                        </a:rPr>
                        <a:t>-</a:t>
                      </a:r>
                      <a:r>
                        <a:rPr lang="zh-CN" altLang="en-US" sz="900" b="0" dirty="0">
                          <a:solidFill>
                            <a:schemeClr val="tx1"/>
                          </a:solidFill>
                        </a:rPr>
                        <a:t>一次只能读写一个字</a:t>
                      </a:r>
                    </a:p>
                    <a:p>
                      <a:pPr algn="l"/>
                      <a:r>
                        <a:rPr lang="en-US" altLang="zh-CN" sz="900" b="0" dirty="0">
                          <a:solidFill>
                            <a:schemeClr val="tx1"/>
                          </a:solidFill>
                        </a:rPr>
                        <a:t>-</a:t>
                      </a:r>
                      <a:r>
                        <a:rPr lang="zh-CN" altLang="en-US" sz="900" b="0" dirty="0">
                          <a:solidFill>
                            <a:schemeClr val="tx1"/>
                          </a:solidFill>
                        </a:rPr>
                        <a:t>由</a:t>
                      </a:r>
                      <a:r>
                        <a:rPr lang="en-US" altLang="zh-CN" sz="900" b="0" dirty="0">
                          <a:solidFill>
                            <a:schemeClr val="tx1"/>
                          </a:solidFill>
                        </a:rPr>
                        <a:t>CPU</a:t>
                      </a:r>
                      <a:r>
                        <a:rPr lang="zh-CN" altLang="en-US" sz="900" b="0" dirty="0">
                          <a:solidFill>
                            <a:schemeClr val="tx1"/>
                          </a:solidFill>
                        </a:rPr>
                        <a:t>将数据放入内存</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5607175"/>
                  </a:ext>
                </a:extLst>
              </a:tr>
              <a:tr h="204220">
                <a:tc>
                  <a:txBody>
                    <a:bodyPr/>
                    <a:lstStyle/>
                    <a:p>
                      <a:pPr algn="ctr"/>
                      <a:r>
                        <a:rPr lang="zh-CN" altLang="en-US" sz="900" b="0" dirty="0">
                          <a:solidFill>
                            <a:schemeClr val="tx1"/>
                          </a:solidFill>
                        </a:rPr>
                        <a:t>中断驱动方式</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CN" sz="900" b="0" dirty="0">
                          <a:solidFill>
                            <a:schemeClr val="tx1"/>
                          </a:solidFill>
                        </a:rPr>
                        <a:t>-I/O</a:t>
                      </a:r>
                      <a:r>
                        <a:rPr lang="zh-CN" altLang="en-US" sz="900" b="0" dirty="0">
                          <a:solidFill>
                            <a:schemeClr val="tx1"/>
                          </a:solidFill>
                        </a:rPr>
                        <a:t>设备通过中断信号主动报告操作已完成</a:t>
                      </a:r>
                    </a:p>
                    <a:p>
                      <a:pPr algn="l"/>
                      <a:r>
                        <a:rPr lang="en-US" altLang="zh-CN" sz="900" b="0" dirty="0">
                          <a:solidFill>
                            <a:schemeClr val="tx1"/>
                          </a:solidFill>
                        </a:rPr>
                        <a:t>-CPU</a:t>
                      </a:r>
                      <a:r>
                        <a:rPr lang="zh-CN" altLang="en-US" sz="900" b="0" dirty="0">
                          <a:solidFill>
                            <a:schemeClr val="tx1"/>
                          </a:solidFill>
                        </a:rPr>
                        <a:t>和</a:t>
                      </a:r>
                      <a:r>
                        <a:rPr lang="en-US" altLang="zh-CN" sz="900" b="0" dirty="0">
                          <a:solidFill>
                            <a:schemeClr val="tx1"/>
                          </a:solidFill>
                        </a:rPr>
                        <a:t>I/O</a:t>
                      </a:r>
                      <a:r>
                        <a:rPr lang="zh-CN" altLang="en-US" sz="900" b="0" dirty="0">
                          <a:solidFill>
                            <a:schemeClr val="tx1"/>
                          </a:solidFill>
                        </a:rPr>
                        <a:t>设备可</a:t>
                      </a:r>
                      <a:r>
                        <a:rPr lang="zh-CN" altLang="en-US" sz="900" b="1" dirty="0">
                          <a:solidFill>
                            <a:schemeClr val="tx1"/>
                          </a:solidFill>
                        </a:rPr>
                        <a:t>并行</a:t>
                      </a:r>
                      <a:r>
                        <a:rPr lang="zh-CN" altLang="en-US" sz="900" b="0" dirty="0">
                          <a:solidFill>
                            <a:schemeClr val="tx1"/>
                          </a:solidFill>
                        </a:rPr>
                        <a:t>工作。提升</a:t>
                      </a:r>
                      <a:r>
                        <a:rPr lang="en-US" altLang="zh-CN" sz="900" b="0" dirty="0">
                          <a:solidFill>
                            <a:schemeClr val="tx1"/>
                          </a:solidFill>
                        </a:rPr>
                        <a:t>CPU</a:t>
                      </a:r>
                      <a:r>
                        <a:rPr lang="zh-CN" altLang="en-US" sz="900" b="0" dirty="0">
                          <a:solidFill>
                            <a:schemeClr val="tx1"/>
                          </a:solidFill>
                        </a:rPr>
                        <a:t>利用率</a:t>
                      </a:r>
                    </a:p>
                    <a:p>
                      <a:pPr algn="l"/>
                      <a:r>
                        <a:rPr lang="en-US" altLang="zh-CN" sz="900" b="0" dirty="0">
                          <a:solidFill>
                            <a:schemeClr val="tx1"/>
                          </a:solidFill>
                        </a:rPr>
                        <a:t>-</a:t>
                      </a:r>
                      <a:r>
                        <a:rPr lang="zh-CN" altLang="en-US" sz="900" b="0" dirty="0">
                          <a:solidFill>
                            <a:schemeClr val="tx1"/>
                          </a:solidFill>
                        </a:rPr>
                        <a:t>一次只能读写一个字</a:t>
                      </a:r>
                    </a:p>
                    <a:p>
                      <a:pPr algn="l"/>
                      <a:r>
                        <a:rPr lang="en-US" altLang="zh-CN" sz="900" b="0" dirty="0">
                          <a:solidFill>
                            <a:schemeClr val="tx1"/>
                          </a:solidFill>
                        </a:rPr>
                        <a:t>-</a:t>
                      </a:r>
                      <a:r>
                        <a:rPr lang="zh-CN" altLang="en-US" sz="900" b="0" dirty="0">
                          <a:solidFill>
                            <a:schemeClr val="tx1"/>
                          </a:solidFill>
                        </a:rPr>
                        <a:t>由</a:t>
                      </a:r>
                      <a:r>
                        <a:rPr lang="en-US" altLang="zh-CN" sz="900" b="0" dirty="0">
                          <a:solidFill>
                            <a:schemeClr val="tx1"/>
                          </a:solidFill>
                        </a:rPr>
                        <a:t>CPU</a:t>
                      </a:r>
                      <a:r>
                        <a:rPr lang="zh-CN" altLang="en-US" sz="900" b="0" dirty="0">
                          <a:solidFill>
                            <a:schemeClr val="tx1"/>
                          </a:solidFill>
                        </a:rPr>
                        <a:t>将数据放入内存</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0" dirty="0">
                          <a:solidFill>
                            <a:schemeClr val="tx1"/>
                          </a:solidFill>
                        </a:rPr>
                        <a:t>直接存储器方式</a:t>
                      </a:r>
                      <a:r>
                        <a:rPr lang="en-US" altLang="zh-CN" sz="900" b="1" dirty="0">
                          <a:solidFill>
                            <a:schemeClr val="tx1"/>
                          </a:solidFill>
                        </a:rPr>
                        <a:t>(DMA)</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CN" sz="900" b="0" dirty="0">
                          <a:solidFill>
                            <a:schemeClr val="tx1"/>
                          </a:solidFill>
                        </a:rPr>
                        <a:t>-CPU</a:t>
                      </a:r>
                      <a:r>
                        <a:rPr lang="zh-CN" altLang="en-US" sz="900" b="0" dirty="0">
                          <a:solidFill>
                            <a:schemeClr val="tx1"/>
                          </a:solidFill>
                        </a:rPr>
                        <a:t>和</a:t>
                      </a:r>
                      <a:r>
                        <a:rPr lang="en-US" altLang="zh-CN" sz="900" b="0" dirty="0">
                          <a:solidFill>
                            <a:schemeClr val="tx1"/>
                          </a:solidFill>
                        </a:rPr>
                        <a:t>I/O</a:t>
                      </a:r>
                      <a:r>
                        <a:rPr lang="zh-CN" altLang="en-US" sz="900" b="0" dirty="0">
                          <a:solidFill>
                            <a:schemeClr val="tx1"/>
                          </a:solidFill>
                        </a:rPr>
                        <a:t>设备可并行工作</a:t>
                      </a:r>
                    </a:p>
                    <a:p>
                      <a:pPr algn="l"/>
                      <a:r>
                        <a:rPr lang="en-US" altLang="zh-CN" sz="900" b="0" dirty="0">
                          <a:solidFill>
                            <a:schemeClr val="tx1"/>
                          </a:solidFill>
                        </a:rPr>
                        <a:t>-</a:t>
                      </a:r>
                      <a:r>
                        <a:rPr lang="zh-CN" altLang="en-US" sz="900" b="0" dirty="0">
                          <a:solidFill>
                            <a:schemeClr val="tx1"/>
                          </a:solidFill>
                        </a:rPr>
                        <a:t>仅在传送数据块的开始和结束时需</a:t>
                      </a:r>
                      <a:r>
                        <a:rPr lang="en-US" altLang="zh-CN" sz="900" b="0" dirty="0">
                          <a:solidFill>
                            <a:schemeClr val="tx1"/>
                          </a:solidFill>
                        </a:rPr>
                        <a:t>CPU</a:t>
                      </a:r>
                      <a:r>
                        <a:rPr lang="zh-CN" altLang="en-US" sz="900" b="0" dirty="0">
                          <a:solidFill>
                            <a:schemeClr val="tx1"/>
                          </a:solidFill>
                        </a:rPr>
                        <a:t>干预</a:t>
                      </a:r>
                    </a:p>
                    <a:p>
                      <a:pPr algn="l"/>
                      <a:r>
                        <a:rPr lang="en-US" altLang="zh-CN" sz="900" b="0" dirty="0">
                          <a:solidFill>
                            <a:schemeClr val="tx1"/>
                          </a:solidFill>
                        </a:rPr>
                        <a:t>-</a:t>
                      </a:r>
                      <a:r>
                        <a:rPr lang="zh-CN" altLang="en-US" sz="900" b="0" dirty="0">
                          <a:solidFill>
                            <a:schemeClr val="tx1"/>
                          </a:solidFill>
                        </a:rPr>
                        <a:t>一次读写一个</a:t>
                      </a:r>
                      <a:r>
                        <a:rPr lang="zh-CN" altLang="en-US" sz="900" b="1" dirty="0">
                          <a:solidFill>
                            <a:schemeClr val="tx1"/>
                          </a:solidFill>
                        </a:rPr>
                        <a:t>块</a:t>
                      </a:r>
                    </a:p>
                    <a:p>
                      <a:pPr algn="l"/>
                      <a:r>
                        <a:rPr lang="en-US" altLang="zh-CN" sz="900" b="0" dirty="0">
                          <a:solidFill>
                            <a:schemeClr val="tx1"/>
                          </a:solidFill>
                        </a:rPr>
                        <a:t>-</a:t>
                      </a:r>
                      <a:r>
                        <a:rPr lang="zh-CN" altLang="en-US" sz="900" b="0" dirty="0">
                          <a:solidFill>
                            <a:schemeClr val="tx1"/>
                          </a:solidFill>
                        </a:rPr>
                        <a:t>由</a:t>
                      </a:r>
                      <a:r>
                        <a:rPr lang="zh-CN" altLang="en-US" sz="900" b="1" dirty="0">
                          <a:solidFill>
                            <a:schemeClr val="tx1"/>
                          </a:solidFill>
                        </a:rPr>
                        <a:t>外设直接</a:t>
                      </a:r>
                      <a:r>
                        <a:rPr lang="zh-CN" altLang="en-US" sz="900" b="0" dirty="0">
                          <a:solidFill>
                            <a:schemeClr val="tx1"/>
                          </a:solidFill>
                        </a:rPr>
                        <a:t>将数据放入内存</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bl>
          </a:graphicData>
        </a:graphic>
      </p:graphicFrame>
      <p:pic>
        <p:nvPicPr>
          <p:cNvPr id="2242" name="Picture 2241">
            <a:extLst>
              <a:ext uri="{FF2B5EF4-FFF2-40B4-BE49-F238E27FC236}">
                <a16:creationId xmlns:a16="http://schemas.microsoft.com/office/drawing/2014/main" id="{C7BD6D8D-EDC7-B5C0-F94B-D2284F33242E}"/>
              </a:ext>
            </a:extLst>
          </p:cNvPr>
          <p:cNvPicPr>
            <a:picLocks noChangeAspect="1"/>
          </p:cNvPicPr>
          <p:nvPr/>
        </p:nvPicPr>
        <p:blipFill>
          <a:blip r:embed="rId4"/>
          <a:stretch>
            <a:fillRect/>
          </a:stretch>
        </p:blipFill>
        <p:spPr>
          <a:xfrm>
            <a:off x="10990590" y="5343562"/>
            <a:ext cx="1003409" cy="628221"/>
          </a:xfrm>
          <a:prstGeom prst="rect">
            <a:avLst/>
          </a:prstGeom>
        </p:spPr>
      </p:pic>
    </p:spTree>
    <p:extLst>
      <p:ext uri="{BB962C8B-B14F-4D97-AF65-F5344CB8AC3E}">
        <p14:creationId xmlns:p14="http://schemas.microsoft.com/office/powerpoint/2010/main" val="2950069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F964D42B-738E-DE70-8AE2-C483DA44AB47}"/>
              </a:ext>
            </a:extLst>
          </p:cNvPr>
          <p:cNvPicPr>
            <a:picLocks noChangeAspect="1"/>
          </p:cNvPicPr>
          <p:nvPr/>
        </p:nvPicPr>
        <p:blipFill>
          <a:blip r:embed="rId2"/>
          <a:stretch>
            <a:fillRect/>
          </a:stretch>
        </p:blipFill>
        <p:spPr>
          <a:xfrm>
            <a:off x="10747362" y="2466720"/>
            <a:ext cx="1288465" cy="646331"/>
          </a:xfrm>
          <a:prstGeom prst="rect">
            <a:avLst/>
          </a:prstGeom>
        </p:spPr>
      </p:pic>
      <p:grpSp>
        <p:nvGrpSpPr>
          <p:cNvPr id="28" name="Group 27">
            <a:extLst>
              <a:ext uri="{FF2B5EF4-FFF2-40B4-BE49-F238E27FC236}">
                <a16:creationId xmlns:a16="http://schemas.microsoft.com/office/drawing/2014/main" id="{058918D5-9CCD-209E-02DD-9F83AB39BBB6}"/>
              </a:ext>
            </a:extLst>
          </p:cNvPr>
          <p:cNvGrpSpPr/>
          <p:nvPr/>
        </p:nvGrpSpPr>
        <p:grpSpPr>
          <a:xfrm>
            <a:off x="7674817" y="3081087"/>
            <a:ext cx="4386653" cy="1310925"/>
            <a:chOff x="7614613" y="5950488"/>
            <a:chExt cx="4386653" cy="1310925"/>
          </a:xfrm>
        </p:grpSpPr>
        <p:sp>
          <p:nvSpPr>
            <p:cNvPr id="30" name="TextBox 29">
              <a:extLst>
                <a:ext uri="{FF2B5EF4-FFF2-40B4-BE49-F238E27FC236}">
                  <a16:creationId xmlns:a16="http://schemas.microsoft.com/office/drawing/2014/main" id="{0DAAC108-E657-CCF5-1946-004DCD2103DE}"/>
                </a:ext>
              </a:extLst>
            </p:cNvPr>
            <p:cNvSpPr txBox="1"/>
            <p:nvPr/>
          </p:nvSpPr>
          <p:spPr>
            <a:xfrm>
              <a:off x="7667294" y="6245750"/>
              <a:ext cx="4281578" cy="1015663"/>
            </a:xfrm>
            <a:prstGeom prst="rect">
              <a:avLst/>
            </a:prstGeom>
            <a:noFill/>
          </p:spPr>
          <p:txBody>
            <a:bodyPr wrap="square">
              <a:spAutoFit/>
            </a:bodyPr>
            <a:lstStyle/>
            <a:p>
              <a:r>
                <a:rPr lang="zh-CN" altLang="en-US" sz="1200" dirty="0">
                  <a:solidFill>
                    <a:schemeClr val="accent1"/>
                  </a:solidFill>
                  <a:latin typeface="ui-monospace"/>
                </a:rPr>
                <a:t>广泛用于程序设计语言的</a:t>
              </a:r>
              <a:r>
                <a:rPr lang="zh-CN" altLang="en-US" sz="1200" b="1" dirty="0">
                  <a:solidFill>
                    <a:schemeClr val="accent1"/>
                  </a:solidFill>
                  <a:latin typeface="ui-monospace"/>
                </a:rPr>
                <a:t>语法</a:t>
              </a:r>
              <a:r>
                <a:rPr lang="zh-CN" altLang="en-US" sz="1200" dirty="0">
                  <a:solidFill>
                    <a:schemeClr val="accent1"/>
                  </a:solidFill>
                  <a:latin typeface="ui-monospace"/>
                </a:rPr>
                <a:t>规则</a:t>
              </a:r>
              <a:endParaRPr lang="en-US" altLang="zh-CN" sz="1200" dirty="0">
                <a:solidFill>
                  <a:schemeClr val="accent1"/>
                </a:solidFill>
                <a:latin typeface="ui-monospace"/>
              </a:endParaRPr>
            </a:p>
            <a:p>
              <a:r>
                <a:rPr lang="en-US" altLang="zh-CN" sz="1200" dirty="0">
                  <a:solidFill>
                    <a:schemeClr val="accent1"/>
                  </a:solidFill>
                  <a:latin typeface="ui-monospace"/>
                </a:rPr>
                <a:t>S</a:t>
              </a:r>
              <a:r>
                <a:rPr lang="zh-CN" altLang="en-US" sz="1200" dirty="0">
                  <a:solidFill>
                    <a:schemeClr val="accent1"/>
                  </a:solidFill>
                  <a:latin typeface="ui-monospace"/>
                </a:rPr>
                <a:t>是起始符号</a:t>
              </a:r>
              <a:endParaRPr lang="en-US" altLang="zh-CN" sz="1200" dirty="0">
                <a:solidFill>
                  <a:schemeClr val="accent1"/>
                </a:solidFill>
                <a:latin typeface="ui-monospace"/>
              </a:endParaRPr>
            </a:p>
            <a:p>
              <a:r>
                <a:rPr lang="en-US" altLang="zh-CN" sz="1200" dirty="0">
                  <a:solidFill>
                    <a:schemeClr val="accent1"/>
                  </a:solidFill>
                  <a:latin typeface="ui-monospace"/>
                </a:rPr>
                <a:t>V</a:t>
              </a:r>
              <a:r>
                <a:rPr lang="zh-CN" altLang="en-US" sz="1200" dirty="0">
                  <a:solidFill>
                    <a:schemeClr val="accent1"/>
                  </a:solidFill>
                  <a:latin typeface="ui-monospace"/>
                </a:rPr>
                <a:t>是非终结符集合</a:t>
              </a:r>
              <a:endParaRPr lang="en-US" altLang="zh-CN" sz="1200" dirty="0">
                <a:solidFill>
                  <a:schemeClr val="accent1"/>
                </a:solidFill>
                <a:latin typeface="ui-monospace"/>
              </a:endParaRPr>
            </a:p>
            <a:p>
              <a:r>
                <a:rPr lang="en-US" altLang="zh-CN" sz="1200" dirty="0">
                  <a:solidFill>
                    <a:schemeClr val="accent1"/>
                  </a:solidFill>
                  <a:latin typeface="ui-monospace"/>
                </a:rPr>
                <a:t>P</a:t>
              </a:r>
              <a:r>
                <a:rPr lang="zh-CN" altLang="en-US" sz="1200" dirty="0">
                  <a:solidFill>
                    <a:schemeClr val="accent1"/>
                  </a:solidFill>
                  <a:latin typeface="ui-monospace"/>
                </a:rPr>
                <a:t>是产生式规则集合</a:t>
              </a:r>
              <a:endParaRPr lang="en-US" altLang="zh-CN" sz="1200" dirty="0">
                <a:solidFill>
                  <a:schemeClr val="accent1"/>
                </a:solidFill>
                <a:latin typeface="ui-monospace"/>
              </a:endParaRPr>
            </a:p>
            <a:p>
              <a:r>
                <a:rPr lang="en-US" altLang="zh-CN" sz="1200" dirty="0">
                  <a:solidFill>
                    <a:schemeClr val="accent1"/>
                  </a:solidFill>
                  <a:latin typeface="ui-monospace"/>
                </a:rPr>
                <a:t>T</a:t>
              </a:r>
              <a:r>
                <a:rPr lang="zh-CN" altLang="en-US" sz="1200" dirty="0">
                  <a:solidFill>
                    <a:schemeClr val="accent1"/>
                  </a:solidFill>
                  <a:latin typeface="ui-monospace"/>
                </a:rPr>
                <a:t>是</a:t>
              </a:r>
              <a:r>
                <a:rPr lang="zh-CN" altLang="en-US" sz="1200" b="1" dirty="0">
                  <a:solidFill>
                    <a:schemeClr val="accent1"/>
                  </a:solidFill>
                  <a:latin typeface="ui-monospace"/>
                </a:rPr>
                <a:t>终结符</a:t>
              </a:r>
              <a:r>
                <a:rPr lang="zh-CN" altLang="en-US" sz="1200" dirty="0">
                  <a:solidFill>
                    <a:schemeClr val="accent1"/>
                  </a:solidFill>
                  <a:latin typeface="ui-monospace"/>
                </a:rPr>
                <a:t>集合，一般为小写字母</a:t>
              </a:r>
              <a:endParaRPr lang="en-US" altLang="zh-CN" sz="1200" dirty="0">
                <a:solidFill>
                  <a:schemeClr val="accent1"/>
                </a:solidFill>
                <a:latin typeface="ui-monospace"/>
              </a:endParaRPr>
            </a:p>
          </p:txBody>
        </p:sp>
        <p:sp>
          <p:nvSpPr>
            <p:cNvPr id="29" name="Rectangle: Rounded Corners 28">
              <a:extLst>
                <a:ext uri="{FF2B5EF4-FFF2-40B4-BE49-F238E27FC236}">
                  <a16:creationId xmlns:a16="http://schemas.microsoft.com/office/drawing/2014/main" id="{6793F570-CDFF-4FF3-3EAB-65CE179B471F}"/>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▶上下文无关文法 </a:t>
              </a:r>
              <a:r>
                <a:rPr lang="en-US" altLang="zh-CN" sz="1200" dirty="0">
                  <a:solidFill>
                    <a:schemeClr val="bg1"/>
                  </a:solidFill>
                  <a:latin typeface="ui-monospace"/>
                </a:rPr>
                <a:t>CFG</a:t>
              </a:r>
            </a:p>
          </p:txBody>
        </p:sp>
      </p:grpSp>
      <p:grpSp>
        <p:nvGrpSpPr>
          <p:cNvPr id="23" name="Group 22">
            <a:extLst>
              <a:ext uri="{FF2B5EF4-FFF2-40B4-BE49-F238E27FC236}">
                <a16:creationId xmlns:a16="http://schemas.microsoft.com/office/drawing/2014/main" id="{AD154B6D-DD74-E69B-975A-04A5C0DC4409}"/>
              </a:ext>
            </a:extLst>
          </p:cNvPr>
          <p:cNvGrpSpPr/>
          <p:nvPr/>
        </p:nvGrpSpPr>
        <p:grpSpPr>
          <a:xfrm>
            <a:off x="7674817" y="2187549"/>
            <a:ext cx="4386653" cy="941593"/>
            <a:chOff x="7614613" y="5950488"/>
            <a:chExt cx="4386653" cy="941593"/>
          </a:xfrm>
        </p:grpSpPr>
        <p:sp>
          <p:nvSpPr>
            <p:cNvPr id="24" name="Rectangle: Rounded Corners 23">
              <a:extLst>
                <a:ext uri="{FF2B5EF4-FFF2-40B4-BE49-F238E27FC236}">
                  <a16:creationId xmlns:a16="http://schemas.microsoft.com/office/drawing/2014/main" id="{942F1438-FC6F-54BE-770A-2C40A29D191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▶有限自动机</a:t>
              </a:r>
              <a:endParaRPr lang="en-US" altLang="zh-CN" sz="1200" dirty="0">
                <a:solidFill>
                  <a:schemeClr val="bg1"/>
                </a:solidFill>
                <a:latin typeface="ui-monospace"/>
              </a:endParaRPr>
            </a:p>
          </p:txBody>
        </p:sp>
        <p:sp>
          <p:nvSpPr>
            <p:cNvPr id="25" name="TextBox 24">
              <a:extLst>
                <a:ext uri="{FF2B5EF4-FFF2-40B4-BE49-F238E27FC236}">
                  <a16:creationId xmlns:a16="http://schemas.microsoft.com/office/drawing/2014/main" id="{2C13D58E-3884-4B58-1177-E346D81EAFE3}"/>
                </a:ext>
              </a:extLst>
            </p:cNvPr>
            <p:cNvSpPr txBox="1"/>
            <p:nvPr/>
          </p:nvSpPr>
          <p:spPr>
            <a:xfrm>
              <a:off x="7667294" y="6245750"/>
              <a:ext cx="4281578" cy="646331"/>
            </a:xfrm>
            <a:prstGeom prst="rect">
              <a:avLst/>
            </a:prstGeom>
            <a:noFill/>
          </p:spPr>
          <p:txBody>
            <a:bodyPr wrap="square">
              <a:spAutoFit/>
            </a:bodyPr>
            <a:lstStyle/>
            <a:p>
              <a:r>
                <a:rPr lang="zh-CN" altLang="en-US" sz="1200" b="1" dirty="0">
                  <a:solidFill>
                    <a:schemeClr val="accent1"/>
                  </a:solidFill>
                  <a:latin typeface="ui-monospace"/>
                </a:rPr>
                <a:t>词法分析</a:t>
              </a:r>
              <a:r>
                <a:rPr lang="zh-CN" altLang="en-US" sz="1200" dirty="0">
                  <a:solidFill>
                    <a:schemeClr val="accent1"/>
                  </a:solidFill>
                  <a:latin typeface="ui-monospace"/>
                </a:rPr>
                <a:t>的工具，正确识别正规集</a:t>
              </a:r>
              <a:endParaRPr lang="en-US" altLang="zh-CN" sz="1200" dirty="0">
                <a:solidFill>
                  <a:schemeClr val="accent1"/>
                </a:solidFill>
                <a:latin typeface="ui-monospace"/>
              </a:endParaRPr>
            </a:p>
            <a:p>
              <a:r>
                <a:rPr lang="zh-CN" altLang="en-US" sz="1200" dirty="0">
                  <a:solidFill>
                    <a:schemeClr val="accent1"/>
                  </a:solidFill>
                  <a:latin typeface="ui-monospace"/>
                </a:rPr>
                <a:t>确定的有限自动机</a:t>
              </a:r>
              <a:r>
                <a:rPr lang="en-US" altLang="zh-CN" sz="1200" dirty="0">
                  <a:solidFill>
                    <a:schemeClr val="accent1"/>
                  </a:solidFill>
                  <a:latin typeface="ui-monospace"/>
                </a:rPr>
                <a:t>(DFA)</a:t>
              </a:r>
            </a:p>
            <a:p>
              <a:r>
                <a:rPr lang="zh-CN" altLang="en-US" sz="1200" dirty="0">
                  <a:solidFill>
                    <a:schemeClr val="accent1"/>
                  </a:solidFill>
                  <a:latin typeface="ui-monospace"/>
                </a:rPr>
                <a:t>不确定的有限自动机</a:t>
              </a:r>
              <a:r>
                <a:rPr lang="en-US" altLang="zh-CN" sz="1200" dirty="0">
                  <a:solidFill>
                    <a:schemeClr val="accent1"/>
                  </a:solidFill>
                  <a:latin typeface="ui-monospace"/>
                </a:rPr>
                <a:t>(NFA)</a:t>
              </a:r>
              <a:r>
                <a:rPr lang="zh-CN" altLang="en-US" sz="1200" dirty="0">
                  <a:solidFill>
                    <a:schemeClr val="accent1"/>
                  </a:solidFill>
                  <a:latin typeface="ui-monospace"/>
                </a:rPr>
                <a:t>：状态转移不确定</a:t>
              </a:r>
              <a:endParaRPr lang="en-US" altLang="zh-CN" sz="1200" dirty="0">
                <a:solidFill>
                  <a:schemeClr val="accent1"/>
                </a:solidFill>
                <a:latin typeface="ui-monospace"/>
              </a:endParaRPr>
            </a:p>
          </p:txBody>
        </p:sp>
      </p:grpSp>
      <p:pic>
        <p:nvPicPr>
          <p:cNvPr id="33" name="Picture 32">
            <a:extLst>
              <a:ext uri="{FF2B5EF4-FFF2-40B4-BE49-F238E27FC236}">
                <a16:creationId xmlns:a16="http://schemas.microsoft.com/office/drawing/2014/main" id="{DC7D22E4-7928-FF8D-19A5-EAE2067A0A79}"/>
              </a:ext>
            </a:extLst>
          </p:cNvPr>
          <p:cNvPicPr>
            <a:picLocks noChangeAspect="1"/>
          </p:cNvPicPr>
          <p:nvPr/>
        </p:nvPicPr>
        <p:blipFill>
          <a:blip r:embed="rId3"/>
          <a:stretch>
            <a:fillRect/>
          </a:stretch>
        </p:blipFill>
        <p:spPr>
          <a:xfrm>
            <a:off x="10720466" y="3381939"/>
            <a:ext cx="1288465" cy="1004724"/>
          </a:xfrm>
          <a:prstGeom prst="rect">
            <a:avLst/>
          </a:prstGeom>
        </p:spPr>
      </p:pic>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CA83C5-434B-C2BB-C03E-FEA77C2BBB11}"/>
              </a:ext>
            </a:extLst>
          </p:cNvPr>
          <p:cNvSpPr txBox="1"/>
          <p:nvPr/>
        </p:nvSpPr>
        <p:spPr>
          <a:xfrm>
            <a:off x="0" y="959472"/>
            <a:ext cx="2986206" cy="378565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b="1" dirty="0">
                <a:latin typeface="Arial" panose="020B0604020202020204" pitchFamily="34" charset="0"/>
                <a:ea typeface="Punctuation SC"/>
              </a:rPr>
              <a:t>程序设计语言 </a:t>
            </a:r>
            <a:r>
              <a:rPr lang="en-US" altLang="zh-CN" sz="1200" b="1" dirty="0">
                <a:latin typeface="Arial" panose="020B0604020202020204" pitchFamily="34" charset="0"/>
                <a:ea typeface="Punctuation SC"/>
              </a:rPr>
              <a:t>(</a:t>
            </a:r>
            <a:r>
              <a:rPr lang="en-US" altLang="zh-CN" sz="1200" b="1" dirty="0">
                <a:solidFill>
                  <a:srgbClr val="000000"/>
                </a:solidFill>
                <a:latin typeface="pingfang SC"/>
                <a:ea typeface="Punctuation SC"/>
              </a:rPr>
              <a:t>3</a:t>
            </a:r>
            <a:r>
              <a:rPr lang="en-US" sz="1200" b="1" i="0" dirty="0">
                <a:solidFill>
                  <a:srgbClr val="000000"/>
                </a:solidFill>
                <a:effectLst/>
                <a:latin typeface="pingfang SC"/>
              </a:rPr>
              <a:t>-6</a:t>
            </a:r>
            <a:r>
              <a:rPr lang="en-US" altLang="zh-CN" sz="1200" b="1" dirty="0">
                <a:latin typeface="Arial" panose="020B0604020202020204" pitchFamily="34" charset="0"/>
                <a:ea typeface="Punctuation SC"/>
              </a:rPr>
              <a:t>)</a:t>
            </a: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程序语言</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值调用</a:t>
            </a: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引用调用</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正规式</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有限自动机</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-CFG</a:t>
            </a: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后缀式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F6E8EA44-BACD-2DF7-D1BB-48B659756CE3}"/>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A7CFB97A-E7E7-BB6E-4BA9-8E7CB22DC8F7}"/>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1" name="Group 10">
            <a:extLst>
              <a:ext uri="{FF2B5EF4-FFF2-40B4-BE49-F238E27FC236}">
                <a16:creationId xmlns:a16="http://schemas.microsoft.com/office/drawing/2014/main" id="{98BD0C93-DD89-25A7-1553-E3F85FE0D7B8}"/>
              </a:ext>
            </a:extLst>
          </p:cNvPr>
          <p:cNvGrpSpPr/>
          <p:nvPr/>
        </p:nvGrpSpPr>
        <p:grpSpPr>
          <a:xfrm>
            <a:off x="3119859" y="40595"/>
            <a:ext cx="4386653" cy="1126259"/>
            <a:chOff x="7614613" y="5950488"/>
            <a:chExt cx="4386653" cy="1126259"/>
          </a:xfrm>
        </p:grpSpPr>
        <p:sp>
          <p:nvSpPr>
            <p:cNvPr id="12" name="Rectangle: Rounded Corners 11">
              <a:extLst>
                <a:ext uri="{FF2B5EF4-FFF2-40B4-BE49-F238E27FC236}">
                  <a16:creationId xmlns:a16="http://schemas.microsoft.com/office/drawing/2014/main" id="{01574168-1441-BE9C-0656-1623F1FA4E3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▶低级</a:t>
              </a:r>
              <a:r>
                <a:rPr lang="en-US" altLang="zh-CN" sz="1200" dirty="0">
                  <a:solidFill>
                    <a:schemeClr val="bg1"/>
                  </a:solidFill>
                  <a:latin typeface="ui-monospace"/>
                </a:rPr>
                <a:t>/</a:t>
              </a:r>
              <a:r>
                <a:rPr lang="zh-CN" altLang="en-US" sz="1200" dirty="0">
                  <a:solidFill>
                    <a:schemeClr val="bg1"/>
                  </a:solidFill>
                  <a:latin typeface="ui-monospace"/>
                </a:rPr>
                <a:t>高级语言</a:t>
              </a:r>
              <a:endParaRPr lang="en-US" sz="1200" dirty="0">
                <a:solidFill>
                  <a:schemeClr val="bg1"/>
                </a:solidFill>
              </a:endParaRPr>
            </a:p>
          </p:txBody>
        </p:sp>
        <p:sp>
          <p:nvSpPr>
            <p:cNvPr id="13" name="TextBox 12">
              <a:extLst>
                <a:ext uri="{FF2B5EF4-FFF2-40B4-BE49-F238E27FC236}">
                  <a16:creationId xmlns:a16="http://schemas.microsoft.com/office/drawing/2014/main" id="{99A4E7D9-2F45-730B-49F2-2D0574D0A953}"/>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机器语言</a:t>
              </a:r>
              <a:r>
                <a:rPr lang="en-US" altLang="zh-CN" sz="1200" dirty="0">
                  <a:solidFill>
                    <a:schemeClr val="accent1"/>
                  </a:solidFill>
                  <a:latin typeface="ui-monospace"/>
                </a:rPr>
                <a:t>&gt;</a:t>
              </a:r>
              <a:r>
                <a:rPr lang="zh-CN" altLang="en-US" sz="1200" dirty="0">
                  <a:solidFill>
                    <a:schemeClr val="accent1"/>
                  </a:solidFill>
                  <a:latin typeface="ui-monospace"/>
                </a:rPr>
                <a:t>汇编语言：符号化</a:t>
              </a:r>
              <a:r>
                <a:rPr lang="en-US" altLang="zh-CN" sz="1200" dirty="0">
                  <a:solidFill>
                    <a:schemeClr val="accent1"/>
                  </a:solidFill>
                  <a:latin typeface="ui-monospace"/>
                </a:rPr>
                <a:t>&gt;</a:t>
              </a:r>
              <a:r>
                <a:rPr lang="zh-CN" altLang="en-US" sz="1200" dirty="0">
                  <a:solidFill>
                    <a:schemeClr val="accent1"/>
                  </a:solidFill>
                  <a:latin typeface="ui-monospace"/>
                </a:rPr>
                <a:t>高级语言：编译解释</a:t>
              </a:r>
              <a:endParaRPr lang="en-US" altLang="zh-CN" sz="1200" dirty="0">
                <a:solidFill>
                  <a:schemeClr val="accent1"/>
                </a:solidFill>
                <a:latin typeface="ui-monospace"/>
              </a:endParaRPr>
            </a:p>
            <a:p>
              <a:r>
                <a:rPr lang="zh-CN" altLang="en-US" sz="1200" dirty="0">
                  <a:solidFill>
                    <a:schemeClr val="accent1"/>
                  </a:solidFill>
                  <a:latin typeface="ui-monospace"/>
                </a:rPr>
                <a:t>解释程序：和源程序一起参与到运行过程中</a:t>
              </a:r>
              <a:endParaRPr lang="en-US" altLang="zh-CN" sz="1200" dirty="0">
                <a:solidFill>
                  <a:schemeClr val="accent1"/>
                </a:solidFill>
                <a:latin typeface="ui-monospace"/>
              </a:endParaRPr>
            </a:p>
            <a:p>
              <a:r>
                <a:rPr lang="zh-CN" altLang="en-US" sz="1200" dirty="0">
                  <a:solidFill>
                    <a:schemeClr val="accent1"/>
                  </a:solidFill>
                  <a:latin typeface="ui-monospace"/>
                </a:rPr>
                <a:t>脚本语言</a:t>
              </a:r>
              <a:r>
                <a:rPr lang="en-US" altLang="zh-CN" sz="1200" dirty="0">
                  <a:solidFill>
                    <a:schemeClr val="accent1"/>
                  </a:solidFill>
                  <a:latin typeface="ui-monospace"/>
                </a:rPr>
                <a:t>=</a:t>
              </a:r>
              <a:r>
                <a:rPr lang="zh-CN" altLang="en-US" sz="1200" dirty="0">
                  <a:solidFill>
                    <a:schemeClr val="accent1"/>
                  </a:solidFill>
                  <a:latin typeface="ui-monospace"/>
                </a:rPr>
                <a:t>动态语言</a:t>
              </a:r>
              <a:r>
                <a:rPr lang="en-US" altLang="zh-CN" sz="1200" dirty="0">
                  <a:solidFill>
                    <a:schemeClr val="accent1"/>
                  </a:solidFill>
                  <a:latin typeface="ui-monospace"/>
                </a:rPr>
                <a:t>==</a:t>
              </a:r>
              <a:r>
                <a:rPr lang="zh-CN" altLang="en-US" sz="1200" dirty="0">
                  <a:solidFill>
                    <a:schemeClr val="accent1"/>
                  </a:solidFill>
                  <a:latin typeface="ui-monospace"/>
                </a:rPr>
                <a:t>弱类型语言</a:t>
              </a:r>
              <a:r>
                <a:rPr lang="en-US" altLang="zh-CN" sz="1200" dirty="0">
                  <a:solidFill>
                    <a:schemeClr val="accent1"/>
                  </a:solidFill>
                  <a:latin typeface="ui-monospace"/>
                </a:rPr>
                <a:t>=</a:t>
              </a:r>
              <a:r>
                <a:rPr lang="zh-CN" altLang="en-US" sz="1200" dirty="0">
                  <a:solidFill>
                    <a:schemeClr val="accent1"/>
                  </a:solidFill>
                  <a:latin typeface="ui-monospace"/>
                </a:rPr>
                <a:t>解释型语言：</a:t>
              </a:r>
              <a:r>
                <a:rPr lang="en-US" altLang="zh-CN" sz="1200" dirty="0" err="1">
                  <a:solidFill>
                    <a:schemeClr val="accent1"/>
                  </a:solidFill>
                  <a:latin typeface="ui-monospace"/>
                </a:rPr>
                <a:t>php</a:t>
              </a:r>
              <a:r>
                <a:rPr lang="en-US" altLang="zh-CN" sz="1200" dirty="0">
                  <a:solidFill>
                    <a:schemeClr val="accent1"/>
                  </a:solidFill>
                  <a:latin typeface="ui-monospace"/>
                </a:rPr>
                <a:t>/</a:t>
              </a:r>
              <a:r>
                <a:rPr lang="en-US" altLang="zh-CN" sz="1200" dirty="0" err="1">
                  <a:solidFill>
                    <a:schemeClr val="accent1"/>
                  </a:solidFill>
                  <a:latin typeface="ui-monospace"/>
                </a:rPr>
                <a:t>js</a:t>
              </a:r>
              <a:r>
                <a:rPr lang="en-US" altLang="zh-CN" sz="1200" dirty="0">
                  <a:solidFill>
                    <a:schemeClr val="accent1"/>
                  </a:solidFill>
                  <a:latin typeface="ui-monospace"/>
                </a:rPr>
                <a:t>/python</a:t>
              </a:r>
            </a:p>
            <a:p>
              <a:r>
                <a:rPr lang="zh-CN" altLang="en-US" sz="1200" dirty="0">
                  <a:solidFill>
                    <a:schemeClr val="accent1"/>
                  </a:solidFill>
                  <a:latin typeface="ui-monospace"/>
                </a:rPr>
                <a:t>编译程序：不参与运行，生成源程序的目标程序，进行优化</a:t>
              </a:r>
              <a:endParaRPr lang="en-US" altLang="zh-CN" sz="1200" dirty="0">
                <a:solidFill>
                  <a:schemeClr val="accent1"/>
                </a:solidFill>
                <a:latin typeface="ui-monospace"/>
              </a:endParaRPr>
            </a:p>
          </p:txBody>
        </p:sp>
      </p:grpSp>
      <p:grpSp>
        <p:nvGrpSpPr>
          <p:cNvPr id="52" name="Group 51">
            <a:extLst>
              <a:ext uri="{FF2B5EF4-FFF2-40B4-BE49-F238E27FC236}">
                <a16:creationId xmlns:a16="http://schemas.microsoft.com/office/drawing/2014/main" id="{E1F69786-B799-6183-2FC1-17D584B40BFC}"/>
              </a:ext>
            </a:extLst>
          </p:cNvPr>
          <p:cNvGrpSpPr/>
          <p:nvPr/>
        </p:nvGrpSpPr>
        <p:grpSpPr>
          <a:xfrm>
            <a:off x="7674819" y="36928"/>
            <a:ext cx="4386653" cy="582328"/>
            <a:chOff x="7614613" y="5950488"/>
            <a:chExt cx="4386653" cy="582328"/>
          </a:xfrm>
        </p:grpSpPr>
        <p:sp>
          <p:nvSpPr>
            <p:cNvPr id="53" name="Rectangle: Rounded Corners 52">
              <a:extLst>
                <a:ext uri="{FF2B5EF4-FFF2-40B4-BE49-F238E27FC236}">
                  <a16:creationId xmlns:a16="http://schemas.microsoft.com/office/drawing/2014/main" id="{105E78B8-A91B-1A9A-0027-E942413F3058}"/>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▶正规式</a:t>
              </a:r>
              <a:endParaRPr lang="en-US" altLang="zh-CN" sz="1200" dirty="0">
                <a:solidFill>
                  <a:schemeClr val="bg1"/>
                </a:solidFill>
                <a:latin typeface="ui-monospace"/>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FAFA9246-9E02-7EF5-839C-A5D6A8B148E6}"/>
                    </a:ext>
                  </a:extLst>
                </p:cNvPr>
                <p:cNvSpPr txBox="1"/>
                <p:nvPr/>
              </p:nvSpPr>
              <p:spPr>
                <a:xfrm>
                  <a:off x="7667294" y="6245750"/>
                  <a:ext cx="4281578" cy="287066"/>
                </a:xfrm>
                <a:prstGeom prst="rect">
                  <a:avLst/>
                </a:prstGeom>
                <a:noFill/>
              </p:spPr>
              <p:txBody>
                <a:bodyPr wrap="square">
                  <a:spAutoFit/>
                </a:bodyPr>
                <a:lstStyle/>
                <a:p>
                  <a:r>
                    <a:rPr lang="zh-CN" altLang="en-US" sz="1200" dirty="0">
                      <a:solidFill>
                        <a:schemeClr val="accent1"/>
                      </a:solidFill>
                      <a:latin typeface="ui-monospace"/>
                    </a:rPr>
                    <a:t>由</a:t>
                  </a:r>
                  <a:r>
                    <a:rPr lang="en-US" altLang="zh-CN" sz="1200" dirty="0">
                      <a:solidFill>
                        <a:schemeClr val="accent1"/>
                      </a:solidFill>
                      <a:latin typeface="ui-monospace"/>
                    </a:rPr>
                    <a:t>a</a:t>
                  </a:r>
                  <a:r>
                    <a:rPr lang="zh-CN" altLang="en-US" sz="1200" dirty="0">
                      <a:solidFill>
                        <a:schemeClr val="accent1"/>
                      </a:solidFill>
                      <a:latin typeface="ui-monospace"/>
                    </a:rPr>
                    <a:t>、</a:t>
                  </a:r>
                  <a:r>
                    <a:rPr lang="en-US" altLang="zh-CN" sz="1200" dirty="0">
                      <a:solidFill>
                        <a:schemeClr val="accent1"/>
                      </a:solidFill>
                      <a:latin typeface="ui-monospace"/>
                    </a:rPr>
                    <a:t>b</a:t>
                  </a:r>
                  <a:r>
                    <a:rPr lang="zh-CN" altLang="en-US" sz="1200" dirty="0">
                      <a:solidFill>
                        <a:schemeClr val="accent1"/>
                      </a:solidFill>
                      <a:latin typeface="ui-monospace"/>
                    </a:rPr>
                    <a:t>构造且仅包含偶数个</a:t>
                  </a:r>
                  <a:r>
                    <a:rPr lang="en-US" altLang="zh-CN" sz="1200" dirty="0">
                      <a:solidFill>
                        <a:schemeClr val="accent1"/>
                      </a:solidFill>
                      <a:latin typeface="ui-monospace"/>
                    </a:rPr>
                    <a:t>a</a:t>
                  </a:r>
                  <a:r>
                    <a:rPr lang="zh-CN" altLang="en-US" sz="1200" dirty="0">
                      <a:solidFill>
                        <a:schemeClr val="accent1"/>
                      </a:solidFill>
                      <a:latin typeface="ui-monospace"/>
                    </a:rPr>
                    <a:t>的串的集合 </a:t>
                  </a:r>
                  <a14:m>
                    <m:oMath xmlns:m="http://schemas.openxmlformats.org/officeDocument/2006/math">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m:t>
                          </m:r>
                          <m:sSup>
                            <m:sSupPr>
                              <m:ctrlPr>
                                <a:rPr lang="en-US" sz="1200" i="1">
                                  <a:latin typeface="Cambria Math" panose="02040503050406030204" pitchFamily="18" charset="0"/>
                                </a:rPr>
                              </m:ctrlPr>
                            </m:sSupPr>
                            <m:e>
                              <m:r>
                                <a:rPr lang="en-US" sz="1200" b="0" i="1" smtClean="0">
                                  <a:latin typeface="Cambria Math" panose="02040503050406030204" pitchFamily="18" charset="0"/>
                                </a:rPr>
                                <m:t>𝑏</m:t>
                              </m:r>
                            </m:e>
                            <m:sup>
                              <m:r>
                                <a:rPr lang="en-US" sz="1200" i="1">
                                  <a:latin typeface="Cambria Math" panose="02040503050406030204" pitchFamily="18" charset="0"/>
                                </a:rPr>
                                <m:t>∗</m:t>
                              </m:r>
                            </m:sup>
                          </m:sSup>
                          <m:sSup>
                            <m:sSupPr>
                              <m:ctrlPr>
                                <a:rPr lang="en-US" sz="1200" i="1">
                                  <a:latin typeface="Cambria Math" panose="02040503050406030204" pitchFamily="18" charset="0"/>
                                </a:rPr>
                              </m:ctrlPr>
                            </m:sSupPr>
                            <m:e>
                              <m:r>
                                <a:rPr lang="en-US" sz="1200" b="0" i="1" smtClean="0">
                                  <a:latin typeface="Cambria Math" panose="02040503050406030204" pitchFamily="18" charset="0"/>
                                </a:rPr>
                                <m:t>(</m:t>
                              </m:r>
                              <m:r>
                                <a:rPr lang="en-US" sz="1200" b="0" i="1" smtClean="0">
                                  <a:latin typeface="Cambria Math" panose="02040503050406030204" pitchFamily="18" charset="0"/>
                                </a:rPr>
                                <m:t>𝑎</m:t>
                              </m:r>
                              <m:sSup>
                                <m:sSupPr>
                                  <m:ctrlPr>
                                    <a:rPr lang="en-US" sz="1200" i="1">
                                      <a:latin typeface="Cambria Math" panose="02040503050406030204" pitchFamily="18" charset="0"/>
                                    </a:rPr>
                                  </m:ctrlPr>
                                </m:sSupPr>
                                <m:e>
                                  <m:r>
                                    <a:rPr lang="en-US" sz="1200" b="0" i="1" smtClean="0">
                                      <a:latin typeface="Cambria Math" panose="02040503050406030204" pitchFamily="18" charset="0"/>
                                    </a:rPr>
                                    <m:t>𝑏</m:t>
                                  </m:r>
                                </m:e>
                                <m:sup>
                                  <m:r>
                                    <a:rPr lang="en-US" sz="1200" i="1">
                                      <a:latin typeface="Cambria Math" panose="02040503050406030204" pitchFamily="18" charset="0"/>
                                    </a:rPr>
                                    <m:t>∗</m:t>
                                  </m:r>
                                </m:sup>
                              </m:sSup>
                              <m:r>
                                <a:rPr lang="en-US" sz="1200" b="0" i="1" smtClean="0">
                                  <a:latin typeface="Cambria Math" panose="02040503050406030204" pitchFamily="18" charset="0"/>
                                </a:rPr>
                                <m:t>𝑎</m:t>
                              </m:r>
                              <m:r>
                                <a:rPr lang="en-US" sz="1200" b="0" i="1" smtClean="0">
                                  <a:latin typeface="Cambria Math" panose="02040503050406030204" pitchFamily="18" charset="0"/>
                                </a:rPr>
                                <m:t>)</m:t>
                              </m:r>
                            </m:e>
                            <m:sup>
                              <m:r>
                                <a:rPr lang="en-US" sz="1200" i="1">
                                  <a:latin typeface="Cambria Math" panose="02040503050406030204" pitchFamily="18" charset="0"/>
                                </a:rPr>
                                <m:t>∗</m:t>
                              </m:r>
                            </m:sup>
                          </m:sSup>
                          <m:r>
                            <a:rPr lang="en-US" altLang="zh-CN" sz="1200" b="0" i="1" smtClean="0">
                              <a:latin typeface="Cambria Math" panose="02040503050406030204" pitchFamily="18" charset="0"/>
                            </a:rPr>
                            <m:t>)</m:t>
                          </m:r>
                        </m:e>
                        <m:sup>
                          <m:r>
                            <a:rPr lang="en-US" sz="1200" b="0" i="1" smtClean="0">
                              <a:solidFill>
                                <a:schemeClr val="tx1"/>
                              </a:solidFill>
                              <a:latin typeface="Cambria Math" panose="02040503050406030204" pitchFamily="18" charset="0"/>
                            </a:rPr>
                            <m:t>∗</m:t>
                          </m:r>
                        </m:sup>
                      </m:sSup>
                    </m:oMath>
                  </a14:m>
                  <a:r>
                    <a:rPr lang="zh-CN" altLang="en-US" sz="1200" dirty="0">
                      <a:solidFill>
                        <a:schemeClr val="accent1"/>
                      </a:solidFill>
                      <a:latin typeface="ui-monospace"/>
                    </a:rPr>
                    <a:t> </a:t>
                  </a:r>
                  <a:endParaRPr lang="en-US" altLang="zh-CN" sz="1200" dirty="0">
                    <a:solidFill>
                      <a:schemeClr val="accent1"/>
                    </a:solidFill>
                    <a:latin typeface="ui-monospace"/>
                  </a:endParaRPr>
                </a:p>
              </p:txBody>
            </p:sp>
          </mc:Choice>
          <mc:Fallback xmlns="">
            <p:sp>
              <p:nvSpPr>
                <p:cNvPr id="54" name="TextBox 53">
                  <a:extLst>
                    <a:ext uri="{FF2B5EF4-FFF2-40B4-BE49-F238E27FC236}">
                      <a16:creationId xmlns:a16="http://schemas.microsoft.com/office/drawing/2014/main" id="{FAFA9246-9E02-7EF5-839C-A5D6A8B148E6}"/>
                    </a:ext>
                  </a:extLst>
                </p:cNvPr>
                <p:cNvSpPr txBox="1">
                  <a:spLocks noRot="1" noChangeAspect="1" noMove="1" noResize="1" noEditPoints="1" noAdjustHandles="1" noChangeArrowheads="1" noChangeShapeType="1" noTextEdit="1"/>
                </p:cNvSpPr>
                <p:nvPr/>
              </p:nvSpPr>
              <p:spPr>
                <a:xfrm>
                  <a:off x="7667294" y="6245750"/>
                  <a:ext cx="4281578" cy="287066"/>
                </a:xfrm>
                <a:prstGeom prst="rect">
                  <a:avLst/>
                </a:prstGeom>
                <a:blipFill>
                  <a:blip r:embed="rId4"/>
                  <a:stretch>
                    <a:fillRect l="-142" b="-10417"/>
                  </a:stretch>
                </a:blipFill>
              </p:spPr>
              <p:txBody>
                <a:bodyPr/>
                <a:lstStyle/>
                <a:p>
                  <a:r>
                    <a:rPr lang="en-US">
                      <a:noFill/>
                    </a:rPr>
                    <a:t> </a:t>
                  </a:r>
                </a:p>
              </p:txBody>
            </p:sp>
          </mc:Fallback>
        </mc:AlternateContent>
      </p:grpSp>
      <p:grpSp>
        <p:nvGrpSpPr>
          <p:cNvPr id="4" name="Group 3">
            <a:extLst>
              <a:ext uri="{FF2B5EF4-FFF2-40B4-BE49-F238E27FC236}">
                <a16:creationId xmlns:a16="http://schemas.microsoft.com/office/drawing/2014/main" id="{B3F3119D-F229-EF21-D032-82EF1FFCA51C}"/>
              </a:ext>
            </a:extLst>
          </p:cNvPr>
          <p:cNvGrpSpPr/>
          <p:nvPr/>
        </p:nvGrpSpPr>
        <p:grpSpPr>
          <a:xfrm>
            <a:off x="3117480" y="1133053"/>
            <a:ext cx="4386653" cy="572261"/>
            <a:chOff x="7614613" y="5950488"/>
            <a:chExt cx="4386653" cy="572261"/>
          </a:xfrm>
        </p:grpSpPr>
        <p:sp>
          <p:nvSpPr>
            <p:cNvPr id="5" name="Rectangle: Rounded Corners 4">
              <a:extLst>
                <a:ext uri="{FF2B5EF4-FFF2-40B4-BE49-F238E27FC236}">
                  <a16:creationId xmlns:a16="http://schemas.microsoft.com/office/drawing/2014/main" id="{6505D4D0-29BD-7AEE-B70C-087234CDEB7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▶语法</a:t>
              </a:r>
              <a:endParaRPr lang="en-US" sz="1200" dirty="0">
                <a:solidFill>
                  <a:schemeClr val="bg1"/>
                </a:solidFill>
              </a:endParaRPr>
            </a:p>
          </p:txBody>
        </p:sp>
        <p:sp>
          <p:nvSpPr>
            <p:cNvPr id="8" name="TextBox 7">
              <a:extLst>
                <a:ext uri="{FF2B5EF4-FFF2-40B4-BE49-F238E27FC236}">
                  <a16:creationId xmlns:a16="http://schemas.microsoft.com/office/drawing/2014/main" id="{8E96DAEA-1CBD-115C-A53A-14183CC95D8B}"/>
                </a:ext>
              </a:extLst>
            </p:cNvPr>
            <p:cNvSpPr txBox="1"/>
            <p:nvPr/>
          </p:nvSpPr>
          <p:spPr>
            <a:xfrm>
              <a:off x="7667294" y="6245750"/>
              <a:ext cx="4281578" cy="276999"/>
            </a:xfrm>
            <a:prstGeom prst="rect">
              <a:avLst/>
            </a:prstGeom>
            <a:noFill/>
          </p:spPr>
          <p:txBody>
            <a:bodyPr wrap="square">
              <a:spAutoFit/>
            </a:bodyPr>
            <a:lstStyle/>
            <a:p>
              <a:endParaRPr lang="en-US" altLang="zh-CN" sz="1200" dirty="0">
                <a:solidFill>
                  <a:schemeClr val="accent1"/>
                </a:solidFill>
                <a:latin typeface="ui-monospace"/>
              </a:endParaRPr>
            </a:p>
          </p:txBody>
        </p:sp>
      </p:grpSp>
      <p:graphicFrame>
        <p:nvGraphicFramePr>
          <p:cNvPr id="9" name="Table 8">
            <a:extLst>
              <a:ext uri="{FF2B5EF4-FFF2-40B4-BE49-F238E27FC236}">
                <a16:creationId xmlns:a16="http://schemas.microsoft.com/office/drawing/2014/main" id="{F8EB606B-FA43-80A7-C66E-A9B7CBAA78CE}"/>
              </a:ext>
            </a:extLst>
          </p:cNvPr>
          <p:cNvGraphicFramePr>
            <a:graphicFrameLocks noGrp="1"/>
          </p:cNvGraphicFramePr>
          <p:nvPr>
            <p:extLst>
              <p:ext uri="{D42A27DB-BD31-4B8C-83A1-F6EECF244321}">
                <p14:modId xmlns:p14="http://schemas.microsoft.com/office/powerpoint/2010/main" val="3586684221"/>
              </p:ext>
            </p:extLst>
          </p:nvPr>
        </p:nvGraphicFramePr>
        <p:xfrm>
          <a:off x="3162830" y="1454752"/>
          <a:ext cx="4281575" cy="2423160"/>
        </p:xfrm>
        <a:graphic>
          <a:graphicData uri="http://schemas.openxmlformats.org/drawingml/2006/table">
            <a:tbl>
              <a:tblPr firstRow="1" bandRow="1">
                <a:tableStyleId>{5C22544A-7EE6-4342-B048-85BDC9FD1C3A}</a:tableStyleId>
              </a:tblPr>
              <a:tblGrid>
                <a:gridCol w="736817">
                  <a:extLst>
                    <a:ext uri="{9D8B030D-6E8A-4147-A177-3AD203B41FA5}">
                      <a16:colId xmlns:a16="http://schemas.microsoft.com/office/drawing/2014/main" val="4196207211"/>
                    </a:ext>
                  </a:extLst>
                </a:gridCol>
                <a:gridCol w="3544758">
                  <a:extLst>
                    <a:ext uri="{9D8B030D-6E8A-4147-A177-3AD203B41FA5}">
                      <a16:colId xmlns:a16="http://schemas.microsoft.com/office/drawing/2014/main" val="3523767036"/>
                    </a:ext>
                  </a:extLst>
                </a:gridCol>
              </a:tblGrid>
              <a:tr h="204220">
                <a:tc>
                  <a:txBody>
                    <a:bodyPr/>
                    <a:lstStyle/>
                    <a:p>
                      <a:pPr algn="ctr"/>
                      <a:r>
                        <a:rPr lang="zh-CN" altLang="en-US" sz="900" b="0" dirty="0">
                          <a:solidFill>
                            <a:schemeClr val="tx1"/>
                          </a:solidFill>
                        </a:rPr>
                        <a:t>语法</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关键字</a:t>
                      </a:r>
                      <a:r>
                        <a:rPr lang="en-US" altLang="zh-CN" sz="900" b="0" dirty="0">
                          <a:solidFill>
                            <a:schemeClr val="tx1"/>
                          </a:solidFill>
                        </a:rPr>
                        <a:t>/</a:t>
                      </a:r>
                      <a:r>
                        <a:rPr lang="zh-CN" altLang="en-US" sz="900" b="0" dirty="0">
                          <a:solidFill>
                            <a:schemeClr val="tx1"/>
                          </a:solidFill>
                        </a:rPr>
                        <a:t>运算符</a:t>
                      </a:r>
                      <a:r>
                        <a:rPr lang="en-US" altLang="zh-CN" sz="900" b="0" dirty="0">
                          <a:solidFill>
                            <a:schemeClr val="tx1"/>
                          </a:solidFill>
                        </a:rPr>
                        <a:t>/</a:t>
                      </a:r>
                      <a:r>
                        <a:rPr lang="zh-CN" altLang="en-US" sz="900" b="0" dirty="0">
                          <a:solidFill>
                            <a:schemeClr val="tx1"/>
                          </a:solidFill>
                        </a:rPr>
                        <a:t>标识符</a:t>
                      </a:r>
                      <a:r>
                        <a:rPr lang="en-US" altLang="zh-CN" sz="900" b="0" dirty="0">
                          <a:solidFill>
                            <a:schemeClr val="tx1"/>
                          </a:solidFill>
                        </a:rPr>
                        <a:t>/</a:t>
                      </a:r>
                      <a:r>
                        <a:rPr lang="zh-CN" altLang="en-US" sz="900" b="0" dirty="0">
                          <a:solidFill>
                            <a:schemeClr val="tx1"/>
                          </a:solidFill>
                        </a:rPr>
                        <a:t>分隔符等</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5607175"/>
                  </a:ext>
                </a:extLst>
              </a:tr>
              <a:tr h="204220">
                <a:tc>
                  <a:txBody>
                    <a:bodyPr/>
                    <a:lstStyle/>
                    <a:p>
                      <a:pPr algn="ctr"/>
                      <a:r>
                        <a:rPr lang="zh-CN" altLang="en-US" sz="900" b="0" dirty="0">
                          <a:solidFill>
                            <a:schemeClr val="tx1"/>
                          </a:solidFill>
                        </a:rPr>
                        <a:t>语义</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0" dirty="0">
                          <a:solidFill>
                            <a:schemeClr val="tx1"/>
                          </a:solidFill>
                        </a:rPr>
                        <a:t>变量</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全局变量</a:t>
                      </a:r>
                      <a:r>
                        <a:rPr lang="en-US" altLang="zh-CN" sz="900" b="0" dirty="0">
                          <a:solidFill>
                            <a:schemeClr val="tx1"/>
                          </a:solidFill>
                        </a:rPr>
                        <a:t>/</a:t>
                      </a:r>
                      <a:r>
                        <a:rPr lang="zh-CN" altLang="en-US" sz="900" b="0" dirty="0">
                          <a:solidFill>
                            <a:schemeClr val="tx1"/>
                          </a:solidFill>
                        </a:rPr>
                        <a:t>局部变量 指针变量</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zh-CN" altLang="en-US" sz="900" b="0" dirty="0">
                          <a:solidFill>
                            <a:schemeClr val="tx1"/>
                          </a:solidFill>
                        </a:rPr>
                        <a:t>数据类型</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字符串</a:t>
                      </a:r>
                      <a:r>
                        <a:rPr lang="en-US" altLang="zh-CN" sz="900" b="0" dirty="0">
                          <a:solidFill>
                            <a:schemeClr val="tx1"/>
                          </a:solidFill>
                        </a:rPr>
                        <a:t>/</a:t>
                      </a:r>
                      <a:r>
                        <a:rPr lang="zh-CN" altLang="en-US" sz="900" b="0" dirty="0">
                          <a:solidFill>
                            <a:schemeClr val="tx1"/>
                          </a:solidFill>
                        </a:rPr>
                        <a:t>整型</a:t>
                      </a:r>
                      <a:r>
                        <a:rPr lang="en-US" altLang="zh-CN" sz="900" b="0" dirty="0">
                          <a:solidFill>
                            <a:schemeClr val="tx1"/>
                          </a:solidFill>
                        </a:rPr>
                        <a:t>/</a:t>
                      </a:r>
                      <a:r>
                        <a:rPr lang="zh-CN" altLang="en-US" sz="900" b="0" dirty="0">
                          <a:solidFill>
                            <a:schemeClr val="tx1"/>
                          </a:solidFill>
                        </a:rPr>
                        <a:t>浮点值</a:t>
                      </a:r>
                      <a:r>
                        <a:rPr lang="en-US" altLang="zh-CN" sz="900" b="0" dirty="0">
                          <a:solidFill>
                            <a:schemeClr val="tx1"/>
                          </a:solidFill>
                        </a:rPr>
                        <a:t>/</a:t>
                      </a:r>
                      <a:r>
                        <a:rPr lang="zh-CN" altLang="en-US" sz="900" b="0" dirty="0">
                          <a:solidFill>
                            <a:schemeClr val="tx1"/>
                          </a:solidFill>
                        </a:rPr>
                        <a:t>布尔值</a:t>
                      </a:r>
                      <a:r>
                        <a:rPr lang="en-US" altLang="zh-CN" sz="900" b="0" dirty="0">
                          <a:solidFill>
                            <a:schemeClr val="tx1"/>
                          </a:solidFill>
                        </a:rPr>
                        <a:t>/</a:t>
                      </a:r>
                      <a:r>
                        <a:rPr lang="zh-CN" altLang="en-US" sz="900" b="0" dirty="0">
                          <a:solidFill>
                            <a:schemeClr val="tx1"/>
                          </a:solidFill>
                        </a:rPr>
                        <a:t>数组等</a:t>
                      </a:r>
                      <a:endParaRPr lang="en-US" altLang="zh-CN" sz="900" b="0" dirty="0">
                        <a:solidFill>
                          <a:schemeClr val="tx1"/>
                        </a:solidFill>
                      </a:endParaRPr>
                    </a:p>
                    <a:p>
                      <a:pPr algn="ctr"/>
                      <a:r>
                        <a:rPr lang="zh-CN" altLang="en-US" sz="900" b="0" dirty="0">
                          <a:solidFill>
                            <a:schemeClr val="tx1"/>
                          </a:solidFill>
                        </a:rPr>
                        <a:t>合理分配存储单元；表达式计算的合法性检查；规定取值范围</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r h="204220">
                <a:tc>
                  <a:txBody>
                    <a:bodyPr/>
                    <a:lstStyle/>
                    <a:p>
                      <a:pPr algn="ctr"/>
                      <a:r>
                        <a:rPr lang="zh-CN" altLang="en-US" sz="900" b="0" dirty="0">
                          <a:solidFill>
                            <a:schemeClr val="tx1"/>
                          </a:solidFill>
                        </a:rPr>
                        <a:t>运算符</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1712655"/>
                  </a:ext>
                </a:extLst>
              </a:tr>
              <a:tr h="204220">
                <a:tc>
                  <a:txBody>
                    <a:bodyPr/>
                    <a:lstStyle/>
                    <a:p>
                      <a:pPr algn="ctr"/>
                      <a:r>
                        <a:rPr lang="zh-CN" altLang="en-US" sz="900" b="0" dirty="0">
                          <a:solidFill>
                            <a:schemeClr val="tx1"/>
                          </a:solidFill>
                        </a:rPr>
                        <a:t>控制结构</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顺序、选择、循环、跳转</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0728641"/>
                  </a:ext>
                </a:extLst>
              </a:tr>
              <a:tr h="204220">
                <a:tc>
                  <a:txBody>
                    <a:bodyPr/>
                    <a:lstStyle/>
                    <a:p>
                      <a:pPr algn="ctr"/>
                      <a:r>
                        <a:rPr lang="zh-CN" altLang="en-US" sz="900" b="0" dirty="0">
                          <a:solidFill>
                            <a:schemeClr val="tx1"/>
                          </a:solidFill>
                        </a:rPr>
                        <a:t>函数</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可重复使用，函数名</a:t>
                      </a:r>
                      <a:r>
                        <a:rPr lang="en-US" altLang="zh-CN" sz="900" b="0" dirty="0">
                          <a:solidFill>
                            <a:schemeClr val="tx1"/>
                          </a:solidFill>
                        </a:rPr>
                        <a:t>/</a:t>
                      </a:r>
                      <a:r>
                        <a:rPr lang="zh-CN" altLang="en-US" sz="900" b="0" dirty="0">
                          <a:solidFill>
                            <a:schemeClr val="tx1"/>
                          </a:solidFill>
                        </a:rPr>
                        <a:t>参数</a:t>
                      </a:r>
                      <a:r>
                        <a:rPr lang="en-US" altLang="zh-CN" sz="900" b="0" dirty="0">
                          <a:solidFill>
                            <a:schemeClr val="tx1"/>
                          </a:solidFill>
                        </a:rPr>
                        <a:t>(</a:t>
                      </a:r>
                      <a:r>
                        <a:rPr lang="zh-CN" altLang="en-US" sz="900" b="1" dirty="0">
                          <a:solidFill>
                            <a:schemeClr val="tx1"/>
                          </a:solidFill>
                        </a:rPr>
                        <a:t>传值、传地址</a:t>
                      </a:r>
                      <a:r>
                        <a:rPr lang="en-US" altLang="zh-CN" sz="900" b="0" dirty="0">
                          <a:solidFill>
                            <a:schemeClr val="tx1"/>
                          </a:solidFill>
                        </a:rPr>
                        <a:t>)/</a:t>
                      </a:r>
                      <a:r>
                        <a:rPr lang="zh-CN" altLang="en-US" sz="900" b="0" dirty="0">
                          <a:solidFill>
                            <a:schemeClr val="tx1"/>
                          </a:solidFill>
                        </a:rPr>
                        <a:t>返回值</a:t>
                      </a:r>
                      <a:r>
                        <a:rPr lang="en-US" altLang="zh-CN" sz="900" b="0" dirty="0">
                          <a:solidFill>
                            <a:schemeClr val="tx1"/>
                          </a:solidFill>
                        </a:rPr>
                        <a:t>/</a:t>
                      </a:r>
                      <a:r>
                        <a:rPr lang="zh-CN" altLang="en-US" sz="900" b="0" dirty="0">
                          <a:solidFill>
                            <a:schemeClr val="tx1"/>
                          </a:solidFill>
                        </a:rPr>
                        <a:t>函数体</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2140186"/>
                  </a:ext>
                </a:extLst>
              </a:tr>
              <a:tr h="204220">
                <a:tc>
                  <a:txBody>
                    <a:bodyPr/>
                    <a:lstStyle/>
                    <a:p>
                      <a:pPr algn="ctr"/>
                      <a:r>
                        <a:rPr lang="zh-CN" altLang="en-US" sz="900" b="0" dirty="0">
                          <a:solidFill>
                            <a:schemeClr val="tx1"/>
                          </a:solidFill>
                        </a:rPr>
                        <a:t>输入输出</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7383270"/>
                  </a:ext>
                </a:extLst>
              </a:tr>
              <a:tr h="204220">
                <a:tc>
                  <a:txBody>
                    <a:bodyPr/>
                    <a:lstStyle/>
                    <a:p>
                      <a:pPr algn="ctr"/>
                      <a:r>
                        <a:rPr lang="zh-CN" altLang="en-US" sz="900" b="0" dirty="0">
                          <a:solidFill>
                            <a:schemeClr val="tx1"/>
                          </a:solidFill>
                        </a:rPr>
                        <a:t>异常处理</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捕获和处理错误</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5939505"/>
                  </a:ext>
                </a:extLst>
              </a:tr>
              <a:tr h="204220">
                <a:tc>
                  <a:txBody>
                    <a:bodyPr/>
                    <a:lstStyle/>
                    <a:p>
                      <a:pPr algn="ctr"/>
                      <a:r>
                        <a:rPr lang="zh-CN" altLang="en-US" sz="900" b="0" dirty="0">
                          <a:solidFill>
                            <a:schemeClr val="tx1"/>
                          </a:solidFill>
                        </a:rPr>
                        <a:t>注释</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提高代码的可读性和可理解性</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5578063"/>
                  </a:ext>
                </a:extLst>
              </a:tr>
            </a:tbl>
          </a:graphicData>
        </a:graphic>
      </p:graphicFrame>
      <p:grpSp>
        <p:nvGrpSpPr>
          <p:cNvPr id="19" name="Group 18">
            <a:extLst>
              <a:ext uri="{FF2B5EF4-FFF2-40B4-BE49-F238E27FC236}">
                <a16:creationId xmlns:a16="http://schemas.microsoft.com/office/drawing/2014/main" id="{AD7793CE-A45A-BFC1-C579-C89A3418E6A1}"/>
              </a:ext>
            </a:extLst>
          </p:cNvPr>
          <p:cNvGrpSpPr/>
          <p:nvPr/>
        </p:nvGrpSpPr>
        <p:grpSpPr>
          <a:xfrm>
            <a:off x="3119858" y="3921078"/>
            <a:ext cx="4386653" cy="2972918"/>
            <a:chOff x="7614613" y="5950488"/>
            <a:chExt cx="4386653" cy="2972918"/>
          </a:xfrm>
        </p:grpSpPr>
        <p:sp>
          <p:nvSpPr>
            <p:cNvPr id="20" name="Rectangle: Rounded Corners 19">
              <a:extLst>
                <a:ext uri="{FF2B5EF4-FFF2-40B4-BE49-F238E27FC236}">
                  <a16:creationId xmlns:a16="http://schemas.microsoft.com/office/drawing/2014/main" id="{96D76DF8-ED9B-79B6-95FC-B45DB39F8458}"/>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▶基本原理</a:t>
              </a:r>
              <a:endParaRPr lang="en-US" sz="1200" dirty="0">
                <a:solidFill>
                  <a:schemeClr val="bg1"/>
                </a:solidFill>
              </a:endParaRPr>
            </a:p>
          </p:txBody>
        </p:sp>
        <p:sp>
          <p:nvSpPr>
            <p:cNvPr id="21" name="TextBox 20">
              <a:extLst>
                <a:ext uri="{FF2B5EF4-FFF2-40B4-BE49-F238E27FC236}">
                  <a16:creationId xmlns:a16="http://schemas.microsoft.com/office/drawing/2014/main" id="{B321745F-EA1D-CEF7-EADC-3CD2E2EFE713}"/>
                </a:ext>
              </a:extLst>
            </p:cNvPr>
            <p:cNvSpPr txBox="1"/>
            <p:nvPr/>
          </p:nvSpPr>
          <p:spPr>
            <a:xfrm>
              <a:off x="7667294" y="6245750"/>
              <a:ext cx="4281578" cy="2677656"/>
            </a:xfrm>
            <a:prstGeom prst="rect">
              <a:avLst/>
            </a:prstGeom>
            <a:noFill/>
          </p:spPr>
          <p:txBody>
            <a:bodyPr wrap="square">
              <a:spAutoFit/>
            </a:bodyPr>
            <a:lstStyle/>
            <a:p>
              <a:r>
                <a:rPr lang="zh-CN" altLang="en-US" sz="1200" b="1" dirty="0">
                  <a:solidFill>
                    <a:schemeClr val="accent1"/>
                  </a:solidFill>
                  <a:latin typeface="ui-monospace"/>
                </a:rPr>
                <a:t>词法分析</a:t>
              </a:r>
              <a:r>
                <a:rPr lang="zh-CN" altLang="en-US" sz="1200" dirty="0">
                  <a:solidFill>
                    <a:schemeClr val="accent1"/>
                  </a:solidFill>
                  <a:latin typeface="ui-monospace"/>
                </a:rPr>
                <a:t>：线性分解源程序为词法单元序列</a:t>
              </a:r>
              <a:r>
                <a:rPr lang="en-US" altLang="zh-CN" sz="1200" dirty="0">
                  <a:solidFill>
                    <a:schemeClr val="accent1"/>
                  </a:solidFill>
                  <a:latin typeface="ui-monospace"/>
                </a:rPr>
                <a:t>(</a:t>
              </a:r>
              <a:r>
                <a:rPr lang="zh-CN" altLang="en-US" sz="1200" dirty="0">
                  <a:solidFill>
                    <a:schemeClr val="accent1"/>
                  </a:solidFill>
                  <a:latin typeface="ui-monospace"/>
                </a:rPr>
                <a:t>关键字</a:t>
              </a:r>
              <a:r>
                <a:rPr lang="en-US" altLang="zh-CN" sz="1200" dirty="0">
                  <a:solidFill>
                    <a:schemeClr val="accent1"/>
                  </a:solidFill>
                  <a:latin typeface="ui-monospace"/>
                </a:rPr>
                <a:t>/</a:t>
              </a:r>
              <a:r>
                <a:rPr lang="zh-CN" altLang="en-US" sz="1200" dirty="0">
                  <a:solidFill>
                    <a:schemeClr val="accent1"/>
                  </a:solidFill>
                  <a:latin typeface="ui-monospace"/>
                </a:rPr>
                <a:t>标识符</a:t>
              </a:r>
              <a:r>
                <a:rPr lang="en-US" altLang="zh-CN" sz="1200" dirty="0">
                  <a:solidFill>
                    <a:schemeClr val="accent1"/>
                  </a:solidFill>
                  <a:latin typeface="ui-monospace"/>
                </a:rPr>
                <a:t>/</a:t>
              </a:r>
              <a:r>
                <a:rPr lang="zh-CN" altLang="en-US" sz="1200" dirty="0">
                  <a:solidFill>
                    <a:schemeClr val="accent1"/>
                  </a:solidFill>
                  <a:latin typeface="ui-monospace"/>
                </a:rPr>
                <a:t>常数</a:t>
              </a:r>
              <a:r>
                <a:rPr lang="en-US" altLang="zh-CN" sz="1200" dirty="0">
                  <a:solidFill>
                    <a:schemeClr val="accent1"/>
                  </a:solidFill>
                  <a:latin typeface="ui-monospace"/>
                </a:rPr>
                <a:t>/</a:t>
              </a:r>
              <a:r>
                <a:rPr lang="zh-CN" altLang="en-US" sz="1200" dirty="0">
                  <a:solidFill>
                    <a:schemeClr val="accent1"/>
                  </a:solidFill>
                  <a:latin typeface="ui-monospace"/>
                </a:rPr>
                <a:t>运算符</a:t>
              </a:r>
              <a:r>
                <a:rPr lang="en-US" altLang="zh-CN" sz="1200" dirty="0">
                  <a:solidFill>
                    <a:schemeClr val="accent1"/>
                  </a:solidFill>
                  <a:latin typeface="ui-monospace"/>
                </a:rPr>
                <a:t>/</a:t>
              </a:r>
              <a:r>
                <a:rPr lang="zh-CN" altLang="en-US" sz="1200" dirty="0">
                  <a:solidFill>
                    <a:schemeClr val="accent1"/>
                  </a:solidFill>
                  <a:latin typeface="ui-monospace"/>
                </a:rPr>
                <a:t>分隔符</a:t>
              </a:r>
              <a:r>
                <a:rPr lang="en-US" altLang="zh-CN" sz="1200" dirty="0">
                  <a:solidFill>
                    <a:schemeClr val="accent1"/>
                  </a:solidFill>
                  <a:latin typeface="ui-monospace"/>
                </a:rPr>
                <a:t>)</a:t>
              </a:r>
              <a:r>
                <a:rPr lang="zh-CN" altLang="en-US" sz="1200" dirty="0">
                  <a:solidFill>
                    <a:schemeClr val="accent1"/>
                  </a:solidFill>
                  <a:latin typeface="ui-monospace"/>
                </a:rPr>
                <a:t>，以及字符符号是否符合规定</a:t>
              </a:r>
              <a:endParaRPr lang="en-US" altLang="zh-CN" sz="1200" dirty="0">
                <a:solidFill>
                  <a:schemeClr val="accent1"/>
                </a:solidFill>
                <a:latin typeface="ui-monospace"/>
              </a:endParaRPr>
            </a:p>
            <a:p>
              <a:r>
                <a:rPr lang="zh-CN" altLang="en-US" sz="1200" b="1" dirty="0">
                  <a:solidFill>
                    <a:schemeClr val="accent1"/>
                  </a:solidFill>
                  <a:latin typeface="ui-monospace"/>
                </a:rPr>
                <a:t>语法分析</a:t>
              </a:r>
              <a:r>
                <a:rPr lang="zh-CN" altLang="en-US" sz="1200" dirty="0">
                  <a:solidFill>
                    <a:schemeClr val="accent1"/>
                  </a:solidFill>
                  <a:latin typeface="ui-monospace"/>
                </a:rPr>
                <a:t>：构建语法树，检查所有语法错误，进行</a:t>
              </a:r>
              <a:r>
                <a:rPr lang="zh-CN" altLang="en-US" sz="1200" b="1" dirty="0">
                  <a:solidFill>
                    <a:schemeClr val="accent1"/>
                  </a:solidFill>
                  <a:latin typeface="ui-monospace"/>
                </a:rPr>
                <a:t>结构</a:t>
              </a:r>
              <a:r>
                <a:rPr lang="zh-CN" altLang="en-US" sz="1200" dirty="0">
                  <a:solidFill>
                    <a:schemeClr val="accent1"/>
                  </a:solidFill>
                  <a:latin typeface="ui-monospace"/>
                </a:rPr>
                <a:t>分析。如缺少右括号，没有分号等</a:t>
              </a:r>
              <a:endParaRPr lang="en-US" altLang="zh-CN" sz="1200" dirty="0">
                <a:solidFill>
                  <a:schemeClr val="accent1"/>
                </a:solidFill>
                <a:latin typeface="ui-monospace"/>
              </a:endParaRPr>
            </a:p>
            <a:p>
              <a:r>
                <a:rPr lang="zh-CN" altLang="en-US" sz="1200" dirty="0">
                  <a:solidFill>
                    <a:schemeClr val="accent1"/>
                  </a:solidFill>
                  <a:latin typeface="ui-monospace"/>
                </a:rPr>
                <a:t>自上而下</a:t>
              </a:r>
              <a:r>
                <a:rPr lang="en-US" altLang="zh-CN" sz="1200" dirty="0">
                  <a:solidFill>
                    <a:schemeClr val="accent1"/>
                  </a:solidFill>
                  <a:latin typeface="ui-monospace"/>
                </a:rPr>
                <a:t> </a:t>
              </a:r>
              <a:r>
                <a:rPr lang="zh-CN" altLang="en-US" sz="1200" dirty="0">
                  <a:solidFill>
                    <a:schemeClr val="accent1"/>
                  </a:solidFill>
                  <a:latin typeface="ui-monospace"/>
                </a:rPr>
                <a:t>递归向下</a:t>
              </a:r>
              <a:r>
                <a:rPr lang="en-US" altLang="zh-CN" sz="1200" dirty="0">
                  <a:solidFill>
                    <a:schemeClr val="accent1"/>
                  </a:solidFill>
                  <a:latin typeface="ui-monospace"/>
                </a:rPr>
                <a:t>/</a:t>
              </a:r>
              <a:r>
                <a:rPr lang="zh-CN" altLang="en-US" sz="1200" dirty="0">
                  <a:solidFill>
                    <a:schemeClr val="accent1"/>
                  </a:solidFill>
                  <a:latin typeface="ui-monospace"/>
                </a:rPr>
                <a:t>预测分析 自下而上</a:t>
              </a:r>
              <a:r>
                <a:rPr lang="en-US" altLang="zh-CN" sz="1200" dirty="0">
                  <a:solidFill>
                    <a:schemeClr val="accent1"/>
                  </a:solidFill>
                  <a:latin typeface="ui-monospace"/>
                </a:rPr>
                <a:t> </a:t>
              </a:r>
              <a:r>
                <a:rPr lang="zh-CN" altLang="en-US" sz="1200" dirty="0">
                  <a:solidFill>
                    <a:schemeClr val="accent1"/>
                  </a:solidFill>
                  <a:latin typeface="ui-monospace"/>
                </a:rPr>
                <a:t>移进</a:t>
              </a:r>
              <a:r>
                <a:rPr lang="en-US" altLang="zh-CN" sz="1200" dirty="0">
                  <a:solidFill>
                    <a:schemeClr val="accent1"/>
                  </a:solidFill>
                  <a:latin typeface="ui-monospace"/>
                </a:rPr>
                <a:t>-</a:t>
              </a:r>
              <a:r>
                <a:rPr lang="zh-CN" altLang="en-US" sz="1200" dirty="0">
                  <a:solidFill>
                    <a:schemeClr val="accent1"/>
                  </a:solidFill>
                  <a:latin typeface="ui-monospace"/>
                </a:rPr>
                <a:t>归约</a:t>
              </a:r>
              <a:r>
                <a:rPr lang="en-US" altLang="zh-CN" sz="1200" dirty="0">
                  <a:solidFill>
                    <a:schemeClr val="accent1"/>
                  </a:solidFill>
                  <a:latin typeface="ui-monospace"/>
                </a:rPr>
                <a:t>/</a:t>
              </a:r>
              <a:r>
                <a:rPr lang="zh-CN" altLang="en-US" sz="1200" dirty="0">
                  <a:solidFill>
                    <a:schemeClr val="accent1"/>
                  </a:solidFill>
                  <a:latin typeface="ui-monospace"/>
                </a:rPr>
                <a:t>算符优先</a:t>
              </a:r>
              <a:endParaRPr lang="en-US" altLang="zh-CN" sz="1200" dirty="0">
                <a:solidFill>
                  <a:schemeClr val="accent1"/>
                </a:solidFill>
                <a:latin typeface="ui-monospace"/>
              </a:endParaRPr>
            </a:p>
            <a:p>
              <a:r>
                <a:rPr lang="zh-CN" altLang="en-US" sz="1200" b="1" dirty="0">
                  <a:solidFill>
                    <a:schemeClr val="accent1"/>
                  </a:solidFill>
                  <a:latin typeface="ui-monospace"/>
                </a:rPr>
                <a:t>语义分析</a:t>
              </a:r>
              <a:r>
                <a:rPr lang="zh-CN" altLang="en-US" sz="1200" dirty="0">
                  <a:solidFill>
                    <a:schemeClr val="accent1"/>
                  </a:solidFill>
                  <a:latin typeface="ui-monospace"/>
                </a:rPr>
                <a:t>：只能检查</a:t>
              </a:r>
              <a:r>
                <a:rPr lang="zh-CN" altLang="en-US" sz="1200" b="1" dirty="0">
                  <a:solidFill>
                    <a:schemeClr val="accent1"/>
                  </a:solidFill>
                  <a:latin typeface="ui-monospace"/>
                </a:rPr>
                <a:t>静态语义</a:t>
              </a:r>
              <a:r>
                <a:rPr lang="zh-CN" altLang="en-US" sz="1200" dirty="0">
                  <a:solidFill>
                    <a:schemeClr val="accent1"/>
                  </a:solidFill>
                  <a:latin typeface="ui-monospace"/>
                </a:rPr>
                <a:t>错误，进行</a:t>
              </a:r>
              <a:r>
                <a:rPr lang="zh-CN" altLang="en-US" sz="1200" b="1" dirty="0">
                  <a:solidFill>
                    <a:schemeClr val="accent1"/>
                  </a:solidFill>
                  <a:latin typeface="ui-monospace"/>
                </a:rPr>
                <a:t>类型</a:t>
              </a:r>
              <a:r>
                <a:rPr lang="zh-CN" altLang="en-US" sz="1200" dirty="0">
                  <a:solidFill>
                    <a:schemeClr val="accent1"/>
                  </a:solidFill>
                  <a:latin typeface="ui-monospace"/>
                </a:rPr>
                <a:t>分析和检查。如变量未声明，函数参数类型不对等</a:t>
              </a:r>
              <a:endParaRPr lang="en-US" altLang="zh-CN" sz="1200" b="1" dirty="0">
                <a:solidFill>
                  <a:schemeClr val="accent1"/>
                </a:solidFill>
                <a:latin typeface="ui-monospace"/>
              </a:endParaRPr>
            </a:p>
            <a:p>
              <a:r>
                <a:rPr lang="zh-CN" altLang="en-US" sz="1200" b="1" dirty="0">
                  <a:solidFill>
                    <a:schemeClr val="accent1"/>
                  </a:solidFill>
                  <a:latin typeface="ui-monospace"/>
                </a:rPr>
                <a:t>中间代码生成</a:t>
              </a:r>
              <a:r>
                <a:rPr lang="zh-CN" altLang="en-US" sz="1200" dirty="0">
                  <a:solidFill>
                    <a:schemeClr val="accent1"/>
                  </a:solidFill>
                  <a:latin typeface="ui-monospace"/>
                </a:rPr>
                <a:t>：有后缀式、三元式、四元式、三地址码、树图等。有利于进行</a:t>
              </a:r>
              <a:r>
                <a:rPr lang="zh-CN" altLang="en-US" sz="1200" b="1" dirty="0">
                  <a:solidFill>
                    <a:schemeClr val="accent1"/>
                  </a:solidFill>
                  <a:latin typeface="ui-monospace"/>
                </a:rPr>
                <a:t>与具体机器无关</a:t>
              </a:r>
              <a:r>
                <a:rPr lang="zh-CN" altLang="en-US" sz="1200" dirty="0">
                  <a:solidFill>
                    <a:schemeClr val="accent1"/>
                  </a:solidFill>
                  <a:latin typeface="ui-monospace"/>
                </a:rPr>
                <a:t>的优化处理和可移植性</a:t>
              </a:r>
              <a:endParaRPr lang="en-US" altLang="zh-CN" sz="1200" dirty="0">
                <a:solidFill>
                  <a:schemeClr val="accent1"/>
                </a:solidFill>
                <a:latin typeface="ui-monospace"/>
              </a:endParaRPr>
            </a:p>
            <a:p>
              <a:r>
                <a:rPr lang="zh-CN" altLang="en-US" sz="1200" dirty="0">
                  <a:solidFill>
                    <a:schemeClr val="accent1"/>
                  </a:solidFill>
                  <a:latin typeface="ui-monospace"/>
                </a:rPr>
                <a:t>代码优化：</a:t>
              </a:r>
              <a:endParaRPr lang="en-US" altLang="zh-CN" sz="1200" dirty="0">
                <a:solidFill>
                  <a:schemeClr val="accent1"/>
                </a:solidFill>
                <a:latin typeface="ui-monospace"/>
              </a:endParaRPr>
            </a:p>
            <a:p>
              <a:r>
                <a:rPr lang="zh-CN" altLang="en-US" sz="1200" b="1" dirty="0">
                  <a:solidFill>
                    <a:schemeClr val="accent1"/>
                  </a:solidFill>
                  <a:latin typeface="ui-monospace"/>
                </a:rPr>
                <a:t>目标代码生成</a:t>
              </a:r>
              <a:r>
                <a:rPr lang="zh-CN" altLang="en-US" sz="1200" dirty="0">
                  <a:solidFill>
                    <a:schemeClr val="accent1"/>
                  </a:solidFill>
                  <a:latin typeface="ui-monospace"/>
                </a:rPr>
                <a:t>：与目标机器的体系结构相关，包含</a:t>
              </a:r>
              <a:r>
                <a:rPr lang="zh-CN" altLang="en-US" sz="1200" b="1" dirty="0">
                  <a:solidFill>
                    <a:schemeClr val="accent1"/>
                  </a:solidFill>
                  <a:latin typeface="ui-monospace"/>
                </a:rPr>
                <a:t>分配寄存器</a:t>
              </a:r>
              <a:r>
                <a:rPr lang="zh-CN" altLang="en-US" sz="1200" dirty="0">
                  <a:solidFill>
                    <a:schemeClr val="accent1"/>
                  </a:solidFill>
                  <a:latin typeface="ui-monospace"/>
                </a:rPr>
                <a:t>，指令选择、代码布局等</a:t>
              </a:r>
              <a:endParaRPr lang="en-US" altLang="zh-CN" sz="1200" dirty="0">
                <a:solidFill>
                  <a:schemeClr val="accent1"/>
                </a:solidFill>
                <a:latin typeface="ui-monospace"/>
              </a:endParaRPr>
            </a:p>
            <a:p>
              <a:r>
                <a:rPr lang="zh-CN" altLang="en-US" sz="1200" dirty="0">
                  <a:solidFill>
                    <a:schemeClr val="accent1"/>
                  </a:solidFill>
                  <a:latin typeface="ui-monospace"/>
                </a:rPr>
                <a:t>符号表管理：不断收集记录和使用的相关符号类型和特征等必要信息，辅助语义的正确性检查和代码生成</a:t>
              </a:r>
              <a:endParaRPr lang="en-US" altLang="zh-CN" sz="1200" dirty="0">
                <a:solidFill>
                  <a:schemeClr val="accent1"/>
                </a:solidFill>
                <a:latin typeface="ui-monospace"/>
              </a:endParaRPr>
            </a:p>
          </p:txBody>
        </p:sp>
      </p:grpSp>
      <mc:AlternateContent xmlns:mc="http://schemas.openxmlformats.org/markup-compatibility/2006" xmlns:a14="http://schemas.microsoft.com/office/drawing/2010/main">
        <mc:Choice Requires="a14">
          <p:graphicFrame>
            <p:nvGraphicFramePr>
              <p:cNvPr id="22" name="Table 21">
                <a:extLst>
                  <a:ext uri="{FF2B5EF4-FFF2-40B4-BE49-F238E27FC236}">
                    <a16:creationId xmlns:a16="http://schemas.microsoft.com/office/drawing/2014/main" id="{49222C2A-F249-86EF-1167-62DEA2C860BD}"/>
                  </a:ext>
                </a:extLst>
              </p:cNvPr>
              <p:cNvGraphicFramePr>
                <a:graphicFrameLocks noGrp="1"/>
              </p:cNvGraphicFramePr>
              <p:nvPr>
                <p:extLst>
                  <p:ext uri="{D42A27DB-BD31-4B8C-83A1-F6EECF244321}">
                    <p14:modId xmlns:p14="http://schemas.microsoft.com/office/powerpoint/2010/main" val="1159483992"/>
                  </p:ext>
                </p:extLst>
              </p:nvPr>
            </p:nvGraphicFramePr>
            <p:xfrm>
              <a:off x="7727357" y="558274"/>
              <a:ext cx="4281575" cy="1600200"/>
            </p:xfrm>
            <a:graphic>
              <a:graphicData uri="http://schemas.openxmlformats.org/drawingml/2006/table">
                <a:tbl>
                  <a:tblPr firstRow="1" bandRow="1">
                    <a:tableStyleId>{5C22544A-7EE6-4342-B048-85BDC9FD1C3A}</a:tableStyleId>
                  </a:tblPr>
                  <a:tblGrid>
                    <a:gridCol w="736817">
                      <a:extLst>
                        <a:ext uri="{9D8B030D-6E8A-4147-A177-3AD203B41FA5}">
                          <a16:colId xmlns:a16="http://schemas.microsoft.com/office/drawing/2014/main" val="4196207211"/>
                        </a:ext>
                      </a:extLst>
                    </a:gridCol>
                    <a:gridCol w="3544758">
                      <a:extLst>
                        <a:ext uri="{9D8B030D-6E8A-4147-A177-3AD203B41FA5}">
                          <a16:colId xmlns:a16="http://schemas.microsoft.com/office/drawing/2014/main" val="3523767036"/>
                        </a:ext>
                      </a:extLst>
                    </a:gridCol>
                  </a:tblGrid>
                  <a:tr h="204220">
                    <a:tc>
                      <a:txBody>
                        <a:bodyPr/>
                        <a:lstStyle/>
                        <a:p>
                          <a:pPr algn="ctr"/>
                          <a:r>
                            <a:rPr lang="zh-CN" altLang="en-US" sz="900" b="0" dirty="0">
                              <a:solidFill>
                                <a:schemeClr val="tx1"/>
                              </a:solidFill>
                            </a:rPr>
                            <a:t>正规式</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正规集</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5607175"/>
                      </a:ext>
                    </a:extLst>
                  </a:tr>
                  <a:tr h="204220">
                    <a:tc>
                      <a:txBody>
                        <a:bodyPr/>
                        <a:lstStyle/>
                        <a:p>
                          <a:pPr algn="ctr"/>
                          <a:r>
                            <a:rPr lang="en-US" altLang="zh-CN" sz="900" b="0" dirty="0">
                              <a:solidFill>
                                <a:schemeClr val="tx1"/>
                              </a:solidFill>
                            </a:rPr>
                            <a:t>ab</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单一元素，</a:t>
                          </a:r>
                          <a:r>
                            <a:rPr lang="en-US" sz="900" b="0" dirty="0">
                              <a:solidFill>
                                <a:schemeClr val="tx1"/>
                              </a:solidFill>
                            </a:rPr>
                            <a:t>{ab}</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en-US" sz="900" b="0" dirty="0" err="1">
                              <a:solidFill>
                                <a:schemeClr val="tx1"/>
                              </a:solidFill>
                            </a:rPr>
                            <a:t>a|b</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可选元素，</a:t>
                          </a:r>
                          <a:r>
                            <a:rPr lang="en-US" sz="900" b="0" dirty="0">
                              <a:solidFill>
                                <a:schemeClr val="tx1"/>
                              </a:solidFill>
                            </a:rPr>
                            <a:t>{</a:t>
                          </a:r>
                          <a:r>
                            <a:rPr lang="en-US" sz="900" b="0" dirty="0" err="1">
                              <a:solidFill>
                                <a:schemeClr val="tx1"/>
                              </a:solidFill>
                            </a:rPr>
                            <a:t>a,b</a:t>
                          </a:r>
                          <a:r>
                            <a:rPr lang="en-US" sz="900"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14:m>
                            <m:oMathPara xmlns:m="http://schemas.openxmlformats.org/officeDocument/2006/math">
                              <m:oMathParaPr>
                                <m:jc m:val="centerGroup"/>
                              </m:oMathParaPr>
                              <m:oMath xmlns:m="http://schemas.openxmlformats.org/officeDocument/2006/math">
                                <m:sSup>
                                  <m:sSupPr>
                                    <m:ctrlPr>
                                      <a:rPr lang="en-US" sz="900" b="0" i="1" smtClean="0">
                                        <a:solidFill>
                                          <a:schemeClr val="tx1"/>
                                        </a:solidFill>
                                        <a:latin typeface="Cambria Math" panose="02040503050406030204" pitchFamily="18" charset="0"/>
                                      </a:rPr>
                                    </m:ctrlPr>
                                  </m:sSupPr>
                                  <m:e>
                                    <m:r>
                                      <a:rPr lang="en-US" sz="900" b="0" i="1" smtClean="0">
                                        <a:solidFill>
                                          <a:schemeClr val="tx1"/>
                                        </a:solidFill>
                                        <a:latin typeface="Cambria Math" panose="02040503050406030204" pitchFamily="18" charset="0"/>
                                      </a:rPr>
                                      <m:t>𝑎</m:t>
                                    </m:r>
                                  </m:e>
                                  <m:sup>
                                    <m:r>
                                      <a:rPr lang="en-US" sz="900" b="0" i="1" smtClean="0">
                                        <a:solidFill>
                                          <a:schemeClr val="tx1"/>
                                        </a:solidFill>
                                        <a:latin typeface="Cambria Math" panose="02040503050406030204" pitchFamily="18" charset="0"/>
                                      </a:rPr>
                                      <m:t>∗</m:t>
                                    </m:r>
                                  </m:sup>
                                </m:sSup>
                              </m:oMath>
                            </m:oMathPara>
                          </a14:m>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闭包，任意个元素，</a:t>
                          </a:r>
                          <a:r>
                            <a:rPr lang="el-GR" sz="900" b="0" dirty="0">
                              <a:solidFill>
                                <a:schemeClr val="tx1"/>
                              </a:solidFill>
                            </a:rPr>
                            <a:t>{Φ,</a:t>
                          </a:r>
                          <a:r>
                            <a:rPr lang="en-US" sz="900" b="0" dirty="0" err="1">
                              <a:solidFill>
                                <a:schemeClr val="tx1"/>
                              </a:solidFill>
                            </a:rPr>
                            <a:t>a,aa,aaa</a:t>
                          </a:r>
                          <a:r>
                            <a:rPr lang="en-US" sz="900"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r h="204220">
                    <a:tc>
                      <a:txBody>
                        <a:bodyPr/>
                        <a:lstStyle/>
                        <a:p>
                          <a:pPr algn="ctr"/>
                          <a14:m>
                            <m:oMathPara xmlns:m="http://schemas.openxmlformats.org/officeDocument/2006/math">
                              <m:oMathParaPr>
                                <m:jc m:val="centerGroup"/>
                              </m:oMathParaPr>
                              <m:oMath xmlns:m="http://schemas.openxmlformats.org/officeDocument/2006/math">
                                <m:sSup>
                                  <m:sSupPr>
                                    <m:ctrlPr>
                                      <a:rPr lang="en-US" sz="900" b="0" i="1" smtClean="0">
                                        <a:solidFill>
                                          <a:schemeClr val="tx1"/>
                                        </a:solidFill>
                                        <a:latin typeface="Cambria Math" panose="02040503050406030204" pitchFamily="18" charset="0"/>
                                      </a:rPr>
                                    </m:ctrlPr>
                                  </m:sSupPr>
                                  <m:e>
                                    <m:r>
                                      <a:rPr lang="en-US" sz="900" b="0" i="1" smtClean="0">
                                        <a:solidFill>
                                          <a:schemeClr val="tx1"/>
                                        </a:solidFill>
                                        <a:latin typeface="Cambria Math" panose="02040503050406030204" pitchFamily="18" charset="0"/>
                                      </a:rPr>
                                      <m:t>(</m:t>
                                    </m:r>
                                    <m:r>
                                      <a:rPr lang="en-US" sz="900" b="0" i="1" smtClean="0">
                                        <a:solidFill>
                                          <a:schemeClr val="tx1"/>
                                        </a:solidFill>
                                        <a:latin typeface="Cambria Math" panose="02040503050406030204" pitchFamily="18" charset="0"/>
                                      </a:rPr>
                                      <m:t>𝑎</m:t>
                                    </m:r>
                                    <m:r>
                                      <a:rPr lang="en-US" sz="900" b="0" i="1" smtClean="0">
                                        <a:solidFill>
                                          <a:schemeClr val="tx1"/>
                                        </a:solidFill>
                                        <a:latin typeface="Cambria Math" panose="02040503050406030204" pitchFamily="18" charset="0"/>
                                      </a:rPr>
                                      <m:t>|</m:t>
                                    </m:r>
                                    <m:r>
                                      <a:rPr lang="en-US" sz="900" b="0" i="1" smtClean="0">
                                        <a:solidFill>
                                          <a:schemeClr val="tx1"/>
                                        </a:solidFill>
                                        <a:latin typeface="Cambria Math" panose="02040503050406030204" pitchFamily="18" charset="0"/>
                                      </a:rPr>
                                      <m:t>𝑏</m:t>
                                    </m:r>
                                    <m:r>
                                      <a:rPr lang="en-US" sz="900" b="0" i="1" smtClean="0">
                                        <a:solidFill>
                                          <a:schemeClr val="tx1"/>
                                        </a:solidFill>
                                        <a:latin typeface="Cambria Math" panose="02040503050406030204" pitchFamily="18" charset="0"/>
                                      </a:rPr>
                                      <m:t>)</m:t>
                                    </m:r>
                                  </m:e>
                                  <m:sup>
                                    <m:r>
                                      <a:rPr lang="en-US" sz="900" b="0" i="1" smtClean="0">
                                        <a:solidFill>
                                          <a:schemeClr val="tx1"/>
                                        </a:solidFill>
                                        <a:latin typeface="Cambria Math" panose="02040503050406030204" pitchFamily="18" charset="0"/>
                                      </a:rPr>
                                      <m:t>∗</m:t>
                                    </m:r>
                                  </m:sup>
                                </m:sSup>
                              </m:oMath>
                            </m:oMathPara>
                          </a14:m>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900" b="0" dirty="0">
                              <a:solidFill>
                                <a:schemeClr val="tx1"/>
                              </a:solidFill>
                            </a:rPr>
                            <a:t>任意个可选元素，</a:t>
                          </a:r>
                          <a:r>
                            <a:rPr lang="el-GR" sz="900" b="0" dirty="0">
                              <a:solidFill>
                                <a:schemeClr val="tx1"/>
                              </a:solidFill>
                            </a:rPr>
                            <a:t>{Φ,</a:t>
                          </a:r>
                          <a:r>
                            <a:rPr lang="en-US" sz="900" b="0" dirty="0" err="1">
                              <a:solidFill>
                                <a:schemeClr val="tx1"/>
                              </a:solidFill>
                            </a:rPr>
                            <a:t>a,b,aa,ab,bb,aaa</a:t>
                          </a:r>
                          <a:r>
                            <a:rPr lang="en-US" sz="900"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1712655"/>
                      </a:ext>
                    </a:extLst>
                  </a:tr>
                  <a:tr h="204220">
                    <a:tc>
                      <a:txBody>
                        <a:bodyPr/>
                        <a:lstStyle/>
                        <a:p>
                          <a:pPr algn="ctr"/>
                          <a14:m>
                            <m:oMathPara xmlns:m="http://schemas.openxmlformats.org/officeDocument/2006/math">
                              <m:oMathParaPr>
                                <m:jc m:val="centerGroup"/>
                              </m:oMathParaPr>
                              <m:oMath xmlns:m="http://schemas.openxmlformats.org/officeDocument/2006/math">
                                <m:sSup>
                                  <m:sSupPr>
                                    <m:ctrlPr>
                                      <a:rPr lang="en-US" sz="900" b="0" i="1" smtClean="0">
                                        <a:solidFill>
                                          <a:schemeClr val="tx1"/>
                                        </a:solidFill>
                                        <a:latin typeface="Cambria Math" panose="02040503050406030204" pitchFamily="18" charset="0"/>
                                      </a:rPr>
                                    </m:ctrlPr>
                                  </m:sSupPr>
                                  <m:e>
                                    <m:r>
                                      <a:rPr lang="en-US" sz="900" b="0" i="1" smtClean="0">
                                        <a:solidFill>
                                          <a:schemeClr val="tx1"/>
                                        </a:solidFill>
                                        <a:latin typeface="Cambria Math" panose="02040503050406030204" pitchFamily="18" charset="0"/>
                                      </a:rPr>
                                      <m:t>𝑎</m:t>
                                    </m:r>
                                    <m:r>
                                      <a:rPr lang="en-US" sz="900" b="0" i="1" smtClean="0">
                                        <a:solidFill>
                                          <a:schemeClr val="tx1"/>
                                        </a:solidFill>
                                        <a:latin typeface="Cambria Math" panose="02040503050406030204" pitchFamily="18" charset="0"/>
                                      </a:rPr>
                                      <m:t>(</m:t>
                                    </m:r>
                                    <m:r>
                                      <a:rPr lang="en-US" sz="900" b="0" i="1" smtClean="0">
                                        <a:solidFill>
                                          <a:schemeClr val="tx1"/>
                                        </a:solidFill>
                                        <a:latin typeface="Cambria Math" panose="02040503050406030204" pitchFamily="18" charset="0"/>
                                      </a:rPr>
                                      <m:t>𝑎</m:t>
                                    </m:r>
                                    <m:r>
                                      <a:rPr lang="en-US" sz="900" b="0" i="1" smtClean="0">
                                        <a:solidFill>
                                          <a:schemeClr val="tx1"/>
                                        </a:solidFill>
                                        <a:latin typeface="Cambria Math" panose="02040503050406030204" pitchFamily="18" charset="0"/>
                                      </a:rPr>
                                      <m:t>|</m:t>
                                    </m:r>
                                    <m:r>
                                      <a:rPr lang="en-US" sz="900" b="0" i="1" smtClean="0">
                                        <a:solidFill>
                                          <a:schemeClr val="tx1"/>
                                        </a:solidFill>
                                        <a:latin typeface="Cambria Math" panose="02040503050406030204" pitchFamily="18" charset="0"/>
                                      </a:rPr>
                                      <m:t>𝑏</m:t>
                                    </m:r>
                                    <m:r>
                                      <a:rPr lang="en-US" sz="900" b="0" i="1" smtClean="0">
                                        <a:solidFill>
                                          <a:schemeClr val="tx1"/>
                                        </a:solidFill>
                                        <a:latin typeface="Cambria Math" panose="02040503050406030204" pitchFamily="18" charset="0"/>
                                      </a:rPr>
                                      <m:t>)</m:t>
                                    </m:r>
                                  </m:e>
                                  <m:sup>
                                    <m:r>
                                      <a:rPr lang="en-US" sz="900" b="0" i="1" smtClean="0">
                                        <a:solidFill>
                                          <a:schemeClr val="tx1"/>
                                        </a:solidFill>
                                        <a:latin typeface="Cambria Math" panose="02040503050406030204" pitchFamily="18" charset="0"/>
                                      </a:rPr>
                                      <m:t>∗</m:t>
                                    </m:r>
                                  </m:sup>
                                </m:sSup>
                              </m:oMath>
                            </m:oMathPara>
                          </a14:m>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900" b="0" dirty="0">
                              <a:solidFill>
                                <a:schemeClr val="tx1"/>
                              </a:solidFill>
                            </a:rPr>
                            <a:t>以</a:t>
                          </a:r>
                          <a:r>
                            <a:rPr lang="en-US" altLang="zh-CN" sz="900" b="0" dirty="0">
                              <a:solidFill>
                                <a:schemeClr val="tx1"/>
                              </a:solidFill>
                            </a:rPr>
                            <a:t>a</a:t>
                          </a:r>
                          <a:r>
                            <a:rPr lang="zh-CN" altLang="en-US" sz="900" b="0" dirty="0">
                              <a:solidFill>
                                <a:schemeClr val="tx1"/>
                              </a:solidFill>
                            </a:rPr>
                            <a:t>为开头，</a:t>
                          </a:r>
                          <a:r>
                            <a:rPr lang="el-GR" sz="900" b="0" dirty="0">
                              <a:solidFill>
                                <a:schemeClr val="tx1"/>
                              </a:solidFill>
                            </a:rPr>
                            <a:t>{</a:t>
                          </a:r>
                          <a:r>
                            <a:rPr lang="en-US" sz="900" b="0" dirty="0" err="1">
                              <a:solidFill>
                                <a:schemeClr val="tx1"/>
                              </a:solidFill>
                            </a:rPr>
                            <a:t>a,aa,ab,aaa</a:t>
                          </a:r>
                          <a:r>
                            <a:rPr lang="en-US" sz="900"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0728641"/>
                      </a:ext>
                    </a:extLst>
                  </a:tr>
                  <a:tr h="204220">
                    <a:tc>
                      <a:txBody>
                        <a:bodyPr/>
                        <a:lstStyle/>
                        <a:p>
                          <a:pPr algn="ctr"/>
                          <a14:m>
                            <m:oMath xmlns:m="http://schemas.openxmlformats.org/officeDocument/2006/math">
                              <m:sSup>
                                <m:sSupPr>
                                  <m:ctrlPr>
                                    <a:rPr lang="en-US" sz="900" b="0" i="1" smtClean="0">
                                      <a:solidFill>
                                        <a:schemeClr val="tx1"/>
                                      </a:solidFill>
                                      <a:latin typeface="Cambria Math" panose="02040503050406030204" pitchFamily="18" charset="0"/>
                                    </a:rPr>
                                  </m:ctrlPr>
                                </m:sSupPr>
                                <m:e>
                                  <m:r>
                                    <a:rPr lang="en-US" sz="900" b="0" i="1" smtClean="0">
                                      <a:solidFill>
                                        <a:schemeClr val="tx1"/>
                                      </a:solidFill>
                                      <a:latin typeface="Cambria Math" panose="02040503050406030204" pitchFamily="18" charset="0"/>
                                    </a:rPr>
                                    <m:t>(</m:t>
                                  </m:r>
                                  <m:r>
                                    <a:rPr lang="en-US" sz="900" b="0" i="1" smtClean="0">
                                      <a:solidFill>
                                        <a:schemeClr val="tx1"/>
                                      </a:solidFill>
                                      <a:latin typeface="Cambria Math" panose="02040503050406030204" pitchFamily="18" charset="0"/>
                                    </a:rPr>
                                    <m:t>𝑎</m:t>
                                  </m:r>
                                  <m:r>
                                    <a:rPr lang="en-US" sz="900" b="0" i="1" smtClean="0">
                                      <a:solidFill>
                                        <a:schemeClr val="tx1"/>
                                      </a:solidFill>
                                      <a:latin typeface="Cambria Math" panose="02040503050406030204" pitchFamily="18" charset="0"/>
                                    </a:rPr>
                                    <m:t>|</m:t>
                                  </m:r>
                                  <m:r>
                                    <a:rPr lang="en-US" sz="900" b="0" i="1" smtClean="0">
                                      <a:solidFill>
                                        <a:schemeClr val="tx1"/>
                                      </a:solidFill>
                                      <a:latin typeface="Cambria Math" panose="02040503050406030204" pitchFamily="18" charset="0"/>
                                    </a:rPr>
                                    <m:t>𝑏</m:t>
                                  </m:r>
                                  <m:r>
                                    <a:rPr lang="en-US" sz="900" b="0" i="1" smtClean="0">
                                      <a:solidFill>
                                        <a:schemeClr val="tx1"/>
                                      </a:solidFill>
                                      <a:latin typeface="Cambria Math" panose="02040503050406030204" pitchFamily="18" charset="0"/>
                                    </a:rPr>
                                    <m:t>)</m:t>
                                  </m:r>
                                </m:e>
                                <m:sup>
                                  <m:r>
                                    <a:rPr lang="en-US" sz="900" b="0" i="1" smtClean="0">
                                      <a:solidFill>
                                        <a:schemeClr val="tx1"/>
                                      </a:solidFill>
                                      <a:latin typeface="Cambria Math" panose="02040503050406030204" pitchFamily="18" charset="0"/>
                                    </a:rPr>
                                    <m:t>∗</m:t>
                                  </m:r>
                                </m:sup>
                              </m:sSup>
                            </m:oMath>
                          </a14:m>
                          <a:r>
                            <a:rPr lang="en-US" sz="900" b="0" dirty="0">
                              <a:solidFill>
                                <a:schemeClr val="tx1"/>
                              </a:solidFill>
                            </a:rPr>
                            <a:t>abb</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900" b="0" dirty="0">
                              <a:solidFill>
                                <a:schemeClr val="tx1"/>
                              </a:solidFill>
                            </a:rPr>
                            <a:t>以</a:t>
                          </a:r>
                          <a:r>
                            <a:rPr lang="en-US" altLang="zh-CN" sz="900" b="0" dirty="0">
                              <a:solidFill>
                                <a:schemeClr val="tx1"/>
                              </a:solidFill>
                            </a:rPr>
                            <a:t>abb</a:t>
                          </a:r>
                          <a:r>
                            <a:rPr lang="zh-CN" altLang="en-US" sz="900" b="0" dirty="0">
                              <a:solidFill>
                                <a:schemeClr val="tx1"/>
                              </a:solidFill>
                            </a:rPr>
                            <a:t>为结尾，</a:t>
                          </a:r>
                          <a:r>
                            <a:rPr lang="el-GR" sz="900" b="0" dirty="0">
                              <a:solidFill>
                                <a:schemeClr val="tx1"/>
                              </a:solidFill>
                            </a:rPr>
                            <a:t>{</a:t>
                          </a:r>
                          <a:r>
                            <a:rPr lang="en-US" sz="900" b="0" dirty="0" err="1">
                              <a:solidFill>
                                <a:schemeClr val="tx1"/>
                              </a:solidFill>
                            </a:rPr>
                            <a:t>aabb,babb,aaabb,ababb</a:t>
                          </a:r>
                          <a:r>
                            <a:rPr lang="en-US" sz="900"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2140186"/>
                      </a:ext>
                    </a:extLst>
                  </a:tr>
                </a:tbl>
              </a:graphicData>
            </a:graphic>
          </p:graphicFrame>
        </mc:Choice>
        <mc:Fallback xmlns="">
          <p:graphicFrame>
            <p:nvGraphicFramePr>
              <p:cNvPr id="22" name="Table 21">
                <a:extLst>
                  <a:ext uri="{FF2B5EF4-FFF2-40B4-BE49-F238E27FC236}">
                    <a16:creationId xmlns:a16="http://schemas.microsoft.com/office/drawing/2014/main" id="{49222C2A-F249-86EF-1167-62DEA2C860BD}"/>
                  </a:ext>
                </a:extLst>
              </p:cNvPr>
              <p:cNvGraphicFramePr>
                <a:graphicFrameLocks noGrp="1"/>
              </p:cNvGraphicFramePr>
              <p:nvPr>
                <p:extLst>
                  <p:ext uri="{D42A27DB-BD31-4B8C-83A1-F6EECF244321}">
                    <p14:modId xmlns:p14="http://schemas.microsoft.com/office/powerpoint/2010/main" val="1159483992"/>
                  </p:ext>
                </p:extLst>
              </p:nvPr>
            </p:nvGraphicFramePr>
            <p:xfrm>
              <a:off x="7727357" y="558274"/>
              <a:ext cx="4281575" cy="1600200"/>
            </p:xfrm>
            <a:graphic>
              <a:graphicData uri="http://schemas.openxmlformats.org/drawingml/2006/table">
                <a:tbl>
                  <a:tblPr firstRow="1" bandRow="1">
                    <a:tableStyleId>{5C22544A-7EE6-4342-B048-85BDC9FD1C3A}</a:tableStyleId>
                  </a:tblPr>
                  <a:tblGrid>
                    <a:gridCol w="736817">
                      <a:extLst>
                        <a:ext uri="{9D8B030D-6E8A-4147-A177-3AD203B41FA5}">
                          <a16:colId xmlns:a16="http://schemas.microsoft.com/office/drawing/2014/main" val="4196207211"/>
                        </a:ext>
                      </a:extLst>
                    </a:gridCol>
                    <a:gridCol w="3544758">
                      <a:extLst>
                        <a:ext uri="{9D8B030D-6E8A-4147-A177-3AD203B41FA5}">
                          <a16:colId xmlns:a16="http://schemas.microsoft.com/office/drawing/2014/main" val="3523767036"/>
                        </a:ext>
                      </a:extLst>
                    </a:gridCol>
                  </a:tblGrid>
                  <a:tr h="228600">
                    <a:tc>
                      <a:txBody>
                        <a:bodyPr/>
                        <a:lstStyle/>
                        <a:p>
                          <a:pPr algn="ctr"/>
                          <a:r>
                            <a:rPr lang="zh-CN" altLang="en-US" sz="900" b="0" dirty="0">
                              <a:solidFill>
                                <a:schemeClr val="tx1"/>
                              </a:solidFill>
                            </a:rPr>
                            <a:t>正规式</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正规集</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5607175"/>
                      </a:ext>
                    </a:extLst>
                  </a:tr>
                  <a:tr h="228600">
                    <a:tc>
                      <a:txBody>
                        <a:bodyPr/>
                        <a:lstStyle/>
                        <a:p>
                          <a:pPr algn="ctr"/>
                          <a:r>
                            <a:rPr lang="en-US" altLang="zh-CN" sz="900" b="0" dirty="0">
                              <a:solidFill>
                                <a:schemeClr val="tx1"/>
                              </a:solidFill>
                            </a:rPr>
                            <a:t>ab</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单一元素，</a:t>
                          </a:r>
                          <a:r>
                            <a:rPr lang="en-US" sz="900" b="0" dirty="0">
                              <a:solidFill>
                                <a:schemeClr val="tx1"/>
                              </a:solidFill>
                            </a:rPr>
                            <a:t>{ab}</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28600">
                    <a:tc>
                      <a:txBody>
                        <a:bodyPr/>
                        <a:lstStyle/>
                        <a:p>
                          <a:pPr algn="ctr"/>
                          <a:r>
                            <a:rPr lang="en-US" sz="900" b="0" dirty="0" err="1">
                              <a:solidFill>
                                <a:schemeClr val="tx1"/>
                              </a:solidFill>
                            </a:rPr>
                            <a:t>a|b</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可选元素，</a:t>
                          </a:r>
                          <a:r>
                            <a:rPr lang="en-US" sz="900" b="0" dirty="0">
                              <a:solidFill>
                                <a:schemeClr val="tx1"/>
                              </a:solidFill>
                            </a:rPr>
                            <a:t>{</a:t>
                          </a:r>
                          <a:r>
                            <a:rPr lang="en-US" sz="900" b="0" dirty="0" err="1">
                              <a:solidFill>
                                <a:schemeClr val="tx1"/>
                              </a:solidFill>
                            </a:rPr>
                            <a:t>a,b</a:t>
                          </a:r>
                          <a:r>
                            <a:rPr lang="en-US" sz="900"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28600">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300000" r="-482645" b="-307895"/>
                          </a:stretch>
                        </a:blipFill>
                      </a:tcPr>
                    </a:tc>
                    <a:tc>
                      <a:txBody>
                        <a:bodyPr/>
                        <a:lstStyle/>
                        <a:p>
                          <a:pPr algn="ctr"/>
                          <a:r>
                            <a:rPr lang="zh-CN" altLang="en-US" sz="900" b="0" dirty="0">
                              <a:solidFill>
                                <a:schemeClr val="tx1"/>
                              </a:solidFill>
                            </a:rPr>
                            <a:t>闭包，任意个元素，</a:t>
                          </a:r>
                          <a:r>
                            <a:rPr lang="el-GR" sz="900" b="0" dirty="0">
                              <a:solidFill>
                                <a:schemeClr val="tx1"/>
                              </a:solidFill>
                            </a:rPr>
                            <a:t>{Φ,</a:t>
                          </a:r>
                          <a:r>
                            <a:rPr lang="en-US" sz="900" b="0" dirty="0" err="1">
                              <a:solidFill>
                                <a:schemeClr val="tx1"/>
                              </a:solidFill>
                            </a:rPr>
                            <a:t>a,aa,aaa</a:t>
                          </a:r>
                          <a:r>
                            <a:rPr lang="en-US" sz="900"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r h="228600">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400000" r="-482645" b="-207895"/>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900" b="0" dirty="0">
                              <a:solidFill>
                                <a:schemeClr val="tx1"/>
                              </a:solidFill>
                            </a:rPr>
                            <a:t>任意个可选元素，</a:t>
                          </a:r>
                          <a:r>
                            <a:rPr lang="el-GR" sz="900" b="0" dirty="0">
                              <a:solidFill>
                                <a:schemeClr val="tx1"/>
                              </a:solidFill>
                            </a:rPr>
                            <a:t>{Φ,</a:t>
                          </a:r>
                          <a:r>
                            <a:rPr lang="en-US" sz="900" b="0" dirty="0" err="1">
                              <a:solidFill>
                                <a:schemeClr val="tx1"/>
                              </a:solidFill>
                            </a:rPr>
                            <a:t>a,b,aa,ab,bb,aaa</a:t>
                          </a:r>
                          <a:r>
                            <a:rPr lang="en-US" sz="900"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1712655"/>
                      </a:ext>
                    </a:extLst>
                  </a:tr>
                  <a:tr h="228600">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513514" r="-482645" b="-113514"/>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900" b="0" dirty="0">
                              <a:solidFill>
                                <a:schemeClr val="tx1"/>
                              </a:solidFill>
                            </a:rPr>
                            <a:t>以</a:t>
                          </a:r>
                          <a:r>
                            <a:rPr lang="en-US" altLang="zh-CN" sz="900" b="0" dirty="0">
                              <a:solidFill>
                                <a:schemeClr val="tx1"/>
                              </a:solidFill>
                            </a:rPr>
                            <a:t>a</a:t>
                          </a:r>
                          <a:r>
                            <a:rPr lang="zh-CN" altLang="en-US" sz="900" b="0" dirty="0">
                              <a:solidFill>
                                <a:schemeClr val="tx1"/>
                              </a:solidFill>
                            </a:rPr>
                            <a:t>为开头，</a:t>
                          </a:r>
                          <a:r>
                            <a:rPr lang="el-GR" sz="900" b="0" dirty="0">
                              <a:solidFill>
                                <a:schemeClr val="tx1"/>
                              </a:solidFill>
                            </a:rPr>
                            <a:t>{</a:t>
                          </a:r>
                          <a:r>
                            <a:rPr lang="en-US" sz="900" b="0" dirty="0" err="1">
                              <a:solidFill>
                                <a:schemeClr val="tx1"/>
                              </a:solidFill>
                            </a:rPr>
                            <a:t>a,aa,ab,aaa</a:t>
                          </a:r>
                          <a:r>
                            <a:rPr lang="en-US" sz="900"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0728641"/>
                      </a:ext>
                    </a:extLst>
                  </a:tr>
                  <a:tr h="228600">
                    <a:tc>
                      <a:txBody>
                        <a:bodyPr/>
                        <a:lstStyle/>
                        <a:p>
                          <a:endParaRPr 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597368" r="-482645" b="-10526"/>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900" b="0" dirty="0">
                              <a:solidFill>
                                <a:schemeClr val="tx1"/>
                              </a:solidFill>
                            </a:rPr>
                            <a:t>以</a:t>
                          </a:r>
                          <a:r>
                            <a:rPr lang="en-US" altLang="zh-CN" sz="900" b="0" dirty="0">
                              <a:solidFill>
                                <a:schemeClr val="tx1"/>
                              </a:solidFill>
                            </a:rPr>
                            <a:t>abb</a:t>
                          </a:r>
                          <a:r>
                            <a:rPr lang="zh-CN" altLang="en-US" sz="900" b="0" dirty="0">
                              <a:solidFill>
                                <a:schemeClr val="tx1"/>
                              </a:solidFill>
                            </a:rPr>
                            <a:t>为结尾，</a:t>
                          </a:r>
                          <a:r>
                            <a:rPr lang="el-GR" sz="900" b="0" dirty="0">
                              <a:solidFill>
                                <a:schemeClr val="tx1"/>
                              </a:solidFill>
                            </a:rPr>
                            <a:t>{</a:t>
                          </a:r>
                          <a:r>
                            <a:rPr lang="en-US" sz="900" b="0" dirty="0" err="1">
                              <a:solidFill>
                                <a:schemeClr val="tx1"/>
                              </a:solidFill>
                            </a:rPr>
                            <a:t>aabb,babb,aaabb,ababb</a:t>
                          </a:r>
                          <a:r>
                            <a:rPr lang="en-US" sz="900"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2140186"/>
                      </a:ext>
                    </a:extLst>
                  </a:tr>
                </a:tbl>
              </a:graphicData>
            </a:graphic>
          </p:graphicFrame>
        </mc:Fallback>
      </mc:AlternateContent>
      <p:grpSp>
        <p:nvGrpSpPr>
          <p:cNvPr id="34" name="Group 33">
            <a:extLst>
              <a:ext uri="{FF2B5EF4-FFF2-40B4-BE49-F238E27FC236}">
                <a16:creationId xmlns:a16="http://schemas.microsoft.com/office/drawing/2014/main" id="{8F6C43E7-D8C4-412E-ABCB-C7634298BE92}"/>
              </a:ext>
            </a:extLst>
          </p:cNvPr>
          <p:cNvGrpSpPr/>
          <p:nvPr/>
        </p:nvGrpSpPr>
        <p:grpSpPr>
          <a:xfrm>
            <a:off x="7674817" y="4343602"/>
            <a:ext cx="4386653" cy="941593"/>
            <a:chOff x="7614613" y="5950488"/>
            <a:chExt cx="4386653" cy="941593"/>
          </a:xfrm>
        </p:grpSpPr>
        <p:sp>
          <p:nvSpPr>
            <p:cNvPr id="35" name="Rectangle: Rounded Corners 34">
              <a:extLst>
                <a:ext uri="{FF2B5EF4-FFF2-40B4-BE49-F238E27FC236}">
                  <a16:creationId xmlns:a16="http://schemas.microsoft.com/office/drawing/2014/main" id="{3235DA9F-7283-578A-2D88-E5F8C6919D82}"/>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▶中、后缀表达式</a:t>
              </a:r>
              <a:endParaRPr lang="en-US" altLang="zh-CN" sz="1200" dirty="0">
                <a:solidFill>
                  <a:schemeClr val="bg1"/>
                </a:solidFill>
                <a:latin typeface="ui-monospace"/>
              </a:endParaRPr>
            </a:p>
          </p:txBody>
        </p:sp>
        <p:sp>
          <p:nvSpPr>
            <p:cNvPr id="36" name="TextBox 35">
              <a:extLst>
                <a:ext uri="{FF2B5EF4-FFF2-40B4-BE49-F238E27FC236}">
                  <a16:creationId xmlns:a16="http://schemas.microsoft.com/office/drawing/2014/main" id="{C59D41DF-A256-74B8-4BDB-4F0BFD86438D}"/>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中缀：</a:t>
              </a:r>
              <a:r>
                <a:rPr lang="en-US" altLang="zh-CN" sz="1200" dirty="0" err="1">
                  <a:solidFill>
                    <a:schemeClr val="accent1"/>
                  </a:solidFill>
                  <a:latin typeface="ui-monospace"/>
                </a:rPr>
                <a:t>a?b</a:t>
              </a:r>
              <a:r>
                <a:rPr lang="en-US" altLang="zh-CN" sz="1200" dirty="0">
                  <a:solidFill>
                    <a:schemeClr val="accent1"/>
                  </a:solidFill>
                  <a:latin typeface="ui-monospace"/>
                </a:rPr>
                <a:t> </a:t>
              </a:r>
              <a:r>
                <a:rPr lang="en-US" altLang="zh-CN" sz="1200" dirty="0">
                  <a:solidFill>
                    <a:schemeClr val="accent1"/>
                  </a:solidFill>
                  <a:latin typeface="ui-monospace"/>
                  <a:sym typeface="Wingdings" panose="05000000000000000000" pitchFamily="2" charset="2"/>
                </a:rPr>
                <a:t> </a:t>
              </a:r>
              <a:r>
                <a:rPr lang="zh-CN" altLang="en-US" sz="1200" dirty="0">
                  <a:solidFill>
                    <a:schemeClr val="accent1"/>
                  </a:solidFill>
                  <a:latin typeface="ui-monospace"/>
                </a:rPr>
                <a:t>后缀：</a:t>
              </a:r>
              <a:r>
                <a:rPr lang="en-US" altLang="zh-CN" sz="1200" dirty="0">
                  <a:solidFill>
                    <a:schemeClr val="accent1"/>
                  </a:solidFill>
                  <a:latin typeface="ui-monospace"/>
                </a:rPr>
                <a:t>ab?  </a:t>
              </a:r>
              <a:r>
                <a:rPr lang="zh-CN" altLang="en-US" sz="1200" dirty="0">
                  <a:solidFill>
                    <a:schemeClr val="accent1"/>
                  </a:solidFill>
                  <a:latin typeface="ui-monospace"/>
                </a:rPr>
                <a:t>逆波兰式</a:t>
              </a:r>
              <a:endParaRPr lang="en-US" altLang="zh-CN" sz="1200" dirty="0">
                <a:solidFill>
                  <a:schemeClr val="accent1"/>
                </a:solidFill>
                <a:latin typeface="ui-monospace"/>
              </a:endParaRPr>
            </a:p>
            <a:p>
              <a:r>
                <a:rPr lang="zh-CN" altLang="en-US" sz="1200" dirty="0">
                  <a:solidFill>
                    <a:schemeClr val="accent1"/>
                  </a:solidFill>
                  <a:latin typeface="ui-monospace"/>
                </a:rPr>
                <a:t>先看优先级转换，相同时从右向左</a:t>
              </a:r>
              <a:endParaRPr lang="en-US" altLang="zh-CN" sz="1200" dirty="0">
                <a:solidFill>
                  <a:schemeClr val="accent1"/>
                </a:solidFill>
                <a:latin typeface="ui-monospace"/>
              </a:endParaRPr>
            </a:p>
            <a:p>
              <a:r>
                <a:rPr lang="zh-CN" altLang="en-US" sz="1200" dirty="0">
                  <a:solidFill>
                    <a:schemeClr val="accent1"/>
                  </a:solidFill>
                  <a:latin typeface="ui-monospace"/>
                </a:rPr>
                <a:t>从左向右，遇到数字入</a:t>
              </a:r>
              <a:r>
                <a:rPr lang="zh-CN" altLang="en-US" sz="1200" b="1" dirty="0">
                  <a:solidFill>
                    <a:schemeClr val="accent1"/>
                  </a:solidFill>
                  <a:latin typeface="ui-monospace"/>
                </a:rPr>
                <a:t>栈</a:t>
              </a:r>
              <a:r>
                <a:rPr lang="zh-CN" altLang="en-US" sz="1200" dirty="0">
                  <a:solidFill>
                    <a:schemeClr val="accent1"/>
                  </a:solidFill>
                  <a:latin typeface="ui-monospace"/>
                </a:rPr>
                <a:t>，遇到运算符取两个数字进行运算</a:t>
              </a:r>
              <a:endParaRPr lang="en-US" altLang="zh-CN" sz="1200" dirty="0">
                <a:solidFill>
                  <a:schemeClr val="accent1"/>
                </a:solidFill>
                <a:latin typeface="ui-monospace"/>
              </a:endParaRPr>
            </a:p>
          </p:txBody>
        </p:sp>
      </p:grpSp>
      <p:grpSp>
        <p:nvGrpSpPr>
          <p:cNvPr id="37" name="Group 36">
            <a:extLst>
              <a:ext uri="{FF2B5EF4-FFF2-40B4-BE49-F238E27FC236}">
                <a16:creationId xmlns:a16="http://schemas.microsoft.com/office/drawing/2014/main" id="{EB846020-FFD5-5CFE-6E24-287ED7F9CB27}"/>
              </a:ext>
            </a:extLst>
          </p:cNvPr>
          <p:cNvGrpSpPr/>
          <p:nvPr/>
        </p:nvGrpSpPr>
        <p:grpSpPr>
          <a:xfrm>
            <a:off x="7674816" y="5258004"/>
            <a:ext cx="4386653" cy="756927"/>
            <a:chOff x="7614613" y="5950488"/>
            <a:chExt cx="4386653" cy="756927"/>
          </a:xfrm>
        </p:grpSpPr>
        <p:sp>
          <p:nvSpPr>
            <p:cNvPr id="38" name="Rectangle: Rounded Corners 37">
              <a:extLst>
                <a:ext uri="{FF2B5EF4-FFF2-40B4-BE49-F238E27FC236}">
                  <a16:creationId xmlns:a16="http://schemas.microsoft.com/office/drawing/2014/main" id="{C602F90F-3EA6-CA9E-1060-B5D9A0D51F45}"/>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▶语法树中、后序遍历</a:t>
              </a:r>
              <a:endParaRPr lang="en-US" altLang="zh-CN" sz="1200" dirty="0">
                <a:solidFill>
                  <a:schemeClr val="bg1"/>
                </a:solidFill>
                <a:latin typeface="ui-monospace"/>
              </a:endParaRPr>
            </a:p>
          </p:txBody>
        </p:sp>
        <p:sp>
          <p:nvSpPr>
            <p:cNvPr id="39" name="TextBox 38">
              <a:extLst>
                <a:ext uri="{FF2B5EF4-FFF2-40B4-BE49-F238E27FC236}">
                  <a16:creationId xmlns:a16="http://schemas.microsoft.com/office/drawing/2014/main" id="{90063658-8222-C431-86A1-8CBA8DD9B505}"/>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中序遍历</a:t>
              </a:r>
              <a:r>
                <a:rPr lang="en-US" altLang="zh-CN" sz="1200" dirty="0">
                  <a:solidFill>
                    <a:schemeClr val="accent1"/>
                  </a:solidFill>
                  <a:latin typeface="ui-monospace"/>
                </a:rPr>
                <a:t>&gt;</a:t>
              </a:r>
              <a:r>
                <a:rPr lang="zh-CN" altLang="en-US" sz="1200" dirty="0">
                  <a:solidFill>
                    <a:schemeClr val="accent1"/>
                  </a:solidFill>
                  <a:latin typeface="ui-monospace"/>
                </a:rPr>
                <a:t>左根右</a:t>
              </a:r>
              <a:r>
                <a:rPr lang="en-US" altLang="zh-CN" sz="1200" dirty="0">
                  <a:solidFill>
                    <a:schemeClr val="accent1"/>
                  </a:solidFill>
                  <a:latin typeface="ui-monospace"/>
                </a:rPr>
                <a:t>&gt;</a:t>
              </a:r>
              <a:r>
                <a:rPr lang="zh-CN" altLang="en-US" sz="1200" dirty="0">
                  <a:solidFill>
                    <a:schemeClr val="accent1"/>
                  </a:solidFill>
                  <a:latin typeface="ui-monospace"/>
                </a:rPr>
                <a:t>中缀式</a:t>
              </a:r>
              <a:endParaRPr lang="en-US" altLang="zh-CN" sz="1200" dirty="0">
                <a:solidFill>
                  <a:schemeClr val="accent1"/>
                </a:solidFill>
                <a:latin typeface="ui-monospace"/>
              </a:endParaRPr>
            </a:p>
            <a:p>
              <a:r>
                <a:rPr lang="zh-CN" altLang="en-US" sz="1200" dirty="0">
                  <a:solidFill>
                    <a:schemeClr val="accent1"/>
                  </a:solidFill>
                  <a:latin typeface="ui-monospace"/>
                </a:rPr>
                <a:t>后续遍历</a:t>
              </a:r>
              <a:r>
                <a:rPr lang="en-US" altLang="zh-CN" sz="1200" dirty="0">
                  <a:solidFill>
                    <a:schemeClr val="accent1"/>
                  </a:solidFill>
                  <a:latin typeface="ui-monospace"/>
                </a:rPr>
                <a:t>&gt;</a:t>
              </a:r>
              <a:r>
                <a:rPr lang="zh-CN" altLang="en-US" sz="1200" dirty="0">
                  <a:solidFill>
                    <a:schemeClr val="accent1"/>
                  </a:solidFill>
                  <a:latin typeface="ui-monospace"/>
                </a:rPr>
                <a:t>左右根</a:t>
              </a:r>
              <a:r>
                <a:rPr lang="en-US" altLang="zh-CN" sz="1200" dirty="0">
                  <a:solidFill>
                    <a:schemeClr val="accent1"/>
                  </a:solidFill>
                  <a:latin typeface="ui-monospace"/>
                </a:rPr>
                <a:t>&gt;</a:t>
              </a:r>
              <a:r>
                <a:rPr lang="zh-CN" altLang="en-US" sz="1200" dirty="0">
                  <a:solidFill>
                    <a:schemeClr val="accent1"/>
                  </a:solidFill>
                  <a:latin typeface="ui-monospace"/>
                </a:rPr>
                <a:t>后缀式</a:t>
              </a:r>
              <a:endParaRPr lang="en-US" altLang="zh-CN" sz="1200" dirty="0">
                <a:solidFill>
                  <a:schemeClr val="accent1"/>
                </a:solidFill>
                <a:latin typeface="ui-monospace"/>
              </a:endParaRPr>
            </a:p>
          </p:txBody>
        </p:sp>
      </p:grpSp>
      <p:pic>
        <p:nvPicPr>
          <p:cNvPr id="41" name="Picture 40">
            <a:extLst>
              <a:ext uri="{FF2B5EF4-FFF2-40B4-BE49-F238E27FC236}">
                <a16:creationId xmlns:a16="http://schemas.microsoft.com/office/drawing/2014/main" id="{6CD0C910-6416-C52F-8439-5FB29EA791E4}"/>
              </a:ext>
            </a:extLst>
          </p:cNvPr>
          <p:cNvPicPr>
            <a:picLocks noChangeAspect="1"/>
          </p:cNvPicPr>
          <p:nvPr/>
        </p:nvPicPr>
        <p:blipFill>
          <a:blip r:embed="rId6"/>
          <a:stretch>
            <a:fillRect/>
          </a:stretch>
        </p:blipFill>
        <p:spPr>
          <a:xfrm>
            <a:off x="11178989" y="5672555"/>
            <a:ext cx="829941" cy="999701"/>
          </a:xfrm>
          <a:prstGeom prst="rect">
            <a:avLst/>
          </a:prstGeom>
        </p:spPr>
      </p:pic>
      <p:sp>
        <p:nvSpPr>
          <p:cNvPr id="42" name="TextBox 41">
            <a:extLst>
              <a:ext uri="{FF2B5EF4-FFF2-40B4-BE49-F238E27FC236}">
                <a16:creationId xmlns:a16="http://schemas.microsoft.com/office/drawing/2014/main" id="{E7B7E79C-08EB-E798-C0C3-E5C4C47FFE87}"/>
              </a:ext>
            </a:extLst>
          </p:cNvPr>
          <p:cNvSpPr txBox="1"/>
          <p:nvPr/>
        </p:nvSpPr>
        <p:spPr>
          <a:xfrm>
            <a:off x="7727352" y="6387306"/>
            <a:ext cx="4281578" cy="461665"/>
          </a:xfrm>
          <a:prstGeom prst="rect">
            <a:avLst/>
          </a:prstGeom>
          <a:noFill/>
        </p:spPr>
        <p:txBody>
          <a:bodyPr wrap="square">
            <a:spAutoFit/>
          </a:bodyPr>
          <a:lstStyle/>
          <a:p>
            <a:r>
              <a:rPr lang="zh-CN" altLang="en-US" sz="1200" dirty="0">
                <a:solidFill>
                  <a:schemeClr val="accent1"/>
                </a:solidFill>
                <a:latin typeface="ui-monospace"/>
              </a:rPr>
              <a:t>各种语言的语法</a:t>
            </a:r>
            <a:endParaRPr lang="en-US" altLang="zh-CN" sz="1200" dirty="0">
              <a:solidFill>
                <a:schemeClr val="accent1"/>
              </a:solidFill>
              <a:latin typeface="ui-monospace"/>
            </a:endParaRPr>
          </a:p>
          <a:p>
            <a:r>
              <a:rPr lang="en-US" altLang="zh-CN" sz="1200" dirty="0">
                <a:solidFill>
                  <a:schemeClr val="accent1"/>
                </a:solidFill>
                <a:latin typeface="ui-monospace"/>
              </a:rPr>
              <a:t>Python/Java/C/C++</a:t>
            </a:r>
          </a:p>
        </p:txBody>
      </p:sp>
    </p:spTree>
    <p:extLst>
      <p:ext uri="{BB962C8B-B14F-4D97-AF65-F5344CB8AC3E}">
        <p14:creationId xmlns:p14="http://schemas.microsoft.com/office/powerpoint/2010/main" val="3398035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CA83C5-434B-C2BB-C03E-FEA77C2BBB11}"/>
              </a:ext>
            </a:extLst>
          </p:cNvPr>
          <p:cNvSpPr txBox="1"/>
          <p:nvPr/>
        </p:nvSpPr>
        <p:spPr>
          <a:xfrm>
            <a:off x="0" y="959472"/>
            <a:ext cx="2986206" cy="378565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知识产权</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著作权</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职务软件</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委托开发</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商业秘密</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专利申请</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商标注册</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F6E8EA44-BACD-2DF7-D1BB-48B659756CE3}"/>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A7CFB97A-E7E7-BB6E-4BA9-8E7CB22DC8F7}"/>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1" name="Group 10">
            <a:extLst>
              <a:ext uri="{FF2B5EF4-FFF2-40B4-BE49-F238E27FC236}">
                <a16:creationId xmlns:a16="http://schemas.microsoft.com/office/drawing/2014/main" id="{98BD0C93-DD89-25A7-1553-E3F85FE0D7B8}"/>
              </a:ext>
            </a:extLst>
          </p:cNvPr>
          <p:cNvGrpSpPr/>
          <p:nvPr/>
        </p:nvGrpSpPr>
        <p:grpSpPr>
          <a:xfrm>
            <a:off x="3119859" y="40595"/>
            <a:ext cx="4386653" cy="2418920"/>
            <a:chOff x="7614613" y="5950488"/>
            <a:chExt cx="4386653" cy="2418920"/>
          </a:xfrm>
        </p:grpSpPr>
        <p:sp>
          <p:nvSpPr>
            <p:cNvPr id="12" name="Rectangle: Rounded Corners 11">
              <a:extLst>
                <a:ext uri="{FF2B5EF4-FFF2-40B4-BE49-F238E27FC236}">
                  <a16:creationId xmlns:a16="http://schemas.microsoft.com/office/drawing/2014/main" id="{01574168-1441-BE9C-0656-1623F1FA4E3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▶知识产权</a:t>
              </a:r>
              <a:endParaRPr lang="en-US" sz="1200" dirty="0">
                <a:solidFill>
                  <a:schemeClr val="bg1"/>
                </a:solidFill>
              </a:endParaRPr>
            </a:p>
          </p:txBody>
        </p:sp>
        <p:sp>
          <p:nvSpPr>
            <p:cNvPr id="13" name="TextBox 12">
              <a:extLst>
                <a:ext uri="{FF2B5EF4-FFF2-40B4-BE49-F238E27FC236}">
                  <a16:creationId xmlns:a16="http://schemas.microsoft.com/office/drawing/2014/main" id="{99A4E7D9-2F45-730B-49F2-2D0574D0A953}"/>
                </a:ext>
              </a:extLst>
            </p:cNvPr>
            <p:cNvSpPr txBox="1"/>
            <p:nvPr/>
          </p:nvSpPr>
          <p:spPr>
            <a:xfrm>
              <a:off x="7667294" y="6245750"/>
              <a:ext cx="4281578" cy="2123658"/>
            </a:xfrm>
            <a:prstGeom prst="rect">
              <a:avLst/>
            </a:prstGeom>
            <a:noFill/>
          </p:spPr>
          <p:txBody>
            <a:bodyPr wrap="square">
              <a:spAutoFit/>
            </a:bodyPr>
            <a:lstStyle/>
            <a:p>
              <a:r>
                <a:rPr lang="zh-CN" altLang="en-US" sz="1200" dirty="0">
                  <a:solidFill>
                    <a:schemeClr val="accent1"/>
                  </a:solidFill>
                  <a:latin typeface="ui-monospace"/>
                </a:rPr>
                <a:t>保护对象：</a:t>
              </a:r>
              <a:endParaRPr lang="en-US" altLang="zh-CN" sz="1200" dirty="0">
                <a:solidFill>
                  <a:schemeClr val="accent1"/>
                </a:solidFill>
                <a:latin typeface="ui-monospace"/>
              </a:endParaRPr>
            </a:p>
            <a:p>
              <a:r>
                <a:rPr lang="zh-CN" altLang="en-US" sz="1200" dirty="0">
                  <a:solidFill>
                    <a:schemeClr val="accent1"/>
                  </a:solidFill>
                  <a:latin typeface="ui-monospace"/>
                </a:rPr>
                <a:t>工业产权：专利权、商标权</a:t>
              </a:r>
              <a:endParaRPr lang="en-US" altLang="zh-CN" sz="1200" dirty="0">
                <a:solidFill>
                  <a:schemeClr val="accent1"/>
                </a:solidFill>
                <a:latin typeface="ui-monospace"/>
              </a:endParaRPr>
            </a:p>
            <a:p>
              <a:r>
                <a:rPr lang="zh-CN" altLang="en-US" sz="1200" dirty="0">
                  <a:solidFill>
                    <a:schemeClr val="accent1"/>
                  </a:solidFill>
                  <a:latin typeface="ui-monospace"/>
                </a:rPr>
                <a:t>著作权：</a:t>
              </a:r>
              <a:r>
                <a:rPr lang="zh-CN" altLang="en-US" sz="1200" b="1" dirty="0">
                  <a:solidFill>
                    <a:schemeClr val="accent1"/>
                  </a:solidFill>
                  <a:latin typeface="ui-monospace"/>
                </a:rPr>
                <a:t>人身权</a:t>
              </a:r>
              <a:r>
                <a:rPr lang="zh-CN" altLang="en-US" sz="1200" dirty="0">
                  <a:solidFill>
                    <a:schemeClr val="accent1"/>
                  </a:solidFill>
                  <a:latin typeface="ui-monospace"/>
                </a:rPr>
                <a:t>包括发表权</a:t>
              </a:r>
              <a:r>
                <a:rPr lang="en-US" altLang="zh-CN" sz="1200" dirty="0">
                  <a:solidFill>
                    <a:schemeClr val="accent1"/>
                  </a:solidFill>
                  <a:latin typeface="ui-monospace"/>
                </a:rPr>
                <a:t>(</a:t>
              </a:r>
              <a:r>
                <a:rPr lang="zh-CN" altLang="en-US" sz="1200" dirty="0">
                  <a:solidFill>
                    <a:schemeClr val="accent1"/>
                  </a:solidFill>
                  <a:latin typeface="ui-monospace"/>
                </a:rPr>
                <a:t>终生</a:t>
              </a:r>
              <a:r>
                <a:rPr lang="en-US" altLang="zh-CN" sz="1200" dirty="0">
                  <a:solidFill>
                    <a:schemeClr val="accent1"/>
                  </a:solidFill>
                  <a:latin typeface="ui-monospace"/>
                </a:rPr>
                <a:t>+</a:t>
              </a:r>
              <a:r>
                <a:rPr lang="zh-CN" altLang="en-US" sz="1200" dirty="0">
                  <a:solidFill>
                    <a:schemeClr val="accent1"/>
                  </a:solidFill>
                  <a:latin typeface="ui-monospace"/>
                </a:rPr>
                <a:t>死亡后</a:t>
              </a:r>
              <a:r>
                <a:rPr lang="en-US" altLang="zh-CN" sz="1200" dirty="0">
                  <a:solidFill>
                    <a:schemeClr val="accent1"/>
                  </a:solidFill>
                  <a:latin typeface="ui-monospace"/>
                </a:rPr>
                <a:t>50</a:t>
              </a:r>
              <a:r>
                <a:rPr lang="zh-CN" altLang="en-US" sz="1200" dirty="0">
                  <a:solidFill>
                    <a:schemeClr val="accent1"/>
                  </a:solidFill>
                  <a:latin typeface="ui-monospace"/>
                </a:rPr>
                <a:t>年</a:t>
              </a:r>
              <a:r>
                <a:rPr lang="en-US" altLang="zh-CN" sz="1200" dirty="0">
                  <a:solidFill>
                    <a:schemeClr val="accent1"/>
                  </a:solidFill>
                  <a:latin typeface="ui-monospace"/>
                </a:rPr>
                <a:t>)</a:t>
              </a:r>
              <a:r>
                <a:rPr lang="zh-CN" altLang="en-US" sz="1200" dirty="0">
                  <a:solidFill>
                    <a:schemeClr val="accent1"/>
                  </a:solidFill>
                  <a:latin typeface="ui-monospace"/>
                </a:rPr>
                <a:t>、署名权、修改权和作品完整权；其余为</a:t>
              </a:r>
              <a:r>
                <a:rPr lang="zh-CN" altLang="en-US" sz="1200" b="1" dirty="0">
                  <a:solidFill>
                    <a:schemeClr val="accent1"/>
                  </a:solidFill>
                  <a:latin typeface="ui-monospace"/>
                </a:rPr>
                <a:t>财产权</a:t>
              </a:r>
              <a:r>
                <a:rPr lang="zh-CN" altLang="en-US" sz="1200" dirty="0">
                  <a:solidFill>
                    <a:schemeClr val="accent1"/>
                  </a:solidFill>
                  <a:latin typeface="ui-monospace"/>
                </a:rPr>
                <a:t>。</a:t>
              </a:r>
              <a:endParaRPr lang="en-US" altLang="zh-CN" sz="1200" dirty="0">
                <a:solidFill>
                  <a:schemeClr val="accent1"/>
                </a:solidFill>
                <a:latin typeface="ui-monospace"/>
              </a:endParaRPr>
            </a:p>
            <a:p>
              <a:r>
                <a:rPr lang="zh-CN" altLang="en-US" sz="1200" dirty="0">
                  <a:solidFill>
                    <a:schemeClr val="accent1"/>
                  </a:solidFill>
                  <a:latin typeface="ui-monospace"/>
                </a:rPr>
                <a:t>地域性：只在本国地域内受法律保护</a:t>
              </a:r>
              <a:endParaRPr lang="en-US" altLang="zh-CN" sz="1200" dirty="0">
                <a:solidFill>
                  <a:schemeClr val="accent1"/>
                </a:solidFill>
                <a:latin typeface="ui-monospace"/>
              </a:endParaRPr>
            </a:p>
            <a:p>
              <a:r>
                <a:rPr lang="zh-CN" altLang="en-US" sz="1200" dirty="0">
                  <a:solidFill>
                    <a:schemeClr val="accent1"/>
                  </a:solidFill>
                  <a:latin typeface="ui-monospace"/>
                </a:rPr>
                <a:t>计算机软件著作权：</a:t>
              </a:r>
              <a:endParaRPr lang="en-US" altLang="zh-CN" sz="1200" dirty="0">
                <a:solidFill>
                  <a:schemeClr val="accent1"/>
                </a:solidFill>
                <a:latin typeface="ui-monospace"/>
              </a:endParaRPr>
            </a:p>
            <a:p>
              <a:r>
                <a:rPr lang="en-US" altLang="zh-CN" sz="1200" b="1" dirty="0">
                  <a:solidFill>
                    <a:schemeClr val="accent1"/>
                  </a:solidFill>
                  <a:latin typeface="ui-monospace"/>
                </a:rPr>
                <a:t>&lt;</a:t>
              </a:r>
              <a:r>
                <a:rPr lang="zh-CN" altLang="en-US" sz="1200" b="1" dirty="0">
                  <a:solidFill>
                    <a:schemeClr val="accent1"/>
                  </a:solidFill>
                  <a:latin typeface="ui-monospace"/>
                </a:rPr>
                <a:t>中华人民共和国著作权法</a:t>
              </a:r>
              <a:r>
                <a:rPr lang="en-US" altLang="zh-CN" sz="1200" b="1" dirty="0">
                  <a:solidFill>
                    <a:schemeClr val="accent1"/>
                  </a:solidFill>
                  <a:latin typeface="ui-monospace"/>
                </a:rPr>
                <a:t>&gt;</a:t>
              </a:r>
              <a:r>
                <a:rPr lang="en-US" altLang="zh-CN" sz="1200" dirty="0">
                  <a:solidFill>
                    <a:schemeClr val="accent1"/>
                  </a:solidFill>
                  <a:latin typeface="ui-monospace"/>
                </a:rPr>
                <a:t> </a:t>
              </a:r>
              <a:r>
                <a:rPr lang="zh-CN" altLang="en-US" sz="1200" dirty="0">
                  <a:solidFill>
                    <a:schemeClr val="accent1"/>
                  </a:solidFill>
                  <a:latin typeface="ui-monospace"/>
                </a:rPr>
                <a:t>人大</a:t>
              </a:r>
              <a:endParaRPr lang="en-US" altLang="zh-CN" sz="1200" dirty="0">
                <a:solidFill>
                  <a:schemeClr val="accent1"/>
                </a:solidFill>
                <a:latin typeface="ui-monospace"/>
              </a:endParaRPr>
            </a:p>
            <a:p>
              <a:r>
                <a:rPr lang="en-US" altLang="zh-CN" sz="1200" b="1" dirty="0">
                  <a:solidFill>
                    <a:schemeClr val="accent1"/>
                  </a:solidFill>
                  <a:latin typeface="ui-monospace"/>
                </a:rPr>
                <a:t>&lt;</a:t>
              </a:r>
              <a:r>
                <a:rPr lang="zh-CN" altLang="en-US" sz="1200" b="1" dirty="0">
                  <a:solidFill>
                    <a:schemeClr val="accent1"/>
                  </a:solidFill>
                  <a:latin typeface="ui-monospace"/>
                </a:rPr>
                <a:t>计算机软件保护条例</a:t>
              </a:r>
              <a:r>
                <a:rPr lang="en-US" altLang="zh-CN" sz="1200" b="1" dirty="0">
                  <a:solidFill>
                    <a:schemeClr val="accent1"/>
                  </a:solidFill>
                  <a:latin typeface="ui-monospace"/>
                </a:rPr>
                <a:t>&gt; </a:t>
              </a:r>
              <a:r>
                <a:rPr lang="zh-CN" altLang="en-US" sz="1200" dirty="0">
                  <a:solidFill>
                    <a:schemeClr val="accent1"/>
                  </a:solidFill>
                  <a:latin typeface="ui-monospace"/>
                </a:rPr>
                <a:t>国务院</a:t>
              </a:r>
              <a:endParaRPr lang="en-US" altLang="zh-CN" sz="1200" dirty="0">
                <a:solidFill>
                  <a:schemeClr val="accent1"/>
                </a:solidFill>
                <a:latin typeface="ui-monospace"/>
              </a:endParaRPr>
            </a:p>
            <a:p>
              <a:r>
                <a:rPr lang="zh-CN" altLang="en-US" sz="1200" dirty="0">
                  <a:solidFill>
                    <a:schemeClr val="accent1"/>
                  </a:solidFill>
                  <a:latin typeface="ui-monospace"/>
                </a:rPr>
                <a:t>客体：计算机程序</a:t>
              </a:r>
              <a:r>
                <a:rPr lang="en-US" altLang="zh-CN" sz="1200" dirty="0">
                  <a:solidFill>
                    <a:schemeClr val="accent1"/>
                  </a:solidFill>
                  <a:latin typeface="ui-monospace"/>
                </a:rPr>
                <a:t>(</a:t>
              </a:r>
              <a:r>
                <a:rPr lang="zh-CN" altLang="en-US" sz="1200" b="1" dirty="0">
                  <a:solidFill>
                    <a:schemeClr val="accent1"/>
                  </a:solidFill>
                  <a:latin typeface="ui-monospace"/>
                </a:rPr>
                <a:t>源程序</a:t>
              </a:r>
              <a:r>
                <a:rPr lang="zh-CN" altLang="en-US" sz="1200" dirty="0">
                  <a:solidFill>
                    <a:schemeClr val="accent1"/>
                  </a:solidFill>
                  <a:latin typeface="ui-monospace"/>
                </a:rPr>
                <a:t>和</a:t>
              </a:r>
              <a:r>
                <a:rPr lang="zh-CN" altLang="en-US" sz="1200" b="1" dirty="0">
                  <a:solidFill>
                    <a:schemeClr val="accent1"/>
                  </a:solidFill>
                  <a:latin typeface="ui-monospace"/>
                </a:rPr>
                <a:t>目标程序</a:t>
              </a:r>
              <a:r>
                <a:rPr lang="en-US" altLang="zh-CN" sz="1200" dirty="0">
                  <a:solidFill>
                    <a:schemeClr val="accent1"/>
                  </a:solidFill>
                  <a:latin typeface="ui-monospace"/>
                </a:rPr>
                <a:t>)</a:t>
              </a:r>
              <a:r>
                <a:rPr lang="zh-CN" altLang="en-US" sz="1200" dirty="0">
                  <a:solidFill>
                    <a:schemeClr val="accent1"/>
                  </a:solidFill>
                  <a:latin typeface="ui-monospace"/>
                </a:rPr>
                <a:t>及其有关</a:t>
              </a:r>
              <a:r>
                <a:rPr lang="zh-CN" altLang="en-US" sz="1200" b="1" dirty="0">
                  <a:solidFill>
                    <a:schemeClr val="accent1"/>
                  </a:solidFill>
                  <a:latin typeface="ui-monospace"/>
                </a:rPr>
                <a:t>软件文档</a:t>
              </a:r>
              <a:endParaRPr lang="en-US" altLang="zh-CN" sz="1200" b="1" dirty="0">
                <a:solidFill>
                  <a:schemeClr val="accent1"/>
                </a:solidFill>
                <a:latin typeface="ui-monospace"/>
              </a:endParaRPr>
            </a:p>
            <a:p>
              <a:r>
                <a:rPr lang="zh-CN" altLang="en-US" sz="1200" dirty="0">
                  <a:solidFill>
                    <a:schemeClr val="accent1"/>
                  </a:solidFill>
                  <a:latin typeface="ui-monospace"/>
                </a:rPr>
                <a:t>人身权：发表权、开发者身份权</a:t>
              </a:r>
              <a:r>
                <a:rPr lang="en-US" altLang="zh-CN" sz="1200" dirty="0">
                  <a:solidFill>
                    <a:schemeClr val="accent1"/>
                  </a:solidFill>
                  <a:latin typeface="ui-monospace"/>
                </a:rPr>
                <a:t>(</a:t>
              </a:r>
              <a:r>
                <a:rPr lang="zh-CN" altLang="en-US" sz="1200" dirty="0">
                  <a:solidFill>
                    <a:schemeClr val="accent1"/>
                  </a:solidFill>
                  <a:latin typeface="ui-monospace"/>
                </a:rPr>
                <a:t>署名权</a:t>
              </a:r>
              <a:r>
                <a:rPr lang="en-US" altLang="zh-CN" sz="1200" dirty="0">
                  <a:solidFill>
                    <a:schemeClr val="accent1"/>
                  </a:solidFill>
                  <a:latin typeface="ui-monospace"/>
                </a:rPr>
                <a:t>)</a:t>
              </a:r>
            </a:p>
            <a:p>
              <a:r>
                <a:rPr lang="zh-CN" altLang="en-US" sz="1200" dirty="0">
                  <a:solidFill>
                    <a:schemeClr val="accent1"/>
                  </a:solidFill>
                  <a:latin typeface="ui-monospace"/>
                </a:rPr>
                <a:t>保护期：软件开发完成之日</a:t>
              </a:r>
              <a:r>
                <a:rPr lang="en-US" altLang="zh-CN" sz="1200" dirty="0">
                  <a:solidFill>
                    <a:schemeClr val="accent1"/>
                  </a:solidFill>
                  <a:latin typeface="ui-monospace"/>
                </a:rPr>
                <a:t>+50</a:t>
              </a:r>
              <a:r>
                <a:rPr lang="zh-CN" altLang="en-US" sz="1200" dirty="0">
                  <a:solidFill>
                    <a:schemeClr val="accent1"/>
                  </a:solidFill>
                  <a:latin typeface="ui-monospace"/>
                </a:rPr>
                <a:t>年</a:t>
              </a:r>
              <a:endParaRPr lang="en-US" altLang="zh-CN" sz="1200" dirty="0">
                <a:solidFill>
                  <a:schemeClr val="accent1"/>
                </a:solidFill>
                <a:latin typeface="ui-monospace"/>
              </a:endParaRPr>
            </a:p>
          </p:txBody>
        </p:sp>
      </p:grpSp>
      <p:grpSp>
        <p:nvGrpSpPr>
          <p:cNvPr id="52" name="Group 51">
            <a:extLst>
              <a:ext uri="{FF2B5EF4-FFF2-40B4-BE49-F238E27FC236}">
                <a16:creationId xmlns:a16="http://schemas.microsoft.com/office/drawing/2014/main" id="{E1F69786-B799-6183-2FC1-17D584B40BFC}"/>
              </a:ext>
            </a:extLst>
          </p:cNvPr>
          <p:cNvGrpSpPr/>
          <p:nvPr/>
        </p:nvGrpSpPr>
        <p:grpSpPr>
          <a:xfrm>
            <a:off x="7674819" y="36928"/>
            <a:ext cx="4386653" cy="941593"/>
            <a:chOff x="7614613" y="5950488"/>
            <a:chExt cx="4386653" cy="941593"/>
          </a:xfrm>
        </p:grpSpPr>
        <p:sp>
          <p:nvSpPr>
            <p:cNvPr id="53" name="Rectangle: Rounded Corners 52">
              <a:extLst>
                <a:ext uri="{FF2B5EF4-FFF2-40B4-BE49-F238E27FC236}">
                  <a16:creationId xmlns:a16="http://schemas.microsoft.com/office/drawing/2014/main" id="{105E78B8-A91B-1A9A-0027-E942413F3058}"/>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▶其他</a:t>
              </a:r>
              <a:endParaRPr lang="en-US" altLang="zh-CN" sz="1200" dirty="0">
                <a:solidFill>
                  <a:schemeClr val="bg1"/>
                </a:solidFill>
                <a:latin typeface="ui-monospace"/>
              </a:endParaRPr>
            </a:p>
          </p:txBody>
        </p:sp>
        <p:sp>
          <p:nvSpPr>
            <p:cNvPr id="54" name="TextBox 53">
              <a:extLst>
                <a:ext uri="{FF2B5EF4-FFF2-40B4-BE49-F238E27FC236}">
                  <a16:creationId xmlns:a16="http://schemas.microsoft.com/office/drawing/2014/main" id="{FAFA9246-9E02-7EF5-839C-A5D6A8B148E6}"/>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许可使用：独占</a:t>
              </a:r>
              <a:r>
                <a:rPr lang="en-US" altLang="zh-CN" sz="1200" dirty="0">
                  <a:solidFill>
                    <a:schemeClr val="accent1"/>
                  </a:solidFill>
                  <a:latin typeface="ui-monospace"/>
                </a:rPr>
                <a:t>/</a:t>
              </a:r>
              <a:r>
                <a:rPr lang="zh-CN" altLang="en-US" sz="1200" dirty="0">
                  <a:solidFill>
                    <a:schemeClr val="accent1"/>
                  </a:solidFill>
                  <a:latin typeface="ui-monospace"/>
                </a:rPr>
                <a:t>独家</a:t>
              </a:r>
              <a:r>
                <a:rPr lang="en-US" altLang="zh-CN" sz="1200" dirty="0">
                  <a:solidFill>
                    <a:schemeClr val="accent1"/>
                  </a:solidFill>
                  <a:latin typeface="ui-monospace"/>
                </a:rPr>
                <a:t>/</a:t>
              </a:r>
              <a:r>
                <a:rPr lang="zh-CN" altLang="en-US" sz="1200" dirty="0">
                  <a:solidFill>
                    <a:schemeClr val="accent1"/>
                  </a:solidFill>
                  <a:latin typeface="ui-monospace"/>
                </a:rPr>
                <a:t>普通</a:t>
              </a:r>
              <a:r>
                <a:rPr lang="en-US" altLang="zh-CN" sz="1200" dirty="0">
                  <a:solidFill>
                    <a:schemeClr val="accent1"/>
                  </a:solidFill>
                  <a:latin typeface="ui-monospace"/>
                </a:rPr>
                <a:t>/</a:t>
              </a:r>
              <a:r>
                <a:rPr lang="zh-CN" altLang="en-US" sz="1200" dirty="0">
                  <a:solidFill>
                    <a:schemeClr val="accent1"/>
                  </a:solidFill>
                  <a:latin typeface="ui-monospace"/>
                </a:rPr>
                <a:t>强制</a:t>
              </a:r>
              <a:r>
                <a:rPr lang="en-US" altLang="zh-CN" sz="1200" dirty="0">
                  <a:solidFill>
                    <a:schemeClr val="accent1"/>
                  </a:solidFill>
                  <a:latin typeface="ui-monospace"/>
                </a:rPr>
                <a:t>/</a:t>
              </a:r>
              <a:r>
                <a:rPr lang="zh-CN" altLang="en-US" sz="1200" dirty="0">
                  <a:solidFill>
                    <a:schemeClr val="accent1"/>
                  </a:solidFill>
                  <a:latin typeface="ui-monospace"/>
                </a:rPr>
                <a:t>法定</a:t>
              </a:r>
              <a:endParaRPr lang="en-US" altLang="zh-CN" sz="1200" dirty="0">
                <a:solidFill>
                  <a:schemeClr val="accent1"/>
                </a:solidFill>
                <a:latin typeface="ui-monospace"/>
              </a:endParaRPr>
            </a:p>
            <a:p>
              <a:r>
                <a:rPr lang="zh-CN" altLang="en-US" sz="1200" dirty="0">
                  <a:solidFill>
                    <a:schemeClr val="accent1"/>
                  </a:solidFill>
                  <a:latin typeface="ui-monospace"/>
                </a:rPr>
                <a:t>翻译权：重构</a:t>
              </a:r>
              <a:endParaRPr lang="en-US" altLang="zh-CN" sz="1200" dirty="0">
                <a:solidFill>
                  <a:schemeClr val="accent1"/>
                </a:solidFill>
                <a:latin typeface="ui-monospace"/>
              </a:endParaRPr>
            </a:p>
            <a:p>
              <a:r>
                <a:rPr lang="zh-CN" altLang="en-US" sz="1200" dirty="0">
                  <a:solidFill>
                    <a:schemeClr val="accent1"/>
                  </a:solidFill>
                  <a:latin typeface="ui-monospace"/>
                </a:rPr>
                <a:t>烟草必须使用注册商标</a:t>
              </a:r>
              <a:endParaRPr lang="en-US" altLang="zh-CN" sz="1200" dirty="0">
                <a:solidFill>
                  <a:schemeClr val="accent1"/>
                </a:solidFill>
                <a:latin typeface="ui-monospace"/>
              </a:endParaRPr>
            </a:p>
          </p:txBody>
        </p:sp>
      </p:grpSp>
      <p:grpSp>
        <p:nvGrpSpPr>
          <p:cNvPr id="10" name="Group 9">
            <a:extLst>
              <a:ext uri="{FF2B5EF4-FFF2-40B4-BE49-F238E27FC236}">
                <a16:creationId xmlns:a16="http://schemas.microsoft.com/office/drawing/2014/main" id="{4215628D-BAF0-07A7-9AE6-FEF2B3C1544B}"/>
              </a:ext>
            </a:extLst>
          </p:cNvPr>
          <p:cNvGrpSpPr/>
          <p:nvPr/>
        </p:nvGrpSpPr>
        <p:grpSpPr>
          <a:xfrm>
            <a:off x="3130979" y="2446962"/>
            <a:ext cx="4386653" cy="1126259"/>
            <a:chOff x="7614613" y="5950488"/>
            <a:chExt cx="4386653" cy="1126259"/>
          </a:xfrm>
        </p:grpSpPr>
        <p:sp>
          <p:nvSpPr>
            <p:cNvPr id="14" name="Rectangle: Rounded Corners 13">
              <a:extLst>
                <a:ext uri="{FF2B5EF4-FFF2-40B4-BE49-F238E27FC236}">
                  <a16:creationId xmlns:a16="http://schemas.microsoft.com/office/drawing/2014/main" id="{41AA1C2D-2013-4B4B-FD23-0155BAFFB1B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▶职务作品</a:t>
              </a:r>
              <a:endParaRPr lang="en-US" sz="1200" dirty="0">
                <a:solidFill>
                  <a:schemeClr val="bg1"/>
                </a:solidFill>
              </a:endParaRPr>
            </a:p>
          </p:txBody>
        </p:sp>
        <p:sp>
          <p:nvSpPr>
            <p:cNvPr id="15" name="TextBox 14">
              <a:extLst>
                <a:ext uri="{FF2B5EF4-FFF2-40B4-BE49-F238E27FC236}">
                  <a16:creationId xmlns:a16="http://schemas.microsoft.com/office/drawing/2014/main" id="{7581C685-9553-EBA4-7116-3771530628B7}"/>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职务软件：公民在单位任职期间为执行单位工作任务，与从事工作内容相关的，使用单位的物质技术条件，所开发的计算机软件作品。只享有署名权。</a:t>
              </a:r>
              <a:endParaRPr lang="en-US" altLang="zh-CN" sz="1200" dirty="0">
                <a:solidFill>
                  <a:schemeClr val="accent1"/>
                </a:solidFill>
                <a:latin typeface="ui-monospace"/>
              </a:endParaRPr>
            </a:p>
            <a:p>
              <a:r>
                <a:rPr lang="zh-CN" altLang="en-US" sz="1200" b="1" dirty="0">
                  <a:solidFill>
                    <a:schemeClr val="accent1"/>
                  </a:solidFill>
                  <a:latin typeface="ui-monospace"/>
                </a:rPr>
                <a:t>委托开发</a:t>
              </a:r>
              <a:r>
                <a:rPr lang="zh-CN" altLang="en-US" sz="1200" dirty="0">
                  <a:solidFill>
                    <a:schemeClr val="accent1"/>
                  </a:solidFill>
                  <a:latin typeface="ui-monospace"/>
                </a:rPr>
                <a:t>作品：由签订书面合同成立，无合同由受托人享有</a:t>
              </a:r>
              <a:endParaRPr lang="en-US" altLang="zh-CN" sz="1200" dirty="0">
                <a:solidFill>
                  <a:schemeClr val="accent1"/>
                </a:solidFill>
                <a:latin typeface="ui-monospace"/>
              </a:endParaRPr>
            </a:p>
          </p:txBody>
        </p:sp>
      </p:grpSp>
      <p:grpSp>
        <p:nvGrpSpPr>
          <p:cNvPr id="26" name="Group 25">
            <a:extLst>
              <a:ext uri="{FF2B5EF4-FFF2-40B4-BE49-F238E27FC236}">
                <a16:creationId xmlns:a16="http://schemas.microsoft.com/office/drawing/2014/main" id="{1938BB61-AF18-5D18-4604-9C93B9E73A89}"/>
              </a:ext>
            </a:extLst>
          </p:cNvPr>
          <p:cNvGrpSpPr/>
          <p:nvPr/>
        </p:nvGrpSpPr>
        <p:grpSpPr>
          <a:xfrm>
            <a:off x="3130979" y="3572507"/>
            <a:ext cx="4386653" cy="572261"/>
            <a:chOff x="7614613" y="5950488"/>
            <a:chExt cx="4386653" cy="572261"/>
          </a:xfrm>
        </p:grpSpPr>
        <p:sp>
          <p:nvSpPr>
            <p:cNvPr id="31" name="Rectangle: Rounded Corners 30">
              <a:extLst>
                <a:ext uri="{FF2B5EF4-FFF2-40B4-BE49-F238E27FC236}">
                  <a16:creationId xmlns:a16="http://schemas.microsoft.com/office/drawing/2014/main" id="{E3755D44-EF3D-1CCB-D6AB-472DD1AAC647}"/>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▶侵权</a:t>
              </a:r>
              <a:endParaRPr lang="en-US" sz="1200" dirty="0">
                <a:solidFill>
                  <a:schemeClr val="bg1"/>
                </a:solidFill>
              </a:endParaRPr>
            </a:p>
          </p:txBody>
        </p:sp>
        <p:sp>
          <p:nvSpPr>
            <p:cNvPr id="32" name="TextBox 31">
              <a:extLst>
                <a:ext uri="{FF2B5EF4-FFF2-40B4-BE49-F238E27FC236}">
                  <a16:creationId xmlns:a16="http://schemas.microsoft.com/office/drawing/2014/main" id="{ABD17620-DD6D-8BAC-F32A-90081BA408E7}"/>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latin typeface="ui-monospace"/>
                </a:rPr>
                <a:t>甲擅自复制乙发表的</a:t>
              </a:r>
              <a:r>
                <a:rPr lang="en-US" altLang="zh-CN" sz="1200" dirty="0">
                  <a:solidFill>
                    <a:schemeClr val="accent1"/>
                  </a:solidFill>
                  <a:latin typeface="ui-monospace"/>
                </a:rPr>
                <a:t>OA</a:t>
              </a:r>
              <a:r>
                <a:rPr lang="zh-CN" altLang="en-US" sz="1200" dirty="0">
                  <a:solidFill>
                    <a:schemeClr val="accent1"/>
                  </a:solidFill>
                  <a:latin typeface="ui-monospace"/>
                </a:rPr>
                <a:t>软件售卖，丙公司未知情下购买使用</a:t>
              </a:r>
              <a:endParaRPr lang="en-US" altLang="zh-CN" sz="1200" dirty="0">
                <a:solidFill>
                  <a:schemeClr val="accent1"/>
                </a:solidFill>
                <a:latin typeface="ui-monospace"/>
              </a:endParaRPr>
            </a:p>
          </p:txBody>
        </p:sp>
      </p:grpSp>
      <p:grpSp>
        <p:nvGrpSpPr>
          <p:cNvPr id="40" name="Group 39">
            <a:extLst>
              <a:ext uri="{FF2B5EF4-FFF2-40B4-BE49-F238E27FC236}">
                <a16:creationId xmlns:a16="http://schemas.microsoft.com/office/drawing/2014/main" id="{4CC0BD8D-A2EB-FC21-2CFE-700FFBFCEAFF}"/>
              </a:ext>
            </a:extLst>
          </p:cNvPr>
          <p:cNvGrpSpPr/>
          <p:nvPr/>
        </p:nvGrpSpPr>
        <p:grpSpPr>
          <a:xfrm>
            <a:off x="3119859" y="4201157"/>
            <a:ext cx="4386653" cy="756927"/>
            <a:chOff x="7614613" y="5950488"/>
            <a:chExt cx="4386653" cy="756927"/>
          </a:xfrm>
        </p:grpSpPr>
        <p:sp>
          <p:nvSpPr>
            <p:cNvPr id="43" name="Rectangle: Rounded Corners 42">
              <a:extLst>
                <a:ext uri="{FF2B5EF4-FFF2-40B4-BE49-F238E27FC236}">
                  <a16:creationId xmlns:a16="http://schemas.microsoft.com/office/drawing/2014/main" id="{3B906B78-6E2E-CC00-5B26-5E132E18391C}"/>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▶商业秘密权</a:t>
              </a:r>
              <a:endParaRPr lang="en-US" sz="1200" dirty="0">
                <a:solidFill>
                  <a:schemeClr val="bg1"/>
                </a:solidFill>
              </a:endParaRPr>
            </a:p>
          </p:txBody>
        </p:sp>
        <p:sp>
          <p:nvSpPr>
            <p:cNvPr id="44" name="TextBox 43">
              <a:extLst>
                <a:ext uri="{FF2B5EF4-FFF2-40B4-BE49-F238E27FC236}">
                  <a16:creationId xmlns:a16="http://schemas.microsoft.com/office/drawing/2014/main" id="{6FCF256F-543D-CF39-F4DD-DFF4EB808D3A}"/>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反不正当：指不为公众所知悉的、能为权利人带来经济利益、具有实用性并经权利人采取保密措施的技术信息和经营信息</a:t>
              </a:r>
              <a:endParaRPr lang="en-US" altLang="zh-CN" sz="1200" dirty="0">
                <a:solidFill>
                  <a:schemeClr val="accent1"/>
                </a:solidFill>
                <a:latin typeface="ui-monospace"/>
              </a:endParaRPr>
            </a:p>
          </p:txBody>
        </p:sp>
      </p:grpSp>
      <p:grpSp>
        <p:nvGrpSpPr>
          <p:cNvPr id="45" name="Group 44">
            <a:extLst>
              <a:ext uri="{FF2B5EF4-FFF2-40B4-BE49-F238E27FC236}">
                <a16:creationId xmlns:a16="http://schemas.microsoft.com/office/drawing/2014/main" id="{AC59A432-7ACF-022E-EC8E-ABC8427A5037}"/>
              </a:ext>
            </a:extLst>
          </p:cNvPr>
          <p:cNvGrpSpPr/>
          <p:nvPr/>
        </p:nvGrpSpPr>
        <p:grpSpPr>
          <a:xfrm>
            <a:off x="3119859" y="4945924"/>
            <a:ext cx="4386653" cy="941593"/>
            <a:chOff x="7614613" y="5950488"/>
            <a:chExt cx="4386653" cy="941593"/>
          </a:xfrm>
        </p:grpSpPr>
        <p:sp>
          <p:nvSpPr>
            <p:cNvPr id="46" name="Rectangle: Rounded Corners 45">
              <a:extLst>
                <a:ext uri="{FF2B5EF4-FFF2-40B4-BE49-F238E27FC236}">
                  <a16:creationId xmlns:a16="http://schemas.microsoft.com/office/drawing/2014/main" id="{3F395C65-B7D4-95F5-0D20-C47479EDDA3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▶专利申请</a:t>
              </a:r>
              <a:endParaRPr lang="en-US" sz="1200" dirty="0">
                <a:solidFill>
                  <a:schemeClr val="bg1"/>
                </a:solidFill>
              </a:endParaRPr>
            </a:p>
          </p:txBody>
        </p:sp>
        <p:sp>
          <p:nvSpPr>
            <p:cNvPr id="47" name="TextBox 46">
              <a:extLst>
                <a:ext uri="{FF2B5EF4-FFF2-40B4-BE49-F238E27FC236}">
                  <a16:creationId xmlns:a16="http://schemas.microsoft.com/office/drawing/2014/main" id="{8197D1DA-383D-C786-99DD-A2EEE45592CA}"/>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保护期为</a:t>
              </a:r>
              <a:r>
                <a:rPr lang="en-US" altLang="zh-CN" sz="1200" dirty="0">
                  <a:solidFill>
                    <a:schemeClr val="accent1"/>
                  </a:solidFill>
                  <a:latin typeface="ui-monospace"/>
                </a:rPr>
                <a:t>20</a:t>
              </a:r>
              <a:r>
                <a:rPr lang="zh-CN" altLang="en-US" sz="1200" dirty="0">
                  <a:solidFill>
                    <a:schemeClr val="accent1"/>
                  </a:solidFill>
                  <a:latin typeface="ui-monospace"/>
                </a:rPr>
                <a:t>年，实用和设计为</a:t>
              </a:r>
              <a:r>
                <a:rPr lang="en-US" altLang="zh-CN" sz="1200" dirty="0">
                  <a:solidFill>
                    <a:schemeClr val="accent1"/>
                  </a:solidFill>
                  <a:latin typeface="ui-monospace"/>
                </a:rPr>
                <a:t>10</a:t>
              </a:r>
              <a:r>
                <a:rPr lang="zh-CN" altLang="en-US" sz="1200" dirty="0">
                  <a:solidFill>
                    <a:schemeClr val="accent1"/>
                  </a:solidFill>
                  <a:latin typeface="ui-monospace"/>
                </a:rPr>
                <a:t>年</a:t>
              </a:r>
              <a:endParaRPr lang="en-US" altLang="zh-CN" sz="1200" dirty="0">
                <a:solidFill>
                  <a:schemeClr val="accent1"/>
                </a:solidFill>
                <a:latin typeface="ui-monospace"/>
              </a:endParaRPr>
            </a:p>
            <a:p>
              <a:r>
                <a:rPr lang="zh-CN" altLang="en-US" sz="1200" dirty="0">
                  <a:solidFill>
                    <a:schemeClr val="accent1"/>
                  </a:solidFill>
                  <a:latin typeface="ui-monospace"/>
                </a:rPr>
                <a:t>采用书面形式办理手续</a:t>
              </a:r>
              <a:endParaRPr lang="en-US" altLang="zh-CN" sz="1200" dirty="0">
                <a:solidFill>
                  <a:schemeClr val="accent1"/>
                </a:solidFill>
                <a:latin typeface="ui-monospace"/>
              </a:endParaRPr>
            </a:p>
            <a:p>
              <a:r>
                <a:rPr lang="zh-CN" altLang="en-US" sz="1200" dirty="0">
                  <a:solidFill>
                    <a:schemeClr val="accent1"/>
                  </a:solidFill>
                  <a:latin typeface="ui-monospace"/>
                </a:rPr>
                <a:t>专利权授给最先申请人，同一天申请需</a:t>
              </a:r>
              <a:r>
                <a:rPr lang="zh-CN" altLang="en-US" sz="1200" b="1" dirty="0">
                  <a:solidFill>
                    <a:schemeClr val="accent1"/>
                  </a:solidFill>
                  <a:latin typeface="ui-monospace"/>
                </a:rPr>
                <a:t>协商</a:t>
              </a:r>
              <a:endParaRPr lang="en-US" altLang="zh-CN" sz="1200" b="1" dirty="0">
                <a:solidFill>
                  <a:schemeClr val="accent1"/>
                </a:solidFill>
                <a:latin typeface="ui-monospace"/>
              </a:endParaRPr>
            </a:p>
          </p:txBody>
        </p:sp>
      </p:grpSp>
      <p:grpSp>
        <p:nvGrpSpPr>
          <p:cNvPr id="48" name="Group 47">
            <a:extLst>
              <a:ext uri="{FF2B5EF4-FFF2-40B4-BE49-F238E27FC236}">
                <a16:creationId xmlns:a16="http://schemas.microsoft.com/office/drawing/2014/main" id="{410CAAA3-B379-E9FB-5A41-EDB6574640B7}"/>
              </a:ext>
            </a:extLst>
          </p:cNvPr>
          <p:cNvGrpSpPr/>
          <p:nvPr/>
        </p:nvGrpSpPr>
        <p:grpSpPr>
          <a:xfrm>
            <a:off x="3119859" y="5870179"/>
            <a:ext cx="4386653" cy="756927"/>
            <a:chOff x="7614613" y="5950488"/>
            <a:chExt cx="4386653" cy="756927"/>
          </a:xfrm>
        </p:grpSpPr>
        <p:sp>
          <p:nvSpPr>
            <p:cNvPr id="49" name="Rectangle: Rounded Corners 48">
              <a:extLst>
                <a:ext uri="{FF2B5EF4-FFF2-40B4-BE49-F238E27FC236}">
                  <a16:creationId xmlns:a16="http://schemas.microsoft.com/office/drawing/2014/main" id="{E941A60F-4CE0-67A3-CCE0-2E2EB104AC80}"/>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▶商标注册</a:t>
              </a:r>
              <a:endParaRPr lang="en-US" sz="1200" dirty="0">
                <a:solidFill>
                  <a:schemeClr val="bg1"/>
                </a:solidFill>
              </a:endParaRPr>
            </a:p>
          </p:txBody>
        </p:sp>
        <p:sp>
          <p:nvSpPr>
            <p:cNvPr id="50" name="TextBox 49">
              <a:extLst>
                <a:ext uri="{FF2B5EF4-FFF2-40B4-BE49-F238E27FC236}">
                  <a16:creationId xmlns:a16="http://schemas.microsoft.com/office/drawing/2014/main" id="{18BFA10B-9477-5AAC-A325-25CD4067551F}"/>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注册商标所有人有效期为</a:t>
              </a:r>
              <a:r>
                <a:rPr lang="en-US" altLang="zh-CN" sz="1200" dirty="0">
                  <a:solidFill>
                    <a:schemeClr val="accent1"/>
                  </a:solidFill>
                  <a:latin typeface="ui-monospace"/>
                </a:rPr>
                <a:t>10</a:t>
              </a:r>
              <a:r>
                <a:rPr lang="zh-CN" altLang="en-US" sz="1200" dirty="0">
                  <a:solidFill>
                    <a:schemeClr val="accent1"/>
                  </a:solidFill>
                  <a:latin typeface="ui-monospace"/>
                </a:rPr>
                <a:t>年，到期可申请续展注册</a:t>
              </a:r>
              <a:endParaRPr lang="en-US" altLang="zh-CN" sz="1200" dirty="0">
                <a:solidFill>
                  <a:schemeClr val="accent1"/>
                </a:solidFill>
                <a:latin typeface="ui-monospace"/>
              </a:endParaRPr>
            </a:p>
            <a:p>
              <a:r>
                <a:rPr lang="zh-CN" altLang="en-US" sz="1200" dirty="0">
                  <a:solidFill>
                    <a:schemeClr val="accent1"/>
                  </a:solidFill>
                  <a:latin typeface="ui-monospace"/>
                </a:rPr>
                <a:t>商标权授给最先申请人，同一天则</a:t>
              </a:r>
              <a:r>
                <a:rPr lang="zh-CN" altLang="en-US" sz="1200" b="1" dirty="0">
                  <a:solidFill>
                    <a:schemeClr val="accent1"/>
                  </a:solidFill>
                  <a:latin typeface="ui-monospace"/>
                </a:rPr>
                <a:t>先使用</a:t>
              </a:r>
              <a:r>
                <a:rPr lang="zh-CN" altLang="en-US" sz="1200" dirty="0">
                  <a:solidFill>
                    <a:schemeClr val="accent1"/>
                  </a:solidFill>
                  <a:latin typeface="ui-monospace"/>
                </a:rPr>
                <a:t>优先，未使用协商</a:t>
              </a:r>
              <a:endParaRPr lang="en-US" altLang="zh-CN" sz="1200" dirty="0">
                <a:solidFill>
                  <a:schemeClr val="accent1"/>
                </a:solidFill>
                <a:latin typeface="ui-monospace"/>
              </a:endParaRPr>
            </a:p>
          </p:txBody>
        </p:sp>
      </p:grpSp>
    </p:spTree>
    <p:extLst>
      <p:ext uri="{BB962C8B-B14F-4D97-AF65-F5344CB8AC3E}">
        <p14:creationId xmlns:p14="http://schemas.microsoft.com/office/powerpoint/2010/main" val="4067938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CA83C5-434B-C2BB-C03E-FEA77C2BBB11}"/>
              </a:ext>
            </a:extLst>
          </p:cNvPr>
          <p:cNvSpPr txBox="1"/>
          <p:nvPr/>
        </p:nvSpPr>
        <p:spPr>
          <a:xfrm>
            <a:off x="0" y="959472"/>
            <a:ext cx="2986206" cy="267765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数据库</a:t>
            </a:r>
            <a:r>
              <a:rPr lang="en-US" altLang="zh-CN" sz="1200" b="1"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F6E8EA44-BACD-2DF7-D1BB-48B659756CE3}"/>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A7CFB97A-E7E7-BB6E-4BA9-8E7CB22DC8F7}"/>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1" name="Group 10">
            <a:extLst>
              <a:ext uri="{FF2B5EF4-FFF2-40B4-BE49-F238E27FC236}">
                <a16:creationId xmlns:a16="http://schemas.microsoft.com/office/drawing/2014/main" id="{98BD0C93-DD89-25A7-1553-E3F85FE0D7B8}"/>
              </a:ext>
            </a:extLst>
          </p:cNvPr>
          <p:cNvGrpSpPr/>
          <p:nvPr/>
        </p:nvGrpSpPr>
        <p:grpSpPr>
          <a:xfrm>
            <a:off x="3119859" y="40595"/>
            <a:ext cx="4386653" cy="2603586"/>
            <a:chOff x="7614613" y="5950488"/>
            <a:chExt cx="4386653" cy="2603586"/>
          </a:xfrm>
        </p:grpSpPr>
        <p:sp>
          <p:nvSpPr>
            <p:cNvPr id="12" name="Rectangle: Rounded Corners 11">
              <a:extLst>
                <a:ext uri="{FF2B5EF4-FFF2-40B4-BE49-F238E27FC236}">
                  <a16:creationId xmlns:a16="http://schemas.microsoft.com/office/drawing/2014/main" id="{01574168-1441-BE9C-0656-1623F1FA4E3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▶概念</a:t>
              </a:r>
              <a:endParaRPr lang="en-US" sz="1200" dirty="0">
                <a:solidFill>
                  <a:schemeClr val="bg1"/>
                </a:solidFill>
              </a:endParaRPr>
            </a:p>
          </p:txBody>
        </p:sp>
        <p:sp>
          <p:nvSpPr>
            <p:cNvPr id="13" name="TextBox 12">
              <a:extLst>
                <a:ext uri="{FF2B5EF4-FFF2-40B4-BE49-F238E27FC236}">
                  <a16:creationId xmlns:a16="http://schemas.microsoft.com/office/drawing/2014/main" id="{99A4E7D9-2F45-730B-49F2-2D0574D0A953}"/>
                </a:ext>
              </a:extLst>
            </p:cNvPr>
            <p:cNvSpPr txBox="1"/>
            <p:nvPr/>
          </p:nvSpPr>
          <p:spPr>
            <a:xfrm>
              <a:off x="7667294" y="6245750"/>
              <a:ext cx="4281578" cy="2308324"/>
            </a:xfrm>
            <a:prstGeom prst="rect">
              <a:avLst/>
            </a:prstGeom>
            <a:noFill/>
          </p:spPr>
          <p:txBody>
            <a:bodyPr wrap="square">
              <a:spAutoFit/>
            </a:bodyPr>
            <a:lstStyle/>
            <a:p>
              <a:r>
                <a:rPr lang="zh-CN" altLang="en-US" sz="1200" dirty="0">
                  <a:solidFill>
                    <a:schemeClr val="accent1"/>
                  </a:solidFill>
                  <a:latin typeface="ui-monospace"/>
                </a:rPr>
                <a:t>信息</a:t>
              </a:r>
              <a:r>
                <a:rPr lang="en-US" altLang="zh-CN" sz="1200" dirty="0">
                  <a:solidFill>
                    <a:schemeClr val="accent1"/>
                  </a:solidFill>
                  <a:latin typeface="ui-monospace"/>
                </a:rPr>
                <a:t>=</a:t>
              </a:r>
              <a:r>
                <a:rPr lang="zh-CN" altLang="en-US" sz="1200" dirty="0">
                  <a:solidFill>
                    <a:schemeClr val="accent1"/>
                  </a:solidFill>
                  <a:latin typeface="ui-monospace"/>
                </a:rPr>
                <a:t>数据</a:t>
              </a:r>
              <a:r>
                <a:rPr lang="en-US" altLang="zh-CN" sz="1200" dirty="0">
                  <a:solidFill>
                    <a:schemeClr val="accent1"/>
                  </a:solidFill>
                  <a:latin typeface="ui-monospace"/>
                </a:rPr>
                <a:t>+</a:t>
              </a:r>
              <a:r>
                <a:rPr lang="zh-CN" altLang="en-US" sz="1200" dirty="0">
                  <a:solidFill>
                    <a:schemeClr val="accent1"/>
                  </a:solidFill>
                  <a:latin typeface="ui-monospace"/>
                </a:rPr>
                <a:t>数据处理</a:t>
              </a:r>
              <a:endParaRPr lang="en-US" altLang="zh-CN" sz="1200" dirty="0">
                <a:solidFill>
                  <a:schemeClr val="accent1"/>
                </a:solidFill>
                <a:latin typeface="ui-monospace"/>
              </a:endParaRPr>
            </a:p>
            <a:p>
              <a:r>
                <a:rPr lang="zh-CN" altLang="en-US" sz="1200" dirty="0">
                  <a:solidFill>
                    <a:schemeClr val="accent1"/>
                  </a:solidFill>
                  <a:latin typeface="ui-monospace"/>
                </a:rPr>
                <a:t>数据模型包含</a:t>
              </a:r>
              <a:endParaRPr lang="en-US" altLang="zh-CN" sz="1200" dirty="0">
                <a:solidFill>
                  <a:schemeClr val="accent1"/>
                </a:solidFill>
                <a:latin typeface="ui-monospace"/>
              </a:endParaRPr>
            </a:p>
            <a:p>
              <a:r>
                <a:rPr lang="zh-CN" altLang="en-US" sz="1200" b="1" dirty="0">
                  <a:solidFill>
                    <a:schemeClr val="accent1"/>
                  </a:solidFill>
                  <a:latin typeface="ui-monospace"/>
                </a:rPr>
                <a:t>概念数据模型</a:t>
              </a:r>
              <a:r>
                <a:rPr lang="zh-CN" altLang="en-US" sz="1200" dirty="0">
                  <a:solidFill>
                    <a:schemeClr val="accent1"/>
                  </a:solidFill>
                  <a:latin typeface="ui-monospace"/>
                </a:rPr>
                <a:t>：实体</a:t>
              </a:r>
              <a:r>
                <a:rPr lang="en-US" altLang="zh-CN" sz="1200" dirty="0">
                  <a:solidFill>
                    <a:schemeClr val="accent1"/>
                  </a:solidFill>
                  <a:latin typeface="ui-monospace"/>
                </a:rPr>
                <a:t>/</a:t>
              </a:r>
              <a:r>
                <a:rPr lang="zh-CN" altLang="en-US" sz="1200" dirty="0">
                  <a:solidFill>
                    <a:schemeClr val="accent1"/>
                  </a:solidFill>
                  <a:latin typeface="ui-monospace"/>
                </a:rPr>
                <a:t>属性</a:t>
              </a:r>
              <a:r>
                <a:rPr lang="en-US" altLang="zh-CN" sz="1200" dirty="0">
                  <a:solidFill>
                    <a:schemeClr val="accent1"/>
                  </a:solidFill>
                  <a:latin typeface="ui-monospace"/>
                </a:rPr>
                <a:t>/</a:t>
              </a:r>
              <a:r>
                <a:rPr lang="zh-CN" altLang="en-US" sz="1200" dirty="0">
                  <a:solidFill>
                    <a:schemeClr val="accent1"/>
                  </a:solidFill>
                  <a:latin typeface="ui-monospace"/>
                </a:rPr>
                <a:t>码</a:t>
              </a:r>
              <a:r>
                <a:rPr lang="en-US" altLang="zh-CN" sz="1200" dirty="0">
                  <a:solidFill>
                    <a:schemeClr val="accent1"/>
                  </a:solidFill>
                  <a:latin typeface="ui-monospace"/>
                </a:rPr>
                <a:t>/</a:t>
              </a:r>
              <a:r>
                <a:rPr lang="zh-CN" altLang="en-US" sz="1200" dirty="0">
                  <a:solidFill>
                    <a:schemeClr val="accent1"/>
                  </a:solidFill>
                  <a:latin typeface="ui-monospace"/>
                </a:rPr>
                <a:t>域</a:t>
              </a:r>
              <a:r>
                <a:rPr lang="en-US" altLang="zh-CN" sz="1200" dirty="0">
                  <a:solidFill>
                    <a:schemeClr val="accent1"/>
                  </a:solidFill>
                  <a:latin typeface="ui-monospace"/>
                </a:rPr>
                <a:t>/</a:t>
              </a:r>
              <a:r>
                <a:rPr lang="zh-CN" altLang="en-US" sz="1200" dirty="0">
                  <a:solidFill>
                    <a:schemeClr val="accent1"/>
                  </a:solidFill>
                  <a:latin typeface="ui-monospace"/>
                </a:rPr>
                <a:t>联系 </a:t>
              </a:r>
              <a:r>
                <a:rPr lang="en-US" altLang="zh-CN" sz="1200" dirty="0">
                  <a:solidFill>
                    <a:schemeClr val="accent1"/>
                  </a:solidFill>
                  <a:latin typeface="ui-monospace"/>
                </a:rPr>
                <a:t>(</a:t>
              </a:r>
              <a:r>
                <a:rPr lang="en-US" altLang="zh-CN" sz="1200" b="1" dirty="0">
                  <a:solidFill>
                    <a:schemeClr val="accent1"/>
                  </a:solidFill>
                  <a:latin typeface="ui-monospace"/>
                </a:rPr>
                <a:t>1:1/1:*/*:*</a:t>
              </a:r>
              <a:r>
                <a:rPr lang="en-US" altLang="zh-CN" sz="1200" dirty="0">
                  <a:solidFill>
                    <a:schemeClr val="accent1"/>
                  </a:solidFill>
                  <a:latin typeface="ui-monospace"/>
                </a:rPr>
                <a:t>)/E-R</a:t>
              </a:r>
              <a:r>
                <a:rPr lang="zh-CN" altLang="en-US" sz="1200" dirty="0">
                  <a:solidFill>
                    <a:schemeClr val="accent1"/>
                  </a:solidFill>
                  <a:latin typeface="ui-monospace"/>
                </a:rPr>
                <a:t>图</a:t>
              </a:r>
              <a:endParaRPr lang="en-US" altLang="zh-CN" sz="1200" dirty="0">
                <a:solidFill>
                  <a:schemeClr val="accent1"/>
                </a:solidFill>
                <a:latin typeface="ui-monospace"/>
              </a:endParaRPr>
            </a:p>
            <a:p>
              <a:r>
                <a:rPr lang="zh-CN" altLang="en-US" sz="1200" dirty="0">
                  <a:solidFill>
                    <a:schemeClr val="accent1"/>
                  </a:solidFill>
                  <a:latin typeface="ui-monospace"/>
                </a:rPr>
                <a:t>结构数据模型</a:t>
              </a:r>
              <a:r>
                <a:rPr lang="en-US" altLang="zh-CN" sz="1200" dirty="0">
                  <a:solidFill>
                    <a:schemeClr val="accent1"/>
                  </a:solidFill>
                  <a:latin typeface="ui-monospace"/>
                </a:rPr>
                <a:t>(DBMS)</a:t>
              </a:r>
              <a:r>
                <a:rPr lang="zh-CN" altLang="en-US" sz="1200" dirty="0">
                  <a:solidFill>
                    <a:schemeClr val="accent1"/>
                  </a:solidFill>
                  <a:latin typeface="ui-monospace"/>
                </a:rPr>
                <a:t>：层次</a:t>
              </a:r>
              <a:r>
                <a:rPr lang="en-US" altLang="zh-CN" sz="1200" dirty="0">
                  <a:solidFill>
                    <a:schemeClr val="accent1"/>
                  </a:solidFill>
                  <a:latin typeface="ui-monospace"/>
                </a:rPr>
                <a:t>(</a:t>
              </a:r>
              <a:r>
                <a:rPr lang="zh-CN" altLang="en-US" sz="1200" dirty="0">
                  <a:solidFill>
                    <a:schemeClr val="accent1"/>
                  </a:solidFill>
                  <a:latin typeface="ui-monospace"/>
                </a:rPr>
                <a:t>树</a:t>
              </a:r>
              <a:r>
                <a:rPr lang="en-US" altLang="zh-CN" sz="1200" dirty="0">
                  <a:solidFill>
                    <a:schemeClr val="accent1"/>
                  </a:solidFill>
                  <a:latin typeface="ui-monospace"/>
                </a:rPr>
                <a:t>)</a:t>
              </a:r>
              <a:r>
                <a:rPr lang="zh-CN" altLang="en-US" sz="1200" dirty="0">
                  <a:solidFill>
                    <a:schemeClr val="accent1"/>
                  </a:solidFill>
                  <a:latin typeface="ui-monospace"/>
                </a:rPr>
                <a:t>、网状</a:t>
              </a:r>
              <a:r>
                <a:rPr lang="en-US" altLang="zh-CN" sz="1200" dirty="0">
                  <a:solidFill>
                    <a:schemeClr val="accent1"/>
                  </a:solidFill>
                  <a:latin typeface="ui-monospace"/>
                </a:rPr>
                <a:t>(</a:t>
              </a:r>
              <a:r>
                <a:rPr lang="zh-CN" altLang="en-US" sz="1200" dirty="0">
                  <a:solidFill>
                    <a:schemeClr val="accent1"/>
                  </a:solidFill>
                  <a:latin typeface="ui-monospace"/>
                </a:rPr>
                <a:t>网</a:t>
              </a:r>
              <a:r>
                <a:rPr lang="en-US" altLang="zh-CN" sz="1200" dirty="0">
                  <a:solidFill>
                    <a:schemeClr val="accent1"/>
                  </a:solidFill>
                  <a:latin typeface="ui-monospace"/>
                </a:rPr>
                <a:t>)</a:t>
              </a:r>
              <a:r>
                <a:rPr lang="zh-CN" altLang="en-US" sz="1200" dirty="0">
                  <a:solidFill>
                    <a:schemeClr val="accent1"/>
                  </a:solidFill>
                  <a:latin typeface="ui-monospace"/>
                </a:rPr>
                <a:t>、</a:t>
              </a:r>
              <a:r>
                <a:rPr lang="zh-CN" altLang="en-US" sz="1200" b="1" dirty="0">
                  <a:solidFill>
                    <a:schemeClr val="accent1"/>
                  </a:solidFill>
                  <a:latin typeface="ui-monospace"/>
                </a:rPr>
                <a:t>关系</a:t>
              </a:r>
              <a:r>
                <a:rPr lang="zh-CN" altLang="en-US" sz="1200" dirty="0">
                  <a:solidFill>
                    <a:schemeClr val="accent1"/>
                  </a:solidFill>
                  <a:latin typeface="ui-monospace"/>
                </a:rPr>
                <a:t>和面向对象</a:t>
              </a:r>
              <a:endParaRPr lang="en-US" altLang="zh-CN" sz="1200" dirty="0">
                <a:solidFill>
                  <a:schemeClr val="accent1"/>
                </a:solidFill>
                <a:latin typeface="ui-monospace"/>
              </a:endParaRPr>
            </a:p>
            <a:p>
              <a:r>
                <a:rPr lang="zh-CN" altLang="en-US" sz="1200" dirty="0">
                  <a:solidFill>
                    <a:schemeClr val="accent1"/>
                  </a:solidFill>
                  <a:latin typeface="ui-monospace"/>
                </a:rPr>
                <a:t>关系模型：二维表格结构。关系</a:t>
              </a:r>
              <a:r>
                <a:rPr lang="en-US" altLang="zh-CN" sz="1200" dirty="0">
                  <a:solidFill>
                    <a:schemeClr val="accent1"/>
                  </a:solidFill>
                  <a:latin typeface="ui-monospace"/>
                </a:rPr>
                <a:t>&gt;</a:t>
              </a:r>
              <a:r>
                <a:rPr lang="zh-CN" altLang="en-US" sz="1200" dirty="0">
                  <a:solidFill>
                    <a:schemeClr val="accent1"/>
                  </a:solidFill>
                  <a:latin typeface="ui-monospace"/>
                </a:rPr>
                <a:t>关系模式</a:t>
              </a:r>
              <a:r>
                <a:rPr lang="en-US" altLang="zh-CN" sz="1200" dirty="0">
                  <a:solidFill>
                    <a:schemeClr val="accent1"/>
                  </a:solidFill>
                  <a:latin typeface="ui-monospace"/>
                </a:rPr>
                <a:t>&gt;</a:t>
              </a:r>
              <a:r>
                <a:rPr lang="zh-CN" altLang="en-US" sz="1200" dirty="0">
                  <a:solidFill>
                    <a:schemeClr val="accent1"/>
                  </a:solidFill>
                  <a:latin typeface="ui-monospace"/>
                </a:rPr>
                <a:t>关系文件</a:t>
              </a:r>
              <a:endParaRPr lang="en-US" altLang="zh-CN" sz="1200" dirty="0">
                <a:solidFill>
                  <a:schemeClr val="accent1"/>
                </a:solidFill>
                <a:latin typeface="ui-monospace"/>
              </a:endParaRPr>
            </a:p>
            <a:p>
              <a:r>
                <a:rPr lang="zh-CN" altLang="en-US" sz="1200" dirty="0">
                  <a:solidFill>
                    <a:schemeClr val="accent1"/>
                  </a:solidFill>
                  <a:latin typeface="ui-monospace"/>
                </a:rPr>
                <a:t>五元组</a:t>
              </a:r>
              <a:r>
                <a:rPr lang="en-US" altLang="zh-CN" sz="1200" dirty="0">
                  <a:solidFill>
                    <a:schemeClr val="accent1"/>
                  </a:solidFill>
                  <a:latin typeface="ui-monospace"/>
                </a:rPr>
                <a:t>R&lt;</a:t>
              </a:r>
              <a:r>
                <a:rPr lang="en-US" altLang="zh-CN" sz="1200" dirty="0" err="1">
                  <a:solidFill>
                    <a:schemeClr val="accent1"/>
                  </a:solidFill>
                  <a:latin typeface="ui-monospace"/>
                </a:rPr>
                <a:t>U,D,dom.F</a:t>
              </a:r>
              <a:r>
                <a:rPr lang="en-US" altLang="zh-CN" sz="1200" dirty="0">
                  <a:solidFill>
                    <a:schemeClr val="accent1"/>
                  </a:solidFill>
                  <a:latin typeface="ui-monospace"/>
                </a:rPr>
                <a:t>&gt;</a:t>
              </a:r>
              <a:r>
                <a:rPr lang="zh-CN" altLang="en-US" sz="1200" dirty="0">
                  <a:solidFill>
                    <a:schemeClr val="accent1"/>
                  </a:solidFill>
                  <a:latin typeface="ui-monospace"/>
                </a:rPr>
                <a:t> </a:t>
              </a:r>
              <a:r>
                <a:rPr lang="en-US" altLang="zh-CN" sz="1200" dirty="0">
                  <a:solidFill>
                    <a:schemeClr val="accent1"/>
                  </a:solidFill>
                  <a:latin typeface="ui-monospace"/>
                </a:rPr>
                <a:t>R</a:t>
              </a:r>
              <a:r>
                <a:rPr lang="zh-CN" altLang="en-US" sz="1200" dirty="0">
                  <a:solidFill>
                    <a:schemeClr val="accent1"/>
                  </a:solidFill>
                  <a:latin typeface="ui-monospace"/>
                </a:rPr>
                <a:t>关系名</a:t>
              </a:r>
              <a:r>
                <a:rPr lang="en-US" altLang="zh-CN" sz="1200" dirty="0">
                  <a:solidFill>
                    <a:schemeClr val="accent1"/>
                  </a:solidFill>
                  <a:latin typeface="ui-monospace"/>
                </a:rPr>
                <a:t>/U</a:t>
              </a:r>
              <a:r>
                <a:rPr lang="zh-CN" altLang="en-US" sz="1200" dirty="0">
                  <a:solidFill>
                    <a:schemeClr val="accent1"/>
                  </a:solidFill>
                  <a:latin typeface="ui-monospace"/>
                </a:rPr>
                <a:t>属性组</a:t>
              </a:r>
              <a:r>
                <a:rPr lang="en-US" altLang="zh-CN" sz="1200" dirty="0">
                  <a:solidFill>
                    <a:schemeClr val="accent1"/>
                  </a:solidFill>
                  <a:latin typeface="ui-monospace"/>
                </a:rPr>
                <a:t>/F</a:t>
              </a:r>
              <a:r>
                <a:rPr lang="zh-CN" altLang="en-US" sz="1200" dirty="0">
                  <a:solidFill>
                    <a:schemeClr val="accent1"/>
                  </a:solidFill>
                  <a:latin typeface="ui-monospace"/>
                </a:rPr>
                <a:t>数据依赖 学号</a:t>
              </a:r>
              <a:r>
                <a:rPr lang="en-US" altLang="zh-CN" sz="1200" dirty="0">
                  <a:solidFill>
                    <a:schemeClr val="accent1"/>
                  </a:solidFill>
                  <a:latin typeface="ui-monospace"/>
                </a:rPr>
                <a:t>&gt;</a:t>
              </a:r>
              <a:r>
                <a:rPr lang="zh-CN" altLang="en-US" sz="1200" dirty="0">
                  <a:solidFill>
                    <a:schemeClr val="accent1"/>
                  </a:solidFill>
                  <a:latin typeface="ui-monospace"/>
                </a:rPr>
                <a:t>姓名</a:t>
              </a:r>
              <a:endParaRPr lang="en-US" altLang="zh-CN" sz="1200" dirty="0">
                <a:solidFill>
                  <a:schemeClr val="accent1"/>
                </a:solidFill>
                <a:latin typeface="ui-monospace"/>
              </a:endParaRPr>
            </a:p>
            <a:p>
              <a:r>
                <a:rPr lang="zh-CN" altLang="en-US" sz="1200" b="1" dirty="0">
                  <a:solidFill>
                    <a:schemeClr val="accent1"/>
                  </a:solidFill>
                  <a:latin typeface="ui-monospace"/>
                </a:rPr>
                <a:t>三级模式</a:t>
              </a:r>
              <a:r>
                <a:rPr lang="zh-CN" altLang="en-US" sz="1200" dirty="0">
                  <a:solidFill>
                    <a:schemeClr val="accent1"/>
                  </a:solidFill>
                  <a:latin typeface="ui-monospace"/>
                </a:rPr>
                <a:t>：</a:t>
              </a:r>
              <a:r>
                <a:rPr lang="zh-CN" altLang="en-US" sz="1200" b="1" dirty="0">
                  <a:solidFill>
                    <a:schemeClr val="accent1"/>
                  </a:solidFill>
                  <a:latin typeface="ui-monospace"/>
                </a:rPr>
                <a:t>外模式</a:t>
              </a:r>
              <a:r>
                <a:rPr lang="en-US" altLang="zh-CN" sz="1200" dirty="0">
                  <a:solidFill>
                    <a:schemeClr val="accent1"/>
                  </a:solidFill>
                  <a:latin typeface="ui-monospace"/>
                </a:rPr>
                <a:t>-</a:t>
              </a:r>
              <a:r>
                <a:rPr lang="zh-CN" altLang="en-US" sz="1200" dirty="0">
                  <a:solidFill>
                    <a:schemeClr val="accent1"/>
                  </a:solidFill>
                  <a:latin typeface="ui-monospace"/>
                </a:rPr>
                <a:t>视图</a:t>
              </a:r>
              <a:r>
                <a:rPr lang="en-US" altLang="zh-CN" sz="1200" dirty="0">
                  <a:solidFill>
                    <a:schemeClr val="accent1"/>
                  </a:solidFill>
                  <a:latin typeface="ui-monospace"/>
                </a:rPr>
                <a:t>/</a:t>
              </a:r>
              <a:r>
                <a:rPr lang="zh-CN" altLang="en-US" sz="1200" dirty="0">
                  <a:solidFill>
                    <a:schemeClr val="accent1"/>
                  </a:solidFill>
                  <a:latin typeface="ui-monospace"/>
                </a:rPr>
                <a:t>概念</a:t>
              </a:r>
              <a:r>
                <a:rPr lang="zh-CN" altLang="en-US" sz="1200" b="1" dirty="0">
                  <a:solidFill>
                    <a:schemeClr val="accent1"/>
                  </a:solidFill>
                  <a:latin typeface="ui-monospace"/>
                </a:rPr>
                <a:t>模式</a:t>
              </a:r>
              <a:r>
                <a:rPr lang="en-US" altLang="zh-CN" sz="1200" dirty="0">
                  <a:solidFill>
                    <a:schemeClr val="accent1"/>
                  </a:solidFill>
                  <a:latin typeface="ui-monospace"/>
                </a:rPr>
                <a:t>-</a:t>
              </a:r>
              <a:r>
                <a:rPr lang="zh-CN" altLang="en-US" sz="1200" dirty="0">
                  <a:solidFill>
                    <a:schemeClr val="accent1"/>
                  </a:solidFill>
                  <a:latin typeface="ui-monospace"/>
                </a:rPr>
                <a:t>基本表</a:t>
              </a:r>
              <a:r>
                <a:rPr lang="en-US" altLang="zh-CN" sz="1200" dirty="0">
                  <a:solidFill>
                    <a:schemeClr val="accent1"/>
                  </a:solidFill>
                  <a:latin typeface="ui-monospace"/>
                </a:rPr>
                <a:t>/</a:t>
              </a:r>
              <a:r>
                <a:rPr lang="zh-CN" altLang="en-US" sz="1200" b="1" dirty="0">
                  <a:solidFill>
                    <a:schemeClr val="accent1"/>
                  </a:solidFill>
                  <a:latin typeface="ui-monospace"/>
                </a:rPr>
                <a:t>内模式</a:t>
              </a:r>
              <a:r>
                <a:rPr lang="en-US" altLang="zh-CN" sz="1200" dirty="0">
                  <a:solidFill>
                    <a:schemeClr val="accent1"/>
                  </a:solidFill>
                  <a:latin typeface="ui-monospace"/>
                </a:rPr>
                <a:t>-</a:t>
              </a:r>
              <a:r>
                <a:rPr lang="zh-CN" altLang="en-US" sz="1200" dirty="0">
                  <a:solidFill>
                    <a:schemeClr val="accent1"/>
                  </a:solidFill>
                  <a:latin typeface="ui-monospace"/>
                </a:rPr>
                <a:t>存储文件</a:t>
              </a:r>
              <a:endParaRPr lang="en-US" altLang="zh-CN" sz="1200" dirty="0">
                <a:solidFill>
                  <a:schemeClr val="accent1"/>
                </a:solidFill>
                <a:latin typeface="ui-monospace"/>
              </a:endParaRPr>
            </a:p>
            <a:p>
              <a:r>
                <a:rPr lang="zh-CN" altLang="en-US" sz="1200" b="1" dirty="0">
                  <a:solidFill>
                    <a:schemeClr val="accent1"/>
                  </a:solidFill>
                  <a:latin typeface="ui-monospace"/>
                </a:rPr>
                <a:t>两级映像</a:t>
              </a:r>
              <a:r>
                <a:rPr lang="zh-CN" altLang="en-US" sz="1200" dirty="0">
                  <a:solidFill>
                    <a:schemeClr val="accent1"/>
                  </a:solidFill>
                  <a:latin typeface="ui-monospace"/>
                </a:rPr>
                <a:t>：外</a:t>
              </a:r>
              <a:r>
                <a:rPr lang="en-US" altLang="zh-CN" sz="1200" dirty="0">
                  <a:solidFill>
                    <a:schemeClr val="accent1"/>
                  </a:solidFill>
                  <a:latin typeface="ui-monospace"/>
                </a:rPr>
                <a:t>-</a:t>
              </a:r>
              <a:r>
                <a:rPr lang="zh-CN" altLang="en-US" sz="1200" dirty="0">
                  <a:solidFill>
                    <a:schemeClr val="accent1"/>
                  </a:solidFill>
                  <a:latin typeface="ui-monospace"/>
                </a:rPr>
                <a:t>概念</a:t>
              </a:r>
              <a:r>
                <a:rPr lang="en-US" altLang="zh-CN" sz="1200" dirty="0">
                  <a:solidFill>
                    <a:schemeClr val="accent1"/>
                  </a:solidFill>
                  <a:latin typeface="ui-monospace"/>
                </a:rPr>
                <a:t>(</a:t>
              </a:r>
              <a:r>
                <a:rPr lang="zh-CN" altLang="en-US" sz="1200" b="1" dirty="0">
                  <a:solidFill>
                    <a:schemeClr val="accent1"/>
                  </a:solidFill>
                  <a:latin typeface="ui-monospace"/>
                </a:rPr>
                <a:t>逻辑</a:t>
              </a:r>
              <a:r>
                <a:rPr lang="zh-CN" altLang="en-US" sz="1200" dirty="0">
                  <a:solidFill>
                    <a:schemeClr val="accent1"/>
                  </a:solidFill>
                  <a:latin typeface="ui-monospace"/>
                </a:rPr>
                <a:t>独立性</a:t>
              </a:r>
              <a:r>
                <a:rPr lang="en-US" altLang="zh-CN" sz="1200" dirty="0">
                  <a:solidFill>
                    <a:schemeClr val="accent1"/>
                  </a:solidFill>
                  <a:latin typeface="ui-monospace"/>
                </a:rPr>
                <a:t>) /</a:t>
              </a:r>
              <a:r>
                <a:rPr lang="zh-CN" altLang="en-US" sz="1200" dirty="0">
                  <a:solidFill>
                    <a:schemeClr val="accent1"/>
                  </a:solidFill>
                  <a:latin typeface="ui-monospace"/>
                </a:rPr>
                <a:t>概念</a:t>
              </a:r>
              <a:r>
                <a:rPr lang="en-US" altLang="zh-CN" sz="1200" dirty="0">
                  <a:solidFill>
                    <a:schemeClr val="accent1"/>
                  </a:solidFill>
                  <a:latin typeface="ui-monospace"/>
                </a:rPr>
                <a:t>-</a:t>
              </a:r>
              <a:r>
                <a:rPr lang="zh-CN" altLang="en-US" sz="1200" dirty="0">
                  <a:solidFill>
                    <a:schemeClr val="accent1"/>
                  </a:solidFill>
                  <a:latin typeface="ui-monospace"/>
                </a:rPr>
                <a:t>内</a:t>
              </a:r>
              <a:r>
                <a:rPr lang="en-US" altLang="zh-CN" sz="1200" dirty="0">
                  <a:solidFill>
                    <a:schemeClr val="accent1"/>
                  </a:solidFill>
                  <a:latin typeface="ui-monospace"/>
                </a:rPr>
                <a:t>(</a:t>
              </a:r>
              <a:r>
                <a:rPr lang="zh-CN" altLang="en-US" sz="1200" b="1" dirty="0">
                  <a:solidFill>
                    <a:schemeClr val="accent1"/>
                  </a:solidFill>
                  <a:latin typeface="ui-monospace"/>
                </a:rPr>
                <a:t>物理</a:t>
              </a:r>
              <a:r>
                <a:rPr lang="zh-CN" altLang="en-US" sz="1200" dirty="0">
                  <a:solidFill>
                    <a:schemeClr val="accent1"/>
                  </a:solidFill>
                  <a:latin typeface="ui-monospace"/>
                </a:rPr>
                <a:t>独立性</a:t>
              </a:r>
              <a:r>
                <a:rPr lang="en-US" altLang="zh-CN" sz="1200" dirty="0">
                  <a:solidFill>
                    <a:schemeClr val="accent1"/>
                  </a:solidFill>
                  <a:latin typeface="ui-monospace"/>
                </a:rPr>
                <a:t>)</a:t>
              </a:r>
            </a:p>
            <a:p>
              <a:r>
                <a:rPr lang="zh-CN" altLang="en-US" sz="1200" dirty="0">
                  <a:solidFill>
                    <a:schemeClr val="accent1"/>
                  </a:solidFill>
                  <a:latin typeface="ui-monospace"/>
                </a:rPr>
                <a:t>术语：关系</a:t>
              </a:r>
              <a:r>
                <a:rPr lang="en-US" altLang="zh-CN" sz="1200" dirty="0">
                  <a:solidFill>
                    <a:schemeClr val="accent1"/>
                  </a:solidFill>
                  <a:latin typeface="ui-monospace"/>
                </a:rPr>
                <a:t>/</a:t>
              </a:r>
              <a:r>
                <a:rPr lang="zh-CN" altLang="en-US" sz="1200" dirty="0">
                  <a:solidFill>
                    <a:schemeClr val="accent1"/>
                  </a:solidFill>
                  <a:latin typeface="ui-monospace"/>
                </a:rPr>
                <a:t>元组</a:t>
              </a:r>
              <a:r>
                <a:rPr lang="en-US" altLang="zh-CN" sz="1200" dirty="0">
                  <a:solidFill>
                    <a:schemeClr val="accent1"/>
                  </a:solidFill>
                  <a:latin typeface="ui-monospace"/>
                </a:rPr>
                <a:t>(</a:t>
              </a:r>
              <a:r>
                <a:rPr lang="zh-CN" altLang="en-US" sz="1200" dirty="0">
                  <a:solidFill>
                    <a:schemeClr val="accent1"/>
                  </a:solidFill>
                  <a:latin typeface="ui-monospace"/>
                </a:rPr>
                <a:t>行</a:t>
              </a:r>
              <a:r>
                <a:rPr lang="en-US" altLang="zh-CN" sz="1200" dirty="0">
                  <a:solidFill>
                    <a:schemeClr val="accent1"/>
                  </a:solidFill>
                  <a:latin typeface="ui-monospace"/>
                </a:rPr>
                <a:t>)/</a:t>
              </a:r>
              <a:r>
                <a:rPr lang="zh-CN" altLang="en-US" sz="1200" dirty="0">
                  <a:solidFill>
                    <a:schemeClr val="accent1"/>
                  </a:solidFill>
                  <a:latin typeface="ui-monospace"/>
                </a:rPr>
                <a:t>属性</a:t>
              </a:r>
              <a:r>
                <a:rPr lang="en-US" altLang="zh-CN" sz="1200" dirty="0">
                  <a:solidFill>
                    <a:schemeClr val="accent1"/>
                  </a:solidFill>
                  <a:latin typeface="ui-monospace"/>
                </a:rPr>
                <a:t>(</a:t>
              </a:r>
              <a:r>
                <a:rPr lang="zh-CN" altLang="en-US" sz="1200" dirty="0">
                  <a:solidFill>
                    <a:schemeClr val="accent1"/>
                  </a:solidFill>
                  <a:latin typeface="ui-monospace"/>
                </a:rPr>
                <a:t>列</a:t>
              </a:r>
              <a:r>
                <a:rPr lang="en-US" altLang="zh-CN" sz="1200" dirty="0">
                  <a:solidFill>
                    <a:schemeClr val="accent1"/>
                  </a:solidFill>
                  <a:latin typeface="ui-monospace"/>
                </a:rPr>
                <a:t>)/</a:t>
              </a:r>
              <a:r>
                <a:rPr lang="zh-CN" altLang="en-US" sz="1200" dirty="0">
                  <a:solidFill>
                    <a:schemeClr val="accent1"/>
                  </a:solidFill>
                  <a:latin typeface="ui-monospace"/>
                </a:rPr>
                <a:t>域</a:t>
              </a:r>
              <a:r>
                <a:rPr lang="en-US" altLang="zh-CN" sz="1200" dirty="0">
                  <a:solidFill>
                    <a:schemeClr val="accent1"/>
                  </a:solidFill>
                  <a:latin typeface="ui-monospace"/>
                </a:rPr>
                <a:t>(</a:t>
              </a:r>
              <a:r>
                <a:rPr lang="zh-CN" altLang="en-US" sz="1200" dirty="0">
                  <a:solidFill>
                    <a:schemeClr val="accent1"/>
                  </a:solidFill>
                  <a:latin typeface="ui-monospace"/>
                </a:rPr>
                <a:t>取值范围</a:t>
              </a:r>
              <a:r>
                <a:rPr lang="en-US" altLang="zh-CN" sz="1200" dirty="0">
                  <a:solidFill>
                    <a:schemeClr val="accent1"/>
                  </a:solidFill>
                  <a:latin typeface="ui-monospace"/>
                </a:rPr>
                <a:t>)/</a:t>
              </a:r>
              <a:r>
                <a:rPr lang="zh-CN" altLang="en-US" sz="1200" dirty="0">
                  <a:solidFill>
                    <a:schemeClr val="accent1"/>
                  </a:solidFill>
                  <a:latin typeface="ui-monospace"/>
                </a:rPr>
                <a:t>关系模式</a:t>
              </a:r>
              <a:endParaRPr lang="en-US" altLang="zh-CN" sz="1200" dirty="0">
                <a:solidFill>
                  <a:schemeClr val="accent1"/>
                </a:solidFill>
                <a:latin typeface="ui-monospace"/>
              </a:endParaRPr>
            </a:p>
            <a:p>
              <a:r>
                <a:rPr lang="zh-CN" altLang="en-US" sz="1200" b="1" dirty="0">
                  <a:solidFill>
                    <a:schemeClr val="accent1"/>
                  </a:solidFill>
                  <a:latin typeface="ui-monospace"/>
                </a:rPr>
                <a:t>候选码</a:t>
              </a:r>
              <a:r>
                <a:rPr lang="en-US" altLang="zh-CN" sz="1200" dirty="0">
                  <a:solidFill>
                    <a:schemeClr val="accent1"/>
                  </a:solidFill>
                  <a:latin typeface="ui-monospace"/>
                </a:rPr>
                <a:t>(</a:t>
              </a:r>
              <a:r>
                <a:rPr lang="zh-CN" altLang="en-US" sz="1200" dirty="0">
                  <a:solidFill>
                    <a:schemeClr val="accent1"/>
                  </a:solidFill>
                  <a:latin typeface="ui-monospace"/>
                </a:rPr>
                <a:t>键</a:t>
              </a:r>
              <a:r>
                <a:rPr lang="en-US" altLang="zh-CN" sz="1200" dirty="0">
                  <a:solidFill>
                    <a:schemeClr val="accent1"/>
                  </a:solidFill>
                  <a:latin typeface="ui-monospace"/>
                </a:rPr>
                <a:t>)/</a:t>
              </a:r>
              <a:r>
                <a:rPr lang="zh-CN" altLang="en-US" sz="1200" b="1" dirty="0">
                  <a:solidFill>
                    <a:schemeClr val="accent1"/>
                  </a:solidFill>
                  <a:latin typeface="ui-monospace"/>
                </a:rPr>
                <a:t>主码</a:t>
              </a:r>
              <a:r>
                <a:rPr lang="en-US" altLang="zh-CN" sz="1200" dirty="0">
                  <a:solidFill>
                    <a:schemeClr val="accent1"/>
                  </a:solidFill>
                  <a:latin typeface="ui-monospace"/>
                </a:rPr>
                <a:t>/</a:t>
              </a:r>
              <a:r>
                <a:rPr lang="zh-CN" altLang="en-US" sz="1200" dirty="0">
                  <a:solidFill>
                    <a:schemeClr val="accent1"/>
                  </a:solidFill>
                  <a:latin typeface="ui-monospace"/>
                </a:rPr>
                <a:t>主属性</a:t>
              </a:r>
              <a:r>
                <a:rPr lang="en-US" altLang="zh-CN" sz="1200" dirty="0">
                  <a:solidFill>
                    <a:schemeClr val="accent1"/>
                  </a:solidFill>
                  <a:latin typeface="ui-monospace"/>
                </a:rPr>
                <a:t>/</a:t>
              </a:r>
              <a:r>
                <a:rPr lang="zh-CN" altLang="en-US" sz="1200" b="1" dirty="0">
                  <a:solidFill>
                    <a:schemeClr val="accent1"/>
                  </a:solidFill>
                  <a:latin typeface="ui-monospace"/>
                </a:rPr>
                <a:t>外码</a:t>
              </a:r>
              <a:r>
                <a:rPr lang="en-US" altLang="zh-CN" sz="1200" dirty="0">
                  <a:solidFill>
                    <a:schemeClr val="accent1"/>
                  </a:solidFill>
                  <a:latin typeface="ui-monospace"/>
                </a:rPr>
                <a:t>/</a:t>
              </a:r>
              <a:r>
                <a:rPr lang="zh-CN" altLang="en-US" sz="1200" dirty="0">
                  <a:solidFill>
                    <a:schemeClr val="accent1"/>
                  </a:solidFill>
                  <a:latin typeface="ui-monospace"/>
                </a:rPr>
                <a:t>全码</a:t>
              </a:r>
              <a:r>
                <a:rPr lang="en-US" altLang="zh-CN" sz="1200" dirty="0">
                  <a:solidFill>
                    <a:schemeClr val="accent1"/>
                  </a:solidFill>
                  <a:latin typeface="ui-monospace"/>
                </a:rPr>
                <a:t>/</a:t>
              </a:r>
              <a:r>
                <a:rPr lang="zh-CN" altLang="en-US" sz="1200" dirty="0">
                  <a:solidFill>
                    <a:schemeClr val="accent1"/>
                  </a:solidFill>
                  <a:latin typeface="ui-monospace"/>
                </a:rPr>
                <a:t>超码</a:t>
              </a:r>
              <a:endParaRPr lang="en-US" altLang="zh-CN" sz="1200" dirty="0">
                <a:solidFill>
                  <a:schemeClr val="accent1"/>
                </a:solidFill>
                <a:latin typeface="ui-monospace"/>
              </a:endParaRPr>
            </a:p>
            <a:p>
              <a:r>
                <a:rPr lang="zh-CN" altLang="en-US" sz="1200" b="1" dirty="0">
                  <a:solidFill>
                    <a:schemeClr val="accent1"/>
                  </a:solidFill>
                  <a:latin typeface="ui-monospace"/>
                </a:rPr>
                <a:t>完整性约束</a:t>
              </a:r>
              <a:r>
                <a:rPr lang="zh-CN" altLang="en-US" sz="1200" dirty="0">
                  <a:solidFill>
                    <a:schemeClr val="accent1"/>
                  </a:solidFill>
                  <a:latin typeface="ui-monospace"/>
                </a:rPr>
                <a:t>：实体完整性</a:t>
              </a:r>
              <a:r>
                <a:rPr lang="en-US" altLang="zh-CN" sz="1200" dirty="0">
                  <a:solidFill>
                    <a:schemeClr val="accent1"/>
                  </a:solidFill>
                  <a:latin typeface="ui-monospace"/>
                </a:rPr>
                <a:t>(</a:t>
              </a:r>
              <a:r>
                <a:rPr lang="zh-CN" altLang="en-US" sz="1200" dirty="0">
                  <a:solidFill>
                    <a:schemeClr val="accent1"/>
                  </a:solidFill>
                  <a:latin typeface="ui-monospace"/>
                </a:rPr>
                <a:t>主码不为空</a:t>
              </a:r>
              <a:r>
                <a:rPr lang="en-US" altLang="zh-CN" sz="1200" dirty="0">
                  <a:solidFill>
                    <a:schemeClr val="accent1"/>
                  </a:solidFill>
                  <a:latin typeface="ui-monospace"/>
                </a:rPr>
                <a:t>)</a:t>
              </a:r>
              <a:r>
                <a:rPr lang="zh-CN" altLang="en-US" sz="1200" dirty="0">
                  <a:solidFill>
                    <a:schemeClr val="accent1"/>
                  </a:solidFill>
                  <a:latin typeface="ui-monospace"/>
                </a:rPr>
                <a:t>、参照完整性</a:t>
              </a:r>
              <a:r>
                <a:rPr lang="en-US" altLang="zh-CN" sz="1200" dirty="0">
                  <a:solidFill>
                    <a:schemeClr val="accent1"/>
                  </a:solidFill>
                  <a:latin typeface="ui-monospace"/>
                </a:rPr>
                <a:t>(</a:t>
              </a:r>
              <a:r>
                <a:rPr lang="zh-CN" altLang="en-US" sz="1200" dirty="0">
                  <a:solidFill>
                    <a:schemeClr val="accent1"/>
                  </a:solidFill>
                  <a:latin typeface="ui-monospace"/>
                </a:rPr>
                <a:t>外码必须可找到或空</a:t>
              </a:r>
              <a:r>
                <a:rPr lang="en-US" altLang="zh-CN" sz="1200" dirty="0">
                  <a:solidFill>
                    <a:schemeClr val="accent1"/>
                  </a:solidFill>
                  <a:latin typeface="ui-monospace"/>
                </a:rPr>
                <a:t>)</a:t>
              </a:r>
              <a:r>
                <a:rPr lang="zh-CN" altLang="en-US" sz="1200" dirty="0">
                  <a:solidFill>
                    <a:schemeClr val="accent1"/>
                  </a:solidFill>
                  <a:latin typeface="ui-monospace"/>
                </a:rPr>
                <a:t>、用户定义的完整性</a:t>
              </a:r>
              <a:endParaRPr lang="en-US" altLang="zh-CN" sz="1200" dirty="0">
                <a:solidFill>
                  <a:schemeClr val="accent1"/>
                </a:solidFill>
                <a:latin typeface="ui-monospace"/>
              </a:endParaRPr>
            </a:p>
          </p:txBody>
        </p:sp>
      </p:grpSp>
      <p:grpSp>
        <p:nvGrpSpPr>
          <p:cNvPr id="4" name="Group 3">
            <a:extLst>
              <a:ext uri="{FF2B5EF4-FFF2-40B4-BE49-F238E27FC236}">
                <a16:creationId xmlns:a16="http://schemas.microsoft.com/office/drawing/2014/main" id="{59EE3F29-1E50-0B99-3DAE-D813D1A15126}"/>
              </a:ext>
            </a:extLst>
          </p:cNvPr>
          <p:cNvGrpSpPr/>
          <p:nvPr/>
        </p:nvGrpSpPr>
        <p:grpSpPr>
          <a:xfrm>
            <a:off x="3117480" y="2663208"/>
            <a:ext cx="4386653" cy="572261"/>
            <a:chOff x="7614613" y="5950488"/>
            <a:chExt cx="4386653" cy="572261"/>
          </a:xfrm>
        </p:grpSpPr>
        <p:sp>
          <p:nvSpPr>
            <p:cNvPr id="5" name="Rectangle: Rounded Corners 4">
              <a:extLst>
                <a:ext uri="{FF2B5EF4-FFF2-40B4-BE49-F238E27FC236}">
                  <a16:creationId xmlns:a16="http://schemas.microsoft.com/office/drawing/2014/main" id="{4DF61C23-9205-B880-7EBF-8DD3263D1706}"/>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▶关系代数</a:t>
              </a:r>
              <a:endParaRPr lang="en-US" sz="1200" dirty="0">
                <a:solidFill>
                  <a:schemeClr val="bg1"/>
                </a:solidFill>
              </a:endParaRPr>
            </a:p>
          </p:txBody>
        </p:sp>
        <p:sp>
          <p:nvSpPr>
            <p:cNvPr id="8" name="TextBox 7">
              <a:extLst>
                <a:ext uri="{FF2B5EF4-FFF2-40B4-BE49-F238E27FC236}">
                  <a16:creationId xmlns:a16="http://schemas.microsoft.com/office/drawing/2014/main" id="{F7E75E10-1238-BD53-4E50-BAFFD6A8B5BD}"/>
                </a:ext>
              </a:extLst>
            </p:cNvPr>
            <p:cNvSpPr txBox="1"/>
            <p:nvPr/>
          </p:nvSpPr>
          <p:spPr>
            <a:xfrm>
              <a:off x="7667294" y="6245750"/>
              <a:ext cx="4281578" cy="276999"/>
            </a:xfrm>
            <a:prstGeom prst="rect">
              <a:avLst/>
            </a:prstGeom>
            <a:noFill/>
          </p:spPr>
          <p:txBody>
            <a:bodyPr wrap="square">
              <a:spAutoFit/>
            </a:bodyPr>
            <a:lstStyle/>
            <a:p>
              <a:endParaRPr lang="en-US" altLang="zh-CN" sz="1200" dirty="0">
                <a:solidFill>
                  <a:schemeClr val="accent1"/>
                </a:solidFill>
                <a:latin typeface="ui-monospace"/>
              </a:endParaRPr>
            </a:p>
          </p:txBody>
        </p:sp>
      </p:gr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9480CEFA-428C-E691-01F6-DED52ED2B916}"/>
                  </a:ext>
                </a:extLst>
              </p:cNvPr>
              <p:cNvGraphicFramePr>
                <a:graphicFrameLocks noGrp="1"/>
              </p:cNvGraphicFramePr>
              <p:nvPr>
                <p:extLst>
                  <p:ext uri="{D42A27DB-BD31-4B8C-83A1-F6EECF244321}">
                    <p14:modId xmlns:p14="http://schemas.microsoft.com/office/powerpoint/2010/main" val="2171868774"/>
                  </p:ext>
                </p:extLst>
              </p:nvPr>
            </p:nvGraphicFramePr>
            <p:xfrm>
              <a:off x="3150428" y="3006869"/>
              <a:ext cx="4281575" cy="914400"/>
            </p:xfrm>
            <a:graphic>
              <a:graphicData uri="http://schemas.openxmlformats.org/drawingml/2006/table">
                <a:tbl>
                  <a:tblPr firstRow="1" bandRow="1">
                    <a:tableStyleId>{5C22544A-7EE6-4342-B048-85BDC9FD1C3A}</a:tableStyleId>
                  </a:tblPr>
                  <a:tblGrid>
                    <a:gridCol w="840547">
                      <a:extLst>
                        <a:ext uri="{9D8B030D-6E8A-4147-A177-3AD203B41FA5}">
                          <a16:colId xmlns:a16="http://schemas.microsoft.com/office/drawing/2014/main" val="4196207211"/>
                        </a:ext>
                      </a:extLst>
                    </a:gridCol>
                    <a:gridCol w="3441028">
                      <a:extLst>
                        <a:ext uri="{9D8B030D-6E8A-4147-A177-3AD203B41FA5}">
                          <a16:colId xmlns:a16="http://schemas.microsoft.com/office/drawing/2014/main" val="3523767036"/>
                        </a:ext>
                      </a:extLst>
                    </a:gridCol>
                  </a:tblGrid>
                  <a:tr h="204220">
                    <a:tc>
                      <a:txBody>
                        <a:bodyPr/>
                        <a:lstStyle/>
                        <a:p>
                          <a:pPr algn="ctr"/>
                          <a:r>
                            <a:rPr lang="zh-CN" altLang="en-US" sz="900" b="0" dirty="0">
                              <a:solidFill>
                                <a:schemeClr val="tx1"/>
                              </a:solidFill>
                            </a:rPr>
                            <a:t>集合运算符</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r>
                                <a:rPr lang="en-US" sz="900" b="0" i="1" smtClean="0">
                                  <a:solidFill>
                                    <a:schemeClr val="tx1"/>
                                  </a:solidFill>
                                  <a:latin typeface="Cambria Math" panose="02040503050406030204" pitchFamily="18" charset="0"/>
                                  <a:ea typeface="Cambria Math" panose="02040503050406030204" pitchFamily="18" charset="0"/>
                                </a:rPr>
                                <m:t>∩</m:t>
                              </m:r>
                              <m:r>
                                <a:rPr lang="zh-CN" altLang="en-US" sz="900" b="0" i="1" smtClean="0">
                                  <a:solidFill>
                                    <a:schemeClr val="tx1"/>
                                  </a:solidFill>
                                  <a:latin typeface="Cambria Math" panose="02040503050406030204" pitchFamily="18" charset="0"/>
                                  <a:ea typeface="Cambria Math" panose="02040503050406030204" pitchFamily="18" charset="0"/>
                                </a:rPr>
                                <m:t>交集</m:t>
                              </m:r>
                              <m:r>
                                <a:rPr lang="en-US" sz="900" b="0" i="1" smtClean="0">
                                  <a:solidFill>
                                    <a:schemeClr val="tx1"/>
                                  </a:solidFill>
                                  <a:latin typeface="Cambria Math" panose="02040503050406030204" pitchFamily="18" charset="0"/>
                                  <a:ea typeface="Cambria Math" panose="02040503050406030204" pitchFamily="18" charset="0"/>
                                </a:rPr>
                                <m:t>∪</m:t>
                              </m:r>
                              <m:r>
                                <a:rPr lang="zh-CN" altLang="en-US" sz="900" b="0" i="1" smtClean="0">
                                  <a:solidFill>
                                    <a:schemeClr val="tx1"/>
                                  </a:solidFill>
                                  <a:latin typeface="Cambria Math" panose="02040503050406030204" pitchFamily="18" charset="0"/>
                                  <a:ea typeface="Cambria Math" panose="02040503050406030204" pitchFamily="18" charset="0"/>
                                </a:rPr>
                                <m:t>并集</m:t>
                              </m:r>
                              <m:r>
                                <a:rPr lang="en-US" sz="900" b="0" i="1" smtClean="0">
                                  <a:solidFill>
                                    <a:schemeClr val="tx1"/>
                                  </a:solidFill>
                                  <a:latin typeface="Cambria Math" panose="02040503050406030204" pitchFamily="18" charset="0"/>
                                  <a:ea typeface="Cambria Math" panose="02040503050406030204" pitchFamily="18" charset="0"/>
                                </a:rPr>
                                <m:t>−</m:t>
                              </m:r>
                              <m:r>
                                <a:rPr lang="zh-CN" altLang="en-US" sz="900" b="0" i="1" smtClean="0">
                                  <a:solidFill>
                                    <a:schemeClr val="tx1"/>
                                  </a:solidFill>
                                  <a:latin typeface="Cambria Math" panose="02040503050406030204" pitchFamily="18" charset="0"/>
                                  <a:ea typeface="Cambria Math" panose="02040503050406030204" pitchFamily="18" charset="0"/>
                                </a:rPr>
                                <m:t>差集</m:t>
                              </m:r>
                            </m:oMath>
                          </a14:m>
                          <a:r>
                            <a:rPr lang="en-US" sz="900" b="0" dirty="0">
                              <a:solidFill>
                                <a:schemeClr val="tx1"/>
                              </a:solidFill>
                            </a:rPr>
                            <a:t> X </a:t>
                          </a:r>
                          <a:r>
                            <a:rPr lang="zh-CN" altLang="en-US" sz="900" b="0" dirty="0">
                              <a:solidFill>
                                <a:schemeClr val="tx1"/>
                              </a:solidFill>
                            </a:rPr>
                            <a:t>笛卡儿积</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0" dirty="0">
                              <a:solidFill>
                                <a:schemeClr val="tx1"/>
                              </a:solidFill>
                            </a:rPr>
                            <a:t>比较运算符</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900" b="0" i="1" smtClean="0">
                                    <a:solidFill>
                                      <a:schemeClr val="tx1"/>
                                    </a:solidFill>
                                    <a:latin typeface="Cambria Math" panose="02040503050406030204" pitchFamily="18" charset="0"/>
                                    <a:ea typeface="Cambria Math" panose="02040503050406030204" pitchFamily="18" charset="0"/>
                                  </a:rPr>
                                  <m:t>&gt; ≥ &lt; ≤ = ≠</m:t>
                                </m:r>
                              </m:oMath>
                            </m:oMathPara>
                          </a14:m>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zh-CN" altLang="en-US" sz="900" b="0" dirty="0">
                              <a:solidFill>
                                <a:schemeClr val="tx1"/>
                              </a:solidFill>
                            </a:rPr>
                            <a:t>逻辑运算符</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kern="1200" dirty="0">
                              <a:solidFill>
                                <a:schemeClr val="tx1"/>
                              </a:solidFill>
                              <a:latin typeface="+mn-lt"/>
                              <a:ea typeface="+mn-ea"/>
                              <a:cs typeface="+mn-cs"/>
                            </a:rPr>
                            <a:t>∧ </a:t>
                          </a:r>
                          <a:r>
                            <a:rPr lang="zh-CN" altLang="en-US" sz="900" b="0" kern="1200" dirty="0">
                              <a:solidFill>
                                <a:schemeClr val="tx1"/>
                              </a:solidFill>
                              <a:latin typeface="+mn-lt"/>
                              <a:ea typeface="+mn-ea"/>
                              <a:cs typeface="+mn-cs"/>
                            </a:rPr>
                            <a:t>与 </a:t>
                          </a:r>
                          <a:r>
                            <a:rPr lang="en-US" sz="900" b="0" kern="1200" dirty="0">
                              <a:solidFill>
                                <a:schemeClr val="tx1"/>
                              </a:solidFill>
                              <a:latin typeface="+mn-lt"/>
                              <a:ea typeface="+mn-ea"/>
                              <a:cs typeface="+mn-cs"/>
                            </a:rPr>
                            <a:t>∨ </a:t>
                          </a:r>
                          <a:r>
                            <a:rPr lang="zh-CN" altLang="en-US" sz="900" b="0" kern="1200" dirty="0">
                              <a:solidFill>
                                <a:schemeClr val="tx1"/>
                              </a:solidFill>
                              <a:latin typeface="+mn-lt"/>
                              <a:ea typeface="+mn-ea"/>
                              <a:cs typeface="+mn-cs"/>
                            </a:rPr>
                            <a:t>或</a:t>
                          </a:r>
                          <a14:m>
                            <m:oMath xmlns:m="http://schemas.openxmlformats.org/officeDocument/2006/math">
                              <m:r>
                                <a:rPr lang="en-US" sz="900" b="0" i="0" smtClean="0">
                                  <a:solidFill>
                                    <a:schemeClr val="tx1"/>
                                  </a:solidFill>
                                  <a:latin typeface="Cambria Math" panose="02040503050406030204" pitchFamily="18" charset="0"/>
                                  <a:ea typeface="Cambria Math" panose="02040503050406030204" pitchFamily="18" charset="0"/>
                                </a:rPr>
                                <m:t> </m:t>
                              </m:r>
                              <m:r>
                                <a:rPr lang="en-US" sz="900" b="0" i="1" smtClean="0">
                                  <a:solidFill>
                                    <a:schemeClr val="tx1"/>
                                  </a:solidFill>
                                  <a:latin typeface="Cambria Math" panose="02040503050406030204" pitchFamily="18" charset="0"/>
                                  <a:ea typeface="Cambria Math" panose="02040503050406030204" pitchFamily="18" charset="0"/>
                                </a:rPr>
                                <m:t>¬</m:t>
                              </m:r>
                            </m:oMath>
                          </a14:m>
                          <a:r>
                            <a:rPr lang="zh-CN" altLang="en-US" sz="900" b="0" dirty="0">
                              <a:solidFill>
                                <a:schemeClr val="tx1"/>
                              </a:solidFill>
                            </a:rPr>
                            <a:t> 非</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r h="204220">
                    <a:tc>
                      <a:txBody>
                        <a:bodyPr/>
                        <a:lstStyle/>
                        <a:p>
                          <a:pPr algn="ctr"/>
                          <a:r>
                            <a:rPr lang="zh-CN" altLang="en-US" sz="900" b="0" dirty="0">
                              <a:solidFill>
                                <a:schemeClr val="tx1"/>
                              </a:solidFill>
                            </a:rPr>
                            <a:t>专门运算符</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900" b="0" i="1" smtClean="0">
                                  <a:solidFill>
                                    <a:schemeClr val="tx1"/>
                                  </a:solidFill>
                                  <a:latin typeface="Cambria Math" panose="02040503050406030204" pitchFamily="18" charset="0"/>
                                  <a:ea typeface="Cambria Math" panose="02040503050406030204" pitchFamily="18" charset="0"/>
                                </a:rPr>
                                <m:t>𝜎</m:t>
                              </m:r>
                              <m:r>
                                <a:rPr lang="zh-CN" altLang="en-US" sz="900" b="0" i="1" smtClean="0">
                                  <a:solidFill>
                                    <a:schemeClr val="tx1"/>
                                  </a:solidFill>
                                  <a:latin typeface="Cambria Math" panose="02040503050406030204" pitchFamily="18" charset="0"/>
                                  <a:ea typeface="Cambria Math" panose="02040503050406030204" pitchFamily="18" charset="0"/>
                                </a:rPr>
                                <m:t>选择</m:t>
                              </m:r>
                              <m:r>
                                <a:rPr lang="en-US" altLang="zh-CN" sz="900" b="0" i="1" smtClean="0">
                                  <a:solidFill>
                                    <a:schemeClr val="tx1"/>
                                  </a:solidFill>
                                  <a:latin typeface="Cambria Math" panose="02040503050406030204" pitchFamily="18" charset="0"/>
                                  <a:ea typeface="Cambria Math" panose="02040503050406030204" pitchFamily="18" charset="0"/>
                                </a:rPr>
                                <m:t> </m:t>
                              </m:r>
                              <m:r>
                                <a:rPr lang="en-US" sz="900" b="0" i="1" smtClean="0">
                                  <a:solidFill>
                                    <a:schemeClr val="tx1"/>
                                  </a:solidFill>
                                  <a:latin typeface="Cambria Math" panose="02040503050406030204" pitchFamily="18" charset="0"/>
                                  <a:ea typeface="Cambria Math" panose="02040503050406030204" pitchFamily="18" charset="0"/>
                                </a:rPr>
                                <m:t>𝜋</m:t>
                              </m:r>
                              <m:r>
                                <a:rPr lang="zh-CN" altLang="en-US" sz="900" b="0" i="1" smtClean="0">
                                  <a:solidFill>
                                    <a:schemeClr val="tx1"/>
                                  </a:solidFill>
                                  <a:latin typeface="Cambria Math" panose="02040503050406030204" pitchFamily="18" charset="0"/>
                                  <a:ea typeface="Cambria Math" panose="02040503050406030204" pitchFamily="18" charset="0"/>
                                </a:rPr>
                                <m:t>投影</m:t>
                              </m:r>
                              <m:r>
                                <a:rPr lang="en-US" altLang="zh-CN" sz="900" b="0" i="1" smtClean="0">
                                  <a:solidFill>
                                    <a:schemeClr val="tx1"/>
                                  </a:solidFill>
                                  <a:latin typeface="Cambria Math" panose="02040503050406030204" pitchFamily="18" charset="0"/>
                                  <a:ea typeface="Cambria Math" panose="02040503050406030204" pitchFamily="18" charset="0"/>
                                </a:rPr>
                                <m:t> ⨝</m:t>
                              </m:r>
                              <m:r>
                                <a:rPr lang="zh-CN" altLang="en-US" sz="900" b="0" i="1" smtClean="0">
                                  <a:solidFill>
                                    <a:schemeClr val="tx1"/>
                                  </a:solidFill>
                                  <a:latin typeface="Cambria Math" panose="02040503050406030204" pitchFamily="18" charset="0"/>
                                  <a:ea typeface="Cambria Math" panose="02040503050406030204" pitchFamily="18" charset="0"/>
                                </a:rPr>
                                <m:t>连接</m:t>
                              </m:r>
                              <m:r>
                                <a:rPr lang="en-US" altLang="zh-CN" sz="900" b="0" i="1" smtClean="0">
                                  <a:solidFill>
                                    <a:schemeClr val="tx1"/>
                                  </a:solidFill>
                                  <a:latin typeface="Cambria Math" panose="02040503050406030204" pitchFamily="18" charset="0"/>
                                  <a:ea typeface="Cambria Math" panose="02040503050406030204" pitchFamily="18" charset="0"/>
                                </a:rPr>
                                <m:t>÷</m:t>
                              </m:r>
                              <m:r>
                                <a:rPr lang="zh-CN" altLang="en-US" sz="900" b="0" i="1" smtClean="0">
                                  <a:solidFill>
                                    <a:schemeClr val="tx1"/>
                                  </a:solidFill>
                                  <a:latin typeface="Cambria Math" panose="02040503050406030204" pitchFamily="18" charset="0"/>
                                  <a:ea typeface="Cambria Math" panose="02040503050406030204" pitchFamily="18" charset="0"/>
                                </a:rPr>
                                <m:t>除</m:t>
                              </m:r>
                            </m:oMath>
                          </a14:m>
                          <a:r>
                            <a:rPr lang="en-US" sz="900" b="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1712655"/>
                      </a:ext>
                    </a:extLst>
                  </a:tr>
                </a:tbl>
              </a:graphicData>
            </a:graphic>
          </p:graphicFrame>
        </mc:Choice>
        <mc:Fallback xmlns="">
          <p:graphicFrame>
            <p:nvGraphicFramePr>
              <p:cNvPr id="9" name="Table 8">
                <a:extLst>
                  <a:ext uri="{FF2B5EF4-FFF2-40B4-BE49-F238E27FC236}">
                    <a16:creationId xmlns:a16="http://schemas.microsoft.com/office/drawing/2014/main" id="{9480CEFA-428C-E691-01F6-DED52ED2B916}"/>
                  </a:ext>
                </a:extLst>
              </p:cNvPr>
              <p:cNvGraphicFramePr>
                <a:graphicFrameLocks noGrp="1"/>
              </p:cNvGraphicFramePr>
              <p:nvPr>
                <p:extLst>
                  <p:ext uri="{D42A27DB-BD31-4B8C-83A1-F6EECF244321}">
                    <p14:modId xmlns:p14="http://schemas.microsoft.com/office/powerpoint/2010/main" val="2171868774"/>
                  </p:ext>
                </p:extLst>
              </p:nvPr>
            </p:nvGraphicFramePr>
            <p:xfrm>
              <a:off x="3150428" y="3006869"/>
              <a:ext cx="4281575" cy="914400"/>
            </p:xfrm>
            <a:graphic>
              <a:graphicData uri="http://schemas.openxmlformats.org/drawingml/2006/table">
                <a:tbl>
                  <a:tblPr firstRow="1" bandRow="1">
                    <a:tableStyleId>{5C22544A-7EE6-4342-B048-85BDC9FD1C3A}</a:tableStyleId>
                  </a:tblPr>
                  <a:tblGrid>
                    <a:gridCol w="840547">
                      <a:extLst>
                        <a:ext uri="{9D8B030D-6E8A-4147-A177-3AD203B41FA5}">
                          <a16:colId xmlns:a16="http://schemas.microsoft.com/office/drawing/2014/main" val="4196207211"/>
                        </a:ext>
                      </a:extLst>
                    </a:gridCol>
                    <a:gridCol w="3441028">
                      <a:extLst>
                        <a:ext uri="{9D8B030D-6E8A-4147-A177-3AD203B41FA5}">
                          <a16:colId xmlns:a16="http://schemas.microsoft.com/office/drawing/2014/main" val="3523767036"/>
                        </a:ext>
                      </a:extLst>
                    </a:gridCol>
                  </a:tblGrid>
                  <a:tr h="228600">
                    <a:tc>
                      <a:txBody>
                        <a:bodyPr/>
                        <a:lstStyle/>
                        <a:p>
                          <a:pPr algn="ctr"/>
                          <a:r>
                            <a:rPr lang="zh-CN" altLang="en-US" sz="900" b="0" dirty="0">
                              <a:solidFill>
                                <a:schemeClr val="tx1"/>
                              </a:solidFill>
                            </a:rPr>
                            <a:t>集合运算符</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4382" t="-2632" r="-177" b="-307895"/>
                          </a:stretch>
                        </a:blipFill>
                      </a:tcPr>
                    </a:tc>
                    <a:extLst>
                      <a:ext uri="{0D108BD9-81ED-4DB2-BD59-A6C34878D82A}">
                        <a16:rowId xmlns:a16="http://schemas.microsoft.com/office/drawing/2014/main" val="2900705716"/>
                      </a:ext>
                    </a:extLst>
                  </a:tr>
                  <a:tr h="228600">
                    <a:tc>
                      <a:txBody>
                        <a:bodyPr/>
                        <a:lstStyle/>
                        <a:p>
                          <a:pPr algn="ctr"/>
                          <a:r>
                            <a:rPr lang="zh-CN" altLang="en-US" sz="900" b="0" dirty="0">
                              <a:solidFill>
                                <a:schemeClr val="tx1"/>
                              </a:solidFill>
                            </a:rPr>
                            <a:t>比较运算符</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4382" t="-102632" r="-177" b="-207895"/>
                          </a:stretch>
                        </a:blipFill>
                      </a:tcPr>
                    </a:tc>
                    <a:extLst>
                      <a:ext uri="{0D108BD9-81ED-4DB2-BD59-A6C34878D82A}">
                        <a16:rowId xmlns:a16="http://schemas.microsoft.com/office/drawing/2014/main" val="2756970511"/>
                      </a:ext>
                    </a:extLst>
                  </a:tr>
                  <a:tr h="228600">
                    <a:tc>
                      <a:txBody>
                        <a:bodyPr/>
                        <a:lstStyle/>
                        <a:p>
                          <a:pPr algn="ctr"/>
                          <a:r>
                            <a:rPr lang="zh-CN" altLang="en-US" sz="900" b="0" dirty="0">
                              <a:solidFill>
                                <a:schemeClr val="tx1"/>
                              </a:solidFill>
                            </a:rPr>
                            <a:t>逻辑运算符</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4382" t="-208108" r="-177" b="-113514"/>
                          </a:stretch>
                        </a:blipFill>
                      </a:tcPr>
                    </a:tc>
                    <a:extLst>
                      <a:ext uri="{0D108BD9-81ED-4DB2-BD59-A6C34878D82A}">
                        <a16:rowId xmlns:a16="http://schemas.microsoft.com/office/drawing/2014/main" val="2539379376"/>
                      </a:ext>
                    </a:extLst>
                  </a:tr>
                  <a:tr h="228600">
                    <a:tc>
                      <a:txBody>
                        <a:bodyPr/>
                        <a:lstStyle/>
                        <a:p>
                          <a:pPr algn="ctr"/>
                          <a:r>
                            <a:rPr lang="zh-CN" altLang="en-US" sz="900" b="0" dirty="0">
                              <a:solidFill>
                                <a:schemeClr val="tx1"/>
                              </a:solidFill>
                            </a:rPr>
                            <a:t>专门运算符</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4382" t="-300000" r="-177" b="-10526"/>
                          </a:stretch>
                        </a:blipFill>
                      </a:tcPr>
                    </a:tc>
                    <a:extLst>
                      <a:ext uri="{0D108BD9-81ED-4DB2-BD59-A6C34878D82A}">
                        <a16:rowId xmlns:a16="http://schemas.microsoft.com/office/drawing/2014/main" val="2491712655"/>
                      </a:ext>
                    </a:extLst>
                  </a:tr>
                </a:tbl>
              </a:graphicData>
            </a:graphic>
          </p:graphicFrame>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3B05A8D-5EAD-D87C-EF34-28F03002089F}"/>
                  </a:ext>
                </a:extLst>
              </p:cNvPr>
              <p:cNvSpPr txBox="1"/>
              <p:nvPr/>
            </p:nvSpPr>
            <p:spPr>
              <a:xfrm>
                <a:off x="3170161" y="3904687"/>
                <a:ext cx="4281578" cy="1569660"/>
              </a:xfrm>
              <a:prstGeom prst="rect">
                <a:avLst/>
              </a:prstGeom>
              <a:noFill/>
            </p:spPr>
            <p:txBody>
              <a:bodyPr wrap="square">
                <a:spAutoFit/>
              </a:bodyPr>
              <a:lstStyle/>
              <a:p>
                <a:r>
                  <a:rPr lang="zh-CN" altLang="en-US" sz="1200" dirty="0">
                    <a:solidFill>
                      <a:schemeClr val="accent1"/>
                    </a:solidFill>
                    <a:latin typeface="ui-monospace"/>
                  </a:rPr>
                  <a:t>笛卡尔积：无条件连接。</a:t>
                </a:r>
                <a:r>
                  <a:rPr lang="en-US" altLang="zh-CN" sz="1200" dirty="0">
                    <a:solidFill>
                      <a:schemeClr val="accent1"/>
                    </a:solidFill>
                    <a:latin typeface="ui-monospace"/>
                  </a:rPr>
                  <a:t>join</a:t>
                </a:r>
              </a:p>
              <a:p>
                <a:r>
                  <a:rPr lang="zh-CN" altLang="en-US" sz="1200" dirty="0">
                    <a:solidFill>
                      <a:schemeClr val="accent1"/>
                    </a:solidFill>
                    <a:latin typeface="ui-monospace"/>
                  </a:rPr>
                  <a:t>投影：垂直，若干属性列的组合。</a:t>
                </a:r>
                <a:r>
                  <a:rPr lang="en-US" altLang="zh-CN" sz="1200" dirty="0">
                    <a:solidFill>
                      <a:schemeClr val="accent1"/>
                    </a:solidFill>
                    <a:latin typeface="ui-monospace"/>
                  </a:rPr>
                  <a:t>select</a:t>
                </a:r>
              </a:p>
              <a:p>
                <a:r>
                  <a:rPr lang="zh-CN" altLang="en-US" sz="1200" dirty="0">
                    <a:solidFill>
                      <a:schemeClr val="accent1"/>
                    </a:solidFill>
                    <a:latin typeface="ui-monospace"/>
                  </a:rPr>
                  <a:t>选择：水平，若干元组行的组合。</a:t>
                </a:r>
                <a:r>
                  <a:rPr lang="en-US" altLang="zh-CN" sz="1200" dirty="0">
                    <a:solidFill>
                      <a:schemeClr val="accent1"/>
                    </a:solidFill>
                    <a:latin typeface="ui-monospace"/>
                  </a:rPr>
                  <a:t>where</a:t>
                </a:r>
              </a:p>
              <a:p>
                <a:r>
                  <a:rPr lang="zh-CN" altLang="en-US" sz="1200" dirty="0">
                    <a:solidFill>
                      <a:schemeClr val="accent1"/>
                    </a:solidFill>
                    <a:latin typeface="ui-monospace"/>
                  </a:rPr>
                  <a:t>连接：从笛卡尔积选取满足条件的元组</a:t>
                </a:r>
                <a:endParaRPr lang="en-US" altLang="zh-CN" sz="1200" dirty="0">
                  <a:solidFill>
                    <a:schemeClr val="accent1"/>
                  </a:solidFill>
                  <a:latin typeface="ui-monospace"/>
                </a:endParaRPr>
              </a:p>
              <a:p>
                <a14:m>
                  <m:oMath xmlns:m="http://schemas.openxmlformats.org/officeDocument/2006/math">
                    <m:r>
                      <a:rPr lang="zh-CN" altLang="en-US" sz="1200" i="1" smtClean="0">
                        <a:solidFill>
                          <a:schemeClr val="accent1"/>
                        </a:solidFill>
                        <a:latin typeface="Cambria Math" panose="02040503050406030204" pitchFamily="18" charset="0"/>
                      </a:rPr>
                      <m:t>𝜃</m:t>
                    </m:r>
                  </m:oMath>
                </a14:m>
                <a:r>
                  <a:rPr lang="zh-CN" altLang="en-US" sz="1200" dirty="0">
                    <a:solidFill>
                      <a:schemeClr val="accent1"/>
                    </a:solidFill>
                    <a:latin typeface="ui-monospace"/>
                  </a:rPr>
                  <a:t>连接：比较运算 </a:t>
                </a:r>
                <a:r>
                  <a:rPr lang="en-US" altLang="zh-CN" sz="1200" dirty="0">
                    <a:solidFill>
                      <a:schemeClr val="accent1"/>
                    </a:solidFill>
                    <a:latin typeface="ui-monospace"/>
                  </a:rPr>
                  <a:t>/ </a:t>
                </a:r>
                <a:r>
                  <a:rPr lang="zh-CN" altLang="en-US" sz="1200" dirty="0">
                    <a:solidFill>
                      <a:schemeClr val="accent1"/>
                    </a:solidFill>
                    <a:latin typeface="ui-monospace"/>
                  </a:rPr>
                  <a:t>等值连接：等值运算</a:t>
                </a:r>
                <a:endParaRPr lang="en-US" altLang="zh-CN" sz="1200" dirty="0">
                  <a:solidFill>
                    <a:schemeClr val="accent1"/>
                  </a:solidFill>
                  <a:latin typeface="ui-monospace"/>
                </a:endParaRPr>
              </a:p>
              <a:p>
                <a:r>
                  <a:rPr lang="zh-CN" altLang="en-US" sz="1200" b="1" dirty="0">
                    <a:solidFill>
                      <a:schemeClr val="accent1"/>
                    </a:solidFill>
                    <a:latin typeface="ui-monospace"/>
                  </a:rPr>
                  <a:t>自然连接</a:t>
                </a:r>
                <a:r>
                  <a:rPr lang="zh-CN" altLang="en-US" sz="1200" dirty="0">
                    <a:solidFill>
                      <a:schemeClr val="accent1"/>
                    </a:solidFill>
                    <a:latin typeface="ui-monospace"/>
                  </a:rPr>
                  <a:t>：去除重复值的等值连接，类比外键</a:t>
                </a:r>
                <a:endParaRPr lang="en-US" altLang="zh-CN" sz="1200" dirty="0">
                  <a:solidFill>
                    <a:schemeClr val="accent1"/>
                  </a:solidFill>
                  <a:latin typeface="ui-monospace"/>
                </a:endParaRPr>
              </a:p>
              <a:p>
                <a:r>
                  <a:rPr lang="zh-CN" altLang="en-US" sz="1200" dirty="0">
                    <a:solidFill>
                      <a:schemeClr val="accent1"/>
                    </a:solidFill>
                    <a:latin typeface="ui-monospace"/>
                  </a:rPr>
                  <a:t>外连接：左外</a:t>
                </a:r>
                <a:r>
                  <a:rPr lang="en-US" altLang="zh-CN" sz="1200" dirty="0">
                    <a:solidFill>
                      <a:schemeClr val="accent1"/>
                    </a:solidFill>
                    <a:latin typeface="ui-monospace"/>
                  </a:rPr>
                  <a:t>/</a:t>
                </a:r>
                <a:r>
                  <a:rPr lang="zh-CN" altLang="en-US" sz="1200" dirty="0">
                    <a:solidFill>
                      <a:schemeClr val="accent1"/>
                    </a:solidFill>
                    <a:latin typeface="ui-monospace"/>
                  </a:rPr>
                  <a:t>右外</a:t>
                </a:r>
                <a:r>
                  <a:rPr lang="en-US" altLang="zh-CN" sz="1200" dirty="0">
                    <a:solidFill>
                      <a:schemeClr val="accent1"/>
                    </a:solidFill>
                    <a:latin typeface="ui-monospace"/>
                  </a:rPr>
                  <a:t>/</a:t>
                </a:r>
                <a:r>
                  <a:rPr lang="zh-CN" altLang="en-US" sz="1200" dirty="0">
                    <a:solidFill>
                      <a:schemeClr val="accent1"/>
                    </a:solidFill>
                    <a:latin typeface="ui-monospace"/>
                  </a:rPr>
                  <a:t>全外</a:t>
                </a:r>
                <a:endParaRPr lang="en-US" altLang="zh-CN" sz="1200" dirty="0">
                  <a:solidFill>
                    <a:schemeClr val="accent1"/>
                  </a:solidFill>
                  <a:latin typeface="ui-monospace"/>
                </a:endParaRPr>
              </a:p>
              <a:p>
                <a:r>
                  <a:rPr lang="zh-CN" altLang="en-US" sz="1200" dirty="0">
                    <a:solidFill>
                      <a:schemeClr val="accent1"/>
                    </a:solidFill>
                    <a:latin typeface="ui-monospace"/>
                  </a:rPr>
                  <a:t>查询效率：先判断条件后连接</a:t>
                </a:r>
                <a:endParaRPr lang="en-US" altLang="zh-CN" sz="1200" dirty="0">
                  <a:solidFill>
                    <a:schemeClr val="accent1"/>
                  </a:solidFill>
                  <a:latin typeface="ui-monospace"/>
                </a:endParaRPr>
              </a:p>
            </p:txBody>
          </p:sp>
        </mc:Choice>
        <mc:Fallback xmlns="">
          <p:sp>
            <p:nvSpPr>
              <p:cNvPr id="10" name="TextBox 9">
                <a:extLst>
                  <a:ext uri="{FF2B5EF4-FFF2-40B4-BE49-F238E27FC236}">
                    <a16:creationId xmlns:a16="http://schemas.microsoft.com/office/drawing/2014/main" id="{13B05A8D-5EAD-D87C-EF34-28F03002089F}"/>
                  </a:ext>
                </a:extLst>
              </p:cNvPr>
              <p:cNvSpPr txBox="1">
                <a:spLocks noRot="1" noChangeAspect="1" noMove="1" noResize="1" noEditPoints="1" noAdjustHandles="1" noChangeArrowheads="1" noChangeShapeType="1" noTextEdit="1"/>
              </p:cNvSpPr>
              <p:nvPr/>
            </p:nvSpPr>
            <p:spPr>
              <a:xfrm>
                <a:off x="3170161" y="3904687"/>
                <a:ext cx="4281578" cy="1569660"/>
              </a:xfrm>
              <a:prstGeom prst="rect">
                <a:avLst/>
              </a:prstGeom>
              <a:blipFill>
                <a:blip r:embed="rId3"/>
                <a:stretch>
                  <a:fillRect t="-389" b="-2335"/>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E3AC4F0F-DD6A-D7A4-6680-C9E97FF0A7E7}"/>
              </a:ext>
            </a:extLst>
          </p:cNvPr>
          <p:cNvGrpSpPr/>
          <p:nvPr/>
        </p:nvGrpSpPr>
        <p:grpSpPr>
          <a:xfrm>
            <a:off x="7677484" y="43793"/>
            <a:ext cx="4386653" cy="2788252"/>
            <a:chOff x="7614613" y="5950488"/>
            <a:chExt cx="4386653" cy="2788252"/>
          </a:xfrm>
        </p:grpSpPr>
        <p:sp>
          <p:nvSpPr>
            <p:cNvPr id="15" name="Rectangle: Rounded Corners 14">
              <a:extLst>
                <a:ext uri="{FF2B5EF4-FFF2-40B4-BE49-F238E27FC236}">
                  <a16:creationId xmlns:a16="http://schemas.microsoft.com/office/drawing/2014/main" id="{9C4302F1-7473-4B56-7044-3CF8C365B7E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a:t>
              </a:r>
              <a:r>
                <a:rPr lang="en-US" altLang="zh-CN" sz="1200" dirty="0">
                  <a:solidFill>
                    <a:schemeClr val="bg1"/>
                  </a:solidFill>
                  <a:latin typeface="ui-monospace"/>
                </a:rPr>
                <a:t>SQL</a:t>
              </a:r>
              <a:endParaRPr lang="en-US" sz="1200" dirty="0">
                <a:solidFill>
                  <a:schemeClr val="bg1"/>
                </a:solidFill>
              </a:endParaRPr>
            </a:p>
          </p:txBody>
        </p:sp>
        <p:sp>
          <p:nvSpPr>
            <p:cNvPr id="16" name="TextBox 15">
              <a:extLst>
                <a:ext uri="{FF2B5EF4-FFF2-40B4-BE49-F238E27FC236}">
                  <a16:creationId xmlns:a16="http://schemas.microsoft.com/office/drawing/2014/main" id="{2DAD6CB6-87B1-CACC-02BD-BB7DF5E60261}"/>
                </a:ext>
              </a:extLst>
            </p:cNvPr>
            <p:cNvSpPr txBox="1"/>
            <p:nvPr/>
          </p:nvSpPr>
          <p:spPr>
            <a:xfrm>
              <a:off x="7667294" y="6245750"/>
              <a:ext cx="4281578" cy="2492990"/>
            </a:xfrm>
            <a:prstGeom prst="rect">
              <a:avLst/>
            </a:prstGeom>
            <a:noFill/>
          </p:spPr>
          <p:txBody>
            <a:bodyPr wrap="square">
              <a:spAutoFit/>
            </a:bodyPr>
            <a:lstStyle/>
            <a:p>
              <a:r>
                <a:rPr lang="zh-CN" altLang="en-US" sz="1200" dirty="0">
                  <a:solidFill>
                    <a:schemeClr val="accent1"/>
                  </a:solidFill>
                  <a:latin typeface="ui-monospace"/>
                </a:rPr>
                <a:t>数据定义语言：</a:t>
              </a:r>
              <a:r>
                <a:rPr lang="en-US" altLang="zh-CN" sz="1200" dirty="0">
                  <a:solidFill>
                    <a:schemeClr val="accent1"/>
                  </a:solidFill>
                  <a:latin typeface="ui-monospace"/>
                </a:rPr>
                <a:t>create/alter/drop</a:t>
              </a:r>
            </a:p>
            <a:p>
              <a:r>
                <a:rPr lang="zh-CN" altLang="en-US" sz="1200" dirty="0">
                  <a:solidFill>
                    <a:schemeClr val="accent1"/>
                  </a:solidFill>
                  <a:latin typeface="ui-monospace"/>
                </a:rPr>
                <a:t>完整性约束：</a:t>
              </a:r>
              <a:r>
                <a:rPr lang="en-US" altLang="zh-CN" sz="1200" dirty="0">
                  <a:solidFill>
                    <a:schemeClr val="accent1"/>
                  </a:solidFill>
                  <a:latin typeface="ui-monospace"/>
                </a:rPr>
                <a:t>not null/unique/default/primary/foreign/check</a:t>
              </a:r>
            </a:p>
            <a:p>
              <a:r>
                <a:rPr lang="zh-CN" altLang="en-US" sz="1200" dirty="0">
                  <a:solidFill>
                    <a:schemeClr val="accent1"/>
                  </a:solidFill>
                  <a:latin typeface="ui-monospace"/>
                </a:rPr>
                <a:t>数据操作语言：</a:t>
              </a:r>
              <a:r>
                <a:rPr lang="en-US" altLang="zh-CN" sz="1200" dirty="0">
                  <a:solidFill>
                    <a:schemeClr val="accent1"/>
                  </a:solidFill>
                  <a:latin typeface="ui-monospace"/>
                </a:rPr>
                <a:t>insert/update/delete</a:t>
              </a:r>
            </a:p>
            <a:p>
              <a:r>
                <a:rPr lang="zh-CN" altLang="en-US" sz="1200" dirty="0">
                  <a:solidFill>
                    <a:schemeClr val="accent1"/>
                  </a:solidFill>
                  <a:latin typeface="ui-monospace"/>
                </a:rPr>
                <a:t>数据查询语言：</a:t>
              </a:r>
              <a:r>
                <a:rPr lang="en-US" altLang="zh-CN" sz="1200" dirty="0" err="1">
                  <a:solidFill>
                    <a:schemeClr val="accent1"/>
                  </a:solidFill>
                  <a:latin typeface="ui-monospace"/>
                </a:rPr>
                <a:t>select..from..where..group</a:t>
              </a:r>
              <a:r>
                <a:rPr lang="en-US" altLang="zh-CN" sz="1200" dirty="0">
                  <a:solidFill>
                    <a:schemeClr val="accent1"/>
                  </a:solidFill>
                  <a:latin typeface="ui-monospace"/>
                </a:rPr>
                <a:t> </a:t>
              </a:r>
              <a:r>
                <a:rPr lang="en-US" altLang="zh-CN" sz="1200" dirty="0" err="1">
                  <a:solidFill>
                    <a:schemeClr val="accent1"/>
                  </a:solidFill>
                  <a:latin typeface="ui-monospace"/>
                </a:rPr>
                <a:t>by..</a:t>
              </a:r>
              <a:r>
                <a:rPr lang="en-US" altLang="zh-CN" sz="1200" b="1" dirty="0" err="1">
                  <a:solidFill>
                    <a:schemeClr val="accent1"/>
                  </a:solidFill>
                  <a:latin typeface="ui-monospace"/>
                </a:rPr>
                <a:t>having</a:t>
              </a:r>
              <a:r>
                <a:rPr lang="en-US" altLang="zh-CN" sz="1200" dirty="0" err="1">
                  <a:solidFill>
                    <a:schemeClr val="accent1"/>
                  </a:solidFill>
                  <a:latin typeface="ui-monospace"/>
                </a:rPr>
                <a:t>..order</a:t>
              </a:r>
              <a:r>
                <a:rPr lang="en-US" altLang="zh-CN" sz="1200" dirty="0">
                  <a:solidFill>
                    <a:schemeClr val="accent1"/>
                  </a:solidFill>
                  <a:latin typeface="ui-monospace"/>
                </a:rPr>
                <a:t> by</a:t>
              </a:r>
            </a:p>
            <a:p>
              <a:r>
                <a:rPr lang="zh-CN" altLang="en-US" sz="1200" dirty="0">
                  <a:solidFill>
                    <a:schemeClr val="accent1"/>
                  </a:solidFill>
                  <a:latin typeface="ui-monospace"/>
                </a:rPr>
                <a:t>比较</a:t>
              </a:r>
              <a:r>
                <a:rPr lang="en-US" altLang="zh-CN" sz="1200" dirty="0">
                  <a:solidFill>
                    <a:schemeClr val="accent1"/>
                  </a:solidFill>
                  <a:latin typeface="ui-monospace"/>
                </a:rPr>
                <a:t>/between/</a:t>
              </a:r>
              <a:r>
                <a:rPr lang="zh-CN" altLang="en-US" sz="1200" dirty="0">
                  <a:solidFill>
                    <a:schemeClr val="accent1"/>
                  </a:solidFill>
                  <a:latin typeface="ui-monospace"/>
                </a:rPr>
                <a:t>逻辑</a:t>
              </a:r>
              <a:r>
                <a:rPr lang="en-US" altLang="zh-CN" sz="1200" dirty="0">
                  <a:solidFill>
                    <a:schemeClr val="accent1"/>
                  </a:solidFill>
                  <a:latin typeface="ui-monospace"/>
                </a:rPr>
                <a:t>/in/not in/exists/like/all/some/unique/</a:t>
              </a:r>
              <a:r>
                <a:rPr lang="zh-CN" altLang="en-US" sz="1200" dirty="0">
                  <a:solidFill>
                    <a:schemeClr val="accent1"/>
                  </a:solidFill>
                  <a:latin typeface="ui-monospace"/>
                </a:rPr>
                <a:t>聚合函数</a:t>
              </a:r>
              <a:r>
                <a:rPr lang="en-US" altLang="zh-CN" sz="1200" dirty="0">
                  <a:solidFill>
                    <a:schemeClr val="accent1"/>
                  </a:solidFill>
                  <a:latin typeface="ui-monospace"/>
                </a:rPr>
                <a:t>/is null/is not null/</a:t>
              </a:r>
              <a:r>
                <a:rPr lang="en-US" altLang="zh-CN" sz="1200" b="1" dirty="0">
                  <a:solidFill>
                    <a:schemeClr val="accent1"/>
                  </a:solidFill>
                  <a:latin typeface="ui-monospace"/>
                </a:rPr>
                <a:t>union/intersect/except</a:t>
              </a:r>
              <a:r>
                <a:rPr lang="en-US" altLang="zh-CN" sz="1200" dirty="0">
                  <a:solidFill>
                    <a:schemeClr val="accent1"/>
                  </a:solidFill>
                  <a:latin typeface="ui-monospace"/>
                </a:rPr>
                <a:t>/distinct/as</a:t>
              </a:r>
            </a:p>
            <a:p>
              <a:r>
                <a:rPr lang="zh-CN" altLang="en-US" sz="1200" dirty="0">
                  <a:solidFill>
                    <a:schemeClr val="accent1"/>
                  </a:solidFill>
                  <a:latin typeface="ui-monospace"/>
                </a:rPr>
                <a:t>聚合函数：</a:t>
              </a:r>
              <a:r>
                <a:rPr lang="en-US" altLang="zh-CN" sz="1200" dirty="0">
                  <a:solidFill>
                    <a:schemeClr val="accent1"/>
                  </a:solidFill>
                  <a:latin typeface="ui-monospace"/>
                </a:rPr>
                <a:t>AVG</a:t>
              </a:r>
              <a:r>
                <a:rPr lang="zh-CN" altLang="en-US" sz="1200" dirty="0">
                  <a:solidFill>
                    <a:schemeClr val="accent1"/>
                  </a:solidFill>
                  <a:latin typeface="ui-monospace"/>
                </a:rPr>
                <a:t>均值 </a:t>
              </a:r>
              <a:r>
                <a:rPr lang="en-US" altLang="zh-CN" sz="1200" dirty="0">
                  <a:solidFill>
                    <a:schemeClr val="accent1"/>
                  </a:solidFill>
                  <a:latin typeface="ui-monospace"/>
                </a:rPr>
                <a:t>COUNT</a:t>
              </a:r>
              <a:r>
                <a:rPr lang="zh-CN" altLang="en-US" sz="1200" dirty="0">
                  <a:solidFill>
                    <a:schemeClr val="accent1"/>
                  </a:solidFill>
                  <a:latin typeface="ui-monospace"/>
                </a:rPr>
                <a:t>计数 </a:t>
              </a:r>
              <a:r>
                <a:rPr lang="en-US" altLang="zh-CN" sz="1200" dirty="0">
                  <a:solidFill>
                    <a:schemeClr val="accent1"/>
                  </a:solidFill>
                  <a:latin typeface="ui-monospace"/>
                </a:rPr>
                <a:t>MIN/MAX</a:t>
              </a:r>
              <a:r>
                <a:rPr lang="zh-CN" altLang="en-US" sz="1200" dirty="0">
                  <a:solidFill>
                    <a:schemeClr val="accent1"/>
                  </a:solidFill>
                  <a:latin typeface="ui-monospace"/>
                </a:rPr>
                <a:t>极值 </a:t>
              </a:r>
              <a:r>
                <a:rPr lang="en-US" altLang="zh-CN" sz="1200" dirty="0">
                  <a:solidFill>
                    <a:schemeClr val="accent1"/>
                  </a:solidFill>
                  <a:latin typeface="ui-monospace"/>
                </a:rPr>
                <a:t>SUM</a:t>
              </a:r>
              <a:r>
                <a:rPr lang="zh-CN" altLang="en-US" sz="1200" dirty="0">
                  <a:solidFill>
                    <a:schemeClr val="accent1"/>
                  </a:solidFill>
                  <a:latin typeface="ui-monospace"/>
                </a:rPr>
                <a:t>求和</a:t>
              </a:r>
              <a:endParaRPr lang="en-US" altLang="zh-CN" sz="1200" dirty="0">
                <a:solidFill>
                  <a:schemeClr val="accent1"/>
                </a:solidFill>
                <a:latin typeface="ui-monospace"/>
              </a:endParaRPr>
            </a:p>
            <a:p>
              <a:r>
                <a:rPr lang="zh-CN" altLang="en-US" sz="1200" dirty="0">
                  <a:solidFill>
                    <a:schemeClr val="accent1"/>
                  </a:solidFill>
                  <a:latin typeface="ui-monospace"/>
                </a:rPr>
                <a:t>权限：</a:t>
              </a:r>
              <a:r>
                <a:rPr lang="en-US" altLang="zh-CN" sz="1200" b="1" dirty="0">
                  <a:solidFill>
                    <a:schemeClr val="accent1"/>
                  </a:solidFill>
                  <a:latin typeface="ui-monospace"/>
                </a:rPr>
                <a:t>GRANT</a:t>
              </a:r>
              <a:r>
                <a:rPr lang="en-US" altLang="zh-CN" sz="1200" dirty="0">
                  <a:solidFill>
                    <a:schemeClr val="accent1"/>
                  </a:solidFill>
                  <a:latin typeface="ui-monospace"/>
                </a:rPr>
                <a:t>/REVOKE &lt;Insert&gt;&lt;ALL PRIVILEGES &gt; </a:t>
              </a:r>
              <a:r>
                <a:rPr lang="en-US" altLang="zh-CN" sz="1200" b="1" dirty="0">
                  <a:solidFill>
                    <a:schemeClr val="accent1"/>
                  </a:solidFill>
                  <a:latin typeface="ui-monospace"/>
                </a:rPr>
                <a:t>on </a:t>
              </a:r>
              <a:r>
                <a:rPr lang="en-US" altLang="zh-CN" sz="1200" dirty="0">
                  <a:solidFill>
                    <a:schemeClr val="accent1"/>
                  </a:solidFill>
                  <a:latin typeface="ui-monospace"/>
                </a:rPr>
                <a:t>..</a:t>
              </a:r>
            </a:p>
            <a:p>
              <a:r>
                <a:rPr lang="en-US" altLang="zh-CN" sz="1200" b="1" dirty="0">
                  <a:solidFill>
                    <a:schemeClr val="accent1"/>
                  </a:solidFill>
                  <a:latin typeface="ui-monospace"/>
                </a:rPr>
                <a:t>to</a:t>
              </a:r>
              <a:r>
                <a:rPr lang="en-US" altLang="zh-CN" sz="1200" dirty="0">
                  <a:solidFill>
                    <a:schemeClr val="accent1"/>
                  </a:solidFill>
                  <a:latin typeface="ui-monospace"/>
                </a:rPr>
                <a:t> .. PUBLIC/</a:t>
              </a:r>
              <a:r>
                <a:rPr lang="en-US" altLang="zh-CN" sz="1200" b="1" dirty="0">
                  <a:solidFill>
                    <a:schemeClr val="accent1"/>
                  </a:solidFill>
                  <a:latin typeface="ui-monospace"/>
                </a:rPr>
                <a:t>WITH GRANT OPTION </a:t>
              </a:r>
              <a:r>
                <a:rPr lang="zh-CN" altLang="en-US" sz="1200" b="1" dirty="0">
                  <a:solidFill>
                    <a:schemeClr val="accent1"/>
                  </a:solidFill>
                  <a:latin typeface="ui-monospace"/>
                </a:rPr>
                <a:t>可</a:t>
              </a:r>
              <a:r>
                <a:rPr lang="zh-CN" altLang="en-US" sz="1200" dirty="0">
                  <a:solidFill>
                    <a:schemeClr val="accent1"/>
                  </a:solidFill>
                  <a:latin typeface="ui-monospace"/>
                </a:rPr>
                <a:t>分发</a:t>
              </a:r>
              <a:endParaRPr lang="en-US" altLang="zh-CN" sz="1200" dirty="0">
                <a:solidFill>
                  <a:schemeClr val="accent1"/>
                </a:solidFill>
                <a:latin typeface="ui-monospace"/>
              </a:endParaRPr>
            </a:p>
            <a:p>
              <a:r>
                <a:rPr lang="zh-CN" altLang="en-US" sz="1200" dirty="0">
                  <a:solidFill>
                    <a:schemeClr val="accent1"/>
                  </a:solidFill>
                  <a:latin typeface="ui-monospace"/>
                </a:rPr>
                <a:t>视图：</a:t>
              </a:r>
              <a:r>
                <a:rPr lang="en-US" altLang="zh-CN" sz="1200" dirty="0">
                  <a:solidFill>
                    <a:schemeClr val="accent1"/>
                  </a:solidFill>
                  <a:latin typeface="ui-monospace"/>
                </a:rPr>
                <a:t>create view … as select… </a:t>
              </a:r>
              <a:r>
                <a:rPr lang="en-US" altLang="zh-CN" sz="1200" b="1" dirty="0">
                  <a:solidFill>
                    <a:schemeClr val="accent1"/>
                  </a:solidFill>
                  <a:latin typeface="ui-monospace"/>
                </a:rPr>
                <a:t>WITH CHECK OPTION </a:t>
              </a:r>
              <a:r>
                <a:rPr lang="zh-CN" altLang="en-US" sz="1200" dirty="0">
                  <a:solidFill>
                    <a:schemeClr val="accent1"/>
                  </a:solidFill>
                  <a:latin typeface="ui-monospace"/>
                </a:rPr>
                <a:t>约束</a:t>
              </a:r>
              <a:endParaRPr lang="en-US" altLang="zh-CN" sz="1200" dirty="0">
                <a:solidFill>
                  <a:schemeClr val="accent1"/>
                </a:solidFill>
                <a:latin typeface="ui-monospace"/>
              </a:endParaRPr>
            </a:p>
            <a:p>
              <a:r>
                <a:rPr lang="zh-CN" altLang="en-US" sz="1200" dirty="0">
                  <a:solidFill>
                    <a:schemeClr val="accent1"/>
                  </a:solidFill>
                  <a:latin typeface="ui-monospace"/>
                </a:rPr>
                <a:t>索引：改变内模式</a:t>
              </a:r>
              <a:endParaRPr lang="en-US" altLang="zh-CN" sz="1200" dirty="0">
                <a:solidFill>
                  <a:schemeClr val="accent1"/>
                </a:solidFill>
                <a:latin typeface="ui-monospace"/>
              </a:endParaRPr>
            </a:p>
            <a:p>
              <a:r>
                <a:rPr lang="en-US" altLang="zh-CN" sz="1200" dirty="0">
                  <a:solidFill>
                    <a:schemeClr val="accent1"/>
                  </a:solidFill>
                  <a:latin typeface="ui-monospace"/>
                </a:rPr>
                <a:t>create UNIQUE</a:t>
              </a:r>
              <a:r>
                <a:rPr lang="zh-CN" altLang="en-US" sz="1200" dirty="0">
                  <a:solidFill>
                    <a:schemeClr val="accent1"/>
                  </a:solidFill>
                  <a:latin typeface="ui-monospace"/>
                </a:rPr>
                <a:t>唯一</a:t>
              </a:r>
              <a:r>
                <a:rPr lang="en-US" altLang="zh-CN" sz="1200" dirty="0">
                  <a:solidFill>
                    <a:schemeClr val="accent1"/>
                  </a:solidFill>
                  <a:latin typeface="ui-monospace"/>
                </a:rPr>
                <a:t>/CLUSTER</a:t>
              </a:r>
              <a:r>
                <a:rPr lang="zh-CN" altLang="en-US" sz="1200" dirty="0">
                  <a:solidFill>
                    <a:schemeClr val="accent1"/>
                  </a:solidFill>
                  <a:latin typeface="ui-monospace"/>
                </a:rPr>
                <a:t>聚簇</a:t>
              </a:r>
              <a:r>
                <a:rPr lang="en-US" altLang="zh-CN" sz="1200" dirty="0">
                  <a:solidFill>
                    <a:schemeClr val="accent1"/>
                  </a:solidFill>
                  <a:latin typeface="ui-monospace"/>
                </a:rPr>
                <a:t> index .. on ..</a:t>
              </a:r>
            </a:p>
            <a:p>
              <a:r>
                <a:rPr lang="zh-CN" altLang="en-US" sz="1200" dirty="0">
                  <a:solidFill>
                    <a:schemeClr val="accent1"/>
                  </a:solidFill>
                  <a:latin typeface="ui-monospace"/>
                </a:rPr>
                <a:t>存储过程</a:t>
              </a:r>
              <a:endParaRPr lang="en-US" altLang="zh-CN" sz="1200" dirty="0">
                <a:solidFill>
                  <a:schemeClr val="accent1"/>
                </a:solidFill>
                <a:latin typeface="ui-monospace"/>
              </a:endParaRPr>
            </a:p>
          </p:txBody>
        </p:sp>
      </p:grpSp>
      <p:grpSp>
        <p:nvGrpSpPr>
          <p:cNvPr id="27" name="Group 26">
            <a:extLst>
              <a:ext uri="{FF2B5EF4-FFF2-40B4-BE49-F238E27FC236}">
                <a16:creationId xmlns:a16="http://schemas.microsoft.com/office/drawing/2014/main" id="{5318CD59-1AFD-ADE2-AA65-B23773EEDBB1}"/>
              </a:ext>
            </a:extLst>
          </p:cNvPr>
          <p:cNvGrpSpPr/>
          <p:nvPr/>
        </p:nvGrpSpPr>
        <p:grpSpPr>
          <a:xfrm>
            <a:off x="3117623" y="5435151"/>
            <a:ext cx="4386653" cy="1310925"/>
            <a:chOff x="7614613" y="5950488"/>
            <a:chExt cx="4386653" cy="1310925"/>
          </a:xfrm>
        </p:grpSpPr>
        <p:sp>
          <p:nvSpPr>
            <p:cNvPr id="28" name="Rectangle: Rounded Corners 27">
              <a:extLst>
                <a:ext uri="{FF2B5EF4-FFF2-40B4-BE49-F238E27FC236}">
                  <a16:creationId xmlns:a16="http://schemas.microsoft.com/office/drawing/2014/main" id="{1F53725E-764A-2723-EEE3-AA47DF269B58}"/>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▶规范化</a:t>
              </a:r>
              <a:endParaRPr lang="en-US" sz="1200" dirty="0">
                <a:solidFill>
                  <a:schemeClr val="bg1"/>
                </a:solidFill>
              </a:endParaRPr>
            </a:p>
          </p:txBody>
        </p:sp>
        <p:sp>
          <p:nvSpPr>
            <p:cNvPr id="29" name="TextBox 28">
              <a:extLst>
                <a:ext uri="{FF2B5EF4-FFF2-40B4-BE49-F238E27FC236}">
                  <a16:creationId xmlns:a16="http://schemas.microsoft.com/office/drawing/2014/main" id="{E4B6E769-0E21-6327-3E5D-41C1805151C2}"/>
                </a:ext>
              </a:extLst>
            </p:cNvPr>
            <p:cNvSpPr txBox="1"/>
            <p:nvPr/>
          </p:nvSpPr>
          <p:spPr>
            <a:xfrm>
              <a:off x="7667294" y="6245750"/>
              <a:ext cx="4281578" cy="1015663"/>
            </a:xfrm>
            <a:prstGeom prst="rect">
              <a:avLst/>
            </a:prstGeom>
            <a:noFill/>
          </p:spPr>
          <p:txBody>
            <a:bodyPr wrap="square">
              <a:spAutoFit/>
            </a:bodyPr>
            <a:lstStyle/>
            <a:p>
              <a:r>
                <a:rPr lang="zh-CN" altLang="en-US" sz="1200" dirty="0">
                  <a:solidFill>
                    <a:schemeClr val="accent1"/>
                  </a:solidFill>
                  <a:latin typeface="ui-monospace"/>
                </a:rPr>
                <a:t>函数依赖：</a:t>
              </a:r>
              <a:r>
                <a:rPr lang="en-US" altLang="zh-CN" sz="1200" dirty="0">
                  <a:solidFill>
                    <a:schemeClr val="accent1"/>
                  </a:solidFill>
                  <a:latin typeface="ui-monospace"/>
                </a:rPr>
                <a:t>F={(</a:t>
              </a:r>
              <a:r>
                <a:rPr lang="en-US" altLang="zh-CN" sz="1200" dirty="0" err="1">
                  <a:solidFill>
                    <a:schemeClr val="accent1"/>
                  </a:solidFill>
                  <a:latin typeface="ui-monospace"/>
                </a:rPr>
                <a:t>Sno,Cno</a:t>
              </a:r>
              <a:r>
                <a:rPr lang="en-US" altLang="zh-CN" sz="1200" dirty="0">
                  <a:solidFill>
                    <a:schemeClr val="accent1"/>
                  </a:solidFill>
                  <a:latin typeface="ui-monospace"/>
                </a:rPr>
                <a:t>)-&gt;G}</a:t>
              </a:r>
            </a:p>
            <a:p>
              <a:r>
                <a:rPr lang="zh-CN" altLang="en-US" sz="1200" dirty="0">
                  <a:solidFill>
                    <a:schemeClr val="accent1"/>
                  </a:solidFill>
                  <a:latin typeface="ui-monospace"/>
                </a:rPr>
                <a:t>完全函数依赖：并不是依赖于候选码的子集，类比联合主键</a:t>
              </a:r>
              <a:endParaRPr lang="en-US" altLang="zh-CN" sz="1200" dirty="0">
                <a:solidFill>
                  <a:schemeClr val="accent1"/>
                </a:solidFill>
                <a:latin typeface="ui-monospace"/>
              </a:endParaRPr>
            </a:p>
            <a:p>
              <a:r>
                <a:rPr lang="en-US" altLang="zh-CN" sz="1200" dirty="0">
                  <a:solidFill>
                    <a:schemeClr val="accent1"/>
                  </a:solidFill>
                  <a:latin typeface="ui-monospace"/>
                </a:rPr>
                <a:t>A3</a:t>
              </a:r>
              <a:r>
                <a:rPr lang="zh-CN" altLang="en-US" sz="1200" dirty="0">
                  <a:solidFill>
                    <a:schemeClr val="accent1"/>
                  </a:solidFill>
                  <a:latin typeface="ui-monospace"/>
                </a:rPr>
                <a:t>传递律 合并规则 分解规则</a:t>
              </a:r>
              <a:endParaRPr lang="en-US" altLang="zh-CN" sz="1200" dirty="0">
                <a:solidFill>
                  <a:schemeClr val="accent1"/>
                </a:solidFill>
                <a:latin typeface="ui-monospace"/>
              </a:endParaRPr>
            </a:p>
            <a:p>
              <a:r>
                <a:rPr lang="zh-CN" altLang="en-US" sz="1200" b="1" dirty="0">
                  <a:solidFill>
                    <a:schemeClr val="accent1"/>
                  </a:solidFill>
                  <a:latin typeface="ui-monospace"/>
                </a:rPr>
                <a:t>闭包</a:t>
              </a:r>
              <a:r>
                <a:rPr lang="zh-CN" altLang="en-US" sz="1200" dirty="0">
                  <a:solidFill>
                    <a:schemeClr val="accent1"/>
                  </a:solidFill>
                  <a:latin typeface="ui-monospace"/>
                </a:rPr>
                <a:t>：求</a:t>
              </a:r>
              <a:r>
                <a:rPr lang="zh-CN" altLang="en-US" sz="1200" b="1" dirty="0">
                  <a:solidFill>
                    <a:schemeClr val="accent1"/>
                  </a:solidFill>
                  <a:latin typeface="ui-monospace"/>
                </a:rPr>
                <a:t>候选码</a:t>
              </a:r>
              <a:r>
                <a:rPr lang="zh-CN" altLang="en-US" sz="1200" dirty="0">
                  <a:solidFill>
                    <a:schemeClr val="accent1"/>
                  </a:solidFill>
                  <a:latin typeface="ui-monospace"/>
                </a:rPr>
                <a:t>，可反向求</a:t>
              </a:r>
              <a:r>
                <a:rPr lang="en-US" altLang="zh-CN" sz="1200" dirty="0">
                  <a:solidFill>
                    <a:schemeClr val="accent1"/>
                  </a:solidFill>
                  <a:latin typeface="ui-monospace"/>
                </a:rPr>
                <a:t>/</a:t>
              </a:r>
              <a:r>
                <a:rPr lang="zh-CN" altLang="en-US" sz="1200" b="1" dirty="0">
                  <a:solidFill>
                    <a:schemeClr val="accent1"/>
                  </a:solidFill>
                  <a:latin typeface="ui-monospace"/>
                </a:rPr>
                <a:t>传递依赖</a:t>
              </a:r>
              <a:r>
                <a:rPr lang="en-US" altLang="zh-CN" sz="1200" dirty="0">
                  <a:solidFill>
                    <a:schemeClr val="accent1"/>
                  </a:solidFill>
                  <a:latin typeface="ui-monospace"/>
                </a:rPr>
                <a:t>/</a:t>
              </a:r>
              <a:r>
                <a:rPr lang="zh-CN" altLang="en-US" sz="1200" dirty="0">
                  <a:solidFill>
                    <a:schemeClr val="accent1"/>
                  </a:solidFill>
                  <a:latin typeface="ui-monospace"/>
                </a:rPr>
                <a:t>冗余</a:t>
              </a:r>
              <a:endParaRPr lang="en-US" altLang="zh-CN" sz="1200" dirty="0">
                <a:solidFill>
                  <a:schemeClr val="accent1"/>
                </a:solidFill>
                <a:latin typeface="ui-monospace"/>
              </a:endParaRPr>
            </a:p>
            <a:p>
              <a:r>
                <a:rPr lang="zh-CN" altLang="en-US" sz="1200" dirty="0">
                  <a:solidFill>
                    <a:schemeClr val="accent1"/>
                  </a:solidFill>
                  <a:latin typeface="ui-monospace"/>
                </a:rPr>
                <a:t>求主属性</a:t>
              </a:r>
              <a:r>
                <a:rPr lang="en-US" altLang="zh-CN" sz="1200" dirty="0">
                  <a:solidFill>
                    <a:schemeClr val="accent1"/>
                  </a:solidFill>
                  <a:latin typeface="ui-monospace"/>
                </a:rPr>
                <a:t>/</a:t>
              </a:r>
              <a:r>
                <a:rPr lang="zh-CN" altLang="en-US" sz="1200" dirty="0">
                  <a:solidFill>
                    <a:schemeClr val="accent1"/>
                  </a:solidFill>
                  <a:latin typeface="ui-monospace"/>
                </a:rPr>
                <a:t>非主属性</a:t>
              </a:r>
              <a:endParaRPr lang="en-US" altLang="zh-CN" sz="1200" dirty="0">
                <a:solidFill>
                  <a:schemeClr val="accent1"/>
                </a:solidFill>
                <a:latin typeface="ui-monospace"/>
              </a:endParaRPr>
            </a:p>
          </p:txBody>
        </p:sp>
      </p:grpSp>
      <p:grpSp>
        <p:nvGrpSpPr>
          <p:cNvPr id="30" name="Group 29">
            <a:extLst>
              <a:ext uri="{FF2B5EF4-FFF2-40B4-BE49-F238E27FC236}">
                <a16:creationId xmlns:a16="http://schemas.microsoft.com/office/drawing/2014/main" id="{DACA525D-5E94-34A5-B97E-5DE8A6F0EB49}"/>
              </a:ext>
            </a:extLst>
          </p:cNvPr>
          <p:cNvGrpSpPr/>
          <p:nvPr/>
        </p:nvGrpSpPr>
        <p:grpSpPr>
          <a:xfrm>
            <a:off x="7677484" y="2874903"/>
            <a:ext cx="4386653" cy="2418920"/>
            <a:chOff x="7614613" y="5950488"/>
            <a:chExt cx="4386653" cy="2418920"/>
          </a:xfrm>
        </p:grpSpPr>
        <p:sp>
          <p:nvSpPr>
            <p:cNvPr id="31" name="Rectangle: Rounded Corners 30">
              <a:extLst>
                <a:ext uri="{FF2B5EF4-FFF2-40B4-BE49-F238E27FC236}">
                  <a16:creationId xmlns:a16="http://schemas.microsoft.com/office/drawing/2014/main" id="{9132404E-3F99-DB07-7068-92B6C371EAE0}"/>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▶范式 </a:t>
              </a:r>
              <a:r>
                <a:rPr lang="en-US" altLang="zh-CN" sz="1200" dirty="0">
                  <a:solidFill>
                    <a:schemeClr val="bg1"/>
                  </a:solidFill>
                  <a:latin typeface="ui-monospace"/>
                </a:rPr>
                <a:t>NF</a:t>
              </a:r>
              <a:endParaRPr lang="en-US" sz="1200" dirty="0">
                <a:solidFill>
                  <a:schemeClr val="bg1"/>
                </a:solidFill>
              </a:endParaRPr>
            </a:p>
          </p:txBody>
        </p:sp>
        <p:sp>
          <p:nvSpPr>
            <p:cNvPr id="32" name="TextBox 31">
              <a:extLst>
                <a:ext uri="{FF2B5EF4-FFF2-40B4-BE49-F238E27FC236}">
                  <a16:creationId xmlns:a16="http://schemas.microsoft.com/office/drawing/2014/main" id="{7CB0A979-39F2-9132-7DFF-42C05C53A6F0}"/>
                </a:ext>
              </a:extLst>
            </p:cNvPr>
            <p:cNvSpPr txBox="1"/>
            <p:nvPr/>
          </p:nvSpPr>
          <p:spPr>
            <a:xfrm>
              <a:off x="7667294" y="6245750"/>
              <a:ext cx="4281578" cy="2123658"/>
            </a:xfrm>
            <a:prstGeom prst="rect">
              <a:avLst/>
            </a:prstGeom>
            <a:noFill/>
          </p:spPr>
          <p:txBody>
            <a:bodyPr wrap="square">
              <a:spAutoFit/>
            </a:bodyPr>
            <a:lstStyle/>
            <a:p>
              <a:r>
                <a:rPr lang="zh-CN" altLang="en-US" sz="1200" dirty="0">
                  <a:solidFill>
                    <a:schemeClr val="accent1"/>
                  </a:solidFill>
                  <a:latin typeface="ui-monospace"/>
                </a:rPr>
                <a:t>存在问题：数据冗余</a:t>
              </a:r>
              <a:r>
                <a:rPr lang="en-US" altLang="zh-CN" sz="1200" dirty="0">
                  <a:solidFill>
                    <a:schemeClr val="accent1"/>
                  </a:solidFill>
                  <a:latin typeface="ui-monospace"/>
                </a:rPr>
                <a:t>/</a:t>
              </a:r>
              <a:r>
                <a:rPr lang="zh-CN" altLang="en-US" sz="1200" dirty="0">
                  <a:solidFill>
                    <a:schemeClr val="accent1"/>
                  </a:solidFill>
                  <a:latin typeface="ui-monospace"/>
                </a:rPr>
                <a:t>更新异常</a:t>
              </a:r>
              <a:r>
                <a:rPr lang="en-US" altLang="zh-CN" sz="1200" dirty="0">
                  <a:solidFill>
                    <a:schemeClr val="accent1"/>
                  </a:solidFill>
                  <a:latin typeface="ui-monospace"/>
                </a:rPr>
                <a:t>/</a:t>
              </a:r>
              <a:r>
                <a:rPr lang="zh-CN" altLang="en-US" sz="1200" dirty="0">
                  <a:solidFill>
                    <a:schemeClr val="accent1"/>
                  </a:solidFill>
                  <a:latin typeface="ui-monospace"/>
                </a:rPr>
                <a:t>插入删除异常</a:t>
              </a:r>
              <a:endParaRPr lang="en-US" altLang="zh-CN" sz="1200" dirty="0">
                <a:solidFill>
                  <a:schemeClr val="accent1"/>
                </a:solidFill>
                <a:latin typeface="ui-monospace"/>
              </a:endParaRPr>
            </a:p>
            <a:p>
              <a:r>
                <a:rPr lang="zh-CN" altLang="en-US" sz="1200" dirty="0">
                  <a:solidFill>
                    <a:schemeClr val="accent1"/>
                  </a:solidFill>
                  <a:latin typeface="ui-monospace"/>
                </a:rPr>
                <a:t>第一范式：</a:t>
              </a:r>
              <a:r>
                <a:rPr lang="en-US" altLang="zh-CN" sz="1200" dirty="0">
                  <a:solidFill>
                    <a:schemeClr val="accent1"/>
                  </a:solidFill>
                  <a:latin typeface="ui-monospace"/>
                </a:rPr>
                <a:t>R</a:t>
              </a:r>
              <a:r>
                <a:rPr lang="zh-CN" altLang="en-US" sz="1200" dirty="0">
                  <a:solidFill>
                    <a:schemeClr val="accent1"/>
                  </a:solidFill>
                  <a:latin typeface="ui-monospace"/>
                </a:rPr>
                <a:t>的每个属性</a:t>
              </a:r>
              <a:r>
                <a:rPr lang="en-US" altLang="zh-CN" sz="1200" dirty="0">
                  <a:solidFill>
                    <a:schemeClr val="accent1"/>
                  </a:solidFill>
                  <a:latin typeface="ui-monospace"/>
                </a:rPr>
                <a:t>A</a:t>
              </a:r>
              <a:r>
                <a:rPr lang="zh-CN" altLang="en-US" sz="1200" dirty="0">
                  <a:solidFill>
                    <a:schemeClr val="accent1"/>
                  </a:solidFill>
                  <a:latin typeface="ui-monospace"/>
                </a:rPr>
                <a:t>的值域只包含原子项</a:t>
              </a:r>
              <a:endParaRPr lang="en-US" altLang="zh-CN" sz="1200" dirty="0">
                <a:solidFill>
                  <a:schemeClr val="accent1"/>
                </a:solidFill>
                <a:latin typeface="ui-monospace"/>
              </a:endParaRPr>
            </a:p>
            <a:p>
              <a:r>
                <a:rPr lang="zh-CN" altLang="en-US" sz="1200" dirty="0">
                  <a:solidFill>
                    <a:schemeClr val="accent1"/>
                  </a:solidFill>
                  <a:latin typeface="ui-monospace"/>
                </a:rPr>
                <a:t>第二范式：且每个非主属性都</a:t>
              </a:r>
              <a:r>
                <a:rPr lang="zh-CN" altLang="en-US" sz="1200" b="1" dirty="0">
                  <a:solidFill>
                    <a:schemeClr val="accent1"/>
                  </a:solidFill>
                  <a:latin typeface="ui-monospace"/>
                </a:rPr>
                <a:t>完全函数依赖</a:t>
              </a:r>
              <a:r>
                <a:rPr lang="zh-CN" altLang="en-US" sz="1200" dirty="0">
                  <a:solidFill>
                    <a:schemeClr val="accent1"/>
                  </a:solidFill>
                  <a:latin typeface="ui-monospace"/>
                </a:rPr>
                <a:t>于候选码</a:t>
              </a:r>
              <a:endParaRPr lang="en-US" altLang="zh-CN" sz="1200" dirty="0">
                <a:solidFill>
                  <a:schemeClr val="accent1"/>
                </a:solidFill>
                <a:latin typeface="ui-monospace"/>
              </a:endParaRPr>
            </a:p>
            <a:p>
              <a:r>
                <a:rPr lang="zh-CN" altLang="en-US" sz="1200" dirty="0">
                  <a:solidFill>
                    <a:schemeClr val="accent1"/>
                  </a:solidFill>
                  <a:latin typeface="ui-monospace"/>
                </a:rPr>
                <a:t>第三范式：且</a:t>
              </a:r>
              <a:r>
                <a:rPr lang="zh-CN" altLang="en-US" sz="1200" b="1" dirty="0">
                  <a:solidFill>
                    <a:schemeClr val="accent1"/>
                  </a:solidFill>
                  <a:latin typeface="ui-monospace"/>
                </a:rPr>
                <a:t>不存在</a:t>
              </a:r>
              <a:r>
                <a:rPr lang="zh-CN" altLang="en-US" sz="1200" dirty="0">
                  <a:solidFill>
                    <a:schemeClr val="accent1"/>
                  </a:solidFill>
                  <a:latin typeface="ui-monospace"/>
                </a:rPr>
                <a:t>非主属性对候选码的</a:t>
              </a:r>
              <a:r>
                <a:rPr lang="zh-CN" altLang="en-US" sz="1200" b="1" dirty="0">
                  <a:solidFill>
                    <a:schemeClr val="accent1"/>
                  </a:solidFill>
                  <a:latin typeface="ui-monospace"/>
                </a:rPr>
                <a:t>传递函数依赖</a:t>
              </a:r>
              <a:br>
                <a:rPr lang="en-US" altLang="zh-CN" sz="1200" dirty="0">
                  <a:solidFill>
                    <a:schemeClr val="accent1"/>
                  </a:solidFill>
                  <a:latin typeface="ui-monospace"/>
                </a:rPr>
              </a:br>
              <a:r>
                <a:rPr lang="en-US" altLang="zh-CN" sz="1200" dirty="0">
                  <a:solidFill>
                    <a:schemeClr val="accent1"/>
                  </a:solidFill>
                  <a:latin typeface="ui-monospace"/>
                </a:rPr>
                <a:t>BC</a:t>
              </a:r>
              <a:r>
                <a:rPr lang="zh-CN" altLang="en-US" sz="1200" dirty="0">
                  <a:solidFill>
                    <a:schemeClr val="accent1"/>
                  </a:solidFill>
                  <a:latin typeface="ui-monospace"/>
                </a:rPr>
                <a:t>范式：且</a:t>
              </a:r>
              <a:r>
                <a:rPr lang="en-US" altLang="zh-CN" sz="1200" dirty="0">
                  <a:solidFill>
                    <a:schemeClr val="accent1"/>
                  </a:solidFill>
                  <a:latin typeface="ui-monospace"/>
                </a:rPr>
                <a:t>F</a:t>
              </a:r>
              <a:r>
                <a:rPr lang="zh-CN" altLang="en-US" sz="1200" dirty="0">
                  <a:solidFill>
                    <a:schemeClr val="accent1"/>
                  </a:solidFill>
                  <a:latin typeface="ui-monospace"/>
                </a:rPr>
                <a:t>中的每个依赖的</a:t>
              </a:r>
              <a:r>
                <a:rPr lang="zh-CN" altLang="en-US" sz="1200" b="1" dirty="0">
                  <a:solidFill>
                    <a:schemeClr val="accent1"/>
                  </a:solidFill>
                  <a:latin typeface="ui-monospace"/>
                </a:rPr>
                <a:t>决定因素必定</a:t>
              </a:r>
              <a:r>
                <a:rPr lang="zh-CN" altLang="en-US" sz="1200" dirty="0">
                  <a:solidFill>
                    <a:schemeClr val="accent1"/>
                  </a:solidFill>
                  <a:latin typeface="ui-monospace"/>
                </a:rPr>
                <a:t>包含</a:t>
              </a:r>
              <a:r>
                <a:rPr lang="en-US" altLang="zh-CN" sz="1200" dirty="0">
                  <a:solidFill>
                    <a:schemeClr val="accent1"/>
                  </a:solidFill>
                  <a:latin typeface="ui-monospace"/>
                </a:rPr>
                <a:t>R</a:t>
              </a:r>
              <a:r>
                <a:rPr lang="zh-CN" altLang="en-US" sz="1200" dirty="0">
                  <a:solidFill>
                    <a:schemeClr val="accent1"/>
                  </a:solidFill>
                  <a:latin typeface="ui-monospace"/>
                </a:rPr>
                <a:t>的某个</a:t>
              </a:r>
              <a:r>
                <a:rPr lang="zh-CN" altLang="en-US" sz="1200" b="1" dirty="0">
                  <a:solidFill>
                    <a:schemeClr val="accent1"/>
                  </a:solidFill>
                  <a:latin typeface="ui-monospace"/>
                </a:rPr>
                <a:t>候选码</a:t>
              </a:r>
              <a:r>
                <a:rPr lang="zh-CN" altLang="en-US" sz="1200" dirty="0">
                  <a:solidFill>
                    <a:schemeClr val="accent1"/>
                  </a:solidFill>
                  <a:latin typeface="ui-monospace"/>
                </a:rPr>
                <a:t>，进一步消除主属性对码的部分和传递函数依赖</a:t>
              </a:r>
              <a:endParaRPr lang="en-US" altLang="zh-CN" sz="1200" dirty="0">
                <a:solidFill>
                  <a:schemeClr val="accent1"/>
                </a:solidFill>
                <a:latin typeface="ui-monospace"/>
              </a:endParaRPr>
            </a:p>
            <a:p>
              <a:r>
                <a:rPr lang="zh-CN" altLang="en-US" sz="1200" dirty="0">
                  <a:solidFill>
                    <a:schemeClr val="accent1"/>
                  </a:solidFill>
                  <a:latin typeface="ui-monospace"/>
                </a:rPr>
                <a:t>第四范式：消除非平凡且非函数依赖的</a:t>
              </a:r>
              <a:r>
                <a:rPr lang="zh-CN" altLang="en-US" sz="1200" b="1" dirty="0">
                  <a:solidFill>
                    <a:schemeClr val="accent1"/>
                  </a:solidFill>
                  <a:latin typeface="ui-monospace"/>
                </a:rPr>
                <a:t>多值依赖</a:t>
              </a:r>
              <a:endParaRPr lang="en-US" altLang="zh-CN" sz="1200" b="1" dirty="0">
                <a:solidFill>
                  <a:schemeClr val="accent1"/>
                </a:solidFill>
                <a:latin typeface="ui-monospace"/>
              </a:endParaRPr>
            </a:p>
            <a:p>
              <a:r>
                <a:rPr lang="zh-CN" altLang="en-US" sz="1200" dirty="0">
                  <a:solidFill>
                    <a:schemeClr val="accent1"/>
                  </a:solidFill>
                  <a:latin typeface="ui-monospace"/>
                </a:rPr>
                <a:t>判断</a:t>
              </a:r>
              <a:r>
                <a:rPr lang="zh-CN" altLang="en-US" sz="1200" b="1" dirty="0">
                  <a:solidFill>
                    <a:schemeClr val="accent1"/>
                  </a:solidFill>
                  <a:latin typeface="ui-monospace"/>
                </a:rPr>
                <a:t>部分函数依赖</a:t>
              </a:r>
              <a:r>
                <a:rPr lang="zh-CN" altLang="en-US" sz="1200" dirty="0">
                  <a:solidFill>
                    <a:schemeClr val="accent1"/>
                  </a:solidFill>
                  <a:latin typeface="ui-monospace"/>
                </a:rPr>
                <a:t>：看候选码的子集能否单独确定非主属性</a:t>
              </a:r>
              <a:endParaRPr lang="en-US" altLang="zh-CN" sz="1200" dirty="0">
                <a:solidFill>
                  <a:schemeClr val="accent1"/>
                </a:solidFill>
                <a:latin typeface="ui-monospace"/>
              </a:endParaRPr>
            </a:p>
            <a:p>
              <a:r>
                <a:rPr lang="zh-CN" altLang="en-US" sz="1200" dirty="0">
                  <a:solidFill>
                    <a:schemeClr val="accent1"/>
                  </a:solidFill>
                  <a:latin typeface="ui-monospace"/>
                </a:rPr>
                <a:t>判断</a:t>
              </a:r>
              <a:r>
                <a:rPr lang="zh-CN" altLang="en-US" sz="1200" b="1" dirty="0">
                  <a:solidFill>
                    <a:schemeClr val="accent1"/>
                  </a:solidFill>
                  <a:latin typeface="ui-monospace"/>
                </a:rPr>
                <a:t>传递函数依赖</a:t>
              </a:r>
              <a:r>
                <a:rPr lang="zh-CN" altLang="en-US" sz="1200" dirty="0">
                  <a:solidFill>
                    <a:schemeClr val="accent1"/>
                  </a:solidFill>
                  <a:latin typeface="ui-monospace"/>
                  <a:sym typeface="Wingdings" panose="05000000000000000000" pitchFamily="2" charset="2"/>
                </a:rPr>
                <a:t>： </a:t>
              </a:r>
              <a:r>
                <a:rPr lang="en-US" altLang="zh-CN" sz="1200" dirty="0">
                  <a:solidFill>
                    <a:schemeClr val="accent1"/>
                  </a:solidFill>
                  <a:latin typeface="ui-monospace"/>
                  <a:sym typeface="Wingdings" panose="05000000000000000000" pitchFamily="2" charset="2"/>
                </a:rPr>
                <a:t>(X,Y)-&gt;Z</a:t>
              </a:r>
              <a:r>
                <a:rPr lang="zh-CN" altLang="en-US" sz="1200" dirty="0">
                  <a:solidFill>
                    <a:schemeClr val="accent1"/>
                  </a:solidFill>
                  <a:latin typeface="ui-monospace"/>
                  <a:sym typeface="Wingdings" panose="05000000000000000000" pitchFamily="2" charset="2"/>
                </a:rPr>
                <a:t> </a:t>
              </a:r>
              <a:r>
                <a:rPr lang="en-US" altLang="zh-CN" sz="1200" dirty="0">
                  <a:solidFill>
                    <a:schemeClr val="accent1"/>
                  </a:solidFill>
                  <a:latin typeface="ui-monospace"/>
                  <a:sym typeface="Wingdings" panose="05000000000000000000" pitchFamily="2" charset="2"/>
                </a:rPr>
                <a:t>(X,Z)-&gt;W =&gt; (X,Y)-&gt;W</a:t>
              </a:r>
            </a:p>
            <a:p>
              <a:r>
                <a:rPr lang="zh-CN" altLang="en-US" sz="1200" dirty="0">
                  <a:solidFill>
                    <a:schemeClr val="accent1"/>
                  </a:solidFill>
                  <a:latin typeface="ui-monospace"/>
                </a:rPr>
                <a:t>伪传递：若</a:t>
              </a:r>
              <a:r>
                <a:rPr lang="en-US" altLang="zh-CN" sz="1200" dirty="0">
                  <a:solidFill>
                    <a:schemeClr val="accent1"/>
                  </a:solidFill>
                  <a:latin typeface="ui-monospace"/>
                </a:rPr>
                <a:t>X-&gt;Y</a:t>
              </a:r>
              <a:r>
                <a:rPr lang="zh-CN" altLang="en-US" sz="1200" dirty="0">
                  <a:solidFill>
                    <a:schemeClr val="accent1"/>
                  </a:solidFill>
                  <a:latin typeface="ui-monospace"/>
                </a:rPr>
                <a:t>，</a:t>
              </a:r>
              <a:r>
                <a:rPr lang="en-US" altLang="zh-CN" sz="1200" dirty="0">
                  <a:solidFill>
                    <a:schemeClr val="accent1"/>
                  </a:solidFill>
                  <a:latin typeface="ui-monospace"/>
                </a:rPr>
                <a:t>WY-&gt;Z</a:t>
              </a:r>
              <a:r>
                <a:rPr lang="zh-CN" altLang="en-US" sz="1200" dirty="0">
                  <a:solidFill>
                    <a:schemeClr val="accent1"/>
                  </a:solidFill>
                  <a:latin typeface="ui-monospace"/>
                </a:rPr>
                <a:t>，则</a:t>
              </a:r>
              <a:r>
                <a:rPr lang="en-US" altLang="zh-CN" sz="1200" dirty="0">
                  <a:solidFill>
                    <a:schemeClr val="accent1"/>
                  </a:solidFill>
                  <a:latin typeface="ui-monospace"/>
                </a:rPr>
                <a:t>XW-&gt;Z</a:t>
              </a:r>
              <a:endParaRPr lang="en-US" altLang="zh-CN" sz="1200" dirty="0">
                <a:solidFill>
                  <a:schemeClr val="accent1"/>
                </a:solidFill>
                <a:latin typeface="ui-monospace"/>
                <a:sym typeface="Wingdings" panose="05000000000000000000" pitchFamily="2" charset="2"/>
              </a:endParaRPr>
            </a:p>
            <a:p>
              <a:r>
                <a:rPr lang="zh-CN" altLang="en-US" sz="1200" dirty="0">
                  <a:solidFill>
                    <a:schemeClr val="accent1"/>
                  </a:solidFill>
                  <a:latin typeface="ui-monospace"/>
                </a:rPr>
                <a:t>模式分解：无损连接</a:t>
              </a:r>
              <a:r>
                <a:rPr lang="en-US" altLang="zh-CN" sz="1200" dirty="0">
                  <a:solidFill>
                    <a:schemeClr val="accent1"/>
                  </a:solidFill>
                  <a:latin typeface="ui-monospace"/>
                </a:rPr>
                <a:t>-</a:t>
              </a:r>
              <a:r>
                <a:rPr lang="zh-CN" altLang="en-US" sz="1200" dirty="0">
                  <a:solidFill>
                    <a:schemeClr val="accent1"/>
                  </a:solidFill>
                  <a:latin typeface="ui-monospace"/>
                </a:rPr>
                <a:t>可自然连接恢复</a:t>
              </a:r>
              <a:r>
                <a:rPr lang="en-US" altLang="zh-CN" sz="1200" dirty="0">
                  <a:solidFill>
                    <a:schemeClr val="accent1"/>
                  </a:solidFill>
                  <a:latin typeface="ui-monospace"/>
                </a:rPr>
                <a:t>/</a:t>
              </a:r>
              <a:r>
                <a:rPr lang="zh-CN" altLang="en-US" sz="1200" dirty="0">
                  <a:solidFill>
                    <a:schemeClr val="accent1"/>
                  </a:solidFill>
                  <a:latin typeface="ui-monospace"/>
                </a:rPr>
                <a:t>保持函数依赖</a:t>
              </a:r>
              <a:endParaRPr lang="en-US" altLang="zh-CN" sz="1200" dirty="0">
                <a:solidFill>
                  <a:schemeClr val="accent1"/>
                </a:solidFill>
                <a:latin typeface="ui-monospace"/>
              </a:endParaRPr>
            </a:p>
          </p:txBody>
        </p:sp>
      </p:grpSp>
      <p:grpSp>
        <p:nvGrpSpPr>
          <p:cNvPr id="33" name="Group 32">
            <a:extLst>
              <a:ext uri="{FF2B5EF4-FFF2-40B4-BE49-F238E27FC236}">
                <a16:creationId xmlns:a16="http://schemas.microsoft.com/office/drawing/2014/main" id="{6BEA498D-CD90-2411-CC33-DEAEB255B675}"/>
              </a:ext>
            </a:extLst>
          </p:cNvPr>
          <p:cNvGrpSpPr/>
          <p:nvPr/>
        </p:nvGrpSpPr>
        <p:grpSpPr>
          <a:xfrm>
            <a:off x="7677484" y="5295142"/>
            <a:ext cx="4386653" cy="1310925"/>
            <a:chOff x="7614613" y="5950488"/>
            <a:chExt cx="4386653" cy="1310925"/>
          </a:xfrm>
        </p:grpSpPr>
        <p:sp>
          <p:nvSpPr>
            <p:cNvPr id="34" name="Rectangle: Rounded Corners 33">
              <a:extLst>
                <a:ext uri="{FF2B5EF4-FFF2-40B4-BE49-F238E27FC236}">
                  <a16:creationId xmlns:a16="http://schemas.microsoft.com/office/drawing/2014/main" id="{E465B4D9-740F-529B-774D-3E295813E090}"/>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▶数据库设计</a:t>
              </a:r>
              <a:endParaRPr lang="en-US" sz="1200" dirty="0">
                <a:solidFill>
                  <a:schemeClr val="bg1"/>
                </a:solidFill>
              </a:endParaRPr>
            </a:p>
          </p:txBody>
        </p:sp>
        <p:sp>
          <p:nvSpPr>
            <p:cNvPr id="35" name="TextBox 34">
              <a:extLst>
                <a:ext uri="{FF2B5EF4-FFF2-40B4-BE49-F238E27FC236}">
                  <a16:creationId xmlns:a16="http://schemas.microsoft.com/office/drawing/2014/main" id="{D0DD2925-2FF5-E676-C3CE-456984E337C0}"/>
                </a:ext>
              </a:extLst>
            </p:cNvPr>
            <p:cNvSpPr txBox="1"/>
            <p:nvPr/>
          </p:nvSpPr>
          <p:spPr>
            <a:xfrm>
              <a:off x="7667294" y="6245750"/>
              <a:ext cx="4281578" cy="1015663"/>
            </a:xfrm>
            <a:prstGeom prst="rect">
              <a:avLst/>
            </a:prstGeom>
            <a:noFill/>
          </p:spPr>
          <p:txBody>
            <a:bodyPr wrap="square">
              <a:spAutoFit/>
            </a:bodyPr>
            <a:lstStyle/>
            <a:p>
              <a:r>
                <a:rPr lang="zh-CN" altLang="en-US" sz="1200" dirty="0">
                  <a:solidFill>
                    <a:schemeClr val="accent1"/>
                  </a:solidFill>
                  <a:latin typeface="ui-monospace"/>
                </a:rPr>
                <a:t>用户需求分析：</a:t>
              </a:r>
              <a:r>
                <a:rPr lang="zh-CN" altLang="en-US" sz="1200" b="1" dirty="0">
                  <a:solidFill>
                    <a:schemeClr val="accent1"/>
                  </a:solidFill>
                  <a:latin typeface="ui-monospace"/>
                </a:rPr>
                <a:t>确定系统边界</a:t>
              </a:r>
              <a:endParaRPr lang="en-US" altLang="zh-CN" sz="1200" b="1" dirty="0">
                <a:solidFill>
                  <a:schemeClr val="accent1"/>
                </a:solidFill>
                <a:latin typeface="ui-monospace"/>
              </a:endParaRPr>
            </a:p>
            <a:p>
              <a:r>
                <a:rPr lang="zh-CN" altLang="en-US" sz="1200" dirty="0">
                  <a:solidFill>
                    <a:schemeClr val="accent1"/>
                  </a:solidFill>
                  <a:latin typeface="ui-monospace"/>
                </a:rPr>
                <a:t>需求说明文档</a:t>
              </a:r>
              <a:r>
                <a:rPr lang="en-US" altLang="zh-CN" sz="1200" dirty="0">
                  <a:solidFill>
                    <a:schemeClr val="accent1"/>
                  </a:solidFill>
                  <a:latin typeface="ui-monospace"/>
                </a:rPr>
                <a:t>/</a:t>
              </a:r>
              <a:r>
                <a:rPr lang="zh-CN" altLang="en-US" sz="1200" dirty="0">
                  <a:solidFill>
                    <a:schemeClr val="accent1"/>
                  </a:solidFill>
                  <a:latin typeface="ui-monospace"/>
                </a:rPr>
                <a:t>功能模块图</a:t>
              </a:r>
              <a:r>
                <a:rPr lang="en-US" altLang="zh-CN" sz="1200" dirty="0">
                  <a:solidFill>
                    <a:schemeClr val="accent1"/>
                  </a:solidFill>
                  <a:latin typeface="ui-monospace"/>
                </a:rPr>
                <a:t>/</a:t>
              </a:r>
              <a:r>
                <a:rPr lang="zh-CN" altLang="en-US" sz="1200" b="1" dirty="0">
                  <a:solidFill>
                    <a:schemeClr val="accent1"/>
                  </a:solidFill>
                  <a:latin typeface="ui-monospace"/>
                </a:rPr>
                <a:t>数据字典</a:t>
              </a:r>
              <a:r>
                <a:rPr lang="en-US" altLang="zh-CN" sz="1200" dirty="0">
                  <a:solidFill>
                    <a:schemeClr val="accent1"/>
                  </a:solidFill>
                  <a:latin typeface="ui-monospace"/>
                </a:rPr>
                <a:t>/</a:t>
              </a:r>
              <a:r>
                <a:rPr lang="zh-CN" altLang="en-US" sz="1200" dirty="0">
                  <a:solidFill>
                    <a:schemeClr val="accent1"/>
                  </a:solidFill>
                  <a:latin typeface="ui-monospace"/>
                </a:rPr>
                <a:t>数据流程图</a:t>
              </a:r>
              <a:r>
                <a:rPr lang="en-US" altLang="zh-CN" sz="1200" dirty="0">
                  <a:solidFill>
                    <a:schemeClr val="accent1"/>
                  </a:solidFill>
                  <a:latin typeface="ui-monospace"/>
                </a:rPr>
                <a:t>DFD</a:t>
              </a:r>
            </a:p>
            <a:p>
              <a:r>
                <a:rPr lang="zh-CN" altLang="en-US" sz="1200" dirty="0">
                  <a:solidFill>
                    <a:schemeClr val="accent1"/>
                  </a:solidFill>
                  <a:latin typeface="ui-monospace"/>
                </a:rPr>
                <a:t>概念模型设计：局部合并取消冲突</a:t>
              </a:r>
              <a:r>
                <a:rPr lang="en-US" altLang="zh-CN" sz="1200" dirty="0">
                  <a:solidFill>
                    <a:schemeClr val="accent1"/>
                  </a:solidFill>
                  <a:latin typeface="ui-monospace"/>
                </a:rPr>
                <a:t>(</a:t>
              </a:r>
              <a:r>
                <a:rPr lang="zh-CN" altLang="en-US" sz="1200" b="1" dirty="0">
                  <a:solidFill>
                    <a:schemeClr val="accent1"/>
                  </a:solidFill>
                  <a:latin typeface="ui-monospace"/>
                </a:rPr>
                <a:t>属性</a:t>
              </a:r>
              <a:r>
                <a:rPr lang="en-US" altLang="zh-CN" sz="1200" b="1" dirty="0">
                  <a:solidFill>
                    <a:schemeClr val="accent1"/>
                  </a:solidFill>
                  <a:latin typeface="ui-monospace"/>
                </a:rPr>
                <a:t>/</a:t>
              </a:r>
              <a:r>
                <a:rPr lang="zh-CN" altLang="en-US" sz="1200" b="1" dirty="0">
                  <a:solidFill>
                    <a:schemeClr val="accent1"/>
                  </a:solidFill>
                  <a:latin typeface="ui-monospace"/>
                </a:rPr>
                <a:t>命名</a:t>
              </a:r>
              <a:r>
                <a:rPr lang="en-US" altLang="zh-CN" sz="1200" b="1" dirty="0">
                  <a:solidFill>
                    <a:schemeClr val="accent1"/>
                  </a:solidFill>
                  <a:latin typeface="ui-monospace"/>
                </a:rPr>
                <a:t>/</a:t>
              </a:r>
              <a:r>
                <a:rPr lang="zh-CN" altLang="en-US" sz="1200" b="1" dirty="0">
                  <a:solidFill>
                    <a:schemeClr val="accent1"/>
                  </a:solidFill>
                  <a:latin typeface="ui-monospace"/>
                </a:rPr>
                <a:t>结构</a:t>
              </a:r>
              <a:r>
                <a:rPr lang="en-US" altLang="zh-CN" sz="1200" dirty="0">
                  <a:solidFill>
                    <a:schemeClr val="accent1"/>
                  </a:solidFill>
                  <a:latin typeface="ui-monospace"/>
                </a:rPr>
                <a:t>)-</a:t>
              </a:r>
              <a:r>
                <a:rPr lang="zh-CN" altLang="en-US" sz="1200" dirty="0">
                  <a:solidFill>
                    <a:schemeClr val="accent1"/>
                  </a:solidFill>
                  <a:latin typeface="ui-monospace"/>
                </a:rPr>
                <a:t>基本</a:t>
              </a:r>
              <a:r>
                <a:rPr lang="en-US" altLang="zh-CN" sz="1200" b="1" dirty="0">
                  <a:solidFill>
                    <a:schemeClr val="accent1"/>
                  </a:solidFill>
                  <a:latin typeface="ui-monospace"/>
                </a:rPr>
                <a:t>ER</a:t>
              </a:r>
              <a:r>
                <a:rPr lang="zh-CN" altLang="en-US" sz="1200" b="1" dirty="0">
                  <a:solidFill>
                    <a:schemeClr val="accent1"/>
                  </a:solidFill>
                  <a:latin typeface="ui-monospace"/>
                </a:rPr>
                <a:t>图</a:t>
              </a:r>
              <a:endParaRPr lang="en-US" altLang="zh-CN" sz="1200" b="1" dirty="0">
                <a:solidFill>
                  <a:schemeClr val="accent1"/>
                </a:solidFill>
                <a:latin typeface="ui-monospace"/>
              </a:endParaRPr>
            </a:p>
            <a:p>
              <a:r>
                <a:rPr lang="zh-CN" altLang="en-US" sz="1200" dirty="0">
                  <a:solidFill>
                    <a:schemeClr val="accent1"/>
                  </a:solidFill>
                  <a:latin typeface="ui-monospace"/>
                </a:rPr>
                <a:t>逻辑设计：转</a:t>
              </a:r>
              <a:r>
                <a:rPr lang="zh-CN" altLang="en-US" sz="1200" b="1" dirty="0">
                  <a:solidFill>
                    <a:schemeClr val="accent1"/>
                  </a:solidFill>
                  <a:latin typeface="ui-monospace"/>
                </a:rPr>
                <a:t>关系模式</a:t>
              </a:r>
              <a:r>
                <a:rPr lang="en-US" altLang="zh-CN" sz="1200" dirty="0">
                  <a:solidFill>
                    <a:schemeClr val="accent1"/>
                  </a:solidFill>
                  <a:latin typeface="ui-monospace"/>
                </a:rPr>
                <a:t>+</a:t>
              </a:r>
              <a:r>
                <a:rPr lang="zh-CN" altLang="en-US" sz="1200" b="1" dirty="0">
                  <a:solidFill>
                    <a:schemeClr val="accent1"/>
                  </a:solidFill>
                  <a:latin typeface="ui-monospace"/>
                </a:rPr>
                <a:t>规范化</a:t>
              </a:r>
              <a:r>
                <a:rPr lang="en-US" altLang="zh-CN" sz="1200" dirty="0">
                  <a:solidFill>
                    <a:schemeClr val="accent1"/>
                  </a:solidFill>
                  <a:latin typeface="ui-monospace"/>
                </a:rPr>
                <a:t>+</a:t>
              </a:r>
              <a:r>
                <a:rPr lang="zh-CN" altLang="en-US" sz="1200" dirty="0">
                  <a:solidFill>
                    <a:schemeClr val="accent1"/>
                  </a:solidFill>
                  <a:latin typeface="ui-monospace"/>
                </a:rPr>
                <a:t>确定完整性约束</a:t>
              </a:r>
              <a:r>
                <a:rPr lang="en-US" altLang="zh-CN" sz="1200" dirty="0">
                  <a:solidFill>
                    <a:schemeClr val="accent1"/>
                  </a:solidFill>
                  <a:latin typeface="ui-monospace"/>
                </a:rPr>
                <a:t>+</a:t>
              </a:r>
              <a:r>
                <a:rPr lang="zh-CN" altLang="en-US" sz="1200" dirty="0">
                  <a:solidFill>
                    <a:schemeClr val="accent1"/>
                  </a:solidFill>
                  <a:latin typeface="ui-monospace"/>
                </a:rPr>
                <a:t>视图</a:t>
              </a:r>
              <a:endParaRPr lang="en-US" altLang="zh-CN" sz="1200" dirty="0">
                <a:solidFill>
                  <a:schemeClr val="accent1"/>
                </a:solidFill>
                <a:latin typeface="ui-monospace"/>
              </a:endParaRPr>
            </a:p>
            <a:p>
              <a:r>
                <a:rPr lang="zh-CN" altLang="en-US" sz="1200" dirty="0">
                  <a:solidFill>
                    <a:schemeClr val="accent1"/>
                  </a:solidFill>
                  <a:latin typeface="ui-monospace"/>
                </a:rPr>
                <a:t>物理设计：</a:t>
              </a:r>
              <a:endParaRPr lang="en-US" altLang="zh-CN" sz="1200" dirty="0">
                <a:solidFill>
                  <a:schemeClr val="accent1"/>
                </a:solidFill>
                <a:latin typeface="ui-monospace"/>
              </a:endParaRPr>
            </a:p>
          </p:txBody>
        </p:sp>
      </p:grpSp>
    </p:spTree>
    <p:extLst>
      <p:ext uri="{BB962C8B-B14F-4D97-AF65-F5344CB8AC3E}">
        <p14:creationId xmlns:p14="http://schemas.microsoft.com/office/powerpoint/2010/main" val="1445505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CA83C5-434B-C2BB-C03E-FEA77C2BBB11}"/>
              </a:ext>
            </a:extLst>
          </p:cNvPr>
          <p:cNvSpPr txBox="1"/>
          <p:nvPr/>
        </p:nvSpPr>
        <p:spPr>
          <a:xfrm>
            <a:off x="0" y="959472"/>
            <a:ext cx="2986206" cy="267765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数据库</a:t>
            </a:r>
            <a:r>
              <a:rPr lang="en-US" altLang="zh-CN" sz="1200" b="1"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F6E8EA44-BACD-2DF7-D1BB-48B659756CE3}"/>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A7CFB97A-E7E7-BB6E-4BA9-8E7CB22DC8F7}"/>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1" name="Group 10">
            <a:extLst>
              <a:ext uri="{FF2B5EF4-FFF2-40B4-BE49-F238E27FC236}">
                <a16:creationId xmlns:a16="http://schemas.microsoft.com/office/drawing/2014/main" id="{98BD0C93-DD89-25A7-1553-E3F85FE0D7B8}"/>
              </a:ext>
            </a:extLst>
          </p:cNvPr>
          <p:cNvGrpSpPr/>
          <p:nvPr/>
        </p:nvGrpSpPr>
        <p:grpSpPr>
          <a:xfrm>
            <a:off x="3119859" y="1207128"/>
            <a:ext cx="4386653" cy="941593"/>
            <a:chOff x="7614613" y="5950488"/>
            <a:chExt cx="4386653" cy="941593"/>
          </a:xfrm>
        </p:grpSpPr>
        <p:sp>
          <p:nvSpPr>
            <p:cNvPr id="12" name="Rectangle: Rounded Corners 11">
              <a:extLst>
                <a:ext uri="{FF2B5EF4-FFF2-40B4-BE49-F238E27FC236}">
                  <a16:creationId xmlns:a16="http://schemas.microsoft.com/office/drawing/2014/main" id="{01574168-1441-BE9C-0656-1623F1FA4E3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▶事务</a:t>
              </a:r>
              <a:endParaRPr lang="en-US" sz="1200" dirty="0">
                <a:solidFill>
                  <a:schemeClr val="bg1"/>
                </a:solidFill>
              </a:endParaRPr>
            </a:p>
          </p:txBody>
        </p:sp>
        <p:sp>
          <p:nvSpPr>
            <p:cNvPr id="13" name="TextBox 12">
              <a:extLst>
                <a:ext uri="{FF2B5EF4-FFF2-40B4-BE49-F238E27FC236}">
                  <a16:creationId xmlns:a16="http://schemas.microsoft.com/office/drawing/2014/main" id="{99A4E7D9-2F45-730B-49F2-2D0574D0A953}"/>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事务：原子性</a:t>
              </a:r>
              <a:r>
                <a:rPr lang="en-US" altLang="zh-CN" sz="1200" dirty="0">
                  <a:solidFill>
                    <a:schemeClr val="accent1"/>
                  </a:solidFill>
                  <a:latin typeface="ui-monospace"/>
                </a:rPr>
                <a:t>/</a:t>
              </a:r>
              <a:r>
                <a:rPr lang="zh-CN" altLang="en-US" sz="1200" dirty="0">
                  <a:solidFill>
                    <a:schemeClr val="accent1"/>
                  </a:solidFill>
                  <a:latin typeface="ui-monospace"/>
                </a:rPr>
                <a:t>一致性</a:t>
              </a:r>
              <a:r>
                <a:rPr lang="en-US" altLang="zh-CN" sz="1200" dirty="0">
                  <a:solidFill>
                    <a:schemeClr val="accent1"/>
                  </a:solidFill>
                  <a:latin typeface="ui-monospace"/>
                </a:rPr>
                <a:t>/</a:t>
              </a:r>
              <a:r>
                <a:rPr lang="zh-CN" altLang="en-US" sz="1200" dirty="0">
                  <a:solidFill>
                    <a:schemeClr val="accent1"/>
                  </a:solidFill>
                  <a:latin typeface="ui-monospace"/>
                </a:rPr>
                <a:t>隔离性</a:t>
              </a:r>
              <a:r>
                <a:rPr lang="en-US" altLang="zh-CN" sz="1200" dirty="0">
                  <a:solidFill>
                    <a:schemeClr val="accent1"/>
                  </a:solidFill>
                  <a:latin typeface="ui-monospace"/>
                </a:rPr>
                <a:t>(</a:t>
              </a:r>
              <a:r>
                <a:rPr lang="zh-CN" altLang="en-US" sz="1200" dirty="0">
                  <a:solidFill>
                    <a:schemeClr val="accent1"/>
                  </a:solidFill>
                  <a:latin typeface="ui-monospace"/>
                </a:rPr>
                <a:t>读未提交、读已提交、可重复读、串行</a:t>
              </a:r>
              <a:r>
                <a:rPr lang="en-US" altLang="zh-CN" sz="1200" dirty="0">
                  <a:solidFill>
                    <a:schemeClr val="accent1"/>
                  </a:solidFill>
                  <a:latin typeface="ui-monospace"/>
                </a:rPr>
                <a:t>)/</a:t>
              </a:r>
              <a:r>
                <a:rPr lang="zh-CN" altLang="en-US" sz="1200" dirty="0">
                  <a:solidFill>
                    <a:schemeClr val="accent1"/>
                  </a:solidFill>
                  <a:latin typeface="ui-monospace"/>
                </a:rPr>
                <a:t>持久性</a:t>
              </a:r>
              <a:endParaRPr lang="en-US" altLang="zh-CN" sz="1200" dirty="0">
                <a:solidFill>
                  <a:schemeClr val="accent1"/>
                </a:solidFill>
                <a:latin typeface="ui-monospace"/>
              </a:endParaRPr>
            </a:p>
            <a:p>
              <a:r>
                <a:rPr lang="zh-CN" altLang="en-US" sz="1200" dirty="0">
                  <a:solidFill>
                    <a:schemeClr val="accent1"/>
                  </a:solidFill>
                  <a:latin typeface="ui-monospace"/>
                </a:rPr>
                <a:t>处理：故障</a:t>
              </a:r>
              <a:r>
                <a:rPr lang="en-US" altLang="zh-CN" sz="1200" dirty="0">
                  <a:solidFill>
                    <a:schemeClr val="accent1"/>
                  </a:solidFill>
                  <a:latin typeface="ui-monospace"/>
                </a:rPr>
                <a:t>/</a:t>
              </a:r>
              <a:r>
                <a:rPr lang="zh-CN" altLang="en-US" sz="1200" dirty="0">
                  <a:solidFill>
                    <a:schemeClr val="accent1"/>
                  </a:solidFill>
                  <a:latin typeface="ui-monospace"/>
                </a:rPr>
                <a:t>备份</a:t>
              </a:r>
              <a:r>
                <a:rPr lang="en-US" altLang="zh-CN" sz="1200" dirty="0">
                  <a:solidFill>
                    <a:schemeClr val="accent1"/>
                  </a:solidFill>
                  <a:latin typeface="ui-monospace"/>
                </a:rPr>
                <a:t>(</a:t>
              </a:r>
              <a:r>
                <a:rPr lang="zh-CN" altLang="en-US" sz="1200" dirty="0">
                  <a:solidFill>
                    <a:schemeClr val="accent1"/>
                  </a:solidFill>
                  <a:latin typeface="ui-monospace"/>
                </a:rPr>
                <a:t>转储</a:t>
              </a:r>
              <a:r>
                <a:rPr lang="en-US" altLang="zh-CN" sz="1200" dirty="0">
                  <a:solidFill>
                    <a:schemeClr val="accent1"/>
                  </a:solidFill>
                  <a:latin typeface="ui-monospace"/>
                </a:rPr>
                <a:t>/</a:t>
              </a:r>
              <a:r>
                <a:rPr lang="zh-CN" altLang="en-US" sz="1200" dirty="0">
                  <a:solidFill>
                    <a:schemeClr val="accent1"/>
                  </a:solidFill>
                  <a:latin typeface="ui-monospace"/>
                </a:rPr>
                <a:t>增量</a:t>
              </a:r>
              <a:r>
                <a:rPr lang="en-US" altLang="zh-CN" sz="1200" dirty="0">
                  <a:solidFill>
                    <a:schemeClr val="accent1"/>
                  </a:solidFill>
                  <a:latin typeface="ui-monospace"/>
                </a:rPr>
                <a:t>/</a:t>
              </a:r>
              <a:r>
                <a:rPr lang="zh-CN" altLang="en-US" sz="1200" dirty="0">
                  <a:solidFill>
                    <a:schemeClr val="accent1"/>
                  </a:solidFill>
                  <a:latin typeface="ui-monospace"/>
                </a:rPr>
                <a:t>更新日志文件</a:t>
              </a:r>
              <a:r>
                <a:rPr lang="en-US" altLang="zh-CN" sz="1200" dirty="0">
                  <a:solidFill>
                    <a:schemeClr val="accent1"/>
                  </a:solidFill>
                  <a:latin typeface="ui-monospace"/>
                </a:rPr>
                <a:t>)/</a:t>
              </a:r>
              <a:r>
                <a:rPr lang="zh-CN" altLang="en-US" sz="1200" dirty="0">
                  <a:solidFill>
                    <a:schemeClr val="accent1"/>
                  </a:solidFill>
                  <a:latin typeface="ui-monospace"/>
                </a:rPr>
                <a:t>恢复</a:t>
              </a:r>
              <a:r>
                <a:rPr lang="en-US" altLang="zh-CN" sz="1200" dirty="0">
                  <a:solidFill>
                    <a:schemeClr val="accent1"/>
                  </a:solidFill>
                  <a:latin typeface="ui-monospace"/>
                </a:rPr>
                <a:t>/</a:t>
              </a:r>
              <a:r>
                <a:rPr lang="zh-CN" altLang="en-US" sz="1200" dirty="0">
                  <a:solidFill>
                    <a:schemeClr val="accent1"/>
                  </a:solidFill>
                  <a:latin typeface="ui-monospace"/>
                </a:rPr>
                <a:t>镜像</a:t>
              </a:r>
              <a:endParaRPr lang="en-US" altLang="zh-CN" sz="1200" dirty="0">
                <a:solidFill>
                  <a:schemeClr val="accent1"/>
                </a:solidFill>
                <a:latin typeface="ui-monospace"/>
              </a:endParaRPr>
            </a:p>
          </p:txBody>
        </p:sp>
      </p:grpSp>
      <p:grpSp>
        <p:nvGrpSpPr>
          <p:cNvPr id="14" name="Group 13">
            <a:extLst>
              <a:ext uri="{FF2B5EF4-FFF2-40B4-BE49-F238E27FC236}">
                <a16:creationId xmlns:a16="http://schemas.microsoft.com/office/drawing/2014/main" id="{E3AC4F0F-DD6A-D7A4-6680-C9E97FF0A7E7}"/>
              </a:ext>
            </a:extLst>
          </p:cNvPr>
          <p:cNvGrpSpPr/>
          <p:nvPr/>
        </p:nvGrpSpPr>
        <p:grpSpPr>
          <a:xfrm>
            <a:off x="7677484" y="43793"/>
            <a:ext cx="4386653" cy="572261"/>
            <a:chOff x="7614613" y="5950488"/>
            <a:chExt cx="4386653" cy="572261"/>
          </a:xfrm>
        </p:grpSpPr>
        <p:sp>
          <p:nvSpPr>
            <p:cNvPr id="15" name="Rectangle: Rounded Corners 14">
              <a:extLst>
                <a:ext uri="{FF2B5EF4-FFF2-40B4-BE49-F238E27FC236}">
                  <a16:creationId xmlns:a16="http://schemas.microsoft.com/office/drawing/2014/main" id="{9C4302F1-7473-4B56-7044-3CF8C365B7E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a:t>
              </a:r>
              <a:endParaRPr lang="en-US" sz="1200" dirty="0">
                <a:solidFill>
                  <a:schemeClr val="bg1"/>
                </a:solidFill>
              </a:endParaRPr>
            </a:p>
          </p:txBody>
        </p:sp>
        <p:sp>
          <p:nvSpPr>
            <p:cNvPr id="16" name="TextBox 15">
              <a:extLst>
                <a:ext uri="{FF2B5EF4-FFF2-40B4-BE49-F238E27FC236}">
                  <a16:creationId xmlns:a16="http://schemas.microsoft.com/office/drawing/2014/main" id="{2DAD6CB6-87B1-CACC-02BD-BB7DF5E60261}"/>
                </a:ext>
              </a:extLst>
            </p:cNvPr>
            <p:cNvSpPr txBox="1"/>
            <p:nvPr/>
          </p:nvSpPr>
          <p:spPr>
            <a:xfrm>
              <a:off x="7667294" y="6245750"/>
              <a:ext cx="4281578" cy="276999"/>
            </a:xfrm>
            <a:prstGeom prst="rect">
              <a:avLst/>
            </a:prstGeom>
            <a:noFill/>
          </p:spPr>
          <p:txBody>
            <a:bodyPr wrap="square">
              <a:spAutoFit/>
            </a:bodyPr>
            <a:lstStyle/>
            <a:p>
              <a:endParaRPr lang="en-US" altLang="zh-CN" sz="1200" dirty="0">
                <a:solidFill>
                  <a:schemeClr val="accent1"/>
                </a:solidFill>
                <a:latin typeface="ui-monospace"/>
              </a:endParaRPr>
            </a:p>
          </p:txBody>
        </p:sp>
      </p:grpSp>
      <p:grpSp>
        <p:nvGrpSpPr>
          <p:cNvPr id="17" name="Group 16">
            <a:extLst>
              <a:ext uri="{FF2B5EF4-FFF2-40B4-BE49-F238E27FC236}">
                <a16:creationId xmlns:a16="http://schemas.microsoft.com/office/drawing/2014/main" id="{D3D2745A-1975-46E3-F261-68EE18397151}"/>
              </a:ext>
            </a:extLst>
          </p:cNvPr>
          <p:cNvGrpSpPr/>
          <p:nvPr/>
        </p:nvGrpSpPr>
        <p:grpSpPr>
          <a:xfrm>
            <a:off x="3097889" y="2126005"/>
            <a:ext cx="4386653" cy="756927"/>
            <a:chOff x="7614613" y="5950488"/>
            <a:chExt cx="4386653" cy="756927"/>
          </a:xfrm>
        </p:grpSpPr>
        <p:sp>
          <p:nvSpPr>
            <p:cNvPr id="18" name="Rectangle: Rounded Corners 17">
              <a:extLst>
                <a:ext uri="{FF2B5EF4-FFF2-40B4-BE49-F238E27FC236}">
                  <a16:creationId xmlns:a16="http://schemas.microsoft.com/office/drawing/2014/main" id="{E4EFFBB9-1985-5FDF-C72E-091C42133C0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▶并发控制</a:t>
              </a:r>
              <a:endParaRPr lang="en-US" sz="1200" dirty="0">
                <a:solidFill>
                  <a:schemeClr val="bg1"/>
                </a:solidFill>
              </a:endParaRPr>
            </a:p>
          </p:txBody>
        </p:sp>
        <p:sp>
          <p:nvSpPr>
            <p:cNvPr id="19" name="TextBox 18">
              <a:extLst>
                <a:ext uri="{FF2B5EF4-FFF2-40B4-BE49-F238E27FC236}">
                  <a16:creationId xmlns:a16="http://schemas.microsoft.com/office/drawing/2014/main" id="{253A576D-EDB8-3748-E03B-C331505FDDA5}"/>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并发操作：丢失更新</a:t>
              </a:r>
              <a:r>
                <a:rPr lang="en-US" altLang="zh-CN" sz="1200" dirty="0">
                  <a:solidFill>
                    <a:schemeClr val="accent1"/>
                  </a:solidFill>
                  <a:latin typeface="ui-monospace"/>
                </a:rPr>
                <a:t>/</a:t>
              </a:r>
              <a:r>
                <a:rPr lang="zh-CN" altLang="en-US" sz="1200" dirty="0">
                  <a:solidFill>
                    <a:schemeClr val="accent1"/>
                  </a:solidFill>
                  <a:latin typeface="ui-monospace"/>
                </a:rPr>
                <a:t>不可重复读</a:t>
              </a:r>
              <a:r>
                <a:rPr lang="en-US" altLang="zh-CN" sz="1200" dirty="0">
                  <a:solidFill>
                    <a:schemeClr val="accent1"/>
                  </a:solidFill>
                  <a:latin typeface="ui-monospace"/>
                </a:rPr>
                <a:t>/</a:t>
              </a:r>
              <a:r>
                <a:rPr lang="zh-CN" altLang="en-US" sz="1200" dirty="0">
                  <a:solidFill>
                    <a:schemeClr val="accent1"/>
                  </a:solidFill>
                  <a:latin typeface="ui-monospace"/>
                </a:rPr>
                <a:t>读脏数据</a:t>
              </a:r>
              <a:endParaRPr lang="en-US" altLang="zh-CN" sz="1200" dirty="0">
                <a:solidFill>
                  <a:schemeClr val="accent1"/>
                </a:solidFill>
                <a:latin typeface="ui-monospace"/>
              </a:endParaRPr>
            </a:p>
            <a:p>
              <a:r>
                <a:rPr lang="zh-CN" altLang="en-US" sz="1200" dirty="0">
                  <a:solidFill>
                    <a:schemeClr val="accent1"/>
                  </a:solidFill>
                  <a:latin typeface="ui-monospace"/>
                </a:rPr>
                <a:t>并发控制：封锁 排它锁</a:t>
              </a:r>
              <a:r>
                <a:rPr lang="en-US" altLang="zh-CN" sz="1200" dirty="0">
                  <a:solidFill>
                    <a:schemeClr val="accent1"/>
                  </a:solidFill>
                  <a:latin typeface="ui-monospace"/>
                </a:rPr>
                <a:t>(</a:t>
              </a:r>
              <a:r>
                <a:rPr lang="zh-CN" altLang="en-US" sz="1200" dirty="0">
                  <a:solidFill>
                    <a:schemeClr val="accent1"/>
                  </a:solidFill>
                  <a:latin typeface="ui-monospace"/>
                </a:rPr>
                <a:t>写锁</a:t>
              </a:r>
              <a:r>
                <a:rPr lang="en-US" altLang="zh-CN" sz="1200" dirty="0">
                  <a:solidFill>
                    <a:schemeClr val="accent1"/>
                  </a:solidFill>
                  <a:latin typeface="ui-monospace"/>
                </a:rPr>
                <a:t>)/</a:t>
              </a:r>
              <a:r>
                <a:rPr lang="zh-CN" altLang="en-US" sz="1200" dirty="0">
                  <a:solidFill>
                    <a:schemeClr val="accent1"/>
                  </a:solidFill>
                  <a:latin typeface="ui-monospace"/>
                </a:rPr>
                <a:t>共享锁</a:t>
              </a:r>
              <a:r>
                <a:rPr lang="en-US" altLang="zh-CN" sz="1200" dirty="0">
                  <a:solidFill>
                    <a:schemeClr val="accent1"/>
                  </a:solidFill>
                  <a:latin typeface="ui-monospace"/>
                </a:rPr>
                <a:t>(</a:t>
              </a:r>
              <a:r>
                <a:rPr lang="zh-CN" altLang="en-US" sz="1200" dirty="0">
                  <a:solidFill>
                    <a:schemeClr val="accent1"/>
                  </a:solidFill>
                  <a:latin typeface="ui-monospace"/>
                </a:rPr>
                <a:t>读锁</a:t>
              </a:r>
              <a:r>
                <a:rPr lang="en-US" altLang="zh-CN" sz="1200" dirty="0">
                  <a:solidFill>
                    <a:schemeClr val="accent1"/>
                  </a:solidFill>
                  <a:latin typeface="ui-monospace"/>
                </a:rPr>
                <a:t>)</a:t>
              </a:r>
            </a:p>
          </p:txBody>
        </p:sp>
      </p:grpSp>
      <p:grpSp>
        <p:nvGrpSpPr>
          <p:cNvPr id="20" name="Group 19">
            <a:extLst>
              <a:ext uri="{FF2B5EF4-FFF2-40B4-BE49-F238E27FC236}">
                <a16:creationId xmlns:a16="http://schemas.microsoft.com/office/drawing/2014/main" id="{832ED0E2-404B-1938-9341-B2DBFA3AAA8B}"/>
              </a:ext>
            </a:extLst>
          </p:cNvPr>
          <p:cNvGrpSpPr/>
          <p:nvPr/>
        </p:nvGrpSpPr>
        <p:grpSpPr>
          <a:xfrm>
            <a:off x="3097889" y="2905934"/>
            <a:ext cx="4386653" cy="1864922"/>
            <a:chOff x="7614613" y="5950488"/>
            <a:chExt cx="4386653" cy="1864922"/>
          </a:xfrm>
        </p:grpSpPr>
        <p:sp>
          <p:nvSpPr>
            <p:cNvPr id="21" name="Rectangle: Rounded Corners 20">
              <a:extLst>
                <a:ext uri="{FF2B5EF4-FFF2-40B4-BE49-F238E27FC236}">
                  <a16:creationId xmlns:a16="http://schemas.microsoft.com/office/drawing/2014/main" id="{6265C339-62B6-BE82-7D86-421ACBC329C2}"/>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▶分布式数据库</a:t>
              </a:r>
              <a:endParaRPr lang="en-US" sz="1200" dirty="0">
                <a:solidFill>
                  <a:schemeClr val="bg1"/>
                </a:solidFill>
              </a:endParaRPr>
            </a:p>
          </p:txBody>
        </p:sp>
        <p:sp>
          <p:nvSpPr>
            <p:cNvPr id="22" name="TextBox 21">
              <a:extLst>
                <a:ext uri="{FF2B5EF4-FFF2-40B4-BE49-F238E27FC236}">
                  <a16:creationId xmlns:a16="http://schemas.microsoft.com/office/drawing/2014/main" id="{EEF3D592-F70A-C5B5-974B-4D36BB21A981}"/>
                </a:ext>
              </a:extLst>
            </p:cNvPr>
            <p:cNvSpPr txBox="1"/>
            <p:nvPr/>
          </p:nvSpPr>
          <p:spPr>
            <a:xfrm>
              <a:off x="7667294" y="6245750"/>
              <a:ext cx="4281578" cy="1569660"/>
            </a:xfrm>
            <a:prstGeom prst="rect">
              <a:avLst/>
            </a:prstGeom>
            <a:noFill/>
          </p:spPr>
          <p:txBody>
            <a:bodyPr wrap="square">
              <a:spAutoFit/>
            </a:bodyPr>
            <a:lstStyle/>
            <a:p>
              <a:r>
                <a:rPr lang="zh-CN" altLang="en-US" sz="1200" dirty="0">
                  <a:solidFill>
                    <a:schemeClr val="accent1"/>
                  </a:solidFill>
                  <a:latin typeface="ui-monospace"/>
                </a:rPr>
                <a:t>分片透明：无需要知道逻辑访问表的</a:t>
              </a:r>
              <a:r>
                <a:rPr lang="zh-CN" altLang="en-US" sz="1200" b="1" dirty="0">
                  <a:solidFill>
                    <a:schemeClr val="accent1"/>
                  </a:solidFill>
                  <a:latin typeface="ui-monospace"/>
                </a:rPr>
                <a:t>分块储存</a:t>
              </a:r>
              <a:endParaRPr lang="en-US" altLang="zh-CN" sz="1200" b="1" dirty="0">
                <a:solidFill>
                  <a:schemeClr val="accent1"/>
                </a:solidFill>
                <a:latin typeface="ui-monospace"/>
              </a:endParaRPr>
            </a:p>
            <a:p>
              <a:r>
                <a:rPr lang="zh-CN" altLang="en-US" sz="1200" dirty="0">
                  <a:solidFill>
                    <a:schemeClr val="accent1"/>
                  </a:solidFill>
                  <a:latin typeface="ui-monospace"/>
                </a:rPr>
                <a:t>复制透明：无需知道</a:t>
              </a:r>
              <a:r>
                <a:rPr lang="zh-CN" altLang="en-US" sz="1200" b="1" dirty="0">
                  <a:solidFill>
                    <a:schemeClr val="accent1"/>
                  </a:solidFill>
                  <a:latin typeface="ui-monospace"/>
                </a:rPr>
                <a:t>复制</a:t>
              </a:r>
              <a:r>
                <a:rPr lang="zh-CN" altLang="en-US" sz="1200" dirty="0">
                  <a:solidFill>
                    <a:schemeClr val="accent1"/>
                  </a:solidFill>
                  <a:latin typeface="ui-monospace"/>
                </a:rPr>
                <a:t>到哪，如何复制</a:t>
              </a:r>
              <a:endParaRPr lang="en-US" altLang="zh-CN" sz="1200" dirty="0">
                <a:solidFill>
                  <a:schemeClr val="accent1"/>
                </a:solidFill>
                <a:latin typeface="ui-monospace"/>
              </a:endParaRPr>
            </a:p>
            <a:p>
              <a:r>
                <a:rPr lang="zh-CN" altLang="en-US" sz="1200" dirty="0">
                  <a:solidFill>
                    <a:schemeClr val="accent1"/>
                  </a:solidFill>
                  <a:latin typeface="ui-monospace"/>
                </a:rPr>
                <a:t>位置透明：无需知道数据存放的</a:t>
              </a:r>
              <a:r>
                <a:rPr lang="zh-CN" altLang="en-US" sz="1200" b="1" dirty="0">
                  <a:solidFill>
                    <a:schemeClr val="accent1"/>
                  </a:solidFill>
                  <a:latin typeface="ui-monospace"/>
                </a:rPr>
                <a:t>物理位置</a:t>
              </a:r>
              <a:endParaRPr lang="en-US" altLang="zh-CN" sz="1200" b="1" dirty="0">
                <a:solidFill>
                  <a:schemeClr val="accent1"/>
                </a:solidFill>
                <a:latin typeface="ui-monospace"/>
              </a:endParaRPr>
            </a:p>
            <a:p>
              <a:r>
                <a:rPr lang="zh-CN" altLang="en-US" sz="1200" dirty="0">
                  <a:solidFill>
                    <a:schemeClr val="accent1"/>
                  </a:solidFill>
                  <a:latin typeface="ui-monospace"/>
                </a:rPr>
                <a:t>逻辑透明：无需知道局部场地使用的是哪种</a:t>
              </a:r>
              <a:r>
                <a:rPr lang="zh-CN" altLang="en-US" sz="1200" b="1" dirty="0">
                  <a:solidFill>
                    <a:schemeClr val="accent1"/>
                  </a:solidFill>
                  <a:latin typeface="ui-monospace"/>
                </a:rPr>
                <a:t>数据模型</a:t>
              </a:r>
              <a:endParaRPr lang="en-US" altLang="zh-CN" sz="1200" b="1" dirty="0">
                <a:solidFill>
                  <a:schemeClr val="accent1"/>
                </a:solidFill>
                <a:latin typeface="ui-monospace"/>
              </a:endParaRPr>
            </a:p>
            <a:p>
              <a:r>
                <a:rPr lang="zh-CN" altLang="en-US" sz="1200" dirty="0">
                  <a:solidFill>
                    <a:schemeClr val="accent1"/>
                  </a:solidFill>
                  <a:latin typeface="ui-monospace"/>
                </a:rPr>
                <a:t>共享性：数据存储再不同的节点数据共享</a:t>
              </a:r>
              <a:endParaRPr lang="en-US" altLang="zh-CN" sz="1200" dirty="0">
                <a:solidFill>
                  <a:schemeClr val="accent1"/>
                </a:solidFill>
                <a:latin typeface="ui-monospace"/>
              </a:endParaRPr>
            </a:p>
            <a:p>
              <a:r>
                <a:rPr lang="zh-CN" altLang="en-US" sz="1200" dirty="0">
                  <a:solidFill>
                    <a:schemeClr val="accent1"/>
                  </a:solidFill>
                  <a:latin typeface="ui-monospace"/>
                </a:rPr>
                <a:t>自治性：每个节点对本地数据独立管理</a:t>
              </a:r>
              <a:endParaRPr lang="en-US" altLang="zh-CN" sz="1200" dirty="0">
                <a:solidFill>
                  <a:schemeClr val="accent1"/>
                </a:solidFill>
                <a:latin typeface="ui-monospace"/>
              </a:endParaRPr>
            </a:p>
            <a:p>
              <a:r>
                <a:rPr lang="zh-CN" altLang="en-US" sz="1200" dirty="0">
                  <a:solidFill>
                    <a:schemeClr val="accent1"/>
                  </a:solidFill>
                  <a:latin typeface="ui-monospace"/>
                </a:rPr>
                <a:t>可用性：当某一场地故障时可使用其他场地的副本</a:t>
              </a:r>
              <a:endParaRPr lang="en-US" altLang="zh-CN" sz="1200" dirty="0">
                <a:solidFill>
                  <a:schemeClr val="accent1"/>
                </a:solidFill>
                <a:latin typeface="ui-monospace"/>
              </a:endParaRPr>
            </a:p>
            <a:p>
              <a:r>
                <a:rPr lang="zh-CN" altLang="en-US" sz="1200" dirty="0">
                  <a:solidFill>
                    <a:schemeClr val="accent1"/>
                  </a:solidFill>
                  <a:latin typeface="ui-monospace"/>
                </a:rPr>
                <a:t>分布性：数据在不同场地上存储</a:t>
              </a:r>
              <a:endParaRPr lang="en-US" altLang="zh-CN" sz="1200" dirty="0">
                <a:solidFill>
                  <a:schemeClr val="accent1"/>
                </a:solidFill>
                <a:latin typeface="ui-monospace"/>
              </a:endParaRPr>
            </a:p>
          </p:txBody>
        </p:sp>
      </p:grpSp>
      <p:grpSp>
        <p:nvGrpSpPr>
          <p:cNvPr id="26" name="Group 25">
            <a:extLst>
              <a:ext uri="{FF2B5EF4-FFF2-40B4-BE49-F238E27FC236}">
                <a16:creationId xmlns:a16="http://schemas.microsoft.com/office/drawing/2014/main" id="{353EC779-5586-8C89-CE45-B601F1BC2C09}"/>
              </a:ext>
            </a:extLst>
          </p:cNvPr>
          <p:cNvGrpSpPr/>
          <p:nvPr/>
        </p:nvGrpSpPr>
        <p:grpSpPr>
          <a:xfrm>
            <a:off x="3097888" y="59194"/>
            <a:ext cx="4386653" cy="1310925"/>
            <a:chOff x="7614613" y="5950488"/>
            <a:chExt cx="4386653" cy="1310925"/>
          </a:xfrm>
        </p:grpSpPr>
        <p:sp>
          <p:nvSpPr>
            <p:cNvPr id="36" name="Rectangle: Rounded Corners 35">
              <a:extLst>
                <a:ext uri="{FF2B5EF4-FFF2-40B4-BE49-F238E27FC236}">
                  <a16:creationId xmlns:a16="http://schemas.microsoft.com/office/drawing/2014/main" id="{46EA1789-63A2-A9A1-E145-C99BDC0FA4F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a:t>
              </a:r>
              <a:r>
                <a:rPr lang="en-US" altLang="zh-CN" sz="1200" dirty="0">
                  <a:solidFill>
                    <a:schemeClr val="bg1"/>
                  </a:solidFill>
                  <a:latin typeface="ui-monospace"/>
                </a:rPr>
                <a:t>E-R</a:t>
              </a:r>
              <a:r>
                <a:rPr lang="zh-CN" altLang="en-US" sz="1200" dirty="0">
                  <a:solidFill>
                    <a:schemeClr val="bg1"/>
                  </a:solidFill>
                  <a:latin typeface="ui-monospace"/>
                </a:rPr>
                <a:t>模型</a:t>
              </a:r>
              <a:endParaRPr lang="en-US" sz="1200" dirty="0">
                <a:solidFill>
                  <a:schemeClr val="bg1"/>
                </a:solidFill>
              </a:endParaRPr>
            </a:p>
          </p:txBody>
        </p:sp>
        <p:sp>
          <p:nvSpPr>
            <p:cNvPr id="37" name="TextBox 36">
              <a:extLst>
                <a:ext uri="{FF2B5EF4-FFF2-40B4-BE49-F238E27FC236}">
                  <a16:creationId xmlns:a16="http://schemas.microsoft.com/office/drawing/2014/main" id="{D403FEB5-654A-8D36-F89C-1AB13AC38875}"/>
                </a:ext>
              </a:extLst>
            </p:cNvPr>
            <p:cNvSpPr txBox="1"/>
            <p:nvPr/>
          </p:nvSpPr>
          <p:spPr>
            <a:xfrm>
              <a:off x="7667294" y="6245750"/>
              <a:ext cx="4281578" cy="1015663"/>
            </a:xfrm>
            <a:prstGeom prst="rect">
              <a:avLst/>
            </a:prstGeom>
            <a:noFill/>
          </p:spPr>
          <p:txBody>
            <a:bodyPr wrap="square">
              <a:spAutoFit/>
            </a:bodyPr>
            <a:lstStyle/>
            <a:p>
              <a:r>
                <a:rPr lang="zh-CN" altLang="en-US" sz="1200" dirty="0">
                  <a:solidFill>
                    <a:schemeClr val="accent1"/>
                  </a:solidFill>
                  <a:latin typeface="ui-monospace"/>
                </a:rPr>
                <a:t>数据模型三要素：数据结构、数据操作、数据约束条件</a:t>
              </a:r>
              <a:endParaRPr lang="en-US" altLang="zh-CN" sz="1200" dirty="0">
                <a:solidFill>
                  <a:schemeClr val="accent1"/>
                </a:solidFill>
                <a:latin typeface="ui-monospace"/>
              </a:endParaRPr>
            </a:p>
            <a:p>
              <a:r>
                <a:rPr lang="zh-CN" altLang="en-US" sz="1200" dirty="0">
                  <a:solidFill>
                    <a:schemeClr val="accent1"/>
                  </a:solidFill>
                  <a:latin typeface="ui-monospace"/>
                </a:rPr>
                <a:t>图形：实体</a:t>
              </a:r>
              <a:r>
                <a:rPr lang="en-US" altLang="zh-CN" sz="1200" dirty="0">
                  <a:solidFill>
                    <a:schemeClr val="accent1"/>
                  </a:solidFill>
                  <a:latin typeface="ui-monospace"/>
                </a:rPr>
                <a:t>-</a:t>
              </a:r>
              <a:r>
                <a:rPr lang="zh-CN" altLang="en-US" sz="1200" dirty="0">
                  <a:solidFill>
                    <a:schemeClr val="accent1"/>
                  </a:solidFill>
                  <a:latin typeface="ui-monospace"/>
                </a:rPr>
                <a:t>矩形</a:t>
              </a:r>
              <a:r>
                <a:rPr lang="en-US" altLang="zh-CN" sz="1200" dirty="0">
                  <a:solidFill>
                    <a:schemeClr val="accent1"/>
                  </a:solidFill>
                  <a:latin typeface="ui-monospace"/>
                </a:rPr>
                <a:t>/</a:t>
              </a:r>
              <a:r>
                <a:rPr lang="zh-CN" altLang="en-US" sz="1200" dirty="0">
                  <a:solidFill>
                    <a:schemeClr val="accent1"/>
                  </a:solidFill>
                  <a:latin typeface="ui-monospace"/>
                </a:rPr>
                <a:t>属性</a:t>
              </a:r>
              <a:r>
                <a:rPr lang="en-US" altLang="zh-CN" sz="1200" dirty="0">
                  <a:solidFill>
                    <a:schemeClr val="accent1"/>
                  </a:solidFill>
                  <a:latin typeface="ui-monospace"/>
                </a:rPr>
                <a:t>-</a:t>
              </a:r>
              <a:r>
                <a:rPr lang="zh-CN" altLang="en-US" sz="1200" dirty="0">
                  <a:solidFill>
                    <a:schemeClr val="accent1"/>
                  </a:solidFill>
                  <a:latin typeface="ui-monospace"/>
                </a:rPr>
                <a:t>椭圆</a:t>
              </a:r>
              <a:r>
                <a:rPr lang="en-US" altLang="zh-CN" sz="1200" dirty="0">
                  <a:solidFill>
                    <a:schemeClr val="accent1"/>
                  </a:solidFill>
                  <a:latin typeface="ui-monospace"/>
                </a:rPr>
                <a:t>/</a:t>
              </a:r>
              <a:r>
                <a:rPr lang="zh-CN" altLang="en-US" sz="1200" dirty="0">
                  <a:solidFill>
                    <a:schemeClr val="accent1"/>
                  </a:solidFill>
                  <a:latin typeface="ui-monospace"/>
                </a:rPr>
                <a:t>联系</a:t>
              </a:r>
              <a:r>
                <a:rPr lang="en-US" altLang="zh-CN" sz="1200" dirty="0">
                  <a:solidFill>
                    <a:schemeClr val="accent1"/>
                  </a:solidFill>
                  <a:latin typeface="ui-monospace"/>
                </a:rPr>
                <a:t>-</a:t>
              </a:r>
              <a:r>
                <a:rPr lang="zh-CN" altLang="en-US" sz="1200" dirty="0">
                  <a:solidFill>
                    <a:schemeClr val="accent1"/>
                  </a:solidFill>
                  <a:latin typeface="ui-monospace"/>
                </a:rPr>
                <a:t>菱形 弱实体</a:t>
              </a:r>
              <a:endParaRPr lang="en-US" altLang="zh-CN" sz="1200" dirty="0">
                <a:solidFill>
                  <a:schemeClr val="accent1"/>
                </a:solidFill>
                <a:latin typeface="ui-monospace"/>
              </a:endParaRPr>
            </a:p>
            <a:p>
              <a:r>
                <a:rPr lang="zh-CN" altLang="en-US" sz="1200" dirty="0">
                  <a:solidFill>
                    <a:schemeClr val="accent1"/>
                  </a:solidFill>
                  <a:latin typeface="ui-monospace"/>
                </a:rPr>
                <a:t>属性：复合属性</a:t>
              </a:r>
              <a:r>
                <a:rPr lang="en-US" altLang="zh-CN" sz="1200" dirty="0">
                  <a:solidFill>
                    <a:schemeClr val="accent1"/>
                  </a:solidFill>
                  <a:latin typeface="ui-monospace"/>
                </a:rPr>
                <a:t>/</a:t>
              </a:r>
              <a:r>
                <a:rPr lang="zh-CN" altLang="en-US" sz="1200" dirty="0">
                  <a:solidFill>
                    <a:schemeClr val="accent1"/>
                  </a:solidFill>
                  <a:latin typeface="ui-monospace"/>
                </a:rPr>
                <a:t>多值属性</a:t>
              </a:r>
              <a:r>
                <a:rPr lang="en-US" altLang="zh-CN" sz="1200" dirty="0">
                  <a:solidFill>
                    <a:schemeClr val="accent1"/>
                  </a:solidFill>
                  <a:latin typeface="ui-monospace"/>
                </a:rPr>
                <a:t>/</a:t>
              </a:r>
              <a:r>
                <a:rPr lang="zh-CN" altLang="en-US" sz="1200" b="1" dirty="0">
                  <a:solidFill>
                    <a:schemeClr val="accent1"/>
                  </a:solidFill>
                  <a:latin typeface="ui-monospace"/>
                </a:rPr>
                <a:t>派生属性</a:t>
              </a:r>
              <a:endParaRPr lang="en-US" altLang="zh-CN" sz="1200" b="1" dirty="0">
                <a:solidFill>
                  <a:schemeClr val="accent1"/>
                </a:solidFill>
                <a:latin typeface="ui-monospace"/>
              </a:endParaRPr>
            </a:p>
            <a:p>
              <a:r>
                <a:rPr lang="zh-CN" altLang="en-US" sz="1200" dirty="0">
                  <a:solidFill>
                    <a:schemeClr val="accent1"/>
                  </a:solidFill>
                  <a:latin typeface="ui-monospace"/>
                </a:rPr>
                <a:t>联系：</a:t>
              </a:r>
              <a:r>
                <a:rPr lang="en-US" altLang="zh-CN" sz="1200" dirty="0">
                  <a:solidFill>
                    <a:schemeClr val="accent1"/>
                  </a:solidFill>
                  <a:latin typeface="ui-monospace"/>
                </a:rPr>
                <a:t>1:1/1:n/</a:t>
              </a:r>
              <a:r>
                <a:rPr lang="en-US" altLang="zh-CN" sz="1200" dirty="0" err="1">
                  <a:solidFill>
                    <a:schemeClr val="accent1"/>
                  </a:solidFill>
                  <a:latin typeface="ui-monospace"/>
                </a:rPr>
                <a:t>m:n</a:t>
              </a:r>
              <a:endParaRPr lang="en-US" altLang="zh-CN" sz="1200" dirty="0">
                <a:solidFill>
                  <a:schemeClr val="accent1"/>
                </a:solidFill>
                <a:latin typeface="ui-monospace"/>
              </a:endParaRPr>
            </a:p>
            <a:p>
              <a:endParaRPr lang="en-US" altLang="zh-CN" sz="1200" dirty="0">
                <a:solidFill>
                  <a:schemeClr val="accent1"/>
                </a:solidFill>
                <a:latin typeface="ui-monospace"/>
              </a:endParaRPr>
            </a:p>
          </p:txBody>
        </p:sp>
      </p:grpSp>
      <p:grpSp>
        <p:nvGrpSpPr>
          <p:cNvPr id="38" name="Group 37">
            <a:extLst>
              <a:ext uri="{FF2B5EF4-FFF2-40B4-BE49-F238E27FC236}">
                <a16:creationId xmlns:a16="http://schemas.microsoft.com/office/drawing/2014/main" id="{21AE3BC9-6F19-0B68-A536-42F0C14B1915}"/>
              </a:ext>
            </a:extLst>
          </p:cNvPr>
          <p:cNvGrpSpPr/>
          <p:nvPr/>
        </p:nvGrpSpPr>
        <p:grpSpPr>
          <a:xfrm>
            <a:off x="3075919" y="4766221"/>
            <a:ext cx="4386653" cy="756927"/>
            <a:chOff x="7614613" y="5950488"/>
            <a:chExt cx="4386653" cy="756927"/>
          </a:xfrm>
        </p:grpSpPr>
        <p:sp>
          <p:nvSpPr>
            <p:cNvPr id="39" name="Rectangle: Rounded Corners 38">
              <a:extLst>
                <a:ext uri="{FF2B5EF4-FFF2-40B4-BE49-F238E27FC236}">
                  <a16:creationId xmlns:a16="http://schemas.microsoft.com/office/drawing/2014/main" id="{A60518BB-327A-DBB9-3CFC-667018A7CC76}"/>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▶数据仓库</a:t>
              </a:r>
              <a:endParaRPr lang="en-US" sz="1200" dirty="0">
                <a:solidFill>
                  <a:schemeClr val="bg1"/>
                </a:solidFill>
              </a:endParaRPr>
            </a:p>
          </p:txBody>
        </p:sp>
        <p:sp>
          <p:nvSpPr>
            <p:cNvPr id="40" name="TextBox 39">
              <a:extLst>
                <a:ext uri="{FF2B5EF4-FFF2-40B4-BE49-F238E27FC236}">
                  <a16:creationId xmlns:a16="http://schemas.microsoft.com/office/drawing/2014/main" id="{D1ABC26E-3A74-7993-7E30-5A336A581460}"/>
                </a:ext>
              </a:extLst>
            </p:cNvPr>
            <p:cNvSpPr txBox="1"/>
            <p:nvPr/>
          </p:nvSpPr>
          <p:spPr>
            <a:xfrm>
              <a:off x="7667294" y="6245750"/>
              <a:ext cx="4281578" cy="461665"/>
            </a:xfrm>
            <a:prstGeom prst="rect">
              <a:avLst/>
            </a:prstGeom>
            <a:noFill/>
          </p:spPr>
          <p:txBody>
            <a:bodyPr wrap="square">
              <a:spAutoFit/>
            </a:bodyPr>
            <a:lstStyle/>
            <a:p>
              <a:r>
                <a:rPr lang="en-US" altLang="zh-CN" sz="1200" dirty="0">
                  <a:solidFill>
                    <a:schemeClr val="accent1"/>
                  </a:solidFill>
                  <a:latin typeface="ui-monospace"/>
                </a:rPr>
                <a:t>OLAP</a:t>
              </a:r>
              <a:r>
                <a:rPr lang="zh-CN" altLang="en-US" sz="1200" dirty="0">
                  <a:solidFill>
                    <a:schemeClr val="accent1"/>
                  </a:solidFill>
                  <a:latin typeface="ui-monospace"/>
                </a:rPr>
                <a:t>联机分析处理服务器</a:t>
              </a:r>
              <a:endParaRPr lang="en-US" altLang="zh-CN" sz="1200" dirty="0">
                <a:solidFill>
                  <a:schemeClr val="accent1"/>
                </a:solidFill>
                <a:latin typeface="ui-monospace"/>
              </a:endParaRPr>
            </a:p>
            <a:p>
              <a:r>
                <a:rPr lang="zh-CN" altLang="en-US" sz="1200" dirty="0">
                  <a:solidFill>
                    <a:schemeClr val="accent1"/>
                  </a:solidFill>
                  <a:latin typeface="ui-monospace"/>
                </a:rPr>
                <a:t>数据挖掘</a:t>
              </a:r>
              <a:endParaRPr lang="en-US" altLang="zh-CN" sz="1200" dirty="0">
                <a:solidFill>
                  <a:schemeClr val="accent1"/>
                </a:solidFill>
                <a:latin typeface="ui-monospace"/>
              </a:endParaRPr>
            </a:p>
          </p:txBody>
        </p:sp>
      </p:grpSp>
    </p:spTree>
    <p:extLst>
      <p:ext uri="{BB962C8B-B14F-4D97-AF65-F5344CB8AC3E}">
        <p14:creationId xmlns:p14="http://schemas.microsoft.com/office/powerpoint/2010/main" val="2304617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CA83C5-434B-C2BB-C03E-FEA77C2BBB11}"/>
              </a:ext>
            </a:extLst>
          </p:cNvPr>
          <p:cNvSpPr txBox="1"/>
          <p:nvPr/>
        </p:nvSpPr>
        <p:spPr>
          <a:xfrm>
            <a:off x="0" y="959472"/>
            <a:ext cx="2986206" cy="360098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面向对象</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基本概念</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分析</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设计</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程序设计</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测试</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F6E8EA44-BACD-2DF7-D1BB-48B659756CE3}"/>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A7CFB97A-E7E7-BB6E-4BA9-8E7CB22DC8F7}"/>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26" name="Group 25">
            <a:extLst>
              <a:ext uri="{FF2B5EF4-FFF2-40B4-BE49-F238E27FC236}">
                <a16:creationId xmlns:a16="http://schemas.microsoft.com/office/drawing/2014/main" id="{353EC779-5586-8C89-CE45-B601F1BC2C09}"/>
              </a:ext>
            </a:extLst>
          </p:cNvPr>
          <p:cNvGrpSpPr/>
          <p:nvPr/>
        </p:nvGrpSpPr>
        <p:grpSpPr>
          <a:xfrm>
            <a:off x="3097888" y="29458"/>
            <a:ext cx="4386653" cy="7035569"/>
            <a:chOff x="7614613" y="5950488"/>
            <a:chExt cx="4386653" cy="7035569"/>
          </a:xfrm>
        </p:grpSpPr>
        <p:sp>
          <p:nvSpPr>
            <p:cNvPr id="36" name="Rectangle: Rounded Corners 35">
              <a:extLst>
                <a:ext uri="{FF2B5EF4-FFF2-40B4-BE49-F238E27FC236}">
                  <a16:creationId xmlns:a16="http://schemas.microsoft.com/office/drawing/2014/main" id="{46EA1789-63A2-A9A1-E145-C99BDC0FA4F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▶面向对象 </a:t>
              </a:r>
              <a:r>
                <a:rPr lang="en-US" altLang="zh-CN" sz="1200" dirty="0">
                  <a:solidFill>
                    <a:schemeClr val="bg1"/>
                  </a:solidFill>
                  <a:latin typeface="ui-monospace"/>
                </a:rPr>
                <a:t>OOP</a:t>
              </a:r>
              <a:endParaRPr lang="en-US" sz="1200" dirty="0">
                <a:solidFill>
                  <a:schemeClr val="bg1"/>
                </a:solidFill>
              </a:endParaRPr>
            </a:p>
          </p:txBody>
        </p:sp>
        <p:sp>
          <p:nvSpPr>
            <p:cNvPr id="37" name="TextBox 36">
              <a:extLst>
                <a:ext uri="{FF2B5EF4-FFF2-40B4-BE49-F238E27FC236}">
                  <a16:creationId xmlns:a16="http://schemas.microsoft.com/office/drawing/2014/main" id="{D403FEB5-654A-8D36-F89C-1AB13AC38875}"/>
                </a:ext>
              </a:extLst>
            </p:cNvPr>
            <p:cNvSpPr txBox="1"/>
            <p:nvPr/>
          </p:nvSpPr>
          <p:spPr>
            <a:xfrm>
              <a:off x="7667294" y="6245750"/>
              <a:ext cx="4281578" cy="6740307"/>
            </a:xfrm>
            <a:prstGeom prst="rect">
              <a:avLst/>
            </a:prstGeom>
            <a:noFill/>
          </p:spPr>
          <p:txBody>
            <a:bodyPr wrap="square">
              <a:spAutoFit/>
            </a:bodyPr>
            <a:lstStyle/>
            <a:p>
              <a:r>
                <a:rPr lang="zh-CN" altLang="en-US" sz="1200" dirty="0">
                  <a:solidFill>
                    <a:schemeClr val="accent1"/>
                  </a:solidFill>
                  <a:latin typeface="ui-monospace"/>
                </a:rPr>
                <a:t>对象</a:t>
              </a:r>
              <a:r>
                <a:rPr lang="en-US" altLang="zh-CN" sz="1200" dirty="0">
                  <a:solidFill>
                    <a:schemeClr val="accent1"/>
                  </a:solidFill>
                  <a:latin typeface="ui-monospace"/>
                </a:rPr>
                <a:t>object</a:t>
              </a:r>
              <a:r>
                <a:rPr lang="zh-CN" altLang="en-US" sz="1200" dirty="0">
                  <a:solidFill>
                    <a:schemeClr val="accent1"/>
                  </a:solidFill>
                  <a:latin typeface="ui-monospace"/>
                </a:rPr>
                <a:t>：对象名，属性，方法</a:t>
              </a:r>
              <a:endParaRPr lang="en-US" altLang="zh-CN" sz="1200" dirty="0">
                <a:solidFill>
                  <a:schemeClr val="accent1"/>
                </a:solidFill>
                <a:latin typeface="ui-monospace"/>
              </a:endParaRPr>
            </a:p>
            <a:p>
              <a:r>
                <a:rPr lang="zh-CN" altLang="en-US" sz="1200" b="1" dirty="0">
                  <a:solidFill>
                    <a:schemeClr val="accent1"/>
                  </a:solidFill>
                  <a:latin typeface="ui-monospace"/>
                </a:rPr>
                <a:t>类</a:t>
              </a:r>
              <a:r>
                <a:rPr lang="en-US" altLang="zh-CN" sz="1200" dirty="0">
                  <a:solidFill>
                    <a:schemeClr val="accent1"/>
                  </a:solidFill>
                  <a:latin typeface="ui-monospace"/>
                </a:rPr>
                <a:t>class</a:t>
              </a:r>
              <a:r>
                <a:rPr lang="zh-CN" altLang="en-US" sz="1200" dirty="0">
                  <a:solidFill>
                    <a:schemeClr val="accent1"/>
                  </a:solidFill>
                  <a:latin typeface="ui-monospace"/>
                </a:rPr>
                <a:t>：属性</a:t>
              </a:r>
              <a:r>
                <a:rPr lang="en-US" altLang="zh-CN" sz="1200" dirty="0">
                  <a:solidFill>
                    <a:schemeClr val="accent1"/>
                  </a:solidFill>
                  <a:latin typeface="ui-monospace"/>
                </a:rPr>
                <a:t>/</a:t>
              </a:r>
              <a:r>
                <a:rPr lang="zh-CN" altLang="en-US" sz="1200" dirty="0">
                  <a:solidFill>
                    <a:schemeClr val="accent1"/>
                  </a:solidFill>
                  <a:latin typeface="ui-monospace"/>
                </a:rPr>
                <a:t>数据</a:t>
              </a:r>
              <a:r>
                <a:rPr lang="en-US" altLang="zh-CN" sz="1200" dirty="0">
                  <a:solidFill>
                    <a:schemeClr val="accent1"/>
                  </a:solidFill>
                  <a:latin typeface="ui-monospace"/>
                </a:rPr>
                <a:t>/</a:t>
              </a:r>
              <a:r>
                <a:rPr lang="zh-CN" altLang="en-US" sz="1200" dirty="0">
                  <a:solidFill>
                    <a:schemeClr val="accent1"/>
                  </a:solidFill>
                  <a:latin typeface="ui-monospace"/>
                </a:rPr>
                <a:t>状态</a:t>
              </a:r>
              <a:r>
                <a:rPr lang="en-US" altLang="zh-CN" sz="1200" dirty="0">
                  <a:solidFill>
                    <a:schemeClr val="accent1"/>
                  </a:solidFill>
                  <a:latin typeface="ui-monospace"/>
                </a:rPr>
                <a:t>/</a:t>
              </a:r>
              <a:r>
                <a:rPr lang="zh-CN" altLang="en-US" sz="1200" dirty="0">
                  <a:solidFill>
                    <a:schemeClr val="accent1"/>
                  </a:solidFill>
                  <a:latin typeface="ui-monospace"/>
                </a:rPr>
                <a:t>变量和方法</a:t>
              </a:r>
              <a:r>
                <a:rPr lang="en-US" altLang="zh-CN" sz="1200" dirty="0">
                  <a:solidFill>
                    <a:schemeClr val="accent1"/>
                  </a:solidFill>
                  <a:latin typeface="ui-monospace"/>
                </a:rPr>
                <a:t>/</a:t>
              </a:r>
              <a:r>
                <a:rPr lang="zh-CN" altLang="en-US" sz="1200" dirty="0">
                  <a:solidFill>
                    <a:schemeClr val="accent1"/>
                  </a:solidFill>
                  <a:latin typeface="ui-monospace"/>
                </a:rPr>
                <a:t>函数</a:t>
              </a:r>
              <a:r>
                <a:rPr lang="en-US" altLang="zh-CN" sz="1200" dirty="0">
                  <a:solidFill>
                    <a:schemeClr val="accent1"/>
                  </a:solidFill>
                  <a:latin typeface="ui-monospace"/>
                </a:rPr>
                <a:t>/</a:t>
              </a:r>
              <a:r>
                <a:rPr lang="zh-CN" altLang="en-US" sz="1200" dirty="0">
                  <a:solidFill>
                    <a:schemeClr val="accent1"/>
                  </a:solidFill>
                  <a:latin typeface="ui-monospace"/>
                </a:rPr>
                <a:t>操作</a:t>
              </a:r>
              <a:r>
                <a:rPr lang="en-US" altLang="zh-CN" sz="1200" dirty="0">
                  <a:solidFill>
                    <a:schemeClr val="accent1"/>
                  </a:solidFill>
                  <a:latin typeface="ui-monospace"/>
                </a:rPr>
                <a:t>/</a:t>
              </a:r>
              <a:r>
                <a:rPr lang="zh-CN" altLang="en-US" sz="1200" dirty="0">
                  <a:solidFill>
                    <a:schemeClr val="accent1"/>
                  </a:solidFill>
                  <a:latin typeface="ui-monospace"/>
                </a:rPr>
                <a:t>行为</a:t>
              </a:r>
              <a:r>
                <a:rPr lang="en-US" altLang="zh-CN" sz="1200" dirty="0">
                  <a:solidFill>
                    <a:schemeClr val="accent1"/>
                  </a:solidFill>
                  <a:latin typeface="ui-monospace"/>
                </a:rPr>
                <a:t>/</a:t>
              </a:r>
              <a:r>
                <a:rPr lang="zh-CN" altLang="en-US" sz="1200" dirty="0">
                  <a:solidFill>
                    <a:schemeClr val="accent1"/>
                  </a:solidFill>
                  <a:latin typeface="ui-monospace"/>
                </a:rPr>
                <a:t>实现</a:t>
              </a:r>
              <a:endParaRPr lang="en-US" altLang="zh-CN" sz="1200" dirty="0">
                <a:solidFill>
                  <a:schemeClr val="accent1"/>
                </a:solidFill>
                <a:latin typeface="ui-monospace"/>
              </a:endParaRPr>
            </a:p>
            <a:p>
              <a:r>
                <a:rPr lang="zh-CN" altLang="en-US" sz="1200" dirty="0">
                  <a:solidFill>
                    <a:schemeClr val="accent1"/>
                  </a:solidFill>
                  <a:latin typeface="ui-monospace"/>
                </a:rPr>
                <a:t>分类：</a:t>
              </a:r>
              <a:r>
                <a:rPr lang="zh-CN" altLang="en-US" sz="1200" b="1" dirty="0">
                  <a:solidFill>
                    <a:schemeClr val="accent1"/>
                  </a:solidFill>
                  <a:latin typeface="ui-monospace"/>
                </a:rPr>
                <a:t>实体类</a:t>
              </a:r>
              <a:r>
                <a:rPr lang="en-US" altLang="zh-CN" sz="1200" b="1" dirty="0">
                  <a:solidFill>
                    <a:schemeClr val="accent1"/>
                  </a:solidFill>
                  <a:latin typeface="ui-monospace"/>
                </a:rPr>
                <a:t>/</a:t>
              </a:r>
              <a:r>
                <a:rPr lang="zh-CN" altLang="en-US" sz="1200" b="1" dirty="0">
                  <a:solidFill>
                    <a:schemeClr val="accent1"/>
                  </a:solidFill>
                  <a:latin typeface="ui-monospace"/>
                </a:rPr>
                <a:t>接口类</a:t>
              </a:r>
              <a:r>
                <a:rPr lang="en-US" altLang="zh-CN" sz="1200" b="1" dirty="0">
                  <a:solidFill>
                    <a:schemeClr val="accent1"/>
                  </a:solidFill>
                  <a:latin typeface="ui-monospace"/>
                </a:rPr>
                <a:t>(</a:t>
              </a:r>
              <a:r>
                <a:rPr lang="zh-CN" altLang="en-US" sz="1200" b="1" dirty="0">
                  <a:solidFill>
                    <a:schemeClr val="accent1"/>
                  </a:solidFill>
                  <a:latin typeface="ui-monospace"/>
                </a:rPr>
                <a:t>边界类</a:t>
              </a:r>
              <a:r>
                <a:rPr lang="en-US" altLang="zh-CN" sz="1200" b="1" dirty="0">
                  <a:solidFill>
                    <a:schemeClr val="accent1"/>
                  </a:solidFill>
                  <a:latin typeface="ui-monospace"/>
                </a:rPr>
                <a:t>)/</a:t>
              </a:r>
              <a:r>
                <a:rPr lang="zh-CN" altLang="en-US" sz="1200" b="1" dirty="0">
                  <a:solidFill>
                    <a:schemeClr val="accent1"/>
                  </a:solidFill>
                  <a:latin typeface="ui-monospace"/>
                </a:rPr>
                <a:t>控制类</a:t>
              </a:r>
              <a:endParaRPr lang="en-US" altLang="zh-CN" sz="1200" b="1" dirty="0">
                <a:solidFill>
                  <a:schemeClr val="accent1"/>
                </a:solidFill>
                <a:latin typeface="ui-monospace"/>
              </a:endParaRPr>
            </a:p>
            <a:p>
              <a:r>
                <a:rPr lang="zh-CN" altLang="en-US" sz="1200" dirty="0">
                  <a:solidFill>
                    <a:schemeClr val="accent1"/>
                  </a:solidFill>
                  <a:latin typeface="ui-monospace"/>
                </a:rPr>
                <a:t>抽象：抽取共同特征和行为</a:t>
              </a:r>
              <a:endParaRPr lang="en-US" altLang="zh-CN" sz="1200" dirty="0">
                <a:solidFill>
                  <a:schemeClr val="accent1"/>
                </a:solidFill>
                <a:latin typeface="ui-monospace"/>
              </a:endParaRPr>
            </a:p>
            <a:p>
              <a:r>
                <a:rPr lang="zh-CN" altLang="en-US" sz="1200" b="1" dirty="0">
                  <a:solidFill>
                    <a:schemeClr val="accent1"/>
                  </a:solidFill>
                  <a:latin typeface="ui-monospace"/>
                </a:rPr>
                <a:t>类是对象的抽象，对象是类的实例</a:t>
              </a:r>
              <a:r>
                <a:rPr lang="en-US" altLang="zh-CN" sz="1200" dirty="0">
                  <a:solidFill>
                    <a:schemeClr val="accent1"/>
                  </a:solidFill>
                  <a:latin typeface="ui-monospace"/>
                </a:rPr>
                <a:t>(instance)</a:t>
              </a:r>
            </a:p>
            <a:p>
              <a:r>
                <a:rPr lang="zh-CN" altLang="en-US" sz="1200" dirty="0">
                  <a:solidFill>
                    <a:schemeClr val="accent1"/>
                  </a:solidFill>
                  <a:latin typeface="ui-monospace"/>
                </a:rPr>
                <a:t>消息</a:t>
              </a:r>
              <a:r>
                <a:rPr lang="en-US" altLang="zh-CN" sz="1200" dirty="0">
                  <a:solidFill>
                    <a:schemeClr val="accent1"/>
                  </a:solidFill>
                  <a:latin typeface="ui-monospace"/>
                </a:rPr>
                <a:t>message</a:t>
              </a:r>
              <a:r>
                <a:rPr lang="zh-CN" altLang="en-US" sz="1200" dirty="0">
                  <a:solidFill>
                    <a:schemeClr val="accent1"/>
                  </a:solidFill>
                  <a:latin typeface="ui-monospace"/>
                </a:rPr>
                <a:t>：调用方法传值给形参，相互之间</a:t>
              </a:r>
              <a:r>
                <a:rPr lang="zh-CN" altLang="en-US" sz="1200" b="1" dirty="0">
                  <a:solidFill>
                    <a:schemeClr val="accent1"/>
                  </a:solidFill>
                  <a:latin typeface="ui-monospace"/>
                </a:rPr>
                <a:t>通讯</a:t>
              </a:r>
              <a:endParaRPr lang="en-US" altLang="zh-CN" sz="1200" b="1" dirty="0">
                <a:solidFill>
                  <a:schemeClr val="accent1"/>
                </a:solidFill>
                <a:latin typeface="ui-monospace"/>
              </a:endParaRPr>
            </a:p>
            <a:p>
              <a:r>
                <a:rPr lang="zh-CN" altLang="en-US" sz="1200" b="1" dirty="0">
                  <a:solidFill>
                    <a:schemeClr val="accent1"/>
                  </a:solidFill>
                  <a:latin typeface="ui-monospace"/>
                </a:rPr>
                <a:t>封装</a:t>
              </a:r>
              <a:r>
                <a:rPr lang="zh-CN" altLang="en-US" sz="1200" dirty="0">
                  <a:solidFill>
                    <a:schemeClr val="accent1"/>
                  </a:solidFill>
                  <a:latin typeface="ui-monospace"/>
                </a:rPr>
                <a:t>：把客观事物封装成抽象的类，并</a:t>
              </a:r>
              <a:r>
                <a:rPr lang="zh-CN" altLang="en-US" sz="1200" b="1" dirty="0">
                  <a:solidFill>
                    <a:schemeClr val="accent1"/>
                  </a:solidFill>
                  <a:latin typeface="ui-monospace"/>
                </a:rPr>
                <a:t>隐藏</a:t>
              </a:r>
              <a:r>
                <a:rPr lang="zh-CN" altLang="en-US" sz="1200" dirty="0">
                  <a:solidFill>
                    <a:schemeClr val="accent1"/>
                  </a:solidFill>
                  <a:latin typeface="ui-monospace"/>
                </a:rPr>
                <a:t>实现细节，使得代码模块化</a:t>
              </a:r>
              <a:endParaRPr lang="en-US" altLang="zh-CN" sz="1200" dirty="0">
                <a:solidFill>
                  <a:schemeClr val="accent1"/>
                </a:solidFill>
                <a:latin typeface="ui-monospace"/>
              </a:endParaRPr>
            </a:p>
            <a:p>
              <a:r>
                <a:rPr lang="en-US" altLang="zh-CN" sz="1200" dirty="0">
                  <a:solidFill>
                    <a:schemeClr val="accent1"/>
                  </a:solidFill>
                  <a:latin typeface="ui-monospace"/>
                </a:rPr>
                <a:t>this</a:t>
              </a:r>
              <a:r>
                <a:rPr lang="zh-CN" altLang="en-US" sz="1200" dirty="0">
                  <a:solidFill>
                    <a:schemeClr val="accent1"/>
                  </a:solidFill>
                  <a:latin typeface="ui-monospace"/>
                </a:rPr>
                <a:t>：隐式引用变量，指向当前实例</a:t>
              </a:r>
              <a:endParaRPr lang="en-US" altLang="zh-CN" sz="1200" dirty="0">
                <a:solidFill>
                  <a:schemeClr val="accent1"/>
                </a:solidFill>
                <a:latin typeface="ui-monospace"/>
              </a:endParaRPr>
            </a:p>
            <a:p>
              <a:r>
                <a:rPr lang="en-US" altLang="zh-CN" sz="1200" dirty="0">
                  <a:solidFill>
                    <a:schemeClr val="accent1"/>
                  </a:solidFill>
                  <a:latin typeface="ui-monospace"/>
                </a:rPr>
                <a:t>-</a:t>
              </a:r>
              <a:r>
                <a:rPr lang="zh-CN" altLang="en-US" sz="1200" dirty="0">
                  <a:solidFill>
                    <a:schemeClr val="accent1"/>
                  </a:solidFill>
                  <a:latin typeface="ui-monospace"/>
                </a:rPr>
                <a:t>区分成员变量与局部变量</a:t>
              </a:r>
              <a:endParaRPr lang="en-US" altLang="zh-CN" sz="1200" dirty="0">
                <a:solidFill>
                  <a:schemeClr val="accent1"/>
                </a:solidFill>
                <a:latin typeface="ui-monospace"/>
              </a:endParaRPr>
            </a:p>
            <a:p>
              <a:r>
                <a:rPr lang="en-US" altLang="zh-CN" sz="1200" dirty="0">
                  <a:solidFill>
                    <a:schemeClr val="accent1"/>
                  </a:solidFill>
                  <a:latin typeface="ui-monospace"/>
                </a:rPr>
                <a:t>-</a:t>
              </a:r>
              <a:r>
                <a:rPr lang="zh-CN" altLang="en-US" sz="1200" dirty="0">
                  <a:solidFill>
                    <a:schemeClr val="accent1"/>
                  </a:solidFill>
                  <a:latin typeface="ui-monospace"/>
                </a:rPr>
                <a:t>在方法中调用其他构造方法，构造器链</a:t>
              </a:r>
              <a:endParaRPr lang="en-US" altLang="zh-CN" sz="1200" dirty="0">
                <a:solidFill>
                  <a:schemeClr val="accent1"/>
                </a:solidFill>
                <a:latin typeface="ui-monospace"/>
              </a:endParaRPr>
            </a:p>
            <a:p>
              <a:r>
                <a:rPr lang="en-US" altLang="zh-CN" sz="1200" dirty="0">
                  <a:solidFill>
                    <a:schemeClr val="accent1"/>
                  </a:solidFill>
                  <a:latin typeface="ui-monospace"/>
                </a:rPr>
                <a:t>-</a:t>
              </a:r>
              <a:r>
                <a:rPr lang="zh-CN" altLang="en-US" sz="1200" dirty="0">
                  <a:solidFill>
                    <a:schemeClr val="accent1"/>
                  </a:solidFill>
                  <a:latin typeface="ui-monospace"/>
                </a:rPr>
                <a:t>作为参数传递当前对象</a:t>
              </a:r>
              <a:endParaRPr lang="en-US" altLang="zh-CN" sz="1200" dirty="0">
                <a:solidFill>
                  <a:schemeClr val="accent1"/>
                </a:solidFill>
                <a:latin typeface="ui-monospace"/>
              </a:endParaRPr>
            </a:p>
            <a:p>
              <a:r>
                <a:rPr lang="en-US" altLang="zh-CN" sz="1200" dirty="0">
                  <a:solidFill>
                    <a:schemeClr val="accent1"/>
                  </a:solidFill>
                  <a:latin typeface="ui-monospace"/>
                </a:rPr>
                <a:t>-</a:t>
              </a:r>
              <a:r>
                <a:rPr lang="zh-CN" altLang="en-US" sz="1200" dirty="0">
                  <a:solidFill>
                    <a:schemeClr val="accent1"/>
                  </a:solidFill>
                  <a:latin typeface="ui-monospace"/>
                </a:rPr>
                <a:t>返回当前对象，实现方法链</a:t>
              </a:r>
              <a:endParaRPr lang="en-US" altLang="zh-CN" sz="1200" dirty="0">
                <a:solidFill>
                  <a:schemeClr val="accent1"/>
                </a:solidFill>
                <a:latin typeface="ui-monospace"/>
              </a:endParaRPr>
            </a:p>
            <a:p>
              <a:r>
                <a:rPr lang="en-US" altLang="zh-CN" sz="1200" dirty="0">
                  <a:solidFill>
                    <a:schemeClr val="accent1"/>
                  </a:solidFill>
                  <a:latin typeface="ui-monospace"/>
                </a:rPr>
                <a:t>public/private/protected</a:t>
              </a:r>
              <a:r>
                <a:rPr lang="zh-CN" altLang="en-US" sz="1200" dirty="0">
                  <a:solidFill>
                    <a:schemeClr val="accent1"/>
                  </a:solidFill>
                  <a:latin typeface="ui-monospace"/>
                </a:rPr>
                <a:t>：权限修饰符 公有</a:t>
              </a:r>
              <a:endParaRPr lang="en-US" altLang="zh-CN" sz="1200" dirty="0">
                <a:solidFill>
                  <a:schemeClr val="accent1"/>
                </a:solidFill>
                <a:latin typeface="ui-monospace"/>
              </a:endParaRPr>
            </a:p>
            <a:p>
              <a:r>
                <a:rPr lang="en-US" altLang="zh-CN" sz="1200" b="1" dirty="0">
                  <a:solidFill>
                    <a:schemeClr val="accent1"/>
                  </a:solidFill>
                  <a:latin typeface="ui-monospace"/>
                </a:rPr>
                <a:t>static</a:t>
              </a:r>
              <a:r>
                <a:rPr lang="zh-CN" altLang="en-US" sz="1200" dirty="0">
                  <a:solidFill>
                    <a:schemeClr val="accent1"/>
                  </a:solidFill>
                  <a:latin typeface="ui-monospace"/>
                </a:rPr>
                <a:t>：静态成员变量，变量方法可类名调用，可修饰内部类</a:t>
              </a:r>
              <a:endParaRPr lang="en-US" altLang="zh-CN" sz="1200" dirty="0">
                <a:solidFill>
                  <a:schemeClr val="accent1"/>
                </a:solidFill>
                <a:latin typeface="ui-monospace"/>
              </a:endParaRPr>
            </a:p>
            <a:p>
              <a:r>
                <a:rPr lang="en-US" altLang="zh-CN" sz="1200" dirty="0">
                  <a:solidFill>
                    <a:schemeClr val="accent1"/>
                  </a:solidFill>
                  <a:latin typeface="ui-monospace"/>
                </a:rPr>
                <a:t>final</a:t>
              </a:r>
              <a:r>
                <a:rPr lang="zh-CN" altLang="en-US" sz="1200" dirty="0">
                  <a:solidFill>
                    <a:schemeClr val="accent1"/>
                  </a:solidFill>
                  <a:latin typeface="ui-monospace"/>
                </a:rPr>
                <a:t>：使变量的值不可变，使方法不能被重写，使类不能继承</a:t>
              </a:r>
              <a:endParaRPr lang="en-US" altLang="zh-CN" sz="1200" dirty="0">
                <a:solidFill>
                  <a:schemeClr val="accent1"/>
                </a:solidFill>
                <a:latin typeface="ui-monospace"/>
              </a:endParaRPr>
            </a:p>
            <a:p>
              <a:r>
                <a:rPr lang="zh-CN" altLang="en-US" sz="1200" b="1" dirty="0">
                  <a:solidFill>
                    <a:schemeClr val="accent1"/>
                  </a:solidFill>
                  <a:latin typeface="ui-monospace"/>
                </a:rPr>
                <a:t>继承</a:t>
              </a:r>
              <a:r>
                <a:rPr lang="en-US" altLang="zh-CN" sz="1200" dirty="0">
                  <a:solidFill>
                    <a:schemeClr val="accent1"/>
                  </a:solidFill>
                  <a:latin typeface="ui-monospace"/>
                </a:rPr>
                <a:t>extends</a:t>
              </a:r>
              <a:r>
                <a:rPr lang="zh-CN" altLang="en-US" sz="1200" dirty="0">
                  <a:solidFill>
                    <a:schemeClr val="accent1"/>
                  </a:solidFill>
                  <a:latin typeface="ui-monospace"/>
                </a:rPr>
                <a:t>：子类</a:t>
              </a:r>
              <a:r>
                <a:rPr lang="en-US" altLang="zh-CN" sz="1200" dirty="0">
                  <a:solidFill>
                    <a:schemeClr val="accent1"/>
                  </a:solidFill>
                  <a:latin typeface="ui-monospace"/>
                </a:rPr>
                <a:t>/</a:t>
              </a:r>
              <a:r>
                <a:rPr lang="zh-CN" altLang="en-US" sz="1200" dirty="0">
                  <a:solidFill>
                    <a:schemeClr val="accent1"/>
                  </a:solidFill>
                  <a:latin typeface="ui-monospace"/>
                </a:rPr>
                <a:t>派生类共享父类</a:t>
              </a:r>
              <a:r>
                <a:rPr lang="en-US" altLang="zh-CN" sz="1200" dirty="0">
                  <a:solidFill>
                    <a:schemeClr val="accent1"/>
                  </a:solidFill>
                  <a:latin typeface="ui-monospace"/>
                </a:rPr>
                <a:t>/</a:t>
              </a:r>
              <a:r>
                <a:rPr lang="zh-CN" altLang="en-US" sz="1200" dirty="0">
                  <a:solidFill>
                    <a:schemeClr val="accent1"/>
                  </a:solidFill>
                  <a:latin typeface="ui-monospace"/>
                </a:rPr>
                <a:t>超类</a:t>
              </a:r>
              <a:r>
                <a:rPr lang="en-US" altLang="zh-CN" sz="1200" dirty="0">
                  <a:solidFill>
                    <a:schemeClr val="accent1"/>
                  </a:solidFill>
                  <a:latin typeface="ui-monospace"/>
                </a:rPr>
                <a:t>/</a:t>
              </a:r>
              <a:r>
                <a:rPr lang="zh-CN" altLang="en-US" sz="1200" dirty="0">
                  <a:solidFill>
                    <a:schemeClr val="accent1"/>
                  </a:solidFill>
                  <a:latin typeface="ui-monospace"/>
                </a:rPr>
                <a:t>基类的属性和方法</a:t>
              </a:r>
              <a:endParaRPr lang="en-US" altLang="zh-CN" sz="1200" dirty="0">
                <a:solidFill>
                  <a:schemeClr val="accent1"/>
                </a:solidFill>
                <a:latin typeface="ui-monospace"/>
              </a:endParaRPr>
            </a:p>
            <a:p>
              <a:r>
                <a:rPr lang="zh-CN" altLang="en-US" sz="1200" dirty="0">
                  <a:solidFill>
                    <a:schemeClr val="accent1"/>
                  </a:solidFill>
                  <a:latin typeface="ui-monospace"/>
                </a:rPr>
                <a:t>多重继承：多个父类，二义性</a:t>
              </a:r>
              <a:endParaRPr lang="en-US" altLang="zh-CN" sz="1200" dirty="0">
                <a:solidFill>
                  <a:schemeClr val="accent1"/>
                </a:solidFill>
                <a:latin typeface="ui-monospace"/>
              </a:endParaRPr>
            </a:p>
            <a:p>
              <a:r>
                <a:rPr lang="en-US" altLang="zh-CN" sz="1200" b="1" dirty="0">
                  <a:solidFill>
                    <a:schemeClr val="accent1"/>
                  </a:solidFill>
                  <a:latin typeface="ui-monospace"/>
                </a:rPr>
                <a:t>abstract</a:t>
              </a:r>
              <a:r>
                <a:rPr lang="zh-CN" altLang="en-US" sz="1200" dirty="0">
                  <a:solidFill>
                    <a:schemeClr val="accent1"/>
                  </a:solidFill>
                  <a:latin typeface="ui-monospace"/>
                </a:rPr>
                <a:t>：抽象类。可包含抽象方法，不能直接实例化，不能使用</a:t>
              </a:r>
              <a:r>
                <a:rPr lang="en-US" altLang="zh-CN" sz="1200" dirty="0">
                  <a:solidFill>
                    <a:schemeClr val="accent1"/>
                  </a:solidFill>
                  <a:latin typeface="ui-monospace"/>
                </a:rPr>
                <a:t>private/final/static,</a:t>
              </a:r>
              <a:r>
                <a:rPr lang="zh-CN" altLang="en-US" sz="1200" dirty="0">
                  <a:solidFill>
                    <a:schemeClr val="accent1"/>
                  </a:solidFill>
                  <a:latin typeface="ui-monospace"/>
                </a:rPr>
                <a:t>，可有构造方法</a:t>
              </a:r>
              <a:endParaRPr lang="en-US" altLang="zh-CN" sz="1200" dirty="0">
                <a:solidFill>
                  <a:schemeClr val="accent1"/>
                </a:solidFill>
                <a:latin typeface="ui-monospace"/>
              </a:endParaRPr>
            </a:p>
            <a:p>
              <a:r>
                <a:rPr lang="en-US" altLang="zh-CN" sz="1200" dirty="0">
                  <a:solidFill>
                    <a:schemeClr val="accent1"/>
                  </a:solidFill>
                  <a:latin typeface="ui-monospace"/>
                </a:rPr>
                <a:t>super</a:t>
              </a:r>
              <a:r>
                <a:rPr lang="zh-CN" altLang="en-US" sz="1200" dirty="0">
                  <a:solidFill>
                    <a:schemeClr val="accent1"/>
                  </a:solidFill>
                  <a:latin typeface="ui-monospace"/>
                </a:rPr>
                <a:t>：调用父类的构造方法，访问父类实例的变量，调用父类的方法</a:t>
              </a:r>
              <a:endParaRPr lang="en-US" altLang="zh-CN" sz="1200" dirty="0">
                <a:solidFill>
                  <a:schemeClr val="accent1"/>
                </a:solidFill>
                <a:latin typeface="ui-monospace"/>
              </a:endParaRPr>
            </a:p>
            <a:p>
              <a:r>
                <a:rPr lang="zh-CN" altLang="en-US" sz="1200" dirty="0">
                  <a:solidFill>
                    <a:schemeClr val="accent1"/>
                  </a:solidFill>
                  <a:latin typeface="ui-monospace"/>
                </a:rPr>
                <a:t>隐藏：子类中具有 同名不同参 的方法，阻止父类函数行为</a:t>
              </a:r>
              <a:endParaRPr lang="en-US" altLang="zh-CN" sz="1200" dirty="0">
                <a:solidFill>
                  <a:schemeClr val="accent1"/>
                </a:solidFill>
                <a:latin typeface="ui-monospace"/>
              </a:endParaRPr>
            </a:p>
            <a:p>
              <a:r>
                <a:rPr lang="zh-CN" altLang="en-US" sz="1200" b="1" dirty="0">
                  <a:solidFill>
                    <a:schemeClr val="accent1"/>
                  </a:solidFill>
                  <a:latin typeface="ui-monospace"/>
                </a:rPr>
                <a:t>多态</a:t>
              </a:r>
              <a:r>
                <a:rPr lang="zh-CN" altLang="en-US" sz="1200" dirty="0">
                  <a:solidFill>
                    <a:schemeClr val="accent1"/>
                  </a:solidFill>
                  <a:latin typeface="ui-monospace"/>
                </a:rPr>
                <a:t>：继承父类的方法并重写，并通过父类的引用调用，向上转型。在运行时会调用对应子类中的方法，灵活可拓展</a:t>
              </a:r>
              <a:endParaRPr lang="en-US" altLang="zh-CN" sz="1200" dirty="0">
                <a:solidFill>
                  <a:schemeClr val="accent1"/>
                </a:solidFill>
                <a:latin typeface="ui-monospace"/>
              </a:endParaRPr>
            </a:p>
            <a:p>
              <a:r>
                <a:rPr lang="zh-CN" altLang="en-US" sz="1200" b="1" dirty="0">
                  <a:solidFill>
                    <a:schemeClr val="accent1"/>
                  </a:solidFill>
                  <a:latin typeface="ui-monospace"/>
                </a:rPr>
                <a:t>参数多态</a:t>
              </a:r>
              <a:r>
                <a:rPr lang="en-US" altLang="zh-CN" sz="1200" b="1" dirty="0">
                  <a:solidFill>
                    <a:schemeClr val="accent1"/>
                  </a:solidFill>
                  <a:latin typeface="ui-monospace"/>
                </a:rPr>
                <a:t>/</a:t>
              </a:r>
              <a:r>
                <a:rPr lang="zh-CN" altLang="en-US" sz="1200" b="1" dirty="0">
                  <a:solidFill>
                    <a:schemeClr val="accent1"/>
                  </a:solidFill>
                  <a:latin typeface="ui-monospace"/>
                </a:rPr>
                <a:t>包含多态</a:t>
              </a:r>
              <a:r>
                <a:rPr lang="en-US" altLang="zh-CN" sz="1200" dirty="0">
                  <a:solidFill>
                    <a:schemeClr val="accent1"/>
                  </a:solidFill>
                  <a:latin typeface="ui-monospace"/>
                </a:rPr>
                <a:t>(</a:t>
              </a:r>
              <a:r>
                <a:rPr lang="zh-CN" altLang="en-US" sz="1200" dirty="0">
                  <a:solidFill>
                    <a:schemeClr val="accent1"/>
                  </a:solidFill>
                  <a:latin typeface="ui-monospace"/>
                </a:rPr>
                <a:t>引用子类</a:t>
              </a:r>
              <a:r>
                <a:rPr lang="en-US" altLang="zh-CN" sz="1200" dirty="0">
                  <a:solidFill>
                    <a:schemeClr val="accent1"/>
                  </a:solidFill>
                  <a:latin typeface="ui-monospace"/>
                </a:rPr>
                <a:t>)</a:t>
              </a:r>
              <a:r>
                <a:rPr lang="en-US" altLang="zh-CN" sz="1200" b="1" dirty="0">
                  <a:solidFill>
                    <a:schemeClr val="accent1"/>
                  </a:solidFill>
                  <a:latin typeface="ui-monospace"/>
                </a:rPr>
                <a:t>/</a:t>
              </a:r>
              <a:r>
                <a:rPr lang="zh-CN" altLang="en-US" sz="1200" b="1" dirty="0">
                  <a:solidFill>
                    <a:schemeClr val="accent1"/>
                  </a:solidFill>
                  <a:latin typeface="ui-monospace"/>
                </a:rPr>
                <a:t>过载多态</a:t>
              </a:r>
              <a:r>
                <a:rPr lang="en-US" altLang="zh-CN" sz="1200" dirty="0">
                  <a:solidFill>
                    <a:schemeClr val="accent1"/>
                  </a:solidFill>
                  <a:latin typeface="ui-monospace"/>
                </a:rPr>
                <a:t>(</a:t>
              </a:r>
              <a:r>
                <a:rPr lang="zh-CN" altLang="en-US" sz="1200" dirty="0">
                  <a:solidFill>
                    <a:schemeClr val="accent1"/>
                  </a:solidFill>
                  <a:latin typeface="ui-monospace"/>
                </a:rPr>
                <a:t>上下文</a:t>
              </a:r>
              <a:r>
                <a:rPr lang="en-US" altLang="zh-CN" sz="1200" dirty="0">
                  <a:solidFill>
                    <a:schemeClr val="accent1"/>
                  </a:solidFill>
                  <a:latin typeface="ui-monospace"/>
                </a:rPr>
                <a:t>)/</a:t>
              </a:r>
              <a:r>
                <a:rPr lang="zh-CN" altLang="en-US" sz="1200" dirty="0">
                  <a:solidFill>
                    <a:schemeClr val="accent1"/>
                  </a:solidFill>
                  <a:latin typeface="ui-monospace"/>
                </a:rPr>
                <a:t>强制多态</a:t>
              </a:r>
              <a:endParaRPr lang="en-US" altLang="zh-CN" sz="1200" dirty="0">
                <a:solidFill>
                  <a:schemeClr val="accent1"/>
                </a:solidFill>
                <a:latin typeface="ui-monospace"/>
              </a:endParaRPr>
            </a:p>
            <a:p>
              <a:r>
                <a:rPr lang="zh-CN" altLang="en-US" sz="1200" b="1" dirty="0">
                  <a:solidFill>
                    <a:schemeClr val="accent1"/>
                  </a:solidFill>
                  <a:latin typeface="ui-monospace"/>
                </a:rPr>
                <a:t>覆盖</a:t>
              </a:r>
              <a:r>
                <a:rPr lang="en-US" altLang="zh-CN" sz="1200" b="1" dirty="0">
                  <a:solidFill>
                    <a:schemeClr val="accent1"/>
                  </a:solidFill>
                  <a:latin typeface="ui-monospace"/>
                </a:rPr>
                <a:t>/</a:t>
              </a:r>
              <a:r>
                <a:rPr lang="zh-CN" altLang="en-US" sz="1200" b="1" dirty="0">
                  <a:solidFill>
                    <a:schemeClr val="accent1"/>
                  </a:solidFill>
                  <a:latin typeface="ui-monospace"/>
                </a:rPr>
                <a:t>重写</a:t>
              </a:r>
              <a:r>
                <a:rPr lang="en-US" altLang="zh-CN" sz="1200" dirty="0">
                  <a:solidFill>
                    <a:schemeClr val="accent1"/>
                  </a:solidFill>
                  <a:latin typeface="ui-monospace"/>
                </a:rPr>
                <a:t>@Override </a:t>
              </a:r>
              <a:r>
                <a:rPr lang="zh-CN" altLang="en-US" sz="1200" dirty="0">
                  <a:solidFill>
                    <a:schemeClr val="accent1"/>
                  </a:solidFill>
                  <a:latin typeface="ui-monospace"/>
                </a:rPr>
                <a:t>：子类中具有 </a:t>
              </a:r>
              <a:r>
                <a:rPr lang="zh-CN" altLang="en-US" sz="1200" b="1" dirty="0">
                  <a:solidFill>
                    <a:schemeClr val="accent1"/>
                  </a:solidFill>
                  <a:latin typeface="ui-monospace"/>
                </a:rPr>
                <a:t>同名同参数 </a:t>
              </a:r>
              <a:r>
                <a:rPr lang="zh-CN" altLang="en-US" sz="1200" dirty="0">
                  <a:solidFill>
                    <a:schemeClr val="accent1"/>
                  </a:solidFill>
                  <a:latin typeface="ui-monospace"/>
                </a:rPr>
                <a:t>的方法，改变父类的函数行为。</a:t>
              </a:r>
              <a:endParaRPr lang="en-US" altLang="zh-CN" sz="1200" dirty="0">
                <a:solidFill>
                  <a:schemeClr val="accent1"/>
                </a:solidFill>
                <a:latin typeface="ui-monospace"/>
              </a:endParaRPr>
            </a:p>
            <a:p>
              <a:r>
                <a:rPr lang="zh-CN" altLang="en-US" sz="1200" dirty="0">
                  <a:solidFill>
                    <a:schemeClr val="accent1"/>
                  </a:solidFill>
                  <a:latin typeface="ui-monospace"/>
                </a:rPr>
                <a:t>动态绑定：继承后当代码运行时，通过父类引用调用父类和子类的重写方法，结果实际调用子类的方法</a:t>
              </a:r>
              <a:endParaRPr lang="en-US" altLang="zh-CN" sz="1200" dirty="0">
                <a:solidFill>
                  <a:schemeClr val="accent1"/>
                </a:solidFill>
                <a:latin typeface="ui-monospace"/>
              </a:endParaRPr>
            </a:p>
            <a:p>
              <a:r>
                <a:rPr lang="zh-CN" altLang="en-US" sz="1200" b="1" dirty="0">
                  <a:solidFill>
                    <a:schemeClr val="accent1"/>
                  </a:solidFill>
                  <a:latin typeface="ui-monospace"/>
                </a:rPr>
                <a:t>函数重载</a:t>
              </a:r>
              <a:r>
                <a:rPr lang="en-US" altLang="zh-CN" sz="1200" dirty="0">
                  <a:solidFill>
                    <a:schemeClr val="accent1"/>
                  </a:solidFill>
                  <a:latin typeface="ui-monospace"/>
                </a:rPr>
                <a:t>overload</a:t>
              </a:r>
              <a:r>
                <a:rPr lang="zh-CN" altLang="en-US" sz="1200" dirty="0">
                  <a:solidFill>
                    <a:schemeClr val="accent1"/>
                  </a:solidFill>
                  <a:latin typeface="ui-monospace"/>
                </a:rPr>
                <a:t>：同一个类中具有 </a:t>
              </a:r>
              <a:r>
                <a:rPr lang="zh-CN" altLang="en-US" sz="1200" b="1" dirty="0">
                  <a:solidFill>
                    <a:schemeClr val="accent1"/>
                  </a:solidFill>
                  <a:latin typeface="ui-monospace"/>
                </a:rPr>
                <a:t>同名不同参</a:t>
              </a:r>
              <a:r>
                <a:rPr lang="zh-CN" altLang="en-US" sz="1200" dirty="0">
                  <a:solidFill>
                    <a:schemeClr val="accent1"/>
                  </a:solidFill>
                  <a:latin typeface="ui-monospace"/>
                </a:rPr>
                <a:t> 的方法，提供多种方式来执行相同行为</a:t>
              </a:r>
              <a:endParaRPr lang="en-US" altLang="zh-CN" sz="1200" dirty="0">
                <a:solidFill>
                  <a:schemeClr val="accent1"/>
                </a:solidFill>
                <a:latin typeface="ui-monospace"/>
              </a:endParaRPr>
            </a:p>
            <a:p>
              <a:r>
                <a:rPr lang="zh-CN" altLang="en-US" sz="1200" dirty="0">
                  <a:solidFill>
                    <a:schemeClr val="accent1"/>
                  </a:solidFill>
                  <a:latin typeface="ui-monospace"/>
                </a:rPr>
                <a:t>绑定</a:t>
              </a:r>
              <a:r>
                <a:rPr lang="en-US" altLang="zh-CN" sz="1200" dirty="0">
                  <a:solidFill>
                    <a:schemeClr val="accent1"/>
                  </a:solidFill>
                  <a:latin typeface="ui-monospace"/>
                </a:rPr>
                <a:t>binding</a:t>
              </a:r>
              <a:r>
                <a:rPr lang="zh-CN" altLang="en-US" sz="1200" dirty="0">
                  <a:solidFill>
                    <a:schemeClr val="accent1"/>
                  </a:solidFill>
                  <a:latin typeface="ui-monospace"/>
                </a:rPr>
                <a:t>：把一个方法与其所在的类</a:t>
              </a:r>
              <a:r>
                <a:rPr lang="en-US" altLang="zh-CN" sz="1200" dirty="0">
                  <a:solidFill>
                    <a:schemeClr val="accent1"/>
                  </a:solidFill>
                  <a:latin typeface="ui-monospace"/>
                </a:rPr>
                <a:t>/</a:t>
              </a:r>
              <a:r>
                <a:rPr lang="zh-CN" altLang="en-US" sz="1200" dirty="0">
                  <a:solidFill>
                    <a:schemeClr val="accent1"/>
                  </a:solidFill>
                  <a:latin typeface="ui-monospace"/>
                </a:rPr>
                <a:t>对象关联起来</a:t>
              </a:r>
              <a:endParaRPr lang="en-US" altLang="zh-CN" sz="1200" dirty="0">
                <a:solidFill>
                  <a:schemeClr val="accent1"/>
                </a:solidFill>
                <a:latin typeface="ui-monospace"/>
              </a:endParaRPr>
            </a:p>
            <a:p>
              <a:r>
                <a:rPr lang="zh-CN" altLang="en-US" sz="1200" dirty="0">
                  <a:solidFill>
                    <a:schemeClr val="accent1"/>
                  </a:solidFill>
                  <a:latin typeface="ui-monospace"/>
                </a:rPr>
                <a:t>静态绑定：编译时，</a:t>
              </a:r>
              <a:r>
                <a:rPr lang="zh-CN" altLang="en-US" sz="1200" b="1" dirty="0">
                  <a:solidFill>
                    <a:schemeClr val="accent1"/>
                  </a:solidFill>
                  <a:latin typeface="ui-monospace"/>
                </a:rPr>
                <a:t>动态绑定</a:t>
              </a:r>
              <a:r>
                <a:rPr lang="zh-CN" altLang="en-US" sz="1200" dirty="0">
                  <a:solidFill>
                    <a:schemeClr val="accent1"/>
                  </a:solidFill>
                  <a:latin typeface="ui-monospace"/>
                </a:rPr>
                <a:t>：运行时</a:t>
              </a:r>
              <a:endParaRPr lang="en-US" altLang="zh-CN" sz="1200" dirty="0">
                <a:solidFill>
                  <a:schemeClr val="accent1"/>
                </a:solidFill>
                <a:latin typeface="ui-monospace"/>
              </a:endParaRPr>
            </a:p>
            <a:p>
              <a:r>
                <a:rPr lang="zh-CN" altLang="en-US" sz="1200" b="1" dirty="0">
                  <a:solidFill>
                    <a:schemeClr val="accent1"/>
                  </a:solidFill>
                  <a:latin typeface="ui-monospace"/>
                </a:rPr>
                <a:t>接口</a:t>
              </a:r>
              <a:r>
                <a:rPr lang="en-US" altLang="zh-CN" sz="1200" dirty="0">
                  <a:solidFill>
                    <a:schemeClr val="accent1"/>
                  </a:solidFill>
                  <a:latin typeface="ui-monospace"/>
                </a:rPr>
                <a:t>interface/</a:t>
              </a:r>
              <a:r>
                <a:rPr lang="zh-CN" altLang="en-US" sz="1200" dirty="0">
                  <a:solidFill>
                    <a:schemeClr val="accent1"/>
                  </a:solidFill>
                  <a:latin typeface="ui-monospace"/>
                </a:rPr>
                <a:t>实现</a:t>
              </a:r>
              <a:r>
                <a:rPr lang="en-US" altLang="zh-CN" sz="1200" dirty="0">
                  <a:solidFill>
                    <a:schemeClr val="accent1"/>
                  </a:solidFill>
                  <a:latin typeface="ui-monospace"/>
                </a:rPr>
                <a:t>implements</a:t>
              </a:r>
              <a:r>
                <a:rPr lang="zh-CN" altLang="en-US" sz="1200" dirty="0">
                  <a:solidFill>
                    <a:schemeClr val="accent1"/>
                  </a:solidFill>
                  <a:latin typeface="ui-monospace"/>
                </a:rPr>
                <a:t>：实现接口中的所有方法</a:t>
              </a:r>
              <a:endParaRPr lang="en-US" altLang="zh-CN" sz="1200" dirty="0">
                <a:solidFill>
                  <a:schemeClr val="accent1"/>
                </a:solidFill>
                <a:latin typeface="ui-monospace"/>
              </a:endParaRPr>
            </a:p>
          </p:txBody>
        </p:sp>
      </p:grpSp>
      <p:grpSp>
        <p:nvGrpSpPr>
          <p:cNvPr id="4" name="Group 25">
            <a:extLst>
              <a:ext uri="{FF2B5EF4-FFF2-40B4-BE49-F238E27FC236}">
                <a16:creationId xmlns:a16="http://schemas.microsoft.com/office/drawing/2014/main" id="{DF087830-D5DC-39B4-2ED0-877763F48678}"/>
              </a:ext>
            </a:extLst>
          </p:cNvPr>
          <p:cNvGrpSpPr/>
          <p:nvPr/>
        </p:nvGrpSpPr>
        <p:grpSpPr>
          <a:xfrm>
            <a:off x="7677482" y="974660"/>
            <a:ext cx="4386653" cy="2234254"/>
            <a:chOff x="7614613" y="5950488"/>
            <a:chExt cx="4386653" cy="2234254"/>
          </a:xfrm>
        </p:grpSpPr>
        <p:sp>
          <p:nvSpPr>
            <p:cNvPr id="5" name="Rectangle: Rounded Corners 35">
              <a:extLst>
                <a:ext uri="{FF2B5EF4-FFF2-40B4-BE49-F238E27FC236}">
                  <a16:creationId xmlns:a16="http://schemas.microsoft.com/office/drawing/2014/main" id="{60630DD6-E071-F234-A3F9-09C48ED35E6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▶面向对象设计 </a:t>
              </a:r>
              <a:r>
                <a:rPr lang="en-US" altLang="zh-CN" sz="1200" dirty="0">
                  <a:solidFill>
                    <a:schemeClr val="bg1"/>
                  </a:solidFill>
                  <a:latin typeface="ui-monospace"/>
                </a:rPr>
                <a:t>OOD</a:t>
              </a:r>
              <a:endParaRPr lang="en-US" sz="1200" dirty="0">
                <a:solidFill>
                  <a:schemeClr val="bg1"/>
                </a:solidFill>
              </a:endParaRPr>
            </a:p>
          </p:txBody>
        </p:sp>
        <p:sp>
          <p:nvSpPr>
            <p:cNvPr id="8" name="TextBox 36">
              <a:extLst>
                <a:ext uri="{FF2B5EF4-FFF2-40B4-BE49-F238E27FC236}">
                  <a16:creationId xmlns:a16="http://schemas.microsoft.com/office/drawing/2014/main" id="{B6D01A36-EAE2-487C-46DF-FEA4C079F725}"/>
                </a:ext>
              </a:extLst>
            </p:cNvPr>
            <p:cNvSpPr txBox="1"/>
            <p:nvPr/>
          </p:nvSpPr>
          <p:spPr>
            <a:xfrm>
              <a:off x="7667294" y="6245750"/>
              <a:ext cx="4281578" cy="1938992"/>
            </a:xfrm>
            <a:prstGeom prst="rect">
              <a:avLst/>
            </a:prstGeom>
            <a:noFill/>
          </p:spPr>
          <p:txBody>
            <a:bodyPr wrap="square">
              <a:spAutoFit/>
            </a:bodyPr>
            <a:lstStyle/>
            <a:p>
              <a:r>
                <a:rPr lang="zh-CN" altLang="en-US" sz="1200" dirty="0">
                  <a:solidFill>
                    <a:schemeClr val="accent1"/>
                  </a:solidFill>
                  <a:latin typeface="ui-monospace"/>
                </a:rPr>
                <a:t>单一责任原则：仅有一个引起变化的原因</a:t>
              </a:r>
              <a:endParaRPr lang="en-US" altLang="zh-CN" sz="1200" dirty="0">
                <a:solidFill>
                  <a:schemeClr val="accent1"/>
                </a:solidFill>
                <a:latin typeface="ui-monospace"/>
              </a:endParaRPr>
            </a:p>
            <a:p>
              <a:r>
                <a:rPr lang="zh-CN" altLang="en-US" sz="1200" dirty="0">
                  <a:solidFill>
                    <a:schemeClr val="accent1"/>
                  </a:solidFill>
                  <a:latin typeface="ui-monospace"/>
                </a:rPr>
                <a:t>开放封闭原则：开发是可拓展的，封闭是不可修改的</a:t>
              </a:r>
              <a:endParaRPr lang="en-US" altLang="zh-CN" sz="1200" dirty="0">
                <a:solidFill>
                  <a:schemeClr val="accent1"/>
                </a:solidFill>
                <a:latin typeface="ui-monospace"/>
              </a:endParaRPr>
            </a:p>
            <a:p>
              <a:r>
                <a:rPr lang="zh-CN" altLang="en-US" sz="1200" dirty="0">
                  <a:solidFill>
                    <a:schemeClr val="accent1"/>
                  </a:solidFill>
                  <a:latin typeface="ui-monospace"/>
                </a:rPr>
                <a:t>里氏替换原则：任何父类可以出现子类都可以出现替换</a:t>
              </a:r>
              <a:endParaRPr lang="en-US" altLang="zh-CN" sz="1200" dirty="0">
                <a:solidFill>
                  <a:schemeClr val="accent1"/>
                </a:solidFill>
                <a:latin typeface="ui-monospace"/>
              </a:endParaRPr>
            </a:p>
            <a:p>
              <a:r>
                <a:rPr lang="zh-CN" altLang="en-US" sz="1200" b="1" dirty="0">
                  <a:solidFill>
                    <a:schemeClr val="accent1"/>
                  </a:solidFill>
                  <a:latin typeface="ui-monospace"/>
                </a:rPr>
                <a:t>依赖倒置原则</a:t>
              </a:r>
              <a:r>
                <a:rPr lang="zh-CN" altLang="en-US" sz="1200" dirty="0">
                  <a:solidFill>
                    <a:schemeClr val="accent1"/>
                  </a:solidFill>
                  <a:latin typeface="ui-monospace"/>
                </a:rPr>
                <a:t>：细节依赖于抽象，抽象不依赖于细节。高层模块不应该依赖于底层模块，都依赖于抽象</a:t>
              </a:r>
              <a:endParaRPr lang="en-US" altLang="zh-CN" sz="1200" dirty="0">
                <a:solidFill>
                  <a:schemeClr val="accent1"/>
                </a:solidFill>
                <a:latin typeface="ui-monospace"/>
              </a:endParaRPr>
            </a:p>
            <a:p>
              <a:r>
                <a:rPr lang="zh-CN" altLang="en-US" sz="1200" dirty="0">
                  <a:solidFill>
                    <a:schemeClr val="accent1"/>
                  </a:solidFill>
                  <a:latin typeface="ui-monospace"/>
                </a:rPr>
                <a:t>接口分离原则：接口属于客户。依赖于抽象，不依赖于具体</a:t>
              </a:r>
              <a:endParaRPr lang="en-US" altLang="zh-CN" sz="1200" dirty="0">
                <a:solidFill>
                  <a:schemeClr val="accent1"/>
                </a:solidFill>
                <a:latin typeface="ui-monospace"/>
              </a:endParaRPr>
            </a:p>
            <a:p>
              <a:r>
                <a:rPr lang="zh-CN" altLang="en-US" sz="1200" dirty="0">
                  <a:solidFill>
                    <a:schemeClr val="accent1"/>
                  </a:solidFill>
                  <a:latin typeface="ui-monospace"/>
                </a:rPr>
                <a:t>共同封闭原则：变化对包产生影响则对包中所有类产生影响</a:t>
              </a:r>
              <a:endParaRPr lang="en-US" altLang="zh-CN" sz="1200" dirty="0">
                <a:solidFill>
                  <a:schemeClr val="accent1"/>
                </a:solidFill>
                <a:latin typeface="ui-monospace"/>
              </a:endParaRPr>
            </a:p>
            <a:p>
              <a:r>
                <a:rPr lang="zh-CN" altLang="en-US" sz="1200" dirty="0">
                  <a:solidFill>
                    <a:schemeClr val="accent1"/>
                  </a:solidFill>
                  <a:latin typeface="ui-monospace"/>
                </a:rPr>
                <a:t>共同重用原则：重用包中的一个类，需要重用所有类</a:t>
              </a:r>
              <a:endParaRPr lang="en-US" altLang="zh-CN" sz="1200" dirty="0">
                <a:solidFill>
                  <a:schemeClr val="accent1"/>
                </a:solidFill>
                <a:latin typeface="ui-monospace"/>
              </a:endParaRPr>
            </a:p>
            <a:p>
              <a:r>
                <a:rPr lang="zh-CN" altLang="en-US" sz="1200" dirty="0">
                  <a:solidFill>
                    <a:schemeClr val="accent1"/>
                  </a:solidFill>
                  <a:latin typeface="ui-monospace"/>
                </a:rPr>
                <a:t>定义：将</a:t>
              </a:r>
              <a:r>
                <a:rPr lang="en-US" altLang="zh-CN" sz="1200" dirty="0">
                  <a:solidFill>
                    <a:schemeClr val="accent1"/>
                  </a:solidFill>
                  <a:latin typeface="ui-monospace"/>
                </a:rPr>
                <a:t>OOA</a:t>
              </a:r>
              <a:r>
                <a:rPr lang="zh-CN" altLang="en-US" sz="1200" dirty="0">
                  <a:solidFill>
                    <a:schemeClr val="accent1"/>
                  </a:solidFill>
                  <a:latin typeface="ui-monospace"/>
                </a:rPr>
                <a:t>所创建的分析模型转化为设计模型和实现代码</a:t>
              </a:r>
              <a:endParaRPr lang="en-US" altLang="zh-CN" sz="1200" dirty="0">
                <a:solidFill>
                  <a:schemeClr val="accent1"/>
                </a:solidFill>
                <a:latin typeface="ui-monospace"/>
              </a:endParaRPr>
            </a:p>
            <a:p>
              <a:r>
                <a:rPr lang="zh-CN" altLang="en-US" sz="1200" dirty="0">
                  <a:solidFill>
                    <a:schemeClr val="accent1"/>
                  </a:solidFill>
                  <a:latin typeface="ui-monospace"/>
                </a:rPr>
                <a:t>识别类及对象、定义属性、定义服务、识别关系、识别包</a:t>
              </a:r>
              <a:endParaRPr lang="en-US" altLang="zh-CN" sz="1200" dirty="0">
                <a:solidFill>
                  <a:schemeClr val="accent1"/>
                </a:solidFill>
                <a:latin typeface="ui-monospace"/>
              </a:endParaRPr>
            </a:p>
          </p:txBody>
        </p:sp>
      </p:grpSp>
      <p:grpSp>
        <p:nvGrpSpPr>
          <p:cNvPr id="10" name="Group 25">
            <a:extLst>
              <a:ext uri="{FF2B5EF4-FFF2-40B4-BE49-F238E27FC236}">
                <a16:creationId xmlns:a16="http://schemas.microsoft.com/office/drawing/2014/main" id="{295A1D59-9520-19B7-33B2-D523A69A5512}"/>
              </a:ext>
            </a:extLst>
          </p:cNvPr>
          <p:cNvGrpSpPr/>
          <p:nvPr/>
        </p:nvGrpSpPr>
        <p:grpSpPr>
          <a:xfrm>
            <a:off x="7677483" y="54928"/>
            <a:ext cx="4386653" cy="941593"/>
            <a:chOff x="7614613" y="5950488"/>
            <a:chExt cx="4386653" cy="941593"/>
          </a:xfrm>
        </p:grpSpPr>
        <p:sp>
          <p:nvSpPr>
            <p:cNvPr id="11" name="Rectangle: Rounded Corners 35">
              <a:extLst>
                <a:ext uri="{FF2B5EF4-FFF2-40B4-BE49-F238E27FC236}">
                  <a16:creationId xmlns:a16="http://schemas.microsoft.com/office/drawing/2014/main" id="{B76232F0-15EA-A9EC-50D4-16289D8A881E}"/>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▶面向对象分析 </a:t>
              </a:r>
              <a:r>
                <a:rPr lang="en-US" altLang="zh-CN" sz="1200" dirty="0">
                  <a:solidFill>
                    <a:schemeClr val="bg1"/>
                  </a:solidFill>
                  <a:latin typeface="ui-monospace"/>
                </a:rPr>
                <a:t>OOA</a:t>
              </a:r>
              <a:endParaRPr lang="en-US" sz="1200" dirty="0">
                <a:solidFill>
                  <a:schemeClr val="bg1"/>
                </a:solidFill>
              </a:endParaRPr>
            </a:p>
          </p:txBody>
        </p:sp>
        <p:sp>
          <p:nvSpPr>
            <p:cNvPr id="12" name="TextBox 36">
              <a:extLst>
                <a:ext uri="{FF2B5EF4-FFF2-40B4-BE49-F238E27FC236}">
                  <a16:creationId xmlns:a16="http://schemas.microsoft.com/office/drawing/2014/main" id="{D412EA37-240A-9299-EC9B-DEEA526D1BF1}"/>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为了确定问题域，理解问题</a:t>
              </a:r>
              <a:endParaRPr lang="en-US" altLang="zh-CN" sz="1200" dirty="0">
                <a:solidFill>
                  <a:schemeClr val="accent1"/>
                </a:solidFill>
                <a:latin typeface="ui-monospace"/>
              </a:endParaRPr>
            </a:p>
            <a:p>
              <a:r>
                <a:rPr lang="zh-CN" altLang="en-US" sz="1200" dirty="0">
                  <a:solidFill>
                    <a:schemeClr val="accent1"/>
                  </a:solidFill>
                  <a:latin typeface="ui-monospace"/>
                </a:rPr>
                <a:t>认定</a:t>
              </a:r>
              <a:r>
                <a:rPr lang="en-US" altLang="zh-CN" sz="1200" dirty="0">
                  <a:solidFill>
                    <a:schemeClr val="accent1"/>
                  </a:solidFill>
                  <a:latin typeface="ui-monospace"/>
                </a:rPr>
                <a:t>(</a:t>
              </a:r>
              <a:r>
                <a:rPr lang="zh-CN" altLang="en-US" sz="1200" dirty="0">
                  <a:solidFill>
                    <a:schemeClr val="accent1"/>
                  </a:solidFill>
                  <a:latin typeface="ui-monospace"/>
                </a:rPr>
                <a:t>实质性</a:t>
              </a:r>
              <a:r>
                <a:rPr lang="en-US" altLang="zh-CN" sz="1200" dirty="0">
                  <a:solidFill>
                    <a:schemeClr val="accent1"/>
                  </a:solidFill>
                  <a:latin typeface="ui-monospace"/>
                </a:rPr>
                <a:t>)</a:t>
              </a:r>
              <a:r>
                <a:rPr lang="zh-CN" altLang="en-US" sz="1200" dirty="0">
                  <a:solidFill>
                    <a:schemeClr val="accent1"/>
                  </a:solidFill>
                  <a:latin typeface="ui-monospace"/>
                </a:rPr>
                <a:t>对象、组织对象、描述对象间的相互作用、确定对象的操作、定义对象的内部信息</a:t>
              </a:r>
              <a:endParaRPr lang="en-US" altLang="zh-CN" sz="1200" dirty="0">
                <a:solidFill>
                  <a:schemeClr val="accent1"/>
                </a:solidFill>
                <a:latin typeface="ui-monospace"/>
              </a:endParaRPr>
            </a:p>
          </p:txBody>
        </p:sp>
      </p:grpSp>
      <p:grpSp>
        <p:nvGrpSpPr>
          <p:cNvPr id="13" name="Group 25">
            <a:extLst>
              <a:ext uri="{FF2B5EF4-FFF2-40B4-BE49-F238E27FC236}">
                <a16:creationId xmlns:a16="http://schemas.microsoft.com/office/drawing/2014/main" id="{712A001E-9252-98A7-83D8-1AA56640CEFB}"/>
              </a:ext>
            </a:extLst>
          </p:cNvPr>
          <p:cNvGrpSpPr/>
          <p:nvPr/>
        </p:nvGrpSpPr>
        <p:grpSpPr>
          <a:xfrm>
            <a:off x="7677482" y="3199774"/>
            <a:ext cx="4386653" cy="572261"/>
            <a:chOff x="7614613" y="5950488"/>
            <a:chExt cx="4386653" cy="572261"/>
          </a:xfrm>
        </p:grpSpPr>
        <p:sp>
          <p:nvSpPr>
            <p:cNvPr id="17" name="Rectangle: Rounded Corners 35">
              <a:extLst>
                <a:ext uri="{FF2B5EF4-FFF2-40B4-BE49-F238E27FC236}">
                  <a16:creationId xmlns:a16="http://schemas.microsoft.com/office/drawing/2014/main" id="{D9F1EE82-493C-8110-C271-BAC136C9D187}"/>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▶面向对象测试</a:t>
              </a:r>
              <a:endParaRPr lang="en-US" sz="1200" dirty="0">
                <a:solidFill>
                  <a:schemeClr val="bg1"/>
                </a:solidFill>
              </a:endParaRPr>
            </a:p>
          </p:txBody>
        </p:sp>
        <p:sp>
          <p:nvSpPr>
            <p:cNvPr id="18" name="TextBox 36">
              <a:extLst>
                <a:ext uri="{FF2B5EF4-FFF2-40B4-BE49-F238E27FC236}">
                  <a16:creationId xmlns:a16="http://schemas.microsoft.com/office/drawing/2014/main" id="{942FECA7-EC01-CAEF-C6FF-ACF244C5E8C7}"/>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latin typeface="ui-monospace"/>
                </a:rPr>
                <a:t>算法层</a:t>
              </a:r>
              <a:r>
                <a:rPr lang="en-US" altLang="zh-CN" sz="1200" dirty="0">
                  <a:solidFill>
                    <a:schemeClr val="accent1"/>
                  </a:solidFill>
                  <a:latin typeface="ui-monospace"/>
                </a:rPr>
                <a:t>/</a:t>
              </a:r>
              <a:r>
                <a:rPr lang="zh-CN" altLang="en-US" sz="1200" dirty="0">
                  <a:solidFill>
                    <a:schemeClr val="accent1"/>
                  </a:solidFill>
                  <a:latin typeface="ui-monospace"/>
                </a:rPr>
                <a:t>单元测试</a:t>
              </a:r>
              <a:r>
                <a:rPr lang="en-US" altLang="zh-CN" sz="1200" dirty="0">
                  <a:solidFill>
                    <a:schemeClr val="accent1"/>
                  </a:solidFill>
                  <a:latin typeface="ui-monospace"/>
                </a:rPr>
                <a:t>-</a:t>
              </a:r>
              <a:r>
                <a:rPr lang="zh-CN" altLang="en-US" sz="1200" dirty="0">
                  <a:solidFill>
                    <a:schemeClr val="accent1"/>
                  </a:solidFill>
                  <a:latin typeface="ui-monospace"/>
                </a:rPr>
                <a:t>类层</a:t>
              </a:r>
              <a:r>
                <a:rPr lang="en-US" altLang="zh-CN" sz="1200" dirty="0">
                  <a:solidFill>
                    <a:schemeClr val="accent1"/>
                  </a:solidFill>
                  <a:latin typeface="ui-monospace"/>
                </a:rPr>
                <a:t>-</a:t>
              </a:r>
              <a:r>
                <a:rPr lang="zh-CN" altLang="en-US" sz="1200" dirty="0">
                  <a:solidFill>
                    <a:schemeClr val="accent1"/>
                  </a:solidFill>
                  <a:latin typeface="ui-monospace"/>
                </a:rPr>
                <a:t>模板层</a:t>
              </a:r>
              <a:r>
                <a:rPr lang="en-US" altLang="zh-CN" sz="1200" dirty="0">
                  <a:solidFill>
                    <a:schemeClr val="accent1"/>
                  </a:solidFill>
                  <a:latin typeface="ui-monospace"/>
                </a:rPr>
                <a:t>/</a:t>
              </a:r>
              <a:r>
                <a:rPr lang="zh-CN" altLang="en-US" sz="1200" dirty="0">
                  <a:solidFill>
                    <a:schemeClr val="accent1"/>
                  </a:solidFill>
                  <a:latin typeface="ui-monospace"/>
                </a:rPr>
                <a:t>集成测试</a:t>
              </a:r>
              <a:r>
                <a:rPr lang="en-US" altLang="zh-CN" sz="1200" dirty="0">
                  <a:solidFill>
                    <a:schemeClr val="accent1"/>
                  </a:solidFill>
                  <a:latin typeface="ui-monospace"/>
                </a:rPr>
                <a:t>-</a:t>
              </a:r>
              <a:r>
                <a:rPr lang="zh-CN" altLang="en-US" sz="1200" dirty="0">
                  <a:solidFill>
                    <a:schemeClr val="accent1"/>
                  </a:solidFill>
                  <a:latin typeface="ui-monospace"/>
                </a:rPr>
                <a:t>系统层</a:t>
              </a:r>
              <a:r>
                <a:rPr lang="en-US" altLang="zh-CN" sz="1200" dirty="0">
                  <a:solidFill>
                    <a:schemeClr val="accent1"/>
                  </a:solidFill>
                  <a:latin typeface="ui-monospace"/>
                </a:rPr>
                <a:t>/</a:t>
              </a:r>
              <a:r>
                <a:rPr lang="zh-CN" altLang="en-US" sz="1200" dirty="0">
                  <a:solidFill>
                    <a:schemeClr val="accent1"/>
                  </a:solidFill>
                  <a:latin typeface="ui-monospace"/>
                </a:rPr>
                <a:t>系统测试</a:t>
              </a:r>
              <a:endParaRPr lang="en-US" altLang="zh-CN" sz="1200" dirty="0">
                <a:solidFill>
                  <a:schemeClr val="accent1"/>
                </a:solidFill>
                <a:latin typeface="ui-monospace"/>
              </a:endParaRPr>
            </a:p>
          </p:txBody>
        </p:sp>
      </p:grpSp>
      <p:grpSp>
        <p:nvGrpSpPr>
          <p:cNvPr id="19" name="Group 25">
            <a:extLst>
              <a:ext uri="{FF2B5EF4-FFF2-40B4-BE49-F238E27FC236}">
                <a16:creationId xmlns:a16="http://schemas.microsoft.com/office/drawing/2014/main" id="{CBD242FE-9EB6-0252-2826-8DC357B7206A}"/>
              </a:ext>
            </a:extLst>
          </p:cNvPr>
          <p:cNvGrpSpPr/>
          <p:nvPr/>
        </p:nvGrpSpPr>
        <p:grpSpPr>
          <a:xfrm>
            <a:off x="7677482" y="3762464"/>
            <a:ext cx="4386653" cy="572261"/>
            <a:chOff x="7614613" y="5950488"/>
            <a:chExt cx="4386653" cy="572261"/>
          </a:xfrm>
        </p:grpSpPr>
        <p:sp>
          <p:nvSpPr>
            <p:cNvPr id="20" name="Rectangle: Rounded Corners 35">
              <a:extLst>
                <a:ext uri="{FF2B5EF4-FFF2-40B4-BE49-F238E27FC236}">
                  <a16:creationId xmlns:a16="http://schemas.microsoft.com/office/drawing/2014/main" id="{65B20110-4A3A-4603-CB3C-2D3FA2F026A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▶面向对象程序设计 </a:t>
              </a:r>
              <a:r>
                <a:rPr lang="en-US" altLang="zh-CN" sz="1200" dirty="0">
                  <a:solidFill>
                    <a:schemeClr val="bg1"/>
                  </a:solidFill>
                  <a:latin typeface="ui-monospace"/>
                </a:rPr>
                <a:t>OOP</a:t>
              </a:r>
              <a:endParaRPr lang="en-US" sz="1200" dirty="0">
                <a:solidFill>
                  <a:schemeClr val="bg1"/>
                </a:solidFill>
              </a:endParaRPr>
            </a:p>
          </p:txBody>
        </p:sp>
        <p:sp>
          <p:nvSpPr>
            <p:cNvPr id="21" name="TextBox 36">
              <a:extLst>
                <a:ext uri="{FF2B5EF4-FFF2-40B4-BE49-F238E27FC236}">
                  <a16:creationId xmlns:a16="http://schemas.microsoft.com/office/drawing/2014/main" id="{C9071E39-2CE3-1C91-B470-B3A39D8A0B52}"/>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latin typeface="ui-monospace"/>
                </a:rPr>
                <a:t>选用 面向对象程序设计语言 实现</a:t>
              </a:r>
              <a:endParaRPr lang="en-US" altLang="zh-CN" sz="1200" dirty="0">
                <a:solidFill>
                  <a:schemeClr val="accent1"/>
                </a:solidFill>
                <a:latin typeface="ui-monospace"/>
              </a:endParaRPr>
            </a:p>
          </p:txBody>
        </p:sp>
      </p:grpSp>
    </p:spTree>
    <p:extLst>
      <p:ext uri="{BB962C8B-B14F-4D97-AF65-F5344CB8AC3E}">
        <p14:creationId xmlns:p14="http://schemas.microsoft.com/office/powerpoint/2010/main" val="1305910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pic>
        <p:nvPicPr>
          <p:cNvPr id="1026" name="Picture 2" descr="在这里插入图片描述">
            <a:extLst>
              <a:ext uri="{FF2B5EF4-FFF2-40B4-BE49-F238E27FC236}">
                <a16:creationId xmlns:a16="http://schemas.microsoft.com/office/drawing/2014/main" id="{D897C464-1A3E-5F5E-68AC-97019E39BF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2" r="408" b="5997"/>
          <a:stretch/>
        </p:blipFill>
        <p:spPr bwMode="auto">
          <a:xfrm>
            <a:off x="7752166" y="1017195"/>
            <a:ext cx="4231672" cy="315221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事物</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关系</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图</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26" name="Group 25">
            <a:extLst>
              <a:ext uri="{FF2B5EF4-FFF2-40B4-BE49-F238E27FC236}">
                <a16:creationId xmlns:a16="http://schemas.microsoft.com/office/drawing/2014/main" id="{071CA162-88F9-8435-0C66-A35784F28D98}"/>
              </a:ext>
            </a:extLst>
          </p:cNvPr>
          <p:cNvGrpSpPr/>
          <p:nvPr/>
        </p:nvGrpSpPr>
        <p:grpSpPr>
          <a:xfrm>
            <a:off x="3097888" y="29458"/>
            <a:ext cx="4386653" cy="572261"/>
            <a:chOff x="7614613" y="5950488"/>
            <a:chExt cx="4386653" cy="572261"/>
          </a:xfrm>
        </p:grpSpPr>
        <p:sp>
          <p:nvSpPr>
            <p:cNvPr id="36" name="Rectangle: Rounded Corners 35">
              <a:extLst>
                <a:ext uri="{FF2B5EF4-FFF2-40B4-BE49-F238E27FC236}">
                  <a16:creationId xmlns:a16="http://schemas.microsoft.com/office/drawing/2014/main" id="{8798C73D-9163-9072-9825-B4E34A26CA3D}"/>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▶统一建模语言 </a:t>
              </a:r>
              <a:r>
                <a:rPr lang="en-US" altLang="zh-CN" sz="1200" dirty="0">
                  <a:solidFill>
                    <a:schemeClr val="bg1"/>
                  </a:solidFill>
                  <a:latin typeface="ui-monospace"/>
                </a:rPr>
                <a:t>UML</a:t>
              </a:r>
              <a:endParaRPr lang="en-US" sz="1200" dirty="0">
                <a:solidFill>
                  <a:schemeClr val="bg1"/>
                </a:solidFill>
              </a:endParaRPr>
            </a:p>
          </p:txBody>
        </p:sp>
        <p:sp>
          <p:nvSpPr>
            <p:cNvPr id="37" name="TextBox 36">
              <a:extLst>
                <a:ext uri="{FF2B5EF4-FFF2-40B4-BE49-F238E27FC236}">
                  <a16:creationId xmlns:a16="http://schemas.microsoft.com/office/drawing/2014/main" id="{C48311E3-227B-6FCF-51D5-C9D1C374440D}"/>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latin typeface="ui-monospace"/>
                </a:rPr>
                <a:t>构造块</a:t>
              </a:r>
              <a:r>
                <a:rPr lang="en-US" altLang="zh-CN" sz="1200" dirty="0">
                  <a:solidFill>
                    <a:schemeClr val="accent1"/>
                  </a:solidFill>
                  <a:latin typeface="ui-monospace"/>
                </a:rPr>
                <a:t>(</a:t>
              </a:r>
              <a:r>
                <a:rPr lang="zh-CN" altLang="en-US" sz="1200" dirty="0">
                  <a:solidFill>
                    <a:schemeClr val="accent1"/>
                  </a:solidFill>
                  <a:latin typeface="ui-monospace"/>
                </a:rPr>
                <a:t>事物</a:t>
              </a:r>
              <a:r>
                <a:rPr lang="en-US" altLang="zh-CN" sz="1200" dirty="0">
                  <a:solidFill>
                    <a:schemeClr val="accent1"/>
                  </a:solidFill>
                  <a:latin typeface="ui-monospace"/>
                </a:rPr>
                <a:t>/</a:t>
              </a:r>
              <a:r>
                <a:rPr lang="zh-CN" altLang="en-US" sz="1200" dirty="0">
                  <a:solidFill>
                    <a:schemeClr val="accent1"/>
                  </a:solidFill>
                  <a:latin typeface="ui-monospace"/>
                </a:rPr>
                <a:t>关系</a:t>
              </a:r>
              <a:r>
                <a:rPr lang="en-US" altLang="zh-CN" sz="1200" dirty="0">
                  <a:solidFill>
                    <a:schemeClr val="accent1"/>
                  </a:solidFill>
                  <a:latin typeface="ui-monospace"/>
                </a:rPr>
                <a:t>/</a:t>
              </a:r>
              <a:r>
                <a:rPr lang="zh-CN" altLang="en-US" sz="1200" dirty="0">
                  <a:solidFill>
                    <a:schemeClr val="accent1"/>
                  </a:solidFill>
                  <a:latin typeface="ui-monospace"/>
                </a:rPr>
                <a:t>图</a:t>
              </a:r>
              <a:r>
                <a:rPr lang="en-US" altLang="zh-CN" sz="1200" dirty="0">
                  <a:solidFill>
                    <a:schemeClr val="accent1"/>
                  </a:solidFill>
                  <a:latin typeface="ui-monospace"/>
                </a:rPr>
                <a:t>)</a:t>
              </a:r>
              <a:r>
                <a:rPr lang="zh-CN" altLang="en-US" sz="1200" dirty="0">
                  <a:solidFill>
                    <a:schemeClr val="accent1"/>
                  </a:solidFill>
                  <a:latin typeface="ui-monospace"/>
                </a:rPr>
                <a:t>、公共机制、规则</a:t>
              </a:r>
              <a:endParaRPr lang="en-US" altLang="zh-CN" sz="1200" dirty="0">
                <a:solidFill>
                  <a:schemeClr val="accent1"/>
                </a:solidFill>
                <a:latin typeface="ui-monospace"/>
              </a:endParaRPr>
            </a:p>
          </p:txBody>
        </p:sp>
      </p:grpSp>
      <p:grpSp>
        <p:nvGrpSpPr>
          <p:cNvPr id="10" name="Group 25">
            <a:extLst>
              <a:ext uri="{FF2B5EF4-FFF2-40B4-BE49-F238E27FC236}">
                <a16:creationId xmlns:a16="http://schemas.microsoft.com/office/drawing/2014/main" id="{BC012F78-6846-C3D8-8873-42884675C820}"/>
              </a:ext>
            </a:extLst>
          </p:cNvPr>
          <p:cNvGrpSpPr/>
          <p:nvPr/>
        </p:nvGrpSpPr>
        <p:grpSpPr>
          <a:xfrm>
            <a:off x="7677483" y="54928"/>
            <a:ext cx="4386653" cy="1126259"/>
            <a:chOff x="7614613" y="5950488"/>
            <a:chExt cx="4386653" cy="1126259"/>
          </a:xfrm>
        </p:grpSpPr>
        <p:sp>
          <p:nvSpPr>
            <p:cNvPr id="11" name="Rectangle: Rounded Corners 35">
              <a:extLst>
                <a:ext uri="{FF2B5EF4-FFF2-40B4-BE49-F238E27FC236}">
                  <a16:creationId xmlns:a16="http://schemas.microsoft.com/office/drawing/2014/main" id="{CB7B82BF-6584-DF28-0185-B00B634E30A6}"/>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▶类图 静态</a:t>
              </a:r>
              <a:endParaRPr lang="en-US" sz="1200" dirty="0">
                <a:solidFill>
                  <a:schemeClr val="bg1"/>
                </a:solidFill>
              </a:endParaRPr>
            </a:p>
          </p:txBody>
        </p:sp>
        <p:sp>
          <p:nvSpPr>
            <p:cNvPr id="12" name="TextBox 36">
              <a:extLst>
                <a:ext uri="{FF2B5EF4-FFF2-40B4-BE49-F238E27FC236}">
                  <a16:creationId xmlns:a16="http://schemas.microsoft.com/office/drawing/2014/main" id="{99ECDC32-0A45-5437-FD37-EB3ACA89866D}"/>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一组对象、接口、协作和之间的关系</a:t>
              </a:r>
              <a:endParaRPr lang="en-US" altLang="zh-CN" sz="1200" dirty="0">
                <a:solidFill>
                  <a:schemeClr val="accent1"/>
                </a:solidFill>
                <a:latin typeface="ui-monospace"/>
              </a:endParaRPr>
            </a:p>
            <a:p>
              <a:r>
                <a:rPr lang="zh-CN" altLang="en-US" sz="1200" dirty="0">
                  <a:solidFill>
                    <a:schemeClr val="accent1"/>
                  </a:solidFill>
                  <a:latin typeface="ui-monospace"/>
                </a:rPr>
                <a:t>权限修饰符：</a:t>
              </a:r>
              <a:r>
                <a:rPr lang="en-US" altLang="zh-CN" sz="1200" dirty="0">
                  <a:solidFill>
                    <a:schemeClr val="accent1"/>
                  </a:solidFill>
                  <a:latin typeface="ui-monospace"/>
                </a:rPr>
                <a:t>+public/-private/#protected/~</a:t>
              </a:r>
              <a:r>
                <a:rPr lang="zh-CN" altLang="en-US" sz="1200" dirty="0">
                  <a:solidFill>
                    <a:schemeClr val="accent1"/>
                  </a:solidFill>
                  <a:latin typeface="ui-monospace"/>
                </a:rPr>
                <a:t>包</a:t>
              </a:r>
              <a:endParaRPr lang="en-US" altLang="zh-CN" sz="1200" dirty="0">
                <a:solidFill>
                  <a:schemeClr val="accent1"/>
                </a:solidFill>
                <a:latin typeface="ui-monospace"/>
              </a:endParaRPr>
            </a:p>
            <a:p>
              <a:r>
                <a:rPr lang="zh-CN" altLang="en-US" sz="1200" dirty="0">
                  <a:solidFill>
                    <a:schemeClr val="accent1"/>
                  </a:solidFill>
                  <a:latin typeface="ui-monospace"/>
                </a:rPr>
                <a:t>非直接对象</a:t>
              </a:r>
              <a:r>
                <a:rPr lang="en-US" altLang="zh-CN" sz="1200" dirty="0">
                  <a:solidFill>
                    <a:schemeClr val="accent1"/>
                  </a:solidFill>
                  <a:latin typeface="ui-monospace"/>
                </a:rPr>
                <a:t>/</a:t>
              </a:r>
              <a:r>
                <a:rPr lang="zh-CN" altLang="en-US" sz="1200" dirty="0">
                  <a:solidFill>
                    <a:schemeClr val="accent1"/>
                  </a:solidFill>
                  <a:latin typeface="ui-monospace"/>
                </a:rPr>
                <a:t>直接对象</a:t>
              </a:r>
            </a:p>
            <a:p>
              <a:r>
                <a:rPr lang="zh-CN" altLang="en-US" sz="1200" dirty="0">
                  <a:solidFill>
                    <a:schemeClr val="accent1"/>
                  </a:solidFill>
                  <a:latin typeface="ui-monospace"/>
                </a:rPr>
                <a:t>斜体：抽象</a:t>
              </a:r>
              <a:endParaRPr lang="en-US" altLang="zh-CN" sz="1200" dirty="0">
                <a:solidFill>
                  <a:schemeClr val="accent1"/>
                </a:solidFill>
                <a:latin typeface="ui-monospace"/>
              </a:endParaRPr>
            </a:p>
          </p:txBody>
        </p:sp>
      </p:grpSp>
      <p:grpSp>
        <p:nvGrpSpPr>
          <p:cNvPr id="9" name="Group 25">
            <a:extLst>
              <a:ext uri="{FF2B5EF4-FFF2-40B4-BE49-F238E27FC236}">
                <a16:creationId xmlns:a16="http://schemas.microsoft.com/office/drawing/2014/main" id="{84D73D80-4FC8-1D6F-19FF-9DFB80037FA7}"/>
              </a:ext>
            </a:extLst>
          </p:cNvPr>
          <p:cNvGrpSpPr/>
          <p:nvPr/>
        </p:nvGrpSpPr>
        <p:grpSpPr>
          <a:xfrm>
            <a:off x="3097889" y="608515"/>
            <a:ext cx="4386653" cy="2972918"/>
            <a:chOff x="7614613" y="5950488"/>
            <a:chExt cx="4386653" cy="2972918"/>
          </a:xfrm>
        </p:grpSpPr>
        <p:sp>
          <p:nvSpPr>
            <p:cNvPr id="14" name="Rectangle: Rounded Corners 35">
              <a:extLst>
                <a:ext uri="{FF2B5EF4-FFF2-40B4-BE49-F238E27FC236}">
                  <a16:creationId xmlns:a16="http://schemas.microsoft.com/office/drawing/2014/main" id="{36E0E4CB-B53B-B02D-168A-7607CE66D6D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▶事物</a:t>
              </a:r>
              <a:endParaRPr lang="en-US" sz="1200" dirty="0">
                <a:solidFill>
                  <a:schemeClr val="bg1"/>
                </a:solidFill>
              </a:endParaRPr>
            </a:p>
          </p:txBody>
        </p:sp>
        <p:sp>
          <p:nvSpPr>
            <p:cNvPr id="15" name="TextBox 36">
              <a:extLst>
                <a:ext uri="{FF2B5EF4-FFF2-40B4-BE49-F238E27FC236}">
                  <a16:creationId xmlns:a16="http://schemas.microsoft.com/office/drawing/2014/main" id="{5C0EE8E7-CD19-4200-9B9B-6C1680544BD9}"/>
                </a:ext>
              </a:extLst>
            </p:cNvPr>
            <p:cNvSpPr txBox="1"/>
            <p:nvPr/>
          </p:nvSpPr>
          <p:spPr>
            <a:xfrm>
              <a:off x="7667294" y="6245750"/>
              <a:ext cx="4281578" cy="2677656"/>
            </a:xfrm>
            <a:prstGeom prst="rect">
              <a:avLst/>
            </a:prstGeom>
            <a:noFill/>
          </p:spPr>
          <p:txBody>
            <a:bodyPr wrap="square">
              <a:spAutoFit/>
            </a:bodyPr>
            <a:lstStyle/>
            <a:p>
              <a:r>
                <a:rPr lang="zh-CN" altLang="en-US" sz="1200" dirty="0">
                  <a:solidFill>
                    <a:schemeClr val="accent1"/>
                  </a:solidFill>
                  <a:latin typeface="ui-monospace"/>
                </a:rPr>
                <a:t>结构事物：</a:t>
              </a:r>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r>
                <a:rPr lang="zh-CN" altLang="en-US" sz="1200" dirty="0">
                  <a:solidFill>
                    <a:schemeClr val="accent1"/>
                  </a:solidFill>
                  <a:latin typeface="ui-monospace"/>
                </a:rPr>
                <a:t>行为事物：</a:t>
              </a:r>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r>
                <a:rPr lang="zh-CN" altLang="en-US" sz="1200" dirty="0">
                  <a:solidFill>
                    <a:schemeClr val="accent1"/>
                  </a:solidFill>
                  <a:latin typeface="ui-monospace"/>
                </a:rPr>
                <a:t>分组事物：</a:t>
              </a:r>
              <a:endParaRPr lang="en-US" altLang="zh-CN" sz="1200" dirty="0">
                <a:solidFill>
                  <a:schemeClr val="accent1"/>
                </a:solidFill>
                <a:latin typeface="ui-monospace"/>
              </a:endParaRPr>
            </a:p>
            <a:p>
              <a:r>
                <a:rPr lang="zh-CN" altLang="en-US" sz="1200" dirty="0">
                  <a:solidFill>
                    <a:schemeClr val="accent1"/>
                  </a:solidFill>
                  <a:latin typeface="ui-monospace"/>
                </a:rPr>
                <a:t>注释事物：</a:t>
              </a:r>
              <a:endParaRPr lang="en-US" altLang="zh-CN" sz="1200" dirty="0">
                <a:solidFill>
                  <a:schemeClr val="accent1"/>
                </a:solidFill>
                <a:latin typeface="ui-monospace"/>
              </a:endParaRPr>
            </a:p>
          </p:txBody>
        </p:sp>
      </p:grpSp>
      <p:pic>
        <p:nvPicPr>
          <p:cNvPr id="22" name="图片 21">
            <a:extLst>
              <a:ext uri="{FF2B5EF4-FFF2-40B4-BE49-F238E27FC236}">
                <a16:creationId xmlns:a16="http://schemas.microsoft.com/office/drawing/2014/main" id="{C95E90FA-5FF7-0231-37F5-0DE68F2611A2}"/>
              </a:ext>
            </a:extLst>
          </p:cNvPr>
          <p:cNvPicPr>
            <a:picLocks noChangeAspect="1"/>
          </p:cNvPicPr>
          <p:nvPr/>
        </p:nvPicPr>
        <p:blipFill>
          <a:blip r:embed="rId3"/>
          <a:stretch>
            <a:fillRect/>
          </a:stretch>
        </p:blipFill>
        <p:spPr>
          <a:xfrm>
            <a:off x="4070104" y="959472"/>
            <a:ext cx="3370181" cy="1399692"/>
          </a:xfrm>
          <a:prstGeom prst="rect">
            <a:avLst/>
          </a:prstGeom>
        </p:spPr>
      </p:pic>
      <p:pic>
        <p:nvPicPr>
          <p:cNvPr id="24" name="图片 23">
            <a:extLst>
              <a:ext uri="{FF2B5EF4-FFF2-40B4-BE49-F238E27FC236}">
                <a16:creationId xmlns:a16="http://schemas.microsoft.com/office/drawing/2014/main" id="{AD6A38FC-E41C-64B3-601B-24995DBBB871}"/>
              </a:ext>
            </a:extLst>
          </p:cNvPr>
          <p:cNvPicPr>
            <a:picLocks noChangeAspect="1"/>
          </p:cNvPicPr>
          <p:nvPr/>
        </p:nvPicPr>
        <p:blipFill>
          <a:blip r:embed="rId4"/>
          <a:stretch>
            <a:fillRect/>
          </a:stretch>
        </p:blipFill>
        <p:spPr>
          <a:xfrm>
            <a:off x="4039210" y="2516925"/>
            <a:ext cx="2452605" cy="533900"/>
          </a:xfrm>
          <a:prstGeom prst="rect">
            <a:avLst/>
          </a:prstGeom>
        </p:spPr>
      </p:pic>
      <p:pic>
        <p:nvPicPr>
          <p:cNvPr id="27" name="图片 26">
            <a:extLst>
              <a:ext uri="{FF2B5EF4-FFF2-40B4-BE49-F238E27FC236}">
                <a16:creationId xmlns:a16="http://schemas.microsoft.com/office/drawing/2014/main" id="{46EEE2D9-F163-E560-1F7D-804B6EC4400E}"/>
              </a:ext>
            </a:extLst>
          </p:cNvPr>
          <p:cNvPicPr>
            <a:picLocks noChangeAspect="1"/>
          </p:cNvPicPr>
          <p:nvPr/>
        </p:nvPicPr>
        <p:blipFill>
          <a:blip r:embed="rId5"/>
          <a:srcRect b="27771"/>
          <a:stretch>
            <a:fillRect/>
          </a:stretch>
        </p:blipFill>
        <p:spPr>
          <a:xfrm>
            <a:off x="4070104" y="3134630"/>
            <a:ext cx="1627209" cy="397069"/>
          </a:xfrm>
          <a:prstGeom prst="rect">
            <a:avLst/>
          </a:prstGeom>
        </p:spPr>
      </p:pic>
      <p:grpSp>
        <p:nvGrpSpPr>
          <p:cNvPr id="28" name="Group 25">
            <a:extLst>
              <a:ext uri="{FF2B5EF4-FFF2-40B4-BE49-F238E27FC236}">
                <a16:creationId xmlns:a16="http://schemas.microsoft.com/office/drawing/2014/main" id="{04BC602A-49BD-DB39-E2B8-24387E7E5B9C}"/>
              </a:ext>
            </a:extLst>
          </p:cNvPr>
          <p:cNvGrpSpPr/>
          <p:nvPr/>
        </p:nvGrpSpPr>
        <p:grpSpPr>
          <a:xfrm>
            <a:off x="3097887" y="3581433"/>
            <a:ext cx="4386653" cy="2788252"/>
            <a:chOff x="7614613" y="5950488"/>
            <a:chExt cx="4386653" cy="2788252"/>
          </a:xfrm>
        </p:grpSpPr>
        <p:sp>
          <p:nvSpPr>
            <p:cNvPr id="29" name="Rectangle: Rounded Corners 35">
              <a:extLst>
                <a:ext uri="{FF2B5EF4-FFF2-40B4-BE49-F238E27FC236}">
                  <a16:creationId xmlns:a16="http://schemas.microsoft.com/office/drawing/2014/main" id="{7837E88E-FD5A-FE6F-0BA0-B55175C2DAE4}"/>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▶关系</a:t>
              </a:r>
              <a:endParaRPr lang="en-US" sz="1200" dirty="0">
                <a:solidFill>
                  <a:schemeClr val="bg1"/>
                </a:solidFill>
              </a:endParaRPr>
            </a:p>
          </p:txBody>
        </p:sp>
        <p:sp>
          <p:nvSpPr>
            <p:cNvPr id="30" name="TextBox 36">
              <a:extLst>
                <a:ext uri="{FF2B5EF4-FFF2-40B4-BE49-F238E27FC236}">
                  <a16:creationId xmlns:a16="http://schemas.microsoft.com/office/drawing/2014/main" id="{E0D5BBA6-79E9-7367-75CB-248B4BD49B45}"/>
                </a:ext>
              </a:extLst>
            </p:cNvPr>
            <p:cNvSpPr txBox="1"/>
            <p:nvPr/>
          </p:nvSpPr>
          <p:spPr>
            <a:xfrm>
              <a:off x="7667294" y="6245750"/>
              <a:ext cx="4281578" cy="2492990"/>
            </a:xfrm>
            <a:prstGeom prst="rect">
              <a:avLst/>
            </a:prstGeom>
            <a:noFill/>
          </p:spPr>
          <p:txBody>
            <a:bodyPr wrap="square">
              <a:spAutoFit/>
            </a:bodyPr>
            <a:lstStyle/>
            <a:p>
              <a:r>
                <a:rPr lang="zh-CN" altLang="en-US" sz="1200" dirty="0">
                  <a:solidFill>
                    <a:schemeClr val="accent1"/>
                  </a:solidFill>
                  <a:latin typeface="ui-monospace"/>
                </a:rPr>
                <a:t>依赖：一个事物的语义依赖另一个事物，临时引用</a:t>
              </a:r>
              <a:endParaRPr lang="en-US" altLang="zh-CN" sz="1200" dirty="0">
                <a:solidFill>
                  <a:schemeClr val="accent1"/>
                </a:solidFill>
                <a:latin typeface="ui-monospace"/>
              </a:endParaRPr>
            </a:p>
            <a:p>
              <a:endParaRPr lang="en-US" altLang="zh-CN" sz="1200" dirty="0">
                <a:solidFill>
                  <a:schemeClr val="accent1"/>
                </a:solidFill>
                <a:latin typeface="ui-monospace"/>
              </a:endParaRPr>
            </a:p>
            <a:p>
              <a:r>
                <a:rPr lang="zh-CN" altLang="en-US" sz="1200" dirty="0">
                  <a:solidFill>
                    <a:schemeClr val="accent1"/>
                  </a:solidFill>
                  <a:latin typeface="ui-monospace"/>
                </a:rPr>
                <a:t>关联：长期引用，可标注重复度</a:t>
              </a:r>
              <a:r>
                <a:rPr lang="en-US" altLang="zh-CN" sz="1200" dirty="0">
                  <a:solidFill>
                    <a:schemeClr val="accent1"/>
                  </a:solidFill>
                  <a:latin typeface="ui-monospace"/>
                </a:rPr>
                <a:t>(</a:t>
              </a:r>
              <a:r>
                <a:rPr lang="zh-CN" altLang="en-US" sz="1200" b="1" dirty="0">
                  <a:solidFill>
                    <a:schemeClr val="accent1"/>
                  </a:solidFill>
                  <a:latin typeface="ui-monospace"/>
                </a:rPr>
                <a:t>多重度</a:t>
              </a:r>
              <a:r>
                <a:rPr lang="en-US" altLang="zh-CN" sz="1200" dirty="0">
                  <a:solidFill>
                    <a:schemeClr val="accent1"/>
                  </a:solidFill>
                  <a:latin typeface="ui-monospace"/>
                </a:rPr>
                <a:t>)/</a:t>
              </a:r>
              <a:r>
                <a:rPr lang="zh-CN" altLang="en-US" sz="1200" dirty="0">
                  <a:solidFill>
                    <a:schemeClr val="accent1"/>
                  </a:solidFill>
                  <a:latin typeface="ui-monospace"/>
                </a:rPr>
                <a:t>角色</a:t>
              </a:r>
              <a:endParaRPr lang="en-US" altLang="zh-CN" sz="1200" dirty="0">
                <a:solidFill>
                  <a:schemeClr val="accent1"/>
                </a:solidFill>
                <a:latin typeface="ui-monospace"/>
              </a:endParaRPr>
            </a:p>
            <a:p>
              <a:r>
                <a:rPr lang="zh-CN" altLang="en-US" sz="1200" dirty="0">
                  <a:solidFill>
                    <a:schemeClr val="accent1"/>
                  </a:solidFill>
                  <a:latin typeface="ui-monospace"/>
                </a:rPr>
                <a:t>单向关联</a:t>
              </a:r>
              <a:endParaRPr lang="en-US" altLang="zh-CN" sz="1200" dirty="0">
                <a:solidFill>
                  <a:schemeClr val="accent1"/>
                </a:solidFill>
                <a:latin typeface="ui-monospace"/>
              </a:endParaRPr>
            </a:p>
            <a:p>
              <a:r>
                <a:rPr lang="zh-CN" altLang="en-US" sz="1200" dirty="0">
                  <a:solidFill>
                    <a:schemeClr val="accent1"/>
                  </a:solidFill>
                  <a:latin typeface="ui-monospace"/>
                </a:rPr>
                <a:t>关联类：多对多</a:t>
              </a:r>
              <a:endParaRPr lang="en-US" altLang="zh-CN" sz="1200" dirty="0">
                <a:solidFill>
                  <a:schemeClr val="accent1"/>
                </a:solidFill>
                <a:latin typeface="ui-monospace"/>
              </a:endParaRPr>
            </a:p>
            <a:p>
              <a:endParaRPr lang="en-US" altLang="zh-CN" sz="1200" dirty="0">
                <a:solidFill>
                  <a:schemeClr val="accent1"/>
                </a:solidFill>
                <a:latin typeface="ui-monospace"/>
              </a:endParaRPr>
            </a:p>
            <a:p>
              <a:r>
                <a:rPr lang="zh-CN" altLang="en-US" sz="1200" dirty="0">
                  <a:solidFill>
                    <a:schemeClr val="accent1"/>
                  </a:solidFill>
                  <a:latin typeface="ui-monospace"/>
                </a:rPr>
                <a:t>聚集：整体和部分间的结构关系</a:t>
              </a:r>
              <a:endParaRPr lang="en-US" altLang="zh-CN" sz="1200" dirty="0">
                <a:solidFill>
                  <a:schemeClr val="accent1"/>
                </a:solidFill>
                <a:latin typeface="ui-monospace"/>
              </a:endParaRPr>
            </a:p>
            <a:p>
              <a:r>
                <a:rPr lang="zh-CN" altLang="en-US" sz="1200" dirty="0">
                  <a:solidFill>
                    <a:schemeClr val="accent1"/>
                  </a:solidFill>
                  <a:latin typeface="ui-monospace"/>
                </a:rPr>
                <a:t>聚合：松散绑定，整体消失部分仍存在</a:t>
              </a:r>
              <a:endParaRPr lang="en-US" altLang="zh-CN" sz="1200" dirty="0">
                <a:solidFill>
                  <a:schemeClr val="accent1"/>
                </a:solidFill>
                <a:latin typeface="ui-monospace"/>
              </a:endParaRPr>
            </a:p>
            <a:p>
              <a:r>
                <a:rPr lang="zh-CN" altLang="en-US" sz="1200" dirty="0">
                  <a:solidFill>
                    <a:schemeClr val="accent1"/>
                  </a:solidFill>
                  <a:latin typeface="ui-monospace"/>
                </a:rPr>
                <a:t>组合：生命周期绑定，整体消失部分也消失</a:t>
              </a:r>
              <a:endParaRPr lang="en-US" altLang="zh-CN" sz="1200" dirty="0">
                <a:solidFill>
                  <a:schemeClr val="accent1"/>
                </a:solidFill>
                <a:latin typeface="ui-monospace"/>
              </a:endParaRPr>
            </a:p>
            <a:p>
              <a:endParaRPr lang="en-US" altLang="zh-CN" sz="1200" dirty="0">
                <a:solidFill>
                  <a:schemeClr val="accent1"/>
                </a:solidFill>
                <a:latin typeface="ui-monospace"/>
              </a:endParaRPr>
            </a:p>
            <a:p>
              <a:r>
                <a:rPr lang="zh-CN" altLang="en-US" sz="1200" dirty="0">
                  <a:solidFill>
                    <a:schemeClr val="accent1"/>
                  </a:solidFill>
                  <a:latin typeface="ui-monospace"/>
                </a:rPr>
                <a:t>泛化</a:t>
              </a:r>
              <a:r>
                <a:rPr lang="en-US" altLang="zh-CN" sz="1200" dirty="0">
                  <a:solidFill>
                    <a:schemeClr val="accent1"/>
                  </a:solidFill>
                  <a:latin typeface="ui-monospace"/>
                </a:rPr>
                <a:t>/</a:t>
              </a:r>
              <a:r>
                <a:rPr lang="zh-CN" altLang="en-US" sz="1200" dirty="0">
                  <a:solidFill>
                    <a:schemeClr val="accent1"/>
                  </a:solidFill>
                  <a:latin typeface="ui-monospace"/>
                </a:rPr>
                <a:t>继承：一般</a:t>
              </a:r>
              <a:r>
                <a:rPr lang="en-US" altLang="zh-CN" sz="1200" dirty="0">
                  <a:solidFill>
                    <a:schemeClr val="accent1"/>
                  </a:solidFill>
                  <a:latin typeface="ui-monospace"/>
                </a:rPr>
                <a:t>/</a:t>
              </a:r>
              <a:r>
                <a:rPr lang="zh-CN" altLang="en-US" sz="1200" dirty="0">
                  <a:solidFill>
                    <a:schemeClr val="accent1"/>
                  </a:solidFill>
                  <a:latin typeface="ui-monospace"/>
                </a:rPr>
                <a:t>特殊的关系，子类</a:t>
              </a:r>
              <a:r>
                <a:rPr lang="en-US" altLang="zh-CN" sz="1200" dirty="0">
                  <a:solidFill>
                    <a:schemeClr val="accent1"/>
                  </a:solidFill>
                  <a:latin typeface="ui-monospace"/>
                </a:rPr>
                <a:t>/</a:t>
              </a:r>
              <a:r>
                <a:rPr lang="zh-CN" altLang="en-US" sz="1200" dirty="0">
                  <a:solidFill>
                    <a:schemeClr val="accent1"/>
                  </a:solidFill>
                  <a:latin typeface="ui-monospace"/>
                </a:rPr>
                <a:t>父类之间的关系</a:t>
              </a:r>
              <a:endParaRPr lang="en-US" altLang="zh-CN" sz="1200" dirty="0">
                <a:solidFill>
                  <a:schemeClr val="accent1"/>
                </a:solidFill>
                <a:latin typeface="ui-monospace"/>
              </a:endParaRPr>
            </a:p>
            <a:p>
              <a:endParaRPr lang="en-US" altLang="zh-CN" sz="1200" dirty="0">
                <a:solidFill>
                  <a:schemeClr val="accent1"/>
                </a:solidFill>
                <a:latin typeface="ui-monospace"/>
              </a:endParaRPr>
            </a:p>
            <a:p>
              <a:r>
                <a:rPr lang="zh-CN" altLang="en-US" sz="1200" dirty="0">
                  <a:solidFill>
                    <a:schemeClr val="accent1"/>
                  </a:solidFill>
                  <a:latin typeface="ui-monospace"/>
                </a:rPr>
                <a:t>实现：一个类元指定了另一个类元保证执行的契约</a:t>
              </a:r>
              <a:endParaRPr lang="en-US" altLang="zh-CN" sz="1200" dirty="0">
                <a:solidFill>
                  <a:schemeClr val="accent1"/>
                </a:solidFill>
                <a:latin typeface="ui-monospace"/>
              </a:endParaRPr>
            </a:p>
          </p:txBody>
        </p:sp>
      </p:grpSp>
      <p:cxnSp>
        <p:nvCxnSpPr>
          <p:cNvPr id="5" name="Straight Arrow Connector 4">
            <a:extLst>
              <a:ext uri="{FF2B5EF4-FFF2-40B4-BE49-F238E27FC236}">
                <a16:creationId xmlns:a16="http://schemas.microsoft.com/office/drawing/2014/main" id="{F626D397-EDD3-C1E3-DEA3-5197EB623FBA}"/>
              </a:ext>
            </a:extLst>
          </p:cNvPr>
          <p:cNvCxnSpPr>
            <a:cxnSpLocks/>
          </p:cNvCxnSpPr>
          <p:nvPr/>
        </p:nvCxnSpPr>
        <p:spPr>
          <a:xfrm>
            <a:off x="6261100" y="4230828"/>
            <a:ext cx="1103032" cy="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83B773A6-4470-240D-8687-E8C8CAD77464}"/>
              </a:ext>
            </a:extLst>
          </p:cNvPr>
          <p:cNvGrpSpPr/>
          <p:nvPr/>
        </p:nvGrpSpPr>
        <p:grpSpPr>
          <a:xfrm>
            <a:off x="6267450" y="6369778"/>
            <a:ext cx="1107668" cy="61663"/>
            <a:chOff x="6267450" y="4248274"/>
            <a:chExt cx="1107668" cy="61663"/>
          </a:xfrm>
        </p:grpSpPr>
        <p:cxnSp>
          <p:nvCxnSpPr>
            <p:cNvPr id="16" name="Straight Connector 15">
              <a:extLst>
                <a:ext uri="{FF2B5EF4-FFF2-40B4-BE49-F238E27FC236}">
                  <a16:creationId xmlns:a16="http://schemas.microsoft.com/office/drawing/2014/main" id="{73880B37-4BAA-29C3-BEDE-F800B0C7CA57}"/>
                </a:ext>
              </a:extLst>
            </p:cNvPr>
            <p:cNvCxnSpPr/>
            <p:nvPr/>
          </p:nvCxnSpPr>
          <p:spPr>
            <a:xfrm>
              <a:off x="6267450" y="4281488"/>
              <a:ext cx="1023938" cy="0"/>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7" name="Isosceles Triangle 16">
              <a:extLst>
                <a:ext uri="{FF2B5EF4-FFF2-40B4-BE49-F238E27FC236}">
                  <a16:creationId xmlns:a16="http://schemas.microsoft.com/office/drawing/2014/main" id="{32E01CCE-AF2D-7B75-AA20-E542E4103FDA}"/>
                </a:ext>
              </a:extLst>
            </p:cNvPr>
            <p:cNvSpPr/>
            <p:nvPr/>
          </p:nvSpPr>
          <p:spPr>
            <a:xfrm rot="5400000">
              <a:off x="7308567" y="4243387"/>
              <a:ext cx="61663" cy="71438"/>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1904BAFC-F73E-F0D3-2662-5E668421F6A7}"/>
              </a:ext>
            </a:extLst>
          </p:cNvPr>
          <p:cNvGrpSpPr/>
          <p:nvPr/>
        </p:nvGrpSpPr>
        <p:grpSpPr>
          <a:xfrm>
            <a:off x="6267450" y="6007834"/>
            <a:ext cx="1107668" cy="61663"/>
            <a:chOff x="6267450" y="4248274"/>
            <a:chExt cx="1107668" cy="61663"/>
          </a:xfrm>
        </p:grpSpPr>
        <p:cxnSp>
          <p:nvCxnSpPr>
            <p:cNvPr id="20" name="Straight Connector 19">
              <a:extLst>
                <a:ext uri="{FF2B5EF4-FFF2-40B4-BE49-F238E27FC236}">
                  <a16:creationId xmlns:a16="http://schemas.microsoft.com/office/drawing/2014/main" id="{135658C4-FF0D-E181-0B0F-1C5A0915F197}"/>
                </a:ext>
              </a:extLst>
            </p:cNvPr>
            <p:cNvCxnSpPr/>
            <p:nvPr/>
          </p:nvCxnSpPr>
          <p:spPr>
            <a:xfrm>
              <a:off x="6267450" y="4281488"/>
              <a:ext cx="1023938" cy="0"/>
            </a:xfrm>
            <a:prstGeom prst="line">
              <a:avLst/>
            </a:prstGeom>
            <a:ln/>
          </p:spPr>
          <p:style>
            <a:lnRef idx="1">
              <a:schemeClr val="dk1"/>
            </a:lnRef>
            <a:fillRef idx="0">
              <a:schemeClr val="dk1"/>
            </a:fillRef>
            <a:effectRef idx="0">
              <a:schemeClr val="dk1"/>
            </a:effectRef>
            <a:fontRef idx="minor">
              <a:schemeClr val="tx1"/>
            </a:fontRef>
          </p:style>
        </p:cxnSp>
        <p:sp>
          <p:nvSpPr>
            <p:cNvPr id="21" name="Isosceles Triangle 20">
              <a:extLst>
                <a:ext uri="{FF2B5EF4-FFF2-40B4-BE49-F238E27FC236}">
                  <a16:creationId xmlns:a16="http://schemas.microsoft.com/office/drawing/2014/main" id="{6906A19B-379F-7491-067F-9F28B08D909A}"/>
                </a:ext>
              </a:extLst>
            </p:cNvPr>
            <p:cNvSpPr/>
            <p:nvPr/>
          </p:nvSpPr>
          <p:spPr>
            <a:xfrm rot="5400000">
              <a:off x="7308567" y="4243387"/>
              <a:ext cx="61663" cy="71438"/>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4223ACEC-2C88-2A30-6911-7263ECB8C755}"/>
              </a:ext>
            </a:extLst>
          </p:cNvPr>
          <p:cNvSpPr txBox="1"/>
          <p:nvPr/>
        </p:nvSpPr>
        <p:spPr>
          <a:xfrm>
            <a:off x="6130925" y="4075824"/>
            <a:ext cx="235962" cy="200055"/>
          </a:xfrm>
          <a:prstGeom prst="rect">
            <a:avLst/>
          </a:prstGeom>
          <a:noFill/>
        </p:spPr>
        <p:txBody>
          <a:bodyPr wrap="none" rtlCol="0">
            <a:spAutoFit/>
          </a:bodyPr>
          <a:lstStyle/>
          <a:p>
            <a:r>
              <a:rPr lang="en-US" sz="700" dirty="0"/>
              <a:t>A</a:t>
            </a:r>
          </a:p>
        </p:txBody>
      </p:sp>
      <p:sp>
        <p:nvSpPr>
          <p:cNvPr id="25" name="TextBox 24">
            <a:extLst>
              <a:ext uri="{FF2B5EF4-FFF2-40B4-BE49-F238E27FC236}">
                <a16:creationId xmlns:a16="http://schemas.microsoft.com/office/drawing/2014/main" id="{8FCA2A4C-A632-DD90-834C-6F943F0C894B}"/>
              </a:ext>
            </a:extLst>
          </p:cNvPr>
          <p:cNvSpPr txBox="1"/>
          <p:nvPr/>
        </p:nvSpPr>
        <p:spPr>
          <a:xfrm>
            <a:off x="7254913" y="4075824"/>
            <a:ext cx="232756" cy="200055"/>
          </a:xfrm>
          <a:prstGeom prst="rect">
            <a:avLst/>
          </a:prstGeom>
          <a:noFill/>
        </p:spPr>
        <p:txBody>
          <a:bodyPr wrap="none" rtlCol="0">
            <a:spAutoFit/>
          </a:bodyPr>
          <a:lstStyle/>
          <a:p>
            <a:r>
              <a:rPr lang="en-US" sz="700" dirty="0"/>
              <a:t>B</a:t>
            </a:r>
          </a:p>
        </p:txBody>
      </p:sp>
      <p:sp>
        <p:nvSpPr>
          <p:cNvPr id="31" name="TextBox 30">
            <a:extLst>
              <a:ext uri="{FF2B5EF4-FFF2-40B4-BE49-F238E27FC236}">
                <a16:creationId xmlns:a16="http://schemas.microsoft.com/office/drawing/2014/main" id="{77D5F8FF-D9B2-4A19-0767-D6FE1CC3BB14}"/>
              </a:ext>
            </a:extLst>
          </p:cNvPr>
          <p:cNvSpPr txBox="1"/>
          <p:nvPr/>
        </p:nvSpPr>
        <p:spPr>
          <a:xfrm>
            <a:off x="6616445" y="4057146"/>
            <a:ext cx="415498" cy="184666"/>
          </a:xfrm>
          <a:prstGeom prst="rect">
            <a:avLst/>
          </a:prstGeom>
          <a:noFill/>
        </p:spPr>
        <p:txBody>
          <a:bodyPr wrap="none" rtlCol="0">
            <a:spAutoFit/>
          </a:bodyPr>
          <a:lstStyle/>
          <a:p>
            <a:r>
              <a:rPr lang="zh-CN" altLang="en-US" sz="600" dirty="0"/>
              <a:t>依赖于</a:t>
            </a:r>
            <a:endParaRPr lang="en-US" sz="600" dirty="0"/>
          </a:p>
        </p:txBody>
      </p:sp>
      <p:grpSp>
        <p:nvGrpSpPr>
          <p:cNvPr id="40" name="Group 39">
            <a:extLst>
              <a:ext uri="{FF2B5EF4-FFF2-40B4-BE49-F238E27FC236}">
                <a16:creationId xmlns:a16="http://schemas.microsoft.com/office/drawing/2014/main" id="{3FA2EAE8-F710-A4DF-F1CE-30D990B50946}"/>
              </a:ext>
            </a:extLst>
          </p:cNvPr>
          <p:cNvGrpSpPr/>
          <p:nvPr/>
        </p:nvGrpSpPr>
        <p:grpSpPr>
          <a:xfrm>
            <a:off x="6276573" y="5280275"/>
            <a:ext cx="1108925" cy="45719"/>
            <a:chOff x="6262814" y="4564156"/>
            <a:chExt cx="1108925" cy="45719"/>
          </a:xfrm>
        </p:grpSpPr>
        <p:cxnSp>
          <p:nvCxnSpPr>
            <p:cNvPr id="35" name="Straight Connector 34">
              <a:extLst>
                <a:ext uri="{FF2B5EF4-FFF2-40B4-BE49-F238E27FC236}">
                  <a16:creationId xmlns:a16="http://schemas.microsoft.com/office/drawing/2014/main" id="{EB5239B8-39C2-29F3-3669-5801C2AF15AD}"/>
                </a:ext>
              </a:extLst>
            </p:cNvPr>
            <p:cNvCxnSpPr/>
            <p:nvPr/>
          </p:nvCxnSpPr>
          <p:spPr>
            <a:xfrm>
              <a:off x="6262814" y="4586187"/>
              <a:ext cx="1023938" cy="0"/>
            </a:xfrm>
            <a:prstGeom prst="line">
              <a:avLst/>
            </a:prstGeom>
            <a:ln/>
          </p:spPr>
          <p:style>
            <a:lnRef idx="1">
              <a:schemeClr val="dk1"/>
            </a:lnRef>
            <a:fillRef idx="0">
              <a:schemeClr val="dk1"/>
            </a:fillRef>
            <a:effectRef idx="0">
              <a:schemeClr val="dk1"/>
            </a:effectRef>
            <a:fontRef idx="minor">
              <a:schemeClr val="tx1"/>
            </a:fontRef>
          </p:style>
        </p:cxnSp>
        <p:sp>
          <p:nvSpPr>
            <p:cNvPr id="39" name="Diamond 38">
              <a:extLst>
                <a:ext uri="{FF2B5EF4-FFF2-40B4-BE49-F238E27FC236}">
                  <a16:creationId xmlns:a16="http://schemas.microsoft.com/office/drawing/2014/main" id="{60738D3B-8DE1-AB1F-BEAD-A4109D8A0107}"/>
                </a:ext>
              </a:extLst>
            </p:cNvPr>
            <p:cNvSpPr/>
            <p:nvPr/>
          </p:nvSpPr>
          <p:spPr>
            <a:xfrm>
              <a:off x="7288009" y="4564156"/>
              <a:ext cx="83730" cy="45719"/>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576054E9-161B-E508-5B5E-C424D49EE617}"/>
              </a:ext>
            </a:extLst>
          </p:cNvPr>
          <p:cNvGrpSpPr/>
          <p:nvPr/>
        </p:nvGrpSpPr>
        <p:grpSpPr>
          <a:xfrm>
            <a:off x="6178287" y="4502368"/>
            <a:ext cx="1233649" cy="268746"/>
            <a:chOff x="6559368" y="5385021"/>
            <a:chExt cx="1233649" cy="268746"/>
          </a:xfrm>
        </p:grpSpPr>
        <p:cxnSp>
          <p:nvCxnSpPr>
            <p:cNvPr id="41" name="Straight Connector 40">
              <a:extLst>
                <a:ext uri="{FF2B5EF4-FFF2-40B4-BE49-F238E27FC236}">
                  <a16:creationId xmlns:a16="http://schemas.microsoft.com/office/drawing/2014/main" id="{6BB27A98-52A4-D8C8-10E6-6941AC8A2D56}"/>
                </a:ext>
              </a:extLst>
            </p:cNvPr>
            <p:cNvCxnSpPr/>
            <p:nvPr/>
          </p:nvCxnSpPr>
          <p:spPr>
            <a:xfrm>
              <a:off x="6653545" y="5507832"/>
              <a:ext cx="1023938" cy="0"/>
            </a:xfrm>
            <a:prstGeom prst="line">
              <a:avLst/>
            </a:prstGeom>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D1713506-FDEB-86E0-1774-1FFEDA0DCD3C}"/>
                </a:ext>
              </a:extLst>
            </p:cNvPr>
            <p:cNvSpPr txBox="1"/>
            <p:nvPr/>
          </p:nvSpPr>
          <p:spPr>
            <a:xfrm>
              <a:off x="6559368" y="5385021"/>
              <a:ext cx="300082" cy="184666"/>
            </a:xfrm>
            <a:prstGeom prst="rect">
              <a:avLst/>
            </a:prstGeom>
            <a:noFill/>
          </p:spPr>
          <p:txBody>
            <a:bodyPr wrap="none" rtlCol="0">
              <a:spAutoFit/>
            </a:bodyPr>
            <a:lstStyle/>
            <a:p>
              <a:r>
                <a:rPr lang="en-US" sz="600" dirty="0"/>
                <a:t>0..1</a:t>
              </a:r>
            </a:p>
          </p:txBody>
        </p:sp>
        <p:sp>
          <p:nvSpPr>
            <p:cNvPr id="43" name="TextBox 42">
              <a:extLst>
                <a:ext uri="{FF2B5EF4-FFF2-40B4-BE49-F238E27FC236}">
                  <a16:creationId xmlns:a16="http://schemas.microsoft.com/office/drawing/2014/main" id="{90E1DABD-51BB-DD5B-5937-DD19DCBA1414}"/>
                </a:ext>
              </a:extLst>
            </p:cNvPr>
            <p:cNvSpPr txBox="1"/>
            <p:nvPr/>
          </p:nvSpPr>
          <p:spPr>
            <a:xfrm>
              <a:off x="7477393" y="5385453"/>
              <a:ext cx="300082" cy="184666"/>
            </a:xfrm>
            <a:prstGeom prst="rect">
              <a:avLst/>
            </a:prstGeom>
            <a:noFill/>
          </p:spPr>
          <p:txBody>
            <a:bodyPr wrap="none" rtlCol="0">
              <a:spAutoFit/>
            </a:bodyPr>
            <a:lstStyle/>
            <a:p>
              <a:r>
                <a:rPr lang="en-US" sz="600" dirty="0"/>
                <a:t>0..*</a:t>
              </a:r>
            </a:p>
          </p:txBody>
        </p:sp>
        <p:sp>
          <p:nvSpPr>
            <p:cNvPr id="44" name="TextBox 43">
              <a:extLst>
                <a:ext uri="{FF2B5EF4-FFF2-40B4-BE49-F238E27FC236}">
                  <a16:creationId xmlns:a16="http://schemas.microsoft.com/office/drawing/2014/main" id="{A2CCD1F7-8C6C-8535-8A01-F034FFAF9FF5}"/>
                </a:ext>
              </a:extLst>
            </p:cNvPr>
            <p:cNvSpPr txBox="1"/>
            <p:nvPr/>
          </p:nvSpPr>
          <p:spPr>
            <a:xfrm>
              <a:off x="6559368" y="5465875"/>
              <a:ext cx="482824" cy="184666"/>
            </a:xfrm>
            <a:prstGeom prst="rect">
              <a:avLst/>
            </a:prstGeom>
            <a:noFill/>
          </p:spPr>
          <p:txBody>
            <a:bodyPr wrap="none" rtlCol="0">
              <a:spAutoFit/>
            </a:bodyPr>
            <a:lstStyle/>
            <a:p>
              <a:r>
                <a:rPr lang="en-US" sz="600" dirty="0"/>
                <a:t>employer</a:t>
              </a:r>
            </a:p>
          </p:txBody>
        </p:sp>
        <p:sp>
          <p:nvSpPr>
            <p:cNvPr id="45" name="TextBox 44">
              <a:extLst>
                <a:ext uri="{FF2B5EF4-FFF2-40B4-BE49-F238E27FC236}">
                  <a16:creationId xmlns:a16="http://schemas.microsoft.com/office/drawing/2014/main" id="{7671AA9F-0018-46F7-FE32-B08C2EBBC390}"/>
                </a:ext>
              </a:extLst>
            </p:cNvPr>
            <p:cNvSpPr txBox="1"/>
            <p:nvPr/>
          </p:nvSpPr>
          <p:spPr>
            <a:xfrm>
              <a:off x="7298971" y="5469101"/>
              <a:ext cx="494046" cy="184666"/>
            </a:xfrm>
            <a:prstGeom prst="rect">
              <a:avLst/>
            </a:prstGeom>
            <a:noFill/>
          </p:spPr>
          <p:txBody>
            <a:bodyPr wrap="none" rtlCol="0">
              <a:spAutoFit/>
            </a:bodyPr>
            <a:lstStyle/>
            <a:p>
              <a:r>
                <a:rPr lang="en-US" sz="600" dirty="0"/>
                <a:t>employee</a:t>
              </a:r>
            </a:p>
          </p:txBody>
        </p:sp>
      </p:grpSp>
      <p:sp>
        <p:nvSpPr>
          <p:cNvPr id="47" name="TextBox 46">
            <a:extLst>
              <a:ext uri="{FF2B5EF4-FFF2-40B4-BE49-F238E27FC236}">
                <a16:creationId xmlns:a16="http://schemas.microsoft.com/office/drawing/2014/main" id="{86B033BC-2FAD-9C88-CC76-180F5F475730}"/>
              </a:ext>
            </a:extLst>
          </p:cNvPr>
          <p:cNvSpPr txBox="1"/>
          <p:nvPr/>
        </p:nvSpPr>
        <p:spPr>
          <a:xfrm>
            <a:off x="6642446" y="4477329"/>
            <a:ext cx="338554" cy="184666"/>
          </a:xfrm>
          <a:prstGeom prst="rect">
            <a:avLst/>
          </a:prstGeom>
          <a:noFill/>
        </p:spPr>
        <p:txBody>
          <a:bodyPr wrap="none" rtlCol="0">
            <a:spAutoFit/>
          </a:bodyPr>
          <a:lstStyle/>
          <a:p>
            <a:r>
              <a:rPr lang="zh-CN" altLang="en-US" sz="600" dirty="0"/>
              <a:t>关联</a:t>
            </a:r>
            <a:endParaRPr lang="en-US" sz="600" dirty="0"/>
          </a:p>
        </p:txBody>
      </p:sp>
      <p:sp>
        <p:nvSpPr>
          <p:cNvPr id="48" name="TextBox 47">
            <a:extLst>
              <a:ext uri="{FF2B5EF4-FFF2-40B4-BE49-F238E27FC236}">
                <a16:creationId xmlns:a16="http://schemas.microsoft.com/office/drawing/2014/main" id="{C4BAEA1D-269C-16A8-9652-4ED83CF2DF7F}"/>
              </a:ext>
            </a:extLst>
          </p:cNvPr>
          <p:cNvSpPr txBox="1"/>
          <p:nvPr/>
        </p:nvSpPr>
        <p:spPr>
          <a:xfrm>
            <a:off x="6658944" y="5156930"/>
            <a:ext cx="340158" cy="184666"/>
          </a:xfrm>
          <a:prstGeom prst="rect">
            <a:avLst/>
          </a:prstGeom>
          <a:noFill/>
        </p:spPr>
        <p:txBody>
          <a:bodyPr wrap="none" rtlCol="0">
            <a:spAutoFit/>
          </a:bodyPr>
          <a:lstStyle/>
          <a:p>
            <a:r>
              <a:rPr lang="zh-CN" altLang="en-US" sz="600" dirty="0"/>
              <a:t>聚合</a:t>
            </a:r>
            <a:endParaRPr lang="en-US" sz="600" dirty="0"/>
          </a:p>
        </p:txBody>
      </p:sp>
      <p:sp>
        <p:nvSpPr>
          <p:cNvPr id="51" name="TextBox 50">
            <a:extLst>
              <a:ext uri="{FF2B5EF4-FFF2-40B4-BE49-F238E27FC236}">
                <a16:creationId xmlns:a16="http://schemas.microsoft.com/office/drawing/2014/main" id="{8D3716B9-58C3-558E-BC33-09AF482CD410}"/>
              </a:ext>
            </a:extLst>
          </p:cNvPr>
          <p:cNvSpPr txBox="1"/>
          <p:nvPr/>
        </p:nvSpPr>
        <p:spPr>
          <a:xfrm>
            <a:off x="7249534" y="5321199"/>
            <a:ext cx="338554" cy="184666"/>
          </a:xfrm>
          <a:prstGeom prst="rect">
            <a:avLst/>
          </a:prstGeom>
          <a:noFill/>
        </p:spPr>
        <p:txBody>
          <a:bodyPr wrap="none" rtlCol="0">
            <a:spAutoFit/>
          </a:bodyPr>
          <a:lstStyle>
            <a:defPPr>
              <a:defRPr lang="en-US"/>
            </a:defPPr>
            <a:lvl1pPr>
              <a:defRPr sz="600"/>
            </a:lvl1pPr>
          </a:lstStyle>
          <a:p>
            <a:r>
              <a:rPr lang="zh-CN" altLang="en-US" dirty="0"/>
              <a:t>整体</a:t>
            </a:r>
            <a:endParaRPr lang="en-US" dirty="0"/>
          </a:p>
        </p:txBody>
      </p:sp>
      <p:sp>
        <p:nvSpPr>
          <p:cNvPr id="52" name="TextBox 51">
            <a:extLst>
              <a:ext uri="{FF2B5EF4-FFF2-40B4-BE49-F238E27FC236}">
                <a16:creationId xmlns:a16="http://schemas.microsoft.com/office/drawing/2014/main" id="{3E8761AC-2475-CCBE-68E4-A774B9689C88}"/>
              </a:ext>
            </a:extLst>
          </p:cNvPr>
          <p:cNvSpPr txBox="1"/>
          <p:nvPr/>
        </p:nvSpPr>
        <p:spPr>
          <a:xfrm>
            <a:off x="6111287" y="5318247"/>
            <a:ext cx="338554" cy="184666"/>
          </a:xfrm>
          <a:prstGeom prst="rect">
            <a:avLst/>
          </a:prstGeom>
          <a:noFill/>
        </p:spPr>
        <p:txBody>
          <a:bodyPr wrap="none" rtlCol="0">
            <a:spAutoFit/>
          </a:bodyPr>
          <a:lstStyle>
            <a:defPPr>
              <a:defRPr lang="en-US"/>
            </a:defPPr>
            <a:lvl1pPr>
              <a:defRPr sz="600"/>
            </a:lvl1pPr>
          </a:lstStyle>
          <a:p>
            <a:r>
              <a:rPr lang="zh-CN" altLang="en-US" dirty="0"/>
              <a:t>部分</a:t>
            </a:r>
            <a:endParaRPr lang="en-US" dirty="0"/>
          </a:p>
        </p:txBody>
      </p:sp>
      <p:grpSp>
        <p:nvGrpSpPr>
          <p:cNvPr id="53" name="Group 52">
            <a:extLst>
              <a:ext uri="{FF2B5EF4-FFF2-40B4-BE49-F238E27FC236}">
                <a16:creationId xmlns:a16="http://schemas.microsoft.com/office/drawing/2014/main" id="{14EE1FFE-A46E-70D6-5C3C-0A36BF6A5DF4}"/>
              </a:ext>
            </a:extLst>
          </p:cNvPr>
          <p:cNvGrpSpPr/>
          <p:nvPr/>
        </p:nvGrpSpPr>
        <p:grpSpPr>
          <a:xfrm>
            <a:off x="6276573" y="5502581"/>
            <a:ext cx="1108925" cy="45719"/>
            <a:chOff x="6262814" y="4564156"/>
            <a:chExt cx="1108925" cy="45719"/>
          </a:xfrm>
        </p:grpSpPr>
        <p:cxnSp>
          <p:nvCxnSpPr>
            <p:cNvPr id="54" name="Straight Connector 53">
              <a:extLst>
                <a:ext uri="{FF2B5EF4-FFF2-40B4-BE49-F238E27FC236}">
                  <a16:creationId xmlns:a16="http://schemas.microsoft.com/office/drawing/2014/main" id="{198B796D-7EDE-90C4-0093-6C78CBA4573B}"/>
                </a:ext>
              </a:extLst>
            </p:cNvPr>
            <p:cNvCxnSpPr/>
            <p:nvPr/>
          </p:nvCxnSpPr>
          <p:spPr>
            <a:xfrm>
              <a:off x="6262814" y="4586187"/>
              <a:ext cx="1023938" cy="0"/>
            </a:xfrm>
            <a:prstGeom prst="line">
              <a:avLst/>
            </a:prstGeom>
            <a:ln/>
          </p:spPr>
          <p:style>
            <a:lnRef idx="1">
              <a:schemeClr val="dk1"/>
            </a:lnRef>
            <a:fillRef idx="0">
              <a:schemeClr val="dk1"/>
            </a:fillRef>
            <a:effectRef idx="0">
              <a:schemeClr val="dk1"/>
            </a:effectRef>
            <a:fontRef idx="minor">
              <a:schemeClr val="tx1"/>
            </a:fontRef>
          </p:style>
        </p:cxnSp>
        <p:sp>
          <p:nvSpPr>
            <p:cNvPr id="55" name="Diamond 54">
              <a:extLst>
                <a:ext uri="{FF2B5EF4-FFF2-40B4-BE49-F238E27FC236}">
                  <a16:creationId xmlns:a16="http://schemas.microsoft.com/office/drawing/2014/main" id="{30150083-EA61-B80F-EFA6-78EB62CF32E8}"/>
                </a:ext>
              </a:extLst>
            </p:cNvPr>
            <p:cNvSpPr/>
            <p:nvPr/>
          </p:nvSpPr>
          <p:spPr>
            <a:xfrm>
              <a:off x="7288009" y="4564156"/>
              <a:ext cx="83730" cy="45719"/>
            </a:xfrm>
            <a:prstGeom prst="diamond">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TextBox 55">
            <a:extLst>
              <a:ext uri="{FF2B5EF4-FFF2-40B4-BE49-F238E27FC236}">
                <a16:creationId xmlns:a16="http://schemas.microsoft.com/office/drawing/2014/main" id="{F7F1B734-D06B-58F4-9BC2-3F178DC7A944}"/>
              </a:ext>
            </a:extLst>
          </p:cNvPr>
          <p:cNvSpPr txBox="1"/>
          <p:nvPr/>
        </p:nvSpPr>
        <p:spPr>
          <a:xfrm>
            <a:off x="6658944" y="5379236"/>
            <a:ext cx="351378" cy="184666"/>
          </a:xfrm>
          <a:prstGeom prst="rect">
            <a:avLst/>
          </a:prstGeom>
          <a:noFill/>
        </p:spPr>
        <p:txBody>
          <a:bodyPr wrap="none" rtlCol="0">
            <a:spAutoFit/>
          </a:bodyPr>
          <a:lstStyle/>
          <a:p>
            <a:r>
              <a:rPr lang="zh-CN" altLang="en-US" sz="600" dirty="0"/>
              <a:t>组合</a:t>
            </a:r>
            <a:endParaRPr lang="en-US" sz="600" dirty="0"/>
          </a:p>
        </p:txBody>
      </p:sp>
      <p:sp>
        <p:nvSpPr>
          <p:cNvPr id="59" name="TextBox 58">
            <a:extLst>
              <a:ext uri="{FF2B5EF4-FFF2-40B4-BE49-F238E27FC236}">
                <a16:creationId xmlns:a16="http://schemas.microsoft.com/office/drawing/2014/main" id="{E6FF99C8-8E3D-E942-F562-CDF1BD2184E2}"/>
              </a:ext>
            </a:extLst>
          </p:cNvPr>
          <p:cNvSpPr txBox="1"/>
          <p:nvPr/>
        </p:nvSpPr>
        <p:spPr>
          <a:xfrm>
            <a:off x="6111287" y="5886663"/>
            <a:ext cx="338554" cy="184666"/>
          </a:xfrm>
          <a:prstGeom prst="rect">
            <a:avLst/>
          </a:prstGeom>
          <a:noFill/>
        </p:spPr>
        <p:txBody>
          <a:bodyPr wrap="none" rtlCol="0">
            <a:spAutoFit/>
          </a:bodyPr>
          <a:lstStyle>
            <a:defPPr>
              <a:defRPr lang="en-US"/>
            </a:defPPr>
            <a:lvl1pPr>
              <a:defRPr sz="600"/>
            </a:lvl1pPr>
          </a:lstStyle>
          <a:p>
            <a:r>
              <a:rPr lang="zh-CN" altLang="en-US" dirty="0"/>
              <a:t>子类</a:t>
            </a:r>
            <a:endParaRPr lang="en-US" dirty="0"/>
          </a:p>
        </p:txBody>
      </p:sp>
      <p:sp>
        <p:nvSpPr>
          <p:cNvPr id="60" name="TextBox 59">
            <a:extLst>
              <a:ext uri="{FF2B5EF4-FFF2-40B4-BE49-F238E27FC236}">
                <a16:creationId xmlns:a16="http://schemas.microsoft.com/office/drawing/2014/main" id="{CDC0E230-85D6-50B2-7112-7E04CC0D8C27}"/>
              </a:ext>
            </a:extLst>
          </p:cNvPr>
          <p:cNvSpPr txBox="1"/>
          <p:nvPr/>
        </p:nvSpPr>
        <p:spPr>
          <a:xfrm>
            <a:off x="7246353" y="5881857"/>
            <a:ext cx="340158" cy="184666"/>
          </a:xfrm>
          <a:prstGeom prst="rect">
            <a:avLst/>
          </a:prstGeom>
          <a:noFill/>
        </p:spPr>
        <p:txBody>
          <a:bodyPr wrap="none" rtlCol="0">
            <a:spAutoFit/>
          </a:bodyPr>
          <a:lstStyle>
            <a:defPPr>
              <a:defRPr lang="en-US"/>
            </a:defPPr>
            <a:lvl1pPr>
              <a:defRPr sz="600"/>
            </a:lvl1pPr>
          </a:lstStyle>
          <a:p>
            <a:r>
              <a:rPr lang="zh-CN" altLang="en-US" dirty="0"/>
              <a:t>父类</a:t>
            </a:r>
            <a:endParaRPr lang="en-US" dirty="0"/>
          </a:p>
        </p:txBody>
      </p:sp>
      <p:grpSp>
        <p:nvGrpSpPr>
          <p:cNvPr id="61" name="Group 60">
            <a:extLst>
              <a:ext uri="{FF2B5EF4-FFF2-40B4-BE49-F238E27FC236}">
                <a16:creationId xmlns:a16="http://schemas.microsoft.com/office/drawing/2014/main" id="{FB79BC4D-BAB9-9CB7-7AE6-CC4A6B14AFFD}"/>
              </a:ext>
            </a:extLst>
          </p:cNvPr>
          <p:cNvGrpSpPr/>
          <p:nvPr/>
        </p:nvGrpSpPr>
        <p:grpSpPr>
          <a:xfrm>
            <a:off x="6253503" y="4817548"/>
            <a:ext cx="1107668" cy="61663"/>
            <a:chOff x="6267450" y="4248274"/>
            <a:chExt cx="1107668" cy="61663"/>
          </a:xfrm>
        </p:grpSpPr>
        <p:cxnSp>
          <p:nvCxnSpPr>
            <p:cNvPr id="62" name="Straight Connector 61">
              <a:extLst>
                <a:ext uri="{FF2B5EF4-FFF2-40B4-BE49-F238E27FC236}">
                  <a16:creationId xmlns:a16="http://schemas.microsoft.com/office/drawing/2014/main" id="{DE5CE87A-2530-E183-1EF7-11278275B6AE}"/>
                </a:ext>
              </a:extLst>
            </p:cNvPr>
            <p:cNvCxnSpPr/>
            <p:nvPr/>
          </p:nvCxnSpPr>
          <p:spPr>
            <a:xfrm>
              <a:off x="6267450" y="4281488"/>
              <a:ext cx="1023938" cy="0"/>
            </a:xfrm>
            <a:prstGeom prst="line">
              <a:avLst/>
            </a:prstGeom>
            <a:ln/>
          </p:spPr>
          <p:style>
            <a:lnRef idx="1">
              <a:schemeClr val="dk1"/>
            </a:lnRef>
            <a:fillRef idx="0">
              <a:schemeClr val="dk1"/>
            </a:fillRef>
            <a:effectRef idx="0">
              <a:schemeClr val="dk1"/>
            </a:effectRef>
            <a:fontRef idx="minor">
              <a:schemeClr val="tx1"/>
            </a:fontRef>
          </p:style>
        </p:cxnSp>
        <p:sp>
          <p:nvSpPr>
            <p:cNvPr id="63" name="Isosceles Triangle 62">
              <a:extLst>
                <a:ext uri="{FF2B5EF4-FFF2-40B4-BE49-F238E27FC236}">
                  <a16:creationId xmlns:a16="http://schemas.microsoft.com/office/drawing/2014/main" id="{9BEE088F-EDB1-FD1F-7003-5C9EADA321AA}"/>
                </a:ext>
              </a:extLst>
            </p:cNvPr>
            <p:cNvSpPr/>
            <p:nvPr/>
          </p:nvSpPr>
          <p:spPr>
            <a:xfrm rot="5400000">
              <a:off x="7308567" y="4243387"/>
              <a:ext cx="61663" cy="71438"/>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4" name="TextBox 1023">
            <a:extLst>
              <a:ext uri="{FF2B5EF4-FFF2-40B4-BE49-F238E27FC236}">
                <a16:creationId xmlns:a16="http://schemas.microsoft.com/office/drawing/2014/main" id="{2A5DC9C9-BA2A-A3DE-3FAE-C86EC956DBC8}"/>
              </a:ext>
            </a:extLst>
          </p:cNvPr>
          <p:cNvSpPr txBox="1"/>
          <p:nvPr/>
        </p:nvSpPr>
        <p:spPr>
          <a:xfrm>
            <a:off x="6581497" y="4716758"/>
            <a:ext cx="492443" cy="184666"/>
          </a:xfrm>
          <a:prstGeom prst="rect">
            <a:avLst/>
          </a:prstGeom>
          <a:noFill/>
        </p:spPr>
        <p:txBody>
          <a:bodyPr wrap="none" rtlCol="0">
            <a:spAutoFit/>
          </a:bodyPr>
          <a:lstStyle/>
          <a:p>
            <a:r>
              <a:rPr lang="zh-CN" altLang="en-US" sz="600" dirty="0"/>
              <a:t>单向关联</a:t>
            </a:r>
            <a:endParaRPr lang="en-US" sz="600" dirty="0"/>
          </a:p>
        </p:txBody>
      </p:sp>
      <p:grpSp>
        <p:nvGrpSpPr>
          <p:cNvPr id="1025" name="Group 25">
            <a:extLst>
              <a:ext uri="{FF2B5EF4-FFF2-40B4-BE49-F238E27FC236}">
                <a16:creationId xmlns:a16="http://schemas.microsoft.com/office/drawing/2014/main" id="{0F0D0D98-7165-B4F5-ABD0-9AE0D5BC4938}"/>
              </a:ext>
            </a:extLst>
          </p:cNvPr>
          <p:cNvGrpSpPr/>
          <p:nvPr/>
        </p:nvGrpSpPr>
        <p:grpSpPr>
          <a:xfrm>
            <a:off x="7674675" y="4178710"/>
            <a:ext cx="4386653" cy="756927"/>
            <a:chOff x="7614613" y="5950488"/>
            <a:chExt cx="4386653" cy="756927"/>
          </a:xfrm>
        </p:grpSpPr>
        <p:sp>
          <p:nvSpPr>
            <p:cNvPr id="1027" name="Rectangle: Rounded Corners 35">
              <a:extLst>
                <a:ext uri="{FF2B5EF4-FFF2-40B4-BE49-F238E27FC236}">
                  <a16:creationId xmlns:a16="http://schemas.microsoft.com/office/drawing/2014/main" id="{7CD00C3D-FBCF-8DC8-3B56-AFD5CB0A8DC5}"/>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▶对象图 静态</a:t>
              </a:r>
              <a:endParaRPr lang="en-US" sz="1200" dirty="0">
                <a:solidFill>
                  <a:schemeClr val="bg1"/>
                </a:solidFill>
              </a:endParaRPr>
            </a:p>
          </p:txBody>
        </p:sp>
        <p:sp>
          <p:nvSpPr>
            <p:cNvPr id="1028" name="TextBox 36">
              <a:extLst>
                <a:ext uri="{FF2B5EF4-FFF2-40B4-BE49-F238E27FC236}">
                  <a16:creationId xmlns:a16="http://schemas.microsoft.com/office/drawing/2014/main" id="{B0F3E620-3A9C-38A4-CFA0-F90C381D8EC2}"/>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某一时刻一组对象</a:t>
              </a:r>
              <a:r>
                <a:rPr lang="en-US" altLang="zh-CN" sz="1200" dirty="0">
                  <a:solidFill>
                    <a:schemeClr val="accent1"/>
                  </a:solidFill>
                  <a:latin typeface="ui-monospace"/>
                </a:rPr>
                <a:t>(</a:t>
              </a:r>
              <a:r>
                <a:rPr lang="zh-CN" altLang="en-US" sz="1200" dirty="0">
                  <a:solidFill>
                    <a:schemeClr val="accent1"/>
                  </a:solidFill>
                  <a:latin typeface="ui-monospace"/>
                </a:rPr>
                <a:t>对象名</a:t>
              </a:r>
              <a:r>
                <a:rPr lang="en-US" altLang="zh-CN" sz="1200" dirty="0">
                  <a:solidFill>
                    <a:schemeClr val="accent1"/>
                  </a:solidFill>
                  <a:latin typeface="ui-monospace"/>
                </a:rPr>
                <a:t>:</a:t>
              </a:r>
              <a:r>
                <a:rPr lang="zh-CN" altLang="en-US" sz="1200" dirty="0">
                  <a:solidFill>
                    <a:schemeClr val="accent1"/>
                  </a:solidFill>
                  <a:latin typeface="ui-monospace"/>
                </a:rPr>
                <a:t>类名</a:t>
              </a:r>
              <a:r>
                <a:rPr lang="en-US" altLang="zh-CN" sz="1200" dirty="0">
                  <a:solidFill>
                    <a:schemeClr val="accent1"/>
                  </a:solidFill>
                  <a:latin typeface="ui-monospace"/>
                </a:rPr>
                <a:t>/</a:t>
              </a:r>
              <a:r>
                <a:rPr lang="zh-CN" altLang="en-US" sz="1200" dirty="0">
                  <a:solidFill>
                    <a:schemeClr val="accent1"/>
                  </a:solidFill>
                  <a:latin typeface="ui-monospace"/>
                </a:rPr>
                <a:t>下划线</a:t>
              </a:r>
              <a:r>
                <a:rPr lang="en-US" altLang="zh-CN" sz="1200" dirty="0">
                  <a:solidFill>
                    <a:schemeClr val="accent1"/>
                  </a:solidFill>
                  <a:latin typeface="ui-monospace"/>
                </a:rPr>
                <a:t>/</a:t>
              </a:r>
              <a:r>
                <a:rPr lang="zh-CN" altLang="en-US" sz="1200" dirty="0">
                  <a:solidFill>
                    <a:schemeClr val="accent1"/>
                  </a:solidFill>
                  <a:latin typeface="ui-monospace"/>
                </a:rPr>
                <a:t>属性值</a:t>
              </a:r>
              <a:r>
                <a:rPr lang="en-US" altLang="zh-CN" sz="1200" dirty="0">
                  <a:solidFill>
                    <a:schemeClr val="accent1"/>
                  </a:solidFill>
                  <a:latin typeface="ui-monospace"/>
                </a:rPr>
                <a:t>)</a:t>
              </a:r>
              <a:r>
                <a:rPr lang="zh-CN" altLang="en-US" sz="1200" dirty="0">
                  <a:solidFill>
                    <a:schemeClr val="accent1"/>
                  </a:solidFill>
                  <a:latin typeface="ui-monospace"/>
                </a:rPr>
                <a:t>以及之间的关系</a:t>
              </a:r>
              <a:r>
                <a:rPr lang="en-US" altLang="zh-CN" sz="1200" dirty="0">
                  <a:solidFill>
                    <a:schemeClr val="accent1"/>
                  </a:solidFill>
                  <a:latin typeface="ui-monospace"/>
                </a:rPr>
                <a:t>(</a:t>
              </a:r>
              <a:r>
                <a:rPr lang="zh-CN" altLang="en-US" sz="1200" dirty="0">
                  <a:solidFill>
                    <a:schemeClr val="accent1"/>
                  </a:solidFill>
                  <a:latin typeface="ui-monospace"/>
                </a:rPr>
                <a:t>链</a:t>
              </a:r>
              <a:r>
                <a:rPr lang="en-US" altLang="zh-CN" sz="1200" dirty="0">
                  <a:solidFill>
                    <a:schemeClr val="accent1"/>
                  </a:solidFill>
                  <a:latin typeface="ui-monospace"/>
                </a:rPr>
                <a:t>)</a:t>
              </a:r>
            </a:p>
          </p:txBody>
        </p:sp>
      </p:grpSp>
      <p:pic>
        <p:nvPicPr>
          <p:cNvPr id="1032" name="Picture 4" descr="在这里插入图片描述">
            <a:extLst>
              <a:ext uri="{FF2B5EF4-FFF2-40B4-BE49-F238E27FC236}">
                <a16:creationId xmlns:a16="http://schemas.microsoft.com/office/drawing/2014/main" id="{CEE7D277-13ED-176A-3F91-49BCE522151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675" b="1396"/>
          <a:stretch/>
        </p:blipFill>
        <p:spPr bwMode="auto">
          <a:xfrm>
            <a:off x="7852940" y="5042948"/>
            <a:ext cx="4109734" cy="159571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4B1FD19-7787-AECF-ABA4-11A8604879AD}"/>
              </a:ext>
            </a:extLst>
          </p:cNvPr>
          <p:cNvSpPr txBox="1"/>
          <p:nvPr/>
        </p:nvSpPr>
        <p:spPr>
          <a:xfrm>
            <a:off x="6120812" y="6246776"/>
            <a:ext cx="261610" cy="184666"/>
          </a:xfrm>
          <a:prstGeom prst="rect">
            <a:avLst/>
          </a:prstGeom>
          <a:noFill/>
        </p:spPr>
        <p:txBody>
          <a:bodyPr wrap="none" rtlCol="0">
            <a:spAutoFit/>
          </a:bodyPr>
          <a:lstStyle>
            <a:defPPr>
              <a:defRPr lang="en-US"/>
            </a:defPPr>
            <a:lvl1pPr>
              <a:defRPr sz="600"/>
            </a:lvl1pPr>
          </a:lstStyle>
          <a:p>
            <a:r>
              <a:rPr lang="zh-CN" altLang="en-US" dirty="0"/>
              <a:t>类</a:t>
            </a:r>
            <a:endParaRPr lang="en-US" dirty="0"/>
          </a:p>
        </p:txBody>
      </p:sp>
      <p:sp>
        <p:nvSpPr>
          <p:cNvPr id="8" name="TextBox 7">
            <a:extLst>
              <a:ext uri="{FF2B5EF4-FFF2-40B4-BE49-F238E27FC236}">
                <a16:creationId xmlns:a16="http://schemas.microsoft.com/office/drawing/2014/main" id="{37E09DD7-D183-1D21-47B3-D446D840A324}"/>
              </a:ext>
            </a:extLst>
          </p:cNvPr>
          <p:cNvSpPr txBox="1"/>
          <p:nvPr/>
        </p:nvSpPr>
        <p:spPr>
          <a:xfrm>
            <a:off x="7260595" y="6240543"/>
            <a:ext cx="338554" cy="184666"/>
          </a:xfrm>
          <a:prstGeom prst="rect">
            <a:avLst/>
          </a:prstGeom>
          <a:noFill/>
        </p:spPr>
        <p:txBody>
          <a:bodyPr wrap="none" rtlCol="0">
            <a:spAutoFit/>
          </a:bodyPr>
          <a:lstStyle>
            <a:defPPr>
              <a:defRPr lang="en-US"/>
            </a:defPPr>
            <a:lvl1pPr>
              <a:defRPr sz="600"/>
            </a:lvl1pPr>
          </a:lstStyle>
          <a:p>
            <a:r>
              <a:rPr lang="zh-CN" altLang="en-US" dirty="0"/>
              <a:t>接口</a:t>
            </a:r>
            <a:endParaRPr lang="en-US" dirty="0"/>
          </a:p>
        </p:txBody>
      </p:sp>
    </p:spTree>
    <p:extLst>
      <p:ext uri="{BB962C8B-B14F-4D97-AF65-F5344CB8AC3E}">
        <p14:creationId xmlns:p14="http://schemas.microsoft.com/office/powerpoint/2010/main" val="3667405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pic>
        <p:nvPicPr>
          <p:cNvPr id="2345" name="Picture 2344">
            <a:extLst>
              <a:ext uri="{FF2B5EF4-FFF2-40B4-BE49-F238E27FC236}">
                <a16:creationId xmlns:a16="http://schemas.microsoft.com/office/drawing/2014/main" id="{DB539B00-BFE3-D5F9-127B-DB76F56FAA34}"/>
              </a:ext>
            </a:extLst>
          </p:cNvPr>
          <p:cNvPicPr>
            <a:picLocks noChangeAspect="1"/>
          </p:cNvPicPr>
          <p:nvPr/>
        </p:nvPicPr>
        <p:blipFill>
          <a:blip r:embed="rId2"/>
          <a:stretch>
            <a:fillRect/>
          </a:stretch>
        </p:blipFill>
        <p:spPr>
          <a:xfrm>
            <a:off x="9662185" y="4594914"/>
            <a:ext cx="2367155" cy="1205723"/>
          </a:xfrm>
          <a:prstGeom prst="rect">
            <a:avLst/>
          </a:prstGeom>
        </p:spPr>
      </p:pic>
      <p:pic>
        <p:nvPicPr>
          <p:cNvPr id="17" name="Picture 16">
            <a:extLst>
              <a:ext uri="{FF2B5EF4-FFF2-40B4-BE49-F238E27FC236}">
                <a16:creationId xmlns:a16="http://schemas.microsoft.com/office/drawing/2014/main" id="{C4451588-FAC3-E102-0D8D-3600B648638C}"/>
              </a:ext>
            </a:extLst>
          </p:cNvPr>
          <p:cNvPicPr>
            <a:picLocks noChangeAspect="1"/>
          </p:cNvPicPr>
          <p:nvPr/>
        </p:nvPicPr>
        <p:blipFill>
          <a:blip r:embed="rId3"/>
          <a:stretch>
            <a:fillRect/>
          </a:stretch>
        </p:blipFill>
        <p:spPr>
          <a:xfrm>
            <a:off x="8514212" y="1648825"/>
            <a:ext cx="3515128" cy="1106614"/>
          </a:xfrm>
          <a:prstGeom prst="rect">
            <a:avLst/>
          </a:prstGeom>
        </p:spPr>
      </p:pic>
      <p:pic>
        <p:nvPicPr>
          <p:cNvPr id="2054" name="Picture 6" descr="在这里插入图片描述">
            <a:extLst>
              <a:ext uri="{FF2B5EF4-FFF2-40B4-BE49-F238E27FC236}">
                <a16:creationId xmlns:a16="http://schemas.microsoft.com/office/drawing/2014/main" id="{11BEECED-41C8-817A-B632-54897FCA96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1741" y="5451851"/>
            <a:ext cx="3267665" cy="1355571"/>
          </a:xfrm>
          <a:prstGeom prst="rect">
            <a:avLst/>
          </a:prstGeom>
          <a:noFill/>
          <a:extLst>
            <a:ext uri="{909E8E84-426E-40DD-AFC4-6F175D3DCCD1}">
              <a14:hiddenFill xmlns:a14="http://schemas.microsoft.com/office/drawing/2010/main">
                <a:solidFill>
                  <a:srgbClr val="FFFFFF"/>
                </a:solidFill>
              </a14:hiddenFill>
            </a:ext>
          </a:extLst>
        </p:spPr>
      </p:pic>
      <p:grpSp>
        <p:nvGrpSpPr>
          <p:cNvPr id="1029" name="Group 25">
            <a:extLst>
              <a:ext uri="{FF2B5EF4-FFF2-40B4-BE49-F238E27FC236}">
                <a16:creationId xmlns:a16="http://schemas.microsoft.com/office/drawing/2014/main" id="{02D7986B-0772-B43D-091C-78ACFC098694}"/>
              </a:ext>
            </a:extLst>
          </p:cNvPr>
          <p:cNvGrpSpPr/>
          <p:nvPr/>
        </p:nvGrpSpPr>
        <p:grpSpPr>
          <a:xfrm>
            <a:off x="3097887" y="58299"/>
            <a:ext cx="4386653" cy="1310925"/>
            <a:chOff x="7614613" y="5950488"/>
            <a:chExt cx="4386653" cy="1310925"/>
          </a:xfrm>
        </p:grpSpPr>
        <p:sp>
          <p:nvSpPr>
            <p:cNvPr id="1030" name="Rectangle: Rounded Corners 35">
              <a:extLst>
                <a:ext uri="{FF2B5EF4-FFF2-40B4-BE49-F238E27FC236}">
                  <a16:creationId xmlns:a16="http://schemas.microsoft.com/office/drawing/2014/main" id="{9EF7D9BF-671D-5CF5-9107-23EBB5FAB526}"/>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▶用例图 静态</a:t>
              </a:r>
              <a:endParaRPr lang="en-US" sz="1200" dirty="0">
                <a:solidFill>
                  <a:schemeClr val="bg1"/>
                </a:solidFill>
              </a:endParaRPr>
            </a:p>
          </p:txBody>
        </p:sp>
        <p:sp>
          <p:nvSpPr>
            <p:cNvPr id="1031" name="TextBox 36">
              <a:extLst>
                <a:ext uri="{FF2B5EF4-FFF2-40B4-BE49-F238E27FC236}">
                  <a16:creationId xmlns:a16="http://schemas.microsoft.com/office/drawing/2014/main" id="{20EF8B67-CC0A-E5FA-B990-40D642D2C702}"/>
                </a:ext>
              </a:extLst>
            </p:cNvPr>
            <p:cNvSpPr txBox="1"/>
            <p:nvPr/>
          </p:nvSpPr>
          <p:spPr>
            <a:xfrm>
              <a:off x="7667294" y="6245750"/>
              <a:ext cx="4281578" cy="1015663"/>
            </a:xfrm>
            <a:prstGeom prst="rect">
              <a:avLst/>
            </a:prstGeom>
            <a:noFill/>
          </p:spPr>
          <p:txBody>
            <a:bodyPr wrap="square">
              <a:spAutoFit/>
            </a:bodyPr>
            <a:lstStyle/>
            <a:p>
              <a:r>
                <a:rPr lang="zh-CN" altLang="en-US" sz="1200" dirty="0">
                  <a:solidFill>
                    <a:schemeClr val="accent1"/>
                  </a:solidFill>
                  <a:latin typeface="ui-monospace"/>
                </a:rPr>
                <a:t>对系统的语境</a:t>
              </a:r>
              <a:r>
                <a:rPr lang="en-US" altLang="zh-CN" sz="1200" dirty="0">
                  <a:solidFill>
                    <a:schemeClr val="accent1"/>
                  </a:solidFill>
                  <a:latin typeface="ui-monospace"/>
                </a:rPr>
                <a:t>/</a:t>
              </a:r>
              <a:r>
                <a:rPr lang="zh-CN" altLang="en-US" sz="1200" dirty="0">
                  <a:solidFill>
                    <a:schemeClr val="accent1"/>
                  </a:solidFill>
                  <a:latin typeface="ui-monospace"/>
                </a:rPr>
                <a:t>需求建模</a:t>
              </a:r>
              <a:endParaRPr lang="en-US" altLang="zh-CN" sz="1200" dirty="0">
                <a:solidFill>
                  <a:schemeClr val="accent1"/>
                </a:solidFill>
                <a:latin typeface="ui-monospace"/>
              </a:endParaRPr>
            </a:p>
            <a:p>
              <a:r>
                <a:rPr lang="zh-CN" altLang="en-US" sz="1200" dirty="0">
                  <a:solidFill>
                    <a:schemeClr val="accent1"/>
                  </a:solidFill>
                  <a:latin typeface="ui-monospace"/>
                </a:rPr>
                <a:t>一组用例</a:t>
              </a:r>
              <a:r>
                <a:rPr lang="en-US" altLang="zh-CN" sz="1200" dirty="0">
                  <a:solidFill>
                    <a:schemeClr val="accent1"/>
                  </a:solidFill>
                  <a:latin typeface="ui-monospace"/>
                </a:rPr>
                <a:t>(</a:t>
              </a:r>
              <a:r>
                <a:rPr lang="zh-CN" altLang="en-US" sz="1200" dirty="0">
                  <a:solidFill>
                    <a:schemeClr val="accent1"/>
                  </a:solidFill>
                  <a:latin typeface="ui-monospace"/>
                </a:rPr>
                <a:t>椭圆</a:t>
              </a:r>
              <a:r>
                <a:rPr lang="en-US" altLang="zh-CN" sz="1200" dirty="0">
                  <a:solidFill>
                    <a:schemeClr val="accent1"/>
                  </a:solidFill>
                  <a:latin typeface="ui-monospace"/>
                </a:rPr>
                <a:t>)</a:t>
              </a:r>
              <a:r>
                <a:rPr lang="zh-CN" altLang="en-US" sz="1200" dirty="0">
                  <a:solidFill>
                    <a:schemeClr val="accent1"/>
                  </a:solidFill>
                  <a:latin typeface="ui-monospace"/>
                </a:rPr>
                <a:t>、参与者</a:t>
              </a:r>
              <a:r>
                <a:rPr lang="en-US" altLang="zh-CN" sz="1200" dirty="0">
                  <a:solidFill>
                    <a:schemeClr val="accent1"/>
                  </a:solidFill>
                  <a:latin typeface="ui-monospace"/>
                </a:rPr>
                <a:t>(</a:t>
              </a:r>
              <a:r>
                <a:rPr lang="zh-CN" altLang="en-US" sz="1200" dirty="0">
                  <a:solidFill>
                    <a:schemeClr val="accent1"/>
                  </a:solidFill>
                  <a:latin typeface="ui-monospace"/>
                </a:rPr>
                <a:t>人员</a:t>
              </a:r>
              <a:r>
                <a:rPr lang="en-US" altLang="zh-CN" sz="1200" dirty="0">
                  <a:solidFill>
                    <a:schemeClr val="accent1"/>
                  </a:solidFill>
                  <a:latin typeface="ui-monospace"/>
                </a:rPr>
                <a:t>)</a:t>
              </a:r>
              <a:r>
                <a:rPr lang="zh-CN" altLang="en-US" sz="1200" dirty="0">
                  <a:solidFill>
                    <a:schemeClr val="accent1"/>
                  </a:solidFill>
                  <a:latin typeface="ui-monospace"/>
                </a:rPr>
                <a:t>以及之间的</a:t>
              </a:r>
              <a:r>
                <a:rPr lang="zh-CN" altLang="en-US" sz="1200" b="1" dirty="0">
                  <a:solidFill>
                    <a:schemeClr val="accent1"/>
                  </a:solidFill>
                  <a:latin typeface="ui-monospace"/>
                </a:rPr>
                <a:t>关系</a:t>
              </a:r>
              <a:r>
                <a:rPr lang="en-US" altLang="zh-CN" sz="1200" dirty="0">
                  <a:solidFill>
                    <a:schemeClr val="accent1"/>
                  </a:solidFill>
                  <a:latin typeface="ui-monospace"/>
                </a:rPr>
                <a:t>(</a:t>
              </a:r>
              <a:r>
                <a:rPr lang="zh-CN" altLang="en-US" sz="1200" dirty="0">
                  <a:solidFill>
                    <a:schemeClr val="accent1"/>
                  </a:solidFill>
                  <a:latin typeface="ui-monospace"/>
                </a:rPr>
                <a:t>箭头</a:t>
              </a:r>
              <a:r>
                <a:rPr lang="en-US" altLang="zh-CN" sz="1200" dirty="0">
                  <a:solidFill>
                    <a:schemeClr val="accent1"/>
                  </a:solidFill>
                  <a:latin typeface="ui-monospace"/>
                </a:rPr>
                <a:t>)</a:t>
              </a:r>
            </a:p>
            <a:p>
              <a:r>
                <a:rPr lang="zh-CN" altLang="en-US" sz="1200" dirty="0">
                  <a:solidFill>
                    <a:schemeClr val="accent1"/>
                  </a:solidFill>
                  <a:latin typeface="ui-monospace"/>
                </a:rPr>
                <a:t>包含关系</a:t>
              </a:r>
              <a:r>
                <a:rPr lang="en-US" altLang="zh-CN" sz="1200" dirty="0">
                  <a:solidFill>
                    <a:schemeClr val="accent1"/>
                  </a:solidFill>
                  <a:latin typeface="ui-monospace"/>
                </a:rPr>
                <a:t>&lt;&lt;include&gt;&gt;</a:t>
              </a:r>
              <a:r>
                <a:rPr lang="zh-CN" altLang="en-US" sz="1200" dirty="0">
                  <a:solidFill>
                    <a:schemeClr val="accent1"/>
                  </a:solidFill>
                  <a:latin typeface="ui-monospace"/>
                </a:rPr>
                <a:t>：虚线箭头</a:t>
              </a:r>
              <a:endParaRPr lang="en-US" altLang="zh-CN" sz="1200" dirty="0">
                <a:solidFill>
                  <a:schemeClr val="accent1"/>
                </a:solidFill>
                <a:latin typeface="ui-monospace"/>
              </a:endParaRPr>
            </a:p>
            <a:p>
              <a:r>
                <a:rPr lang="zh-CN" altLang="en-US" sz="1200" dirty="0">
                  <a:solidFill>
                    <a:schemeClr val="accent1"/>
                  </a:solidFill>
                  <a:latin typeface="ui-monospace"/>
                </a:rPr>
                <a:t>扩展关系</a:t>
              </a:r>
              <a:r>
                <a:rPr lang="en-US" altLang="zh-CN" sz="1200" dirty="0">
                  <a:solidFill>
                    <a:schemeClr val="accent1"/>
                  </a:solidFill>
                  <a:latin typeface="ui-monospace"/>
                </a:rPr>
                <a:t>&lt;&lt;extend&gt;&gt;</a:t>
              </a:r>
              <a:r>
                <a:rPr lang="zh-CN" altLang="en-US" sz="1200" dirty="0">
                  <a:solidFill>
                    <a:schemeClr val="accent1"/>
                  </a:solidFill>
                  <a:latin typeface="ui-monospace"/>
                </a:rPr>
                <a:t>：虚线箭头</a:t>
              </a:r>
              <a:endParaRPr lang="en-US" altLang="zh-CN" sz="1200" dirty="0">
                <a:solidFill>
                  <a:schemeClr val="accent1"/>
                </a:solidFill>
                <a:latin typeface="ui-monospace"/>
              </a:endParaRPr>
            </a:p>
            <a:p>
              <a:r>
                <a:rPr lang="zh-CN" altLang="en-US" sz="1200" dirty="0">
                  <a:solidFill>
                    <a:schemeClr val="accent1"/>
                  </a:solidFill>
                  <a:latin typeface="ui-monospace"/>
                </a:rPr>
                <a:t>泛化关系：实线空心箭头</a:t>
              </a:r>
              <a:endParaRPr lang="en-US" altLang="zh-CN" sz="1200" dirty="0">
                <a:solidFill>
                  <a:schemeClr val="accent1"/>
                </a:solidFill>
                <a:latin typeface="ui-monospace"/>
              </a:endParaRPr>
            </a:p>
          </p:txBody>
        </p:sp>
      </p:grpSp>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事物</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关系</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图</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0" name="Group 25">
            <a:extLst>
              <a:ext uri="{FF2B5EF4-FFF2-40B4-BE49-F238E27FC236}">
                <a16:creationId xmlns:a16="http://schemas.microsoft.com/office/drawing/2014/main" id="{BC012F78-6846-C3D8-8873-42884675C820}"/>
              </a:ext>
            </a:extLst>
          </p:cNvPr>
          <p:cNvGrpSpPr/>
          <p:nvPr/>
        </p:nvGrpSpPr>
        <p:grpSpPr>
          <a:xfrm>
            <a:off x="3049563" y="4897430"/>
            <a:ext cx="4386653" cy="756927"/>
            <a:chOff x="7614613" y="5950488"/>
            <a:chExt cx="4386653" cy="756927"/>
          </a:xfrm>
        </p:grpSpPr>
        <p:sp>
          <p:nvSpPr>
            <p:cNvPr id="11" name="Rectangle: Rounded Corners 35">
              <a:extLst>
                <a:ext uri="{FF2B5EF4-FFF2-40B4-BE49-F238E27FC236}">
                  <a16:creationId xmlns:a16="http://schemas.microsoft.com/office/drawing/2014/main" id="{CB7B82BF-6584-DF28-0185-B00B634E30A6}"/>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▶通信图</a:t>
              </a:r>
              <a:r>
                <a:rPr lang="en-US" altLang="zh-CN" sz="1200" dirty="0">
                  <a:solidFill>
                    <a:schemeClr val="bg1"/>
                  </a:solidFill>
                  <a:latin typeface="ui-monospace"/>
                </a:rPr>
                <a:t>(</a:t>
              </a:r>
              <a:r>
                <a:rPr lang="zh-CN" altLang="en-US" sz="1200" dirty="0">
                  <a:solidFill>
                    <a:schemeClr val="bg1"/>
                  </a:solidFill>
                  <a:latin typeface="ui-monospace"/>
                </a:rPr>
                <a:t>协作图</a:t>
              </a:r>
              <a:r>
                <a:rPr lang="en-US" altLang="zh-CN" sz="1200" dirty="0">
                  <a:solidFill>
                    <a:schemeClr val="bg1"/>
                  </a:solidFill>
                  <a:latin typeface="ui-monospace"/>
                </a:rPr>
                <a:t>)</a:t>
              </a:r>
              <a:r>
                <a:rPr lang="zh-CN" altLang="en-US" sz="1200" dirty="0">
                  <a:solidFill>
                    <a:schemeClr val="bg1"/>
                  </a:solidFill>
                  <a:latin typeface="ui-monospace"/>
                </a:rPr>
                <a:t> 动态</a:t>
              </a:r>
              <a:r>
                <a:rPr lang="en-US" altLang="zh-CN" sz="1200" dirty="0">
                  <a:solidFill>
                    <a:schemeClr val="bg1"/>
                  </a:solidFill>
                  <a:latin typeface="ui-monospace"/>
                </a:rPr>
                <a:t>/</a:t>
              </a:r>
              <a:r>
                <a:rPr lang="zh-CN" altLang="en-US" sz="1200" dirty="0">
                  <a:solidFill>
                    <a:schemeClr val="bg1"/>
                  </a:solidFill>
                  <a:latin typeface="ui-monospace"/>
                </a:rPr>
                <a:t>交互</a:t>
              </a:r>
              <a:endParaRPr lang="en-US" sz="1200" dirty="0">
                <a:solidFill>
                  <a:schemeClr val="bg1"/>
                </a:solidFill>
              </a:endParaRPr>
            </a:p>
          </p:txBody>
        </p:sp>
        <p:sp>
          <p:nvSpPr>
            <p:cNvPr id="12" name="TextBox 36">
              <a:extLst>
                <a:ext uri="{FF2B5EF4-FFF2-40B4-BE49-F238E27FC236}">
                  <a16:creationId xmlns:a16="http://schemas.microsoft.com/office/drawing/2014/main" id="{99ECDC32-0A45-5437-FD37-EB3ACA89866D}"/>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强调接收和发送消息的对象的结构组织，有</a:t>
              </a:r>
              <a:r>
                <a:rPr lang="zh-CN" altLang="en-US" sz="1200" b="1" dirty="0">
                  <a:solidFill>
                    <a:schemeClr val="accent1"/>
                  </a:solidFill>
                  <a:latin typeface="ui-monospace"/>
                </a:rPr>
                <a:t>路径</a:t>
              </a:r>
              <a:r>
                <a:rPr lang="zh-CN" altLang="en-US" sz="1200" dirty="0">
                  <a:solidFill>
                    <a:schemeClr val="accent1"/>
                  </a:solidFill>
                  <a:latin typeface="ui-monospace"/>
                </a:rPr>
                <a:t>和</a:t>
              </a:r>
              <a:r>
                <a:rPr lang="zh-CN" altLang="en-US" sz="1200" b="1" dirty="0">
                  <a:solidFill>
                    <a:schemeClr val="accent1"/>
                  </a:solidFill>
                  <a:latin typeface="ui-monospace"/>
                </a:rPr>
                <a:t>顺序号</a:t>
              </a:r>
              <a:r>
                <a:rPr lang="zh-CN" altLang="en-US" sz="1200" dirty="0">
                  <a:solidFill>
                    <a:schemeClr val="accent1"/>
                  </a:solidFill>
                  <a:latin typeface="ui-monospace"/>
                </a:rPr>
                <a:t>，可嵌套</a:t>
              </a:r>
              <a:endParaRPr lang="en-US" altLang="zh-CN" sz="1200" dirty="0">
                <a:solidFill>
                  <a:schemeClr val="accent1"/>
                </a:solidFill>
                <a:latin typeface="ui-monospace"/>
              </a:endParaRPr>
            </a:p>
          </p:txBody>
        </p:sp>
      </p:grpSp>
      <p:grpSp>
        <p:nvGrpSpPr>
          <p:cNvPr id="4" name="Group 25">
            <a:extLst>
              <a:ext uri="{FF2B5EF4-FFF2-40B4-BE49-F238E27FC236}">
                <a16:creationId xmlns:a16="http://schemas.microsoft.com/office/drawing/2014/main" id="{87C5C146-AF90-581D-D619-FDF3178D6802}"/>
              </a:ext>
            </a:extLst>
          </p:cNvPr>
          <p:cNvGrpSpPr/>
          <p:nvPr/>
        </p:nvGrpSpPr>
        <p:grpSpPr>
          <a:xfrm>
            <a:off x="3097889" y="2871273"/>
            <a:ext cx="4386653" cy="1126259"/>
            <a:chOff x="7614613" y="5950488"/>
            <a:chExt cx="4386653" cy="1126259"/>
          </a:xfrm>
        </p:grpSpPr>
        <p:sp>
          <p:nvSpPr>
            <p:cNvPr id="8" name="Rectangle: Rounded Corners 35">
              <a:extLst>
                <a:ext uri="{FF2B5EF4-FFF2-40B4-BE49-F238E27FC236}">
                  <a16:creationId xmlns:a16="http://schemas.microsoft.com/office/drawing/2014/main" id="{F44310FA-3A94-5C1D-B308-81AA918471C8}"/>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▶序列图</a:t>
              </a:r>
              <a:r>
                <a:rPr lang="en-US" altLang="zh-CN" sz="1200" dirty="0">
                  <a:solidFill>
                    <a:schemeClr val="bg1"/>
                  </a:solidFill>
                  <a:latin typeface="ui-monospace"/>
                </a:rPr>
                <a:t>(</a:t>
              </a:r>
              <a:r>
                <a:rPr lang="zh-CN" altLang="en-US" sz="1200" dirty="0">
                  <a:solidFill>
                    <a:schemeClr val="bg1"/>
                  </a:solidFill>
                  <a:latin typeface="ui-monospace"/>
                </a:rPr>
                <a:t>顺序图</a:t>
              </a:r>
              <a:r>
                <a:rPr lang="en-US" altLang="zh-CN" sz="1200" dirty="0">
                  <a:solidFill>
                    <a:schemeClr val="bg1"/>
                  </a:solidFill>
                  <a:latin typeface="ui-monospace"/>
                </a:rPr>
                <a:t>/</a:t>
              </a:r>
              <a:r>
                <a:rPr lang="zh-CN" altLang="en-US" sz="1200" dirty="0">
                  <a:solidFill>
                    <a:schemeClr val="bg1"/>
                  </a:solidFill>
                  <a:latin typeface="ui-monospace"/>
                </a:rPr>
                <a:t>时序图</a:t>
              </a:r>
              <a:r>
                <a:rPr lang="en-US" altLang="zh-CN" sz="1200" dirty="0">
                  <a:solidFill>
                    <a:schemeClr val="bg1"/>
                  </a:solidFill>
                  <a:latin typeface="ui-monospace"/>
                </a:rPr>
                <a:t>)</a:t>
              </a:r>
              <a:r>
                <a:rPr lang="zh-CN" altLang="en-US" sz="1200" dirty="0">
                  <a:solidFill>
                    <a:schemeClr val="bg1"/>
                  </a:solidFill>
                  <a:latin typeface="ui-monospace"/>
                </a:rPr>
                <a:t> 动态</a:t>
              </a:r>
              <a:r>
                <a:rPr lang="en-US" altLang="zh-CN" sz="1200" dirty="0">
                  <a:solidFill>
                    <a:schemeClr val="bg1"/>
                  </a:solidFill>
                  <a:latin typeface="ui-monospace"/>
                </a:rPr>
                <a:t>/</a:t>
              </a:r>
              <a:r>
                <a:rPr lang="zh-CN" altLang="en-US" sz="1200" dirty="0">
                  <a:solidFill>
                    <a:schemeClr val="bg1"/>
                  </a:solidFill>
                  <a:latin typeface="ui-monospace"/>
                </a:rPr>
                <a:t>交互</a:t>
              </a:r>
              <a:endParaRPr lang="en-US" sz="1200" dirty="0">
                <a:solidFill>
                  <a:schemeClr val="bg1"/>
                </a:solidFill>
              </a:endParaRPr>
            </a:p>
          </p:txBody>
        </p:sp>
        <p:sp>
          <p:nvSpPr>
            <p:cNvPr id="13" name="TextBox 36">
              <a:extLst>
                <a:ext uri="{FF2B5EF4-FFF2-40B4-BE49-F238E27FC236}">
                  <a16:creationId xmlns:a16="http://schemas.microsoft.com/office/drawing/2014/main" id="{716B1002-F86D-873A-5D10-7BDF123A6E4C}"/>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强调消息时间顺序的</a:t>
              </a:r>
              <a:r>
                <a:rPr lang="zh-CN" altLang="en-US" sz="1200" b="1" dirty="0">
                  <a:solidFill>
                    <a:schemeClr val="accent1"/>
                  </a:solidFill>
                  <a:latin typeface="ui-monospace"/>
                </a:rPr>
                <a:t>交互图</a:t>
              </a:r>
              <a:r>
                <a:rPr lang="zh-CN" altLang="en-US" sz="1200" dirty="0">
                  <a:solidFill>
                    <a:schemeClr val="accent1"/>
                  </a:solidFill>
                  <a:latin typeface="ui-monospace"/>
                </a:rPr>
                <a:t>，是场景的图形化表示，有</a:t>
              </a:r>
              <a:r>
                <a:rPr lang="zh-CN" altLang="en-US" sz="1200" b="1" dirty="0">
                  <a:solidFill>
                    <a:schemeClr val="accent1"/>
                  </a:solidFill>
                  <a:latin typeface="ui-monospace"/>
                </a:rPr>
                <a:t>对象生命线</a:t>
              </a:r>
              <a:r>
                <a:rPr lang="zh-CN" altLang="en-US" sz="1200" dirty="0">
                  <a:solidFill>
                    <a:schemeClr val="accent1"/>
                  </a:solidFill>
                  <a:latin typeface="ui-monospace"/>
                </a:rPr>
                <a:t>和</a:t>
              </a:r>
              <a:r>
                <a:rPr lang="zh-CN" altLang="en-US" sz="1200" b="1" dirty="0">
                  <a:solidFill>
                    <a:schemeClr val="accent1"/>
                  </a:solidFill>
                  <a:latin typeface="ui-monospace"/>
                </a:rPr>
                <a:t>控制焦点</a:t>
              </a:r>
              <a:r>
                <a:rPr lang="zh-CN" altLang="en-US" sz="1200" dirty="0">
                  <a:solidFill>
                    <a:schemeClr val="accent1"/>
                  </a:solidFill>
                  <a:latin typeface="ui-monospace"/>
                </a:rPr>
                <a:t>。水平为对象，垂直为按时间顺序的消息</a:t>
              </a:r>
              <a:endParaRPr lang="en-US" altLang="zh-CN" sz="1200" dirty="0">
                <a:solidFill>
                  <a:schemeClr val="accent1"/>
                </a:solidFill>
                <a:latin typeface="ui-monospace"/>
              </a:endParaRPr>
            </a:p>
            <a:p>
              <a:r>
                <a:rPr lang="en-US" altLang="zh-CN" sz="1200" dirty="0">
                  <a:solidFill>
                    <a:schemeClr val="accent1"/>
                  </a:solidFill>
                  <a:latin typeface="ui-monospace"/>
                </a:rPr>
                <a:t>-</a:t>
              </a:r>
              <a:r>
                <a:rPr lang="zh-CN" altLang="en-US" sz="1200" dirty="0">
                  <a:solidFill>
                    <a:schemeClr val="accent1"/>
                  </a:solidFill>
                  <a:latin typeface="ui-monospace"/>
                </a:rPr>
                <a:t>同步</a:t>
              </a:r>
              <a:r>
                <a:rPr lang="en-US" altLang="zh-CN" sz="1200" dirty="0">
                  <a:solidFill>
                    <a:schemeClr val="accent1"/>
                  </a:solidFill>
                  <a:latin typeface="ui-monospace"/>
                </a:rPr>
                <a:t>/</a:t>
              </a:r>
              <a:r>
                <a:rPr lang="zh-CN" altLang="en-US" sz="1200" dirty="0">
                  <a:solidFill>
                    <a:schemeClr val="accent1"/>
                  </a:solidFill>
                  <a:latin typeface="ui-monospace"/>
                </a:rPr>
                <a:t>调用消息、异步消息</a:t>
              </a:r>
              <a:r>
                <a:rPr lang="en-US" altLang="zh-CN" sz="1200" dirty="0">
                  <a:solidFill>
                    <a:schemeClr val="accent1"/>
                  </a:solidFill>
                  <a:latin typeface="ui-monospace"/>
                </a:rPr>
                <a:t>(</a:t>
              </a:r>
              <a:r>
                <a:rPr lang="zh-CN" altLang="en-US" sz="1200" dirty="0">
                  <a:solidFill>
                    <a:schemeClr val="accent1"/>
                  </a:solidFill>
                  <a:latin typeface="ui-monospace"/>
                </a:rPr>
                <a:t>半箭头</a:t>
              </a:r>
              <a:r>
                <a:rPr lang="en-US" altLang="zh-CN" sz="1200" dirty="0">
                  <a:solidFill>
                    <a:schemeClr val="accent1"/>
                  </a:solidFill>
                  <a:latin typeface="ui-monospace"/>
                </a:rPr>
                <a:t>)</a:t>
              </a:r>
              <a:r>
                <a:rPr lang="zh-CN" altLang="en-US" sz="1200" dirty="0">
                  <a:solidFill>
                    <a:schemeClr val="accent1"/>
                  </a:solidFill>
                  <a:latin typeface="ui-monospace"/>
                </a:rPr>
                <a:t>、返回消息</a:t>
              </a:r>
              <a:r>
                <a:rPr lang="en-US" altLang="zh-CN" sz="1200" dirty="0">
                  <a:solidFill>
                    <a:schemeClr val="accent1"/>
                  </a:solidFill>
                  <a:latin typeface="ui-monospace"/>
                </a:rPr>
                <a:t>(</a:t>
              </a:r>
              <a:r>
                <a:rPr lang="zh-CN" altLang="en-US" sz="1200" dirty="0">
                  <a:solidFill>
                    <a:schemeClr val="accent1"/>
                  </a:solidFill>
                  <a:latin typeface="ui-monospace"/>
                </a:rPr>
                <a:t>虚线</a:t>
              </a:r>
              <a:r>
                <a:rPr lang="en-US" altLang="zh-CN" sz="1200" dirty="0">
                  <a:solidFill>
                    <a:schemeClr val="accent1"/>
                  </a:solidFill>
                  <a:latin typeface="ui-monospace"/>
                </a:rPr>
                <a:t>)</a:t>
              </a:r>
            </a:p>
            <a:p>
              <a:r>
                <a:rPr lang="en-US" altLang="zh-CN" sz="1200" dirty="0">
                  <a:solidFill>
                    <a:schemeClr val="accent1"/>
                  </a:solidFill>
                  <a:latin typeface="ui-monospace"/>
                </a:rPr>
                <a:t>-</a:t>
              </a:r>
              <a:r>
                <a:rPr lang="zh-CN" altLang="en-US" sz="1200" dirty="0">
                  <a:solidFill>
                    <a:schemeClr val="accent1"/>
                  </a:solidFill>
                  <a:latin typeface="ui-monospace"/>
                </a:rPr>
                <a:t>对象需实现的方法</a:t>
              </a:r>
              <a:endParaRPr lang="en-US" altLang="zh-CN" sz="1200" dirty="0">
                <a:solidFill>
                  <a:schemeClr val="accent1"/>
                </a:solidFill>
                <a:latin typeface="ui-monospace"/>
              </a:endParaRPr>
            </a:p>
          </p:txBody>
        </p:sp>
      </p:grpSp>
      <p:grpSp>
        <p:nvGrpSpPr>
          <p:cNvPr id="1032" name="Group 1031">
            <a:extLst>
              <a:ext uri="{FF2B5EF4-FFF2-40B4-BE49-F238E27FC236}">
                <a16:creationId xmlns:a16="http://schemas.microsoft.com/office/drawing/2014/main" id="{E726DC5B-F811-5154-299C-90620BC04A02}"/>
              </a:ext>
            </a:extLst>
          </p:cNvPr>
          <p:cNvGrpSpPr/>
          <p:nvPr/>
        </p:nvGrpSpPr>
        <p:grpSpPr>
          <a:xfrm>
            <a:off x="5799206" y="961869"/>
            <a:ext cx="1651322" cy="193552"/>
            <a:chOff x="5818560" y="741868"/>
            <a:chExt cx="1651322" cy="193552"/>
          </a:xfrm>
        </p:grpSpPr>
        <p:sp>
          <p:nvSpPr>
            <p:cNvPr id="57" name="TextBox 56">
              <a:extLst>
                <a:ext uri="{FF2B5EF4-FFF2-40B4-BE49-F238E27FC236}">
                  <a16:creationId xmlns:a16="http://schemas.microsoft.com/office/drawing/2014/main" id="{8B714317-44B1-5987-7B24-FA73D95966C3}"/>
                </a:ext>
              </a:extLst>
            </p:cNvPr>
            <p:cNvSpPr txBox="1">
              <a:spLocks/>
            </p:cNvSpPr>
            <p:nvPr/>
          </p:nvSpPr>
          <p:spPr>
            <a:xfrm>
              <a:off x="6977439" y="741868"/>
              <a:ext cx="492443" cy="184666"/>
            </a:xfrm>
            <a:prstGeom prst="rect">
              <a:avLst/>
            </a:prstGeom>
            <a:noFill/>
          </p:spPr>
          <p:txBody>
            <a:bodyPr wrap="none" rtlCol="0">
              <a:spAutoFit/>
            </a:bodyPr>
            <a:lstStyle>
              <a:defPPr>
                <a:defRPr lang="en-US"/>
              </a:defPPr>
              <a:lvl1pPr>
                <a:defRPr sz="600"/>
              </a:lvl1pPr>
            </a:lstStyle>
            <a:p>
              <a:r>
                <a:rPr lang="zh-CN" altLang="en-US" dirty="0"/>
                <a:t>基本用例</a:t>
              </a:r>
              <a:endParaRPr lang="en-US" dirty="0"/>
            </a:p>
          </p:txBody>
        </p:sp>
        <p:sp>
          <p:nvSpPr>
            <p:cNvPr id="49" name="Isosceles Triangle 48">
              <a:extLst>
                <a:ext uri="{FF2B5EF4-FFF2-40B4-BE49-F238E27FC236}">
                  <a16:creationId xmlns:a16="http://schemas.microsoft.com/office/drawing/2014/main" id="{9663C7D5-1B65-B864-C550-243602F773A5}"/>
                </a:ext>
              </a:extLst>
            </p:cNvPr>
            <p:cNvSpPr/>
            <p:nvPr/>
          </p:nvSpPr>
          <p:spPr>
            <a:xfrm rot="5400000">
              <a:off x="7039653" y="862958"/>
              <a:ext cx="61663" cy="71438"/>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84E238DA-1A3D-FCD8-DDFE-BBE86E934FBF}"/>
                </a:ext>
              </a:extLst>
            </p:cNvPr>
            <p:cNvSpPr txBox="1"/>
            <p:nvPr/>
          </p:nvSpPr>
          <p:spPr>
            <a:xfrm>
              <a:off x="5818560" y="746674"/>
              <a:ext cx="492443" cy="184666"/>
            </a:xfrm>
            <a:prstGeom prst="rect">
              <a:avLst/>
            </a:prstGeom>
            <a:noFill/>
          </p:spPr>
          <p:txBody>
            <a:bodyPr wrap="none" rtlCol="0">
              <a:spAutoFit/>
            </a:bodyPr>
            <a:lstStyle>
              <a:defPPr>
                <a:defRPr lang="en-US"/>
              </a:defPPr>
              <a:lvl1pPr>
                <a:defRPr sz="600"/>
              </a:lvl1pPr>
            </a:lstStyle>
            <a:p>
              <a:r>
                <a:rPr lang="zh-CN" altLang="en-US" dirty="0"/>
                <a:t>扩展用例</a:t>
              </a:r>
              <a:endParaRPr lang="en-US" dirty="0"/>
            </a:p>
          </p:txBody>
        </p:sp>
        <p:sp>
          <p:nvSpPr>
            <p:cNvPr id="58" name="Rectangle 57">
              <a:extLst>
                <a:ext uri="{FF2B5EF4-FFF2-40B4-BE49-F238E27FC236}">
                  <a16:creationId xmlns:a16="http://schemas.microsoft.com/office/drawing/2014/main" id="{37089BD8-40EA-7055-1706-B8B1B38FC32D}"/>
                </a:ext>
              </a:extLst>
            </p:cNvPr>
            <p:cNvSpPr/>
            <p:nvPr/>
          </p:nvSpPr>
          <p:spPr>
            <a:xfrm>
              <a:off x="6891340" y="876305"/>
              <a:ext cx="150258"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D2D91AF5-A3B7-7163-AD56-28A010F2815D}"/>
                </a:ext>
              </a:extLst>
            </p:cNvPr>
            <p:cNvCxnSpPr/>
            <p:nvPr/>
          </p:nvCxnSpPr>
          <p:spPr>
            <a:xfrm>
              <a:off x="6072356" y="898678"/>
              <a:ext cx="1023938" cy="0"/>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040" name="TextBox 1039">
              <a:extLst>
                <a:ext uri="{FF2B5EF4-FFF2-40B4-BE49-F238E27FC236}">
                  <a16:creationId xmlns:a16="http://schemas.microsoft.com/office/drawing/2014/main" id="{C2CBBA05-6C67-CD90-48BD-9345630F5981}"/>
                </a:ext>
              </a:extLst>
            </p:cNvPr>
            <p:cNvSpPr txBox="1"/>
            <p:nvPr/>
          </p:nvSpPr>
          <p:spPr>
            <a:xfrm>
              <a:off x="6358204" y="750754"/>
              <a:ext cx="554960" cy="184666"/>
            </a:xfrm>
            <a:prstGeom prst="rect">
              <a:avLst/>
            </a:prstGeom>
            <a:noFill/>
          </p:spPr>
          <p:txBody>
            <a:bodyPr wrap="none" rtlCol="0">
              <a:spAutoFit/>
            </a:bodyPr>
            <a:lstStyle>
              <a:defPPr>
                <a:defRPr lang="en-US"/>
              </a:defPPr>
              <a:lvl1pPr>
                <a:defRPr sz="600"/>
              </a:lvl1pPr>
            </a:lstStyle>
            <a:p>
              <a:r>
                <a:rPr lang="en-US" altLang="zh-CN" dirty="0"/>
                <a:t>&lt;&lt;extend&gt;&gt;</a:t>
              </a:r>
              <a:endParaRPr lang="en-US" dirty="0"/>
            </a:p>
          </p:txBody>
        </p:sp>
      </p:grpSp>
      <p:grpSp>
        <p:nvGrpSpPr>
          <p:cNvPr id="1033" name="Group 1032">
            <a:extLst>
              <a:ext uri="{FF2B5EF4-FFF2-40B4-BE49-F238E27FC236}">
                <a16:creationId xmlns:a16="http://schemas.microsoft.com/office/drawing/2014/main" id="{D02B9DDE-B18B-9658-FC44-2C2D09F78785}"/>
              </a:ext>
            </a:extLst>
          </p:cNvPr>
          <p:cNvGrpSpPr/>
          <p:nvPr/>
        </p:nvGrpSpPr>
        <p:grpSpPr>
          <a:xfrm>
            <a:off x="5799578" y="783114"/>
            <a:ext cx="1728266" cy="189472"/>
            <a:chOff x="5818560" y="741868"/>
            <a:chExt cx="1728266" cy="189472"/>
          </a:xfrm>
        </p:grpSpPr>
        <p:sp>
          <p:nvSpPr>
            <p:cNvPr id="1034" name="TextBox 1033">
              <a:extLst>
                <a:ext uri="{FF2B5EF4-FFF2-40B4-BE49-F238E27FC236}">
                  <a16:creationId xmlns:a16="http://schemas.microsoft.com/office/drawing/2014/main" id="{D9D9958E-D809-E322-3BD0-030DD8FA6D91}"/>
                </a:ext>
              </a:extLst>
            </p:cNvPr>
            <p:cNvSpPr txBox="1">
              <a:spLocks/>
            </p:cNvSpPr>
            <p:nvPr/>
          </p:nvSpPr>
          <p:spPr>
            <a:xfrm>
              <a:off x="6977439" y="741868"/>
              <a:ext cx="569387" cy="184666"/>
            </a:xfrm>
            <a:prstGeom prst="rect">
              <a:avLst/>
            </a:prstGeom>
            <a:noFill/>
          </p:spPr>
          <p:txBody>
            <a:bodyPr wrap="none" rtlCol="0">
              <a:spAutoFit/>
            </a:bodyPr>
            <a:lstStyle>
              <a:defPPr>
                <a:defRPr lang="en-US"/>
              </a:defPPr>
              <a:lvl1pPr>
                <a:defRPr sz="600"/>
              </a:lvl1pPr>
            </a:lstStyle>
            <a:p>
              <a:r>
                <a:rPr lang="zh-CN" altLang="en-US" dirty="0"/>
                <a:t>被包含用例</a:t>
              </a:r>
              <a:endParaRPr lang="en-US" dirty="0"/>
            </a:p>
          </p:txBody>
        </p:sp>
        <p:sp>
          <p:nvSpPr>
            <p:cNvPr id="1035" name="Isosceles Triangle 1034">
              <a:extLst>
                <a:ext uri="{FF2B5EF4-FFF2-40B4-BE49-F238E27FC236}">
                  <a16:creationId xmlns:a16="http://schemas.microsoft.com/office/drawing/2014/main" id="{8E5B0D89-DA78-04EA-3657-C79BD1E2EE2A}"/>
                </a:ext>
              </a:extLst>
            </p:cNvPr>
            <p:cNvSpPr/>
            <p:nvPr/>
          </p:nvSpPr>
          <p:spPr>
            <a:xfrm rot="5400000">
              <a:off x="7039653" y="862958"/>
              <a:ext cx="61663" cy="71438"/>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6" name="TextBox 1035">
              <a:extLst>
                <a:ext uri="{FF2B5EF4-FFF2-40B4-BE49-F238E27FC236}">
                  <a16:creationId xmlns:a16="http://schemas.microsoft.com/office/drawing/2014/main" id="{B7D24430-28E9-8B0B-1397-81849BBB0F7C}"/>
                </a:ext>
              </a:extLst>
            </p:cNvPr>
            <p:cNvSpPr txBox="1"/>
            <p:nvPr/>
          </p:nvSpPr>
          <p:spPr>
            <a:xfrm>
              <a:off x="5818560" y="746674"/>
              <a:ext cx="492443" cy="184666"/>
            </a:xfrm>
            <a:prstGeom prst="rect">
              <a:avLst/>
            </a:prstGeom>
            <a:noFill/>
          </p:spPr>
          <p:txBody>
            <a:bodyPr wrap="none" rtlCol="0">
              <a:spAutoFit/>
            </a:bodyPr>
            <a:lstStyle>
              <a:defPPr>
                <a:defRPr lang="en-US"/>
              </a:defPPr>
              <a:lvl1pPr>
                <a:defRPr sz="600"/>
              </a:lvl1pPr>
            </a:lstStyle>
            <a:p>
              <a:r>
                <a:rPr lang="zh-CN" altLang="en-US" dirty="0"/>
                <a:t>基本用例</a:t>
              </a:r>
              <a:endParaRPr lang="en-US" dirty="0"/>
            </a:p>
          </p:txBody>
        </p:sp>
        <p:sp>
          <p:nvSpPr>
            <p:cNvPr id="1037" name="Rectangle 1036">
              <a:extLst>
                <a:ext uri="{FF2B5EF4-FFF2-40B4-BE49-F238E27FC236}">
                  <a16:creationId xmlns:a16="http://schemas.microsoft.com/office/drawing/2014/main" id="{AD8FF76D-4FCD-635C-2D14-D2CCA977F72A}"/>
                </a:ext>
              </a:extLst>
            </p:cNvPr>
            <p:cNvSpPr/>
            <p:nvPr/>
          </p:nvSpPr>
          <p:spPr>
            <a:xfrm>
              <a:off x="6891340" y="876305"/>
              <a:ext cx="150258"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8" name="Straight Connector 1037">
              <a:extLst>
                <a:ext uri="{FF2B5EF4-FFF2-40B4-BE49-F238E27FC236}">
                  <a16:creationId xmlns:a16="http://schemas.microsoft.com/office/drawing/2014/main" id="{AA4E8945-2EA2-7A13-F61D-785A3ADCD712}"/>
                </a:ext>
              </a:extLst>
            </p:cNvPr>
            <p:cNvCxnSpPr/>
            <p:nvPr/>
          </p:nvCxnSpPr>
          <p:spPr>
            <a:xfrm>
              <a:off x="6072356" y="898678"/>
              <a:ext cx="1023938" cy="0"/>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039" name="TextBox 1038">
              <a:extLst>
                <a:ext uri="{FF2B5EF4-FFF2-40B4-BE49-F238E27FC236}">
                  <a16:creationId xmlns:a16="http://schemas.microsoft.com/office/drawing/2014/main" id="{21CED719-F1BA-7137-0794-15E8FF7FF9DF}"/>
                </a:ext>
              </a:extLst>
            </p:cNvPr>
            <p:cNvSpPr txBox="1"/>
            <p:nvPr/>
          </p:nvSpPr>
          <p:spPr>
            <a:xfrm>
              <a:off x="6349318" y="744843"/>
              <a:ext cx="564578" cy="184666"/>
            </a:xfrm>
            <a:prstGeom prst="rect">
              <a:avLst/>
            </a:prstGeom>
            <a:noFill/>
          </p:spPr>
          <p:txBody>
            <a:bodyPr wrap="none" rtlCol="0">
              <a:spAutoFit/>
            </a:bodyPr>
            <a:lstStyle>
              <a:defPPr>
                <a:defRPr lang="en-US"/>
              </a:defPPr>
              <a:lvl1pPr>
                <a:defRPr sz="600"/>
              </a:lvl1pPr>
            </a:lstStyle>
            <a:p>
              <a:r>
                <a:rPr lang="en-US" altLang="zh-CN" dirty="0"/>
                <a:t>&lt;&lt;include&gt;&gt;</a:t>
              </a:r>
              <a:endParaRPr lang="en-US" dirty="0"/>
            </a:p>
          </p:txBody>
        </p:sp>
      </p:grpSp>
      <p:grpSp>
        <p:nvGrpSpPr>
          <p:cNvPr id="15" name="Group 14">
            <a:extLst>
              <a:ext uri="{FF2B5EF4-FFF2-40B4-BE49-F238E27FC236}">
                <a16:creationId xmlns:a16="http://schemas.microsoft.com/office/drawing/2014/main" id="{B82A2F8E-921C-2756-D707-7688D01C073F}"/>
              </a:ext>
            </a:extLst>
          </p:cNvPr>
          <p:cNvGrpSpPr/>
          <p:nvPr/>
        </p:nvGrpSpPr>
        <p:grpSpPr>
          <a:xfrm>
            <a:off x="5887318" y="1135126"/>
            <a:ext cx="1475224" cy="189472"/>
            <a:chOff x="5887318" y="1135126"/>
            <a:chExt cx="1475224" cy="189472"/>
          </a:xfrm>
        </p:grpSpPr>
        <p:grpSp>
          <p:nvGrpSpPr>
            <p:cNvPr id="1045" name="Group 1044">
              <a:extLst>
                <a:ext uri="{FF2B5EF4-FFF2-40B4-BE49-F238E27FC236}">
                  <a16:creationId xmlns:a16="http://schemas.microsoft.com/office/drawing/2014/main" id="{09EE60D8-9EF5-D4B1-3157-51B86E287228}"/>
                </a:ext>
              </a:extLst>
            </p:cNvPr>
            <p:cNvGrpSpPr/>
            <p:nvPr/>
          </p:nvGrpSpPr>
          <p:grpSpPr>
            <a:xfrm>
              <a:off x="6043481" y="1261103"/>
              <a:ext cx="1107668" cy="61663"/>
              <a:chOff x="6267450" y="4248274"/>
              <a:chExt cx="1107668" cy="61663"/>
            </a:xfrm>
          </p:grpSpPr>
          <p:cxnSp>
            <p:nvCxnSpPr>
              <p:cNvPr id="1046" name="Straight Connector 1045">
                <a:extLst>
                  <a:ext uri="{FF2B5EF4-FFF2-40B4-BE49-F238E27FC236}">
                    <a16:creationId xmlns:a16="http://schemas.microsoft.com/office/drawing/2014/main" id="{240170ED-D16F-7787-1421-98FF13033CDC}"/>
                  </a:ext>
                </a:extLst>
              </p:cNvPr>
              <p:cNvCxnSpPr/>
              <p:nvPr/>
            </p:nvCxnSpPr>
            <p:spPr>
              <a:xfrm>
                <a:off x="6267450" y="4281488"/>
                <a:ext cx="1023938" cy="0"/>
              </a:xfrm>
              <a:prstGeom prst="line">
                <a:avLst/>
              </a:prstGeom>
              <a:ln/>
            </p:spPr>
            <p:style>
              <a:lnRef idx="1">
                <a:schemeClr val="dk1"/>
              </a:lnRef>
              <a:fillRef idx="0">
                <a:schemeClr val="dk1"/>
              </a:fillRef>
              <a:effectRef idx="0">
                <a:schemeClr val="dk1"/>
              </a:effectRef>
              <a:fontRef idx="minor">
                <a:schemeClr val="tx1"/>
              </a:fontRef>
            </p:style>
          </p:cxnSp>
          <p:sp>
            <p:nvSpPr>
              <p:cNvPr id="1047" name="Isosceles Triangle 1046">
                <a:extLst>
                  <a:ext uri="{FF2B5EF4-FFF2-40B4-BE49-F238E27FC236}">
                    <a16:creationId xmlns:a16="http://schemas.microsoft.com/office/drawing/2014/main" id="{729A0E3A-AD3A-008F-4795-4ED1C5F41D82}"/>
                  </a:ext>
                </a:extLst>
              </p:cNvPr>
              <p:cNvSpPr/>
              <p:nvPr/>
            </p:nvSpPr>
            <p:spPr>
              <a:xfrm rot="5400000">
                <a:off x="7308567" y="4243387"/>
                <a:ext cx="61663" cy="71438"/>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8" name="TextBox 1047">
              <a:extLst>
                <a:ext uri="{FF2B5EF4-FFF2-40B4-BE49-F238E27FC236}">
                  <a16:creationId xmlns:a16="http://schemas.microsoft.com/office/drawing/2014/main" id="{6EE42936-FD74-F48E-6D12-0F63BD76F23A}"/>
                </a:ext>
              </a:extLst>
            </p:cNvPr>
            <p:cNvSpPr txBox="1"/>
            <p:nvPr/>
          </p:nvSpPr>
          <p:spPr>
            <a:xfrm>
              <a:off x="5887318" y="1139932"/>
              <a:ext cx="338554" cy="184666"/>
            </a:xfrm>
            <a:prstGeom prst="rect">
              <a:avLst/>
            </a:prstGeom>
            <a:noFill/>
          </p:spPr>
          <p:txBody>
            <a:bodyPr wrap="none" rtlCol="0">
              <a:spAutoFit/>
            </a:bodyPr>
            <a:lstStyle>
              <a:defPPr>
                <a:defRPr lang="en-US"/>
              </a:defPPr>
              <a:lvl1pPr>
                <a:defRPr sz="600"/>
              </a:lvl1pPr>
            </a:lstStyle>
            <a:p>
              <a:r>
                <a:rPr lang="zh-CN" altLang="en-US" dirty="0"/>
                <a:t>子类</a:t>
              </a:r>
              <a:endParaRPr lang="en-US" dirty="0"/>
            </a:p>
          </p:txBody>
        </p:sp>
        <p:sp>
          <p:nvSpPr>
            <p:cNvPr id="1049" name="TextBox 1048">
              <a:extLst>
                <a:ext uri="{FF2B5EF4-FFF2-40B4-BE49-F238E27FC236}">
                  <a16:creationId xmlns:a16="http://schemas.microsoft.com/office/drawing/2014/main" id="{55D97A25-CEF8-33D5-C3AA-D36FF321DB50}"/>
                </a:ext>
              </a:extLst>
            </p:cNvPr>
            <p:cNvSpPr txBox="1"/>
            <p:nvPr/>
          </p:nvSpPr>
          <p:spPr>
            <a:xfrm>
              <a:off x="7022384" y="1135126"/>
              <a:ext cx="340158" cy="184666"/>
            </a:xfrm>
            <a:prstGeom prst="rect">
              <a:avLst/>
            </a:prstGeom>
            <a:noFill/>
          </p:spPr>
          <p:txBody>
            <a:bodyPr wrap="none" rtlCol="0">
              <a:spAutoFit/>
            </a:bodyPr>
            <a:lstStyle>
              <a:defPPr>
                <a:defRPr lang="en-US"/>
              </a:defPPr>
              <a:lvl1pPr>
                <a:defRPr sz="600"/>
              </a:lvl1pPr>
            </a:lstStyle>
            <a:p>
              <a:r>
                <a:rPr lang="zh-CN" altLang="en-US" dirty="0"/>
                <a:t>父类</a:t>
              </a:r>
              <a:endParaRPr lang="en-US" dirty="0"/>
            </a:p>
          </p:txBody>
        </p:sp>
      </p:grpSp>
      <p:pic>
        <p:nvPicPr>
          <p:cNvPr id="2503" name="Picture 2502">
            <a:extLst>
              <a:ext uri="{FF2B5EF4-FFF2-40B4-BE49-F238E27FC236}">
                <a16:creationId xmlns:a16="http://schemas.microsoft.com/office/drawing/2014/main" id="{15E6F15D-ED29-D1BF-9279-E882D1CA4325}"/>
              </a:ext>
            </a:extLst>
          </p:cNvPr>
          <p:cNvPicPr>
            <a:picLocks noChangeAspect="1"/>
          </p:cNvPicPr>
          <p:nvPr/>
        </p:nvPicPr>
        <p:blipFill>
          <a:blip r:embed="rId5"/>
          <a:stretch>
            <a:fillRect/>
          </a:stretch>
        </p:blipFill>
        <p:spPr>
          <a:xfrm>
            <a:off x="5058737" y="1417189"/>
            <a:ext cx="1770422" cy="1362944"/>
          </a:xfrm>
          <a:prstGeom prst="rect">
            <a:avLst/>
          </a:prstGeom>
        </p:spPr>
      </p:pic>
      <p:sp>
        <p:nvSpPr>
          <p:cNvPr id="1050" name="TextBox 1049">
            <a:extLst>
              <a:ext uri="{FF2B5EF4-FFF2-40B4-BE49-F238E27FC236}">
                <a16:creationId xmlns:a16="http://schemas.microsoft.com/office/drawing/2014/main" id="{D3C8A6BF-0294-E593-4931-E9706103410D}"/>
              </a:ext>
            </a:extLst>
          </p:cNvPr>
          <p:cNvSpPr txBox="1"/>
          <p:nvPr/>
        </p:nvSpPr>
        <p:spPr>
          <a:xfrm>
            <a:off x="6800499" y="2527775"/>
            <a:ext cx="697627" cy="246221"/>
          </a:xfrm>
          <a:prstGeom prst="rect">
            <a:avLst/>
          </a:prstGeom>
          <a:noFill/>
        </p:spPr>
        <p:txBody>
          <a:bodyPr wrap="none" rtlCol="0">
            <a:spAutoFit/>
          </a:bodyPr>
          <a:lstStyle/>
          <a:p>
            <a:r>
              <a:rPr lang="zh-CN" altLang="en-US" sz="1000" dirty="0"/>
              <a:t>系统边界</a:t>
            </a:r>
            <a:endParaRPr lang="en-US" sz="1000" dirty="0"/>
          </a:p>
        </p:txBody>
      </p:sp>
      <p:sp>
        <p:nvSpPr>
          <p:cNvPr id="1051" name="TextBox 1050">
            <a:extLst>
              <a:ext uri="{FF2B5EF4-FFF2-40B4-BE49-F238E27FC236}">
                <a16:creationId xmlns:a16="http://schemas.microsoft.com/office/drawing/2014/main" id="{05DB727F-55DB-FFE3-A455-8A8448EFF63A}"/>
              </a:ext>
            </a:extLst>
          </p:cNvPr>
          <p:cNvSpPr txBox="1"/>
          <p:nvPr/>
        </p:nvSpPr>
        <p:spPr>
          <a:xfrm>
            <a:off x="4489350" y="1417842"/>
            <a:ext cx="569387" cy="246221"/>
          </a:xfrm>
          <a:prstGeom prst="rect">
            <a:avLst/>
          </a:prstGeom>
          <a:noFill/>
        </p:spPr>
        <p:txBody>
          <a:bodyPr wrap="none" rtlCol="0">
            <a:spAutoFit/>
          </a:bodyPr>
          <a:lstStyle/>
          <a:p>
            <a:r>
              <a:rPr lang="zh-CN" altLang="en-US" sz="1000" dirty="0"/>
              <a:t>参与者</a:t>
            </a:r>
            <a:endParaRPr lang="en-US" sz="1000" dirty="0"/>
          </a:p>
        </p:txBody>
      </p:sp>
      <p:grpSp>
        <p:nvGrpSpPr>
          <p:cNvPr id="1053" name="Group 25">
            <a:extLst>
              <a:ext uri="{FF2B5EF4-FFF2-40B4-BE49-F238E27FC236}">
                <a16:creationId xmlns:a16="http://schemas.microsoft.com/office/drawing/2014/main" id="{27C9F81E-4F29-AD5A-6024-5D6DB9324DCB}"/>
              </a:ext>
            </a:extLst>
          </p:cNvPr>
          <p:cNvGrpSpPr/>
          <p:nvPr/>
        </p:nvGrpSpPr>
        <p:grpSpPr>
          <a:xfrm>
            <a:off x="7673167" y="51510"/>
            <a:ext cx="4386653" cy="1864922"/>
            <a:chOff x="7614613" y="5950488"/>
            <a:chExt cx="4386653" cy="1864922"/>
          </a:xfrm>
        </p:grpSpPr>
        <p:sp>
          <p:nvSpPr>
            <p:cNvPr id="1054" name="Rectangle: Rounded Corners 35">
              <a:extLst>
                <a:ext uri="{FF2B5EF4-FFF2-40B4-BE49-F238E27FC236}">
                  <a16:creationId xmlns:a16="http://schemas.microsoft.com/office/drawing/2014/main" id="{6D8298E6-F1CC-82E1-A097-09225F466834}"/>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▶状态图 动态</a:t>
              </a:r>
              <a:endParaRPr lang="en-US" sz="1200" dirty="0">
                <a:solidFill>
                  <a:schemeClr val="bg1"/>
                </a:solidFill>
              </a:endParaRPr>
            </a:p>
          </p:txBody>
        </p:sp>
        <p:sp>
          <p:nvSpPr>
            <p:cNvPr id="1055" name="TextBox 36">
              <a:extLst>
                <a:ext uri="{FF2B5EF4-FFF2-40B4-BE49-F238E27FC236}">
                  <a16:creationId xmlns:a16="http://schemas.microsoft.com/office/drawing/2014/main" id="{043CF3BC-C65D-92C9-CCBB-D36559A344FA}"/>
                </a:ext>
              </a:extLst>
            </p:cNvPr>
            <p:cNvSpPr txBox="1"/>
            <p:nvPr/>
          </p:nvSpPr>
          <p:spPr>
            <a:xfrm>
              <a:off x="7667294" y="6245750"/>
              <a:ext cx="4281578" cy="1569660"/>
            </a:xfrm>
            <a:prstGeom prst="rect">
              <a:avLst/>
            </a:prstGeom>
            <a:noFill/>
          </p:spPr>
          <p:txBody>
            <a:bodyPr wrap="square">
              <a:spAutoFit/>
            </a:bodyPr>
            <a:lstStyle/>
            <a:p>
              <a:r>
                <a:rPr lang="zh-CN" altLang="en-US" sz="1200" dirty="0">
                  <a:solidFill>
                    <a:schemeClr val="accent1"/>
                  </a:solidFill>
                  <a:latin typeface="ui-monospace"/>
                </a:rPr>
                <a:t>展现一个状态机，由</a:t>
              </a:r>
              <a:r>
                <a:rPr lang="zh-CN" altLang="en-US" sz="1200" b="1" dirty="0">
                  <a:solidFill>
                    <a:schemeClr val="accent1"/>
                  </a:solidFill>
                  <a:latin typeface="ui-monospace"/>
                </a:rPr>
                <a:t>状态</a:t>
              </a:r>
              <a:r>
                <a:rPr lang="zh-CN" altLang="en-US" sz="1200" dirty="0">
                  <a:solidFill>
                    <a:schemeClr val="accent1"/>
                  </a:solidFill>
                  <a:latin typeface="ui-monospace"/>
                </a:rPr>
                <a:t>、活动、</a:t>
              </a:r>
              <a:r>
                <a:rPr lang="zh-CN" altLang="en-US" sz="1200" b="1" dirty="0">
                  <a:solidFill>
                    <a:schemeClr val="accent1"/>
                  </a:solidFill>
                  <a:latin typeface="ui-monospace"/>
                </a:rPr>
                <a:t>转换</a:t>
              </a:r>
              <a:r>
                <a:rPr lang="en-US" altLang="zh-CN" sz="1200" dirty="0">
                  <a:solidFill>
                    <a:schemeClr val="accent1"/>
                  </a:solidFill>
                  <a:latin typeface="ui-monospace"/>
                </a:rPr>
                <a:t>/</a:t>
              </a:r>
              <a:r>
                <a:rPr lang="zh-CN" altLang="en-US" sz="1200" dirty="0">
                  <a:solidFill>
                    <a:schemeClr val="accent1"/>
                  </a:solidFill>
                  <a:latin typeface="ui-monospace"/>
                </a:rPr>
                <a:t>迁移、事件组成</a:t>
              </a:r>
              <a:endParaRPr lang="en-US" altLang="zh-CN" sz="1200" dirty="0">
                <a:solidFill>
                  <a:schemeClr val="accent1"/>
                </a:solidFill>
                <a:latin typeface="ui-monospace"/>
              </a:endParaRPr>
            </a:p>
            <a:p>
              <a:r>
                <a:rPr lang="zh-CN" altLang="en-US" sz="1200" dirty="0">
                  <a:solidFill>
                    <a:schemeClr val="accent1"/>
                  </a:solidFill>
                  <a:latin typeface="ui-monospace"/>
                </a:rPr>
                <a:t>状态：初态</a:t>
              </a:r>
              <a:r>
                <a:rPr lang="en-US" altLang="zh-CN" sz="1200" dirty="0">
                  <a:solidFill>
                    <a:schemeClr val="accent1"/>
                  </a:solidFill>
                  <a:latin typeface="ui-monospace"/>
                </a:rPr>
                <a:t>-</a:t>
              </a:r>
              <a:r>
                <a:rPr lang="zh-CN" altLang="en-US" sz="1200" dirty="0">
                  <a:solidFill>
                    <a:schemeClr val="accent1"/>
                  </a:solidFill>
                  <a:latin typeface="ui-monospace"/>
                </a:rPr>
                <a:t>中间态</a:t>
              </a:r>
              <a:r>
                <a:rPr lang="en-US" altLang="zh-CN" sz="1200" dirty="0">
                  <a:solidFill>
                    <a:schemeClr val="accent1"/>
                  </a:solidFill>
                  <a:latin typeface="ui-monospace"/>
                </a:rPr>
                <a:t>-</a:t>
              </a:r>
              <a:r>
                <a:rPr lang="zh-CN" altLang="en-US" sz="1200" dirty="0">
                  <a:solidFill>
                    <a:schemeClr val="accent1"/>
                  </a:solidFill>
                  <a:latin typeface="ui-monospace"/>
                </a:rPr>
                <a:t>终态，圆角矩形：状态名</a:t>
              </a:r>
              <a:r>
                <a:rPr lang="en-US" altLang="zh-CN" sz="1200" dirty="0">
                  <a:solidFill>
                    <a:schemeClr val="accent1"/>
                  </a:solidFill>
                  <a:latin typeface="ui-monospace"/>
                </a:rPr>
                <a:t>+</a:t>
              </a:r>
              <a:r>
                <a:rPr lang="zh-CN" altLang="en-US" sz="1200" dirty="0">
                  <a:solidFill>
                    <a:schemeClr val="accent1"/>
                  </a:solidFill>
                  <a:latin typeface="ui-monospace"/>
                </a:rPr>
                <a:t>活动</a:t>
              </a:r>
              <a:endParaRPr lang="en-US" altLang="zh-CN" sz="1200" dirty="0">
                <a:solidFill>
                  <a:schemeClr val="accent1"/>
                </a:solidFill>
                <a:latin typeface="ui-monospace"/>
              </a:endParaRPr>
            </a:p>
            <a:p>
              <a:r>
                <a:rPr lang="zh-CN" altLang="en-US" sz="1200" dirty="0">
                  <a:solidFill>
                    <a:schemeClr val="accent1"/>
                  </a:solidFill>
                  <a:latin typeface="ui-monospace"/>
                </a:rPr>
                <a:t>活动可以在状态内执行，也可以在转换时执行</a:t>
              </a:r>
              <a:endParaRPr lang="en-US" altLang="zh-CN" sz="1200" dirty="0">
                <a:solidFill>
                  <a:schemeClr val="accent1"/>
                </a:solidFill>
                <a:latin typeface="ui-monospace"/>
              </a:endParaRPr>
            </a:p>
            <a:p>
              <a:r>
                <a:rPr lang="zh-CN" altLang="en-US" sz="1200" dirty="0">
                  <a:solidFill>
                    <a:schemeClr val="accent1"/>
                  </a:solidFill>
                  <a:latin typeface="ui-monospace"/>
                </a:rPr>
                <a:t>组合状态</a:t>
              </a:r>
              <a:r>
                <a:rPr lang="en-US" altLang="zh-CN" sz="1200" dirty="0">
                  <a:solidFill>
                    <a:schemeClr val="accent1"/>
                  </a:solidFill>
                  <a:latin typeface="ui-monospace"/>
                </a:rPr>
                <a:t>(</a:t>
              </a:r>
              <a:r>
                <a:rPr lang="zh-CN" altLang="en-US" sz="1200" dirty="0">
                  <a:solidFill>
                    <a:schemeClr val="accent1"/>
                  </a:solidFill>
                  <a:latin typeface="ui-monospace"/>
                </a:rPr>
                <a:t>超状态</a:t>
              </a:r>
              <a:r>
                <a:rPr lang="en-US" altLang="zh-CN" sz="1200" dirty="0">
                  <a:solidFill>
                    <a:schemeClr val="accent1"/>
                  </a:solidFill>
                  <a:latin typeface="ui-monospace"/>
                </a:rPr>
                <a:t>)+</a:t>
              </a:r>
              <a:r>
                <a:rPr lang="zh-CN" altLang="en-US" sz="1200" dirty="0">
                  <a:solidFill>
                    <a:schemeClr val="accent1"/>
                  </a:solidFill>
                  <a:latin typeface="ui-monospace"/>
                </a:rPr>
                <a:t>嵌套状态</a:t>
              </a:r>
              <a:r>
                <a:rPr lang="en-US" altLang="zh-CN" sz="1200" dirty="0">
                  <a:solidFill>
                    <a:schemeClr val="accent1"/>
                  </a:solidFill>
                  <a:latin typeface="ui-monospace"/>
                </a:rPr>
                <a:t>(</a:t>
              </a:r>
              <a:r>
                <a:rPr lang="zh-CN" altLang="en-US" sz="1200" dirty="0">
                  <a:solidFill>
                    <a:schemeClr val="accent1"/>
                  </a:solidFill>
                  <a:latin typeface="ui-monospace"/>
                </a:rPr>
                <a:t>子状态</a:t>
              </a:r>
              <a:r>
                <a:rPr lang="en-US" altLang="zh-CN" sz="1200" dirty="0">
                  <a:solidFill>
                    <a:schemeClr val="accent1"/>
                  </a:solidFill>
                  <a:latin typeface="ui-monospace"/>
                </a:rPr>
                <a:t>)/</a:t>
              </a:r>
              <a:r>
                <a:rPr lang="zh-CN" altLang="en-US" sz="1200" dirty="0">
                  <a:solidFill>
                    <a:schemeClr val="accent1"/>
                  </a:solidFill>
                  <a:latin typeface="ui-monospace"/>
                </a:rPr>
                <a:t>并发状态</a:t>
              </a:r>
              <a:endParaRPr lang="en-US" altLang="zh-CN" sz="1200" dirty="0">
                <a:solidFill>
                  <a:schemeClr val="accent1"/>
                </a:solidFill>
                <a:latin typeface="ui-monospace"/>
              </a:endParaRPr>
            </a:p>
            <a:p>
              <a:r>
                <a:rPr lang="zh-CN" altLang="en-US" sz="1200" dirty="0">
                  <a:solidFill>
                    <a:schemeClr val="accent1"/>
                  </a:solidFill>
                  <a:latin typeface="ui-monospace"/>
                </a:rPr>
                <a:t>标准事件：</a:t>
              </a:r>
              <a:r>
                <a:rPr lang="en-US" altLang="zh-CN" sz="1200" dirty="0">
                  <a:solidFill>
                    <a:schemeClr val="accent1"/>
                  </a:solidFill>
                  <a:latin typeface="ui-monospace"/>
                </a:rPr>
                <a:t>entry/exit/do</a:t>
              </a:r>
            </a:p>
            <a:p>
              <a:r>
                <a:rPr lang="zh-CN" altLang="en-US" sz="1200" dirty="0">
                  <a:solidFill>
                    <a:schemeClr val="accent1"/>
                  </a:solidFill>
                  <a:latin typeface="ui-monospace"/>
                </a:rPr>
                <a:t>时间时间：</a:t>
              </a:r>
              <a:r>
                <a:rPr lang="en-US" altLang="zh-CN" sz="1200" dirty="0">
                  <a:solidFill>
                    <a:schemeClr val="accent1"/>
                  </a:solidFill>
                  <a:latin typeface="ui-monospace"/>
                </a:rPr>
                <a:t>when/after</a:t>
              </a:r>
            </a:p>
            <a:p>
              <a:r>
                <a:rPr lang="zh-CN" altLang="en-US" sz="1200" dirty="0">
                  <a:solidFill>
                    <a:schemeClr val="accent1"/>
                  </a:solidFill>
                  <a:latin typeface="ui-monospace"/>
                </a:rPr>
                <a:t>当</a:t>
              </a:r>
              <a:r>
                <a:rPr lang="zh-CN" altLang="en-US" sz="1200" b="1" dirty="0">
                  <a:solidFill>
                    <a:schemeClr val="accent1"/>
                  </a:solidFill>
                  <a:latin typeface="ui-monospace"/>
                </a:rPr>
                <a:t>事件触发</a:t>
              </a:r>
              <a:r>
                <a:rPr lang="en-US" altLang="zh-CN" sz="1200" dirty="0">
                  <a:solidFill>
                    <a:schemeClr val="accent1"/>
                  </a:solidFill>
                  <a:latin typeface="ui-monospace"/>
                </a:rPr>
                <a:t>/</a:t>
              </a:r>
              <a:r>
                <a:rPr lang="zh-CN" altLang="en-US" sz="1200" dirty="0">
                  <a:solidFill>
                    <a:schemeClr val="accent1"/>
                  </a:solidFill>
                  <a:latin typeface="ui-monospace"/>
                </a:rPr>
                <a:t>监护条件为真</a:t>
              </a:r>
              <a:r>
                <a:rPr lang="en-US" altLang="zh-CN" sz="1200" dirty="0">
                  <a:solidFill>
                    <a:schemeClr val="accent1"/>
                  </a:solidFill>
                  <a:latin typeface="ui-monospace"/>
                </a:rPr>
                <a:t>/</a:t>
              </a:r>
              <a:r>
                <a:rPr lang="zh-CN" altLang="en-US" sz="1200" dirty="0">
                  <a:solidFill>
                    <a:schemeClr val="accent1"/>
                  </a:solidFill>
                  <a:latin typeface="ui-monospace"/>
                </a:rPr>
                <a:t>状态内部活动执行完时，状态变迁</a:t>
              </a:r>
              <a:endParaRPr lang="en-US" altLang="zh-CN" sz="1200" dirty="0">
                <a:solidFill>
                  <a:schemeClr val="accent1"/>
                </a:solidFill>
                <a:latin typeface="ui-monospace"/>
              </a:endParaRPr>
            </a:p>
            <a:p>
              <a:r>
                <a:rPr lang="zh-CN" altLang="en-US" sz="1200" dirty="0">
                  <a:solidFill>
                    <a:schemeClr val="accent1"/>
                  </a:solidFill>
                  <a:latin typeface="ui-monospace"/>
                </a:rPr>
                <a:t>描述一个对象在多个用例中的行为，对</a:t>
              </a:r>
              <a:r>
                <a:rPr lang="zh-CN" altLang="en-US" sz="1200" b="1" dirty="0">
                  <a:solidFill>
                    <a:schemeClr val="accent1"/>
                  </a:solidFill>
                  <a:latin typeface="ui-monospace"/>
                </a:rPr>
                <a:t>反应型对象</a:t>
              </a:r>
              <a:r>
                <a:rPr lang="zh-CN" altLang="en-US" sz="1200" dirty="0">
                  <a:solidFill>
                    <a:schemeClr val="accent1"/>
                  </a:solidFill>
                  <a:latin typeface="ui-monospace"/>
                </a:rPr>
                <a:t>建模</a:t>
              </a:r>
              <a:endParaRPr lang="en-US" altLang="zh-CN" sz="1200" dirty="0">
                <a:solidFill>
                  <a:schemeClr val="accent1"/>
                </a:solidFill>
                <a:latin typeface="ui-monospace"/>
              </a:endParaRPr>
            </a:p>
          </p:txBody>
        </p:sp>
      </p:grpSp>
      <p:pic>
        <p:nvPicPr>
          <p:cNvPr id="2356" name="Picture 2355">
            <a:extLst>
              <a:ext uri="{FF2B5EF4-FFF2-40B4-BE49-F238E27FC236}">
                <a16:creationId xmlns:a16="http://schemas.microsoft.com/office/drawing/2014/main" id="{6544DE09-BEA5-7754-7564-D64CAAE95EF8}"/>
              </a:ext>
            </a:extLst>
          </p:cNvPr>
          <p:cNvPicPr>
            <a:picLocks noChangeAspect="1"/>
          </p:cNvPicPr>
          <p:nvPr/>
        </p:nvPicPr>
        <p:blipFill>
          <a:blip r:embed="rId6"/>
          <a:stretch>
            <a:fillRect/>
          </a:stretch>
        </p:blipFill>
        <p:spPr>
          <a:xfrm>
            <a:off x="5240033" y="3782907"/>
            <a:ext cx="2110916" cy="1114523"/>
          </a:xfrm>
          <a:prstGeom prst="rect">
            <a:avLst/>
          </a:prstGeom>
        </p:spPr>
      </p:pic>
      <p:grpSp>
        <p:nvGrpSpPr>
          <p:cNvPr id="5" name="Group 25">
            <a:extLst>
              <a:ext uri="{FF2B5EF4-FFF2-40B4-BE49-F238E27FC236}">
                <a16:creationId xmlns:a16="http://schemas.microsoft.com/office/drawing/2014/main" id="{C8032CDC-3213-3A63-53AC-0BAAD33A2811}"/>
              </a:ext>
            </a:extLst>
          </p:cNvPr>
          <p:cNvGrpSpPr/>
          <p:nvPr/>
        </p:nvGrpSpPr>
        <p:grpSpPr>
          <a:xfrm>
            <a:off x="7661737" y="2719582"/>
            <a:ext cx="4386653" cy="756927"/>
            <a:chOff x="7614613" y="5950488"/>
            <a:chExt cx="4386653" cy="756927"/>
          </a:xfrm>
        </p:grpSpPr>
        <p:sp>
          <p:nvSpPr>
            <p:cNvPr id="9" name="Rectangle: Rounded Corners 35">
              <a:extLst>
                <a:ext uri="{FF2B5EF4-FFF2-40B4-BE49-F238E27FC236}">
                  <a16:creationId xmlns:a16="http://schemas.microsoft.com/office/drawing/2014/main" id="{9CCB94BB-1920-689A-BB79-C1D72A7B54C0}"/>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▶活动图 动态</a:t>
              </a:r>
              <a:endParaRPr lang="en-US" sz="1200" dirty="0">
                <a:solidFill>
                  <a:schemeClr val="bg1"/>
                </a:solidFill>
              </a:endParaRPr>
            </a:p>
          </p:txBody>
        </p:sp>
        <p:sp>
          <p:nvSpPr>
            <p:cNvPr id="14" name="TextBox 36">
              <a:extLst>
                <a:ext uri="{FF2B5EF4-FFF2-40B4-BE49-F238E27FC236}">
                  <a16:creationId xmlns:a16="http://schemas.microsoft.com/office/drawing/2014/main" id="{1D7ED5E8-E84C-113A-6178-CD530AA16CC4}"/>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强调对象间的控制</a:t>
              </a:r>
              <a:r>
                <a:rPr lang="zh-CN" altLang="en-US" sz="1200" b="1" dirty="0">
                  <a:solidFill>
                    <a:schemeClr val="accent1"/>
                  </a:solidFill>
                  <a:latin typeface="ui-monospace"/>
                </a:rPr>
                <a:t>流程</a:t>
              </a:r>
              <a:r>
                <a:rPr lang="zh-CN" altLang="en-US" sz="1200" dirty="0">
                  <a:solidFill>
                    <a:schemeClr val="accent1"/>
                  </a:solidFill>
                  <a:latin typeface="ui-monospace"/>
                </a:rPr>
                <a:t>，对工作流</a:t>
              </a:r>
              <a:r>
                <a:rPr lang="en-US" altLang="zh-CN" sz="1200" dirty="0">
                  <a:solidFill>
                    <a:schemeClr val="accent1"/>
                  </a:solidFill>
                  <a:latin typeface="ui-monospace"/>
                </a:rPr>
                <a:t>/</a:t>
              </a:r>
              <a:r>
                <a:rPr lang="zh-CN" altLang="en-US" sz="1200" dirty="0">
                  <a:solidFill>
                    <a:schemeClr val="accent1"/>
                  </a:solidFill>
                  <a:latin typeface="ui-monospace"/>
                </a:rPr>
                <a:t>操作建模</a:t>
              </a:r>
              <a:endParaRPr lang="en-US" altLang="zh-CN" sz="1200" dirty="0">
                <a:solidFill>
                  <a:schemeClr val="accent1"/>
                </a:solidFill>
                <a:latin typeface="ui-monospace"/>
              </a:endParaRPr>
            </a:p>
            <a:p>
              <a:r>
                <a:rPr lang="zh-CN" altLang="en-US" sz="1200" dirty="0">
                  <a:solidFill>
                    <a:schemeClr val="accent1"/>
                  </a:solidFill>
                  <a:latin typeface="ui-monospace"/>
                </a:rPr>
                <a:t>包含：初态</a:t>
              </a:r>
              <a:r>
                <a:rPr lang="en-US" altLang="zh-CN" sz="1200" dirty="0">
                  <a:solidFill>
                    <a:schemeClr val="accent1"/>
                  </a:solidFill>
                  <a:latin typeface="ui-monospace"/>
                </a:rPr>
                <a:t>/</a:t>
              </a:r>
              <a:r>
                <a:rPr lang="zh-CN" altLang="en-US" sz="1200" b="1" dirty="0">
                  <a:solidFill>
                    <a:schemeClr val="accent1"/>
                  </a:solidFill>
                  <a:latin typeface="ui-monospace"/>
                </a:rPr>
                <a:t>活动</a:t>
              </a:r>
              <a:r>
                <a:rPr lang="en-US" altLang="zh-CN" sz="1200" dirty="0">
                  <a:solidFill>
                    <a:schemeClr val="accent1"/>
                  </a:solidFill>
                  <a:latin typeface="ui-monospace"/>
                </a:rPr>
                <a:t>/</a:t>
              </a:r>
              <a:r>
                <a:rPr lang="zh-CN" altLang="en-US" sz="1200" dirty="0">
                  <a:solidFill>
                    <a:schemeClr val="accent1"/>
                  </a:solidFill>
                  <a:latin typeface="ui-monospace"/>
                </a:rPr>
                <a:t>流</a:t>
              </a:r>
              <a:r>
                <a:rPr lang="en-US" altLang="zh-CN" sz="1200" dirty="0">
                  <a:solidFill>
                    <a:schemeClr val="accent1"/>
                  </a:solidFill>
                  <a:latin typeface="ui-monospace"/>
                </a:rPr>
                <a:t>/</a:t>
              </a:r>
              <a:r>
                <a:rPr lang="zh-CN" altLang="en-US" sz="1200" dirty="0">
                  <a:solidFill>
                    <a:schemeClr val="accent1"/>
                  </a:solidFill>
                  <a:latin typeface="ui-monospace"/>
                </a:rPr>
                <a:t>合并分岔</a:t>
              </a:r>
              <a:r>
                <a:rPr lang="en-US" altLang="zh-CN" sz="1200" dirty="0">
                  <a:solidFill>
                    <a:schemeClr val="accent1"/>
                  </a:solidFill>
                  <a:latin typeface="ui-monospace"/>
                </a:rPr>
                <a:t>/</a:t>
              </a:r>
              <a:r>
                <a:rPr lang="zh-CN" altLang="en-US" sz="1200" dirty="0">
                  <a:solidFill>
                    <a:schemeClr val="accent1"/>
                  </a:solidFill>
                  <a:latin typeface="ui-monospace"/>
                </a:rPr>
                <a:t>合并汇合</a:t>
              </a:r>
              <a:r>
                <a:rPr lang="en-US" altLang="zh-CN" sz="1200" dirty="0">
                  <a:solidFill>
                    <a:schemeClr val="accent1"/>
                  </a:solidFill>
                  <a:latin typeface="ui-monospace"/>
                </a:rPr>
                <a:t>/</a:t>
              </a:r>
              <a:r>
                <a:rPr lang="zh-CN" altLang="en-US" sz="1200" dirty="0">
                  <a:solidFill>
                    <a:schemeClr val="accent1"/>
                  </a:solidFill>
                  <a:latin typeface="ui-monospace"/>
                </a:rPr>
                <a:t>分支</a:t>
              </a:r>
              <a:r>
                <a:rPr lang="en-US" altLang="zh-CN" sz="1200" dirty="0">
                  <a:solidFill>
                    <a:schemeClr val="accent1"/>
                  </a:solidFill>
                  <a:latin typeface="ui-monospace"/>
                </a:rPr>
                <a:t>/</a:t>
              </a:r>
              <a:r>
                <a:rPr lang="zh-CN" altLang="en-US" sz="1200" dirty="0">
                  <a:solidFill>
                    <a:schemeClr val="accent1"/>
                  </a:solidFill>
                  <a:latin typeface="ui-monospace"/>
                </a:rPr>
                <a:t>监护表达式</a:t>
              </a:r>
              <a:endParaRPr lang="en-US" altLang="zh-CN" sz="1200" dirty="0">
                <a:solidFill>
                  <a:schemeClr val="accent1"/>
                </a:solidFill>
                <a:latin typeface="ui-monospace"/>
              </a:endParaRPr>
            </a:p>
          </p:txBody>
        </p:sp>
      </p:grpSp>
      <p:pic>
        <p:nvPicPr>
          <p:cNvPr id="2338" name="Picture 2337">
            <a:extLst>
              <a:ext uri="{FF2B5EF4-FFF2-40B4-BE49-F238E27FC236}">
                <a16:creationId xmlns:a16="http://schemas.microsoft.com/office/drawing/2014/main" id="{942A5677-F854-A328-ADD4-8F611A8D63F1}"/>
              </a:ext>
            </a:extLst>
          </p:cNvPr>
          <p:cNvPicPr>
            <a:picLocks noChangeAspect="1"/>
          </p:cNvPicPr>
          <p:nvPr/>
        </p:nvPicPr>
        <p:blipFill>
          <a:blip r:embed="rId7"/>
          <a:stretch>
            <a:fillRect/>
          </a:stretch>
        </p:blipFill>
        <p:spPr>
          <a:xfrm>
            <a:off x="7722900" y="3398127"/>
            <a:ext cx="4304149" cy="792549"/>
          </a:xfrm>
          <a:prstGeom prst="rect">
            <a:avLst/>
          </a:prstGeom>
        </p:spPr>
      </p:pic>
      <p:grpSp>
        <p:nvGrpSpPr>
          <p:cNvPr id="2339" name="Group 25">
            <a:extLst>
              <a:ext uri="{FF2B5EF4-FFF2-40B4-BE49-F238E27FC236}">
                <a16:creationId xmlns:a16="http://schemas.microsoft.com/office/drawing/2014/main" id="{2A2DE21B-516D-A96D-154D-B507F982D58D}"/>
              </a:ext>
            </a:extLst>
          </p:cNvPr>
          <p:cNvGrpSpPr/>
          <p:nvPr/>
        </p:nvGrpSpPr>
        <p:grpSpPr>
          <a:xfrm>
            <a:off x="7661737" y="4217237"/>
            <a:ext cx="4386653" cy="941593"/>
            <a:chOff x="7614613" y="5950488"/>
            <a:chExt cx="4386653" cy="941593"/>
          </a:xfrm>
        </p:grpSpPr>
        <p:sp>
          <p:nvSpPr>
            <p:cNvPr id="2340" name="Rectangle: Rounded Corners 35">
              <a:extLst>
                <a:ext uri="{FF2B5EF4-FFF2-40B4-BE49-F238E27FC236}">
                  <a16:creationId xmlns:a16="http://schemas.microsoft.com/office/drawing/2014/main" id="{61E4909D-AA53-8A23-47EC-637DAB0281CC}"/>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▶构件图</a:t>
              </a:r>
              <a:r>
                <a:rPr lang="en-US" altLang="zh-CN" sz="1200" dirty="0">
                  <a:solidFill>
                    <a:schemeClr val="bg1"/>
                  </a:solidFill>
                  <a:latin typeface="ui-monospace"/>
                </a:rPr>
                <a:t>(</a:t>
              </a:r>
              <a:r>
                <a:rPr lang="zh-CN" altLang="en-US" sz="1200" dirty="0">
                  <a:solidFill>
                    <a:schemeClr val="bg1"/>
                  </a:solidFill>
                  <a:latin typeface="ui-monospace"/>
                </a:rPr>
                <a:t>组件图</a:t>
              </a:r>
              <a:r>
                <a:rPr lang="en-US" altLang="zh-CN" sz="1200" dirty="0">
                  <a:solidFill>
                    <a:schemeClr val="bg1"/>
                  </a:solidFill>
                  <a:latin typeface="ui-monospace"/>
                </a:rPr>
                <a:t>)</a:t>
              </a:r>
              <a:r>
                <a:rPr lang="zh-CN" altLang="en-US" sz="1200" dirty="0">
                  <a:solidFill>
                    <a:schemeClr val="bg1"/>
                  </a:solidFill>
                  <a:latin typeface="ui-monospace"/>
                </a:rPr>
                <a:t> 物理</a:t>
              </a:r>
              <a:endParaRPr lang="en-US" sz="1200" dirty="0">
                <a:solidFill>
                  <a:schemeClr val="bg1"/>
                </a:solidFill>
              </a:endParaRPr>
            </a:p>
          </p:txBody>
        </p:sp>
        <p:sp>
          <p:nvSpPr>
            <p:cNvPr id="2341" name="TextBox 36">
              <a:extLst>
                <a:ext uri="{FF2B5EF4-FFF2-40B4-BE49-F238E27FC236}">
                  <a16:creationId xmlns:a16="http://schemas.microsoft.com/office/drawing/2014/main" id="{8E7A99B2-3D2B-AE9F-D982-FAC6CD94DC13}"/>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一组构件</a:t>
              </a:r>
              <a:r>
                <a:rPr lang="en-US" altLang="zh-CN" sz="1200" dirty="0">
                  <a:solidFill>
                    <a:schemeClr val="accent1"/>
                  </a:solidFill>
                  <a:latin typeface="ui-monospace"/>
                </a:rPr>
                <a:t>/</a:t>
              </a:r>
              <a:r>
                <a:rPr lang="zh-CN" altLang="en-US" sz="1200" dirty="0">
                  <a:solidFill>
                    <a:schemeClr val="accent1"/>
                  </a:solidFill>
                  <a:latin typeface="ui-monospace"/>
                </a:rPr>
                <a:t>组件之间的组织和依赖</a:t>
              </a:r>
              <a:endParaRPr lang="en-US" altLang="zh-CN" sz="1200" dirty="0">
                <a:solidFill>
                  <a:schemeClr val="accent1"/>
                </a:solidFill>
                <a:latin typeface="ui-monospace"/>
              </a:endParaRPr>
            </a:p>
            <a:p>
              <a:r>
                <a:rPr lang="zh-CN" altLang="en-US" sz="1200" dirty="0">
                  <a:solidFill>
                    <a:schemeClr val="accent1"/>
                  </a:solidFill>
                  <a:latin typeface="ui-monospace"/>
                </a:rPr>
                <a:t>供接口：整圆 </a:t>
              </a:r>
              <a:endParaRPr lang="en-US" altLang="zh-CN" sz="1200" dirty="0">
                <a:solidFill>
                  <a:schemeClr val="accent1"/>
                </a:solidFill>
                <a:latin typeface="ui-monospace"/>
              </a:endParaRPr>
            </a:p>
            <a:p>
              <a:r>
                <a:rPr lang="zh-CN" altLang="en-US" sz="1200" dirty="0">
                  <a:solidFill>
                    <a:schemeClr val="accent1"/>
                  </a:solidFill>
                  <a:latin typeface="ui-monospace"/>
                </a:rPr>
                <a:t>需接口：半圆</a:t>
              </a:r>
              <a:endParaRPr lang="en-US" altLang="zh-CN" sz="1200" dirty="0">
                <a:solidFill>
                  <a:schemeClr val="accent1"/>
                </a:solidFill>
                <a:latin typeface="ui-monospace"/>
              </a:endParaRPr>
            </a:p>
          </p:txBody>
        </p:sp>
      </p:grpSp>
      <p:grpSp>
        <p:nvGrpSpPr>
          <p:cNvPr id="2346" name="Group 25">
            <a:extLst>
              <a:ext uri="{FF2B5EF4-FFF2-40B4-BE49-F238E27FC236}">
                <a16:creationId xmlns:a16="http://schemas.microsoft.com/office/drawing/2014/main" id="{54586A8B-A7F7-46FA-4B62-7EF6C18EE168}"/>
              </a:ext>
            </a:extLst>
          </p:cNvPr>
          <p:cNvGrpSpPr/>
          <p:nvPr/>
        </p:nvGrpSpPr>
        <p:grpSpPr>
          <a:xfrm>
            <a:off x="7661737" y="5833416"/>
            <a:ext cx="4386653" cy="756927"/>
            <a:chOff x="7614613" y="5950488"/>
            <a:chExt cx="4386653" cy="756927"/>
          </a:xfrm>
        </p:grpSpPr>
        <p:sp>
          <p:nvSpPr>
            <p:cNvPr id="2347" name="Rectangle: Rounded Corners 35">
              <a:extLst>
                <a:ext uri="{FF2B5EF4-FFF2-40B4-BE49-F238E27FC236}">
                  <a16:creationId xmlns:a16="http://schemas.microsoft.com/office/drawing/2014/main" id="{7999BBC9-85E1-9B52-43E4-A063A1078FA2}"/>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▶部署图 物理</a:t>
              </a:r>
              <a:endParaRPr lang="en-US" sz="1200" dirty="0">
                <a:solidFill>
                  <a:schemeClr val="bg1"/>
                </a:solidFill>
              </a:endParaRPr>
            </a:p>
          </p:txBody>
        </p:sp>
        <p:sp>
          <p:nvSpPr>
            <p:cNvPr id="2348" name="TextBox 36">
              <a:extLst>
                <a:ext uri="{FF2B5EF4-FFF2-40B4-BE49-F238E27FC236}">
                  <a16:creationId xmlns:a16="http://schemas.microsoft.com/office/drawing/2014/main" id="{5744BD74-8A8E-1A40-5D50-089FE4B1F273}"/>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对</a:t>
              </a:r>
              <a:r>
                <a:rPr lang="zh-CN" altLang="en-US" sz="1200" b="1" dirty="0">
                  <a:solidFill>
                    <a:schemeClr val="accent1"/>
                  </a:solidFill>
                  <a:latin typeface="ui-monospace"/>
                </a:rPr>
                <a:t>面向对象</a:t>
              </a:r>
              <a:r>
                <a:rPr lang="zh-CN" altLang="en-US" sz="1200" dirty="0">
                  <a:solidFill>
                    <a:schemeClr val="accent1"/>
                  </a:solidFill>
                  <a:latin typeface="ui-monospace"/>
                </a:rPr>
                <a:t>系统的</a:t>
              </a:r>
              <a:r>
                <a:rPr lang="zh-CN" altLang="en-US" sz="1200" b="1" dirty="0">
                  <a:solidFill>
                    <a:schemeClr val="accent1"/>
                  </a:solidFill>
                  <a:latin typeface="ui-monospace"/>
                </a:rPr>
                <a:t>物理</a:t>
              </a:r>
              <a:r>
                <a:rPr lang="zh-CN" altLang="en-US" sz="1200" dirty="0">
                  <a:solidFill>
                    <a:schemeClr val="accent1"/>
                  </a:solidFill>
                  <a:latin typeface="ui-monospace"/>
                </a:rPr>
                <a:t>方面建模的方法</a:t>
              </a:r>
              <a:endParaRPr lang="en-US" altLang="zh-CN" sz="1200" dirty="0">
                <a:solidFill>
                  <a:schemeClr val="accent1"/>
                </a:solidFill>
                <a:latin typeface="ui-monospace"/>
              </a:endParaRPr>
            </a:p>
            <a:p>
              <a:r>
                <a:rPr lang="zh-CN" altLang="en-US" sz="1200" dirty="0">
                  <a:solidFill>
                    <a:schemeClr val="accent1"/>
                  </a:solidFill>
                  <a:latin typeface="ui-monospace"/>
                </a:rPr>
                <a:t>展现系统的软件和硬件之间的物理关系，在实施阶段使用</a:t>
              </a:r>
              <a:endParaRPr lang="en-US" altLang="zh-CN" sz="1200" dirty="0">
                <a:solidFill>
                  <a:schemeClr val="accent1"/>
                </a:solidFill>
                <a:latin typeface="ui-monospace"/>
              </a:endParaRPr>
            </a:p>
          </p:txBody>
        </p:sp>
      </p:grpSp>
    </p:spTree>
    <p:extLst>
      <p:ext uri="{BB962C8B-B14F-4D97-AF65-F5344CB8AC3E}">
        <p14:creationId xmlns:p14="http://schemas.microsoft.com/office/powerpoint/2010/main" val="2739579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grpSp>
        <p:nvGrpSpPr>
          <p:cNvPr id="1029" name="Group 25">
            <a:extLst>
              <a:ext uri="{FF2B5EF4-FFF2-40B4-BE49-F238E27FC236}">
                <a16:creationId xmlns:a16="http://schemas.microsoft.com/office/drawing/2014/main" id="{02D7986B-0772-B43D-091C-78ACFC098694}"/>
              </a:ext>
            </a:extLst>
          </p:cNvPr>
          <p:cNvGrpSpPr/>
          <p:nvPr/>
        </p:nvGrpSpPr>
        <p:grpSpPr>
          <a:xfrm>
            <a:off x="3097887" y="27819"/>
            <a:ext cx="4386653" cy="3826620"/>
            <a:chOff x="7614613" y="5950488"/>
            <a:chExt cx="4386653" cy="3826620"/>
          </a:xfrm>
        </p:grpSpPr>
        <p:sp>
          <p:nvSpPr>
            <p:cNvPr id="1030" name="Rectangle: Rounded Corners 35">
              <a:extLst>
                <a:ext uri="{FF2B5EF4-FFF2-40B4-BE49-F238E27FC236}">
                  <a16:creationId xmlns:a16="http://schemas.microsoft.com/office/drawing/2014/main" id="{9EF7D9BF-671D-5CF5-9107-23EBB5FAB526}"/>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▶设计模式</a:t>
              </a:r>
              <a:endParaRPr lang="en-US" sz="1200" dirty="0">
                <a:solidFill>
                  <a:schemeClr val="bg1"/>
                </a:solidFill>
              </a:endParaRPr>
            </a:p>
          </p:txBody>
        </p:sp>
        <p:sp>
          <p:nvSpPr>
            <p:cNvPr id="1031" name="TextBox 36">
              <a:extLst>
                <a:ext uri="{FF2B5EF4-FFF2-40B4-BE49-F238E27FC236}">
                  <a16:creationId xmlns:a16="http://schemas.microsoft.com/office/drawing/2014/main" id="{20EF8B67-CC0A-E5FA-B990-40D642D2C702}"/>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在特定问题领域中被使用，涉及多种设计元素，以面向对象方式进行设计，遵循设计原则，复用成功的设计和体系结构</a:t>
              </a:r>
              <a:endParaRPr lang="en-US" altLang="zh-CN" sz="1200" dirty="0">
                <a:solidFill>
                  <a:schemeClr val="accent1"/>
                </a:solidFill>
                <a:latin typeface="ui-monospace"/>
              </a:endParaRPr>
            </a:p>
            <a:p>
              <a:r>
                <a:rPr lang="zh-CN" altLang="en-US" sz="1200" dirty="0">
                  <a:solidFill>
                    <a:schemeClr val="accent1"/>
                  </a:solidFill>
                  <a:latin typeface="ui-monospace"/>
                </a:rPr>
                <a:t>基本要素：模式名称、问题</a:t>
              </a:r>
              <a:r>
                <a:rPr lang="en-US" altLang="zh-CN" sz="1200" dirty="0">
                  <a:solidFill>
                    <a:schemeClr val="accent1"/>
                  </a:solidFill>
                  <a:latin typeface="ui-monospace"/>
                </a:rPr>
                <a:t>(</a:t>
              </a:r>
              <a:r>
                <a:rPr lang="zh-CN" altLang="en-US" sz="1200" dirty="0">
                  <a:solidFill>
                    <a:schemeClr val="accent1"/>
                  </a:solidFill>
                  <a:latin typeface="ui-monospace"/>
                </a:rPr>
                <a:t>应该在何时使用模式</a:t>
              </a:r>
              <a:r>
                <a:rPr lang="en-US" altLang="zh-CN" sz="1200" dirty="0">
                  <a:solidFill>
                    <a:schemeClr val="accent1"/>
                  </a:solidFill>
                  <a:latin typeface="ui-monospace"/>
                </a:rPr>
                <a:t>)</a:t>
              </a:r>
              <a:r>
                <a:rPr lang="zh-CN" altLang="en-US" sz="1200" dirty="0">
                  <a:solidFill>
                    <a:schemeClr val="accent1"/>
                  </a:solidFill>
                  <a:latin typeface="ui-monospace"/>
                </a:rPr>
                <a:t>、解决方案</a:t>
              </a:r>
              <a:r>
                <a:rPr lang="en-US" altLang="zh-CN" sz="1200" dirty="0">
                  <a:solidFill>
                    <a:schemeClr val="accent1"/>
                  </a:solidFill>
                  <a:latin typeface="ui-monospace"/>
                </a:rPr>
                <a:t>(</a:t>
              </a:r>
              <a:r>
                <a:rPr lang="zh-CN" altLang="en-US" sz="1200" dirty="0">
                  <a:solidFill>
                    <a:schemeClr val="accent1"/>
                  </a:solidFill>
                  <a:latin typeface="ui-monospace"/>
                </a:rPr>
                <a:t>设计的内容</a:t>
              </a:r>
              <a:r>
                <a:rPr lang="en-US" altLang="zh-CN" sz="1200" dirty="0">
                  <a:solidFill>
                    <a:schemeClr val="accent1"/>
                  </a:solidFill>
                  <a:latin typeface="ui-monospace"/>
                </a:rPr>
                <a:t>)</a:t>
              </a:r>
              <a:r>
                <a:rPr lang="zh-CN" altLang="en-US" sz="1200" dirty="0">
                  <a:solidFill>
                    <a:schemeClr val="accent1"/>
                  </a:solidFill>
                  <a:latin typeface="ui-monospace"/>
                </a:rPr>
                <a:t>、效果</a:t>
              </a:r>
              <a:r>
                <a:rPr lang="en-US" altLang="zh-CN" sz="1200" dirty="0">
                  <a:solidFill>
                    <a:schemeClr val="accent1"/>
                  </a:solidFill>
                  <a:latin typeface="ui-monospace"/>
                </a:rPr>
                <a:t>(</a:t>
              </a:r>
              <a:r>
                <a:rPr lang="zh-CN" altLang="en-US" sz="1200" dirty="0">
                  <a:solidFill>
                    <a:schemeClr val="accent1"/>
                  </a:solidFill>
                  <a:latin typeface="ui-monospace"/>
                </a:rPr>
                <a:t>模式应用的效果</a:t>
              </a:r>
              <a:r>
                <a:rPr lang="en-US" altLang="zh-CN" sz="1200" dirty="0">
                  <a:solidFill>
                    <a:schemeClr val="accent1"/>
                  </a:solidFill>
                  <a:latin typeface="ui-monospace"/>
                </a:rPr>
                <a:t>)</a:t>
              </a:r>
            </a:p>
          </p:txBody>
        </p:sp>
        <p:sp>
          <p:nvSpPr>
            <p:cNvPr id="42" name="TextBox 36">
              <a:extLst>
                <a:ext uri="{FF2B5EF4-FFF2-40B4-BE49-F238E27FC236}">
                  <a16:creationId xmlns:a16="http://schemas.microsoft.com/office/drawing/2014/main" id="{B0851684-FAE1-5F46-B6A4-A1DC07FCD972}"/>
                </a:ext>
              </a:extLst>
            </p:cNvPr>
            <p:cNvSpPr txBox="1"/>
            <p:nvPr/>
          </p:nvSpPr>
          <p:spPr>
            <a:xfrm>
              <a:off x="7671104" y="9500109"/>
              <a:ext cx="4281578" cy="276999"/>
            </a:xfrm>
            <a:prstGeom prst="rect">
              <a:avLst/>
            </a:prstGeom>
            <a:noFill/>
          </p:spPr>
          <p:txBody>
            <a:bodyPr wrap="square">
              <a:spAutoFit/>
            </a:bodyPr>
            <a:lstStyle/>
            <a:p>
              <a:r>
                <a:rPr lang="en-US" altLang="zh-CN" sz="1200" dirty="0">
                  <a:solidFill>
                    <a:schemeClr val="accent1"/>
                  </a:solidFill>
                  <a:latin typeface="ui-monospace"/>
                </a:rPr>
                <a:t>-</a:t>
              </a:r>
            </a:p>
          </p:txBody>
        </p:sp>
      </p:grpSp>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创建型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结构型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15" name="Table 14">
            <a:extLst>
              <a:ext uri="{FF2B5EF4-FFF2-40B4-BE49-F238E27FC236}">
                <a16:creationId xmlns:a16="http://schemas.microsoft.com/office/drawing/2014/main" id="{FD078F64-690D-D4CD-492E-27E4624C90B6}"/>
              </a:ext>
            </a:extLst>
          </p:cNvPr>
          <p:cNvGraphicFramePr>
            <a:graphicFrameLocks noGrp="1"/>
          </p:cNvGraphicFramePr>
          <p:nvPr>
            <p:extLst>
              <p:ext uri="{D42A27DB-BD31-4B8C-83A1-F6EECF244321}">
                <p14:modId xmlns:p14="http://schemas.microsoft.com/office/powerpoint/2010/main" val="2195504920"/>
              </p:ext>
            </p:extLst>
          </p:nvPr>
        </p:nvGraphicFramePr>
        <p:xfrm>
          <a:off x="3150428" y="1137729"/>
          <a:ext cx="4281576" cy="2423160"/>
        </p:xfrm>
        <a:graphic>
          <a:graphicData uri="http://schemas.openxmlformats.org/drawingml/2006/table">
            <a:tbl>
              <a:tblPr firstRow="1" bandRow="1">
                <a:tableStyleId>{5C22544A-7EE6-4342-B048-85BDC9FD1C3A}</a:tableStyleId>
              </a:tblPr>
              <a:tblGrid>
                <a:gridCol w="459547">
                  <a:extLst>
                    <a:ext uri="{9D8B030D-6E8A-4147-A177-3AD203B41FA5}">
                      <a16:colId xmlns:a16="http://schemas.microsoft.com/office/drawing/2014/main" val="4196207211"/>
                    </a:ext>
                  </a:extLst>
                </a:gridCol>
                <a:gridCol w="1076325">
                  <a:extLst>
                    <a:ext uri="{9D8B030D-6E8A-4147-A177-3AD203B41FA5}">
                      <a16:colId xmlns:a16="http://schemas.microsoft.com/office/drawing/2014/main" val="3523767036"/>
                    </a:ext>
                  </a:extLst>
                </a:gridCol>
                <a:gridCol w="1285875">
                  <a:extLst>
                    <a:ext uri="{9D8B030D-6E8A-4147-A177-3AD203B41FA5}">
                      <a16:colId xmlns:a16="http://schemas.microsoft.com/office/drawing/2014/main" val="1185781950"/>
                    </a:ext>
                  </a:extLst>
                </a:gridCol>
                <a:gridCol w="1459829">
                  <a:extLst>
                    <a:ext uri="{9D8B030D-6E8A-4147-A177-3AD203B41FA5}">
                      <a16:colId xmlns:a16="http://schemas.microsoft.com/office/drawing/2014/main" val="2972484610"/>
                    </a:ext>
                  </a:extLst>
                </a:gridCol>
              </a:tblGrid>
              <a:tr h="204220">
                <a:tc>
                  <a:txBody>
                    <a:bodyPr/>
                    <a:lstStyle/>
                    <a:p>
                      <a:pPr algn="ct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创建型 </a:t>
                      </a:r>
                      <a:r>
                        <a:rPr lang="en-US" altLang="zh-CN" sz="900" b="1" dirty="0">
                          <a:solidFill>
                            <a:schemeClr val="tx1"/>
                          </a:solidFill>
                        </a:rPr>
                        <a:t>5</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结构型 </a:t>
                      </a:r>
                      <a:r>
                        <a:rPr lang="en-US" altLang="zh-CN" sz="900" b="1" dirty="0">
                          <a:solidFill>
                            <a:schemeClr val="tx1"/>
                          </a:solidFill>
                        </a:rPr>
                        <a:t>7</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行为型 </a:t>
                      </a:r>
                      <a:r>
                        <a:rPr lang="en-US" altLang="zh-CN" sz="900" b="1" dirty="0">
                          <a:solidFill>
                            <a:schemeClr val="tx1"/>
                          </a:solidFill>
                        </a:rPr>
                        <a:t>11</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处理创建对象</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处理类和对象的组合</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描述类或对象的交互</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r h="204220">
                <a:tc>
                  <a:txBody>
                    <a:bodyPr/>
                    <a:lstStyle/>
                    <a:p>
                      <a:pPr algn="ctr"/>
                      <a:r>
                        <a:rPr lang="zh-CN" altLang="en-US" sz="900" b="0" dirty="0">
                          <a:solidFill>
                            <a:schemeClr val="tx1"/>
                          </a:solidFill>
                        </a:rPr>
                        <a:t>类</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F</a:t>
                      </a:r>
                      <a:r>
                        <a:rPr lang="en-US" altLang="zh-CN" sz="900" b="0" dirty="0">
                          <a:solidFill>
                            <a:schemeClr val="tx1"/>
                          </a:solidFill>
                        </a:rPr>
                        <a:t>actory Method</a:t>
                      </a:r>
                    </a:p>
                    <a:p>
                      <a:pPr algn="ctr"/>
                      <a:r>
                        <a:rPr lang="zh-CN" altLang="en-US" sz="900" b="0" dirty="0">
                          <a:solidFill>
                            <a:schemeClr val="tx1"/>
                          </a:solidFill>
                        </a:rPr>
                        <a:t>工厂方法模式</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A</a:t>
                      </a:r>
                      <a:r>
                        <a:rPr lang="en-US" altLang="zh-CN" sz="900" b="0" dirty="0">
                          <a:solidFill>
                            <a:schemeClr val="tx1"/>
                          </a:solidFill>
                        </a:rPr>
                        <a:t>dapter</a:t>
                      </a:r>
                    </a:p>
                    <a:p>
                      <a:pPr algn="ctr"/>
                      <a:r>
                        <a:rPr lang="zh-CN" altLang="en-US" sz="900" b="0" dirty="0">
                          <a:solidFill>
                            <a:schemeClr val="tx1"/>
                          </a:solidFill>
                        </a:rPr>
                        <a:t>适配器模式</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I</a:t>
                      </a:r>
                      <a:r>
                        <a:rPr lang="en-US" altLang="zh-CN" sz="900" b="0" dirty="0">
                          <a:solidFill>
                            <a:schemeClr val="tx1"/>
                          </a:solidFill>
                        </a:rPr>
                        <a:t>nterpreter </a:t>
                      </a:r>
                      <a:r>
                        <a:rPr lang="zh-CN" altLang="en-US" sz="900" b="0" dirty="0">
                          <a:solidFill>
                            <a:schemeClr val="tx1"/>
                          </a:solidFill>
                        </a:rPr>
                        <a:t>解释器模式</a:t>
                      </a:r>
                      <a:endParaRPr lang="en-US" altLang="zh-CN" sz="900" b="0" dirty="0">
                        <a:solidFill>
                          <a:schemeClr val="tx1"/>
                        </a:solidFill>
                      </a:endParaRPr>
                    </a:p>
                    <a:p>
                      <a:pPr algn="ctr"/>
                      <a:r>
                        <a:rPr lang="en-US" sz="900" b="0" dirty="0">
                          <a:solidFill>
                            <a:schemeClr val="tx1"/>
                          </a:solidFill>
                        </a:rPr>
                        <a:t>T</a:t>
                      </a:r>
                      <a:r>
                        <a:rPr lang="en-US" altLang="zh-CN" sz="900" b="0" dirty="0">
                          <a:solidFill>
                            <a:schemeClr val="tx1"/>
                          </a:solidFill>
                        </a:rPr>
                        <a:t>emplate Method</a:t>
                      </a:r>
                    </a:p>
                    <a:p>
                      <a:pPr algn="ctr"/>
                      <a:r>
                        <a:rPr lang="zh-CN" altLang="en-US" sz="900" b="0" dirty="0">
                          <a:solidFill>
                            <a:schemeClr val="tx1"/>
                          </a:solidFill>
                        </a:rPr>
                        <a:t>模板方法模式</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zh-CN" altLang="en-US" sz="900" b="0" dirty="0">
                          <a:solidFill>
                            <a:schemeClr val="tx1"/>
                          </a:solidFill>
                        </a:rPr>
                        <a:t>对象</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A</a:t>
                      </a:r>
                      <a:r>
                        <a:rPr lang="en-US" altLang="zh-CN" sz="900" b="0" dirty="0">
                          <a:solidFill>
                            <a:schemeClr val="tx1"/>
                          </a:solidFill>
                        </a:rPr>
                        <a:t>bstract Factory</a:t>
                      </a:r>
                    </a:p>
                    <a:p>
                      <a:pPr algn="ctr"/>
                      <a:r>
                        <a:rPr lang="zh-CN" altLang="en-US" sz="900" b="0" dirty="0">
                          <a:solidFill>
                            <a:schemeClr val="tx1"/>
                          </a:solidFill>
                        </a:rPr>
                        <a:t>抽象工厂模式</a:t>
                      </a:r>
                      <a:endParaRPr lang="en-US" altLang="zh-CN" sz="900" b="0" dirty="0">
                        <a:solidFill>
                          <a:schemeClr val="tx1"/>
                        </a:solidFill>
                      </a:endParaRPr>
                    </a:p>
                    <a:p>
                      <a:pPr algn="ctr"/>
                      <a:r>
                        <a:rPr lang="en-US" sz="900" b="0" dirty="0">
                          <a:solidFill>
                            <a:schemeClr val="tx1"/>
                          </a:solidFill>
                        </a:rPr>
                        <a:t>B</a:t>
                      </a:r>
                      <a:r>
                        <a:rPr lang="en-US" altLang="zh-CN" sz="900" b="0" dirty="0">
                          <a:solidFill>
                            <a:schemeClr val="tx1"/>
                          </a:solidFill>
                        </a:rPr>
                        <a:t>uilder</a:t>
                      </a:r>
                    </a:p>
                    <a:p>
                      <a:pPr algn="ctr"/>
                      <a:r>
                        <a:rPr lang="zh-CN" altLang="en-US" sz="900" b="0" dirty="0">
                          <a:solidFill>
                            <a:schemeClr val="tx1"/>
                          </a:solidFill>
                        </a:rPr>
                        <a:t>生成器模式</a:t>
                      </a:r>
                      <a:endParaRPr lang="en-US" altLang="zh-CN" sz="900" b="0" dirty="0">
                        <a:solidFill>
                          <a:schemeClr val="tx1"/>
                        </a:solidFill>
                      </a:endParaRPr>
                    </a:p>
                    <a:p>
                      <a:pPr algn="ctr"/>
                      <a:r>
                        <a:rPr lang="en-US" sz="900" b="0" dirty="0">
                          <a:solidFill>
                            <a:schemeClr val="tx1"/>
                          </a:solidFill>
                        </a:rPr>
                        <a:t>Prototype</a:t>
                      </a:r>
                    </a:p>
                    <a:p>
                      <a:pPr algn="ctr"/>
                      <a:r>
                        <a:rPr lang="zh-CN" altLang="en-US" sz="900" b="0" dirty="0">
                          <a:solidFill>
                            <a:schemeClr val="tx1"/>
                          </a:solidFill>
                        </a:rPr>
                        <a:t>原型模式</a:t>
                      </a:r>
                      <a:endParaRPr lang="en-US" sz="900" b="0" dirty="0">
                        <a:solidFill>
                          <a:schemeClr val="tx1"/>
                        </a:solidFill>
                      </a:endParaRPr>
                    </a:p>
                    <a:p>
                      <a:pPr algn="ctr"/>
                      <a:r>
                        <a:rPr lang="en-US" sz="900" b="0" dirty="0">
                          <a:solidFill>
                            <a:schemeClr val="tx1"/>
                          </a:solidFill>
                        </a:rPr>
                        <a:t>Singleton</a:t>
                      </a:r>
                    </a:p>
                    <a:p>
                      <a:pPr algn="ctr"/>
                      <a:r>
                        <a:rPr lang="zh-CN" altLang="en-US" sz="900" b="0" dirty="0">
                          <a:solidFill>
                            <a:schemeClr val="tx1"/>
                          </a:solidFill>
                        </a:rPr>
                        <a:t>单例模式</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Adapter </a:t>
                      </a:r>
                      <a:r>
                        <a:rPr lang="zh-CN" altLang="en-US" sz="900" b="0" dirty="0">
                          <a:solidFill>
                            <a:schemeClr val="tx1"/>
                          </a:solidFill>
                        </a:rPr>
                        <a:t>适配器模式</a:t>
                      </a:r>
                      <a:endParaRPr lang="en-US" sz="900" b="0" dirty="0">
                        <a:solidFill>
                          <a:schemeClr val="tx1"/>
                        </a:solidFill>
                      </a:endParaRPr>
                    </a:p>
                    <a:p>
                      <a:pPr algn="ctr"/>
                      <a:r>
                        <a:rPr lang="en-US" sz="900" b="1" dirty="0">
                          <a:solidFill>
                            <a:schemeClr val="tx1"/>
                          </a:solidFill>
                        </a:rPr>
                        <a:t>Bridge </a:t>
                      </a:r>
                      <a:r>
                        <a:rPr lang="zh-CN" altLang="en-US" sz="900" b="1" dirty="0">
                          <a:solidFill>
                            <a:schemeClr val="tx1"/>
                          </a:solidFill>
                        </a:rPr>
                        <a:t>桥接模式</a:t>
                      </a:r>
                      <a:endParaRPr lang="en-US" altLang="zh-CN" sz="900" b="1" dirty="0">
                        <a:solidFill>
                          <a:schemeClr val="tx1"/>
                        </a:solidFill>
                      </a:endParaRPr>
                    </a:p>
                    <a:p>
                      <a:pPr algn="ctr"/>
                      <a:r>
                        <a:rPr lang="en-US" altLang="zh-CN" sz="900" b="1" dirty="0">
                          <a:solidFill>
                            <a:schemeClr val="tx1"/>
                          </a:solidFill>
                        </a:rPr>
                        <a:t>Composite </a:t>
                      </a:r>
                      <a:r>
                        <a:rPr lang="zh-CN" altLang="en-US" sz="900" b="1" dirty="0">
                          <a:solidFill>
                            <a:schemeClr val="tx1"/>
                          </a:solidFill>
                        </a:rPr>
                        <a:t>组合模式</a:t>
                      </a:r>
                      <a:endParaRPr lang="en-US" sz="900" b="1" dirty="0">
                        <a:solidFill>
                          <a:schemeClr val="tx1"/>
                        </a:solidFill>
                      </a:endParaRPr>
                    </a:p>
                    <a:p>
                      <a:pPr algn="ctr"/>
                      <a:r>
                        <a:rPr lang="en-US" sz="900" b="1" dirty="0">
                          <a:solidFill>
                            <a:schemeClr val="tx1"/>
                          </a:solidFill>
                        </a:rPr>
                        <a:t>Decorator </a:t>
                      </a:r>
                      <a:r>
                        <a:rPr lang="zh-CN" altLang="en-US" sz="900" b="1" dirty="0">
                          <a:solidFill>
                            <a:schemeClr val="tx1"/>
                          </a:solidFill>
                        </a:rPr>
                        <a:t>装饰模式</a:t>
                      </a:r>
                      <a:endParaRPr lang="en-US" sz="900" b="1" dirty="0">
                        <a:solidFill>
                          <a:schemeClr val="tx1"/>
                        </a:solidFill>
                      </a:endParaRPr>
                    </a:p>
                    <a:p>
                      <a:pPr algn="ctr"/>
                      <a:r>
                        <a:rPr lang="en-US" sz="900" b="0" dirty="0">
                          <a:solidFill>
                            <a:schemeClr val="tx1"/>
                          </a:solidFill>
                        </a:rPr>
                        <a:t>Fa</a:t>
                      </a:r>
                      <a:r>
                        <a:rPr lang="en-US" altLang="zh-CN" sz="900" b="0" dirty="0">
                          <a:solidFill>
                            <a:schemeClr val="tx1"/>
                          </a:solidFill>
                        </a:rPr>
                        <a:t>c</a:t>
                      </a:r>
                      <a:r>
                        <a:rPr lang="en-US" sz="900" b="0" dirty="0">
                          <a:solidFill>
                            <a:schemeClr val="tx1"/>
                          </a:solidFill>
                        </a:rPr>
                        <a:t>ade </a:t>
                      </a:r>
                      <a:r>
                        <a:rPr lang="zh-CN" altLang="en-US" sz="900" b="0" dirty="0">
                          <a:solidFill>
                            <a:schemeClr val="tx1"/>
                          </a:solidFill>
                        </a:rPr>
                        <a:t>外观模式</a:t>
                      </a:r>
                      <a:endParaRPr lang="en-US" sz="900" b="0" dirty="0">
                        <a:solidFill>
                          <a:schemeClr val="tx1"/>
                        </a:solidFill>
                      </a:endParaRPr>
                    </a:p>
                    <a:p>
                      <a:pPr algn="ctr"/>
                      <a:r>
                        <a:rPr lang="en-US" sz="900" b="0" dirty="0">
                          <a:solidFill>
                            <a:schemeClr val="tx1"/>
                          </a:solidFill>
                        </a:rPr>
                        <a:t>Flyweight </a:t>
                      </a:r>
                      <a:r>
                        <a:rPr lang="zh-CN" altLang="en-US" sz="900" b="0" dirty="0">
                          <a:solidFill>
                            <a:schemeClr val="tx1"/>
                          </a:solidFill>
                        </a:rPr>
                        <a:t>享元模式</a:t>
                      </a:r>
                      <a:endParaRPr lang="en-US" sz="900" b="0" dirty="0">
                        <a:solidFill>
                          <a:schemeClr val="tx1"/>
                        </a:solidFill>
                      </a:endParaRPr>
                    </a:p>
                    <a:p>
                      <a:pPr algn="ctr"/>
                      <a:r>
                        <a:rPr lang="en-US" sz="900" b="0" dirty="0">
                          <a:solidFill>
                            <a:schemeClr val="tx1"/>
                          </a:solidFill>
                        </a:rPr>
                        <a:t>Proxy </a:t>
                      </a:r>
                      <a:r>
                        <a:rPr lang="zh-CN" altLang="en-US" sz="900" b="0" dirty="0">
                          <a:solidFill>
                            <a:schemeClr val="tx1"/>
                          </a:solidFill>
                        </a:rPr>
                        <a:t>代理模式</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Chain of Responsibility</a:t>
                      </a:r>
                    </a:p>
                    <a:p>
                      <a:pPr algn="ctr"/>
                      <a:r>
                        <a:rPr lang="zh-CN" altLang="en-US" sz="900" b="0" dirty="0">
                          <a:solidFill>
                            <a:schemeClr val="tx1"/>
                          </a:solidFill>
                        </a:rPr>
                        <a:t>责任链模式</a:t>
                      </a:r>
                      <a:endParaRPr lang="en-US" sz="900" b="0" dirty="0">
                        <a:solidFill>
                          <a:schemeClr val="tx1"/>
                        </a:solidFill>
                      </a:endParaRPr>
                    </a:p>
                    <a:p>
                      <a:pPr algn="ctr"/>
                      <a:r>
                        <a:rPr lang="en-US" sz="900" b="0" dirty="0">
                          <a:solidFill>
                            <a:schemeClr val="tx1"/>
                          </a:solidFill>
                        </a:rPr>
                        <a:t>Command </a:t>
                      </a:r>
                      <a:r>
                        <a:rPr lang="zh-CN" altLang="en-US" sz="900" b="0" dirty="0">
                          <a:solidFill>
                            <a:schemeClr val="tx1"/>
                          </a:solidFill>
                        </a:rPr>
                        <a:t>命令模式</a:t>
                      </a:r>
                      <a:endParaRPr lang="en-US" sz="900" b="0" dirty="0">
                        <a:solidFill>
                          <a:schemeClr val="tx1"/>
                        </a:solidFill>
                      </a:endParaRPr>
                    </a:p>
                    <a:p>
                      <a:pPr algn="ctr"/>
                      <a:r>
                        <a:rPr lang="en-US" sz="900" b="0" dirty="0">
                          <a:solidFill>
                            <a:schemeClr val="tx1"/>
                          </a:solidFill>
                        </a:rPr>
                        <a:t>Iterator </a:t>
                      </a:r>
                      <a:r>
                        <a:rPr lang="zh-CN" altLang="en-US" sz="900" b="0" dirty="0">
                          <a:solidFill>
                            <a:schemeClr val="tx1"/>
                          </a:solidFill>
                        </a:rPr>
                        <a:t>迭代器模式</a:t>
                      </a:r>
                      <a:br>
                        <a:rPr lang="en-US" sz="900" b="0" dirty="0">
                          <a:solidFill>
                            <a:schemeClr val="tx1"/>
                          </a:solidFill>
                        </a:rPr>
                      </a:br>
                      <a:r>
                        <a:rPr lang="en-US" sz="900" b="0" dirty="0">
                          <a:solidFill>
                            <a:schemeClr val="tx1"/>
                          </a:solidFill>
                        </a:rPr>
                        <a:t>Mediator </a:t>
                      </a:r>
                      <a:r>
                        <a:rPr lang="zh-CN" altLang="en-US" sz="900" b="0" dirty="0">
                          <a:solidFill>
                            <a:schemeClr val="tx1"/>
                          </a:solidFill>
                        </a:rPr>
                        <a:t>中介者模式</a:t>
                      </a:r>
                      <a:endParaRPr lang="en-US" sz="900" b="0" dirty="0">
                        <a:solidFill>
                          <a:schemeClr val="tx1"/>
                        </a:solidFill>
                      </a:endParaRPr>
                    </a:p>
                    <a:p>
                      <a:pPr algn="ctr"/>
                      <a:r>
                        <a:rPr lang="en-US" sz="900" b="0" dirty="0">
                          <a:solidFill>
                            <a:schemeClr val="tx1"/>
                          </a:solidFill>
                        </a:rPr>
                        <a:t>Memento </a:t>
                      </a:r>
                      <a:r>
                        <a:rPr lang="zh-CN" altLang="en-US" sz="900" b="0" dirty="0">
                          <a:solidFill>
                            <a:schemeClr val="tx1"/>
                          </a:solidFill>
                        </a:rPr>
                        <a:t>备忘录模式</a:t>
                      </a:r>
                      <a:endParaRPr lang="en-US" sz="900" b="0" dirty="0">
                        <a:solidFill>
                          <a:schemeClr val="tx1"/>
                        </a:solidFill>
                      </a:endParaRPr>
                    </a:p>
                    <a:p>
                      <a:pPr algn="ctr"/>
                      <a:r>
                        <a:rPr lang="en-US" sz="900" b="1" dirty="0">
                          <a:solidFill>
                            <a:schemeClr val="tx1"/>
                          </a:solidFill>
                        </a:rPr>
                        <a:t>Observer </a:t>
                      </a:r>
                      <a:r>
                        <a:rPr lang="zh-CN" altLang="en-US" sz="900" b="1" dirty="0">
                          <a:solidFill>
                            <a:schemeClr val="tx1"/>
                          </a:solidFill>
                        </a:rPr>
                        <a:t>观察者模式</a:t>
                      </a:r>
                      <a:endParaRPr lang="en-US" sz="900" b="1" dirty="0">
                        <a:solidFill>
                          <a:schemeClr val="tx1"/>
                        </a:solidFill>
                      </a:endParaRPr>
                    </a:p>
                    <a:p>
                      <a:pPr algn="ctr"/>
                      <a:r>
                        <a:rPr lang="en-US" sz="900" b="1" dirty="0">
                          <a:solidFill>
                            <a:schemeClr val="tx1"/>
                          </a:solidFill>
                        </a:rPr>
                        <a:t>State </a:t>
                      </a:r>
                      <a:r>
                        <a:rPr lang="zh-CN" altLang="en-US" sz="900" b="1" dirty="0">
                          <a:solidFill>
                            <a:schemeClr val="tx1"/>
                          </a:solidFill>
                        </a:rPr>
                        <a:t>状态模式</a:t>
                      </a:r>
                      <a:endParaRPr lang="en-US" sz="900" b="1" dirty="0">
                        <a:solidFill>
                          <a:schemeClr val="tx1"/>
                        </a:solidFill>
                      </a:endParaRPr>
                    </a:p>
                    <a:p>
                      <a:pPr algn="ctr"/>
                      <a:r>
                        <a:rPr lang="en-US" sz="900" b="1" dirty="0">
                          <a:solidFill>
                            <a:schemeClr val="tx1"/>
                          </a:solidFill>
                        </a:rPr>
                        <a:t>Strategy </a:t>
                      </a:r>
                      <a:r>
                        <a:rPr lang="zh-CN" altLang="en-US" sz="900" b="1" dirty="0">
                          <a:solidFill>
                            <a:schemeClr val="tx1"/>
                          </a:solidFill>
                        </a:rPr>
                        <a:t>策略模式</a:t>
                      </a:r>
                      <a:endParaRPr lang="en-US" sz="900" b="1" dirty="0">
                        <a:solidFill>
                          <a:schemeClr val="tx1"/>
                        </a:solidFill>
                      </a:endParaRPr>
                    </a:p>
                    <a:p>
                      <a:pPr algn="ctr"/>
                      <a:r>
                        <a:rPr lang="en-US" sz="900" b="0" dirty="0">
                          <a:solidFill>
                            <a:schemeClr val="tx1"/>
                          </a:solidFill>
                        </a:rPr>
                        <a:t>Visitor </a:t>
                      </a:r>
                      <a:r>
                        <a:rPr lang="zh-CN" altLang="en-US" sz="900" b="0" dirty="0">
                          <a:solidFill>
                            <a:schemeClr val="tx1"/>
                          </a:solidFill>
                        </a:rPr>
                        <a:t>访问者模式</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bl>
          </a:graphicData>
        </a:graphic>
      </p:graphicFrame>
      <p:grpSp>
        <p:nvGrpSpPr>
          <p:cNvPr id="16" name="Group 25">
            <a:extLst>
              <a:ext uri="{FF2B5EF4-FFF2-40B4-BE49-F238E27FC236}">
                <a16:creationId xmlns:a16="http://schemas.microsoft.com/office/drawing/2014/main" id="{5F1EDA74-5BFC-D2EE-91EA-10280B997945}"/>
              </a:ext>
            </a:extLst>
          </p:cNvPr>
          <p:cNvGrpSpPr/>
          <p:nvPr/>
        </p:nvGrpSpPr>
        <p:grpSpPr>
          <a:xfrm>
            <a:off x="7673166" y="32660"/>
            <a:ext cx="4386653" cy="1126259"/>
            <a:chOff x="7614613" y="5950488"/>
            <a:chExt cx="4386653" cy="1126259"/>
          </a:xfrm>
        </p:grpSpPr>
        <p:sp>
          <p:nvSpPr>
            <p:cNvPr id="18" name="Rectangle: Rounded Corners 35">
              <a:extLst>
                <a:ext uri="{FF2B5EF4-FFF2-40B4-BE49-F238E27FC236}">
                  <a16:creationId xmlns:a16="http://schemas.microsoft.com/office/drawing/2014/main" id="{7F841AE6-7759-8041-4476-5F297C696465}"/>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▶简单工厂模式</a:t>
              </a:r>
              <a:endParaRPr lang="en-US" sz="1200" dirty="0">
                <a:solidFill>
                  <a:schemeClr val="bg1"/>
                </a:solidFill>
              </a:endParaRPr>
            </a:p>
          </p:txBody>
        </p:sp>
        <p:sp>
          <p:nvSpPr>
            <p:cNvPr id="19" name="TextBox 36">
              <a:extLst>
                <a:ext uri="{FF2B5EF4-FFF2-40B4-BE49-F238E27FC236}">
                  <a16:creationId xmlns:a16="http://schemas.microsoft.com/office/drawing/2014/main" id="{2FF9D69C-1BFF-202D-8A35-8B1F893A324F}"/>
                </a:ext>
              </a:extLst>
            </p:cNvPr>
            <p:cNvSpPr txBox="1"/>
            <p:nvPr/>
          </p:nvSpPr>
          <p:spPr>
            <a:xfrm>
              <a:off x="7667294" y="6245750"/>
              <a:ext cx="4281578" cy="830997"/>
            </a:xfrm>
            <a:prstGeom prst="rect">
              <a:avLst/>
            </a:prstGeom>
            <a:noFill/>
          </p:spPr>
          <p:txBody>
            <a:bodyPr wrap="square">
              <a:spAutoFit/>
            </a:bodyPr>
            <a:lstStyle/>
            <a:p>
              <a:r>
                <a:rPr lang="zh-CN" altLang="en-US" sz="1200" b="1" dirty="0">
                  <a:solidFill>
                    <a:schemeClr val="accent1"/>
                  </a:solidFill>
                  <a:latin typeface="ui-monospace"/>
                </a:rPr>
                <a:t>抽象产品</a:t>
              </a:r>
              <a:r>
                <a:rPr lang="zh-CN" altLang="en-US" sz="1200" dirty="0">
                  <a:solidFill>
                    <a:schemeClr val="accent1"/>
                  </a:solidFill>
                  <a:latin typeface="ui-monospace"/>
                </a:rPr>
                <a:t>是所有产品的父类，定义产品的主要特性和功能</a:t>
              </a:r>
              <a:endParaRPr lang="en-US" altLang="zh-CN" sz="1200" dirty="0">
                <a:solidFill>
                  <a:schemeClr val="accent1"/>
                </a:solidFill>
                <a:latin typeface="ui-monospace"/>
              </a:endParaRPr>
            </a:p>
            <a:p>
              <a:r>
                <a:rPr lang="zh-CN" altLang="en-US" sz="1200" b="1" dirty="0">
                  <a:solidFill>
                    <a:schemeClr val="accent1"/>
                  </a:solidFill>
                  <a:latin typeface="ui-monospace"/>
                </a:rPr>
                <a:t>具体产品</a:t>
              </a:r>
              <a:r>
                <a:rPr lang="zh-CN" altLang="en-US" sz="1200" dirty="0">
                  <a:solidFill>
                    <a:schemeClr val="accent1"/>
                  </a:solidFill>
                  <a:latin typeface="ui-monospace"/>
                </a:rPr>
                <a:t>则实现抽象产品中声明的抽象方法</a:t>
              </a:r>
              <a:endParaRPr lang="en-US" altLang="zh-CN" sz="1200" dirty="0">
                <a:solidFill>
                  <a:schemeClr val="accent1"/>
                </a:solidFill>
                <a:latin typeface="ui-monospace"/>
              </a:endParaRPr>
            </a:p>
            <a:p>
              <a:r>
                <a:rPr lang="zh-CN" altLang="en-US" sz="1200" b="1" dirty="0">
                  <a:solidFill>
                    <a:schemeClr val="accent1"/>
                  </a:solidFill>
                  <a:latin typeface="ui-monospace"/>
                </a:rPr>
                <a:t>具体工厂</a:t>
              </a:r>
              <a:r>
                <a:rPr lang="zh-CN" altLang="en-US" sz="1200" dirty="0">
                  <a:solidFill>
                    <a:schemeClr val="accent1"/>
                  </a:solidFill>
                  <a:latin typeface="ui-monospace"/>
                </a:rPr>
                <a:t>负责实现创建产品的静态方法，从而获取产品</a:t>
              </a:r>
              <a:endParaRPr lang="en-US" altLang="zh-CN" sz="1200" dirty="0">
                <a:solidFill>
                  <a:schemeClr val="accent1"/>
                </a:solidFill>
                <a:latin typeface="ui-monospace"/>
              </a:endParaRPr>
            </a:p>
            <a:p>
              <a:r>
                <a:rPr lang="zh-CN" altLang="en-US" sz="1200" dirty="0">
                  <a:solidFill>
                    <a:schemeClr val="accent1"/>
                  </a:solidFill>
                  <a:latin typeface="ui-monospace"/>
                </a:rPr>
                <a:t>缺点是 当增加新产品时需要修改工厂类的代码</a:t>
              </a:r>
              <a:endParaRPr lang="en-US" altLang="zh-CN" sz="1200" dirty="0">
                <a:solidFill>
                  <a:schemeClr val="accent1"/>
                </a:solidFill>
                <a:latin typeface="ui-monospace"/>
              </a:endParaRPr>
            </a:p>
          </p:txBody>
        </p:sp>
      </p:grpSp>
      <p:sp>
        <p:nvSpPr>
          <p:cNvPr id="40" name="Rectangle: Rounded Corners 39">
            <a:extLst>
              <a:ext uri="{FF2B5EF4-FFF2-40B4-BE49-F238E27FC236}">
                <a16:creationId xmlns:a16="http://schemas.microsoft.com/office/drawing/2014/main" id="{78B49968-E258-B5E8-E8B5-DF28CD0B0EC2}"/>
              </a:ext>
            </a:extLst>
          </p:cNvPr>
          <p:cNvSpPr/>
          <p:nvPr/>
        </p:nvSpPr>
        <p:spPr>
          <a:xfrm>
            <a:off x="7778241" y="1217002"/>
            <a:ext cx="4281578" cy="539511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info</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AmericanoCoffee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info</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美式咖啡</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a:p>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LatteCoffee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info</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拿铁咖啡</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a:p>
            <a:br>
              <a:rPr lang="en-US" altLang="zh-CN" sz="800" b="0" dirty="0">
                <a:solidFill>
                  <a:srgbClr val="D4D4D4"/>
                </a:solidFill>
                <a:effectLst/>
                <a:latin typeface="Consolas" panose="020B0609020204030204" pitchFamily="49" charset="0"/>
              </a:rPr>
            </a:b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CoffeeFactory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createCoffee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type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 </a:t>
            </a:r>
            <a:r>
              <a:rPr lang="en-US" sz="800" b="0" dirty="0">
                <a:solidFill>
                  <a:srgbClr val="569CD6"/>
                </a:solidFill>
                <a:effectLst/>
                <a:latin typeface="Consolas" panose="020B0609020204030204" pitchFamily="49" charset="0"/>
              </a:rPr>
              <a:t>null</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switch</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type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case</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"americano"</a:t>
            </a:r>
            <a:r>
              <a:rPr lang="en-US" sz="800" b="0" dirty="0">
                <a:solidFill>
                  <a:srgbClr val="C586C0"/>
                </a:solidFill>
                <a:effectLst/>
                <a:latin typeface="Consolas" panose="020B0609020204030204" pitchFamily="49" charset="0"/>
              </a:rPr>
              <a:t>:</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AmericanoCoffee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break</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case</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"latte"</a:t>
            </a:r>
            <a:r>
              <a:rPr lang="en-US" sz="800" b="0" dirty="0">
                <a:solidFill>
                  <a:srgbClr val="C586C0"/>
                </a:solidFill>
                <a:effectLst/>
                <a:latin typeface="Consolas" panose="020B0609020204030204" pitchFamily="49" charset="0"/>
              </a:rPr>
              <a:t>:</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LatteCoffee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break</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default:</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break</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Coffee_SimpleFactory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americanoCoffee</a:t>
            </a:r>
            <a:r>
              <a:rPr lang="en-US" sz="800" b="0" dirty="0">
                <a:solidFill>
                  <a:srgbClr val="D4D4D4"/>
                </a:solidFill>
                <a:effectLst/>
                <a:latin typeface="Consolas" panose="020B0609020204030204" pitchFamily="49" charset="0"/>
              </a:rPr>
              <a:t> = </a:t>
            </a:r>
            <a:r>
              <a:rPr lang="en-US" sz="800" b="0" dirty="0" err="1">
                <a:solidFill>
                  <a:srgbClr val="4EC9B0"/>
                </a:solidFill>
                <a:effectLst/>
                <a:latin typeface="Consolas" panose="020B0609020204030204" pitchFamily="49" charset="0"/>
              </a:rPr>
              <a:t>CoffeeFactory</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createCoffee</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"americano"</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americanoCoffee</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info</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latteCoffee</a:t>
            </a:r>
            <a:r>
              <a:rPr lang="en-US" sz="800" b="0" dirty="0">
                <a:solidFill>
                  <a:srgbClr val="D4D4D4"/>
                </a:solidFill>
                <a:effectLst/>
                <a:latin typeface="Consolas" panose="020B0609020204030204" pitchFamily="49" charset="0"/>
              </a:rPr>
              <a:t> = </a:t>
            </a:r>
            <a:r>
              <a:rPr lang="en-US" sz="800" b="0" dirty="0" err="1">
                <a:solidFill>
                  <a:srgbClr val="4EC9B0"/>
                </a:solidFill>
                <a:effectLst/>
                <a:latin typeface="Consolas" panose="020B0609020204030204" pitchFamily="49" charset="0"/>
              </a:rPr>
              <a:t>CoffeeFactory</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createCoffee</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"latte"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latteCoffee</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info</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688844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创建型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行为型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4386653" cy="1310925"/>
            <a:chOff x="7614613" y="5950488"/>
            <a:chExt cx="4386653" cy="1310925"/>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▶工厂方法模式</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4281578" cy="1015663"/>
            </a:xfrm>
            <a:prstGeom prst="rect">
              <a:avLst/>
            </a:prstGeom>
            <a:noFill/>
          </p:spPr>
          <p:txBody>
            <a:bodyPr wrap="square">
              <a:spAutoFit/>
            </a:bodyPr>
            <a:lstStyle/>
            <a:p>
              <a:r>
                <a:rPr lang="zh-CN" altLang="en-US" sz="1200" dirty="0">
                  <a:solidFill>
                    <a:schemeClr val="accent1"/>
                  </a:solidFill>
                  <a:latin typeface="ui-monospace"/>
                </a:rPr>
                <a:t>定义一个用于创建对象的接口，由</a:t>
              </a:r>
              <a:r>
                <a:rPr lang="zh-CN" altLang="en-US" sz="1200" b="1" dirty="0">
                  <a:solidFill>
                    <a:schemeClr val="accent1"/>
                  </a:solidFill>
                  <a:latin typeface="ui-monospace"/>
                </a:rPr>
                <a:t>子类决定实例化</a:t>
              </a:r>
              <a:r>
                <a:rPr lang="zh-CN" altLang="en-US" sz="1200" dirty="0">
                  <a:solidFill>
                    <a:schemeClr val="accent1"/>
                  </a:solidFill>
                  <a:latin typeface="ui-monospace"/>
                </a:rPr>
                <a:t>哪个类</a:t>
              </a:r>
              <a:endParaRPr lang="en-US" altLang="zh-CN" sz="1200" dirty="0">
                <a:solidFill>
                  <a:schemeClr val="accent1"/>
                </a:solidFill>
                <a:latin typeface="ui-monospace"/>
              </a:endParaRPr>
            </a:p>
            <a:p>
              <a:r>
                <a:rPr lang="zh-CN" altLang="en-US" sz="1200" b="1" dirty="0">
                  <a:solidFill>
                    <a:schemeClr val="accent1"/>
                  </a:solidFill>
                  <a:latin typeface="ui-monospace"/>
                </a:rPr>
                <a:t>抽象工厂</a:t>
              </a:r>
              <a:r>
                <a:rPr lang="zh-CN" altLang="en-US" sz="1200" dirty="0">
                  <a:solidFill>
                    <a:schemeClr val="accent1"/>
                  </a:solidFill>
                  <a:latin typeface="ui-monospace"/>
                </a:rPr>
                <a:t>提供创建一类产品的接口，用以调用创建对应产品</a:t>
              </a:r>
              <a:endParaRPr lang="en-US" altLang="zh-CN" sz="1200" dirty="0">
                <a:solidFill>
                  <a:schemeClr val="accent1"/>
                </a:solidFill>
                <a:latin typeface="ui-monospace"/>
              </a:endParaRPr>
            </a:p>
            <a:p>
              <a:r>
                <a:rPr lang="zh-CN" altLang="en-US" sz="1200" dirty="0">
                  <a:solidFill>
                    <a:schemeClr val="accent1"/>
                  </a:solidFill>
                  <a:latin typeface="ui-monospace"/>
                </a:rPr>
                <a:t>用于当一个类不知道它所必须创建的对象的类时</a:t>
              </a:r>
              <a:endParaRPr lang="en-US" altLang="zh-CN" sz="1200" dirty="0">
                <a:solidFill>
                  <a:schemeClr val="accent1"/>
                </a:solidFill>
                <a:latin typeface="ui-monospace"/>
              </a:endParaRPr>
            </a:p>
            <a:p>
              <a:r>
                <a:rPr lang="zh-CN" altLang="en-US" sz="1200" dirty="0">
                  <a:solidFill>
                    <a:schemeClr val="accent1"/>
                  </a:solidFill>
                  <a:latin typeface="ui-monospace"/>
                </a:rPr>
                <a:t>用于当一个类希望由它的</a:t>
              </a:r>
              <a:r>
                <a:rPr lang="zh-CN" altLang="en-US" sz="1200" b="1" dirty="0">
                  <a:solidFill>
                    <a:schemeClr val="accent1"/>
                  </a:solidFill>
                  <a:latin typeface="ui-monospace"/>
                </a:rPr>
                <a:t>子类</a:t>
              </a:r>
              <a:r>
                <a:rPr lang="zh-CN" altLang="en-US" sz="1200" dirty="0">
                  <a:solidFill>
                    <a:schemeClr val="accent1"/>
                  </a:solidFill>
                  <a:latin typeface="ui-monospace"/>
                </a:rPr>
                <a:t>来指定它所传概念的对象时</a:t>
              </a:r>
              <a:endParaRPr lang="en-US" altLang="zh-CN" sz="1200" dirty="0">
                <a:solidFill>
                  <a:schemeClr val="accent1"/>
                </a:solidFill>
                <a:latin typeface="ui-monospace"/>
              </a:endParaRPr>
            </a:p>
            <a:p>
              <a:r>
                <a:rPr lang="zh-CN" altLang="en-US" sz="1200" dirty="0">
                  <a:solidFill>
                    <a:schemeClr val="accent1"/>
                  </a:solidFill>
                  <a:latin typeface="ui-monospace"/>
                </a:rPr>
                <a:t>缺点是 每增加一个产品需增加一个具体产品类和具体工厂类</a:t>
              </a:r>
              <a:endParaRPr lang="en-US" altLang="zh-CN" sz="1200" dirty="0">
                <a:solidFill>
                  <a:schemeClr val="accent1"/>
                </a:solidFill>
                <a:latin typeface="ui-monospace"/>
              </a:endParaRPr>
            </a:p>
          </p:txBody>
        </p:sp>
      </p:grpSp>
      <p:grpSp>
        <p:nvGrpSpPr>
          <p:cNvPr id="33" name="Group 25">
            <a:extLst>
              <a:ext uri="{FF2B5EF4-FFF2-40B4-BE49-F238E27FC236}">
                <a16:creationId xmlns:a16="http://schemas.microsoft.com/office/drawing/2014/main" id="{B8FA9490-77B4-E4EA-AA14-98492AF3D1D7}"/>
              </a:ext>
            </a:extLst>
          </p:cNvPr>
          <p:cNvGrpSpPr/>
          <p:nvPr/>
        </p:nvGrpSpPr>
        <p:grpSpPr>
          <a:xfrm>
            <a:off x="7655287" y="71394"/>
            <a:ext cx="4386653" cy="1864922"/>
            <a:chOff x="7614613" y="5950488"/>
            <a:chExt cx="4386653" cy="1864922"/>
          </a:xfrm>
        </p:grpSpPr>
        <p:sp>
          <p:nvSpPr>
            <p:cNvPr id="34" name="Rectangle: Rounded Corners 35">
              <a:extLst>
                <a:ext uri="{FF2B5EF4-FFF2-40B4-BE49-F238E27FC236}">
                  <a16:creationId xmlns:a16="http://schemas.microsoft.com/office/drawing/2014/main" id="{9B0280EF-C067-9382-6455-DC4DFA9BABC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▶抽象工厂模式</a:t>
              </a:r>
              <a:endParaRPr lang="en-US" sz="1200" dirty="0">
                <a:solidFill>
                  <a:schemeClr val="bg1"/>
                </a:solidFill>
              </a:endParaRPr>
            </a:p>
          </p:txBody>
        </p:sp>
        <p:sp>
          <p:nvSpPr>
            <p:cNvPr id="35" name="TextBox 36">
              <a:extLst>
                <a:ext uri="{FF2B5EF4-FFF2-40B4-BE49-F238E27FC236}">
                  <a16:creationId xmlns:a16="http://schemas.microsoft.com/office/drawing/2014/main" id="{501076B1-418C-C120-5596-4155B0B6B970}"/>
                </a:ext>
              </a:extLst>
            </p:cNvPr>
            <p:cNvSpPr txBox="1"/>
            <p:nvPr/>
          </p:nvSpPr>
          <p:spPr>
            <a:xfrm>
              <a:off x="7667294" y="6245750"/>
              <a:ext cx="4281578" cy="1569660"/>
            </a:xfrm>
            <a:prstGeom prst="rect">
              <a:avLst/>
            </a:prstGeom>
            <a:noFill/>
          </p:spPr>
          <p:txBody>
            <a:bodyPr wrap="square">
              <a:spAutoFit/>
            </a:bodyPr>
            <a:lstStyle/>
            <a:p>
              <a:r>
                <a:rPr lang="zh-CN" altLang="en-US" sz="1200" dirty="0">
                  <a:solidFill>
                    <a:schemeClr val="accent1"/>
                  </a:solidFill>
                  <a:latin typeface="ui-monospace"/>
                </a:rPr>
                <a:t>提供创建一系列相关或相互依赖对象的接口</a:t>
              </a:r>
              <a:r>
                <a:rPr lang="en-US" altLang="zh-CN" sz="1200" dirty="0">
                  <a:solidFill>
                    <a:schemeClr val="accent1"/>
                  </a:solidFill>
                  <a:latin typeface="ui-monospace"/>
                </a:rPr>
                <a:t>, </a:t>
              </a:r>
              <a:r>
                <a:rPr lang="zh-CN" altLang="en-US" sz="1200" dirty="0">
                  <a:solidFill>
                    <a:schemeClr val="accent1"/>
                  </a:solidFill>
                  <a:latin typeface="ui-monospace"/>
                </a:rPr>
                <a:t>无需指定具体类</a:t>
              </a:r>
              <a:endParaRPr lang="en-US" altLang="zh-CN" sz="1200" dirty="0">
                <a:solidFill>
                  <a:schemeClr val="accent1"/>
                </a:solidFill>
                <a:latin typeface="ui-monospace"/>
              </a:endParaRPr>
            </a:p>
            <a:p>
              <a:r>
                <a:rPr lang="zh-CN" altLang="en-US" sz="1200" b="1" dirty="0">
                  <a:solidFill>
                    <a:schemeClr val="accent1"/>
                  </a:solidFill>
                  <a:latin typeface="ui-monospace"/>
                </a:rPr>
                <a:t>抽象工厂</a:t>
              </a:r>
              <a:r>
                <a:rPr lang="zh-CN" altLang="en-US" sz="1200" dirty="0">
                  <a:solidFill>
                    <a:schemeClr val="accent1"/>
                  </a:solidFill>
                  <a:latin typeface="ui-monospace"/>
                </a:rPr>
                <a:t>提供了多个创建接口，创建多个不同等级的产品</a:t>
              </a:r>
              <a:endParaRPr lang="en-US" altLang="zh-CN" sz="1200" dirty="0">
                <a:solidFill>
                  <a:schemeClr val="accent1"/>
                </a:solidFill>
                <a:latin typeface="ui-monospace"/>
              </a:endParaRPr>
            </a:p>
            <a:p>
              <a:r>
                <a:rPr lang="zh-CN" altLang="en-US" sz="1200" dirty="0">
                  <a:solidFill>
                    <a:schemeClr val="accent1"/>
                  </a:solidFill>
                  <a:latin typeface="ui-monospace"/>
                </a:rPr>
                <a:t>具体产品与具体工厂间是多对一的关系</a:t>
              </a:r>
              <a:endParaRPr lang="en-US" altLang="zh-CN" sz="1200" dirty="0">
                <a:solidFill>
                  <a:schemeClr val="accent1"/>
                </a:solidFill>
                <a:latin typeface="ui-monospace"/>
              </a:endParaRPr>
            </a:p>
            <a:p>
              <a:r>
                <a:rPr lang="zh-CN" altLang="en-US" sz="1200" dirty="0">
                  <a:solidFill>
                    <a:schemeClr val="accent1"/>
                  </a:solidFill>
                  <a:latin typeface="ui-monospace"/>
                </a:rPr>
                <a:t>用于一个系统要</a:t>
              </a:r>
              <a:r>
                <a:rPr lang="zh-CN" altLang="en-US" sz="1200" b="1" dirty="0">
                  <a:solidFill>
                    <a:schemeClr val="accent1"/>
                  </a:solidFill>
                  <a:latin typeface="ui-monospace"/>
                </a:rPr>
                <a:t>独立</a:t>
              </a:r>
              <a:r>
                <a:rPr lang="zh-CN" altLang="en-US" sz="1200" dirty="0">
                  <a:solidFill>
                    <a:schemeClr val="accent1"/>
                  </a:solidFill>
                  <a:latin typeface="ui-monospace"/>
                </a:rPr>
                <a:t>于产品的创建、</a:t>
              </a:r>
              <a:r>
                <a:rPr lang="zh-CN" altLang="en-US" sz="1200" b="1" dirty="0">
                  <a:solidFill>
                    <a:schemeClr val="accent1"/>
                  </a:solidFill>
                  <a:latin typeface="ui-monospace"/>
                </a:rPr>
                <a:t>组合</a:t>
              </a:r>
              <a:r>
                <a:rPr lang="zh-CN" altLang="en-US" sz="1200" dirty="0">
                  <a:solidFill>
                    <a:schemeClr val="accent1"/>
                  </a:solidFill>
                  <a:latin typeface="ui-monospace"/>
                </a:rPr>
                <a:t>和表示时</a:t>
              </a:r>
              <a:endParaRPr lang="en-US" altLang="zh-CN" sz="1200" dirty="0">
                <a:solidFill>
                  <a:schemeClr val="accent1"/>
                </a:solidFill>
                <a:latin typeface="ui-monospace"/>
              </a:endParaRPr>
            </a:p>
            <a:p>
              <a:r>
                <a:rPr lang="zh-CN" altLang="en-US" sz="1200" dirty="0">
                  <a:solidFill>
                    <a:schemeClr val="accent1"/>
                  </a:solidFill>
                  <a:latin typeface="ui-monospace"/>
                </a:rPr>
                <a:t>用于一个系统要由</a:t>
              </a:r>
              <a:r>
                <a:rPr lang="zh-CN" altLang="en-US" sz="1200" b="1" dirty="0">
                  <a:solidFill>
                    <a:schemeClr val="accent1"/>
                  </a:solidFill>
                  <a:latin typeface="ui-monospace"/>
                </a:rPr>
                <a:t>多个产品系列</a:t>
              </a:r>
              <a:r>
                <a:rPr lang="zh-CN" altLang="en-US" sz="1200" dirty="0">
                  <a:solidFill>
                    <a:schemeClr val="accent1"/>
                  </a:solidFill>
                  <a:latin typeface="ui-monospace"/>
                </a:rPr>
                <a:t>中的一个来配置时</a:t>
              </a:r>
              <a:endParaRPr lang="en-US" altLang="zh-CN" sz="1200" dirty="0">
                <a:solidFill>
                  <a:schemeClr val="accent1"/>
                </a:solidFill>
                <a:latin typeface="ui-monospace"/>
              </a:endParaRPr>
            </a:p>
            <a:p>
              <a:r>
                <a:rPr lang="zh-CN" altLang="en-US" sz="1200" dirty="0">
                  <a:solidFill>
                    <a:schemeClr val="accent1"/>
                  </a:solidFill>
                  <a:latin typeface="ui-monospace"/>
                </a:rPr>
                <a:t>用于强调一系列相关的产品对象的设计以便进行</a:t>
              </a:r>
              <a:r>
                <a:rPr lang="zh-CN" altLang="en-US" sz="1200" b="1" dirty="0">
                  <a:solidFill>
                    <a:schemeClr val="accent1"/>
                  </a:solidFill>
                  <a:latin typeface="ui-monospace"/>
                </a:rPr>
                <a:t>联合使用</a:t>
              </a:r>
              <a:r>
                <a:rPr lang="zh-CN" altLang="en-US" sz="1200" dirty="0">
                  <a:solidFill>
                    <a:schemeClr val="accent1"/>
                  </a:solidFill>
                  <a:latin typeface="ui-monospace"/>
                </a:rPr>
                <a:t>时</a:t>
              </a:r>
              <a:endParaRPr lang="en-US" altLang="zh-CN" sz="1200" dirty="0">
                <a:solidFill>
                  <a:schemeClr val="accent1"/>
                </a:solidFill>
                <a:latin typeface="ui-monospace"/>
              </a:endParaRPr>
            </a:p>
            <a:p>
              <a:r>
                <a:rPr lang="zh-CN" altLang="en-US" sz="1200" dirty="0">
                  <a:solidFill>
                    <a:schemeClr val="accent1"/>
                  </a:solidFill>
                  <a:latin typeface="ui-monospace"/>
                </a:rPr>
                <a:t>用于提供一个产品类库只想显示接口而不是实现时</a:t>
              </a:r>
              <a:endParaRPr lang="en-US" altLang="zh-CN" sz="1200" dirty="0">
                <a:solidFill>
                  <a:schemeClr val="accent1"/>
                </a:solidFill>
                <a:latin typeface="ui-monospace"/>
              </a:endParaRPr>
            </a:p>
            <a:p>
              <a:r>
                <a:rPr lang="zh-CN" altLang="en-US" sz="1200" dirty="0">
                  <a:solidFill>
                    <a:schemeClr val="accent1"/>
                  </a:solidFill>
                  <a:latin typeface="ui-monospace"/>
                </a:rPr>
                <a:t>缺点是 当产品族中需增加新产品时，需修改所有的工厂类</a:t>
              </a:r>
              <a:endParaRPr lang="en-US" altLang="zh-CN" sz="1200" dirty="0">
                <a:solidFill>
                  <a:schemeClr val="accent1"/>
                </a:solidFill>
                <a:latin typeface="ui-monospace"/>
              </a:endParaRPr>
            </a:p>
          </p:txBody>
        </p:sp>
      </p:grpSp>
      <p:sp>
        <p:nvSpPr>
          <p:cNvPr id="4" name="Rectangle: Rounded Corners 3">
            <a:extLst>
              <a:ext uri="{FF2B5EF4-FFF2-40B4-BE49-F238E27FC236}">
                <a16:creationId xmlns:a16="http://schemas.microsoft.com/office/drawing/2014/main" id="{FC6E2CEE-78A2-446C-3128-16A23E17A3C6}"/>
              </a:ext>
            </a:extLst>
          </p:cNvPr>
          <p:cNvSpPr/>
          <p:nvPr/>
        </p:nvSpPr>
        <p:spPr>
          <a:xfrm>
            <a:off x="3222004" y="1373896"/>
            <a:ext cx="4021478" cy="5404920"/>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info</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AmericanoCoffee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info</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美式咖啡</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a:p>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LatteCoffee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info</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拿铁咖啡</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a:p>
            <a:br>
              <a:rPr lang="en-US" altLang="zh-CN" sz="800" b="0" dirty="0">
                <a:solidFill>
                  <a:srgbClr val="D4D4D4"/>
                </a:solidFill>
                <a:effectLst/>
                <a:latin typeface="Consolas" panose="020B0609020204030204" pitchFamily="49" charset="0"/>
              </a:rPr>
            </a:br>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CoffeeFactory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createCoffee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AmericanoFactory</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CoffeeFactory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createCoffee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AmericanoCoffee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a:p>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LatteFactory</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CoffeeFactory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createCoffee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LatteCoffee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Coffe_FactoryMethod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AmericanoFactory</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americanoFactory</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AmericanoFactory</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americanoCoffee</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americanoFactory</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createCoffee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americanoCoffee</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info</a:t>
            </a:r>
            <a:r>
              <a:rPr lang="en-US" sz="800" b="0" dirty="0">
                <a:solidFill>
                  <a:srgbClr val="D4D4D4"/>
                </a:solidFill>
                <a:effectLst/>
                <a:latin typeface="Consolas" panose="020B0609020204030204" pitchFamily="49" charset="0"/>
              </a:rPr>
              <a:t>();</a:t>
            </a:r>
          </a:p>
          <a:p>
            <a:endParaRPr lang="en-US" sz="800" dirty="0">
              <a:solidFill>
                <a:srgbClr val="D4D4D4"/>
              </a:solidFill>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LatteFactory</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latteFactory</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LatteFactory</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Coffee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latteCoffee</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latteFactory</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createCoffee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latteCoffee</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info</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5" name="Rectangle: Rounded Corners 4">
            <a:extLst>
              <a:ext uri="{FF2B5EF4-FFF2-40B4-BE49-F238E27FC236}">
                <a16:creationId xmlns:a16="http://schemas.microsoft.com/office/drawing/2014/main" id="{63CA36D9-86F8-1E30-E84D-BAE43D25DC68}"/>
              </a:ext>
            </a:extLst>
          </p:cNvPr>
          <p:cNvSpPr/>
          <p:nvPr/>
        </p:nvSpPr>
        <p:spPr>
          <a:xfrm>
            <a:off x="7663086" y="1963270"/>
            <a:ext cx="4430295" cy="4815545"/>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numCol="2" spcCol="72000" rtlCol="0" anchor="ctr"/>
          <a:lstStyle/>
          <a:p>
            <a:r>
              <a:rPr lang="en-US" sz="700" b="0" dirty="0">
                <a:solidFill>
                  <a:srgbClr val="569CD6"/>
                </a:solidFill>
                <a:effectLst/>
                <a:latin typeface="Consolas" panose="020B0609020204030204" pitchFamily="49" charset="0"/>
              </a:rPr>
              <a:t>interface</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Dessert</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public</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void</a:t>
            </a:r>
            <a:r>
              <a:rPr lang="en-US" sz="700" b="0" dirty="0">
                <a:solidFill>
                  <a:srgbClr val="D4D4D4"/>
                </a:solidFill>
                <a:effectLst/>
                <a:latin typeface="Consolas" panose="020B0609020204030204" pitchFamily="49" charset="0"/>
              </a:rPr>
              <a:t> </a:t>
            </a:r>
            <a:r>
              <a:rPr lang="en-US" sz="700" b="0" dirty="0">
                <a:solidFill>
                  <a:srgbClr val="DCDCAA"/>
                </a:solidFill>
                <a:effectLst/>
                <a:latin typeface="Consolas" panose="020B0609020204030204" pitchFamily="49" charset="0"/>
              </a:rPr>
              <a:t>info</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a:t>
            </a:r>
          </a:p>
          <a:p>
            <a:r>
              <a:rPr lang="en-US" sz="700" b="0" dirty="0">
                <a:solidFill>
                  <a:srgbClr val="569CD6"/>
                </a:solidFill>
                <a:effectLst/>
                <a:latin typeface="Consolas" panose="020B0609020204030204" pitchFamily="49" charset="0"/>
              </a:rPr>
              <a:t>class</a:t>
            </a:r>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MatchaMousse</a:t>
            </a:r>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implements</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Dessert</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Override</a:t>
            </a:r>
            <a:endParaRPr lang="en-US" sz="700" b="0" dirty="0">
              <a:solidFill>
                <a:srgbClr val="D4D4D4"/>
              </a:solidFill>
              <a:effectLst/>
              <a:latin typeface="Consolas" panose="020B0609020204030204" pitchFamily="49" charset="0"/>
            </a:endParaRPr>
          </a:p>
          <a:p>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public</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void</a:t>
            </a:r>
            <a:r>
              <a:rPr lang="en-US" sz="700" b="0" dirty="0">
                <a:solidFill>
                  <a:srgbClr val="D4D4D4"/>
                </a:solidFill>
                <a:effectLst/>
                <a:latin typeface="Consolas" panose="020B0609020204030204" pitchFamily="49" charset="0"/>
              </a:rPr>
              <a:t> </a:t>
            </a:r>
            <a:r>
              <a:rPr lang="en-US" sz="700" b="0" dirty="0">
                <a:solidFill>
                  <a:srgbClr val="DCDCAA"/>
                </a:solidFill>
                <a:effectLst/>
                <a:latin typeface="Consolas" panose="020B0609020204030204" pitchFamily="49" charset="0"/>
              </a:rPr>
              <a:t>info</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System</a:t>
            </a:r>
            <a:r>
              <a:rPr lang="en-US" sz="700" b="0" dirty="0" err="1">
                <a:solidFill>
                  <a:srgbClr val="D4D4D4"/>
                </a:solidFill>
                <a:effectLst/>
                <a:latin typeface="Consolas" panose="020B0609020204030204" pitchFamily="49" charset="0"/>
              </a:rPr>
              <a:t>.</a:t>
            </a:r>
            <a:r>
              <a:rPr lang="en-US" sz="700" b="0" dirty="0" err="1">
                <a:solidFill>
                  <a:srgbClr val="4FC1FF"/>
                </a:solidFill>
                <a:effectLst/>
                <a:latin typeface="Consolas" panose="020B0609020204030204" pitchFamily="49" charset="0"/>
              </a:rPr>
              <a:t>out</a:t>
            </a:r>
            <a:r>
              <a:rPr lang="en-US" sz="700" b="0" dirty="0" err="1">
                <a:solidFill>
                  <a:srgbClr val="D4D4D4"/>
                </a:solidFill>
                <a:effectLst/>
                <a:latin typeface="Consolas" panose="020B0609020204030204" pitchFamily="49" charset="0"/>
              </a:rPr>
              <a:t>.</a:t>
            </a:r>
            <a:r>
              <a:rPr lang="en-US" sz="700" b="0" dirty="0" err="1">
                <a:solidFill>
                  <a:srgbClr val="DCDCAA"/>
                </a:solidFill>
                <a:effectLst/>
                <a:latin typeface="Consolas" panose="020B0609020204030204" pitchFamily="49" charset="0"/>
              </a:rPr>
              <a:t>println</a:t>
            </a:r>
            <a:r>
              <a:rPr lang="en-US" sz="700" b="0" dirty="0">
                <a:solidFill>
                  <a:srgbClr val="D4D4D4"/>
                </a:solidFill>
                <a:effectLst/>
                <a:latin typeface="Consolas" panose="020B0609020204030204" pitchFamily="49" charset="0"/>
              </a:rPr>
              <a:t>(</a:t>
            </a:r>
            <a:r>
              <a:rPr lang="en-US" sz="700" b="0" dirty="0">
                <a:solidFill>
                  <a:srgbClr val="CE9178"/>
                </a:solidFill>
                <a:effectLst/>
                <a:latin typeface="Consolas" panose="020B0609020204030204" pitchFamily="49" charset="0"/>
              </a:rPr>
              <a:t>"</a:t>
            </a:r>
            <a:r>
              <a:rPr lang="zh-CN" altLang="en-US" sz="700" b="0" dirty="0">
                <a:solidFill>
                  <a:srgbClr val="CE9178"/>
                </a:solidFill>
                <a:effectLst/>
                <a:latin typeface="Consolas" panose="020B0609020204030204" pitchFamily="49" charset="0"/>
              </a:rPr>
              <a:t>抹茶慕斯</a:t>
            </a:r>
            <a:r>
              <a:rPr lang="en-US" altLang="zh-CN" sz="700" b="0" dirty="0">
                <a:solidFill>
                  <a:srgbClr val="CE9178"/>
                </a:solidFill>
                <a:effectLst/>
                <a:latin typeface="Consolas" panose="020B0609020204030204" pitchFamily="49" charset="0"/>
              </a:rPr>
              <a:t>"</a:t>
            </a:r>
            <a:r>
              <a:rPr lang="en-US" altLang="zh-CN" sz="700" b="0" dirty="0">
                <a:solidFill>
                  <a:srgbClr val="D4D4D4"/>
                </a:solidFill>
                <a:effectLst/>
                <a:latin typeface="Consolas" panose="020B0609020204030204" pitchFamily="49" charset="0"/>
              </a:rPr>
              <a:t>);</a:t>
            </a:r>
          </a:p>
          <a:p>
            <a:r>
              <a:rPr lang="en-US" altLang="zh-CN" sz="700" b="0" dirty="0">
                <a:solidFill>
                  <a:srgbClr val="D4D4D4"/>
                </a:solidFill>
                <a:effectLst/>
                <a:latin typeface="Consolas" panose="020B0609020204030204" pitchFamily="49" charset="0"/>
              </a:rPr>
              <a:t>    }</a:t>
            </a:r>
          </a:p>
          <a:p>
            <a:r>
              <a:rPr lang="en-US" altLang="zh-CN" sz="700" b="0" dirty="0">
                <a:solidFill>
                  <a:srgbClr val="D4D4D4"/>
                </a:solidFill>
                <a:effectLst/>
                <a:latin typeface="Consolas" panose="020B0609020204030204" pitchFamily="49" charset="0"/>
              </a:rPr>
              <a:t>}</a:t>
            </a:r>
          </a:p>
          <a:p>
            <a:r>
              <a:rPr lang="en-US" sz="700" b="0" dirty="0">
                <a:solidFill>
                  <a:srgbClr val="569CD6"/>
                </a:solidFill>
                <a:effectLst/>
                <a:latin typeface="Consolas" panose="020B0609020204030204" pitchFamily="49" charset="0"/>
              </a:rPr>
              <a:t>class</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Tiramisu</a:t>
            </a:r>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implements</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Dessert</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Override</a:t>
            </a:r>
            <a:endParaRPr lang="en-US" sz="700" b="0" dirty="0">
              <a:solidFill>
                <a:srgbClr val="D4D4D4"/>
              </a:solidFill>
              <a:effectLst/>
              <a:latin typeface="Consolas" panose="020B0609020204030204" pitchFamily="49" charset="0"/>
            </a:endParaRPr>
          </a:p>
          <a:p>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public</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void</a:t>
            </a:r>
            <a:r>
              <a:rPr lang="en-US" sz="700" b="0" dirty="0">
                <a:solidFill>
                  <a:srgbClr val="D4D4D4"/>
                </a:solidFill>
                <a:effectLst/>
                <a:latin typeface="Consolas" panose="020B0609020204030204" pitchFamily="49" charset="0"/>
              </a:rPr>
              <a:t> </a:t>
            </a:r>
            <a:r>
              <a:rPr lang="en-US" sz="700" b="0" dirty="0">
                <a:solidFill>
                  <a:srgbClr val="DCDCAA"/>
                </a:solidFill>
                <a:effectLst/>
                <a:latin typeface="Consolas" panose="020B0609020204030204" pitchFamily="49" charset="0"/>
              </a:rPr>
              <a:t>info</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System</a:t>
            </a:r>
            <a:r>
              <a:rPr lang="en-US" sz="700" b="0" dirty="0" err="1">
                <a:solidFill>
                  <a:srgbClr val="D4D4D4"/>
                </a:solidFill>
                <a:effectLst/>
                <a:latin typeface="Consolas" panose="020B0609020204030204" pitchFamily="49" charset="0"/>
              </a:rPr>
              <a:t>.</a:t>
            </a:r>
            <a:r>
              <a:rPr lang="en-US" sz="700" b="0" dirty="0" err="1">
                <a:solidFill>
                  <a:srgbClr val="4FC1FF"/>
                </a:solidFill>
                <a:effectLst/>
                <a:latin typeface="Consolas" panose="020B0609020204030204" pitchFamily="49" charset="0"/>
              </a:rPr>
              <a:t>out</a:t>
            </a:r>
            <a:r>
              <a:rPr lang="en-US" sz="700" b="0" dirty="0" err="1">
                <a:solidFill>
                  <a:srgbClr val="D4D4D4"/>
                </a:solidFill>
                <a:effectLst/>
                <a:latin typeface="Consolas" panose="020B0609020204030204" pitchFamily="49" charset="0"/>
              </a:rPr>
              <a:t>.</a:t>
            </a:r>
            <a:r>
              <a:rPr lang="en-US" sz="700" b="0" dirty="0" err="1">
                <a:solidFill>
                  <a:srgbClr val="DCDCAA"/>
                </a:solidFill>
                <a:effectLst/>
                <a:latin typeface="Consolas" panose="020B0609020204030204" pitchFamily="49" charset="0"/>
              </a:rPr>
              <a:t>println</a:t>
            </a:r>
            <a:r>
              <a:rPr lang="en-US" sz="700" b="0" dirty="0">
                <a:solidFill>
                  <a:srgbClr val="D4D4D4"/>
                </a:solidFill>
                <a:effectLst/>
                <a:latin typeface="Consolas" panose="020B0609020204030204" pitchFamily="49" charset="0"/>
              </a:rPr>
              <a:t>(</a:t>
            </a:r>
            <a:r>
              <a:rPr lang="en-US" sz="700" b="0" dirty="0">
                <a:solidFill>
                  <a:srgbClr val="CE9178"/>
                </a:solidFill>
                <a:effectLst/>
                <a:latin typeface="Consolas" panose="020B0609020204030204" pitchFamily="49" charset="0"/>
              </a:rPr>
              <a:t>"</a:t>
            </a:r>
            <a:r>
              <a:rPr lang="zh-CN" altLang="en-US" sz="700" b="0" dirty="0">
                <a:solidFill>
                  <a:srgbClr val="CE9178"/>
                </a:solidFill>
                <a:effectLst/>
                <a:latin typeface="Consolas" panose="020B0609020204030204" pitchFamily="49" charset="0"/>
              </a:rPr>
              <a:t>提拉米苏</a:t>
            </a:r>
            <a:r>
              <a:rPr lang="en-US" altLang="zh-CN" sz="700" b="0" dirty="0">
                <a:solidFill>
                  <a:srgbClr val="CE9178"/>
                </a:solidFill>
                <a:effectLst/>
                <a:latin typeface="Consolas" panose="020B0609020204030204" pitchFamily="49" charset="0"/>
              </a:rPr>
              <a:t>"</a:t>
            </a:r>
            <a:r>
              <a:rPr lang="en-US" altLang="zh-CN" sz="700" b="0" dirty="0">
                <a:solidFill>
                  <a:srgbClr val="D4D4D4"/>
                </a:solidFill>
                <a:effectLst/>
                <a:latin typeface="Consolas" panose="020B0609020204030204" pitchFamily="49" charset="0"/>
              </a:rPr>
              <a:t>);</a:t>
            </a:r>
          </a:p>
          <a:p>
            <a:r>
              <a:rPr lang="en-US" altLang="zh-CN" sz="700" b="0" dirty="0">
                <a:solidFill>
                  <a:srgbClr val="D4D4D4"/>
                </a:solidFill>
                <a:effectLst/>
                <a:latin typeface="Consolas" panose="020B0609020204030204" pitchFamily="49" charset="0"/>
              </a:rPr>
              <a:t>    }</a:t>
            </a:r>
          </a:p>
          <a:p>
            <a:r>
              <a:rPr lang="en-US" altLang="zh-CN" sz="700" b="0" dirty="0">
                <a:solidFill>
                  <a:srgbClr val="D4D4D4"/>
                </a:solidFill>
                <a:effectLst/>
                <a:latin typeface="Consolas" panose="020B0609020204030204" pitchFamily="49" charset="0"/>
              </a:rPr>
              <a:t>}</a:t>
            </a:r>
          </a:p>
          <a:p>
            <a:br>
              <a:rPr lang="en-US" altLang="zh-CN" sz="700" b="0" dirty="0">
                <a:solidFill>
                  <a:srgbClr val="D4D4D4"/>
                </a:solidFill>
                <a:effectLst/>
                <a:latin typeface="Consolas" panose="020B0609020204030204" pitchFamily="49" charset="0"/>
              </a:rPr>
            </a:br>
            <a:r>
              <a:rPr lang="en-US" sz="700" b="0" dirty="0">
                <a:solidFill>
                  <a:srgbClr val="569CD6"/>
                </a:solidFill>
                <a:effectLst/>
                <a:latin typeface="Consolas" panose="020B0609020204030204" pitchFamily="49" charset="0"/>
              </a:rPr>
              <a:t>interface</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Coffee</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public</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void</a:t>
            </a:r>
            <a:r>
              <a:rPr lang="en-US" sz="700" b="0" dirty="0">
                <a:solidFill>
                  <a:srgbClr val="D4D4D4"/>
                </a:solidFill>
                <a:effectLst/>
                <a:latin typeface="Consolas" panose="020B0609020204030204" pitchFamily="49" charset="0"/>
              </a:rPr>
              <a:t> </a:t>
            </a:r>
            <a:r>
              <a:rPr lang="en-US" sz="700" b="0" dirty="0">
                <a:solidFill>
                  <a:srgbClr val="DCDCAA"/>
                </a:solidFill>
                <a:effectLst/>
                <a:latin typeface="Consolas" panose="020B0609020204030204" pitchFamily="49" charset="0"/>
              </a:rPr>
              <a:t>info</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a:t>
            </a:r>
          </a:p>
          <a:p>
            <a:r>
              <a:rPr lang="en-US" sz="700" b="0" dirty="0">
                <a:solidFill>
                  <a:srgbClr val="569CD6"/>
                </a:solidFill>
                <a:effectLst/>
                <a:latin typeface="Consolas" panose="020B0609020204030204" pitchFamily="49" charset="0"/>
              </a:rPr>
              <a:t>class</a:t>
            </a:r>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AmericanoCoffee</a:t>
            </a:r>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implements</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Coffee</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Override</a:t>
            </a:r>
            <a:endParaRPr lang="en-US" sz="700" b="0" dirty="0">
              <a:solidFill>
                <a:srgbClr val="D4D4D4"/>
              </a:solidFill>
              <a:effectLst/>
              <a:latin typeface="Consolas" panose="020B0609020204030204" pitchFamily="49" charset="0"/>
            </a:endParaRPr>
          </a:p>
          <a:p>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public</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void</a:t>
            </a:r>
            <a:r>
              <a:rPr lang="en-US" sz="700" b="0" dirty="0">
                <a:solidFill>
                  <a:srgbClr val="D4D4D4"/>
                </a:solidFill>
                <a:effectLst/>
                <a:latin typeface="Consolas" panose="020B0609020204030204" pitchFamily="49" charset="0"/>
              </a:rPr>
              <a:t> </a:t>
            </a:r>
            <a:r>
              <a:rPr lang="en-US" sz="700" b="0" dirty="0">
                <a:solidFill>
                  <a:srgbClr val="DCDCAA"/>
                </a:solidFill>
                <a:effectLst/>
                <a:latin typeface="Consolas" panose="020B0609020204030204" pitchFamily="49" charset="0"/>
              </a:rPr>
              <a:t>info</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System</a:t>
            </a:r>
            <a:r>
              <a:rPr lang="en-US" sz="700" b="0" dirty="0" err="1">
                <a:solidFill>
                  <a:srgbClr val="D4D4D4"/>
                </a:solidFill>
                <a:effectLst/>
                <a:latin typeface="Consolas" panose="020B0609020204030204" pitchFamily="49" charset="0"/>
              </a:rPr>
              <a:t>.</a:t>
            </a:r>
            <a:r>
              <a:rPr lang="en-US" sz="700" b="0" dirty="0" err="1">
                <a:solidFill>
                  <a:srgbClr val="4FC1FF"/>
                </a:solidFill>
                <a:effectLst/>
                <a:latin typeface="Consolas" panose="020B0609020204030204" pitchFamily="49" charset="0"/>
              </a:rPr>
              <a:t>out</a:t>
            </a:r>
            <a:r>
              <a:rPr lang="en-US" sz="700" b="0" dirty="0" err="1">
                <a:solidFill>
                  <a:srgbClr val="D4D4D4"/>
                </a:solidFill>
                <a:effectLst/>
                <a:latin typeface="Consolas" panose="020B0609020204030204" pitchFamily="49" charset="0"/>
              </a:rPr>
              <a:t>.</a:t>
            </a:r>
            <a:r>
              <a:rPr lang="en-US" sz="700" b="0" dirty="0" err="1">
                <a:solidFill>
                  <a:srgbClr val="DCDCAA"/>
                </a:solidFill>
                <a:effectLst/>
                <a:latin typeface="Consolas" panose="020B0609020204030204" pitchFamily="49" charset="0"/>
              </a:rPr>
              <a:t>println</a:t>
            </a:r>
            <a:r>
              <a:rPr lang="en-US" sz="700" b="0" dirty="0">
                <a:solidFill>
                  <a:srgbClr val="D4D4D4"/>
                </a:solidFill>
                <a:effectLst/>
                <a:latin typeface="Consolas" panose="020B0609020204030204" pitchFamily="49" charset="0"/>
              </a:rPr>
              <a:t>(</a:t>
            </a:r>
            <a:r>
              <a:rPr lang="en-US" sz="700" b="0" dirty="0">
                <a:solidFill>
                  <a:srgbClr val="CE9178"/>
                </a:solidFill>
                <a:effectLst/>
                <a:latin typeface="Consolas" panose="020B0609020204030204" pitchFamily="49" charset="0"/>
              </a:rPr>
              <a:t>"</a:t>
            </a:r>
            <a:r>
              <a:rPr lang="zh-CN" altLang="en-US" sz="700" b="0" dirty="0">
                <a:solidFill>
                  <a:srgbClr val="CE9178"/>
                </a:solidFill>
                <a:effectLst/>
                <a:latin typeface="Consolas" panose="020B0609020204030204" pitchFamily="49" charset="0"/>
              </a:rPr>
              <a:t>美式咖啡</a:t>
            </a:r>
            <a:r>
              <a:rPr lang="en-US" altLang="zh-CN" sz="700" b="0" dirty="0">
                <a:solidFill>
                  <a:srgbClr val="CE9178"/>
                </a:solidFill>
                <a:effectLst/>
                <a:latin typeface="Consolas" panose="020B0609020204030204" pitchFamily="49" charset="0"/>
              </a:rPr>
              <a:t>"</a:t>
            </a:r>
            <a:r>
              <a:rPr lang="en-US" altLang="zh-CN" sz="700" b="0" dirty="0">
                <a:solidFill>
                  <a:srgbClr val="D4D4D4"/>
                </a:solidFill>
                <a:effectLst/>
                <a:latin typeface="Consolas" panose="020B0609020204030204" pitchFamily="49" charset="0"/>
              </a:rPr>
              <a:t>);</a:t>
            </a:r>
          </a:p>
          <a:p>
            <a:r>
              <a:rPr lang="en-US" altLang="zh-CN" sz="700" b="0" dirty="0">
                <a:solidFill>
                  <a:srgbClr val="D4D4D4"/>
                </a:solidFill>
                <a:effectLst/>
                <a:latin typeface="Consolas" panose="020B0609020204030204" pitchFamily="49" charset="0"/>
              </a:rPr>
              <a:t>    }</a:t>
            </a:r>
          </a:p>
          <a:p>
            <a:r>
              <a:rPr lang="en-US" altLang="zh-CN" sz="700" b="0" dirty="0">
                <a:solidFill>
                  <a:srgbClr val="D4D4D4"/>
                </a:solidFill>
                <a:effectLst/>
                <a:latin typeface="Consolas" panose="020B0609020204030204" pitchFamily="49" charset="0"/>
              </a:rPr>
              <a:t>}</a:t>
            </a:r>
          </a:p>
          <a:p>
            <a:r>
              <a:rPr lang="en-US" sz="700" b="0" dirty="0">
                <a:solidFill>
                  <a:srgbClr val="569CD6"/>
                </a:solidFill>
                <a:effectLst/>
                <a:latin typeface="Consolas" panose="020B0609020204030204" pitchFamily="49" charset="0"/>
              </a:rPr>
              <a:t>class</a:t>
            </a:r>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LatteCoffee</a:t>
            </a:r>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implements</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Coffee</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Override</a:t>
            </a:r>
            <a:endParaRPr lang="en-US" sz="700" b="0" dirty="0">
              <a:solidFill>
                <a:srgbClr val="D4D4D4"/>
              </a:solidFill>
              <a:effectLst/>
              <a:latin typeface="Consolas" panose="020B0609020204030204" pitchFamily="49" charset="0"/>
            </a:endParaRPr>
          </a:p>
          <a:p>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public</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void</a:t>
            </a:r>
            <a:r>
              <a:rPr lang="en-US" sz="700" b="0" dirty="0">
                <a:solidFill>
                  <a:srgbClr val="D4D4D4"/>
                </a:solidFill>
                <a:effectLst/>
                <a:latin typeface="Consolas" panose="020B0609020204030204" pitchFamily="49" charset="0"/>
              </a:rPr>
              <a:t> </a:t>
            </a:r>
            <a:r>
              <a:rPr lang="en-US" sz="700" b="0" dirty="0">
                <a:solidFill>
                  <a:srgbClr val="DCDCAA"/>
                </a:solidFill>
                <a:effectLst/>
                <a:latin typeface="Consolas" panose="020B0609020204030204" pitchFamily="49" charset="0"/>
              </a:rPr>
              <a:t>info</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System</a:t>
            </a:r>
            <a:r>
              <a:rPr lang="en-US" sz="700" b="0" dirty="0" err="1">
                <a:solidFill>
                  <a:srgbClr val="D4D4D4"/>
                </a:solidFill>
                <a:effectLst/>
                <a:latin typeface="Consolas" panose="020B0609020204030204" pitchFamily="49" charset="0"/>
              </a:rPr>
              <a:t>.</a:t>
            </a:r>
            <a:r>
              <a:rPr lang="en-US" sz="700" b="0" dirty="0" err="1">
                <a:solidFill>
                  <a:srgbClr val="4FC1FF"/>
                </a:solidFill>
                <a:effectLst/>
                <a:latin typeface="Consolas" panose="020B0609020204030204" pitchFamily="49" charset="0"/>
              </a:rPr>
              <a:t>out</a:t>
            </a:r>
            <a:r>
              <a:rPr lang="en-US" sz="700" b="0" dirty="0" err="1">
                <a:solidFill>
                  <a:srgbClr val="D4D4D4"/>
                </a:solidFill>
                <a:effectLst/>
                <a:latin typeface="Consolas" panose="020B0609020204030204" pitchFamily="49" charset="0"/>
              </a:rPr>
              <a:t>.</a:t>
            </a:r>
            <a:r>
              <a:rPr lang="en-US" sz="700" b="0" dirty="0" err="1">
                <a:solidFill>
                  <a:srgbClr val="DCDCAA"/>
                </a:solidFill>
                <a:effectLst/>
                <a:latin typeface="Consolas" panose="020B0609020204030204" pitchFamily="49" charset="0"/>
              </a:rPr>
              <a:t>println</a:t>
            </a:r>
            <a:r>
              <a:rPr lang="en-US" sz="700" b="0" dirty="0">
                <a:solidFill>
                  <a:srgbClr val="D4D4D4"/>
                </a:solidFill>
                <a:effectLst/>
                <a:latin typeface="Consolas" panose="020B0609020204030204" pitchFamily="49" charset="0"/>
              </a:rPr>
              <a:t>(</a:t>
            </a:r>
            <a:r>
              <a:rPr lang="en-US" sz="700" b="0" dirty="0">
                <a:solidFill>
                  <a:srgbClr val="CE9178"/>
                </a:solidFill>
                <a:effectLst/>
                <a:latin typeface="Consolas" panose="020B0609020204030204" pitchFamily="49" charset="0"/>
              </a:rPr>
              <a:t>"</a:t>
            </a:r>
            <a:r>
              <a:rPr lang="zh-CN" altLang="en-US" sz="700" b="0" dirty="0">
                <a:solidFill>
                  <a:srgbClr val="CE9178"/>
                </a:solidFill>
                <a:effectLst/>
                <a:latin typeface="Consolas" panose="020B0609020204030204" pitchFamily="49" charset="0"/>
              </a:rPr>
              <a:t>拿铁咖啡</a:t>
            </a:r>
            <a:r>
              <a:rPr lang="en-US" altLang="zh-CN" sz="700" b="0" dirty="0">
                <a:solidFill>
                  <a:srgbClr val="CE9178"/>
                </a:solidFill>
                <a:effectLst/>
                <a:latin typeface="Consolas" panose="020B0609020204030204" pitchFamily="49" charset="0"/>
              </a:rPr>
              <a:t>"</a:t>
            </a:r>
            <a:r>
              <a:rPr lang="en-US" altLang="zh-CN" sz="700" b="0" dirty="0">
                <a:solidFill>
                  <a:srgbClr val="D4D4D4"/>
                </a:solidFill>
                <a:effectLst/>
                <a:latin typeface="Consolas" panose="020B0609020204030204" pitchFamily="49" charset="0"/>
              </a:rPr>
              <a:t>);</a:t>
            </a:r>
          </a:p>
          <a:p>
            <a:r>
              <a:rPr lang="en-US" altLang="zh-CN" sz="700" b="0" dirty="0">
                <a:solidFill>
                  <a:srgbClr val="D4D4D4"/>
                </a:solidFill>
                <a:effectLst/>
                <a:latin typeface="Consolas" panose="020B0609020204030204" pitchFamily="49" charset="0"/>
              </a:rPr>
              <a:t>    }</a:t>
            </a:r>
          </a:p>
          <a:p>
            <a:r>
              <a:rPr lang="en-US" altLang="zh-CN" sz="700" b="0" dirty="0">
                <a:solidFill>
                  <a:srgbClr val="D4D4D4"/>
                </a:solidFill>
                <a:effectLst/>
                <a:latin typeface="Consolas" panose="020B0609020204030204" pitchFamily="49" charset="0"/>
              </a:rPr>
              <a:t>}</a:t>
            </a:r>
          </a:p>
          <a:p>
            <a:br>
              <a:rPr lang="en-US" altLang="zh-CN" sz="700" b="0" dirty="0">
                <a:solidFill>
                  <a:srgbClr val="D4D4D4"/>
                </a:solidFill>
                <a:effectLst/>
                <a:latin typeface="Consolas" panose="020B0609020204030204" pitchFamily="49" charset="0"/>
              </a:rPr>
            </a:br>
            <a:r>
              <a:rPr lang="en-US" sz="700" b="0" dirty="0">
                <a:solidFill>
                  <a:srgbClr val="569CD6"/>
                </a:solidFill>
                <a:effectLst/>
                <a:latin typeface="Consolas" panose="020B0609020204030204" pitchFamily="49" charset="0"/>
              </a:rPr>
              <a:t>interface</a:t>
            </a:r>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DessertFactory</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public</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Coffee</a:t>
            </a:r>
            <a:r>
              <a:rPr lang="en-US" sz="700" b="0" dirty="0">
                <a:solidFill>
                  <a:srgbClr val="D4D4D4"/>
                </a:solidFill>
                <a:effectLst/>
                <a:latin typeface="Consolas" panose="020B0609020204030204" pitchFamily="49" charset="0"/>
              </a:rPr>
              <a:t> </a:t>
            </a:r>
            <a:r>
              <a:rPr lang="en-US" sz="700" b="0" dirty="0" err="1">
                <a:solidFill>
                  <a:srgbClr val="DCDCAA"/>
                </a:solidFill>
                <a:effectLst/>
                <a:latin typeface="Consolas" panose="020B0609020204030204" pitchFamily="49" charset="0"/>
              </a:rPr>
              <a:t>createCoffee</a:t>
            </a:r>
            <a:r>
              <a:rPr lang="en-US" sz="700" b="0" dirty="0">
                <a:solidFill>
                  <a:srgbClr val="D4D4D4"/>
                </a:solidFill>
                <a:effectLst/>
                <a:latin typeface="Consolas" panose="020B0609020204030204" pitchFamily="49" charset="0"/>
              </a:rPr>
              <a:t>();</a:t>
            </a:r>
          </a:p>
          <a:p>
            <a:br>
              <a:rPr lang="en-US" sz="700" b="0" dirty="0">
                <a:solidFill>
                  <a:srgbClr val="D4D4D4"/>
                </a:solidFill>
                <a:effectLst/>
                <a:latin typeface="Consolas" panose="020B0609020204030204" pitchFamily="49" charset="0"/>
              </a:rPr>
            </a:br>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public</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Dessert</a:t>
            </a:r>
            <a:r>
              <a:rPr lang="en-US" sz="700" b="0" dirty="0">
                <a:solidFill>
                  <a:srgbClr val="D4D4D4"/>
                </a:solidFill>
                <a:effectLst/>
                <a:latin typeface="Consolas" panose="020B0609020204030204" pitchFamily="49" charset="0"/>
              </a:rPr>
              <a:t> </a:t>
            </a:r>
            <a:r>
              <a:rPr lang="en-US" sz="700" b="0" dirty="0" err="1">
                <a:solidFill>
                  <a:srgbClr val="DCDCAA"/>
                </a:solidFill>
                <a:effectLst/>
                <a:latin typeface="Consolas" panose="020B0609020204030204" pitchFamily="49" charset="0"/>
              </a:rPr>
              <a:t>createDessert</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a:t>
            </a:r>
          </a:p>
          <a:p>
            <a:r>
              <a:rPr lang="en-US" sz="700" b="0" dirty="0">
                <a:solidFill>
                  <a:srgbClr val="569CD6"/>
                </a:solidFill>
                <a:effectLst/>
                <a:latin typeface="Consolas" panose="020B0609020204030204" pitchFamily="49" charset="0"/>
              </a:rPr>
              <a:t>class</a:t>
            </a:r>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AmericanDessertFactory</a:t>
            </a:r>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implements</a:t>
            </a:r>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DessertFactory</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Override</a:t>
            </a:r>
            <a:endParaRPr lang="en-US" sz="700" b="0" dirty="0">
              <a:solidFill>
                <a:srgbClr val="D4D4D4"/>
              </a:solidFill>
              <a:effectLst/>
              <a:latin typeface="Consolas" panose="020B0609020204030204" pitchFamily="49" charset="0"/>
            </a:endParaRPr>
          </a:p>
          <a:p>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public</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Coffee</a:t>
            </a:r>
            <a:r>
              <a:rPr lang="en-US" sz="700" b="0" dirty="0">
                <a:solidFill>
                  <a:srgbClr val="D4D4D4"/>
                </a:solidFill>
                <a:effectLst/>
                <a:latin typeface="Consolas" panose="020B0609020204030204" pitchFamily="49" charset="0"/>
              </a:rPr>
              <a:t> </a:t>
            </a:r>
            <a:r>
              <a:rPr lang="en-US" sz="700" b="0" dirty="0" err="1">
                <a:solidFill>
                  <a:srgbClr val="DCDCAA"/>
                </a:solidFill>
                <a:effectLst/>
                <a:latin typeface="Consolas" panose="020B0609020204030204" pitchFamily="49" charset="0"/>
              </a:rPr>
              <a:t>createCoffee</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C586C0"/>
                </a:solidFill>
                <a:effectLst/>
                <a:latin typeface="Consolas" panose="020B0609020204030204" pitchFamily="49" charset="0"/>
              </a:rPr>
              <a:t>return</a:t>
            </a:r>
            <a:r>
              <a:rPr lang="en-US" sz="700" b="0" dirty="0">
                <a:solidFill>
                  <a:srgbClr val="D4D4D4"/>
                </a:solidFill>
                <a:effectLst/>
                <a:latin typeface="Consolas" panose="020B0609020204030204" pitchFamily="49" charset="0"/>
              </a:rPr>
              <a:t> </a:t>
            </a:r>
            <a:r>
              <a:rPr lang="en-US" sz="700" b="0" dirty="0">
                <a:solidFill>
                  <a:srgbClr val="C586C0"/>
                </a:solidFill>
                <a:effectLst/>
                <a:latin typeface="Consolas" panose="020B0609020204030204" pitchFamily="49" charset="0"/>
              </a:rPr>
              <a:t>new</a:t>
            </a:r>
            <a:r>
              <a:rPr lang="en-US" sz="700" b="0" dirty="0">
                <a:solidFill>
                  <a:srgbClr val="D4D4D4"/>
                </a:solidFill>
                <a:effectLst/>
                <a:latin typeface="Consolas" panose="020B0609020204030204" pitchFamily="49" charset="0"/>
              </a:rPr>
              <a:t> </a:t>
            </a:r>
            <a:r>
              <a:rPr lang="en-US" sz="700" b="0" dirty="0" err="1">
                <a:solidFill>
                  <a:srgbClr val="DCDCAA"/>
                </a:solidFill>
                <a:effectLst/>
                <a:latin typeface="Consolas" panose="020B0609020204030204" pitchFamily="49" charset="0"/>
              </a:rPr>
              <a:t>AmericanoCoffee</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    }</a:t>
            </a:r>
          </a:p>
          <a:p>
            <a:br>
              <a:rPr lang="en-US" sz="700" b="0" dirty="0">
                <a:solidFill>
                  <a:srgbClr val="D4D4D4"/>
                </a:solidFill>
                <a:effectLst/>
                <a:latin typeface="Consolas" panose="020B0609020204030204" pitchFamily="49" charset="0"/>
              </a:rPr>
            </a:b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Override</a:t>
            </a:r>
            <a:endParaRPr lang="en-US" sz="700" b="0" dirty="0">
              <a:solidFill>
                <a:srgbClr val="D4D4D4"/>
              </a:solidFill>
              <a:effectLst/>
              <a:latin typeface="Consolas" panose="020B0609020204030204" pitchFamily="49" charset="0"/>
            </a:endParaRPr>
          </a:p>
          <a:p>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public</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Dessert</a:t>
            </a:r>
            <a:r>
              <a:rPr lang="en-US" sz="700" b="0" dirty="0">
                <a:solidFill>
                  <a:srgbClr val="D4D4D4"/>
                </a:solidFill>
                <a:effectLst/>
                <a:latin typeface="Consolas" panose="020B0609020204030204" pitchFamily="49" charset="0"/>
              </a:rPr>
              <a:t> </a:t>
            </a:r>
            <a:r>
              <a:rPr lang="en-US" sz="700" b="0" dirty="0" err="1">
                <a:solidFill>
                  <a:srgbClr val="DCDCAA"/>
                </a:solidFill>
                <a:effectLst/>
                <a:latin typeface="Consolas" panose="020B0609020204030204" pitchFamily="49" charset="0"/>
              </a:rPr>
              <a:t>createDessert</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C586C0"/>
                </a:solidFill>
                <a:effectLst/>
                <a:latin typeface="Consolas" panose="020B0609020204030204" pitchFamily="49" charset="0"/>
              </a:rPr>
              <a:t>return</a:t>
            </a:r>
            <a:r>
              <a:rPr lang="en-US" sz="700" b="0" dirty="0">
                <a:solidFill>
                  <a:srgbClr val="D4D4D4"/>
                </a:solidFill>
                <a:effectLst/>
                <a:latin typeface="Consolas" panose="020B0609020204030204" pitchFamily="49" charset="0"/>
              </a:rPr>
              <a:t> </a:t>
            </a:r>
            <a:r>
              <a:rPr lang="en-US" sz="700" b="0" dirty="0">
                <a:solidFill>
                  <a:srgbClr val="C586C0"/>
                </a:solidFill>
                <a:effectLst/>
                <a:latin typeface="Consolas" panose="020B0609020204030204" pitchFamily="49" charset="0"/>
              </a:rPr>
              <a:t>new</a:t>
            </a:r>
            <a:r>
              <a:rPr lang="en-US" sz="700" b="0" dirty="0">
                <a:solidFill>
                  <a:srgbClr val="D4D4D4"/>
                </a:solidFill>
                <a:effectLst/>
                <a:latin typeface="Consolas" panose="020B0609020204030204" pitchFamily="49" charset="0"/>
              </a:rPr>
              <a:t> </a:t>
            </a:r>
            <a:r>
              <a:rPr lang="en-US" sz="700" b="0" dirty="0" err="1">
                <a:solidFill>
                  <a:srgbClr val="DCDCAA"/>
                </a:solidFill>
                <a:effectLst/>
                <a:latin typeface="Consolas" panose="020B0609020204030204" pitchFamily="49" charset="0"/>
              </a:rPr>
              <a:t>MatchaMousse</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a:t>
            </a:r>
          </a:p>
          <a:p>
            <a:r>
              <a:rPr lang="en-US" sz="700" b="0" dirty="0">
                <a:solidFill>
                  <a:srgbClr val="569CD6"/>
                </a:solidFill>
                <a:effectLst/>
                <a:latin typeface="Consolas" panose="020B0609020204030204" pitchFamily="49" charset="0"/>
              </a:rPr>
              <a:t>class</a:t>
            </a:r>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ItalyDessertFactory</a:t>
            </a:r>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implements</a:t>
            </a:r>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DessertFactory</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Override</a:t>
            </a:r>
            <a:endParaRPr lang="en-US" sz="700" b="0" dirty="0">
              <a:solidFill>
                <a:srgbClr val="D4D4D4"/>
              </a:solidFill>
              <a:effectLst/>
              <a:latin typeface="Consolas" panose="020B0609020204030204" pitchFamily="49" charset="0"/>
            </a:endParaRPr>
          </a:p>
          <a:p>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public</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Coffee</a:t>
            </a:r>
            <a:r>
              <a:rPr lang="en-US" sz="700" b="0" dirty="0">
                <a:solidFill>
                  <a:srgbClr val="D4D4D4"/>
                </a:solidFill>
                <a:effectLst/>
                <a:latin typeface="Consolas" panose="020B0609020204030204" pitchFamily="49" charset="0"/>
              </a:rPr>
              <a:t> </a:t>
            </a:r>
            <a:r>
              <a:rPr lang="en-US" sz="700" b="0" dirty="0" err="1">
                <a:solidFill>
                  <a:srgbClr val="DCDCAA"/>
                </a:solidFill>
                <a:effectLst/>
                <a:latin typeface="Consolas" panose="020B0609020204030204" pitchFamily="49" charset="0"/>
              </a:rPr>
              <a:t>createCoffee</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C586C0"/>
                </a:solidFill>
                <a:effectLst/>
                <a:latin typeface="Consolas" panose="020B0609020204030204" pitchFamily="49" charset="0"/>
              </a:rPr>
              <a:t>return</a:t>
            </a:r>
            <a:r>
              <a:rPr lang="en-US" sz="700" b="0" dirty="0">
                <a:solidFill>
                  <a:srgbClr val="D4D4D4"/>
                </a:solidFill>
                <a:effectLst/>
                <a:latin typeface="Consolas" panose="020B0609020204030204" pitchFamily="49" charset="0"/>
              </a:rPr>
              <a:t> </a:t>
            </a:r>
            <a:r>
              <a:rPr lang="en-US" sz="700" b="0" dirty="0">
                <a:solidFill>
                  <a:srgbClr val="C586C0"/>
                </a:solidFill>
                <a:effectLst/>
                <a:latin typeface="Consolas" panose="020B0609020204030204" pitchFamily="49" charset="0"/>
              </a:rPr>
              <a:t>new</a:t>
            </a:r>
            <a:r>
              <a:rPr lang="en-US" sz="700" b="0" dirty="0">
                <a:solidFill>
                  <a:srgbClr val="D4D4D4"/>
                </a:solidFill>
                <a:effectLst/>
                <a:latin typeface="Consolas" panose="020B0609020204030204" pitchFamily="49" charset="0"/>
              </a:rPr>
              <a:t> </a:t>
            </a:r>
            <a:r>
              <a:rPr lang="en-US" sz="700" b="0" dirty="0" err="1">
                <a:solidFill>
                  <a:srgbClr val="DCDCAA"/>
                </a:solidFill>
                <a:effectLst/>
                <a:latin typeface="Consolas" panose="020B0609020204030204" pitchFamily="49" charset="0"/>
              </a:rPr>
              <a:t>LatteCoffee</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    }</a:t>
            </a:r>
          </a:p>
          <a:p>
            <a:br>
              <a:rPr lang="en-US" sz="700" b="0" dirty="0">
                <a:solidFill>
                  <a:srgbClr val="D4D4D4"/>
                </a:solidFill>
                <a:effectLst/>
                <a:latin typeface="Consolas" panose="020B0609020204030204" pitchFamily="49" charset="0"/>
              </a:rPr>
            </a:b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Override</a:t>
            </a:r>
            <a:endParaRPr lang="en-US" sz="700" b="0" dirty="0">
              <a:solidFill>
                <a:srgbClr val="D4D4D4"/>
              </a:solidFill>
              <a:effectLst/>
              <a:latin typeface="Consolas" panose="020B0609020204030204" pitchFamily="49" charset="0"/>
            </a:endParaRPr>
          </a:p>
          <a:p>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public</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Dessert</a:t>
            </a:r>
            <a:r>
              <a:rPr lang="en-US" sz="700" b="0" dirty="0">
                <a:solidFill>
                  <a:srgbClr val="D4D4D4"/>
                </a:solidFill>
                <a:effectLst/>
                <a:latin typeface="Consolas" panose="020B0609020204030204" pitchFamily="49" charset="0"/>
              </a:rPr>
              <a:t> </a:t>
            </a:r>
            <a:r>
              <a:rPr lang="en-US" sz="700" b="0" dirty="0" err="1">
                <a:solidFill>
                  <a:srgbClr val="DCDCAA"/>
                </a:solidFill>
                <a:effectLst/>
                <a:latin typeface="Consolas" panose="020B0609020204030204" pitchFamily="49" charset="0"/>
              </a:rPr>
              <a:t>createDessert</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C586C0"/>
                </a:solidFill>
                <a:effectLst/>
                <a:latin typeface="Consolas" panose="020B0609020204030204" pitchFamily="49" charset="0"/>
              </a:rPr>
              <a:t>return</a:t>
            </a:r>
            <a:r>
              <a:rPr lang="en-US" sz="700" b="0" dirty="0">
                <a:solidFill>
                  <a:srgbClr val="D4D4D4"/>
                </a:solidFill>
                <a:effectLst/>
                <a:latin typeface="Consolas" panose="020B0609020204030204" pitchFamily="49" charset="0"/>
              </a:rPr>
              <a:t> </a:t>
            </a:r>
            <a:r>
              <a:rPr lang="en-US" sz="700" b="0" dirty="0">
                <a:solidFill>
                  <a:srgbClr val="C586C0"/>
                </a:solidFill>
                <a:effectLst/>
                <a:latin typeface="Consolas" panose="020B0609020204030204" pitchFamily="49" charset="0"/>
              </a:rPr>
              <a:t>new</a:t>
            </a:r>
            <a:r>
              <a:rPr lang="en-US" sz="700" b="0" dirty="0">
                <a:solidFill>
                  <a:srgbClr val="D4D4D4"/>
                </a:solidFill>
                <a:effectLst/>
                <a:latin typeface="Consolas" panose="020B0609020204030204" pitchFamily="49" charset="0"/>
              </a:rPr>
              <a:t> </a:t>
            </a:r>
            <a:r>
              <a:rPr lang="en-US" sz="700" b="0" dirty="0">
                <a:solidFill>
                  <a:srgbClr val="DCDCAA"/>
                </a:solidFill>
                <a:effectLst/>
                <a:latin typeface="Consolas" panose="020B0609020204030204" pitchFamily="49" charset="0"/>
              </a:rPr>
              <a:t>Tiramisu</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a:t>
            </a:r>
          </a:p>
          <a:p>
            <a:br>
              <a:rPr lang="en-US" sz="700" b="0" dirty="0">
                <a:solidFill>
                  <a:srgbClr val="D4D4D4"/>
                </a:solidFill>
                <a:effectLst/>
                <a:latin typeface="Consolas" panose="020B0609020204030204" pitchFamily="49" charset="0"/>
              </a:rPr>
            </a:br>
            <a:r>
              <a:rPr lang="en-US" sz="700" b="0" dirty="0">
                <a:solidFill>
                  <a:srgbClr val="569CD6"/>
                </a:solidFill>
                <a:effectLst/>
                <a:latin typeface="Consolas" panose="020B0609020204030204" pitchFamily="49" charset="0"/>
              </a:rPr>
              <a:t>class</a:t>
            </a:r>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Coffe_FactoryMethod</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public</a:t>
            </a:r>
            <a:r>
              <a:rPr lang="en-US" sz="700" b="0" dirty="0">
                <a:solidFill>
                  <a:srgbClr val="D4D4D4"/>
                </a:solidFill>
                <a:effectLst/>
                <a:latin typeface="Consolas" panose="020B0609020204030204" pitchFamily="49" charset="0"/>
              </a:rPr>
              <a:t> </a:t>
            </a:r>
            <a:r>
              <a:rPr lang="en-US" sz="700" b="0" dirty="0">
                <a:solidFill>
                  <a:srgbClr val="569CD6"/>
                </a:solidFill>
                <a:effectLst/>
                <a:latin typeface="Consolas" panose="020B0609020204030204" pitchFamily="49" charset="0"/>
              </a:rPr>
              <a:t>static</a:t>
            </a:r>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void</a:t>
            </a:r>
            <a:r>
              <a:rPr lang="en-US" sz="700" b="0" dirty="0">
                <a:solidFill>
                  <a:srgbClr val="D4D4D4"/>
                </a:solidFill>
                <a:effectLst/>
                <a:latin typeface="Consolas" panose="020B0609020204030204" pitchFamily="49" charset="0"/>
              </a:rPr>
              <a:t> </a:t>
            </a:r>
            <a:r>
              <a:rPr lang="en-US" sz="700" b="0" dirty="0">
                <a:solidFill>
                  <a:srgbClr val="DCDCAA"/>
                </a:solidFill>
                <a:effectLst/>
                <a:latin typeface="Consolas" panose="020B0609020204030204" pitchFamily="49" charset="0"/>
              </a:rPr>
              <a:t>main</a:t>
            </a:r>
            <a:r>
              <a:rPr lang="en-US" sz="700" b="0" dirty="0">
                <a:solidFill>
                  <a:srgbClr val="D4D4D4"/>
                </a:solidFill>
                <a:effectLst/>
                <a:latin typeface="Consolas" panose="020B0609020204030204" pitchFamily="49" charset="0"/>
              </a:rPr>
              <a:t>(</a:t>
            </a:r>
            <a:r>
              <a:rPr lang="en-US" sz="700" b="0" dirty="0">
                <a:solidFill>
                  <a:srgbClr val="4EC9B0"/>
                </a:solidFill>
                <a:effectLst/>
                <a:latin typeface="Consolas" panose="020B0609020204030204" pitchFamily="49" charset="0"/>
              </a:rPr>
              <a:t>String</a:t>
            </a:r>
            <a:r>
              <a:rPr lang="en-US" sz="700" b="0" dirty="0">
                <a:solidFill>
                  <a:srgbClr val="D4D4D4"/>
                </a:solidFill>
                <a:effectLst/>
                <a:latin typeface="Consolas" panose="020B0609020204030204" pitchFamily="49" charset="0"/>
              </a:rPr>
              <a:t>[] </a:t>
            </a:r>
            <a:r>
              <a:rPr lang="en-US" sz="700" b="0" dirty="0" err="1">
                <a:solidFill>
                  <a:srgbClr val="9CDCFE"/>
                </a:solidFill>
                <a:effectLst/>
                <a:latin typeface="Consolas" panose="020B0609020204030204" pitchFamily="49" charset="0"/>
              </a:rPr>
              <a:t>args</a:t>
            </a:r>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DessertFactory</a:t>
            </a:r>
            <a:r>
              <a:rPr lang="en-US" sz="700" b="0" dirty="0">
                <a:solidFill>
                  <a:srgbClr val="D4D4D4"/>
                </a:solidFill>
                <a:effectLst/>
                <a:latin typeface="Consolas" panose="020B0609020204030204" pitchFamily="49" charset="0"/>
              </a:rPr>
              <a:t> </a:t>
            </a:r>
            <a:r>
              <a:rPr lang="en-US" sz="700" b="0" dirty="0" err="1">
                <a:solidFill>
                  <a:srgbClr val="9CDCFE"/>
                </a:solidFill>
                <a:effectLst/>
                <a:latin typeface="Consolas" panose="020B0609020204030204" pitchFamily="49" charset="0"/>
              </a:rPr>
              <a:t>americanFactory</a:t>
            </a:r>
            <a:r>
              <a:rPr lang="en-US" sz="700" b="0" dirty="0">
                <a:solidFill>
                  <a:srgbClr val="D4D4D4"/>
                </a:solidFill>
                <a:effectLst/>
                <a:latin typeface="Consolas" panose="020B0609020204030204" pitchFamily="49" charset="0"/>
              </a:rPr>
              <a:t> = </a:t>
            </a:r>
            <a:r>
              <a:rPr lang="en-US" sz="700" b="0" dirty="0">
                <a:solidFill>
                  <a:srgbClr val="C586C0"/>
                </a:solidFill>
                <a:effectLst/>
                <a:latin typeface="Consolas" panose="020B0609020204030204" pitchFamily="49" charset="0"/>
              </a:rPr>
              <a:t>new</a:t>
            </a:r>
            <a:r>
              <a:rPr lang="en-US" sz="700" b="0" dirty="0">
                <a:solidFill>
                  <a:srgbClr val="D4D4D4"/>
                </a:solidFill>
                <a:effectLst/>
                <a:latin typeface="Consolas" panose="020B0609020204030204" pitchFamily="49" charset="0"/>
              </a:rPr>
              <a:t> </a:t>
            </a:r>
            <a:r>
              <a:rPr lang="en-US" sz="700" b="0" dirty="0" err="1">
                <a:solidFill>
                  <a:srgbClr val="DCDCAA"/>
                </a:solidFill>
                <a:effectLst/>
                <a:latin typeface="Consolas" panose="020B0609020204030204" pitchFamily="49" charset="0"/>
              </a:rPr>
              <a:t>AmericanDessertFactory</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Coffee</a:t>
            </a:r>
            <a:r>
              <a:rPr lang="en-US" sz="700" b="0" dirty="0">
                <a:solidFill>
                  <a:srgbClr val="D4D4D4"/>
                </a:solidFill>
                <a:effectLst/>
                <a:latin typeface="Consolas" panose="020B0609020204030204" pitchFamily="49" charset="0"/>
              </a:rPr>
              <a:t> </a:t>
            </a:r>
            <a:r>
              <a:rPr lang="en-US" sz="700" b="0" dirty="0" err="1">
                <a:solidFill>
                  <a:srgbClr val="9CDCFE"/>
                </a:solidFill>
                <a:effectLst/>
                <a:latin typeface="Consolas" panose="020B0609020204030204" pitchFamily="49" charset="0"/>
              </a:rPr>
              <a:t>americanCoffee</a:t>
            </a:r>
            <a:r>
              <a:rPr lang="en-US" sz="700" b="0" dirty="0">
                <a:solidFill>
                  <a:srgbClr val="D4D4D4"/>
                </a:solidFill>
                <a:effectLst/>
                <a:latin typeface="Consolas" panose="020B0609020204030204" pitchFamily="49" charset="0"/>
              </a:rPr>
              <a:t> = </a:t>
            </a:r>
            <a:r>
              <a:rPr lang="en-US" sz="700" b="0" dirty="0" err="1">
                <a:solidFill>
                  <a:srgbClr val="9CDCFE"/>
                </a:solidFill>
                <a:effectLst/>
                <a:latin typeface="Consolas" panose="020B0609020204030204" pitchFamily="49" charset="0"/>
              </a:rPr>
              <a:t>americanFactory</a:t>
            </a:r>
            <a:r>
              <a:rPr lang="en-US" sz="700" b="0" dirty="0" err="1">
                <a:solidFill>
                  <a:srgbClr val="D4D4D4"/>
                </a:solidFill>
                <a:effectLst/>
                <a:latin typeface="Consolas" panose="020B0609020204030204" pitchFamily="49" charset="0"/>
              </a:rPr>
              <a:t>.</a:t>
            </a:r>
            <a:r>
              <a:rPr lang="en-US" sz="700" b="0" dirty="0" err="1">
                <a:solidFill>
                  <a:srgbClr val="DCDCAA"/>
                </a:solidFill>
                <a:effectLst/>
                <a:latin typeface="Consolas" panose="020B0609020204030204" pitchFamily="49" charset="0"/>
              </a:rPr>
              <a:t>createCoffee</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        </a:t>
            </a:r>
            <a:r>
              <a:rPr lang="en-US" sz="700" b="0" dirty="0">
                <a:solidFill>
                  <a:srgbClr val="9CDCFE"/>
                </a:solidFill>
                <a:effectLst/>
                <a:latin typeface="Consolas" panose="020B0609020204030204" pitchFamily="49" charset="0"/>
              </a:rPr>
              <a:t>americanCoffee</a:t>
            </a:r>
            <a:r>
              <a:rPr lang="en-US" sz="700" b="0" dirty="0">
                <a:solidFill>
                  <a:srgbClr val="D4D4D4"/>
                </a:solidFill>
                <a:effectLst/>
                <a:latin typeface="Consolas" panose="020B0609020204030204" pitchFamily="49" charset="0"/>
              </a:rPr>
              <a:t>.</a:t>
            </a:r>
            <a:r>
              <a:rPr lang="en-US" sz="700" b="0" dirty="0">
                <a:solidFill>
                  <a:srgbClr val="DCDCAA"/>
                </a:solidFill>
                <a:effectLst/>
                <a:latin typeface="Consolas" panose="020B0609020204030204" pitchFamily="49" charset="0"/>
              </a:rPr>
              <a:t>info</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Dessert</a:t>
            </a:r>
            <a:r>
              <a:rPr lang="en-US" sz="700" b="0" dirty="0">
                <a:solidFill>
                  <a:srgbClr val="D4D4D4"/>
                </a:solidFill>
                <a:effectLst/>
                <a:latin typeface="Consolas" panose="020B0609020204030204" pitchFamily="49" charset="0"/>
              </a:rPr>
              <a:t> </a:t>
            </a:r>
            <a:r>
              <a:rPr lang="en-US" sz="700" b="0" dirty="0" err="1">
                <a:solidFill>
                  <a:srgbClr val="9CDCFE"/>
                </a:solidFill>
                <a:effectLst/>
                <a:latin typeface="Consolas" panose="020B0609020204030204" pitchFamily="49" charset="0"/>
              </a:rPr>
              <a:t>americanDessert</a:t>
            </a:r>
            <a:r>
              <a:rPr lang="en-US" sz="700" b="0" dirty="0">
                <a:solidFill>
                  <a:srgbClr val="D4D4D4"/>
                </a:solidFill>
                <a:effectLst/>
                <a:latin typeface="Consolas" panose="020B0609020204030204" pitchFamily="49" charset="0"/>
              </a:rPr>
              <a:t> = </a:t>
            </a:r>
            <a:r>
              <a:rPr lang="en-US" sz="700" b="0" dirty="0" err="1">
                <a:solidFill>
                  <a:srgbClr val="9CDCFE"/>
                </a:solidFill>
                <a:effectLst/>
                <a:latin typeface="Consolas" panose="020B0609020204030204" pitchFamily="49" charset="0"/>
              </a:rPr>
              <a:t>americanFactory</a:t>
            </a:r>
            <a:r>
              <a:rPr lang="en-US" sz="700" b="0" dirty="0" err="1">
                <a:solidFill>
                  <a:srgbClr val="D4D4D4"/>
                </a:solidFill>
                <a:effectLst/>
                <a:latin typeface="Consolas" panose="020B0609020204030204" pitchFamily="49" charset="0"/>
              </a:rPr>
              <a:t>.</a:t>
            </a:r>
            <a:r>
              <a:rPr lang="en-US" sz="700" b="0" dirty="0" err="1">
                <a:solidFill>
                  <a:srgbClr val="DCDCAA"/>
                </a:solidFill>
                <a:effectLst/>
                <a:latin typeface="Consolas" panose="020B0609020204030204" pitchFamily="49" charset="0"/>
              </a:rPr>
              <a:t>createDessert</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        </a:t>
            </a:r>
            <a:r>
              <a:rPr lang="en-US" sz="700" b="0" dirty="0">
                <a:solidFill>
                  <a:srgbClr val="9CDCFE"/>
                </a:solidFill>
                <a:effectLst/>
                <a:latin typeface="Consolas" panose="020B0609020204030204" pitchFamily="49" charset="0"/>
              </a:rPr>
              <a:t>americanDessert</a:t>
            </a:r>
            <a:r>
              <a:rPr lang="en-US" sz="700" b="0" dirty="0">
                <a:solidFill>
                  <a:srgbClr val="D4D4D4"/>
                </a:solidFill>
                <a:effectLst/>
                <a:latin typeface="Consolas" panose="020B0609020204030204" pitchFamily="49" charset="0"/>
              </a:rPr>
              <a:t>.</a:t>
            </a:r>
            <a:r>
              <a:rPr lang="en-US" sz="700" b="0" dirty="0">
                <a:solidFill>
                  <a:srgbClr val="DCDCAA"/>
                </a:solidFill>
                <a:effectLst/>
                <a:latin typeface="Consolas" panose="020B0609020204030204" pitchFamily="49" charset="0"/>
              </a:rPr>
              <a:t>info</a:t>
            </a:r>
            <a:r>
              <a:rPr lang="en-US" sz="700" b="0" dirty="0">
                <a:solidFill>
                  <a:srgbClr val="D4D4D4"/>
                </a:solidFill>
                <a:effectLst/>
                <a:latin typeface="Consolas" panose="020B0609020204030204" pitchFamily="49" charset="0"/>
              </a:rPr>
              <a:t>();</a:t>
            </a:r>
          </a:p>
          <a:p>
            <a:br>
              <a:rPr lang="en-US" sz="700" b="0" dirty="0">
                <a:solidFill>
                  <a:srgbClr val="D4D4D4"/>
                </a:solidFill>
                <a:effectLst/>
                <a:latin typeface="Consolas" panose="020B0609020204030204" pitchFamily="49" charset="0"/>
              </a:rPr>
            </a:br>
            <a:r>
              <a:rPr lang="en-US" sz="700" b="0" dirty="0">
                <a:solidFill>
                  <a:srgbClr val="D4D4D4"/>
                </a:solidFill>
                <a:effectLst/>
                <a:latin typeface="Consolas" panose="020B0609020204030204" pitchFamily="49" charset="0"/>
              </a:rPr>
              <a:t>        </a:t>
            </a:r>
            <a:r>
              <a:rPr lang="en-US" sz="700" b="0" dirty="0" err="1">
                <a:solidFill>
                  <a:srgbClr val="4EC9B0"/>
                </a:solidFill>
                <a:effectLst/>
                <a:latin typeface="Consolas" panose="020B0609020204030204" pitchFamily="49" charset="0"/>
              </a:rPr>
              <a:t>DessertFactory</a:t>
            </a:r>
            <a:r>
              <a:rPr lang="en-US" sz="700" b="0" dirty="0">
                <a:solidFill>
                  <a:srgbClr val="D4D4D4"/>
                </a:solidFill>
                <a:effectLst/>
                <a:latin typeface="Consolas" panose="020B0609020204030204" pitchFamily="49" charset="0"/>
              </a:rPr>
              <a:t> </a:t>
            </a:r>
            <a:r>
              <a:rPr lang="en-US" sz="700" b="0" dirty="0" err="1">
                <a:solidFill>
                  <a:srgbClr val="9CDCFE"/>
                </a:solidFill>
                <a:effectLst/>
                <a:latin typeface="Consolas" panose="020B0609020204030204" pitchFamily="49" charset="0"/>
              </a:rPr>
              <a:t>italyFactory</a:t>
            </a:r>
            <a:r>
              <a:rPr lang="en-US" sz="700" b="0" dirty="0">
                <a:solidFill>
                  <a:srgbClr val="D4D4D4"/>
                </a:solidFill>
                <a:effectLst/>
                <a:latin typeface="Consolas" panose="020B0609020204030204" pitchFamily="49" charset="0"/>
              </a:rPr>
              <a:t> = </a:t>
            </a:r>
            <a:r>
              <a:rPr lang="en-US" sz="700" b="0" dirty="0">
                <a:solidFill>
                  <a:srgbClr val="C586C0"/>
                </a:solidFill>
                <a:effectLst/>
                <a:latin typeface="Consolas" panose="020B0609020204030204" pitchFamily="49" charset="0"/>
              </a:rPr>
              <a:t>new</a:t>
            </a:r>
            <a:r>
              <a:rPr lang="en-US" sz="700" b="0" dirty="0">
                <a:solidFill>
                  <a:srgbClr val="D4D4D4"/>
                </a:solidFill>
                <a:effectLst/>
                <a:latin typeface="Consolas" panose="020B0609020204030204" pitchFamily="49" charset="0"/>
              </a:rPr>
              <a:t> </a:t>
            </a:r>
            <a:r>
              <a:rPr lang="en-US" sz="700" b="0" dirty="0" err="1">
                <a:solidFill>
                  <a:srgbClr val="DCDCAA"/>
                </a:solidFill>
                <a:effectLst/>
                <a:latin typeface="Consolas" panose="020B0609020204030204" pitchFamily="49" charset="0"/>
              </a:rPr>
              <a:t>ItalyDessertFactory</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Coffee</a:t>
            </a:r>
            <a:r>
              <a:rPr lang="en-US" sz="700" b="0" dirty="0">
                <a:solidFill>
                  <a:srgbClr val="D4D4D4"/>
                </a:solidFill>
                <a:effectLst/>
                <a:latin typeface="Consolas" panose="020B0609020204030204" pitchFamily="49" charset="0"/>
              </a:rPr>
              <a:t> </a:t>
            </a:r>
            <a:r>
              <a:rPr lang="en-US" sz="700" b="0" dirty="0" err="1">
                <a:solidFill>
                  <a:srgbClr val="9CDCFE"/>
                </a:solidFill>
                <a:effectLst/>
                <a:latin typeface="Consolas" panose="020B0609020204030204" pitchFamily="49" charset="0"/>
              </a:rPr>
              <a:t>italyCoffee</a:t>
            </a:r>
            <a:r>
              <a:rPr lang="en-US" sz="700" b="0" dirty="0">
                <a:solidFill>
                  <a:srgbClr val="D4D4D4"/>
                </a:solidFill>
                <a:effectLst/>
                <a:latin typeface="Consolas" panose="020B0609020204030204" pitchFamily="49" charset="0"/>
              </a:rPr>
              <a:t> = </a:t>
            </a:r>
            <a:r>
              <a:rPr lang="en-US" sz="700" b="0" dirty="0" err="1">
                <a:solidFill>
                  <a:srgbClr val="9CDCFE"/>
                </a:solidFill>
                <a:effectLst/>
                <a:latin typeface="Consolas" panose="020B0609020204030204" pitchFamily="49" charset="0"/>
              </a:rPr>
              <a:t>italyFactory</a:t>
            </a:r>
            <a:r>
              <a:rPr lang="en-US" sz="700" b="0" dirty="0" err="1">
                <a:solidFill>
                  <a:srgbClr val="D4D4D4"/>
                </a:solidFill>
                <a:effectLst/>
                <a:latin typeface="Consolas" panose="020B0609020204030204" pitchFamily="49" charset="0"/>
              </a:rPr>
              <a:t>.</a:t>
            </a:r>
            <a:r>
              <a:rPr lang="en-US" sz="700" b="0" dirty="0" err="1">
                <a:solidFill>
                  <a:srgbClr val="DCDCAA"/>
                </a:solidFill>
                <a:effectLst/>
                <a:latin typeface="Consolas" panose="020B0609020204030204" pitchFamily="49" charset="0"/>
              </a:rPr>
              <a:t>createCoffee</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        </a:t>
            </a:r>
            <a:r>
              <a:rPr lang="en-US" sz="700" b="0" dirty="0">
                <a:solidFill>
                  <a:srgbClr val="9CDCFE"/>
                </a:solidFill>
                <a:effectLst/>
                <a:latin typeface="Consolas" panose="020B0609020204030204" pitchFamily="49" charset="0"/>
              </a:rPr>
              <a:t>italyCoffee</a:t>
            </a:r>
            <a:r>
              <a:rPr lang="en-US" sz="700" b="0" dirty="0">
                <a:solidFill>
                  <a:srgbClr val="D4D4D4"/>
                </a:solidFill>
                <a:effectLst/>
                <a:latin typeface="Consolas" panose="020B0609020204030204" pitchFamily="49" charset="0"/>
              </a:rPr>
              <a:t>.</a:t>
            </a:r>
            <a:r>
              <a:rPr lang="en-US" sz="700" b="0" dirty="0">
                <a:solidFill>
                  <a:srgbClr val="DCDCAA"/>
                </a:solidFill>
                <a:effectLst/>
                <a:latin typeface="Consolas" panose="020B0609020204030204" pitchFamily="49" charset="0"/>
              </a:rPr>
              <a:t>info</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        </a:t>
            </a:r>
            <a:r>
              <a:rPr lang="en-US" sz="700" b="0" dirty="0">
                <a:solidFill>
                  <a:srgbClr val="4EC9B0"/>
                </a:solidFill>
                <a:effectLst/>
                <a:latin typeface="Consolas" panose="020B0609020204030204" pitchFamily="49" charset="0"/>
              </a:rPr>
              <a:t>Dessert</a:t>
            </a:r>
            <a:r>
              <a:rPr lang="en-US" sz="700" b="0" dirty="0">
                <a:solidFill>
                  <a:srgbClr val="D4D4D4"/>
                </a:solidFill>
                <a:effectLst/>
                <a:latin typeface="Consolas" panose="020B0609020204030204" pitchFamily="49" charset="0"/>
              </a:rPr>
              <a:t> </a:t>
            </a:r>
            <a:r>
              <a:rPr lang="en-US" sz="700" b="0" dirty="0" err="1">
                <a:solidFill>
                  <a:srgbClr val="9CDCFE"/>
                </a:solidFill>
                <a:effectLst/>
                <a:latin typeface="Consolas" panose="020B0609020204030204" pitchFamily="49" charset="0"/>
              </a:rPr>
              <a:t>italyDessert</a:t>
            </a:r>
            <a:r>
              <a:rPr lang="en-US" sz="700" b="0" dirty="0">
                <a:solidFill>
                  <a:srgbClr val="D4D4D4"/>
                </a:solidFill>
                <a:effectLst/>
                <a:latin typeface="Consolas" panose="020B0609020204030204" pitchFamily="49" charset="0"/>
              </a:rPr>
              <a:t> = </a:t>
            </a:r>
            <a:r>
              <a:rPr lang="en-US" sz="700" b="0" dirty="0" err="1">
                <a:solidFill>
                  <a:srgbClr val="9CDCFE"/>
                </a:solidFill>
                <a:effectLst/>
                <a:latin typeface="Consolas" panose="020B0609020204030204" pitchFamily="49" charset="0"/>
              </a:rPr>
              <a:t>italyFactory</a:t>
            </a:r>
            <a:r>
              <a:rPr lang="en-US" sz="700" b="0" dirty="0" err="1">
                <a:solidFill>
                  <a:srgbClr val="D4D4D4"/>
                </a:solidFill>
                <a:effectLst/>
                <a:latin typeface="Consolas" panose="020B0609020204030204" pitchFamily="49" charset="0"/>
              </a:rPr>
              <a:t>.</a:t>
            </a:r>
            <a:r>
              <a:rPr lang="en-US" sz="700" b="0" dirty="0" err="1">
                <a:solidFill>
                  <a:srgbClr val="DCDCAA"/>
                </a:solidFill>
                <a:effectLst/>
                <a:latin typeface="Consolas" panose="020B0609020204030204" pitchFamily="49" charset="0"/>
              </a:rPr>
              <a:t>createDessert</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        </a:t>
            </a:r>
            <a:r>
              <a:rPr lang="en-US" sz="700" b="0" dirty="0">
                <a:solidFill>
                  <a:srgbClr val="9CDCFE"/>
                </a:solidFill>
                <a:effectLst/>
                <a:latin typeface="Consolas" panose="020B0609020204030204" pitchFamily="49" charset="0"/>
              </a:rPr>
              <a:t>italyDessert</a:t>
            </a:r>
            <a:r>
              <a:rPr lang="en-US" sz="700" b="0" dirty="0">
                <a:solidFill>
                  <a:srgbClr val="D4D4D4"/>
                </a:solidFill>
                <a:effectLst/>
                <a:latin typeface="Consolas" panose="020B0609020204030204" pitchFamily="49" charset="0"/>
              </a:rPr>
              <a:t>.</a:t>
            </a:r>
            <a:r>
              <a:rPr lang="en-US" sz="700" b="0" dirty="0">
                <a:solidFill>
                  <a:srgbClr val="DCDCAA"/>
                </a:solidFill>
                <a:effectLst/>
                <a:latin typeface="Consolas" panose="020B0609020204030204" pitchFamily="49" charset="0"/>
              </a:rPr>
              <a:t>info</a:t>
            </a:r>
            <a:r>
              <a:rPr lang="en-US" sz="700" b="0" dirty="0">
                <a:solidFill>
                  <a:srgbClr val="D4D4D4"/>
                </a:solidFill>
                <a:effectLst/>
                <a:latin typeface="Consolas" panose="020B0609020204030204" pitchFamily="49" charset="0"/>
              </a:rPr>
              <a:t>();</a:t>
            </a:r>
          </a:p>
          <a:p>
            <a:r>
              <a:rPr lang="en-US" sz="700" b="0" dirty="0">
                <a:solidFill>
                  <a:srgbClr val="D4D4D4"/>
                </a:solidFill>
                <a:effectLst/>
                <a:latin typeface="Consolas" panose="020B0609020204030204" pitchFamily="49" charset="0"/>
              </a:rPr>
              <a:t>    }</a:t>
            </a:r>
          </a:p>
          <a:p>
            <a:r>
              <a:rPr lang="en-US" sz="7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699736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创建型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行为型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8962561" cy="572261"/>
            <a:chOff x="7614613" y="5950488"/>
            <a:chExt cx="8962561" cy="57226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8962561"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▶生成器模式</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3" y="6245750"/>
              <a:ext cx="5577431" cy="276999"/>
            </a:xfrm>
            <a:prstGeom prst="rect">
              <a:avLst/>
            </a:prstGeom>
            <a:noFill/>
          </p:spPr>
          <p:txBody>
            <a:bodyPr wrap="square">
              <a:spAutoFit/>
            </a:bodyPr>
            <a:lstStyle/>
            <a:p>
              <a:r>
                <a:rPr lang="zh-CN" altLang="en-US" sz="1200" dirty="0">
                  <a:solidFill>
                    <a:schemeClr val="accent1"/>
                  </a:solidFill>
                  <a:latin typeface="ui-monospace"/>
                </a:rPr>
                <a:t>将一个</a:t>
              </a:r>
              <a:r>
                <a:rPr lang="zh-CN" altLang="en-US" sz="1200" b="1" dirty="0">
                  <a:solidFill>
                    <a:schemeClr val="accent1"/>
                  </a:solidFill>
                  <a:latin typeface="ui-monospace"/>
                </a:rPr>
                <a:t>复杂对象</a:t>
              </a:r>
              <a:r>
                <a:rPr lang="zh-CN" altLang="en-US" sz="1200" dirty="0">
                  <a:solidFill>
                    <a:schemeClr val="accent1"/>
                  </a:solidFill>
                  <a:latin typeface="ui-monospace"/>
                </a:rPr>
                <a:t>的构建步骤与表示分离，使得同样的</a:t>
              </a:r>
              <a:r>
                <a:rPr lang="zh-CN" altLang="en-US" sz="1200" b="1" dirty="0">
                  <a:solidFill>
                    <a:schemeClr val="accent1"/>
                  </a:solidFill>
                  <a:latin typeface="ui-monospace"/>
                </a:rPr>
                <a:t>构建过程</a:t>
              </a:r>
              <a:r>
                <a:rPr lang="zh-CN" altLang="en-US" sz="1200" dirty="0">
                  <a:solidFill>
                    <a:schemeClr val="accent1"/>
                  </a:solidFill>
                  <a:latin typeface="ui-monospace"/>
                </a:rPr>
                <a:t>可以创建</a:t>
              </a:r>
              <a:r>
                <a:rPr lang="zh-CN" altLang="en-US" sz="1200" b="1" dirty="0">
                  <a:solidFill>
                    <a:schemeClr val="accent1"/>
                  </a:solidFill>
                  <a:latin typeface="ui-monospace"/>
                </a:rPr>
                <a:t>不同表示</a:t>
              </a:r>
              <a:endParaRPr lang="en-US" altLang="zh-CN" sz="1200" dirty="0">
                <a:solidFill>
                  <a:schemeClr val="accent1"/>
                </a:solidFill>
                <a:latin typeface="ui-monospace"/>
              </a:endParaRPr>
            </a:p>
          </p:txBody>
        </p:sp>
      </p:grpSp>
      <p:sp>
        <p:nvSpPr>
          <p:cNvPr id="4" name="Rectangle: Rounded Corners 3">
            <a:extLst>
              <a:ext uri="{FF2B5EF4-FFF2-40B4-BE49-F238E27FC236}">
                <a16:creationId xmlns:a16="http://schemas.microsoft.com/office/drawing/2014/main" id="{FC6E2CEE-78A2-446C-3128-16A23E17A3C6}"/>
              </a:ext>
            </a:extLst>
          </p:cNvPr>
          <p:cNvSpPr/>
          <p:nvPr/>
        </p:nvSpPr>
        <p:spPr>
          <a:xfrm>
            <a:off x="9072981" y="629671"/>
            <a:ext cx="3064237" cy="4231341"/>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摩拜单车</a:t>
            </a:r>
            <a:r>
              <a:rPr lang="en-US" sz="800" b="0" dirty="0">
                <a:solidFill>
                  <a:srgbClr val="6A9955"/>
                </a:solidFill>
                <a:effectLst/>
                <a:latin typeface="Consolas" panose="020B0609020204030204" pitchFamily="49" charset="0"/>
              </a:rPr>
              <a:t>Builder</a:t>
            </a:r>
            <a:r>
              <a:rPr lang="zh-CN" altLang="en-US" sz="800" b="0" dirty="0">
                <a:solidFill>
                  <a:srgbClr val="6A9955"/>
                </a:solidFill>
                <a:effectLst/>
                <a:latin typeface="Consolas" panose="020B0609020204030204" pitchFamily="49" charset="0"/>
              </a:rPr>
              <a:t>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MobikeBuilder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Builder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buildFrame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mBike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setFrame</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铝合金车架</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buildSeat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mBike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setSeat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真皮车座</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Bike</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createBike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D4D4D4"/>
                </a:solidFill>
                <a:effectLst/>
                <a:latin typeface="Consolas" panose="020B0609020204030204" pitchFamily="49" charset="0"/>
              </a:rPr>
              <a:t>mBike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a:p>
            <a:r>
              <a:rPr lang="en-US" sz="800" b="0" dirty="0">
                <a:solidFill>
                  <a:srgbClr val="6A9955"/>
                </a:solidFill>
                <a:effectLst/>
                <a:latin typeface="Consolas" panose="020B0609020204030204" pitchFamily="49" charset="0"/>
              </a:rPr>
              <a:t>// </a:t>
            </a:r>
            <a:r>
              <a:rPr lang="en-US" sz="800" b="0" dirty="0" err="1">
                <a:solidFill>
                  <a:srgbClr val="6A9955"/>
                </a:solidFill>
                <a:effectLst/>
                <a:latin typeface="Consolas" panose="020B0609020204030204" pitchFamily="49" charset="0"/>
              </a:rPr>
              <a:t>ofo</a:t>
            </a:r>
            <a:r>
              <a:rPr lang="zh-CN" altLang="en-US" sz="800" b="0" dirty="0">
                <a:solidFill>
                  <a:srgbClr val="6A9955"/>
                </a:solidFill>
                <a:effectLst/>
                <a:latin typeface="Consolas" panose="020B0609020204030204" pitchFamily="49" charset="0"/>
              </a:rPr>
              <a:t>单车</a:t>
            </a:r>
            <a:r>
              <a:rPr lang="en-US" sz="800" b="0" dirty="0">
                <a:solidFill>
                  <a:srgbClr val="6A9955"/>
                </a:solidFill>
                <a:effectLst/>
                <a:latin typeface="Consolas" panose="020B0609020204030204" pitchFamily="49" charset="0"/>
              </a:rPr>
              <a:t>Builder</a:t>
            </a:r>
            <a:r>
              <a:rPr lang="zh-CN" altLang="en-US" sz="800" b="0" dirty="0">
                <a:solidFill>
                  <a:srgbClr val="6A9955"/>
                </a:solidFill>
                <a:effectLst/>
                <a:latin typeface="Consolas" panose="020B0609020204030204" pitchFamily="49" charset="0"/>
              </a:rPr>
              <a:t>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OfoBuilder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Builder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buildFrame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mBike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setFrame</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碳纤维车架</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buildSeat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mBike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setSeat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橡胶车座</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Bike</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createBike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D4D4D4"/>
                </a:solidFill>
                <a:effectLst/>
                <a:latin typeface="Consolas" panose="020B0609020204030204" pitchFamily="49" charset="0"/>
              </a:rPr>
              <a:t>mBike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8" name="Rectangle: Rounded Corners 7">
            <a:extLst>
              <a:ext uri="{FF2B5EF4-FFF2-40B4-BE49-F238E27FC236}">
                <a16:creationId xmlns:a16="http://schemas.microsoft.com/office/drawing/2014/main" id="{BE620971-B8FB-B8DE-AA44-D17D4BEF6EEB}"/>
              </a:ext>
            </a:extLst>
          </p:cNvPr>
          <p:cNvSpPr/>
          <p:nvPr/>
        </p:nvSpPr>
        <p:spPr>
          <a:xfrm>
            <a:off x="6498520" y="834696"/>
            <a:ext cx="2526861" cy="240254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自行车类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Bike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frame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seat</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getFrame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frame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setFrame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frame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frame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frame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getSeat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seat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setSeat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seat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seat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seat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9" name="TextBox 36">
            <a:extLst>
              <a:ext uri="{FF2B5EF4-FFF2-40B4-BE49-F238E27FC236}">
                <a16:creationId xmlns:a16="http://schemas.microsoft.com/office/drawing/2014/main" id="{4CE9F4B2-0B55-1BF4-5526-98C8F034B362}"/>
              </a:ext>
            </a:extLst>
          </p:cNvPr>
          <p:cNvSpPr txBox="1"/>
          <p:nvPr/>
        </p:nvSpPr>
        <p:spPr>
          <a:xfrm>
            <a:off x="6391861" y="3206569"/>
            <a:ext cx="2779848" cy="276999"/>
          </a:xfrm>
          <a:prstGeom prst="rect">
            <a:avLst/>
          </a:prstGeom>
          <a:noFill/>
        </p:spPr>
        <p:txBody>
          <a:bodyPr wrap="square">
            <a:spAutoFit/>
          </a:bodyPr>
          <a:lstStyle/>
          <a:p>
            <a:r>
              <a:rPr lang="zh-CN" altLang="en-US" sz="1200" dirty="0">
                <a:solidFill>
                  <a:schemeClr val="accent1"/>
                </a:solidFill>
                <a:latin typeface="ui-monospace"/>
              </a:rPr>
              <a:t>抽象生成器类</a:t>
            </a:r>
            <a:r>
              <a:rPr lang="en-US" altLang="zh-CN" sz="1200" dirty="0">
                <a:solidFill>
                  <a:schemeClr val="accent1"/>
                </a:solidFill>
                <a:latin typeface="ui-monospace"/>
              </a:rPr>
              <a:t>(Builder)</a:t>
            </a:r>
            <a:r>
              <a:rPr lang="zh-CN" altLang="en-US" sz="1200" dirty="0">
                <a:solidFill>
                  <a:schemeClr val="accent1"/>
                </a:solidFill>
                <a:latin typeface="ui-monospace"/>
              </a:rPr>
              <a:t>：指定部件接口</a:t>
            </a:r>
            <a:endParaRPr lang="en-US" altLang="zh-CN" sz="1200" dirty="0">
              <a:solidFill>
                <a:schemeClr val="accent1"/>
              </a:solidFill>
              <a:latin typeface="ui-monospace"/>
            </a:endParaRPr>
          </a:p>
        </p:txBody>
      </p:sp>
      <p:sp>
        <p:nvSpPr>
          <p:cNvPr id="10" name="TextBox 36">
            <a:extLst>
              <a:ext uri="{FF2B5EF4-FFF2-40B4-BE49-F238E27FC236}">
                <a16:creationId xmlns:a16="http://schemas.microsoft.com/office/drawing/2014/main" id="{A90A45D8-F58B-56C8-8755-0F6B5B1BBED7}"/>
              </a:ext>
            </a:extLst>
          </p:cNvPr>
          <p:cNvSpPr txBox="1"/>
          <p:nvPr/>
        </p:nvSpPr>
        <p:spPr>
          <a:xfrm>
            <a:off x="9030251" y="373303"/>
            <a:ext cx="3064237" cy="276999"/>
          </a:xfrm>
          <a:prstGeom prst="rect">
            <a:avLst/>
          </a:prstGeom>
          <a:noFill/>
        </p:spPr>
        <p:txBody>
          <a:bodyPr wrap="square">
            <a:spAutoFit/>
          </a:bodyPr>
          <a:lstStyle/>
          <a:p>
            <a:r>
              <a:rPr lang="zh-CN" altLang="en-US" sz="1200" dirty="0">
                <a:solidFill>
                  <a:schemeClr val="accent1"/>
                </a:solidFill>
                <a:latin typeface="ui-monospace"/>
              </a:rPr>
              <a:t>具体生成器类</a:t>
            </a:r>
            <a:r>
              <a:rPr lang="en-US" altLang="zh-CN" sz="1200" dirty="0">
                <a:solidFill>
                  <a:schemeClr val="accent1"/>
                </a:solidFill>
                <a:latin typeface="ui-monospace"/>
              </a:rPr>
              <a:t>(</a:t>
            </a:r>
            <a:r>
              <a:rPr lang="en-US" altLang="zh-CN" sz="1200" dirty="0" err="1">
                <a:solidFill>
                  <a:schemeClr val="accent1"/>
                </a:solidFill>
                <a:latin typeface="ui-monospace"/>
              </a:rPr>
              <a:t>ConcreteBuilder</a:t>
            </a:r>
            <a:r>
              <a:rPr lang="en-US" altLang="zh-CN" sz="1200" dirty="0">
                <a:solidFill>
                  <a:schemeClr val="accent1"/>
                </a:solidFill>
                <a:latin typeface="ui-monospace"/>
              </a:rPr>
              <a:t>)</a:t>
            </a:r>
            <a:r>
              <a:rPr lang="zh-CN" altLang="en-US" sz="1200" dirty="0">
                <a:solidFill>
                  <a:schemeClr val="accent1"/>
                </a:solidFill>
                <a:latin typeface="ui-monospace"/>
              </a:rPr>
              <a:t>：</a:t>
            </a:r>
            <a:endParaRPr lang="en-US" altLang="zh-CN" sz="1200" dirty="0">
              <a:solidFill>
                <a:schemeClr val="accent1"/>
              </a:solidFill>
              <a:latin typeface="ui-monospace"/>
            </a:endParaRPr>
          </a:p>
        </p:txBody>
      </p:sp>
      <p:sp>
        <p:nvSpPr>
          <p:cNvPr id="11" name="Rectangle: Rounded Corners 10">
            <a:extLst>
              <a:ext uri="{FF2B5EF4-FFF2-40B4-BE49-F238E27FC236}">
                <a16:creationId xmlns:a16="http://schemas.microsoft.com/office/drawing/2014/main" id="{FD4335E5-A9C6-6576-7E5F-4CC4714B8C86}"/>
              </a:ext>
            </a:extLst>
          </p:cNvPr>
          <p:cNvSpPr/>
          <p:nvPr/>
        </p:nvSpPr>
        <p:spPr>
          <a:xfrm>
            <a:off x="6469334" y="3453694"/>
            <a:ext cx="2544790" cy="1385311"/>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抽象 </a:t>
            </a:r>
            <a:r>
              <a:rPr lang="en-US" sz="800" b="0" dirty="0">
                <a:solidFill>
                  <a:srgbClr val="6A9955"/>
                </a:solidFill>
                <a:effectLst/>
                <a:latin typeface="Consolas" panose="020B0609020204030204" pitchFamily="49" charset="0"/>
              </a:rPr>
              <a:t>builder </a:t>
            </a:r>
            <a:r>
              <a:rPr lang="zh-CN" altLang="en-US" sz="800" b="0" dirty="0">
                <a:solidFill>
                  <a:srgbClr val="6A9955"/>
                </a:solidFill>
                <a:effectLst/>
                <a:latin typeface="Consolas" panose="020B0609020204030204" pitchFamily="49" charset="0"/>
              </a:rPr>
              <a:t>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Builder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Bike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mBike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Bike</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buildFrame</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buildSeat</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Bike</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createBike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p:txBody>
      </p:sp>
      <p:sp>
        <p:nvSpPr>
          <p:cNvPr id="15" name="TextBox 36">
            <a:extLst>
              <a:ext uri="{FF2B5EF4-FFF2-40B4-BE49-F238E27FC236}">
                <a16:creationId xmlns:a16="http://schemas.microsoft.com/office/drawing/2014/main" id="{694D1500-2669-1643-048A-A315D312C2A4}"/>
              </a:ext>
            </a:extLst>
          </p:cNvPr>
          <p:cNvSpPr txBox="1"/>
          <p:nvPr/>
        </p:nvSpPr>
        <p:spPr>
          <a:xfrm>
            <a:off x="6391534" y="4840851"/>
            <a:ext cx="4281578" cy="276999"/>
          </a:xfrm>
          <a:prstGeom prst="rect">
            <a:avLst/>
          </a:prstGeom>
          <a:noFill/>
        </p:spPr>
        <p:txBody>
          <a:bodyPr wrap="square">
            <a:spAutoFit/>
          </a:bodyPr>
          <a:lstStyle/>
          <a:p>
            <a:r>
              <a:rPr lang="zh-CN" altLang="en-US" sz="1200" dirty="0">
                <a:solidFill>
                  <a:schemeClr val="accent1"/>
                </a:solidFill>
                <a:latin typeface="ui-monospace"/>
              </a:rPr>
              <a:t>指挥者类</a:t>
            </a:r>
            <a:r>
              <a:rPr lang="en-US" altLang="zh-CN" sz="1200" dirty="0">
                <a:solidFill>
                  <a:schemeClr val="accent1"/>
                </a:solidFill>
                <a:latin typeface="ui-monospace"/>
              </a:rPr>
              <a:t>(Director)</a:t>
            </a:r>
            <a:r>
              <a:rPr lang="zh-CN" altLang="en-US" sz="1200" dirty="0">
                <a:solidFill>
                  <a:schemeClr val="accent1"/>
                </a:solidFill>
                <a:latin typeface="ui-monospace"/>
              </a:rPr>
              <a:t>：调用具体生成器来创建各部分的对象</a:t>
            </a:r>
            <a:endParaRPr lang="en-US" altLang="zh-CN" sz="1200" dirty="0">
              <a:solidFill>
                <a:schemeClr val="accent1"/>
              </a:solidFill>
              <a:latin typeface="ui-monospace"/>
            </a:endParaRPr>
          </a:p>
        </p:txBody>
      </p:sp>
      <p:sp>
        <p:nvSpPr>
          <p:cNvPr id="16" name="Rectangle: Rounded Corners 15">
            <a:extLst>
              <a:ext uri="{FF2B5EF4-FFF2-40B4-BE49-F238E27FC236}">
                <a16:creationId xmlns:a16="http://schemas.microsoft.com/office/drawing/2014/main" id="{5044F19D-36A0-09F2-741D-A6F5A72D3F31}"/>
              </a:ext>
            </a:extLst>
          </p:cNvPr>
          <p:cNvSpPr/>
          <p:nvPr/>
        </p:nvSpPr>
        <p:spPr>
          <a:xfrm>
            <a:off x="6480591" y="5077335"/>
            <a:ext cx="2544790" cy="1749075"/>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指挥者类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Director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Builder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mBuilder</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Director</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Builder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builder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mBuilder</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builder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Bike</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construct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mBuilder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buildFrame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mBuilder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buildSeat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mBuilder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createBike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7" name="TextBox 36">
            <a:extLst>
              <a:ext uri="{FF2B5EF4-FFF2-40B4-BE49-F238E27FC236}">
                <a16:creationId xmlns:a16="http://schemas.microsoft.com/office/drawing/2014/main" id="{0FEF9E73-A1B5-813B-6505-985A383262CC}"/>
              </a:ext>
            </a:extLst>
          </p:cNvPr>
          <p:cNvSpPr txBox="1"/>
          <p:nvPr/>
        </p:nvSpPr>
        <p:spPr>
          <a:xfrm>
            <a:off x="10889672" y="4829769"/>
            <a:ext cx="1239311" cy="276999"/>
          </a:xfrm>
          <a:prstGeom prst="rect">
            <a:avLst/>
          </a:prstGeom>
          <a:noFill/>
        </p:spPr>
        <p:txBody>
          <a:bodyPr wrap="square">
            <a:spAutoFit/>
          </a:bodyPr>
          <a:lstStyle/>
          <a:p>
            <a:r>
              <a:rPr lang="zh-CN" altLang="en-US" sz="1200" dirty="0">
                <a:solidFill>
                  <a:schemeClr val="accent1"/>
                </a:solidFill>
                <a:latin typeface="ui-monospace"/>
              </a:rPr>
              <a:t>调用</a:t>
            </a:r>
            <a:endParaRPr lang="en-US" altLang="zh-CN" sz="1200" dirty="0">
              <a:solidFill>
                <a:schemeClr val="accent1"/>
              </a:solidFill>
              <a:latin typeface="ui-monospace"/>
            </a:endParaRPr>
          </a:p>
        </p:txBody>
      </p:sp>
      <p:sp>
        <p:nvSpPr>
          <p:cNvPr id="18" name="Rectangle: Rounded Corners 17">
            <a:extLst>
              <a:ext uri="{FF2B5EF4-FFF2-40B4-BE49-F238E27FC236}">
                <a16:creationId xmlns:a16="http://schemas.microsoft.com/office/drawing/2014/main" id="{A234954B-06A9-712C-DA67-96235DEA0E1A}"/>
              </a:ext>
            </a:extLst>
          </p:cNvPr>
          <p:cNvSpPr/>
          <p:nvPr/>
        </p:nvSpPr>
        <p:spPr>
          <a:xfrm>
            <a:off x="9107051" y="5062434"/>
            <a:ext cx="3039367" cy="1750948"/>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测试类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showBike</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OfoBuilder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showBike</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MobikeBuilder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showBike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Builder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builder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Director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director</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Director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builder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Bike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bike</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director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construct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bike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getFrame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bike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getSeat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5" name="TextBox 36">
            <a:extLst>
              <a:ext uri="{FF2B5EF4-FFF2-40B4-BE49-F238E27FC236}">
                <a16:creationId xmlns:a16="http://schemas.microsoft.com/office/drawing/2014/main" id="{502BF322-C530-DD7A-131A-3660968976E1}"/>
              </a:ext>
            </a:extLst>
          </p:cNvPr>
          <p:cNvSpPr txBox="1"/>
          <p:nvPr/>
        </p:nvSpPr>
        <p:spPr>
          <a:xfrm>
            <a:off x="6409995" y="569896"/>
            <a:ext cx="1604058" cy="276999"/>
          </a:xfrm>
          <a:prstGeom prst="rect">
            <a:avLst/>
          </a:prstGeom>
          <a:noFill/>
        </p:spPr>
        <p:txBody>
          <a:bodyPr wrap="square">
            <a:spAutoFit/>
          </a:bodyPr>
          <a:lstStyle/>
          <a:p>
            <a:r>
              <a:rPr lang="zh-CN" altLang="en-US" sz="1200" dirty="0">
                <a:solidFill>
                  <a:schemeClr val="accent1"/>
                </a:solidFill>
                <a:latin typeface="ui-monospace"/>
              </a:rPr>
              <a:t>产品类</a:t>
            </a:r>
            <a:r>
              <a:rPr lang="en-US" altLang="zh-CN" sz="1200" dirty="0">
                <a:solidFill>
                  <a:schemeClr val="accent1"/>
                </a:solidFill>
                <a:latin typeface="ui-monospace"/>
              </a:rPr>
              <a:t>(Product)</a:t>
            </a:r>
            <a:r>
              <a:rPr lang="zh-CN" altLang="en-US" sz="1200" dirty="0">
                <a:solidFill>
                  <a:schemeClr val="accent1"/>
                </a:solidFill>
                <a:latin typeface="ui-monospace"/>
              </a:rPr>
              <a:t>：</a:t>
            </a:r>
            <a:endParaRPr lang="en-US" altLang="zh-CN" sz="1200" dirty="0">
              <a:solidFill>
                <a:schemeClr val="accent1"/>
              </a:solidFill>
              <a:latin typeface="ui-monospace"/>
            </a:endParaRPr>
          </a:p>
        </p:txBody>
      </p:sp>
      <p:pic>
        <p:nvPicPr>
          <p:cNvPr id="3029" name="Picture 3028">
            <a:extLst>
              <a:ext uri="{FF2B5EF4-FFF2-40B4-BE49-F238E27FC236}">
                <a16:creationId xmlns:a16="http://schemas.microsoft.com/office/drawing/2014/main" id="{1131F1FC-B846-2EAA-6630-F927463D0D80}"/>
              </a:ext>
            </a:extLst>
          </p:cNvPr>
          <p:cNvPicPr>
            <a:picLocks noChangeAspect="1"/>
          </p:cNvPicPr>
          <p:nvPr/>
        </p:nvPicPr>
        <p:blipFill>
          <a:blip r:embed="rId2"/>
          <a:stretch>
            <a:fillRect/>
          </a:stretch>
        </p:blipFill>
        <p:spPr>
          <a:xfrm>
            <a:off x="3393899" y="846895"/>
            <a:ext cx="2779847" cy="3236911"/>
          </a:xfrm>
          <a:prstGeom prst="rect">
            <a:avLst/>
          </a:prstGeom>
        </p:spPr>
      </p:pic>
      <p:sp>
        <p:nvSpPr>
          <p:cNvPr id="14" name="TextBox 13">
            <a:extLst>
              <a:ext uri="{FF2B5EF4-FFF2-40B4-BE49-F238E27FC236}">
                <a16:creationId xmlns:a16="http://schemas.microsoft.com/office/drawing/2014/main" id="{6AE3F233-AFE2-504E-C09B-ABEE6E651D2B}"/>
              </a:ext>
            </a:extLst>
          </p:cNvPr>
          <p:cNvSpPr txBox="1"/>
          <p:nvPr/>
        </p:nvSpPr>
        <p:spPr>
          <a:xfrm>
            <a:off x="3150830" y="4191126"/>
            <a:ext cx="324070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用于复杂对象的创建独立于该对象的组成部分及装配方式时</a:t>
            </a:r>
            <a:endPar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endParaRPr>
          </a:p>
        </p:txBody>
      </p:sp>
      <p:sp>
        <p:nvSpPr>
          <p:cNvPr id="19" name="TextBox 36">
            <a:extLst>
              <a:ext uri="{FF2B5EF4-FFF2-40B4-BE49-F238E27FC236}">
                <a16:creationId xmlns:a16="http://schemas.microsoft.com/office/drawing/2014/main" id="{64108070-E0BE-F799-9A7B-04065AB333DD}"/>
              </a:ext>
            </a:extLst>
          </p:cNvPr>
          <p:cNvSpPr txBox="1"/>
          <p:nvPr/>
        </p:nvSpPr>
        <p:spPr>
          <a:xfrm>
            <a:off x="3165166" y="571171"/>
            <a:ext cx="1604058"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spTree>
    <p:extLst>
      <p:ext uri="{BB962C8B-B14F-4D97-AF65-F5344CB8AC3E}">
        <p14:creationId xmlns:p14="http://schemas.microsoft.com/office/powerpoint/2010/main" val="2375970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创建型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行为型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4386653" cy="1126259"/>
            <a:chOff x="7614613" y="5950488"/>
            <a:chExt cx="4386653" cy="1126259"/>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▶原型模式</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用一个已创建的原型实例指定创建对象的种类，并且通过</a:t>
              </a:r>
              <a:r>
                <a:rPr lang="zh-CN" altLang="en-US" sz="1200" b="1" dirty="0">
                  <a:solidFill>
                    <a:schemeClr val="accent1"/>
                  </a:solidFill>
                  <a:latin typeface="ui-monospace"/>
                </a:rPr>
                <a:t>复制</a:t>
              </a:r>
              <a:r>
                <a:rPr lang="zh-CN" altLang="en-US" sz="1200" dirty="0">
                  <a:solidFill>
                    <a:schemeClr val="accent1"/>
                  </a:solidFill>
                  <a:latin typeface="ui-monospace"/>
                </a:rPr>
                <a:t>这个原型创建新的对象</a:t>
              </a:r>
              <a:endParaRPr lang="en-US" altLang="zh-CN" sz="1200" dirty="0">
                <a:solidFill>
                  <a:schemeClr val="accent1"/>
                </a:solidFill>
                <a:latin typeface="ui-monospace"/>
              </a:endParaRPr>
            </a:p>
            <a:p>
              <a:r>
                <a:rPr lang="zh-CN" altLang="en-US" sz="1200" dirty="0">
                  <a:solidFill>
                    <a:schemeClr val="accent1"/>
                  </a:solidFill>
                  <a:latin typeface="ui-monospace"/>
                </a:rPr>
                <a:t>抽象原型类：</a:t>
              </a:r>
              <a:r>
                <a:rPr lang="en-US" altLang="zh-CN" sz="1200" dirty="0">
                  <a:solidFill>
                    <a:schemeClr val="accent1"/>
                  </a:solidFill>
                  <a:latin typeface="ui-monospace"/>
                </a:rPr>
                <a:t>Cloneable/</a:t>
              </a:r>
              <a:r>
                <a:rPr lang="zh-CN" altLang="en-US" sz="1200" dirty="0">
                  <a:solidFill>
                    <a:schemeClr val="accent1"/>
                  </a:solidFill>
                  <a:latin typeface="ui-monospace"/>
                </a:rPr>
                <a:t>具体原型类</a:t>
              </a:r>
              <a:r>
                <a:rPr lang="en-US" altLang="zh-CN" sz="1200" dirty="0">
                  <a:solidFill>
                    <a:schemeClr val="accent1"/>
                  </a:solidFill>
                  <a:latin typeface="ui-monospace"/>
                </a:rPr>
                <a:t>/</a:t>
              </a:r>
              <a:r>
                <a:rPr lang="zh-CN" altLang="en-US" sz="1200" dirty="0">
                  <a:solidFill>
                    <a:schemeClr val="accent1"/>
                  </a:solidFill>
                  <a:latin typeface="ui-monospace"/>
                </a:rPr>
                <a:t>访问类</a:t>
              </a:r>
              <a:endParaRPr lang="en-US" altLang="zh-CN" sz="1200" dirty="0">
                <a:solidFill>
                  <a:schemeClr val="accent1"/>
                </a:solidFill>
                <a:latin typeface="ui-monospace"/>
              </a:endParaRPr>
            </a:p>
            <a:p>
              <a:r>
                <a:rPr lang="zh-CN" altLang="en-US" sz="1200" dirty="0">
                  <a:solidFill>
                    <a:schemeClr val="accent1"/>
                  </a:solidFill>
                  <a:latin typeface="ui-monospace"/>
                </a:rPr>
                <a:t>用于一个系统要</a:t>
              </a:r>
              <a:r>
                <a:rPr lang="zh-CN" altLang="en-US" sz="1200" b="1" dirty="0">
                  <a:solidFill>
                    <a:schemeClr val="accent1"/>
                  </a:solidFill>
                  <a:latin typeface="ui-monospace"/>
                </a:rPr>
                <a:t>独立</a:t>
              </a:r>
              <a:r>
                <a:rPr lang="zh-CN" altLang="en-US" sz="1200" dirty="0">
                  <a:solidFill>
                    <a:schemeClr val="accent1"/>
                  </a:solidFill>
                  <a:latin typeface="ui-monospace"/>
                </a:rPr>
                <a:t>于产品的创建、</a:t>
              </a:r>
              <a:r>
                <a:rPr lang="zh-CN" altLang="en-US" sz="1200" b="1" dirty="0">
                  <a:solidFill>
                    <a:schemeClr val="accent1"/>
                  </a:solidFill>
                  <a:latin typeface="ui-monospace"/>
                </a:rPr>
                <a:t>构成</a:t>
              </a:r>
              <a:r>
                <a:rPr lang="zh-CN" altLang="en-US" sz="1200" dirty="0">
                  <a:solidFill>
                    <a:schemeClr val="accent1"/>
                  </a:solidFill>
                  <a:latin typeface="ui-monospace"/>
                </a:rPr>
                <a:t>和表示时</a:t>
              </a:r>
              <a:endParaRPr lang="en-US" altLang="zh-CN" sz="1200" dirty="0">
                <a:solidFill>
                  <a:schemeClr val="accent1"/>
                </a:solidFill>
                <a:latin typeface="ui-monospace"/>
              </a:endParaRPr>
            </a:p>
          </p:txBody>
        </p:sp>
      </p:grpSp>
      <p:grpSp>
        <p:nvGrpSpPr>
          <p:cNvPr id="33" name="Group 25">
            <a:extLst>
              <a:ext uri="{FF2B5EF4-FFF2-40B4-BE49-F238E27FC236}">
                <a16:creationId xmlns:a16="http://schemas.microsoft.com/office/drawing/2014/main" id="{B8FA9490-77B4-E4EA-AA14-98492AF3D1D7}"/>
              </a:ext>
            </a:extLst>
          </p:cNvPr>
          <p:cNvGrpSpPr/>
          <p:nvPr/>
        </p:nvGrpSpPr>
        <p:grpSpPr>
          <a:xfrm>
            <a:off x="7655287" y="71394"/>
            <a:ext cx="4386653" cy="572261"/>
            <a:chOff x="7614613" y="5950488"/>
            <a:chExt cx="4386653" cy="572261"/>
          </a:xfrm>
        </p:grpSpPr>
        <p:sp>
          <p:nvSpPr>
            <p:cNvPr id="34" name="Rectangle: Rounded Corners 35">
              <a:extLst>
                <a:ext uri="{FF2B5EF4-FFF2-40B4-BE49-F238E27FC236}">
                  <a16:creationId xmlns:a16="http://schemas.microsoft.com/office/drawing/2014/main" id="{9B0280EF-C067-9382-6455-DC4DFA9BABC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▶单例模式</a:t>
              </a:r>
              <a:endParaRPr lang="en-US" sz="1200" dirty="0">
                <a:solidFill>
                  <a:schemeClr val="bg1"/>
                </a:solidFill>
              </a:endParaRPr>
            </a:p>
          </p:txBody>
        </p:sp>
        <p:sp>
          <p:nvSpPr>
            <p:cNvPr id="35" name="TextBox 36">
              <a:extLst>
                <a:ext uri="{FF2B5EF4-FFF2-40B4-BE49-F238E27FC236}">
                  <a16:creationId xmlns:a16="http://schemas.microsoft.com/office/drawing/2014/main" id="{501076B1-418C-C120-5596-4155B0B6B970}"/>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latin typeface="ui-monospace"/>
                </a:rPr>
                <a:t>保证一个类</a:t>
              </a:r>
              <a:r>
                <a:rPr lang="zh-CN" altLang="en-US" sz="1200" b="1" dirty="0">
                  <a:solidFill>
                    <a:schemeClr val="accent1"/>
                  </a:solidFill>
                  <a:latin typeface="ui-monospace"/>
                </a:rPr>
                <a:t>仅有一个实例</a:t>
              </a:r>
              <a:r>
                <a:rPr lang="zh-CN" altLang="en-US" sz="1200" dirty="0">
                  <a:solidFill>
                    <a:schemeClr val="accent1"/>
                  </a:solidFill>
                  <a:latin typeface="ui-monospace"/>
                </a:rPr>
                <a:t>，并提供一个访问它的</a:t>
              </a:r>
              <a:r>
                <a:rPr lang="zh-CN" altLang="en-US" sz="1200" b="1" dirty="0">
                  <a:solidFill>
                    <a:schemeClr val="accent1"/>
                  </a:solidFill>
                  <a:latin typeface="ui-monospace"/>
                </a:rPr>
                <a:t>全局</a:t>
              </a:r>
              <a:r>
                <a:rPr lang="zh-CN" altLang="en-US" sz="1200" dirty="0">
                  <a:solidFill>
                    <a:schemeClr val="accent1"/>
                  </a:solidFill>
                  <a:latin typeface="ui-monospace"/>
                </a:rPr>
                <a:t>访问点</a:t>
              </a:r>
              <a:endParaRPr lang="en-US" altLang="zh-CN" sz="1200" dirty="0">
                <a:solidFill>
                  <a:schemeClr val="accent1"/>
                </a:solidFill>
                <a:latin typeface="ui-monospace"/>
              </a:endParaRPr>
            </a:p>
          </p:txBody>
        </p:sp>
      </p:grpSp>
      <p:sp>
        <p:nvSpPr>
          <p:cNvPr id="4" name="Rectangle: Rounded Corners 3">
            <a:extLst>
              <a:ext uri="{FF2B5EF4-FFF2-40B4-BE49-F238E27FC236}">
                <a16:creationId xmlns:a16="http://schemas.microsoft.com/office/drawing/2014/main" id="{FC6E2CEE-78A2-446C-3128-16A23E17A3C6}"/>
              </a:ext>
            </a:extLst>
          </p:cNvPr>
          <p:cNvSpPr/>
          <p:nvPr/>
        </p:nvSpPr>
        <p:spPr>
          <a:xfrm>
            <a:off x="3150285" y="1155941"/>
            <a:ext cx="4281578" cy="4321224"/>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奖状类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Citation</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Cloneable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setName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getName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show</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同学：在</a:t>
            </a:r>
            <a:r>
              <a:rPr lang="en-US" altLang="zh-CN" sz="800" b="0" dirty="0">
                <a:solidFill>
                  <a:srgbClr val="CE9178"/>
                </a:solidFill>
                <a:effectLst/>
                <a:latin typeface="Consolas" panose="020B0609020204030204" pitchFamily="49" charset="0"/>
              </a:rPr>
              <a:t>2020</a:t>
            </a:r>
            <a:r>
              <a:rPr lang="zh-CN" altLang="en-US" sz="800" b="0" dirty="0">
                <a:solidFill>
                  <a:srgbClr val="CE9178"/>
                </a:solidFill>
                <a:effectLst/>
                <a:latin typeface="Consolas" panose="020B0609020204030204" pitchFamily="49" charset="0"/>
              </a:rPr>
              <a:t>学年第一学期中表现优秀，被评为三好学生。特发此状！</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Citation</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clone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throws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CloneNotSupportedException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Citation</a:t>
            </a:r>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clone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测试访问类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CitationTest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throws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CloneNotSupportedException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Citation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c1</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Citation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c1</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setName</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张三</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复制奖状</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Citation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c2</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c1</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clone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将奖状的名字修改李四</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c2</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setName</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李四</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c1</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show</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c2</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show</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9" name="Rectangle: Rounded Corners 8">
            <a:extLst>
              <a:ext uri="{FF2B5EF4-FFF2-40B4-BE49-F238E27FC236}">
                <a16:creationId xmlns:a16="http://schemas.microsoft.com/office/drawing/2014/main" id="{5980308D-4D77-6AA3-321E-6742A266C653}"/>
              </a:ext>
            </a:extLst>
          </p:cNvPr>
          <p:cNvSpPr/>
          <p:nvPr/>
        </p:nvSpPr>
        <p:spPr>
          <a:xfrm>
            <a:off x="7707824" y="633836"/>
            <a:ext cx="4281578" cy="1876281"/>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a:t>
            </a:r>
            <a:endParaRPr lang="zh-CN" altLang="en-US" sz="800" b="0" dirty="0">
              <a:solidFill>
                <a:srgbClr val="D4D4D4"/>
              </a:solidFill>
              <a:effectLst/>
              <a:latin typeface="Consolas" panose="020B0609020204030204" pitchFamily="49" charset="0"/>
            </a:endParaRPr>
          </a:p>
          <a:p>
            <a:r>
              <a:rPr lang="zh-CN" altLang="en-US" sz="800" b="0" dirty="0">
                <a:solidFill>
                  <a:srgbClr val="6A9955"/>
                </a:solidFill>
                <a:effectLst/>
                <a:latin typeface="Consolas" panose="020B0609020204030204" pitchFamily="49" charset="0"/>
              </a:rPr>
              <a:t> * 饿汉式</a:t>
            </a:r>
            <a:r>
              <a:rPr lang="en-US" altLang="zh-CN" sz="800" b="0" dirty="0">
                <a:solidFill>
                  <a:srgbClr val="6A9955"/>
                </a:solidFill>
                <a:effectLst/>
                <a:latin typeface="Consolas" panose="020B0609020204030204" pitchFamily="49" charset="0"/>
              </a:rPr>
              <a:t>-</a:t>
            </a:r>
            <a:r>
              <a:rPr lang="zh-CN" altLang="en-US" sz="800" b="0" dirty="0">
                <a:solidFill>
                  <a:srgbClr val="6A9955"/>
                </a:solidFill>
                <a:effectLst/>
                <a:latin typeface="Consolas" panose="020B0609020204030204" pitchFamily="49" charset="0"/>
              </a:rPr>
              <a:t>静态变量创建类的对象</a:t>
            </a:r>
            <a:endParaRPr lang="zh-CN" altLang="en-US" sz="800" b="0" dirty="0">
              <a:solidFill>
                <a:srgbClr val="D4D4D4"/>
              </a:solidFill>
              <a:effectLst/>
              <a:latin typeface="Consolas" panose="020B0609020204030204" pitchFamily="49" charset="0"/>
            </a:endParaRPr>
          </a:p>
          <a:p>
            <a:r>
              <a:rPr lang="zh-CN" altLang="en-US" sz="800" b="0" dirty="0">
                <a:solidFill>
                  <a:srgbClr val="6A9955"/>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Singleton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a:t>
            </a:r>
            <a:r>
              <a:rPr lang="zh-CN" altLang="en-US" sz="800" b="0" dirty="0">
                <a:solidFill>
                  <a:srgbClr val="6A9955"/>
                </a:solidFill>
                <a:effectLst/>
                <a:latin typeface="Consolas" panose="020B0609020204030204" pitchFamily="49" charset="0"/>
              </a:rPr>
              <a:t>私有构造方法</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Singleton</a:t>
            </a:r>
            <a:r>
              <a:rPr lang="en-US" sz="800" b="0" dirty="0">
                <a:solidFill>
                  <a:srgbClr val="D4D4D4"/>
                </a:solidFill>
                <a:effectLst/>
                <a:latin typeface="Consolas" panose="020B0609020204030204" pitchFamily="49" charset="0"/>
              </a:rPr>
              <a:t>() {}</a:t>
            </a:r>
          </a:p>
          <a:p>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a:t>
            </a:r>
            <a:r>
              <a:rPr lang="zh-CN" altLang="en-US" sz="800" b="0" dirty="0">
                <a:solidFill>
                  <a:srgbClr val="6A9955"/>
                </a:solidFill>
                <a:effectLst/>
                <a:latin typeface="Consolas" panose="020B0609020204030204" pitchFamily="49" charset="0"/>
              </a:rPr>
              <a:t>在成员位置创建该类的对象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Singleton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instance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Singleton</a:t>
            </a:r>
            <a:r>
              <a:rPr lang="en-US" sz="800" b="0" dirty="0">
                <a:solidFill>
                  <a:srgbClr val="D4D4D4"/>
                </a:solidFill>
                <a:effectLst/>
                <a:latin typeface="Consolas" panose="020B0609020204030204" pitchFamily="49" charset="0"/>
              </a:rPr>
              <a:t>();</a:t>
            </a:r>
          </a:p>
          <a:p>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a:t>
            </a:r>
            <a:r>
              <a:rPr lang="zh-CN" altLang="en-US" sz="800" b="0" dirty="0">
                <a:solidFill>
                  <a:srgbClr val="6A9955"/>
                </a:solidFill>
                <a:effectLst/>
                <a:latin typeface="Consolas" panose="020B0609020204030204" pitchFamily="49" charset="0"/>
              </a:rPr>
              <a:t>对外提供静态方法获取该对象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Singleton</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getInstance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instance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pic>
        <p:nvPicPr>
          <p:cNvPr id="40" name="Picture 39">
            <a:extLst>
              <a:ext uri="{FF2B5EF4-FFF2-40B4-BE49-F238E27FC236}">
                <a16:creationId xmlns:a16="http://schemas.microsoft.com/office/drawing/2014/main" id="{32A9B03D-1139-1564-DD71-8F11823F5F82}"/>
              </a:ext>
            </a:extLst>
          </p:cNvPr>
          <p:cNvPicPr>
            <a:picLocks noChangeAspect="1"/>
          </p:cNvPicPr>
          <p:nvPr/>
        </p:nvPicPr>
        <p:blipFill>
          <a:blip r:embed="rId2"/>
          <a:stretch>
            <a:fillRect/>
          </a:stretch>
        </p:blipFill>
        <p:spPr>
          <a:xfrm>
            <a:off x="3278472" y="5803659"/>
            <a:ext cx="4025486" cy="810161"/>
          </a:xfrm>
          <a:prstGeom prst="rect">
            <a:avLst/>
          </a:prstGeom>
        </p:spPr>
      </p:pic>
    </p:spTree>
    <p:extLst>
      <p:ext uri="{BB962C8B-B14F-4D97-AF65-F5344CB8AC3E}">
        <p14:creationId xmlns:p14="http://schemas.microsoft.com/office/powerpoint/2010/main" val="1608908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结构型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行为型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8964802" cy="572261"/>
            <a:chOff x="7614613" y="5950488"/>
            <a:chExt cx="8964802" cy="57226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8964802"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▶适配器模式</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3" y="6245750"/>
              <a:ext cx="8773577" cy="276999"/>
            </a:xfrm>
            <a:prstGeom prst="rect">
              <a:avLst/>
            </a:prstGeom>
            <a:noFill/>
          </p:spPr>
          <p:txBody>
            <a:bodyPr wrap="square">
              <a:spAutoFit/>
            </a:bodyPr>
            <a:lstStyle/>
            <a:p>
              <a:r>
                <a:rPr lang="zh-CN" altLang="en-US" sz="1200" dirty="0">
                  <a:solidFill>
                    <a:schemeClr val="accent1"/>
                  </a:solidFill>
                  <a:latin typeface="ui-monospace"/>
                </a:rPr>
                <a:t>将类的</a:t>
              </a:r>
              <a:r>
                <a:rPr lang="zh-CN" altLang="en-US" sz="1200" b="1" dirty="0">
                  <a:solidFill>
                    <a:schemeClr val="accent1"/>
                  </a:solidFill>
                  <a:latin typeface="ui-monospace"/>
                </a:rPr>
                <a:t>接口转换</a:t>
              </a:r>
              <a:r>
                <a:rPr lang="zh-CN" altLang="en-US" sz="1200" dirty="0">
                  <a:solidFill>
                    <a:schemeClr val="accent1"/>
                  </a:solidFill>
                  <a:latin typeface="ui-monospace"/>
                </a:rPr>
                <a:t>成客户希望的另一个接口，处理接口不兼容。使可读取</a:t>
              </a:r>
              <a:r>
                <a:rPr lang="en-US" altLang="zh-CN" sz="1200" dirty="0">
                  <a:solidFill>
                    <a:schemeClr val="accent1"/>
                  </a:solidFill>
                  <a:latin typeface="ui-monospace"/>
                </a:rPr>
                <a:t>SD</a:t>
              </a:r>
              <a:r>
                <a:rPr lang="zh-CN" altLang="en-US" sz="1200" dirty="0">
                  <a:solidFill>
                    <a:schemeClr val="accent1"/>
                  </a:solidFill>
                  <a:latin typeface="ui-monospace"/>
                </a:rPr>
                <a:t>卡的电脑，适配成也可以读取</a:t>
              </a:r>
              <a:r>
                <a:rPr lang="en-US" altLang="zh-CN" sz="1200" dirty="0">
                  <a:solidFill>
                    <a:schemeClr val="accent1"/>
                  </a:solidFill>
                  <a:latin typeface="ui-monospace"/>
                </a:rPr>
                <a:t>TF</a:t>
              </a:r>
              <a:r>
                <a:rPr lang="zh-CN" altLang="en-US" sz="1200" dirty="0">
                  <a:solidFill>
                    <a:schemeClr val="accent1"/>
                  </a:solidFill>
                  <a:latin typeface="ui-monospace"/>
                </a:rPr>
                <a:t>卡的内容：</a:t>
              </a:r>
              <a:endParaRPr lang="en-US" altLang="zh-CN" sz="1200" dirty="0">
                <a:solidFill>
                  <a:schemeClr val="accent1"/>
                </a:solidFill>
                <a:latin typeface="ui-monospace"/>
              </a:endParaRPr>
            </a:p>
          </p:txBody>
        </p:sp>
      </p:grpSp>
      <p:sp>
        <p:nvSpPr>
          <p:cNvPr id="9" name="Rectangle: Rounded Corners 8">
            <a:extLst>
              <a:ext uri="{FF2B5EF4-FFF2-40B4-BE49-F238E27FC236}">
                <a16:creationId xmlns:a16="http://schemas.microsoft.com/office/drawing/2014/main" id="{5980308D-4D77-6AA3-321E-6742A266C653}"/>
              </a:ext>
            </a:extLst>
          </p:cNvPr>
          <p:cNvSpPr/>
          <p:nvPr/>
        </p:nvSpPr>
        <p:spPr>
          <a:xfrm>
            <a:off x="3227169" y="2150176"/>
            <a:ext cx="3684660" cy="219748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6A9955"/>
                </a:solidFill>
                <a:effectLst/>
                <a:latin typeface="Consolas" panose="020B0609020204030204" pitchFamily="49" charset="0"/>
              </a:rPr>
              <a:t>// SD</a:t>
            </a:r>
            <a:r>
              <a:rPr lang="zh-CN" altLang="en-US" sz="800" b="0" dirty="0">
                <a:solidFill>
                  <a:srgbClr val="6A9955"/>
                </a:solidFill>
                <a:effectLst/>
                <a:latin typeface="Consolas" panose="020B0609020204030204" pitchFamily="49" charset="0"/>
              </a:rPr>
              <a:t>卡的接口</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SDCard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读取</a:t>
            </a:r>
            <a:r>
              <a:rPr lang="en-US" sz="800" b="0" dirty="0">
                <a:solidFill>
                  <a:srgbClr val="6A9955"/>
                </a:solidFill>
                <a:effectLst/>
                <a:latin typeface="Consolas" panose="020B0609020204030204" pitchFamily="49" charset="0"/>
              </a:rPr>
              <a:t>SD</a:t>
            </a:r>
            <a:r>
              <a:rPr lang="zh-CN" altLang="en-US" sz="800" b="0" dirty="0">
                <a:solidFill>
                  <a:srgbClr val="6A9955"/>
                </a:solidFill>
                <a:effectLst/>
                <a:latin typeface="Consolas" panose="020B0609020204030204" pitchFamily="49" charset="0"/>
              </a:rPr>
              <a:t>卡方法</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readSD</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写入</a:t>
            </a:r>
            <a:r>
              <a:rPr lang="en-US" sz="800" b="0" dirty="0">
                <a:solidFill>
                  <a:srgbClr val="6A9955"/>
                </a:solidFill>
                <a:effectLst/>
                <a:latin typeface="Consolas" panose="020B0609020204030204" pitchFamily="49" charset="0"/>
              </a:rPr>
              <a:t>SD</a:t>
            </a:r>
            <a:r>
              <a:rPr lang="zh-CN" altLang="en-US" sz="800" b="0" dirty="0">
                <a:solidFill>
                  <a:srgbClr val="6A9955"/>
                </a:solidFill>
                <a:effectLst/>
                <a:latin typeface="Consolas" panose="020B0609020204030204" pitchFamily="49" charset="0"/>
              </a:rPr>
              <a:t>卡功能</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writeSD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msg</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6A9955"/>
                </a:solidFill>
                <a:effectLst/>
                <a:latin typeface="Consolas" panose="020B0609020204030204" pitchFamily="49" charset="0"/>
              </a:rPr>
              <a:t>// SD</a:t>
            </a:r>
            <a:r>
              <a:rPr lang="zh-CN" altLang="en-US" sz="800" b="0" dirty="0">
                <a:solidFill>
                  <a:srgbClr val="6A9955"/>
                </a:solidFill>
                <a:effectLst/>
                <a:latin typeface="Consolas" panose="020B0609020204030204" pitchFamily="49" charset="0"/>
              </a:rPr>
              <a:t>卡实现类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SDCardImpl</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SDCard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readSD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msg</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sd</a:t>
            </a:r>
            <a:r>
              <a:rPr lang="en-US" sz="800" b="0" dirty="0">
                <a:solidFill>
                  <a:srgbClr val="CE9178"/>
                </a:solidFill>
                <a:effectLst/>
                <a:latin typeface="Consolas" panose="020B0609020204030204" pitchFamily="49" charset="0"/>
              </a:rPr>
              <a:t> card read a msg :hello word SD"</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msg</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writeSD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msg</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sd</a:t>
            </a:r>
            <a:r>
              <a:rPr lang="en-US" sz="800" b="0" dirty="0">
                <a:solidFill>
                  <a:srgbClr val="CE9178"/>
                </a:solidFill>
                <a:effectLst/>
                <a:latin typeface="Consolas" panose="020B0609020204030204" pitchFamily="49" charset="0"/>
              </a:rPr>
              <a:t> card write msg : "</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msg</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5" name="Rectangle: Rounded Corners 4">
            <a:extLst>
              <a:ext uri="{FF2B5EF4-FFF2-40B4-BE49-F238E27FC236}">
                <a16:creationId xmlns:a16="http://schemas.microsoft.com/office/drawing/2014/main" id="{26612FC7-5162-B88B-AE6E-899F5A20524D}"/>
              </a:ext>
            </a:extLst>
          </p:cNvPr>
          <p:cNvSpPr/>
          <p:nvPr/>
        </p:nvSpPr>
        <p:spPr>
          <a:xfrm>
            <a:off x="3200039" y="4568161"/>
            <a:ext cx="3711790" cy="219748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6A9955"/>
                </a:solidFill>
                <a:effectLst/>
                <a:latin typeface="Consolas" panose="020B0609020204030204" pitchFamily="49" charset="0"/>
              </a:rPr>
              <a:t>// TF</a:t>
            </a:r>
            <a:r>
              <a:rPr lang="zh-CN" altLang="en-US" sz="800" b="0" dirty="0">
                <a:solidFill>
                  <a:srgbClr val="6A9955"/>
                </a:solidFill>
                <a:effectLst/>
                <a:latin typeface="Consolas" panose="020B0609020204030204" pitchFamily="49" charset="0"/>
              </a:rPr>
              <a:t>卡接口</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TFCard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读取</a:t>
            </a:r>
            <a:r>
              <a:rPr lang="en-US" sz="800" b="0" dirty="0">
                <a:solidFill>
                  <a:srgbClr val="6A9955"/>
                </a:solidFill>
                <a:effectLst/>
                <a:latin typeface="Consolas" panose="020B0609020204030204" pitchFamily="49" charset="0"/>
              </a:rPr>
              <a:t>TF</a:t>
            </a:r>
            <a:r>
              <a:rPr lang="zh-CN" altLang="en-US" sz="800" b="0" dirty="0">
                <a:solidFill>
                  <a:srgbClr val="6A9955"/>
                </a:solidFill>
                <a:effectLst/>
                <a:latin typeface="Consolas" panose="020B0609020204030204" pitchFamily="49" charset="0"/>
              </a:rPr>
              <a:t>卡方法</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readTF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写入</a:t>
            </a:r>
            <a:r>
              <a:rPr lang="en-US" sz="800" b="0" dirty="0">
                <a:solidFill>
                  <a:srgbClr val="6A9955"/>
                </a:solidFill>
                <a:effectLst/>
                <a:latin typeface="Consolas" panose="020B0609020204030204" pitchFamily="49" charset="0"/>
              </a:rPr>
              <a:t>TF</a:t>
            </a:r>
            <a:r>
              <a:rPr lang="zh-CN" altLang="en-US" sz="800" b="0" dirty="0">
                <a:solidFill>
                  <a:srgbClr val="6A9955"/>
                </a:solidFill>
                <a:effectLst/>
                <a:latin typeface="Consolas" panose="020B0609020204030204" pitchFamily="49" charset="0"/>
              </a:rPr>
              <a:t>卡功能</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writeTF</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msg</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6A9955"/>
                </a:solidFill>
                <a:effectLst/>
                <a:latin typeface="Consolas" panose="020B0609020204030204" pitchFamily="49" charset="0"/>
              </a:rPr>
              <a:t>// TF</a:t>
            </a:r>
            <a:r>
              <a:rPr lang="zh-CN" altLang="en-US" sz="800" b="0" dirty="0">
                <a:solidFill>
                  <a:srgbClr val="6A9955"/>
                </a:solidFill>
                <a:effectLst/>
                <a:latin typeface="Consolas" panose="020B0609020204030204" pitchFamily="49" charset="0"/>
              </a:rPr>
              <a:t>卡实现类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TFCardImpl</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TFCard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readTF</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msg</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tf</a:t>
            </a:r>
            <a:r>
              <a:rPr lang="en-US" sz="800" b="0" dirty="0">
                <a:solidFill>
                  <a:srgbClr val="CE9178"/>
                </a:solidFill>
                <a:effectLst/>
                <a:latin typeface="Consolas" panose="020B0609020204030204" pitchFamily="49" charset="0"/>
              </a:rPr>
              <a:t> card read msg : hello word </a:t>
            </a:r>
            <a:r>
              <a:rPr lang="en-US" sz="800" b="0" dirty="0" err="1">
                <a:solidFill>
                  <a:srgbClr val="CE9178"/>
                </a:solidFill>
                <a:effectLst/>
                <a:latin typeface="Consolas" panose="020B0609020204030204" pitchFamily="49" charset="0"/>
              </a:rPr>
              <a:t>tf</a:t>
            </a:r>
            <a:r>
              <a:rPr lang="en-US" sz="800" b="0" dirty="0">
                <a:solidFill>
                  <a:srgbClr val="CE9178"/>
                </a:solidFill>
                <a:effectLst/>
                <a:latin typeface="Consolas" panose="020B0609020204030204" pitchFamily="49" charset="0"/>
              </a:rPr>
              <a:t> card"</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msg</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writeTF</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msg</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tf</a:t>
            </a:r>
            <a:r>
              <a:rPr lang="en-US" sz="800" b="0" dirty="0">
                <a:solidFill>
                  <a:srgbClr val="CE9178"/>
                </a:solidFill>
                <a:effectLst/>
                <a:latin typeface="Consolas" panose="020B0609020204030204" pitchFamily="49" charset="0"/>
              </a:rPr>
              <a:t> card write a msg : "</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msg</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2" name="Rectangle: Rounded Corners 11">
            <a:extLst>
              <a:ext uri="{FF2B5EF4-FFF2-40B4-BE49-F238E27FC236}">
                <a16:creationId xmlns:a16="http://schemas.microsoft.com/office/drawing/2014/main" id="{BE2297B5-2AF7-77F1-A4AD-1708EC2A9C10}"/>
              </a:ext>
            </a:extLst>
          </p:cNvPr>
          <p:cNvSpPr/>
          <p:nvPr/>
        </p:nvSpPr>
        <p:spPr>
          <a:xfrm>
            <a:off x="7350617" y="773134"/>
            <a:ext cx="3711790" cy="1436487"/>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定义适配器类（</a:t>
            </a:r>
            <a:r>
              <a:rPr lang="en-US" sz="800" b="0" dirty="0">
                <a:solidFill>
                  <a:srgbClr val="6A9955"/>
                </a:solidFill>
                <a:effectLst/>
                <a:latin typeface="Consolas" panose="020B0609020204030204" pitchFamily="49" charset="0"/>
              </a:rPr>
              <a:t>SD</a:t>
            </a:r>
            <a:r>
              <a:rPr lang="zh-CN" altLang="en-US" sz="800" b="0" dirty="0">
                <a:solidFill>
                  <a:srgbClr val="6A9955"/>
                </a:solidFill>
                <a:effectLst/>
                <a:latin typeface="Consolas" panose="020B0609020204030204" pitchFamily="49" charset="0"/>
              </a:rPr>
              <a:t>兼容</a:t>
            </a:r>
            <a:r>
              <a:rPr lang="en-US" sz="800" b="0" dirty="0">
                <a:solidFill>
                  <a:srgbClr val="6A9955"/>
                </a:solidFill>
                <a:effectLst/>
                <a:latin typeface="Consolas" panose="020B0609020204030204" pitchFamily="49" charset="0"/>
              </a:rPr>
              <a:t>TF）</a:t>
            </a:r>
            <a:endParaRPr 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SDAdapterTF</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TFCardImpl</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SDCard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readSD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"adapter read </a:t>
            </a:r>
            <a:r>
              <a:rPr lang="en-US" sz="800" b="0" dirty="0" err="1">
                <a:solidFill>
                  <a:srgbClr val="CE9178"/>
                </a:solidFill>
                <a:effectLst/>
                <a:latin typeface="Consolas" panose="020B0609020204030204" pitchFamily="49" charset="0"/>
              </a:rPr>
              <a:t>tf</a:t>
            </a:r>
            <a:r>
              <a:rPr lang="en-US" sz="800" b="0" dirty="0">
                <a:solidFill>
                  <a:srgbClr val="CE9178"/>
                </a:solidFill>
                <a:effectLst/>
                <a:latin typeface="Consolas" panose="020B0609020204030204" pitchFamily="49" charset="0"/>
              </a:rPr>
              <a:t> card "</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readTF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writeSD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msg</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"adapter write </a:t>
            </a:r>
            <a:r>
              <a:rPr lang="en-US" sz="800" b="0" dirty="0" err="1">
                <a:solidFill>
                  <a:srgbClr val="CE9178"/>
                </a:solidFill>
                <a:effectLst/>
                <a:latin typeface="Consolas" panose="020B0609020204030204" pitchFamily="49" charset="0"/>
              </a:rPr>
              <a:t>tf</a:t>
            </a:r>
            <a:r>
              <a:rPr lang="en-US" sz="800" b="0" dirty="0">
                <a:solidFill>
                  <a:srgbClr val="CE9178"/>
                </a:solidFill>
                <a:effectLst/>
                <a:latin typeface="Consolas" panose="020B0609020204030204" pitchFamily="49" charset="0"/>
              </a:rPr>
              <a:t> card"</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writeTF</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msg</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6" name="TextBox 15">
            <a:extLst>
              <a:ext uri="{FF2B5EF4-FFF2-40B4-BE49-F238E27FC236}">
                <a16:creationId xmlns:a16="http://schemas.microsoft.com/office/drawing/2014/main" id="{420E3986-3DF8-71A1-743C-42241F7F24EA}"/>
              </a:ext>
            </a:extLst>
          </p:cNvPr>
          <p:cNvSpPr txBox="1"/>
          <p:nvPr/>
        </p:nvSpPr>
        <p:spPr>
          <a:xfrm>
            <a:off x="3150285" y="4319412"/>
            <a:ext cx="428157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适配者类</a:t>
            </a:r>
            <a:r>
              <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a:t>
            </a:r>
            <a:r>
              <a:rPr kumimoji="0" lang="en-US" altLang="zh-CN" sz="1200" b="0" i="0" u="none" strike="noStrike" kern="1200" cap="none" spc="0" normalizeH="0" baseline="0" noProof="0" dirty="0" err="1">
                <a:ln>
                  <a:noFill/>
                </a:ln>
                <a:solidFill>
                  <a:srgbClr val="4472C4"/>
                </a:solidFill>
                <a:effectLst/>
                <a:uLnTx/>
                <a:uFillTx/>
                <a:latin typeface="ui-monospace"/>
                <a:ea typeface="等线" panose="02010600030101010101" pitchFamily="2" charset="-122"/>
                <a:cs typeface="+mn-cs"/>
              </a:rPr>
              <a:t>Adaptee</a:t>
            </a:r>
            <a:r>
              <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a:t>
            </a:r>
            <a:r>
              <a:rPr kumimoji="0" lang="zh-CN" altLang="en-US"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：被访问的接口</a:t>
            </a:r>
            <a:endPar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endParaRPr>
          </a:p>
        </p:txBody>
      </p:sp>
      <p:sp>
        <p:nvSpPr>
          <p:cNvPr id="17" name="TextBox 16">
            <a:extLst>
              <a:ext uri="{FF2B5EF4-FFF2-40B4-BE49-F238E27FC236}">
                <a16:creationId xmlns:a16="http://schemas.microsoft.com/office/drawing/2014/main" id="{0BB3A1A4-24A0-657D-AE99-205349C03370}"/>
              </a:ext>
            </a:extLst>
          </p:cNvPr>
          <p:cNvSpPr txBox="1"/>
          <p:nvPr/>
        </p:nvSpPr>
        <p:spPr>
          <a:xfrm>
            <a:off x="7262807" y="550418"/>
            <a:ext cx="4281577" cy="276999"/>
          </a:xfrm>
          <a:prstGeom prst="rect">
            <a:avLst/>
          </a:prstGeom>
          <a:noFill/>
        </p:spPr>
        <p:txBody>
          <a:bodyPr wrap="square">
            <a:spAutoFit/>
          </a:bodyPr>
          <a:lstStyle/>
          <a:p>
            <a:r>
              <a:rPr lang="zh-CN" altLang="en-US" sz="1200" dirty="0">
                <a:solidFill>
                  <a:schemeClr val="accent1"/>
                </a:solidFill>
                <a:latin typeface="ui-monospace"/>
              </a:rPr>
              <a:t>适配器类</a:t>
            </a:r>
            <a:r>
              <a:rPr lang="en-US" altLang="zh-CN" sz="1200" dirty="0">
                <a:solidFill>
                  <a:schemeClr val="accent1"/>
                </a:solidFill>
                <a:latin typeface="ui-monospace"/>
              </a:rPr>
              <a:t>(Adapter)</a:t>
            </a:r>
            <a:r>
              <a:rPr lang="zh-CN" altLang="en-US" sz="1200" dirty="0">
                <a:solidFill>
                  <a:schemeClr val="accent1"/>
                </a:solidFill>
                <a:latin typeface="ui-monospace"/>
              </a:rPr>
              <a:t>：通过继承或引用</a:t>
            </a:r>
            <a:r>
              <a:rPr lang="en-US" altLang="zh-CN" sz="1200" dirty="0" err="1">
                <a:solidFill>
                  <a:schemeClr val="accent1"/>
                </a:solidFill>
                <a:latin typeface="ui-monospace"/>
              </a:rPr>
              <a:t>Adaptee</a:t>
            </a:r>
            <a:r>
              <a:rPr lang="zh-CN" altLang="en-US" sz="1200" dirty="0">
                <a:solidFill>
                  <a:schemeClr val="accent1"/>
                </a:solidFill>
                <a:latin typeface="ui-monospace"/>
              </a:rPr>
              <a:t>，转成</a:t>
            </a:r>
            <a:r>
              <a:rPr lang="en-US" altLang="zh-CN" sz="1200" dirty="0">
                <a:solidFill>
                  <a:schemeClr val="accent1"/>
                </a:solidFill>
                <a:latin typeface="ui-monospace"/>
              </a:rPr>
              <a:t>Target</a:t>
            </a:r>
          </a:p>
        </p:txBody>
      </p:sp>
      <p:sp>
        <p:nvSpPr>
          <p:cNvPr id="18" name="TextBox 17">
            <a:extLst>
              <a:ext uri="{FF2B5EF4-FFF2-40B4-BE49-F238E27FC236}">
                <a16:creationId xmlns:a16="http://schemas.microsoft.com/office/drawing/2014/main" id="{56781CA1-91E9-9B08-877D-62FCF672AE17}"/>
              </a:ext>
            </a:extLst>
          </p:cNvPr>
          <p:cNvSpPr txBox="1"/>
          <p:nvPr/>
        </p:nvSpPr>
        <p:spPr>
          <a:xfrm>
            <a:off x="3141333" y="1916098"/>
            <a:ext cx="4281577" cy="276999"/>
          </a:xfrm>
          <a:prstGeom prst="rect">
            <a:avLst/>
          </a:prstGeom>
          <a:noFill/>
        </p:spPr>
        <p:txBody>
          <a:bodyPr wrap="square">
            <a:spAutoFit/>
          </a:bodyPr>
          <a:lstStyle/>
          <a:p>
            <a:r>
              <a:rPr lang="zh-CN" altLang="en-US" sz="1200" dirty="0">
                <a:solidFill>
                  <a:schemeClr val="accent1"/>
                </a:solidFill>
                <a:latin typeface="ui-monospace"/>
              </a:rPr>
              <a:t>目标接口</a:t>
            </a:r>
            <a:r>
              <a:rPr lang="en-US" altLang="zh-CN" sz="1200" dirty="0">
                <a:solidFill>
                  <a:schemeClr val="accent1"/>
                </a:solidFill>
                <a:latin typeface="ui-monospace"/>
              </a:rPr>
              <a:t>(Target)</a:t>
            </a:r>
            <a:r>
              <a:rPr lang="zh-CN" altLang="en-US" sz="1200" dirty="0">
                <a:solidFill>
                  <a:schemeClr val="accent1"/>
                </a:solidFill>
                <a:latin typeface="ui-monospace"/>
              </a:rPr>
              <a:t>：业务所需的抽象类或接口</a:t>
            </a:r>
            <a:endParaRPr lang="en-US" altLang="zh-CN" sz="1200" dirty="0">
              <a:solidFill>
                <a:schemeClr val="accent1"/>
              </a:solidFill>
              <a:latin typeface="ui-monospace"/>
            </a:endParaRPr>
          </a:p>
        </p:txBody>
      </p:sp>
      <p:sp>
        <p:nvSpPr>
          <p:cNvPr id="21" name="Rectangle: Rounded Corners 20">
            <a:extLst>
              <a:ext uri="{FF2B5EF4-FFF2-40B4-BE49-F238E27FC236}">
                <a16:creationId xmlns:a16="http://schemas.microsoft.com/office/drawing/2014/main" id="{F3D520DF-6535-4222-D8DF-606938E864B2}"/>
              </a:ext>
            </a:extLst>
          </p:cNvPr>
          <p:cNvSpPr/>
          <p:nvPr/>
        </p:nvSpPr>
        <p:spPr>
          <a:xfrm>
            <a:off x="3214939" y="788387"/>
            <a:ext cx="3696890" cy="114881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电脑类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Computer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readSD</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SDCard</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sdCard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sdCard</a:t>
            </a:r>
            <a:r>
              <a:rPr lang="en-US" sz="800" b="0" dirty="0">
                <a:solidFill>
                  <a:srgbClr val="D4D4D4"/>
                </a:solidFill>
                <a:effectLst/>
                <a:latin typeface="Consolas" panose="020B0609020204030204" pitchFamily="49" charset="0"/>
              </a:rPr>
              <a:t> == </a:t>
            </a:r>
            <a:r>
              <a:rPr lang="en-US" sz="800" b="0" dirty="0">
                <a:solidFill>
                  <a:srgbClr val="569CD6"/>
                </a:solidFill>
                <a:effectLst/>
                <a:latin typeface="Consolas" panose="020B0609020204030204" pitchFamily="49" charset="0"/>
              </a:rPr>
              <a:t>null</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throw</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NullPointerException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sd</a:t>
            </a:r>
            <a:r>
              <a:rPr lang="en-US" sz="800" b="0" dirty="0">
                <a:solidFill>
                  <a:srgbClr val="CE9178"/>
                </a:solidFill>
                <a:effectLst/>
                <a:latin typeface="Consolas" panose="020B0609020204030204" pitchFamily="49" charset="0"/>
              </a:rPr>
              <a:t> card null"</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sdCard</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readSD</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22" name="TextBox 21">
            <a:extLst>
              <a:ext uri="{FF2B5EF4-FFF2-40B4-BE49-F238E27FC236}">
                <a16:creationId xmlns:a16="http://schemas.microsoft.com/office/drawing/2014/main" id="{4BD26221-C84A-0A43-B1AE-F89A5AF08DF9}"/>
              </a:ext>
            </a:extLst>
          </p:cNvPr>
          <p:cNvSpPr txBox="1"/>
          <p:nvPr/>
        </p:nvSpPr>
        <p:spPr>
          <a:xfrm>
            <a:off x="7262806" y="2190878"/>
            <a:ext cx="4281577" cy="276999"/>
          </a:xfrm>
          <a:prstGeom prst="rect">
            <a:avLst/>
          </a:prstGeom>
          <a:noFill/>
        </p:spPr>
        <p:txBody>
          <a:bodyPr wrap="square">
            <a:spAutoFit/>
          </a:bodyPr>
          <a:lstStyle/>
          <a:p>
            <a:r>
              <a:rPr lang="zh-CN" altLang="en-US" sz="1200" dirty="0">
                <a:solidFill>
                  <a:schemeClr val="accent1"/>
                </a:solidFill>
                <a:latin typeface="ui-monospace"/>
              </a:rPr>
              <a:t>调用</a:t>
            </a:r>
            <a:endParaRPr lang="en-US" altLang="zh-CN" sz="1200" dirty="0">
              <a:solidFill>
                <a:schemeClr val="accent1"/>
              </a:solidFill>
              <a:latin typeface="ui-monospace"/>
            </a:endParaRPr>
          </a:p>
        </p:txBody>
      </p:sp>
      <p:sp>
        <p:nvSpPr>
          <p:cNvPr id="23" name="Rectangle: Rounded Corners 22">
            <a:extLst>
              <a:ext uri="{FF2B5EF4-FFF2-40B4-BE49-F238E27FC236}">
                <a16:creationId xmlns:a16="http://schemas.microsoft.com/office/drawing/2014/main" id="{6932655E-75B1-38F9-0B44-9DEFCAF7F1B4}"/>
              </a:ext>
            </a:extLst>
          </p:cNvPr>
          <p:cNvSpPr/>
          <p:nvPr/>
        </p:nvSpPr>
        <p:spPr>
          <a:xfrm>
            <a:off x="7350617" y="2427890"/>
            <a:ext cx="3711790" cy="1557310"/>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测试类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Computer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computer</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Computer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SDCard</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sdCard</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SDCardImpl</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computer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readSD</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sdCard</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SDAdapterTF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adapter</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SDAdapterTF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computer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readSD</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adapter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D65600CA-F617-66FF-649B-C0A2D2A5FDF1}"/>
              </a:ext>
            </a:extLst>
          </p:cNvPr>
          <p:cNvSpPr txBox="1"/>
          <p:nvPr/>
        </p:nvSpPr>
        <p:spPr>
          <a:xfrm>
            <a:off x="7262806" y="4138181"/>
            <a:ext cx="4281577"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pic>
        <p:nvPicPr>
          <p:cNvPr id="2598" name="Picture 2597">
            <a:extLst>
              <a:ext uri="{FF2B5EF4-FFF2-40B4-BE49-F238E27FC236}">
                <a16:creationId xmlns:a16="http://schemas.microsoft.com/office/drawing/2014/main" id="{A4200938-E442-3949-AE3B-9DC974D12E35}"/>
              </a:ext>
            </a:extLst>
          </p:cNvPr>
          <p:cNvPicPr>
            <a:picLocks noChangeAspect="1"/>
          </p:cNvPicPr>
          <p:nvPr/>
        </p:nvPicPr>
        <p:blipFill>
          <a:blip r:embed="rId2"/>
          <a:stretch>
            <a:fillRect/>
          </a:stretch>
        </p:blipFill>
        <p:spPr>
          <a:xfrm>
            <a:off x="7348643" y="4249014"/>
            <a:ext cx="3711790" cy="2462129"/>
          </a:xfrm>
          <a:prstGeom prst="rect">
            <a:avLst/>
          </a:prstGeom>
        </p:spPr>
      </p:pic>
      <p:sp>
        <p:nvSpPr>
          <p:cNvPr id="10" name="TextBox 9">
            <a:extLst>
              <a:ext uri="{FF2B5EF4-FFF2-40B4-BE49-F238E27FC236}">
                <a16:creationId xmlns:a16="http://schemas.microsoft.com/office/drawing/2014/main" id="{2B882D49-7851-ADEF-EA28-6506EB3E42F3}"/>
              </a:ext>
            </a:extLst>
          </p:cNvPr>
          <p:cNvSpPr txBox="1"/>
          <p:nvPr/>
        </p:nvSpPr>
        <p:spPr>
          <a:xfrm>
            <a:off x="3141332" y="562090"/>
            <a:ext cx="4281577" cy="276999"/>
          </a:xfrm>
          <a:prstGeom prst="rect">
            <a:avLst/>
          </a:prstGeom>
          <a:noFill/>
        </p:spPr>
        <p:txBody>
          <a:bodyPr wrap="square">
            <a:spAutoFit/>
          </a:bodyPr>
          <a:lstStyle/>
          <a:p>
            <a:r>
              <a:rPr lang="zh-CN" altLang="en-US" sz="1200" dirty="0">
                <a:solidFill>
                  <a:schemeClr val="accent1"/>
                </a:solidFill>
                <a:latin typeface="ui-monospace"/>
              </a:rPr>
              <a:t>客户端</a:t>
            </a:r>
            <a:endParaRPr lang="en-US" altLang="zh-CN" sz="1200" dirty="0">
              <a:solidFill>
                <a:schemeClr val="accent1"/>
              </a:solidFill>
              <a:latin typeface="ui-monospace"/>
            </a:endParaRPr>
          </a:p>
        </p:txBody>
      </p:sp>
    </p:spTree>
    <p:extLst>
      <p:ext uri="{BB962C8B-B14F-4D97-AF65-F5344CB8AC3E}">
        <p14:creationId xmlns:p14="http://schemas.microsoft.com/office/powerpoint/2010/main" val="3026335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结构型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行为型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9008048" cy="572261"/>
            <a:chOff x="7614613" y="5950488"/>
            <a:chExt cx="9008048" cy="57226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9008048"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▶桥接模式</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8828996" cy="276999"/>
            </a:xfrm>
            <a:prstGeom prst="rect">
              <a:avLst/>
            </a:prstGeom>
            <a:noFill/>
          </p:spPr>
          <p:txBody>
            <a:bodyPr wrap="square">
              <a:spAutoFit/>
            </a:bodyPr>
            <a:lstStyle/>
            <a:p>
              <a:r>
                <a:rPr lang="zh-CN" altLang="en-US" sz="1200" dirty="0">
                  <a:solidFill>
                    <a:schemeClr val="accent1"/>
                  </a:solidFill>
                  <a:latin typeface="ui-monospace"/>
                </a:rPr>
                <a:t>将抽象部分与其实现部分</a:t>
              </a:r>
              <a:r>
                <a:rPr lang="zh-CN" altLang="en-US" sz="1200" b="1" dirty="0">
                  <a:solidFill>
                    <a:schemeClr val="accent1"/>
                  </a:solidFill>
                  <a:latin typeface="ui-monospace"/>
                </a:rPr>
                <a:t>分离</a:t>
              </a:r>
              <a:r>
                <a:rPr lang="zh-CN" altLang="en-US" sz="1200" dirty="0">
                  <a:solidFill>
                    <a:schemeClr val="accent1"/>
                  </a:solidFill>
                  <a:latin typeface="ui-monospace"/>
                </a:rPr>
                <a:t>，可以独立变化。实现在不同操作系统上可打开多种格式视频文件的播放器：</a:t>
              </a:r>
              <a:endParaRPr lang="en-US" altLang="zh-CN" sz="1200" dirty="0">
                <a:solidFill>
                  <a:schemeClr val="accent1"/>
                </a:solidFill>
                <a:latin typeface="ui-monospace"/>
              </a:endParaRPr>
            </a:p>
          </p:txBody>
        </p:sp>
      </p:grpSp>
      <p:sp>
        <p:nvSpPr>
          <p:cNvPr id="12" name="Rectangle: Rounded Corners 11">
            <a:extLst>
              <a:ext uri="{FF2B5EF4-FFF2-40B4-BE49-F238E27FC236}">
                <a16:creationId xmlns:a16="http://schemas.microsoft.com/office/drawing/2014/main" id="{BE2297B5-2AF7-77F1-A4AD-1708EC2A9C10}"/>
              </a:ext>
            </a:extLst>
          </p:cNvPr>
          <p:cNvSpPr/>
          <p:nvPr/>
        </p:nvSpPr>
        <p:spPr>
          <a:xfrm>
            <a:off x="7315989" y="992718"/>
            <a:ext cx="3711790" cy="97494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测试类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OperatingSystem</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os</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Windows</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AVIFile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os</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play</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战狼</a:t>
            </a:r>
            <a:r>
              <a:rPr lang="en-US" altLang="zh-CN" sz="800" b="0" dirty="0">
                <a:solidFill>
                  <a:srgbClr val="CE9178"/>
                </a:solidFill>
                <a:effectLst/>
                <a:latin typeface="Consolas" panose="020B0609020204030204" pitchFamily="49" charset="0"/>
              </a:rPr>
              <a:t>3</a:t>
            </a:r>
            <a:r>
              <a:rPr lang="en-US" altLang="zh-CN" sz="800" dirty="0">
                <a:solidFill>
                  <a:srgbClr val="CE9178"/>
                </a:solidFill>
                <a:latin typeface="Consolas" panose="020B0609020204030204" pitchFamily="49" charset="0"/>
              </a:rPr>
              <a:t>.avi</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
        <p:nvSpPr>
          <p:cNvPr id="17" name="TextBox 16">
            <a:extLst>
              <a:ext uri="{FF2B5EF4-FFF2-40B4-BE49-F238E27FC236}">
                <a16:creationId xmlns:a16="http://schemas.microsoft.com/office/drawing/2014/main" id="{0BB3A1A4-24A0-657D-AE99-205349C03370}"/>
              </a:ext>
            </a:extLst>
          </p:cNvPr>
          <p:cNvSpPr txBox="1"/>
          <p:nvPr/>
        </p:nvSpPr>
        <p:spPr>
          <a:xfrm>
            <a:off x="7209209" y="712216"/>
            <a:ext cx="4281577" cy="276999"/>
          </a:xfrm>
          <a:prstGeom prst="rect">
            <a:avLst/>
          </a:prstGeom>
          <a:noFill/>
        </p:spPr>
        <p:txBody>
          <a:bodyPr wrap="square">
            <a:spAutoFit/>
          </a:bodyPr>
          <a:lstStyle/>
          <a:p>
            <a:r>
              <a:rPr lang="zh-CN" altLang="en-US" sz="1200" dirty="0">
                <a:solidFill>
                  <a:schemeClr val="accent1"/>
                </a:solidFill>
                <a:latin typeface="ui-monospace"/>
              </a:rPr>
              <a:t>调用</a:t>
            </a:r>
            <a:endParaRPr lang="en-US" altLang="zh-CN" sz="1200" dirty="0">
              <a:solidFill>
                <a:schemeClr val="accent1"/>
              </a:solidFill>
              <a:latin typeface="ui-monospace"/>
            </a:endParaRPr>
          </a:p>
        </p:txBody>
      </p:sp>
      <p:sp>
        <p:nvSpPr>
          <p:cNvPr id="4" name="TextBox 36">
            <a:extLst>
              <a:ext uri="{FF2B5EF4-FFF2-40B4-BE49-F238E27FC236}">
                <a16:creationId xmlns:a16="http://schemas.microsoft.com/office/drawing/2014/main" id="{D950E77D-B3A6-72DC-B919-C608D2B98F59}"/>
              </a:ext>
            </a:extLst>
          </p:cNvPr>
          <p:cNvSpPr txBox="1"/>
          <p:nvPr/>
        </p:nvSpPr>
        <p:spPr>
          <a:xfrm>
            <a:off x="3150285" y="3040223"/>
            <a:ext cx="4281578" cy="461665"/>
          </a:xfrm>
          <a:prstGeom prst="rect">
            <a:avLst/>
          </a:prstGeom>
          <a:noFill/>
        </p:spPr>
        <p:txBody>
          <a:bodyPr wrap="square">
            <a:spAutoFit/>
          </a:bodyPr>
          <a:lstStyle/>
          <a:p>
            <a:r>
              <a:rPr lang="zh-CN" altLang="en-US" sz="1200" dirty="0">
                <a:solidFill>
                  <a:schemeClr val="accent1"/>
                </a:solidFill>
                <a:latin typeface="ui-monospace"/>
              </a:rPr>
              <a:t>抽象化角色</a:t>
            </a:r>
            <a:r>
              <a:rPr lang="en-US" altLang="zh-CN" sz="1200" dirty="0">
                <a:solidFill>
                  <a:schemeClr val="accent1"/>
                </a:solidFill>
                <a:latin typeface="ui-monospace"/>
              </a:rPr>
              <a:t>(Abstraction)</a:t>
            </a:r>
            <a:r>
              <a:rPr lang="zh-CN" altLang="en-US" sz="1200" dirty="0">
                <a:solidFill>
                  <a:schemeClr val="accent1"/>
                </a:solidFill>
                <a:latin typeface="ui-monospace"/>
              </a:rPr>
              <a:t>：</a:t>
            </a:r>
            <a:endParaRPr lang="en-US" altLang="zh-CN" sz="1200" dirty="0">
              <a:solidFill>
                <a:schemeClr val="accent1"/>
              </a:solidFill>
              <a:latin typeface="ui-monospace"/>
            </a:endParaRPr>
          </a:p>
          <a:p>
            <a:r>
              <a:rPr lang="zh-CN" altLang="en-US" sz="1200" dirty="0">
                <a:solidFill>
                  <a:schemeClr val="accent1"/>
                </a:solidFill>
                <a:latin typeface="ui-monospace"/>
              </a:rPr>
              <a:t>扩展抽象化角色</a:t>
            </a:r>
            <a:r>
              <a:rPr lang="en-US" altLang="zh-CN" sz="1200" dirty="0">
                <a:solidFill>
                  <a:schemeClr val="accent1"/>
                </a:solidFill>
                <a:latin typeface="ui-monospace"/>
              </a:rPr>
              <a:t>(</a:t>
            </a:r>
            <a:r>
              <a:rPr lang="en-US" altLang="zh-CN" sz="1200" dirty="0" err="1">
                <a:solidFill>
                  <a:schemeClr val="accent1"/>
                </a:solidFill>
                <a:latin typeface="ui-monospace"/>
              </a:rPr>
              <a:t>RefinedAbstraction</a:t>
            </a:r>
            <a:r>
              <a:rPr lang="en-US" altLang="zh-CN" sz="1200" dirty="0">
                <a:solidFill>
                  <a:schemeClr val="accent1"/>
                </a:solidFill>
                <a:latin typeface="ui-monospace"/>
              </a:rPr>
              <a:t>)</a:t>
            </a:r>
            <a:r>
              <a:rPr lang="zh-CN" altLang="en-US" sz="1200" dirty="0">
                <a:solidFill>
                  <a:schemeClr val="accent1"/>
                </a:solidFill>
                <a:latin typeface="ui-monospace"/>
              </a:rPr>
              <a:t>：</a:t>
            </a:r>
            <a:endParaRPr lang="en-US" altLang="zh-CN" sz="1200" dirty="0">
              <a:solidFill>
                <a:schemeClr val="accent1"/>
              </a:solidFill>
              <a:latin typeface="ui-monospace"/>
            </a:endParaRPr>
          </a:p>
        </p:txBody>
      </p:sp>
      <p:sp>
        <p:nvSpPr>
          <p:cNvPr id="5" name="Rectangle: Rounded Corners 4">
            <a:extLst>
              <a:ext uri="{FF2B5EF4-FFF2-40B4-BE49-F238E27FC236}">
                <a16:creationId xmlns:a16="http://schemas.microsoft.com/office/drawing/2014/main" id="{0E1B7579-DD8F-6EEE-6DA3-306A4A78835A}"/>
              </a:ext>
            </a:extLst>
          </p:cNvPr>
          <p:cNvSpPr/>
          <p:nvPr/>
        </p:nvSpPr>
        <p:spPr>
          <a:xfrm>
            <a:off x="3221312" y="977944"/>
            <a:ext cx="3711790" cy="2046360"/>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视频文件（实现化角色）</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decode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fileName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a:p>
            <a:r>
              <a:rPr lang="en-US" sz="800" b="0" dirty="0">
                <a:solidFill>
                  <a:srgbClr val="6A9955"/>
                </a:solidFill>
                <a:effectLst/>
                <a:latin typeface="Consolas" panose="020B0609020204030204" pitchFamily="49" charset="0"/>
              </a:rPr>
              <a:t>// </a:t>
            </a:r>
            <a:r>
              <a:rPr lang="en-US" sz="800" b="0" dirty="0" err="1">
                <a:solidFill>
                  <a:srgbClr val="6A9955"/>
                </a:solidFill>
                <a:effectLst/>
                <a:latin typeface="Consolas" panose="020B0609020204030204" pitchFamily="49" charset="0"/>
              </a:rPr>
              <a:t>avi</a:t>
            </a:r>
            <a:r>
              <a:rPr lang="zh-CN" altLang="en-US" sz="800" b="0" dirty="0">
                <a:solidFill>
                  <a:srgbClr val="6A9955"/>
                </a:solidFill>
                <a:effectLst/>
                <a:latin typeface="Consolas" panose="020B0609020204030204" pitchFamily="49" charset="0"/>
              </a:rPr>
              <a:t>文件（具体实现化角色 ）</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AVIFile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decode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fileName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avi</a:t>
            </a:r>
            <a:r>
              <a:rPr lang="zh-CN" altLang="en-US" sz="800" b="0" dirty="0">
                <a:solidFill>
                  <a:srgbClr val="CE9178"/>
                </a:solidFill>
                <a:effectLst/>
                <a:latin typeface="Consolas" panose="020B0609020204030204" pitchFamily="49" charset="0"/>
              </a:rPr>
              <a:t>视频文件：</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fileName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a:p>
            <a:r>
              <a:rPr lang="en-US" sz="800" b="0" dirty="0">
                <a:solidFill>
                  <a:srgbClr val="6A9955"/>
                </a:solidFill>
                <a:effectLst/>
                <a:latin typeface="Consolas" panose="020B0609020204030204" pitchFamily="49" charset="0"/>
              </a:rPr>
              <a:t>// </a:t>
            </a:r>
            <a:r>
              <a:rPr lang="en-US" sz="800" b="0" dirty="0" err="1">
                <a:solidFill>
                  <a:srgbClr val="6A9955"/>
                </a:solidFill>
                <a:effectLst/>
                <a:latin typeface="Consolas" panose="020B0609020204030204" pitchFamily="49" charset="0"/>
              </a:rPr>
              <a:t>rmvb</a:t>
            </a:r>
            <a:r>
              <a:rPr lang="zh-CN" altLang="en-US" sz="800" b="0" dirty="0">
                <a:solidFill>
                  <a:srgbClr val="6A9955"/>
                </a:solidFill>
                <a:effectLst/>
                <a:latin typeface="Consolas" panose="020B0609020204030204" pitchFamily="49" charset="0"/>
              </a:rPr>
              <a:t>文件（具体实现化角色 ）</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RMVBBFile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decode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fileName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err="1">
                <a:solidFill>
                  <a:srgbClr val="CE9178"/>
                </a:solidFill>
                <a:effectLst/>
                <a:latin typeface="Consolas" panose="020B0609020204030204" pitchFamily="49" charset="0"/>
              </a:rPr>
              <a:t>rmvb</a:t>
            </a:r>
            <a:r>
              <a:rPr lang="zh-CN" altLang="en-US" sz="800" b="0" dirty="0">
                <a:solidFill>
                  <a:srgbClr val="CE9178"/>
                </a:solidFill>
                <a:effectLst/>
                <a:latin typeface="Consolas" panose="020B0609020204030204" pitchFamily="49" charset="0"/>
              </a:rPr>
              <a:t>文件：</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fileName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8" name="Rectangle: Rounded Corners 7">
            <a:extLst>
              <a:ext uri="{FF2B5EF4-FFF2-40B4-BE49-F238E27FC236}">
                <a16:creationId xmlns:a16="http://schemas.microsoft.com/office/drawing/2014/main" id="{7E4B0218-F482-EFEB-4C50-4C5650AB7367}"/>
              </a:ext>
            </a:extLst>
          </p:cNvPr>
          <p:cNvSpPr/>
          <p:nvPr/>
        </p:nvSpPr>
        <p:spPr>
          <a:xfrm>
            <a:off x="3239786" y="3506277"/>
            <a:ext cx="3711790" cy="3231654"/>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操作系统版本（抽象化角色）</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OperatingSystemVersion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OperatingSystemVersion</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play</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fileName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6A9955"/>
                </a:solidFill>
                <a:effectLst/>
                <a:latin typeface="Consolas" panose="020B0609020204030204" pitchFamily="49" charset="0"/>
              </a:rPr>
              <a:t>// Windows</a:t>
            </a:r>
            <a:r>
              <a:rPr lang="zh-CN" altLang="en-US" sz="800" b="0" dirty="0">
                <a:solidFill>
                  <a:srgbClr val="6A9955"/>
                </a:solidFill>
                <a:effectLst/>
                <a:latin typeface="Consolas" panose="020B0609020204030204" pitchFamily="49" charset="0"/>
              </a:rPr>
              <a:t>版本（扩展抽象化角色）</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Windows</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OperatingSystem</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Windows</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super</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play</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fileName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videoFile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decode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fileName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a:p>
            <a:r>
              <a:rPr lang="en-US" sz="800" b="0" dirty="0">
                <a:solidFill>
                  <a:srgbClr val="6A9955"/>
                </a:solidFill>
                <a:effectLst/>
                <a:latin typeface="Consolas" panose="020B0609020204030204" pitchFamily="49" charset="0"/>
              </a:rPr>
              <a:t>// mac</a:t>
            </a:r>
            <a:r>
              <a:rPr lang="zh-CN" altLang="en-US" sz="800" b="0" dirty="0">
                <a:solidFill>
                  <a:srgbClr val="6A9955"/>
                </a:solidFill>
                <a:effectLst/>
                <a:latin typeface="Consolas" panose="020B0609020204030204" pitchFamily="49" charset="0"/>
              </a:rPr>
              <a:t>版本（扩展抽象化角色）</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Mac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OperatingSystemVersion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Mac</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super</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videoFile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play</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fileName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videoFile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decode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fileName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5207CCBF-4E1E-1FEA-3165-B88BB0ACE10B}"/>
              </a:ext>
            </a:extLst>
          </p:cNvPr>
          <p:cNvSpPr txBox="1"/>
          <p:nvPr/>
        </p:nvSpPr>
        <p:spPr>
          <a:xfrm>
            <a:off x="7233508" y="2014942"/>
            <a:ext cx="4281577"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sp>
        <p:nvSpPr>
          <p:cNvPr id="10" name="TextBox 9">
            <a:extLst>
              <a:ext uri="{FF2B5EF4-FFF2-40B4-BE49-F238E27FC236}">
                <a16:creationId xmlns:a16="http://schemas.microsoft.com/office/drawing/2014/main" id="{21E70F94-5392-29B1-4A1F-E0E857F75427}"/>
              </a:ext>
            </a:extLst>
          </p:cNvPr>
          <p:cNvSpPr txBox="1"/>
          <p:nvPr/>
        </p:nvSpPr>
        <p:spPr>
          <a:xfrm>
            <a:off x="7233508" y="3548436"/>
            <a:ext cx="3960964" cy="1569660"/>
          </a:xfrm>
          <a:prstGeom prst="rect">
            <a:avLst/>
          </a:prstGeom>
          <a:noFill/>
        </p:spPr>
        <p:txBody>
          <a:bodyPr wrap="square">
            <a:spAutoFit/>
          </a:bodyPr>
          <a:lstStyle/>
          <a:p>
            <a:r>
              <a:rPr lang="zh-CN" altLang="en-US" sz="1200" dirty="0">
                <a:solidFill>
                  <a:schemeClr val="accent1"/>
                </a:solidFill>
                <a:latin typeface="ui-monospace"/>
              </a:rPr>
              <a:t>当一个类存在两个独立变化的维度，且这两个维度都需要进行扩展时</a:t>
            </a:r>
          </a:p>
          <a:p>
            <a:r>
              <a:rPr lang="zh-CN" altLang="en-US" sz="1200" dirty="0">
                <a:solidFill>
                  <a:schemeClr val="accent1"/>
                </a:solidFill>
                <a:latin typeface="ui-monospace"/>
              </a:rPr>
              <a:t>当一个系统不希望使用继承或因为多层次继承导致系统类的个数急剧增加时</a:t>
            </a:r>
          </a:p>
          <a:p>
            <a:r>
              <a:rPr lang="zh-CN" altLang="en-US" sz="1200" dirty="0">
                <a:solidFill>
                  <a:schemeClr val="accent1"/>
                </a:solidFill>
                <a:latin typeface="ui-monospace"/>
              </a:rPr>
              <a:t>当一个系统需要在构件的抽象化角色和具体化角色之间增加更多的灵活性时。避免在两个层次之间建立静态的继承联系，通过桥接模式可以使它们在抽象层建立一个关联关系</a:t>
            </a:r>
            <a:endParaRPr lang="en-US" altLang="zh-CN" sz="1200" dirty="0">
              <a:solidFill>
                <a:schemeClr val="accent1"/>
              </a:solidFill>
              <a:latin typeface="ui-monospace"/>
            </a:endParaRPr>
          </a:p>
        </p:txBody>
      </p:sp>
      <p:pic>
        <p:nvPicPr>
          <p:cNvPr id="2655" name="Picture 2654">
            <a:extLst>
              <a:ext uri="{FF2B5EF4-FFF2-40B4-BE49-F238E27FC236}">
                <a16:creationId xmlns:a16="http://schemas.microsoft.com/office/drawing/2014/main" id="{4E40A99D-F41B-4FF8-C6CA-D238B94CA1DA}"/>
              </a:ext>
            </a:extLst>
          </p:cNvPr>
          <p:cNvPicPr>
            <a:picLocks noChangeAspect="1"/>
          </p:cNvPicPr>
          <p:nvPr/>
        </p:nvPicPr>
        <p:blipFill>
          <a:blip r:embed="rId2"/>
          <a:stretch>
            <a:fillRect/>
          </a:stretch>
        </p:blipFill>
        <p:spPr>
          <a:xfrm>
            <a:off x="7315989" y="2216208"/>
            <a:ext cx="3711790" cy="1268667"/>
          </a:xfrm>
          <a:prstGeom prst="rect">
            <a:avLst/>
          </a:prstGeom>
        </p:spPr>
      </p:pic>
      <p:sp>
        <p:nvSpPr>
          <p:cNvPr id="11" name="TextBox 36">
            <a:extLst>
              <a:ext uri="{FF2B5EF4-FFF2-40B4-BE49-F238E27FC236}">
                <a16:creationId xmlns:a16="http://schemas.microsoft.com/office/drawing/2014/main" id="{3FBABF56-0B60-93C3-B16D-25E4376AD8B5}"/>
              </a:ext>
            </a:extLst>
          </p:cNvPr>
          <p:cNvSpPr txBox="1"/>
          <p:nvPr/>
        </p:nvSpPr>
        <p:spPr>
          <a:xfrm>
            <a:off x="3150285" y="563763"/>
            <a:ext cx="4281578" cy="461665"/>
          </a:xfrm>
          <a:prstGeom prst="rect">
            <a:avLst/>
          </a:prstGeom>
          <a:noFill/>
        </p:spPr>
        <p:txBody>
          <a:bodyPr wrap="square">
            <a:spAutoFit/>
          </a:bodyPr>
          <a:lstStyle/>
          <a:p>
            <a:r>
              <a:rPr lang="zh-CN" altLang="en-US" sz="1200" dirty="0">
                <a:solidFill>
                  <a:schemeClr val="accent1"/>
                </a:solidFill>
                <a:latin typeface="ui-monospace"/>
              </a:rPr>
              <a:t>实现化角色</a:t>
            </a:r>
            <a:r>
              <a:rPr lang="en-US" altLang="zh-CN" sz="1200" dirty="0">
                <a:solidFill>
                  <a:schemeClr val="accent1"/>
                </a:solidFill>
                <a:latin typeface="ui-monospace"/>
              </a:rPr>
              <a:t>(Implementor)</a:t>
            </a:r>
            <a:r>
              <a:rPr lang="zh-CN" altLang="en-US" sz="1200" dirty="0">
                <a:solidFill>
                  <a:schemeClr val="accent1"/>
                </a:solidFill>
                <a:latin typeface="ui-monospace"/>
              </a:rPr>
              <a:t>：</a:t>
            </a:r>
            <a:endParaRPr lang="en-US" altLang="zh-CN" sz="1200" dirty="0">
              <a:solidFill>
                <a:schemeClr val="accent1"/>
              </a:solidFill>
              <a:latin typeface="ui-monospace"/>
            </a:endParaRPr>
          </a:p>
          <a:p>
            <a:r>
              <a:rPr lang="zh-CN" altLang="en-US" sz="1200" dirty="0">
                <a:solidFill>
                  <a:schemeClr val="accent1"/>
                </a:solidFill>
                <a:latin typeface="ui-monospace"/>
              </a:rPr>
              <a:t>具体实现化角色</a:t>
            </a:r>
            <a:r>
              <a:rPr lang="en-US" altLang="zh-CN" sz="1200" dirty="0">
                <a:solidFill>
                  <a:schemeClr val="accent1"/>
                </a:solidFill>
                <a:latin typeface="ui-monospace"/>
              </a:rPr>
              <a:t>(</a:t>
            </a:r>
            <a:r>
              <a:rPr lang="en-US" altLang="zh-CN" sz="1200" dirty="0" err="1">
                <a:solidFill>
                  <a:schemeClr val="accent1"/>
                </a:solidFill>
                <a:latin typeface="ui-monospace"/>
              </a:rPr>
              <a:t>ConcreteImplementor</a:t>
            </a:r>
            <a:r>
              <a:rPr lang="en-US" altLang="zh-CN" sz="1200" dirty="0">
                <a:solidFill>
                  <a:schemeClr val="accent1"/>
                </a:solidFill>
                <a:latin typeface="ui-monospace"/>
              </a:rPr>
              <a:t>)</a:t>
            </a:r>
            <a:r>
              <a:rPr lang="zh-CN" altLang="en-US" sz="1200" dirty="0">
                <a:solidFill>
                  <a:schemeClr val="accent1"/>
                </a:solidFill>
                <a:latin typeface="ui-monospace"/>
              </a:rPr>
              <a:t>：</a:t>
            </a:r>
            <a:endParaRPr lang="en-US" altLang="zh-CN" sz="1200" dirty="0">
              <a:solidFill>
                <a:schemeClr val="accent1"/>
              </a:solidFill>
              <a:latin typeface="ui-monospace"/>
            </a:endParaRPr>
          </a:p>
        </p:txBody>
      </p:sp>
    </p:spTree>
    <p:extLst>
      <p:ext uri="{BB962C8B-B14F-4D97-AF65-F5344CB8AC3E}">
        <p14:creationId xmlns:p14="http://schemas.microsoft.com/office/powerpoint/2010/main" val="2475402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结构型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行为型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8983275" cy="572261"/>
            <a:chOff x="7614613" y="5950488"/>
            <a:chExt cx="8983275" cy="57226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8983275"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▶组合模式</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将对象组合成树型结构以表示“</a:t>
              </a:r>
              <a:r>
                <a:rPr lang="zh-CN" altLang="en-US" sz="1200" b="1" dirty="0">
                  <a:solidFill>
                    <a:schemeClr val="accent1"/>
                  </a:solidFill>
                  <a:latin typeface="ui-monospace"/>
                </a:rPr>
                <a:t>部分</a:t>
              </a:r>
              <a:r>
                <a:rPr lang="en-US" altLang="zh-CN" sz="1200" b="1" dirty="0">
                  <a:solidFill>
                    <a:schemeClr val="accent1"/>
                  </a:solidFill>
                  <a:latin typeface="ui-monospace"/>
                </a:rPr>
                <a:t>-</a:t>
              </a:r>
              <a:r>
                <a:rPr lang="zh-CN" altLang="en-US" sz="1200" b="1" dirty="0">
                  <a:solidFill>
                    <a:schemeClr val="accent1"/>
                  </a:solidFill>
                  <a:latin typeface="ui-monospace"/>
                </a:rPr>
                <a:t>整体</a:t>
              </a:r>
              <a:r>
                <a:rPr lang="zh-CN" altLang="en-US" sz="1200" dirty="0">
                  <a:solidFill>
                    <a:schemeClr val="accent1"/>
                  </a:solidFill>
                  <a:latin typeface="ui-monospace"/>
                </a:rPr>
                <a:t>”的层次结构。一个菜单可包含菜单条目，也可以包含有子菜单的菜单</a:t>
              </a:r>
              <a:endParaRPr lang="en-US" altLang="zh-CN" sz="1200" dirty="0">
                <a:solidFill>
                  <a:schemeClr val="accent1"/>
                </a:solidFill>
                <a:latin typeface="ui-monospace"/>
              </a:endParaRPr>
            </a:p>
          </p:txBody>
        </p:sp>
      </p:grpSp>
      <p:sp>
        <p:nvSpPr>
          <p:cNvPr id="12" name="Rectangle: Rounded Corners 11">
            <a:extLst>
              <a:ext uri="{FF2B5EF4-FFF2-40B4-BE49-F238E27FC236}">
                <a16:creationId xmlns:a16="http://schemas.microsoft.com/office/drawing/2014/main" id="{BE2297B5-2AF7-77F1-A4AD-1708EC2A9C10}"/>
              </a:ext>
            </a:extLst>
          </p:cNvPr>
          <p:cNvSpPr/>
          <p:nvPr/>
        </p:nvSpPr>
        <p:spPr>
          <a:xfrm>
            <a:off x="6450628" y="4895272"/>
            <a:ext cx="3786904" cy="1842699"/>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测试类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创建菜单树</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menu</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Menu</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菜单管理</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altLang="zh-CN" sz="800" b="0" dirty="0">
                <a:solidFill>
                  <a:srgbClr val="B5CEA8"/>
                </a:solidFill>
                <a:effectLst/>
                <a:latin typeface="Consolas" panose="020B0609020204030204" pitchFamily="49" charset="0"/>
              </a:rPr>
              <a:t>2</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menu</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MenuItem</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页面访问</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altLang="zh-CN" sz="800" b="0" dirty="0">
                <a:solidFill>
                  <a:srgbClr val="B5CEA8"/>
                </a:solidFill>
                <a:effectLst/>
                <a:latin typeface="Consolas" panose="020B0609020204030204" pitchFamily="49" charset="0"/>
              </a:rPr>
              <a:t>3</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menu</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MenuItem</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展开菜单</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altLang="zh-CN" sz="800" b="0" dirty="0">
                <a:solidFill>
                  <a:srgbClr val="B5CEA8"/>
                </a:solidFill>
                <a:effectLst/>
                <a:latin typeface="Consolas" panose="020B0609020204030204" pitchFamily="49" charset="0"/>
              </a:rPr>
              <a:t>3</a:t>
            </a:r>
            <a:r>
              <a:rPr lang="en-US" altLang="zh-CN" sz="800" b="0" dirty="0">
                <a:solidFill>
                  <a:srgbClr val="D4D4D4"/>
                </a:solidFill>
                <a:effectLst/>
                <a:latin typeface="Consolas" panose="020B0609020204030204" pitchFamily="49" charset="0"/>
              </a:rPr>
              <a:t>));</a:t>
            </a:r>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创建一级菜单</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r>
              <a:rPr lang="en-US" altLang="zh-CN" sz="800" b="0" dirty="0">
                <a:solidFill>
                  <a:srgbClr val="9CDCFE"/>
                </a:solidFill>
                <a:effectLst/>
                <a:latin typeface="Consolas" panose="020B0609020204030204" pitchFamily="49" charset="0"/>
              </a:rPr>
              <a:t>root</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Menu</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系统管理</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altLang="zh-CN" sz="800" b="0" dirty="0">
                <a:solidFill>
                  <a:srgbClr val="B5CEA8"/>
                </a:solidFill>
                <a:effectLst/>
                <a:latin typeface="Consolas" panose="020B0609020204030204" pitchFamily="49" charset="0"/>
              </a:rPr>
              <a:t>1</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将二级菜单添加到一级菜单中</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err="1">
                <a:solidFill>
                  <a:srgbClr val="9CDCFE"/>
                </a:solidFill>
                <a:effectLst/>
                <a:latin typeface="Consolas" panose="020B0609020204030204" pitchFamily="49" charset="0"/>
              </a:rPr>
              <a:t>root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menu</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打印菜单名称</a:t>
            </a:r>
            <a:r>
              <a:rPr lang="en-US" altLang="zh-CN" sz="800" b="0" dirty="0">
                <a:solidFill>
                  <a:srgbClr val="6A9955"/>
                </a:solidFill>
                <a:effectLst/>
                <a:latin typeface="Consolas" panose="020B0609020204030204" pitchFamily="49" charset="0"/>
              </a:rPr>
              <a:t>(</a:t>
            </a:r>
            <a:r>
              <a:rPr lang="zh-CN" altLang="en-US" sz="800" b="0" dirty="0">
                <a:solidFill>
                  <a:srgbClr val="6A9955"/>
                </a:solidFill>
                <a:effectLst/>
                <a:latin typeface="Consolas" panose="020B0609020204030204" pitchFamily="49" charset="0"/>
              </a:rPr>
              <a:t>如果有子菜单一块打印</a:t>
            </a:r>
            <a:r>
              <a:rPr lang="en-US" altLang="zh-CN" sz="800" b="0" dirty="0">
                <a:solidFill>
                  <a:srgbClr val="6A9955"/>
                </a:solidFill>
                <a:effectLst/>
                <a:latin typeface="Consolas" panose="020B0609020204030204" pitchFamily="49" charset="0"/>
              </a:rPr>
              <a:t>)</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err="1">
                <a:solidFill>
                  <a:srgbClr val="9CDCFE"/>
                </a:solidFill>
                <a:effectLst/>
                <a:latin typeface="Consolas" panose="020B0609020204030204" pitchFamily="49" charset="0"/>
              </a:rPr>
              <a:t>root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7" name="TextBox 16">
            <a:extLst>
              <a:ext uri="{FF2B5EF4-FFF2-40B4-BE49-F238E27FC236}">
                <a16:creationId xmlns:a16="http://schemas.microsoft.com/office/drawing/2014/main" id="{0BB3A1A4-24A0-657D-AE99-205349C03370}"/>
              </a:ext>
            </a:extLst>
          </p:cNvPr>
          <p:cNvSpPr txBox="1"/>
          <p:nvPr/>
        </p:nvSpPr>
        <p:spPr>
          <a:xfrm>
            <a:off x="6384042" y="550880"/>
            <a:ext cx="4281577" cy="276999"/>
          </a:xfrm>
          <a:prstGeom prst="rect">
            <a:avLst/>
          </a:prstGeom>
          <a:noFill/>
        </p:spPr>
        <p:txBody>
          <a:bodyPr wrap="square">
            <a:spAutoFit/>
          </a:bodyPr>
          <a:lstStyle/>
          <a:p>
            <a:r>
              <a:rPr lang="zh-CN" altLang="en-US" sz="1200" dirty="0">
                <a:solidFill>
                  <a:schemeClr val="accent1"/>
                </a:solidFill>
                <a:latin typeface="ui-monospace"/>
              </a:rPr>
              <a:t>树枝节点</a:t>
            </a:r>
            <a:r>
              <a:rPr lang="en-US" altLang="zh-CN" sz="1200" dirty="0">
                <a:solidFill>
                  <a:schemeClr val="accent1"/>
                </a:solidFill>
                <a:latin typeface="ui-monospace"/>
              </a:rPr>
              <a:t>(Composite)</a:t>
            </a:r>
            <a:r>
              <a:rPr lang="zh-CN" altLang="en-US" sz="1200" dirty="0">
                <a:solidFill>
                  <a:schemeClr val="accent1"/>
                </a:solidFill>
                <a:latin typeface="ui-monospace"/>
              </a:rPr>
              <a:t>：定义子组件的行为</a:t>
            </a:r>
            <a:endParaRPr lang="en-US" altLang="zh-CN" sz="1200" dirty="0">
              <a:solidFill>
                <a:schemeClr val="accent1"/>
              </a:solidFill>
              <a:latin typeface="ui-monospace"/>
            </a:endParaRPr>
          </a:p>
        </p:txBody>
      </p:sp>
      <p:sp>
        <p:nvSpPr>
          <p:cNvPr id="11" name="Rectangle: Rounded Corners 10">
            <a:extLst>
              <a:ext uri="{FF2B5EF4-FFF2-40B4-BE49-F238E27FC236}">
                <a16:creationId xmlns:a16="http://schemas.microsoft.com/office/drawing/2014/main" id="{39CCAA63-D408-575A-2707-9977F59D2404}"/>
              </a:ext>
            </a:extLst>
          </p:cNvPr>
          <p:cNvSpPr/>
          <p:nvPr/>
        </p:nvSpPr>
        <p:spPr>
          <a:xfrm>
            <a:off x="3212662" y="806605"/>
            <a:ext cx="3174182" cy="3639127"/>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菜单组件，菜单</a:t>
            </a:r>
            <a:r>
              <a:rPr lang="en-US" altLang="zh-CN" sz="800" b="0" dirty="0">
                <a:solidFill>
                  <a:srgbClr val="6A9955"/>
                </a:solidFill>
                <a:effectLst/>
                <a:latin typeface="Consolas" panose="020B0609020204030204" pitchFamily="49" charset="0"/>
              </a:rPr>
              <a:t>/</a:t>
            </a:r>
            <a:r>
              <a:rPr lang="zh-CN" altLang="en-US" sz="800" b="0" dirty="0">
                <a:solidFill>
                  <a:srgbClr val="6A9955"/>
                </a:solidFill>
                <a:effectLst/>
                <a:latin typeface="Consolas" panose="020B0609020204030204" pitchFamily="49" charset="0"/>
              </a:rPr>
              <a:t>菜单项都继承该类（抽象根节点）</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level</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添加菜单</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add</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throw</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UnsupportedOperationException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移除菜单</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remove</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throw</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UnsupportedOperationException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获取指定的子菜单</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getChild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throw</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UnsupportedOperationException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获取菜单名称</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getName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print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throw</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UnsupportedOperationException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3" name="Rectangle: Rounded Corners 12">
            <a:extLst>
              <a:ext uri="{FF2B5EF4-FFF2-40B4-BE49-F238E27FC236}">
                <a16:creationId xmlns:a16="http://schemas.microsoft.com/office/drawing/2014/main" id="{393BDD4D-884D-C547-2FFC-22E0C1D715AF}"/>
              </a:ext>
            </a:extLst>
          </p:cNvPr>
          <p:cNvSpPr/>
          <p:nvPr/>
        </p:nvSpPr>
        <p:spPr>
          <a:xfrm>
            <a:off x="6446010" y="800324"/>
            <a:ext cx="3796141" cy="3857318"/>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子菜单项（树枝节点）</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Menu</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List</a:t>
            </a:r>
            <a:r>
              <a:rPr lang="en-US" sz="800" b="0" dirty="0">
                <a:solidFill>
                  <a:srgbClr val="D4D4D4"/>
                </a:solidFill>
                <a:effectLst/>
                <a:latin typeface="Consolas" panose="020B0609020204030204" pitchFamily="49" charset="0"/>
              </a:rPr>
              <a:t>&lt;</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&gt; </a:t>
            </a:r>
            <a:r>
              <a:rPr lang="en-US" sz="800" b="0" dirty="0" err="1">
                <a:solidFill>
                  <a:srgbClr val="9CDCFE"/>
                </a:solidFill>
                <a:effectLst/>
                <a:latin typeface="Consolas" panose="020B0609020204030204" pitchFamily="49" charset="0"/>
              </a:rPr>
              <a:t>menuComponentList</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Menu</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level</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level</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level</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menuComponentList</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ArrayList</a:t>
            </a:r>
            <a:r>
              <a:rPr lang="en-US" sz="800" b="0" dirty="0">
                <a:solidFill>
                  <a:srgbClr val="D4D4D4"/>
                </a:solidFill>
                <a:effectLst/>
                <a:latin typeface="Consolas" panose="020B0609020204030204" pitchFamily="49" charset="0"/>
              </a:rPr>
              <a:t>&lt;</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&gt;();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add</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menuComponentList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remove</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menuComponentList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remove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getChild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menuComponentList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print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方便打印出层级效果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level;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(name);</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menuComponentList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menuComponent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4" name="Rectangle: Rounded Corners 13">
            <a:extLst>
              <a:ext uri="{FF2B5EF4-FFF2-40B4-BE49-F238E27FC236}">
                <a16:creationId xmlns:a16="http://schemas.microsoft.com/office/drawing/2014/main" id="{783793FA-0C6E-88C4-4B55-2821AE294B2A}"/>
              </a:ext>
            </a:extLst>
          </p:cNvPr>
          <p:cNvSpPr/>
          <p:nvPr/>
        </p:nvSpPr>
        <p:spPr>
          <a:xfrm>
            <a:off x="3212662" y="4730783"/>
            <a:ext cx="3174182" cy="2001103"/>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子菜单（叶子节点）</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MenuItem</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MenuComponent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MenuItem</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level</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level</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level</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print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方便打印出层级效果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level;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(name);</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5" name="TextBox 14">
            <a:extLst>
              <a:ext uri="{FF2B5EF4-FFF2-40B4-BE49-F238E27FC236}">
                <a16:creationId xmlns:a16="http://schemas.microsoft.com/office/drawing/2014/main" id="{5A59CB56-ED08-45C1-6AAB-9E43AF569FC9}"/>
              </a:ext>
            </a:extLst>
          </p:cNvPr>
          <p:cNvSpPr txBox="1"/>
          <p:nvPr/>
        </p:nvSpPr>
        <p:spPr>
          <a:xfrm>
            <a:off x="6349901" y="4657642"/>
            <a:ext cx="3887632" cy="276999"/>
          </a:xfrm>
          <a:prstGeom prst="rect">
            <a:avLst/>
          </a:prstGeom>
          <a:noFill/>
        </p:spPr>
        <p:txBody>
          <a:bodyPr wrap="square">
            <a:spAutoFit/>
          </a:bodyPr>
          <a:lstStyle/>
          <a:p>
            <a:r>
              <a:rPr lang="zh-CN" altLang="en-US" sz="1200" dirty="0">
                <a:solidFill>
                  <a:schemeClr val="accent1"/>
                </a:solidFill>
                <a:latin typeface="ui-monospace"/>
              </a:rPr>
              <a:t>调用</a:t>
            </a:r>
            <a:r>
              <a:rPr lang="en-US" altLang="zh-CN" sz="1200" dirty="0">
                <a:solidFill>
                  <a:schemeClr val="accent1"/>
                </a:solidFill>
                <a:latin typeface="ui-monospace"/>
              </a:rPr>
              <a:t>(Client)</a:t>
            </a:r>
          </a:p>
        </p:txBody>
      </p:sp>
      <p:sp>
        <p:nvSpPr>
          <p:cNvPr id="16" name="TextBox 15">
            <a:extLst>
              <a:ext uri="{FF2B5EF4-FFF2-40B4-BE49-F238E27FC236}">
                <a16:creationId xmlns:a16="http://schemas.microsoft.com/office/drawing/2014/main" id="{99662FFE-2805-A5BA-D00E-7CFD218DAF85}"/>
              </a:ext>
            </a:extLst>
          </p:cNvPr>
          <p:cNvSpPr txBox="1"/>
          <p:nvPr/>
        </p:nvSpPr>
        <p:spPr>
          <a:xfrm>
            <a:off x="3150569" y="4476201"/>
            <a:ext cx="4281577" cy="276999"/>
          </a:xfrm>
          <a:prstGeom prst="rect">
            <a:avLst/>
          </a:prstGeom>
          <a:noFill/>
        </p:spPr>
        <p:txBody>
          <a:bodyPr wrap="square">
            <a:spAutoFit/>
          </a:bodyPr>
          <a:lstStyle/>
          <a:p>
            <a:r>
              <a:rPr lang="zh-CN" altLang="en-US" sz="1200" dirty="0">
                <a:solidFill>
                  <a:schemeClr val="accent1"/>
                </a:solidFill>
                <a:latin typeface="ui-monospace"/>
              </a:rPr>
              <a:t>叶子节点</a:t>
            </a:r>
            <a:r>
              <a:rPr lang="en-US" altLang="zh-CN" sz="1200" dirty="0">
                <a:solidFill>
                  <a:schemeClr val="accent1"/>
                </a:solidFill>
                <a:latin typeface="ui-monospace"/>
              </a:rPr>
              <a:t>(Leaf)</a:t>
            </a:r>
          </a:p>
        </p:txBody>
      </p:sp>
      <p:sp>
        <p:nvSpPr>
          <p:cNvPr id="4" name="TextBox 3">
            <a:extLst>
              <a:ext uri="{FF2B5EF4-FFF2-40B4-BE49-F238E27FC236}">
                <a16:creationId xmlns:a16="http://schemas.microsoft.com/office/drawing/2014/main" id="{04FD9FA0-E187-E294-FB13-792D9E894BF4}"/>
              </a:ext>
            </a:extLst>
          </p:cNvPr>
          <p:cNvSpPr txBox="1"/>
          <p:nvPr/>
        </p:nvSpPr>
        <p:spPr>
          <a:xfrm>
            <a:off x="10287568" y="569352"/>
            <a:ext cx="1832470"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sp>
        <p:nvSpPr>
          <p:cNvPr id="5" name="TextBox 4">
            <a:extLst>
              <a:ext uri="{FF2B5EF4-FFF2-40B4-BE49-F238E27FC236}">
                <a16:creationId xmlns:a16="http://schemas.microsoft.com/office/drawing/2014/main" id="{314C47CA-5811-54A7-7602-9D4DF87A5340}"/>
              </a:ext>
            </a:extLst>
          </p:cNvPr>
          <p:cNvSpPr txBox="1"/>
          <p:nvPr/>
        </p:nvSpPr>
        <p:spPr>
          <a:xfrm>
            <a:off x="3150569" y="559273"/>
            <a:ext cx="4281577" cy="276999"/>
          </a:xfrm>
          <a:prstGeom prst="rect">
            <a:avLst/>
          </a:prstGeom>
          <a:noFill/>
        </p:spPr>
        <p:txBody>
          <a:bodyPr wrap="square">
            <a:spAutoFit/>
          </a:bodyPr>
          <a:lstStyle/>
          <a:p>
            <a:r>
              <a:rPr lang="zh-CN" altLang="en-US" sz="1200" dirty="0">
                <a:solidFill>
                  <a:schemeClr val="accent1"/>
                </a:solidFill>
                <a:latin typeface="ui-monospace"/>
              </a:rPr>
              <a:t>抽象根节点</a:t>
            </a:r>
            <a:r>
              <a:rPr lang="en-US" altLang="zh-CN" sz="1200" dirty="0">
                <a:solidFill>
                  <a:schemeClr val="accent1"/>
                </a:solidFill>
                <a:latin typeface="ui-monospace"/>
              </a:rPr>
              <a:t>(Component)</a:t>
            </a:r>
          </a:p>
        </p:txBody>
      </p:sp>
      <p:pic>
        <p:nvPicPr>
          <p:cNvPr id="2906" name="Picture 2905">
            <a:extLst>
              <a:ext uri="{FF2B5EF4-FFF2-40B4-BE49-F238E27FC236}">
                <a16:creationId xmlns:a16="http://schemas.microsoft.com/office/drawing/2014/main" id="{A0A9823A-BE11-1D81-09E1-7563C2898C13}"/>
              </a:ext>
            </a:extLst>
          </p:cNvPr>
          <p:cNvPicPr>
            <a:picLocks noChangeAspect="1"/>
          </p:cNvPicPr>
          <p:nvPr/>
        </p:nvPicPr>
        <p:blipFill>
          <a:blip r:embed="rId2"/>
          <a:stretch>
            <a:fillRect/>
          </a:stretch>
        </p:blipFill>
        <p:spPr>
          <a:xfrm>
            <a:off x="10405647" y="864823"/>
            <a:ext cx="1539162" cy="3265404"/>
          </a:xfrm>
          <a:prstGeom prst="rect">
            <a:avLst/>
          </a:prstGeom>
        </p:spPr>
      </p:pic>
    </p:spTree>
    <p:extLst>
      <p:ext uri="{BB962C8B-B14F-4D97-AF65-F5344CB8AC3E}">
        <p14:creationId xmlns:p14="http://schemas.microsoft.com/office/powerpoint/2010/main" val="17103101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结构型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行为型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▶装饰器模式</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在不影响其他对象下，以</a:t>
              </a:r>
              <a:r>
                <a:rPr lang="zh-CN" altLang="en-US" sz="1200" b="1" dirty="0">
                  <a:solidFill>
                    <a:schemeClr val="accent1"/>
                  </a:solidFill>
                  <a:latin typeface="ui-monospace"/>
                </a:rPr>
                <a:t>动态</a:t>
              </a:r>
              <a:r>
                <a:rPr lang="zh-CN" altLang="en-US" sz="1200" dirty="0">
                  <a:solidFill>
                    <a:schemeClr val="accent1"/>
                  </a:solidFill>
                  <a:latin typeface="ui-monospace"/>
                </a:rPr>
                <a:t>、透明的方式给单个对象添加一些额外的职责。快餐和配料的随意搭配</a:t>
              </a:r>
              <a:endParaRPr lang="en-US" altLang="zh-CN" sz="1200" dirty="0">
                <a:solidFill>
                  <a:schemeClr val="accent1"/>
                </a:solidFill>
                <a:latin typeface="ui-monospace"/>
              </a:endParaRPr>
            </a:p>
          </p:txBody>
        </p:sp>
      </p:grpSp>
      <p:sp>
        <p:nvSpPr>
          <p:cNvPr id="11" name="Rectangle: Rounded Corners 10">
            <a:extLst>
              <a:ext uri="{FF2B5EF4-FFF2-40B4-BE49-F238E27FC236}">
                <a16:creationId xmlns:a16="http://schemas.microsoft.com/office/drawing/2014/main" id="{39CCAA63-D408-575A-2707-9977F59D2404}"/>
              </a:ext>
            </a:extLst>
          </p:cNvPr>
          <p:cNvSpPr/>
          <p:nvPr/>
        </p:nvSpPr>
        <p:spPr>
          <a:xfrm>
            <a:off x="3196195" y="806605"/>
            <a:ext cx="2839395" cy="3231655"/>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快餐接口</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float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price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desc</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float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price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desc</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price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price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desc</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desc</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setPrice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float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price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price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price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float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getPrice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price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setDesc</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desc</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desc</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desc</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getDesc</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desc</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float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cost</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获取价格</a:t>
            </a:r>
            <a:endParaRPr lang="zh-CN" altLang="en-US" sz="800" b="0" dirty="0">
              <a:solidFill>
                <a:srgbClr val="D4D4D4"/>
              </a:solidFill>
              <a:effectLst/>
              <a:latin typeface="Consolas" panose="020B0609020204030204" pitchFamily="49" charset="0"/>
            </a:endParaRPr>
          </a:p>
          <a:p>
            <a:r>
              <a:rPr lang="en-US" altLang="zh-CN" sz="800" b="0" dirty="0">
                <a:solidFill>
                  <a:srgbClr val="D4D4D4"/>
                </a:solidFill>
                <a:effectLst/>
                <a:latin typeface="Consolas" panose="020B0609020204030204" pitchFamily="49" charset="0"/>
              </a:rPr>
              <a:t>}</a:t>
            </a:r>
          </a:p>
        </p:txBody>
      </p:sp>
      <p:sp>
        <p:nvSpPr>
          <p:cNvPr id="5" name="TextBox 36">
            <a:extLst>
              <a:ext uri="{FF2B5EF4-FFF2-40B4-BE49-F238E27FC236}">
                <a16:creationId xmlns:a16="http://schemas.microsoft.com/office/drawing/2014/main" id="{1F72A5B2-A753-47B9-ED9D-DC2329BC8586}"/>
              </a:ext>
            </a:extLst>
          </p:cNvPr>
          <p:cNvSpPr txBox="1"/>
          <p:nvPr/>
        </p:nvSpPr>
        <p:spPr>
          <a:xfrm>
            <a:off x="3150568" y="563384"/>
            <a:ext cx="2839395" cy="276999"/>
          </a:xfrm>
          <a:prstGeom prst="rect">
            <a:avLst/>
          </a:prstGeom>
          <a:noFill/>
        </p:spPr>
        <p:txBody>
          <a:bodyPr wrap="square">
            <a:spAutoFit/>
          </a:bodyPr>
          <a:lstStyle/>
          <a:p>
            <a:r>
              <a:rPr lang="zh-CN" altLang="en-US" sz="1200" dirty="0">
                <a:solidFill>
                  <a:schemeClr val="accent1"/>
                </a:solidFill>
                <a:latin typeface="ui-monospace"/>
              </a:rPr>
              <a:t>抽象构件角色</a:t>
            </a:r>
            <a:r>
              <a:rPr lang="en-US" altLang="zh-CN" sz="1200" dirty="0">
                <a:solidFill>
                  <a:schemeClr val="accent1"/>
                </a:solidFill>
                <a:latin typeface="ui-monospace"/>
              </a:rPr>
              <a:t>(Component)</a:t>
            </a:r>
          </a:p>
        </p:txBody>
      </p:sp>
      <p:sp>
        <p:nvSpPr>
          <p:cNvPr id="4" name="Rectangle: Rounded Corners 3">
            <a:extLst>
              <a:ext uri="{FF2B5EF4-FFF2-40B4-BE49-F238E27FC236}">
                <a16:creationId xmlns:a16="http://schemas.microsoft.com/office/drawing/2014/main" id="{7D198F68-2F73-5DF1-C9CC-9DA166590AC0}"/>
              </a:ext>
            </a:extLst>
          </p:cNvPr>
          <p:cNvSpPr/>
          <p:nvPr/>
        </p:nvSpPr>
        <p:spPr>
          <a:xfrm>
            <a:off x="3196195" y="4494328"/>
            <a:ext cx="2839395" cy="2248323"/>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炒饭</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FriedRice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FriedRice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super</a:t>
            </a:r>
            <a:r>
              <a:rPr lang="en-US" sz="800" b="0" dirty="0">
                <a:solidFill>
                  <a:srgbClr val="D4D4D4"/>
                </a:solidFill>
                <a:effectLst/>
                <a:latin typeface="Consolas" panose="020B0609020204030204" pitchFamily="49" charset="0"/>
              </a:rPr>
              <a:t>(</a:t>
            </a:r>
            <a:r>
              <a:rPr lang="en-US" sz="800" b="0" dirty="0">
                <a:solidFill>
                  <a:srgbClr val="B5CEA8"/>
                </a:solidFill>
                <a:effectLst/>
                <a:latin typeface="Consolas" panose="020B0609020204030204" pitchFamily="49" charset="0"/>
              </a:rPr>
              <a:t>10</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炒饭</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float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cost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getPrice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a:p>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炒面</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FriedNoodles</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FriedNoodles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super</a:t>
            </a:r>
            <a:r>
              <a:rPr lang="en-US" sz="800" b="0" dirty="0">
                <a:solidFill>
                  <a:srgbClr val="D4D4D4"/>
                </a:solidFill>
                <a:effectLst/>
                <a:latin typeface="Consolas" panose="020B0609020204030204" pitchFamily="49" charset="0"/>
              </a:rPr>
              <a:t>(</a:t>
            </a:r>
            <a:r>
              <a:rPr lang="en-US" sz="800" b="0" dirty="0">
                <a:solidFill>
                  <a:srgbClr val="B5CEA8"/>
                </a:solidFill>
                <a:effectLst/>
                <a:latin typeface="Consolas" panose="020B0609020204030204" pitchFamily="49" charset="0"/>
              </a:rPr>
              <a:t>12</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炒面</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float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cost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getPrice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7" name="Rectangle: Rounded Corners 6">
            <a:extLst>
              <a:ext uri="{FF2B5EF4-FFF2-40B4-BE49-F238E27FC236}">
                <a16:creationId xmlns:a16="http://schemas.microsoft.com/office/drawing/2014/main" id="{97AB75E3-A9B0-25D9-A8AF-0348ACF1A27B}"/>
              </a:ext>
            </a:extLst>
          </p:cNvPr>
          <p:cNvSpPr/>
          <p:nvPr/>
        </p:nvSpPr>
        <p:spPr>
          <a:xfrm>
            <a:off x="6071981" y="806604"/>
            <a:ext cx="3506129" cy="2056321"/>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配料类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Garnish</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Garnish</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float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price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desc</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super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price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desc</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getFastFood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setFastFood</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8" name="Rectangle: Rounded Corners 7">
            <a:extLst>
              <a:ext uri="{FF2B5EF4-FFF2-40B4-BE49-F238E27FC236}">
                <a16:creationId xmlns:a16="http://schemas.microsoft.com/office/drawing/2014/main" id="{E6029137-85E2-C47D-AC63-43A74477C56D}"/>
              </a:ext>
            </a:extLst>
          </p:cNvPr>
          <p:cNvSpPr/>
          <p:nvPr/>
        </p:nvSpPr>
        <p:spPr>
          <a:xfrm>
            <a:off x="6077528" y="3123096"/>
            <a:ext cx="3509818" cy="3628131"/>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鸡蛋配料</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Egg</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Garnish</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Egg</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super</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鸡蛋</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float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cost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getPrice</a:t>
            </a:r>
            <a:r>
              <a:rPr lang="en-US" sz="800" b="0" dirty="0">
                <a:solidFill>
                  <a:srgbClr val="D4D4D4"/>
                </a:solidFill>
                <a:effectLst/>
                <a:latin typeface="Consolas" panose="020B0609020204030204" pitchFamily="49" charset="0"/>
              </a:rPr>
              <a:t>() + </a:t>
            </a:r>
            <a:r>
              <a:rPr lang="en-US" sz="800" b="0" dirty="0" err="1">
                <a:solidFill>
                  <a:srgbClr val="DCDCAA"/>
                </a:solidFill>
                <a:effectLst/>
                <a:latin typeface="Consolas" panose="020B0609020204030204" pitchFamily="49" charset="0"/>
              </a:rPr>
              <a:t>getFastFood</a:t>
            </a:r>
            <a:r>
              <a:rPr lang="en-US" sz="800" b="0" dirty="0">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getPrice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getDesc</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getDesc</a:t>
            </a:r>
            <a:r>
              <a:rPr lang="en-US" sz="800" b="0" dirty="0">
                <a:solidFill>
                  <a:srgbClr val="D4D4D4"/>
                </a:solidFill>
                <a:effectLst/>
                <a:latin typeface="Consolas" panose="020B0609020204030204" pitchFamily="49" charset="0"/>
              </a:rPr>
              <a:t>() + </a:t>
            </a:r>
            <a:r>
              <a:rPr lang="en-US" sz="800" b="0" dirty="0" err="1">
                <a:solidFill>
                  <a:srgbClr val="DCDCAA"/>
                </a:solidFill>
                <a:effectLst/>
                <a:latin typeface="Consolas" panose="020B0609020204030204" pitchFamily="49" charset="0"/>
              </a:rPr>
              <a:t>getFastFood</a:t>
            </a:r>
            <a:r>
              <a:rPr lang="en-US" sz="800" b="0" dirty="0">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getDesc</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培根配料</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Bacon</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Garnish</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Bacon</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super</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2</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培根</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float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cost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getPrice</a:t>
            </a:r>
            <a:r>
              <a:rPr lang="en-US" sz="800" b="0" dirty="0">
                <a:solidFill>
                  <a:srgbClr val="D4D4D4"/>
                </a:solidFill>
                <a:effectLst/>
                <a:latin typeface="Consolas" panose="020B0609020204030204" pitchFamily="49" charset="0"/>
              </a:rPr>
              <a:t>() + </a:t>
            </a:r>
            <a:r>
              <a:rPr lang="en-US" sz="800" b="0" dirty="0" err="1">
                <a:solidFill>
                  <a:srgbClr val="DCDCAA"/>
                </a:solidFill>
                <a:effectLst/>
                <a:latin typeface="Consolas" panose="020B0609020204030204" pitchFamily="49" charset="0"/>
              </a:rPr>
              <a:t>getFastFood</a:t>
            </a:r>
            <a:r>
              <a:rPr lang="en-US" sz="800" b="0" dirty="0">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getPrice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getDesc</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getDesc</a:t>
            </a:r>
            <a:r>
              <a:rPr lang="en-US" sz="800" b="0" dirty="0">
                <a:solidFill>
                  <a:srgbClr val="D4D4D4"/>
                </a:solidFill>
                <a:effectLst/>
                <a:latin typeface="Consolas" panose="020B0609020204030204" pitchFamily="49" charset="0"/>
              </a:rPr>
              <a:t>() + </a:t>
            </a:r>
            <a:r>
              <a:rPr lang="en-US" sz="800" b="0" dirty="0" err="1">
                <a:solidFill>
                  <a:srgbClr val="DCDCAA"/>
                </a:solidFill>
                <a:effectLst/>
                <a:latin typeface="Consolas" panose="020B0609020204030204" pitchFamily="49" charset="0"/>
              </a:rPr>
              <a:t>getFastFood</a:t>
            </a:r>
            <a:r>
              <a:rPr lang="en-US" sz="800" b="0" dirty="0">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getDesc</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9" name="Rectangle: Rounded Corners 8">
            <a:extLst>
              <a:ext uri="{FF2B5EF4-FFF2-40B4-BE49-F238E27FC236}">
                <a16:creationId xmlns:a16="http://schemas.microsoft.com/office/drawing/2014/main" id="{714E2DA3-7CDC-D053-EA35-19A784B9D463}"/>
              </a:ext>
            </a:extLst>
          </p:cNvPr>
          <p:cNvSpPr/>
          <p:nvPr/>
        </p:nvSpPr>
        <p:spPr>
          <a:xfrm>
            <a:off x="9629284" y="812789"/>
            <a:ext cx="2461116" cy="2123808"/>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测试类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点一份炒饭和价格</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food</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FriedRice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food</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getDesc</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 "</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food</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cost</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元</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点一份加鸡蛋的炒饭和价格</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FastFood</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food1</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FriedRice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food1</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Egg</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food1</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food1</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getDesc</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 "</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food1</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cost</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元</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a:t>
            </a:r>
          </a:p>
        </p:txBody>
      </p:sp>
      <p:sp>
        <p:nvSpPr>
          <p:cNvPr id="10" name="TextBox 36">
            <a:extLst>
              <a:ext uri="{FF2B5EF4-FFF2-40B4-BE49-F238E27FC236}">
                <a16:creationId xmlns:a16="http://schemas.microsoft.com/office/drawing/2014/main" id="{6C30738C-7228-39F7-2DE4-4E2D7BF159CD}"/>
              </a:ext>
            </a:extLst>
          </p:cNvPr>
          <p:cNvSpPr txBox="1"/>
          <p:nvPr/>
        </p:nvSpPr>
        <p:spPr>
          <a:xfrm>
            <a:off x="3135785" y="4217329"/>
            <a:ext cx="2839395" cy="276999"/>
          </a:xfrm>
          <a:prstGeom prst="rect">
            <a:avLst/>
          </a:prstGeom>
          <a:noFill/>
        </p:spPr>
        <p:txBody>
          <a:bodyPr wrap="square">
            <a:spAutoFit/>
          </a:bodyPr>
          <a:lstStyle/>
          <a:p>
            <a:r>
              <a:rPr lang="zh-CN" altLang="en-US" sz="1200" dirty="0">
                <a:solidFill>
                  <a:schemeClr val="accent1"/>
                </a:solidFill>
                <a:latin typeface="ui-monospace"/>
              </a:rPr>
              <a:t>具体构件角色</a:t>
            </a:r>
            <a:r>
              <a:rPr lang="en-US" altLang="zh-CN" sz="1200" dirty="0">
                <a:solidFill>
                  <a:schemeClr val="accent1"/>
                </a:solidFill>
                <a:latin typeface="ui-monospace"/>
              </a:rPr>
              <a:t>(</a:t>
            </a:r>
            <a:r>
              <a:rPr lang="en-US" altLang="zh-CN" sz="1200" dirty="0" err="1">
                <a:solidFill>
                  <a:schemeClr val="accent1"/>
                </a:solidFill>
                <a:latin typeface="ui-monospace"/>
              </a:rPr>
              <a:t>ConcreteComponent</a:t>
            </a:r>
            <a:r>
              <a:rPr lang="en-US" altLang="zh-CN" sz="1200" dirty="0">
                <a:solidFill>
                  <a:schemeClr val="accent1"/>
                </a:solidFill>
                <a:latin typeface="ui-monospace"/>
              </a:rPr>
              <a:t>)</a:t>
            </a:r>
          </a:p>
        </p:txBody>
      </p:sp>
      <p:sp>
        <p:nvSpPr>
          <p:cNvPr id="12" name="TextBox 36">
            <a:extLst>
              <a:ext uri="{FF2B5EF4-FFF2-40B4-BE49-F238E27FC236}">
                <a16:creationId xmlns:a16="http://schemas.microsoft.com/office/drawing/2014/main" id="{B845444F-07C9-BDC3-270C-E7AC6AD91281}"/>
              </a:ext>
            </a:extLst>
          </p:cNvPr>
          <p:cNvSpPr txBox="1"/>
          <p:nvPr/>
        </p:nvSpPr>
        <p:spPr>
          <a:xfrm>
            <a:off x="6017118" y="577256"/>
            <a:ext cx="2839395" cy="276999"/>
          </a:xfrm>
          <a:prstGeom prst="rect">
            <a:avLst/>
          </a:prstGeom>
          <a:noFill/>
        </p:spPr>
        <p:txBody>
          <a:bodyPr wrap="square">
            <a:spAutoFit/>
          </a:bodyPr>
          <a:lstStyle/>
          <a:p>
            <a:r>
              <a:rPr lang="zh-CN" altLang="en-US" sz="1200" dirty="0">
                <a:solidFill>
                  <a:schemeClr val="accent1"/>
                </a:solidFill>
                <a:latin typeface="ui-monospace"/>
              </a:rPr>
              <a:t>抽象装饰角色</a:t>
            </a:r>
            <a:r>
              <a:rPr lang="en-US" altLang="zh-CN" sz="1200" dirty="0">
                <a:solidFill>
                  <a:schemeClr val="accent1"/>
                </a:solidFill>
                <a:latin typeface="ui-monospace"/>
              </a:rPr>
              <a:t>(Decorator)</a:t>
            </a:r>
          </a:p>
        </p:txBody>
      </p:sp>
      <p:sp>
        <p:nvSpPr>
          <p:cNvPr id="13" name="TextBox 36">
            <a:extLst>
              <a:ext uri="{FF2B5EF4-FFF2-40B4-BE49-F238E27FC236}">
                <a16:creationId xmlns:a16="http://schemas.microsoft.com/office/drawing/2014/main" id="{1938DC19-DBD8-D998-D43A-0D36F2EAC457}"/>
              </a:ext>
            </a:extLst>
          </p:cNvPr>
          <p:cNvSpPr txBox="1"/>
          <p:nvPr/>
        </p:nvSpPr>
        <p:spPr>
          <a:xfrm>
            <a:off x="6035037" y="2862926"/>
            <a:ext cx="2839395" cy="276999"/>
          </a:xfrm>
          <a:prstGeom prst="rect">
            <a:avLst/>
          </a:prstGeom>
          <a:noFill/>
        </p:spPr>
        <p:txBody>
          <a:bodyPr wrap="square">
            <a:spAutoFit/>
          </a:bodyPr>
          <a:lstStyle/>
          <a:p>
            <a:r>
              <a:rPr lang="zh-CN" altLang="en-US" sz="1200" dirty="0">
                <a:solidFill>
                  <a:schemeClr val="accent1"/>
                </a:solidFill>
                <a:latin typeface="ui-monospace"/>
              </a:rPr>
              <a:t>具体装饰角色</a:t>
            </a:r>
            <a:r>
              <a:rPr lang="en-US" altLang="zh-CN" sz="1200" dirty="0">
                <a:solidFill>
                  <a:schemeClr val="accent1"/>
                </a:solidFill>
                <a:latin typeface="ui-monospace"/>
              </a:rPr>
              <a:t>(</a:t>
            </a:r>
            <a:r>
              <a:rPr lang="en-US" altLang="zh-CN" sz="1200" dirty="0" err="1">
                <a:solidFill>
                  <a:schemeClr val="accent1"/>
                </a:solidFill>
                <a:latin typeface="ui-monospace"/>
              </a:rPr>
              <a:t>ConcreteDecorator</a:t>
            </a:r>
            <a:r>
              <a:rPr lang="en-US" altLang="zh-CN" sz="1200" dirty="0">
                <a:solidFill>
                  <a:schemeClr val="accent1"/>
                </a:solidFill>
                <a:latin typeface="ui-monospace"/>
              </a:rPr>
              <a:t>)</a:t>
            </a:r>
          </a:p>
        </p:txBody>
      </p:sp>
      <p:sp>
        <p:nvSpPr>
          <p:cNvPr id="14" name="TextBox 36">
            <a:extLst>
              <a:ext uri="{FF2B5EF4-FFF2-40B4-BE49-F238E27FC236}">
                <a16:creationId xmlns:a16="http://schemas.microsoft.com/office/drawing/2014/main" id="{D7F5A756-CF48-38C3-8548-A366BAF7B933}"/>
              </a:ext>
            </a:extLst>
          </p:cNvPr>
          <p:cNvSpPr txBox="1"/>
          <p:nvPr/>
        </p:nvSpPr>
        <p:spPr>
          <a:xfrm>
            <a:off x="9578110" y="568248"/>
            <a:ext cx="2461116" cy="276999"/>
          </a:xfrm>
          <a:prstGeom prst="rect">
            <a:avLst/>
          </a:prstGeom>
          <a:noFill/>
        </p:spPr>
        <p:txBody>
          <a:bodyPr wrap="square">
            <a:spAutoFit/>
          </a:bodyPr>
          <a:lstStyle/>
          <a:p>
            <a:r>
              <a:rPr lang="zh-CN" altLang="en-US" sz="1200" dirty="0">
                <a:solidFill>
                  <a:schemeClr val="accent1"/>
                </a:solidFill>
                <a:latin typeface="ui-monospace"/>
              </a:rPr>
              <a:t>调用</a:t>
            </a:r>
            <a:endParaRPr lang="en-US" altLang="zh-CN" sz="1200" dirty="0">
              <a:solidFill>
                <a:schemeClr val="accent1"/>
              </a:solidFill>
              <a:latin typeface="ui-monospace"/>
            </a:endParaRPr>
          </a:p>
        </p:txBody>
      </p:sp>
      <p:sp>
        <p:nvSpPr>
          <p:cNvPr id="16" name="TextBox 36">
            <a:extLst>
              <a:ext uri="{FF2B5EF4-FFF2-40B4-BE49-F238E27FC236}">
                <a16:creationId xmlns:a16="http://schemas.microsoft.com/office/drawing/2014/main" id="{F3532793-A518-853F-4F17-4E33728631A6}"/>
              </a:ext>
            </a:extLst>
          </p:cNvPr>
          <p:cNvSpPr txBox="1"/>
          <p:nvPr/>
        </p:nvSpPr>
        <p:spPr>
          <a:xfrm>
            <a:off x="9587346" y="2955098"/>
            <a:ext cx="2461116"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pic>
        <p:nvPicPr>
          <p:cNvPr id="2834" name="Picture 2833">
            <a:extLst>
              <a:ext uri="{FF2B5EF4-FFF2-40B4-BE49-F238E27FC236}">
                <a16:creationId xmlns:a16="http://schemas.microsoft.com/office/drawing/2014/main" id="{9C6C220D-B79F-0B5E-B2EC-BF157EA40F98}"/>
              </a:ext>
            </a:extLst>
          </p:cNvPr>
          <p:cNvPicPr>
            <a:picLocks noChangeAspect="1"/>
          </p:cNvPicPr>
          <p:nvPr/>
        </p:nvPicPr>
        <p:blipFill>
          <a:blip r:embed="rId2"/>
          <a:stretch>
            <a:fillRect/>
          </a:stretch>
        </p:blipFill>
        <p:spPr>
          <a:xfrm>
            <a:off x="9712811" y="3234226"/>
            <a:ext cx="2335651" cy="1966205"/>
          </a:xfrm>
          <a:prstGeom prst="rect">
            <a:avLst/>
          </a:prstGeom>
        </p:spPr>
      </p:pic>
    </p:spTree>
    <p:extLst>
      <p:ext uri="{BB962C8B-B14F-4D97-AF65-F5344CB8AC3E}">
        <p14:creationId xmlns:p14="http://schemas.microsoft.com/office/powerpoint/2010/main" val="2931677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结构型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行为型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▶外观模式</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为多个复杂子系统中的接口提供对外的一个统一的接口或界面。智能控制平台统一控制灯光，电视和空调</a:t>
              </a:r>
              <a:endParaRPr lang="en-US" altLang="zh-CN" sz="1200" dirty="0">
                <a:solidFill>
                  <a:schemeClr val="accent1"/>
                </a:solidFill>
                <a:latin typeface="ui-monospace"/>
              </a:endParaRPr>
            </a:p>
          </p:txBody>
        </p:sp>
      </p:grpSp>
      <p:sp>
        <p:nvSpPr>
          <p:cNvPr id="11" name="Rectangle: Rounded Corners 10">
            <a:extLst>
              <a:ext uri="{FF2B5EF4-FFF2-40B4-BE49-F238E27FC236}">
                <a16:creationId xmlns:a16="http://schemas.microsoft.com/office/drawing/2014/main" id="{39CCAA63-D408-575A-2707-9977F59D2404}"/>
              </a:ext>
            </a:extLst>
          </p:cNvPr>
          <p:cNvSpPr/>
          <p:nvPr/>
        </p:nvSpPr>
        <p:spPr>
          <a:xfrm>
            <a:off x="3196195" y="806605"/>
            <a:ext cx="3278547" cy="445812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智能音箱</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SmartAppliancesFacade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Light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light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TV</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tv</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AirCondition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airCondition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SmartAppliancesFacade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light</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Light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tv</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TV</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airCondition</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AirCondition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say</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message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contains</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打开</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else</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message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contains</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关闭</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off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else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我还听不懂你说的！！！</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    }</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起床后一键开电器</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起床了</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light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tv</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airCondition</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睡觉一键关电器</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off</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睡觉了</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light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off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tv</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off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airCondition</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off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5" name="TextBox 36">
            <a:extLst>
              <a:ext uri="{FF2B5EF4-FFF2-40B4-BE49-F238E27FC236}">
                <a16:creationId xmlns:a16="http://schemas.microsoft.com/office/drawing/2014/main" id="{1F72A5B2-A753-47B9-ED9D-DC2329BC8586}"/>
              </a:ext>
            </a:extLst>
          </p:cNvPr>
          <p:cNvSpPr txBox="1"/>
          <p:nvPr/>
        </p:nvSpPr>
        <p:spPr>
          <a:xfrm>
            <a:off x="3150568" y="563384"/>
            <a:ext cx="2839395" cy="276999"/>
          </a:xfrm>
          <a:prstGeom prst="rect">
            <a:avLst/>
          </a:prstGeom>
          <a:noFill/>
        </p:spPr>
        <p:txBody>
          <a:bodyPr wrap="square">
            <a:spAutoFit/>
          </a:bodyPr>
          <a:lstStyle/>
          <a:p>
            <a:r>
              <a:rPr lang="zh-CN" altLang="en-US" sz="1200" dirty="0">
                <a:solidFill>
                  <a:schemeClr val="accent1"/>
                </a:solidFill>
                <a:latin typeface="ui-monospace"/>
              </a:rPr>
              <a:t>外观角色</a:t>
            </a:r>
            <a:r>
              <a:rPr lang="en-US" altLang="zh-CN" sz="1200" dirty="0">
                <a:solidFill>
                  <a:schemeClr val="accent1"/>
                </a:solidFill>
                <a:latin typeface="ui-monospace"/>
              </a:rPr>
              <a:t>(Facade)</a:t>
            </a:r>
          </a:p>
        </p:txBody>
      </p:sp>
      <p:sp>
        <p:nvSpPr>
          <p:cNvPr id="15" name="TextBox 36">
            <a:extLst>
              <a:ext uri="{FF2B5EF4-FFF2-40B4-BE49-F238E27FC236}">
                <a16:creationId xmlns:a16="http://schemas.microsoft.com/office/drawing/2014/main" id="{025898D8-A566-EFD0-DF8E-764ADA8AF65D}"/>
              </a:ext>
            </a:extLst>
          </p:cNvPr>
          <p:cNvSpPr txBox="1"/>
          <p:nvPr/>
        </p:nvSpPr>
        <p:spPr>
          <a:xfrm>
            <a:off x="6423514" y="563384"/>
            <a:ext cx="2839395" cy="276999"/>
          </a:xfrm>
          <a:prstGeom prst="rect">
            <a:avLst/>
          </a:prstGeom>
          <a:noFill/>
        </p:spPr>
        <p:txBody>
          <a:bodyPr wrap="square">
            <a:spAutoFit/>
          </a:bodyPr>
          <a:lstStyle/>
          <a:p>
            <a:r>
              <a:rPr lang="zh-CN" altLang="en-US" sz="1200" dirty="0">
                <a:solidFill>
                  <a:schemeClr val="accent1"/>
                </a:solidFill>
                <a:latin typeface="ui-monospace"/>
              </a:rPr>
              <a:t>子系统角色</a:t>
            </a:r>
            <a:r>
              <a:rPr lang="en-US" altLang="zh-CN" sz="1200" dirty="0">
                <a:solidFill>
                  <a:schemeClr val="accent1"/>
                </a:solidFill>
                <a:latin typeface="ui-monospace"/>
              </a:rPr>
              <a:t>(</a:t>
            </a:r>
            <a:r>
              <a:rPr lang="en-US" altLang="zh-CN" sz="1200" dirty="0" err="1">
                <a:solidFill>
                  <a:schemeClr val="accent1"/>
                </a:solidFill>
                <a:latin typeface="ui-monospace"/>
              </a:rPr>
              <a:t>SubSystem</a:t>
            </a:r>
            <a:r>
              <a:rPr lang="en-US" altLang="zh-CN" sz="1200" dirty="0">
                <a:solidFill>
                  <a:schemeClr val="accent1"/>
                </a:solidFill>
                <a:latin typeface="ui-monospace"/>
              </a:rPr>
              <a:t>)</a:t>
            </a:r>
          </a:p>
        </p:txBody>
      </p:sp>
      <p:sp>
        <p:nvSpPr>
          <p:cNvPr id="17" name="Rectangle: Rounded Corners 16">
            <a:extLst>
              <a:ext uri="{FF2B5EF4-FFF2-40B4-BE49-F238E27FC236}">
                <a16:creationId xmlns:a16="http://schemas.microsoft.com/office/drawing/2014/main" id="{959CB617-1E49-F25A-F57E-B837C369CDF5}"/>
              </a:ext>
            </a:extLst>
          </p:cNvPr>
          <p:cNvSpPr/>
          <p:nvPr/>
        </p:nvSpPr>
        <p:spPr>
          <a:xfrm>
            <a:off x="6520369" y="815841"/>
            <a:ext cx="2839395" cy="338674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灯类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Light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打开了灯</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off</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关闭了灯</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电视类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TV</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打开了电视</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off</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关闭了电视</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控制类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AirCondition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打开了空调</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off</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关闭了空调</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
        <p:nvSpPr>
          <p:cNvPr id="18" name="Rectangle: Rounded Corners 17">
            <a:extLst>
              <a:ext uri="{FF2B5EF4-FFF2-40B4-BE49-F238E27FC236}">
                <a16:creationId xmlns:a16="http://schemas.microsoft.com/office/drawing/2014/main" id="{C609B21D-E1D7-6856-D2A9-64AE035ABD37}"/>
              </a:ext>
            </a:extLst>
          </p:cNvPr>
          <p:cNvSpPr/>
          <p:nvPr/>
        </p:nvSpPr>
        <p:spPr>
          <a:xfrm>
            <a:off x="3196195" y="5531139"/>
            <a:ext cx="3922630" cy="1217440"/>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测试类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创建外观对象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SmartAppliancesFacade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facade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SmartAppliancesFacade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客户端直接与外观对象进行交互</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facade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say</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打开家电</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facade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say</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关闭家电</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
        <p:nvSpPr>
          <p:cNvPr id="19" name="TextBox 36">
            <a:extLst>
              <a:ext uri="{FF2B5EF4-FFF2-40B4-BE49-F238E27FC236}">
                <a16:creationId xmlns:a16="http://schemas.microsoft.com/office/drawing/2014/main" id="{BC199E79-412D-67D0-19E2-D4B31B5D076C}"/>
              </a:ext>
            </a:extLst>
          </p:cNvPr>
          <p:cNvSpPr txBox="1"/>
          <p:nvPr/>
        </p:nvSpPr>
        <p:spPr>
          <a:xfrm>
            <a:off x="3097887" y="5282715"/>
            <a:ext cx="2839395" cy="276999"/>
          </a:xfrm>
          <a:prstGeom prst="rect">
            <a:avLst/>
          </a:prstGeom>
          <a:noFill/>
        </p:spPr>
        <p:txBody>
          <a:bodyPr wrap="square">
            <a:spAutoFit/>
          </a:bodyPr>
          <a:lstStyle/>
          <a:p>
            <a:r>
              <a:rPr lang="zh-CN" altLang="en-US" sz="1200" dirty="0">
                <a:solidFill>
                  <a:schemeClr val="accent1"/>
                </a:solidFill>
                <a:latin typeface="ui-monospace"/>
              </a:rPr>
              <a:t>调用</a:t>
            </a:r>
            <a:endParaRPr lang="en-US" altLang="zh-CN" sz="1200" dirty="0">
              <a:solidFill>
                <a:schemeClr val="accent1"/>
              </a:solidFill>
              <a:latin typeface="ui-monospace"/>
            </a:endParaRPr>
          </a:p>
        </p:txBody>
      </p:sp>
      <p:sp>
        <p:nvSpPr>
          <p:cNvPr id="20" name="TextBox 36">
            <a:extLst>
              <a:ext uri="{FF2B5EF4-FFF2-40B4-BE49-F238E27FC236}">
                <a16:creationId xmlns:a16="http://schemas.microsoft.com/office/drawing/2014/main" id="{D540E73A-294B-8436-9038-C1296F9B0CF0}"/>
              </a:ext>
            </a:extLst>
          </p:cNvPr>
          <p:cNvSpPr txBox="1"/>
          <p:nvPr/>
        </p:nvSpPr>
        <p:spPr>
          <a:xfrm>
            <a:off x="9359764" y="557234"/>
            <a:ext cx="2839395"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sp>
        <p:nvSpPr>
          <p:cNvPr id="21" name="TextBox 36">
            <a:extLst>
              <a:ext uri="{FF2B5EF4-FFF2-40B4-BE49-F238E27FC236}">
                <a16:creationId xmlns:a16="http://schemas.microsoft.com/office/drawing/2014/main" id="{29F978EA-29AB-2762-8C2A-C4B4BA233CE7}"/>
              </a:ext>
            </a:extLst>
          </p:cNvPr>
          <p:cNvSpPr txBox="1"/>
          <p:nvPr/>
        </p:nvSpPr>
        <p:spPr>
          <a:xfrm>
            <a:off x="7217132" y="5371602"/>
            <a:ext cx="4771667" cy="1384995"/>
          </a:xfrm>
          <a:prstGeom prst="rect">
            <a:avLst/>
          </a:prstGeom>
          <a:noFill/>
        </p:spPr>
        <p:txBody>
          <a:bodyPr wrap="square">
            <a:spAutoFit/>
          </a:bodyPr>
          <a:lstStyle/>
          <a:p>
            <a:r>
              <a:rPr lang="zh-CN" altLang="en-US" sz="1200" dirty="0">
                <a:solidFill>
                  <a:schemeClr val="accent1"/>
                </a:solidFill>
                <a:latin typeface="ui-monospace"/>
              </a:rPr>
              <a:t>缺点是 不符合开闭原则，当增加一个子系统时需修改外观类的代码</a:t>
            </a:r>
            <a:endParaRPr lang="en-US" altLang="zh-CN" sz="1200" dirty="0">
              <a:solidFill>
                <a:schemeClr val="accent1"/>
              </a:solidFill>
              <a:latin typeface="ui-monospace"/>
            </a:endParaRPr>
          </a:p>
          <a:p>
            <a:r>
              <a:rPr lang="zh-CN" altLang="en-US" sz="1200" dirty="0">
                <a:solidFill>
                  <a:schemeClr val="accent1"/>
                </a:solidFill>
                <a:latin typeface="ui-monospace"/>
              </a:rPr>
              <a:t>当一个复杂系统的子系统很多时，外观模式可以为系统设计一个简单的接口供外界访问。</a:t>
            </a:r>
          </a:p>
          <a:p>
            <a:r>
              <a:rPr lang="zh-CN" altLang="en-US" sz="1200" dirty="0">
                <a:solidFill>
                  <a:schemeClr val="accent1"/>
                </a:solidFill>
                <a:latin typeface="ui-monospace"/>
              </a:rPr>
              <a:t>当客户端与多个子系统之间存在很大的联系或依赖性，引入外观模式可将它们分离，从而提高子系统的独立性和可移植性。</a:t>
            </a:r>
            <a:endParaRPr lang="en-US" altLang="zh-CN" sz="1200" dirty="0">
              <a:solidFill>
                <a:schemeClr val="accent1"/>
              </a:solidFill>
              <a:latin typeface="ui-monospace"/>
            </a:endParaRPr>
          </a:p>
          <a:p>
            <a:r>
              <a:rPr lang="zh-CN" altLang="en-US" sz="1200" dirty="0">
                <a:solidFill>
                  <a:schemeClr val="accent1"/>
                </a:solidFill>
                <a:latin typeface="ui-monospace"/>
              </a:rPr>
              <a:t>对分层结构系统构建时，使用外观模式定义子系统中每层的入口点可以简化子系统之间的依赖关系。</a:t>
            </a:r>
          </a:p>
        </p:txBody>
      </p:sp>
      <p:pic>
        <p:nvPicPr>
          <p:cNvPr id="2872" name="Picture 2871">
            <a:extLst>
              <a:ext uri="{FF2B5EF4-FFF2-40B4-BE49-F238E27FC236}">
                <a16:creationId xmlns:a16="http://schemas.microsoft.com/office/drawing/2014/main" id="{DE41B8BB-4BE5-AE0A-AA90-8C9C9D4BA676}"/>
              </a:ext>
            </a:extLst>
          </p:cNvPr>
          <p:cNvPicPr>
            <a:picLocks noChangeAspect="1"/>
          </p:cNvPicPr>
          <p:nvPr/>
        </p:nvPicPr>
        <p:blipFill>
          <a:blip r:embed="rId2"/>
          <a:stretch>
            <a:fillRect/>
          </a:stretch>
        </p:blipFill>
        <p:spPr>
          <a:xfrm>
            <a:off x="9844543" y="815841"/>
            <a:ext cx="1407935" cy="3943914"/>
          </a:xfrm>
          <a:prstGeom prst="rect">
            <a:avLst/>
          </a:prstGeom>
        </p:spPr>
      </p:pic>
    </p:spTree>
    <p:extLst>
      <p:ext uri="{BB962C8B-B14F-4D97-AF65-F5344CB8AC3E}">
        <p14:creationId xmlns:p14="http://schemas.microsoft.com/office/powerpoint/2010/main" val="27050787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结构型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行为型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▶享元模式</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运用共享技术有效地支持大量细粒度的对象。俄罗斯方块中的不同形状的方块重复使用</a:t>
              </a:r>
              <a:endParaRPr lang="en-US" altLang="zh-CN" sz="1200" dirty="0">
                <a:solidFill>
                  <a:schemeClr val="accent1"/>
                </a:solidFill>
                <a:latin typeface="ui-monospace"/>
              </a:endParaRPr>
            </a:p>
          </p:txBody>
        </p:sp>
      </p:grpSp>
      <p:sp>
        <p:nvSpPr>
          <p:cNvPr id="11" name="Rectangle: Rounded Corners 10">
            <a:extLst>
              <a:ext uri="{FF2B5EF4-FFF2-40B4-BE49-F238E27FC236}">
                <a16:creationId xmlns:a16="http://schemas.microsoft.com/office/drawing/2014/main" id="{39CCAA63-D408-575A-2707-9977F59D2404}"/>
              </a:ext>
            </a:extLst>
          </p:cNvPr>
          <p:cNvSpPr/>
          <p:nvPr/>
        </p:nvSpPr>
        <p:spPr>
          <a:xfrm>
            <a:off x="3218736" y="816904"/>
            <a:ext cx="4562475" cy="119536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抽象享元角色</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AbstractBox</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获取图形的方法</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getShape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显示图形及颜色</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display</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color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方块形状：</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getShape</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 </a:t>
            </a:r>
            <a:r>
              <a:rPr lang="zh-CN" altLang="en-US" sz="800" b="0" dirty="0">
                <a:solidFill>
                  <a:srgbClr val="CE9178"/>
                </a:solidFill>
                <a:effectLst/>
                <a:latin typeface="Consolas" panose="020B0609020204030204" pitchFamily="49" charset="0"/>
              </a:rPr>
              <a:t>颜色：</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color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5" name="TextBox 36">
            <a:extLst>
              <a:ext uri="{FF2B5EF4-FFF2-40B4-BE49-F238E27FC236}">
                <a16:creationId xmlns:a16="http://schemas.microsoft.com/office/drawing/2014/main" id="{1F72A5B2-A753-47B9-ED9D-DC2329BC8586}"/>
              </a:ext>
            </a:extLst>
          </p:cNvPr>
          <p:cNvSpPr txBox="1"/>
          <p:nvPr/>
        </p:nvSpPr>
        <p:spPr>
          <a:xfrm>
            <a:off x="3150568" y="563384"/>
            <a:ext cx="2839395" cy="276999"/>
          </a:xfrm>
          <a:prstGeom prst="rect">
            <a:avLst/>
          </a:prstGeom>
          <a:noFill/>
        </p:spPr>
        <p:txBody>
          <a:bodyPr wrap="square">
            <a:spAutoFit/>
          </a:bodyPr>
          <a:lstStyle/>
          <a:p>
            <a:r>
              <a:rPr lang="zh-CN" altLang="en-US" sz="1200" dirty="0">
                <a:solidFill>
                  <a:schemeClr val="accent1"/>
                </a:solidFill>
                <a:latin typeface="ui-monospace"/>
              </a:rPr>
              <a:t>抽象享元角色</a:t>
            </a:r>
            <a:r>
              <a:rPr lang="en-US" altLang="zh-CN" sz="1200" dirty="0">
                <a:solidFill>
                  <a:schemeClr val="accent1"/>
                </a:solidFill>
                <a:latin typeface="ui-monospace"/>
              </a:rPr>
              <a:t>(Flyweight)</a:t>
            </a:r>
          </a:p>
        </p:txBody>
      </p:sp>
      <p:sp>
        <p:nvSpPr>
          <p:cNvPr id="20" name="TextBox 36">
            <a:extLst>
              <a:ext uri="{FF2B5EF4-FFF2-40B4-BE49-F238E27FC236}">
                <a16:creationId xmlns:a16="http://schemas.microsoft.com/office/drawing/2014/main" id="{D540E73A-294B-8436-9038-C1296F9B0CF0}"/>
              </a:ext>
            </a:extLst>
          </p:cNvPr>
          <p:cNvSpPr txBox="1"/>
          <p:nvPr/>
        </p:nvSpPr>
        <p:spPr>
          <a:xfrm>
            <a:off x="7781211" y="3247536"/>
            <a:ext cx="2839395"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sp>
        <p:nvSpPr>
          <p:cNvPr id="4" name="TextBox 36">
            <a:extLst>
              <a:ext uri="{FF2B5EF4-FFF2-40B4-BE49-F238E27FC236}">
                <a16:creationId xmlns:a16="http://schemas.microsoft.com/office/drawing/2014/main" id="{6BCA43C2-3E81-AA5C-1ECD-F899A8D34B70}"/>
              </a:ext>
            </a:extLst>
          </p:cNvPr>
          <p:cNvSpPr txBox="1"/>
          <p:nvPr/>
        </p:nvSpPr>
        <p:spPr>
          <a:xfrm>
            <a:off x="7781211" y="572478"/>
            <a:ext cx="2839395" cy="276999"/>
          </a:xfrm>
          <a:prstGeom prst="rect">
            <a:avLst/>
          </a:prstGeom>
          <a:noFill/>
        </p:spPr>
        <p:txBody>
          <a:bodyPr wrap="square">
            <a:spAutoFit/>
          </a:bodyPr>
          <a:lstStyle/>
          <a:p>
            <a:r>
              <a:rPr lang="zh-CN" altLang="en-US" sz="1200" dirty="0">
                <a:solidFill>
                  <a:schemeClr val="accent1"/>
                </a:solidFill>
                <a:latin typeface="ui-monospace"/>
              </a:rPr>
              <a:t>具体享元角色</a:t>
            </a:r>
            <a:r>
              <a:rPr lang="en-US" altLang="zh-CN" sz="1200" dirty="0">
                <a:solidFill>
                  <a:schemeClr val="accent1"/>
                </a:solidFill>
                <a:latin typeface="ui-monospace"/>
              </a:rPr>
              <a:t>(</a:t>
            </a:r>
            <a:r>
              <a:rPr lang="en-US" altLang="zh-CN" sz="1200" dirty="0" err="1">
                <a:solidFill>
                  <a:schemeClr val="accent1"/>
                </a:solidFill>
                <a:latin typeface="ui-monospace"/>
              </a:rPr>
              <a:t>ConcreteFlyweight</a:t>
            </a:r>
            <a:r>
              <a:rPr lang="en-US" altLang="zh-CN" sz="1200" dirty="0">
                <a:solidFill>
                  <a:schemeClr val="accent1"/>
                </a:solidFill>
                <a:latin typeface="ui-monospace"/>
              </a:rPr>
              <a:t>)</a:t>
            </a:r>
          </a:p>
        </p:txBody>
      </p:sp>
      <p:sp>
        <p:nvSpPr>
          <p:cNvPr id="7" name="TextBox 36">
            <a:extLst>
              <a:ext uri="{FF2B5EF4-FFF2-40B4-BE49-F238E27FC236}">
                <a16:creationId xmlns:a16="http://schemas.microsoft.com/office/drawing/2014/main" id="{A0E6EBC9-A127-6A9C-DE9A-404C543AF273}"/>
              </a:ext>
            </a:extLst>
          </p:cNvPr>
          <p:cNvSpPr txBox="1"/>
          <p:nvPr/>
        </p:nvSpPr>
        <p:spPr>
          <a:xfrm>
            <a:off x="10289442" y="578525"/>
            <a:ext cx="1695482" cy="461665"/>
          </a:xfrm>
          <a:prstGeom prst="rect">
            <a:avLst/>
          </a:prstGeom>
          <a:noFill/>
        </p:spPr>
        <p:txBody>
          <a:bodyPr wrap="square">
            <a:spAutoFit/>
          </a:bodyPr>
          <a:lstStyle/>
          <a:p>
            <a:r>
              <a:rPr lang="zh-CN" altLang="en-US" sz="1200" dirty="0">
                <a:solidFill>
                  <a:schemeClr val="accent1"/>
                </a:solidFill>
                <a:latin typeface="ui-monospace"/>
              </a:rPr>
              <a:t>非享元角色</a:t>
            </a:r>
            <a:r>
              <a:rPr lang="en-US" altLang="zh-CN" sz="1200" dirty="0">
                <a:solidFill>
                  <a:schemeClr val="accent1"/>
                </a:solidFill>
                <a:latin typeface="ui-monospace"/>
              </a:rPr>
              <a:t>(</a:t>
            </a:r>
            <a:r>
              <a:rPr lang="en-US" altLang="zh-CN" sz="1200" dirty="0" err="1">
                <a:solidFill>
                  <a:schemeClr val="accent1"/>
                </a:solidFill>
                <a:latin typeface="ui-monospace"/>
              </a:rPr>
              <a:t>UnsharableFlyweight</a:t>
            </a:r>
            <a:r>
              <a:rPr lang="en-US" altLang="zh-CN" sz="1200" dirty="0">
                <a:solidFill>
                  <a:schemeClr val="accent1"/>
                </a:solidFill>
                <a:latin typeface="ui-monospace"/>
              </a:rPr>
              <a:t>)</a:t>
            </a:r>
          </a:p>
        </p:txBody>
      </p:sp>
      <p:sp>
        <p:nvSpPr>
          <p:cNvPr id="8" name="TextBox 36">
            <a:extLst>
              <a:ext uri="{FF2B5EF4-FFF2-40B4-BE49-F238E27FC236}">
                <a16:creationId xmlns:a16="http://schemas.microsoft.com/office/drawing/2014/main" id="{DD6B8484-E459-633C-AD9B-48E88C41BB7A}"/>
              </a:ext>
            </a:extLst>
          </p:cNvPr>
          <p:cNvSpPr txBox="1"/>
          <p:nvPr/>
        </p:nvSpPr>
        <p:spPr>
          <a:xfrm>
            <a:off x="3123486" y="2008191"/>
            <a:ext cx="2839395" cy="276999"/>
          </a:xfrm>
          <a:prstGeom prst="rect">
            <a:avLst/>
          </a:prstGeom>
          <a:noFill/>
        </p:spPr>
        <p:txBody>
          <a:bodyPr wrap="square">
            <a:spAutoFit/>
          </a:bodyPr>
          <a:lstStyle/>
          <a:p>
            <a:r>
              <a:rPr lang="zh-CN" altLang="en-US" sz="1200" dirty="0">
                <a:solidFill>
                  <a:schemeClr val="accent1"/>
                </a:solidFill>
                <a:latin typeface="ui-monospace"/>
              </a:rPr>
              <a:t>享元工厂角色</a:t>
            </a:r>
            <a:r>
              <a:rPr lang="en-US" altLang="zh-CN" sz="1200" dirty="0">
                <a:solidFill>
                  <a:schemeClr val="accent1"/>
                </a:solidFill>
                <a:latin typeface="ui-monospace"/>
              </a:rPr>
              <a:t>(</a:t>
            </a:r>
            <a:r>
              <a:rPr lang="en-US" altLang="zh-CN" sz="1200" dirty="0" err="1">
                <a:solidFill>
                  <a:schemeClr val="accent1"/>
                </a:solidFill>
                <a:latin typeface="ui-monospace"/>
              </a:rPr>
              <a:t>FlyweightFactory</a:t>
            </a:r>
            <a:r>
              <a:rPr lang="en-US" altLang="zh-CN" sz="1200" dirty="0">
                <a:solidFill>
                  <a:schemeClr val="accent1"/>
                </a:solidFill>
                <a:latin typeface="ui-monospace"/>
              </a:rPr>
              <a:t>)</a:t>
            </a:r>
          </a:p>
        </p:txBody>
      </p:sp>
      <p:sp>
        <p:nvSpPr>
          <p:cNvPr id="9" name="Rectangle: Rounded Corners 8">
            <a:extLst>
              <a:ext uri="{FF2B5EF4-FFF2-40B4-BE49-F238E27FC236}">
                <a16:creationId xmlns:a16="http://schemas.microsoft.com/office/drawing/2014/main" id="{849731C2-EF85-BA83-70BA-1DCE9980763E}"/>
              </a:ext>
            </a:extLst>
          </p:cNvPr>
          <p:cNvSpPr/>
          <p:nvPr/>
        </p:nvSpPr>
        <p:spPr>
          <a:xfrm>
            <a:off x="7867410" y="820885"/>
            <a:ext cx="2450133" cy="243176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这</a:t>
            </a:r>
            <a:r>
              <a:rPr lang="en-US" altLang="zh-CN" sz="800" b="0" dirty="0">
                <a:solidFill>
                  <a:srgbClr val="6A9955"/>
                </a:solidFill>
                <a:effectLst/>
                <a:latin typeface="Consolas" panose="020B0609020204030204" pitchFamily="49" charset="0"/>
              </a:rPr>
              <a:t>3</a:t>
            </a:r>
            <a:r>
              <a:rPr lang="zh-CN" altLang="en-US" sz="800" b="0" dirty="0">
                <a:solidFill>
                  <a:srgbClr val="6A9955"/>
                </a:solidFill>
                <a:effectLst/>
                <a:latin typeface="Consolas" panose="020B0609020204030204" pitchFamily="49" charset="0"/>
              </a:rPr>
              <a:t>个都是具体享元角色</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IBox</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AbstractBox</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getShape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LBox</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AbstractBox</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getShape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"L"</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OBox</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AbstractBox</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getShape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"O"</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0" name="Rectangle: Rounded Corners 9">
            <a:extLst>
              <a:ext uri="{FF2B5EF4-FFF2-40B4-BE49-F238E27FC236}">
                <a16:creationId xmlns:a16="http://schemas.microsoft.com/office/drawing/2014/main" id="{3522DE43-48F6-D243-6308-437B834EC48D}"/>
              </a:ext>
            </a:extLst>
          </p:cNvPr>
          <p:cNvSpPr/>
          <p:nvPr/>
        </p:nvSpPr>
        <p:spPr>
          <a:xfrm>
            <a:off x="3218736" y="2284158"/>
            <a:ext cx="4562474" cy="3231654"/>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享元工厂角色，这里采用的是饿汉式单例</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BoxFactory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享元池</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HashMap</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AbstractBox</a:t>
            </a:r>
            <a:r>
              <a:rPr lang="en-US" sz="800" b="0" dirty="0">
                <a:solidFill>
                  <a:srgbClr val="D4D4D4"/>
                </a:solidFill>
                <a:effectLst/>
                <a:latin typeface="Consolas" panose="020B0609020204030204" pitchFamily="49" charset="0"/>
              </a:rPr>
              <a:t>&gt; </a:t>
            </a:r>
            <a:r>
              <a:rPr lang="en-US" sz="800" b="0" dirty="0">
                <a:solidFill>
                  <a:srgbClr val="9CDCFE"/>
                </a:solidFill>
                <a:effectLst/>
                <a:latin typeface="Consolas" panose="020B0609020204030204" pitchFamily="49" charset="0"/>
              </a:rPr>
              <a:t>map</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在构造方法中进行初始化操作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BoxFactory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map</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HashMap</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AbstractBox</a:t>
            </a:r>
            <a:r>
              <a:rPr lang="en-US" sz="800" b="0" dirty="0">
                <a:solidFill>
                  <a:srgbClr val="D4D4D4"/>
                </a:solidFill>
                <a:effectLst/>
                <a:latin typeface="Consolas" panose="020B0609020204030204" pitchFamily="49" charset="0"/>
              </a:rPr>
              <a:t>&gt;();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AbstractBox</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iBox</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IBox</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AbstractBox</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lBox</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LBox</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AbstractBox</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oBox</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OBox</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map</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put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"I"</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iBox</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map</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put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"L"</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lBox</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map</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put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"O"</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oBox</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提供一个方法获取该工厂类对象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final</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BoxFactory</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getInstance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SingletonHolder</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INSTANCE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SingletonHolder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final</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BoxFactory</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INSTANCE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BoxFactory</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根据名称获取图形对象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AbstractBox</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getBox</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key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map</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key</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2" name="Rectangle: Rounded Corners 11">
            <a:extLst>
              <a:ext uri="{FF2B5EF4-FFF2-40B4-BE49-F238E27FC236}">
                <a16:creationId xmlns:a16="http://schemas.microsoft.com/office/drawing/2014/main" id="{727EBA36-303B-40FB-593A-7D945B2E54E1}"/>
              </a:ext>
            </a:extLst>
          </p:cNvPr>
          <p:cNvSpPr/>
          <p:nvPr/>
        </p:nvSpPr>
        <p:spPr>
          <a:xfrm>
            <a:off x="3218737" y="5553912"/>
            <a:ext cx="4562474" cy="1275203"/>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获取</a:t>
            </a:r>
            <a:r>
              <a:rPr lang="en-US" sz="800" b="0" dirty="0">
                <a:solidFill>
                  <a:srgbClr val="6A9955"/>
                </a:solidFill>
                <a:effectLst/>
                <a:latin typeface="Consolas" panose="020B0609020204030204" pitchFamily="49" charset="0"/>
              </a:rPr>
              <a:t>I</a:t>
            </a:r>
            <a:r>
              <a:rPr lang="zh-CN" altLang="en-US" sz="800" b="0" dirty="0">
                <a:solidFill>
                  <a:srgbClr val="6A9955"/>
                </a:solidFill>
                <a:effectLst/>
                <a:latin typeface="Consolas" panose="020B0609020204030204" pitchFamily="49" charset="0"/>
              </a:rPr>
              <a:t>图形对象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AbstractBox</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box1</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BoxFactory</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getInstance</a:t>
            </a:r>
            <a:r>
              <a:rPr lang="en-US" sz="800" b="0" dirty="0">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getShape</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box1</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display</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灰色</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获取</a:t>
            </a:r>
            <a:r>
              <a:rPr lang="en-US" sz="800" b="0" dirty="0">
                <a:solidFill>
                  <a:srgbClr val="6A9955"/>
                </a:solidFill>
                <a:effectLst/>
                <a:latin typeface="Consolas" panose="020B0609020204030204" pitchFamily="49" charset="0"/>
              </a:rPr>
              <a:t>L</a:t>
            </a:r>
            <a:r>
              <a:rPr lang="zh-CN" altLang="en-US" sz="800" b="0" dirty="0">
                <a:solidFill>
                  <a:srgbClr val="6A9955"/>
                </a:solidFill>
                <a:effectLst/>
                <a:latin typeface="Consolas" panose="020B0609020204030204" pitchFamily="49" charset="0"/>
              </a:rPr>
              <a:t>图形对象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AbstractBox</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box2</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BoxFactory</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getInstance</a:t>
            </a:r>
            <a:r>
              <a:rPr lang="en-US" sz="800" b="0" dirty="0">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getShape</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"L"</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box2</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display</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绿色</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3" name="TextBox 36">
            <a:extLst>
              <a:ext uri="{FF2B5EF4-FFF2-40B4-BE49-F238E27FC236}">
                <a16:creationId xmlns:a16="http://schemas.microsoft.com/office/drawing/2014/main" id="{3560F4ED-A2A6-9EE6-53A9-7761E672A49F}"/>
              </a:ext>
            </a:extLst>
          </p:cNvPr>
          <p:cNvSpPr txBox="1"/>
          <p:nvPr/>
        </p:nvSpPr>
        <p:spPr>
          <a:xfrm>
            <a:off x="9010650" y="4657879"/>
            <a:ext cx="3095625" cy="2123658"/>
          </a:xfrm>
          <a:prstGeom prst="rect">
            <a:avLst/>
          </a:prstGeom>
          <a:noFill/>
        </p:spPr>
        <p:txBody>
          <a:bodyPr wrap="square">
            <a:spAutoFit/>
          </a:bodyPr>
          <a:lstStyle/>
          <a:p>
            <a:r>
              <a:rPr lang="zh-CN" altLang="en-US" sz="1200" dirty="0">
                <a:solidFill>
                  <a:schemeClr val="accent1"/>
                </a:solidFill>
                <a:latin typeface="ui-monospace"/>
              </a:rPr>
              <a:t>为了使对象可以共享，需要将享元对象的部分状态外部化，分离内部状态和外部状态，使程序逻辑复杂</a:t>
            </a:r>
            <a:endParaRPr lang="en-US" altLang="zh-CN" sz="1200" dirty="0">
              <a:solidFill>
                <a:schemeClr val="accent1"/>
              </a:solidFill>
              <a:latin typeface="ui-monospace"/>
            </a:endParaRPr>
          </a:p>
          <a:p>
            <a:r>
              <a:rPr lang="zh-CN" altLang="en-US" sz="1200" dirty="0">
                <a:solidFill>
                  <a:schemeClr val="accent1"/>
                </a:solidFill>
                <a:latin typeface="ui-monospace"/>
              </a:rPr>
              <a:t>一个系统有大量相同或者相似的对象，造成内存的大量耗费。</a:t>
            </a:r>
          </a:p>
          <a:p>
            <a:r>
              <a:rPr lang="zh-CN" altLang="en-US" sz="1200" dirty="0">
                <a:solidFill>
                  <a:schemeClr val="accent1"/>
                </a:solidFill>
                <a:latin typeface="ui-monospace"/>
              </a:rPr>
              <a:t>对象的大部分状态都可以外部化，可以将这些外部状态传入对象中。</a:t>
            </a:r>
          </a:p>
          <a:p>
            <a:r>
              <a:rPr lang="zh-CN" altLang="en-US" sz="1200" dirty="0">
                <a:solidFill>
                  <a:schemeClr val="accent1"/>
                </a:solidFill>
                <a:latin typeface="ui-monospace"/>
              </a:rPr>
              <a:t>在使用享元模式时需要维护一个存储享元对象的享元池，而这需要耗费一定的系统资源，因此，应当在需要多次重复使用享元对象时才值得使用享元模式。</a:t>
            </a:r>
            <a:endParaRPr lang="en-US" altLang="zh-CN" sz="1200" dirty="0">
              <a:solidFill>
                <a:schemeClr val="accent1"/>
              </a:solidFill>
              <a:latin typeface="ui-monospace"/>
            </a:endParaRPr>
          </a:p>
        </p:txBody>
      </p:sp>
      <p:pic>
        <p:nvPicPr>
          <p:cNvPr id="2787" name="Picture 2786">
            <a:extLst>
              <a:ext uri="{FF2B5EF4-FFF2-40B4-BE49-F238E27FC236}">
                <a16:creationId xmlns:a16="http://schemas.microsoft.com/office/drawing/2014/main" id="{9C609CED-A2B9-75DB-C112-519D31C398A5}"/>
              </a:ext>
            </a:extLst>
          </p:cNvPr>
          <p:cNvPicPr>
            <a:picLocks noChangeAspect="1"/>
          </p:cNvPicPr>
          <p:nvPr/>
        </p:nvPicPr>
        <p:blipFill>
          <a:blip r:embed="rId2"/>
          <a:stretch>
            <a:fillRect/>
          </a:stretch>
        </p:blipFill>
        <p:spPr>
          <a:xfrm>
            <a:off x="7907407" y="3440624"/>
            <a:ext cx="2651055" cy="2434509"/>
          </a:xfrm>
          <a:prstGeom prst="rect">
            <a:avLst/>
          </a:prstGeom>
        </p:spPr>
      </p:pic>
    </p:spTree>
    <p:extLst>
      <p:ext uri="{BB962C8B-B14F-4D97-AF65-F5344CB8AC3E}">
        <p14:creationId xmlns:p14="http://schemas.microsoft.com/office/powerpoint/2010/main" val="4071856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结构型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行为型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▶代理模式</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为其他对象提供一个代理以控制对这个对象的</a:t>
              </a:r>
              <a:r>
                <a:rPr lang="zh-CN" altLang="en-US" sz="1200" b="1" dirty="0">
                  <a:solidFill>
                    <a:schemeClr val="accent1"/>
                  </a:solidFill>
                  <a:latin typeface="ui-monospace"/>
                </a:rPr>
                <a:t>访问</a:t>
              </a:r>
              <a:r>
                <a:rPr lang="zh-CN" altLang="en-US" sz="1200" dirty="0">
                  <a:solidFill>
                    <a:schemeClr val="accent1"/>
                  </a:solidFill>
                  <a:latin typeface="ui-monospace"/>
                </a:rPr>
                <a:t>。可以买火车票的代理站点</a:t>
              </a:r>
              <a:endParaRPr lang="en-US" altLang="zh-CN" sz="1200" dirty="0">
                <a:solidFill>
                  <a:schemeClr val="accent1"/>
                </a:solidFill>
                <a:latin typeface="ui-monospace"/>
              </a:endParaRPr>
            </a:p>
          </p:txBody>
        </p:sp>
      </p:grpSp>
      <p:sp>
        <p:nvSpPr>
          <p:cNvPr id="11" name="Rectangle: Rounded Corners 10">
            <a:extLst>
              <a:ext uri="{FF2B5EF4-FFF2-40B4-BE49-F238E27FC236}">
                <a16:creationId xmlns:a16="http://schemas.microsoft.com/office/drawing/2014/main" id="{39CCAA63-D408-575A-2707-9977F59D2404}"/>
              </a:ext>
            </a:extLst>
          </p:cNvPr>
          <p:cNvSpPr/>
          <p:nvPr/>
        </p:nvSpPr>
        <p:spPr>
          <a:xfrm>
            <a:off x="3263226" y="812581"/>
            <a:ext cx="3793357" cy="569613"/>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卖票接口</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SellTickets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sell</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p:txBody>
      </p:sp>
      <p:sp>
        <p:nvSpPr>
          <p:cNvPr id="5" name="TextBox 36">
            <a:extLst>
              <a:ext uri="{FF2B5EF4-FFF2-40B4-BE49-F238E27FC236}">
                <a16:creationId xmlns:a16="http://schemas.microsoft.com/office/drawing/2014/main" id="{1F72A5B2-A753-47B9-ED9D-DC2329BC8586}"/>
              </a:ext>
            </a:extLst>
          </p:cNvPr>
          <p:cNvSpPr txBox="1"/>
          <p:nvPr/>
        </p:nvSpPr>
        <p:spPr>
          <a:xfrm>
            <a:off x="3150568" y="563384"/>
            <a:ext cx="2839395" cy="276999"/>
          </a:xfrm>
          <a:prstGeom prst="rect">
            <a:avLst/>
          </a:prstGeom>
          <a:noFill/>
        </p:spPr>
        <p:txBody>
          <a:bodyPr wrap="square">
            <a:spAutoFit/>
          </a:bodyPr>
          <a:lstStyle/>
          <a:p>
            <a:r>
              <a:rPr lang="zh-CN" altLang="en-US" sz="1200" dirty="0">
                <a:solidFill>
                  <a:schemeClr val="accent1"/>
                </a:solidFill>
                <a:latin typeface="ui-monospace"/>
              </a:rPr>
              <a:t>抽象主题类</a:t>
            </a:r>
            <a:r>
              <a:rPr lang="en-US" altLang="zh-CN" sz="1200" dirty="0">
                <a:solidFill>
                  <a:schemeClr val="accent1"/>
                </a:solidFill>
                <a:latin typeface="ui-monospace"/>
              </a:rPr>
              <a:t>(Subject)</a:t>
            </a:r>
          </a:p>
        </p:txBody>
      </p:sp>
      <p:sp>
        <p:nvSpPr>
          <p:cNvPr id="20" name="TextBox 36">
            <a:extLst>
              <a:ext uri="{FF2B5EF4-FFF2-40B4-BE49-F238E27FC236}">
                <a16:creationId xmlns:a16="http://schemas.microsoft.com/office/drawing/2014/main" id="{D540E73A-294B-8436-9038-C1296F9B0CF0}"/>
              </a:ext>
            </a:extLst>
          </p:cNvPr>
          <p:cNvSpPr txBox="1"/>
          <p:nvPr/>
        </p:nvSpPr>
        <p:spPr>
          <a:xfrm>
            <a:off x="7179080" y="563384"/>
            <a:ext cx="2839395"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sp>
        <p:nvSpPr>
          <p:cNvPr id="4" name="TextBox 36">
            <a:extLst>
              <a:ext uri="{FF2B5EF4-FFF2-40B4-BE49-F238E27FC236}">
                <a16:creationId xmlns:a16="http://schemas.microsoft.com/office/drawing/2014/main" id="{BD411BDD-1899-9CFC-3687-091438E3AD16}"/>
              </a:ext>
            </a:extLst>
          </p:cNvPr>
          <p:cNvSpPr txBox="1"/>
          <p:nvPr/>
        </p:nvSpPr>
        <p:spPr>
          <a:xfrm>
            <a:off x="3150568" y="1388986"/>
            <a:ext cx="2839395" cy="276999"/>
          </a:xfrm>
          <a:prstGeom prst="rect">
            <a:avLst/>
          </a:prstGeom>
          <a:noFill/>
        </p:spPr>
        <p:txBody>
          <a:bodyPr wrap="square">
            <a:spAutoFit/>
          </a:bodyPr>
          <a:lstStyle/>
          <a:p>
            <a:r>
              <a:rPr lang="zh-CN" altLang="en-US" sz="1200" dirty="0">
                <a:solidFill>
                  <a:schemeClr val="accent1"/>
                </a:solidFill>
                <a:latin typeface="ui-monospace"/>
              </a:rPr>
              <a:t>真实主题类</a:t>
            </a:r>
            <a:r>
              <a:rPr lang="en-US" altLang="zh-CN" sz="1200" dirty="0">
                <a:solidFill>
                  <a:schemeClr val="accent1"/>
                </a:solidFill>
                <a:latin typeface="ui-monospace"/>
              </a:rPr>
              <a:t>(</a:t>
            </a:r>
            <a:r>
              <a:rPr lang="en-US" altLang="zh-CN" sz="1200" dirty="0" err="1">
                <a:solidFill>
                  <a:schemeClr val="accent1"/>
                </a:solidFill>
                <a:latin typeface="ui-monospace"/>
              </a:rPr>
              <a:t>RealSubject</a:t>
            </a:r>
            <a:r>
              <a:rPr lang="en-US" altLang="zh-CN" sz="1200" dirty="0">
                <a:solidFill>
                  <a:schemeClr val="accent1"/>
                </a:solidFill>
                <a:latin typeface="ui-monospace"/>
              </a:rPr>
              <a:t>)</a:t>
            </a:r>
          </a:p>
        </p:txBody>
      </p:sp>
      <p:sp>
        <p:nvSpPr>
          <p:cNvPr id="7" name="TextBox 36">
            <a:extLst>
              <a:ext uri="{FF2B5EF4-FFF2-40B4-BE49-F238E27FC236}">
                <a16:creationId xmlns:a16="http://schemas.microsoft.com/office/drawing/2014/main" id="{A212C827-4A90-24DC-F0F5-73FC8F4C9C27}"/>
              </a:ext>
            </a:extLst>
          </p:cNvPr>
          <p:cNvSpPr txBox="1"/>
          <p:nvPr/>
        </p:nvSpPr>
        <p:spPr>
          <a:xfrm>
            <a:off x="3150568" y="2435054"/>
            <a:ext cx="3391204" cy="461665"/>
          </a:xfrm>
          <a:prstGeom prst="rect">
            <a:avLst/>
          </a:prstGeom>
          <a:noFill/>
        </p:spPr>
        <p:txBody>
          <a:bodyPr wrap="square">
            <a:spAutoFit/>
          </a:bodyPr>
          <a:lstStyle/>
          <a:p>
            <a:r>
              <a:rPr lang="zh-CN" altLang="en-US" sz="1200" dirty="0">
                <a:solidFill>
                  <a:schemeClr val="accent1"/>
                </a:solidFill>
                <a:latin typeface="ui-monospace"/>
              </a:rPr>
              <a:t>代理类</a:t>
            </a:r>
            <a:r>
              <a:rPr lang="en-US" altLang="zh-CN" sz="1200" dirty="0">
                <a:solidFill>
                  <a:schemeClr val="accent1"/>
                </a:solidFill>
                <a:latin typeface="ui-monospace"/>
              </a:rPr>
              <a:t>(Proxy): </a:t>
            </a:r>
            <a:r>
              <a:rPr lang="zh-CN" altLang="en-US" sz="1200" dirty="0">
                <a:solidFill>
                  <a:schemeClr val="accent1"/>
                </a:solidFill>
                <a:latin typeface="ui-monospace"/>
              </a:rPr>
              <a:t>提供了与真实主题相同的接口，其内部含有对真实主题的引用</a:t>
            </a:r>
            <a:endParaRPr lang="en-US" altLang="zh-CN" sz="1200" dirty="0">
              <a:solidFill>
                <a:schemeClr val="accent1"/>
              </a:solidFill>
              <a:latin typeface="ui-monospace"/>
            </a:endParaRPr>
          </a:p>
        </p:txBody>
      </p:sp>
      <p:sp>
        <p:nvSpPr>
          <p:cNvPr id="46" name="Rectangle: Rounded Corners 45">
            <a:extLst>
              <a:ext uri="{FF2B5EF4-FFF2-40B4-BE49-F238E27FC236}">
                <a16:creationId xmlns:a16="http://schemas.microsoft.com/office/drawing/2014/main" id="{0CBD4EDE-CFDB-62FF-360A-1F6F2A6F29D7}"/>
              </a:ext>
            </a:extLst>
          </p:cNvPr>
          <p:cNvSpPr/>
          <p:nvPr/>
        </p:nvSpPr>
        <p:spPr>
          <a:xfrm>
            <a:off x="3263225" y="1649561"/>
            <a:ext cx="3793357" cy="78126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火车站  火车站具有卖票功能，所以需要实现</a:t>
            </a:r>
            <a:r>
              <a:rPr lang="en-US" sz="800" b="0" dirty="0" err="1">
                <a:solidFill>
                  <a:srgbClr val="6A9955"/>
                </a:solidFill>
                <a:effectLst/>
                <a:latin typeface="Consolas" panose="020B0609020204030204" pitchFamily="49" charset="0"/>
              </a:rPr>
              <a:t>SellTickets</a:t>
            </a:r>
            <a:r>
              <a:rPr lang="zh-CN" altLang="en-US" sz="800" b="0" dirty="0">
                <a:solidFill>
                  <a:srgbClr val="6A9955"/>
                </a:solidFill>
                <a:effectLst/>
                <a:latin typeface="Consolas" panose="020B0609020204030204" pitchFamily="49" charset="0"/>
              </a:rPr>
              <a:t>接口</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TrainStation</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SellTickets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sell</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火车站卖票</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
        <p:nvSpPr>
          <p:cNvPr id="47" name="Rectangle: Rounded Corners 46">
            <a:extLst>
              <a:ext uri="{FF2B5EF4-FFF2-40B4-BE49-F238E27FC236}">
                <a16:creationId xmlns:a16="http://schemas.microsoft.com/office/drawing/2014/main" id="{A3469680-6BC9-B0ED-D519-24D27079ADB7}"/>
              </a:ext>
            </a:extLst>
          </p:cNvPr>
          <p:cNvSpPr/>
          <p:nvPr/>
        </p:nvSpPr>
        <p:spPr>
          <a:xfrm>
            <a:off x="3263225" y="2896780"/>
            <a:ext cx="3793357" cy="120060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a:t>
            </a:r>
            <a:r>
              <a:rPr lang="zh-CN" altLang="en-US" sz="800" b="0" dirty="0">
                <a:solidFill>
                  <a:srgbClr val="6A9955"/>
                </a:solidFill>
                <a:effectLst/>
                <a:latin typeface="Consolas" panose="020B0609020204030204" pitchFamily="49" charset="0"/>
              </a:rPr>
              <a:t>代售点</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ProxyPoint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SellTickets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TrainStation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station</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TrainStation</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sell</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代理点收取一些服务费用</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station</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sell</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48" name="TextBox 36">
            <a:extLst>
              <a:ext uri="{FF2B5EF4-FFF2-40B4-BE49-F238E27FC236}">
                <a16:creationId xmlns:a16="http://schemas.microsoft.com/office/drawing/2014/main" id="{648EFCED-BAA0-C772-C95C-46CA5AC32AAB}"/>
              </a:ext>
            </a:extLst>
          </p:cNvPr>
          <p:cNvSpPr txBox="1"/>
          <p:nvPr/>
        </p:nvSpPr>
        <p:spPr>
          <a:xfrm>
            <a:off x="3150568" y="4109726"/>
            <a:ext cx="2839395" cy="276999"/>
          </a:xfrm>
          <a:prstGeom prst="rect">
            <a:avLst/>
          </a:prstGeom>
          <a:noFill/>
        </p:spPr>
        <p:txBody>
          <a:bodyPr wrap="square">
            <a:spAutoFit/>
          </a:bodyPr>
          <a:lstStyle/>
          <a:p>
            <a:r>
              <a:rPr lang="zh-CN" altLang="en-US" sz="1200" dirty="0">
                <a:solidFill>
                  <a:schemeClr val="accent1"/>
                </a:solidFill>
                <a:latin typeface="ui-monospace"/>
              </a:rPr>
              <a:t>调用</a:t>
            </a:r>
            <a:endParaRPr lang="en-US" altLang="zh-CN" sz="1200" dirty="0">
              <a:solidFill>
                <a:schemeClr val="accent1"/>
              </a:solidFill>
              <a:latin typeface="ui-monospace"/>
            </a:endParaRPr>
          </a:p>
        </p:txBody>
      </p:sp>
      <p:sp>
        <p:nvSpPr>
          <p:cNvPr id="49" name="Rectangle: Rounded Corners 48">
            <a:extLst>
              <a:ext uri="{FF2B5EF4-FFF2-40B4-BE49-F238E27FC236}">
                <a16:creationId xmlns:a16="http://schemas.microsoft.com/office/drawing/2014/main" id="{0A998E02-FB8C-35B2-4C71-9F1DB685DE91}"/>
              </a:ext>
            </a:extLst>
          </p:cNvPr>
          <p:cNvSpPr/>
          <p:nvPr/>
        </p:nvSpPr>
        <p:spPr>
          <a:xfrm>
            <a:off x="3263225" y="4357528"/>
            <a:ext cx="3793357" cy="97127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测试类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ProxyPoint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pp</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ProxyPoint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pp</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sell</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pic>
        <p:nvPicPr>
          <p:cNvPr id="2718" name="Picture 2717">
            <a:extLst>
              <a:ext uri="{FF2B5EF4-FFF2-40B4-BE49-F238E27FC236}">
                <a16:creationId xmlns:a16="http://schemas.microsoft.com/office/drawing/2014/main" id="{6655B30A-E335-CB27-BE10-7BC1DC39DC87}"/>
              </a:ext>
            </a:extLst>
          </p:cNvPr>
          <p:cNvPicPr>
            <a:picLocks noChangeAspect="1"/>
          </p:cNvPicPr>
          <p:nvPr/>
        </p:nvPicPr>
        <p:blipFill>
          <a:blip r:embed="rId2"/>
          <a:stretch>
            <a:fillRect/>
          </a:stretch>
        </p:blipFill>
        <p:spPr>
          <a:xfrm>
            <a:off x="7456099" y="806605"/>
            <a:ext cx="2986206" cy="2081812"/>
          </a:xfrm>
          <a:prstGeom prst="rect">
            <a:avLst/>
          </a:prstGeom>
        </p:spPr>
      </p:pic>
      <p:sp>
        <p:nvSpPr>
          <p:cNvPr id="8" name="TextBox 36">
            <a:extLst>
              <a:ext uri="{FF2B5EF4-FFF2-40B4-BE49-F238E27FC236}">
                <a16:creationId xmlns:a16="http://schemas.microsoft.com/office/drawing/2014/main" id="{B0744824-B0FE-39BB-330D-D191FEEA73FB}"/>
              </a:ext>
            </a:extLst>
          </p:cNvPr>
          <p:cNvSpPr txBox="1"/>
          <p:nvPr/>
        </p:nvSpPr>
        <p:spPr>
          <a:xfrm>
            <a:off x="7208612" y="2896719"/>
            <a:ext cx="4687823" cy="1938992"/>
          </a:xfrm>
          <a:prstGeom prst="rect">
            <a:avLst/>
          </a:prstGeom>
          <a:noFill/>
        </p:spPr>
        <p:txBody>
          <a:bodyPr wrap="square">
            <a:spAutoFit/>
          </a:bodyPr>
          <a:lstStyle/>
          <a:p>
            <a:r>
              <a:rPr lang="zh-CN" altLang="en-US" sz="1200" dirty="0">
                <a:solidFill>
                  <a:schemeClr val="accent1"/>
                </a:solidFill>
                <a:latin typeface="ui-monospace"/>
              </a:rPr>
              <a:t>在需要比较通用和复杂的对象指针代替简单指针时</a:t>
            </a:r>
            <a:endParaRPr lang="en-US" altLang="zh-CN" sz="1200" dirty="0">
              <a:solidFill>
                <a:schemeClr val="accent1"/>
              </a:solidFill>
              <a:latin typeface="ui-monospace"/>
            </a:endParaRPr>
          </a:p>
          <a:p>
            <a:r>
              <a:rPr lang="zh-CN" altLang="en-US" sz="1200" dirty="0">
                <a:solidFill>
                  <a:schemeClr val="accent1"/>
                </a:solidFill>
                <a:latin typeface="ui-monospace"/>
              </a:rPr>
              <a:t>远程代理</a:t>
            </a:r>
            <a:r>
              <a:rPr lang="en-US" altLang="zh-CN" sz="1200" dirty="0">
                <a:solidFill>
                  <a:schemeClr val="accent1"/>
                </a:solidFill>
                <a:latin typeface="ui-monospace"/>
              </a:rPr>
              <a:t>(Remote)</a:t>
            </a:r>
          </a:p>
          <a:p>
            <a:r>
              <a:rPr lang="zh-CN" altLang="en-US" sz="1200" dirty="0">
                <a:solidFill>
                  <a:schemeClr val="accent1"/>
                </a:solidFill>
                <a:latin typeface="ui-monospace"/>
              </a:rPr>
              <a:t>虚代理</a:t>
            </a:r>
            <a:r>
              <a:rPr lang="en-US" altLang="zh-CN" sz="1200" dirty="0">
                <a:solidFill>
                  <a:schemeClr val="accent1"/>
                </a:solidFill>
                <a:latin typeface="ui-monospace"/>
              </a:rPr>
              <a:t>(Virtual)</a:t>
            </a:r>
          </a:p>
          <a:p>
            <a:r>
              <a:rPr lang="zh-CN" altLang="en-US" sz="1200" dirty="0">
                <a:solidFill>
                  <a:schemeClr val="accent1"/>
                </a:solidFill>
                <a:latin typeface="ui-monospace"/>
              </a:rPr>
              <a:t>保护代理</a:t>
            </a:r>
            <a:r>
              <a:rPr lang="en-US" altLang="zh-CN" sz="1200" dirty="0">
                <a:solidFill>
                  <a:schemeClr val="accent1"/>
                </a:solidFill>
                <a:latin typeface="ui-monospace"/>
              </a:rPr>
              <a:t>(Protection)</a:t>
            </a:r>
          </a:p>
          <a:p>
            <a:r>
              <a:rPr lang="zh-CN" altLang="en-US" sz="1200" dirty="0">
                <a:solidFill>
                  <a:schemeClr val="accent1"/>
                </a:solidFill>
                <a:latin typeface="ui-monospace"/>
              </a:rPr>
              <a:t>与装饰器模式的不同点：</a:t>
            </a:r>
            <a:endParaRPr lang="en-US" altLang="zh-CN" sz="1200" dirty="0">
              <a:solidFill>
                <a:schemeClr val="accent1"/>
              </a:solidFill>
              <a:latin typeface="ui-monospace"/>
            </a:endParaRPr>
          </a:p>
          <a:p>
            <a:r>
              <a:rPr lang="zh-CN" altLang="en-US" sz="1200" dirty="0">
                <a:solidFill>
                  <a:schemeClr val="accent1"/>
                </a:solidFill>
                <a:latin typeface="ui-monospace"/>
              </a:rPr>
              <a:t>目的不同：装饰器是为了增强目标对象，静态代理是为了保护和隐藏目标对象</a:t>
            </a:r>
            <a:endParaRPr lang="en-US" altLang="zh-CN" sz="1200" dirty="0">
              <a:solidFill>
                <a:schemeClr val="accent1"/>
              </a:solidFill>
              <a:latin typeface="ui-monospace"/>
            </a:endParaRPr>
          </a:p>
          <a:p>
            <a:r>
              <a:rPr lang="zh-CN" altLang="en-US" sz="1200" dirty="0">
                <a:solidFill>
                  <a:schemeClr val="accent1"/>
                </a:solidFill>
                <a:latin typeface="ui-monospace"/>
              </a:rPr>
              <a:t>获取目标对象构建的地方不同：装饰器是由外界传递进来，可以通过构造方法传递，静态代理是在代理类内部创建，以此来隐藏目标对象</a:t>
            </a:r>
            <a:endParaRPr lang="en-US" altLang="zh-CN" sz="1200" dirty="0">
              <a:solidFill>
                <a:schemeClr val="accent1"/>
              </a:solidFill>
              <a:latin typeface="ui-monospace"/>
            </a:endParaRPr>
          </a:p>
        </p:txBody>
      </p:sp>
    </p:spTree>
    <p:extLst>
      <p:ext uri="{BB962C8B-B14F-4D97-AF65-F5344CB8AC3E}">
        <p14:creationId xmlns:p14="http://schemas.microsoft.com/office/powerpoint/2010/main" val="2425366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▶责任链模式</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使多个对象都有机会处理请求，避免请求的发送者和接收者之间的耦合关系。请假</a:t>
              </a:r>
              <a:r>
                <a:rPr lang="en-US" altLang="zh-CN" sz="1200" dirty="0">
                  <a:solidFill>
                    <a:schemeClr val="accent1"/>
                  </a:solidFill>
                  <a:latin typeface="ui-monospace"/>
                </a:rPr>
                <a:t>1</a:t>
              </a:r>
              <a:r>
                <a:rPr lang="zh-CN" altLang="en-US" sz="1200" dirty="0">
                  <a:solidFill>
                    <a:schemeClr val="accent1"/>
                  </a:solidFill>
                  <a:latin typeface="ui-monospace"/>
                </a:rPr>
                <a:t>天小组长批</a:t>
              </a:r>
              <a:r>
                <a:rPr lang="en-US" altLang="zh-CN" sz="1200" dirty="0">
                  <a:solidFill>
                    <a:schemeClr val="accent1"/>
                  </a:solidFill>
                  <a:latin typeface="ui-monospace"/>
                </a:rPr>
                <a:t>/3</a:t>
              </a:r>
              <a:r>
                <a:rPr lang="zh-CN" altLang="en-US" sz="1200" dirty="0">
                  <a:solidFill>
                    <a:schemeClr val="accent1"/>
                  </a:solidFill>
                  <a:latin typeface="ui-monospace"/>
                </a:rPr>
                <a:t>天内部门经理批</a:t>
              </a:r>
              <a:r>
                <a:rPr lang="en-US" altLang="zh-CN" sz="1200" dirty="0">
                  <a:solidFill>
                    <a:schemeClr val="accent1"/>
                  </a:solidFill>
                  <a:latin typeface="ui-monospace"/>
                </a:rPr>
                <a:t>/7</a:t>
              </a:r>
              <a:r>
                <a:rPr lang="zh-CN" altLang="en-US" sz="1200" dirty="0">
                  <a:solidFill>
                    <a:schemeClr val="accent1"/>
                  </a:solidFill>
                  <a:latin typeface="ui-monospace"/>
                </a:rPr>
                <a:t>天内总经理批</a:t>
              </a:r>
              <a:endParaRPr lang="en-US" altLang="zh-CN" sz="1200" dirty="0">
                <a:solidFill>
                  <a:schemeClr val="accent1"/>
                </a:solidFill>
                <a:latin typeface="ui-monospace"/>
              </a:endParaRPr>
            </a:p>
          </p:txBody>
        </p:sp>
      </p:grpSp>
      <p:sp>
        <p:nvSpPr>
          <p:cNvPr id="5" name="TextBox 36">
            <a:extLst>
              <a:ext uri="{FF2B5EF4-FFF2-40B4-BE49-F238E27FC236}">
                <a16:creationId xmlns:a16="http://schemas.microsoft.com/office/drawing/2014/main" id="{1F72A5B2-A753-47B9-ED9D-DC2329BC8586}"/>
              </a:ext>
            </a:extLst>
          </p:cNvPr>
          <p:cNvSpPr txBox="1"/>
          <p:nvPr/>
        </p:nvSpPr>
        <p:spPr>
          <a:xfrm>
            <a:off x="3150568" y="563384"/>
            <a:ext cx="2839395" cy="276999"/>
          </a:xfrm>
          <a:prstGeom prst="rect">
            <a:avLst/>
          </a:prstGeom>
          <a:noFill/>
        </p:spPr>
        <p:txBody>
          <a:bodyPr wrap="square">
            <a:spAutoFit/>
          </a:bodyPr>
          <a:lstStyle/>
          <a:p>
            <a:r>
              <a:rPr lang="zh-CN" altLang="en-US" sz="1200" dirty="0">
                <a:solidFill>
                  <a:schemeClr val="accent1"/>
                </a:solidFill>
                <a:latin typeface="ui-monospace"/>
              </a:rPr>
              <a:t>抽象处理者角色</a:t>
            </a:r>
            <a:r>
              <a:rPr lang="en-US" altLang="zh-CN" sz="1200" dirty="0">
                <a:solidFill>
                  <a:schemeClr val="accent1"/>
                </a:solidFill>
                <a:latin typeface="ui-monospace"/>
              </a:rPr>
              <a:t>(Handler)</a:t>
            </a:r>
          </a:p>
        </p:txBody>
      </p:sp>
      <p:sp>
        <p:nvSpPr>
          <p:cNvPr id="9" name="TextBox 36">
            <a:extLst>
              <a:ext uri="{FF2B5EF4-FFF2-40B4-BE49-F238E27FC236}">
                <a16:creationId xmlns:a16="http://schemas.microsoft.com/office/drawing/2014/main" id="{91AB71C7-7F3F-6012-C650-E6C94BF1B0B5}"/>
              </a:ext>
            </a:extLst>
          </p:cNvPr>
          <p:cNvSpPr txBox="1"/>
          <p:nvPr/>
        </p:nvSpPr>
        <p:spPr>
          <a:xfrm>
            <a:off x="7420275" y="581769"/>
            <a:ext cx="2839395" cy="276999"/>
          </a:xfrm>
          <a:prstGeom prst="rect">
            <a:avLst/>
          </a:prstGeom>
          <a:noFill/>
        </p:spPr>
        <p:txBody>
          <a:bodyPr wrap="square">
            <a:spAutoFit/>
          </a:bodyPr>
          <a:lstStyle/>
          <a:p>
            <a:r>
              <a:rPr lang="zh-CN" altLang="en-US" sz="1200" dirty="0">
                <a:solidFill>
                  <a:schemeClr val="accent1"/>
                </a:solidFill>
                <a:latin typeface="ui-monospace"/>
              </a:rPr>
              <a:t>具体处理者角色</a:t>
            </a:r>
            <a:r>
              <a:rPr lang="en-US" altLang="zh-CN" sz="1200" dirty="0">
                <a:solidFill>
                  <a:schemeClr val="accent1"/>
                </a:solidFill>
                <a:latin typeface="ui-monospace"/>
              </a:rPr>
              <a:t>(</a:t>
            </a:r>
            <a:r>
              <a:rPr lang="en-US" altLang="zh-CN" sz="1200" dirty="0" err="1">
                <a:solidFill>
                  <a:schemeClr val="accent1"/>
                </a:solidFill>
                <a:latin typeface="ui-monospace"/>
              </a:rPr>
              <a:t>ConcreteHandler</a:t>
            </a:r>
            <a:r>
              <a:rPr lang="en-US" altLang="zh-CN" sz="1200" dirty="0">
                <a:solidFill>
                  <a:schemeClr val="accent1"/>
                </a:solidFill>
                <a:latin typeface="ui-monospace"/>
              </a:rPr>
              <a:t>)</a:t>
            </a:r>
          </a:p>
        </p:txBody>
      </p:sp>
      <p:sp>
        <p:nvSpPr>
          <p:cNvPr id="12" name="Rectangle: Rounded Corners 11">
            <a:extLst>
              <a:ext uri="{FF2B5EF4-FFF2-40B4-BE49-F238E27FC236}">
                <a16:creationId xmlns:a16="http://schemas.microsoft.com/office/drawing/2014/main" id="{1E427C22-5D27-A0E2-5F99-6A2F9BC5381C}"/>
              </a:ext>
            </a:extLst>
          </p:cNvPr>
          <p:cNvSpPr/>
          <p:nvPr/>
        </p:nvSpPr>
        <p:spPr>
          <a:xfrm>
            <a:off x="3198230" y="806605"/>
            <a:ext cx="4222045" cy="5179840"/>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处理者抽象类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Handler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final</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NUM_ONE</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final</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NUM_THREE</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3</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final</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NUM_SEVEN</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7</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该领导处理的请求天数区间</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numStart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numEnd</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声明后续者（声明上级领导）</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Handler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nextHandler</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Handler</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numStart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numStart</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numStart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Handler</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numStart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numEnd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numStart</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numStart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numEnd</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numEnd</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设置上级领导对象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setNextHandler</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Handler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nextHandler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nextHandler</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nextHandler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各级领导处理请求条的方法</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handleLeave</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LeaveRequest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leave</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提交请求条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final</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submit</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LeaveRequest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leave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该领导进行审批</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handleLeave</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leave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nextHandler</a:t>
            </a:r>
            <a:r>
              <a:rPr lang="en-US" sz="800" b="0" dirty="0">
                <a:solidFill>
                  <a:srgbClr val="D4D4D4"/>
                </a:solidFill>
                <a:effectLst/>
                <a:latin typeface="Consolas" panose="020B0609020204030204" pitchFamily="49" charset="0"/>
              </a:rPr>
              <a:t> != </a:t>
            </a:r>
            <a:r>
              <a:rPr lang="en-US" sz="800" b="0" dirty="0">
                <a:solidFill>
                  <a:srgbClr val="569CD6"/>
                </a:solidFill>
                <a:effectLst/>
                <a:latin typeface="Consolas" panose="020B0609020204030204" pitchFamily="49" charset="0"/>
              </a:rPr>
              <a:t>null</a:t>
            </a:r>
            <a:r>
              <a:rPr lang="en-US" sz="800" b="0" dirty="0">
                <a:solidFill>
                  <a:srgbClr val="D4D4D4"/>
                </a:solidFill>
                <a:effectLst/>
                <a:latin typeface="Consolas" panose="020B0609020204030204" pitchFamily="49" charset="0"/>
              </a:rPr>
              <a:t> &amp;&amp; </a:t>
            </a:r>
            <a:r>
              <a:rPr lang="en-US" sz="800" b="0" dirty="0" err="1">
                <a:solidFill>
                  <a:srgbClr val="9CDCFE"/>
                </a:solidFill>
                <a:effectLst/>
                <a:latin typeface="Consolas" panose="020B0609020204030204" pitchFamily="49" charset="0"/>
              </a:rPr>
              <a:t>leave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getNum</a:t>
            </a:r>
            <a:r>
              <a:rPr lang="en-US" sz="800" b="0" dirty="0">
                <a:solidFill>
                  <a:srgbClr val="D4D4D4"/>
                </a:solidFill>
                <a:effectLst/>
                <a:latin typeface="Consolas" panose="020B0609020204030204" pitchFamily="49" charset="0"/>
              </a:rPr>
              <a:t>() &gt;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numEnd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提交给上级领导进行审批</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nextHandler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submit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leave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else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流程结束！</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
        <p:nvSpPr>
          <p:cNvPr id="13" name="Rectangle: Rounded Corners 12">
            <a:extLst>
              <a:ext uri="{FF2B5EF4-FFF2-40B4-BE49-F238E27FC236}">
                <a16:creationId xmlns:a16="http://schemas.microsoft.com/office/drawing/2014/main" id="{D8D37A88-3194-60C8-4158-98098513E716}"/>
              </a:ext>
            </a:extLst>
          </p:cNvPr>
          <p:cNvSpPr/>
          <p:nvPr/>
        </p:nvSpPr>
        <p:spPr>
          <a:xfrm>
            <a:off x="7500025" y="821360"/>
            <a:ext cx="4222045" cy="3988765"/>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小组长类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GroupLeader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Handler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GroupLeader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super</a:t>
            </a:r>
            <a:r>
              <a:rPr lang="en-US" sz="800" b="0" dirty="0">
                <a:solidFill>
                  <a:srgbClr val="D4D4D4"/>
                </a:solidFill>
                <a:effectLst/>
                <a:latin typeface="Consolas" panose="020B0609020204030204" pitchFamily="49" charset="0"/>
              </a:rPr>
              <a:t>(</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Handler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NUM_ONE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handleLeave</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LeaveRequest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leave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leave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小组长审批：同意</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a:p>
            <a:endParaRPr lang="en-US" altLang="zh-CN" sz="800" b="0" dirty="0">
              <a:solidFill>
                <a:srgbClr val="D4D4D4"/>
              </a:solidFill>
              <a:effectLst/>
              <a:latin typeface="Consolas" panose="020B0609020204030204" pitchFamily="49" charset="0"/>
            </a:endParaRPr>
          </a:p>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部门经理</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Manager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Handler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Manager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super</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Handler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NUM_ONE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Handler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NUM_THREE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handleLeave</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LeaveRequest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leave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leave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部门经理审批：同意</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a:p>
            <a:endParaRPr lang="en-US" altLang="zh-CN" sz="800" b="0" dirty="0">
              <a:solidFill>
                <a:srgbClr val="D4D4D4"/>
              </a:solidFill>
              <a:effectLst/>
              <a:latin typeface="Consolas" panose="020B0609020204030204" pitchFamily="49" charset="0"/>
            </a:endParaRPr>
          </a:p>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总经理</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GeneralManager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Handler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GeneralManager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super</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Handler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NUM_THREE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Handler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NUM_SEVEN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handleLeave</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LeaveRequest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leave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leave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总经理审批：同意</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6438164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▶责任链模式</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8838232" cy="276999"/>
            </a:xfrm>
            <a:prstGeom prst="rect">
              <a:avLst/>
            </a:prstGeom>
            <a:noFill/>
          </p:spPr>
          <p:txBody>
            <a:bodyPr wrap="square">
              <a:spAutoFit/>
            </a:bodyPr>
            <a:lstStyle/>
            <a:p>
              <a:endParaRPr lang="en-US" altLang="zh-CN" sz="1200" dirty="0">
                <a:solidFill>
                  <a:schemeClr val="accent1"/>
                </a:solidFill>
                <a:latin typeface="ui-monospace"/>
              </a:endParaRPr>
            </a:p>
          </p:txBody>
        </p:sp>
      </p:grpSp>
      <p:sp>
        <p:nvSpPr>
          <p:cNvPr id="11" name="Rectangle: Rounded Corners 10">
            <a:extLst>
              <a:ext uri="{FF2B5EF4-FFF2-40B4-BE49-F238E27FC236}">
                <a16:creationId xmlns:a16="http://schemas.microsoft.com/office/drawing/2014/main" id="{39CCAA63-D408-575A-2707-9977F59D2404}"/>
              </a:ext>
            </a:extLst>
          </p:cNvPr>
          <p:cNvSpPr/>
          <p:nvPr/>
        </p:nvSpPr>
        <p:spPr>
          <a:xfrm>
            <a:off x="3208748" y="633931"/>
            <a:ext cx="4385395" cy="3562527"/>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请假条</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LeaveRequest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姓名</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num</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请假天数</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content</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请假内容</a:t>
            </a:r>
            <a:endParaRPr lang="zh-CN" altLang="en-US" sz="800" b="0" dirty="0">
              <a:solidFill>
                <a:srgbClr val="D4D4D4"/>
              </a:solidFill>
              <a:effectLst/>
              <a:latin typeface="Consolas" panose="020B0609020204030204" pitchFamily="49" charset="0"/>
            </a:endParaRPr>
          </a:p>
          <a:p>
            <a:br>
              <a:rPr lang="zh-CN" altLang="en-US" sz="800" b="0" dirty="0">
                <a:solidFill>
                  <a:srgbClr val="D4D4D4"/>
                </a:solidFill>
                <a:effectLst/>
                <a:latin typeface="Consolas" panose="020B0609020204030204" pitchFamily="49" charset="0"/>
              </a:rPr>
            </a:br>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LeaveRequest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num</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content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num</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num</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content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content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getName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getNum</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num</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getContent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content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重写</a:t>
            </a:r>
            <a:r>
              <a:rPr lang="en-US" sz="800" b="0" dirty="0" err="1">
                <a:solidFill>
                  <a:srgbClr val="6A9955"/>
                </a:solidFill>
                <a:effectLst/>
                <a:latin typeface="Consolas" panose="020B0609020204030204" pitchFamily="49" charset="0"/>
              </a:rPr>
              <a:t>toString</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toString</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请假</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天，</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content</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5" name="TextBox 36">
            <a:extLst>
              <a:ext uri="{FF2B5EF4-FFF2-40B4-BE49-F238E27FC236}">
                <a16:creationId xmlns:a16="http://schemas.microsoft.com/office/drawing/2014/main" id="{1F72A5B2-A753-47B9-ED9D-DC2329BC8586}"/>
              </a:ext>
            </a:extLst>
          </p:cNvPr>
          <p:cNvSpPr txBox="1"/>
          <p:nvPr/>
        </p:nvSpPr>
        <p:spPr>
          <a:xfrm>
            <a:off x="3150568" y="391934"/>
            <a:ext cx="2839395" cy="276999"/>
          </a:xfrm>
          <a:prstGeom prst="rect">
            <a:avLst/>
          </a:prstGeom>
          <a:noFill/>
        </p:spPr>
        <p:txBody>
          <a:bodyPr wrap="square">
            <a:spAutoFit/>
          </a:bodyPr>
          <a:lstStyle/>
          <a:p>
            <a:r>
              <a:rPr lang="zh-CN" altLang="en-US" sz="1200" dirty="0">
                <a:solidFill>
                  <a:schemeClr val="accent1"/>
                </a:solidFill>
                <a:latin typeface="ui-monospace"/>
              </a:rPr>
              <a:t>客户类角色</a:t>
            </a:r>
            <a:r>
              <a:rPr lang="en-US" altLang="zh-CN" sz="1200" dirty="0">
                <a:solidFill>
                  <a:schemeClr val="accent1"/>
                </a:solidFill>
                <a:latin typeface="ui-monospace"/>
              </a:rPr>
              <a:t>(Client)</a:t>
            </a:r>
          </a:p>
        </p:txBody>
      </p:sp>
      <p:sp>
        <p:nvSpPr>
          <p:cNvPr id="14" name="Rectangle: Rounded Corners 13">
            <a:extLst>
              <a:ext uri="{FF2B5EF4-FFF2-40B4-BE49-F238E27FC236}">
                <a16:creationId xmlns:a16="http://schemas.microsoft.com/office/drawing/2014/main" id="{B57F7ED2-9B14-42A6-CB10-2E62A3B9DC00}"/>
              </a:ext>
            </a:extLst>
          </p:cNvPr>
          <p:cNvSpPr/>
          <p:nvPr/>
        </p:nvSpPr>
        <p:spPr>
          <a:xfrm>
            <a:off x="3208748" y="4275219"/>
            <a:ext cx="4385395" cy="2320960"/>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创建一个请假条对象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LeaveRequest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leave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LeaveRequest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小明</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altLang="zh-CN" sz="800" b="0" dirty="0">
                <a:solidFill>
                  <a:srgbClr val="B5CEA8"/>
                </a:solidFill>
                <a:effectLst/>
                <a:latin typeface="Consolas" panose="020B0609020204030204" pitchFamily="49" charset="0"/>
              </a:rPr>
              <a:t>2</a:t>
            </a:r>
            <a:r>
              <a:rPr lang="en-US" altLang="zh-CN" sz="800" b="0" dirty="0">
                <a:solidFill>
                  <a:srgbClr val="D4D4D4"/>
                </a:solidFill>
                <a:effectLst/>
                <a:latin typeface="Consolas" panose="020B0609020204030204" pitchFamily="49" charset="0"/>
              </a:rPr>
              <a:t>, </a:t>
            </a:r>
            <a:r>
              <a:rPr lang="en-US" altLang="zh-CN"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身体不适</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创建各级领导对象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GroupLeader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groupLeader</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GroupLeader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Manager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manager</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Manager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GeneralManager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generalManager</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GeneralManager</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设置处理者链</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groupLeader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setNextHandler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manager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manager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setNextHandler</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generalManager</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小明提交请假申请</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groupLeader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submit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leave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pic>
        <p:nvPicPr>
          <p:cNvPr id="56" name="Picture 55">
            <a:extLst>
              <a:ext uri="{FF2B5EF4-FFF2-40B4-BE49-F238E27FC236}">
                <a16:creationId xmlns:a16="http://schemas.microsoft.com/office/drawing/2014/main" id="{9CAF4E3F-4057-E35A-B3F9-1CA743BAE1A2}"/>
              </a:ext>
            </a:extLst>
          </p:cNvPr>
          <p:cNvPicPr>
            <a:picLocks noChangeAspect="1"/>
          </p:cNvPicPr>
          <p:nvPr/>
        </p:nvPicPr>
        <p:blipFill>
          <a:blip r:embed="rId2"/>
          <a:stretch>
            <a:fillRect/>
          </a:stretch>
        </p:blipFill>
        <p:spPr>
          <a:xfrm>
            <a:off x="7755008" y="678458"/>
            <a:ext cx="4316342" cy="1822862"/>
          </a:xfrm>
          <a:prstGeom prst="rect">
            <a:avLst/>
          </a:prstGeom>
        </p:spPr>
      </p:pic>
      <p:sp>
        <p:nvSpPr>
          <p:cNvPr id="57" name="TextBox 36">
            <a:extLst>
              <a:ext uri="{FF2B5EF4-FFF2-40B4-BE49-F238E27FC236}">
                <a16:creationId xmlns:a16="http://schemas.microsoft.com/office/drawing/2014/main" id="{5B22FFDF-063C-D7FC-0B71-ADE573502F16}"/>
              </a:ext>
            </a:extLst>
          </p:cNvPr>
          <p:cNvSpPr txBox="1"/>
          <p:nvPr/>
        </p:nvSpPr>
        <p:spPr>
          <a:xfrm>
            <a:off x="7603362" y="401459"/>
            <a:ext cx="2839395"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spTree>
    <p:extLst>
      <p:ext uri="{BB962C8B-B14F-4D97-AF65-F5344CB8AC3E}">
        <p14:creationId xmlns:p14="http://schemas.microsoft.com/office/powerpoint/2010/main" val="3729189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▶命令模式</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将一个请求封装为一个对象，可以用不用的请求对客户进行参数化：对请求排队或记录日志以及支持可撤销的操作</a:t>
              </a:r>
              <a:endParaRPr lang="en-US" altLang="zh-CN" sz="1200" dirty="0">
                <a:solidFill>
                  <a:schemeClr val="accent1"/>
                </a:solidFill>
                <a:latin typeface="ui-monospace"/>
              </a:endParaRPr>
            </a:p>
          </p:txBody>
        </p:sp>
      </p:grpSp>
      <p:sp>
        <p:nvSpPr>
          <p:cNvPr id="5" name="TextBox 36">
            <a:extLst>
              <a:ext uri="{FF2B5EF4-FFF2-40B4-BE49-F238E27FC236}">
                <a16:creationId xmlns:a16="http://schemas.microsoft.com/office/drawing/2014/main" id="{1F72A5B2-A753-47B9-ED9D-DC2329BC8586}"/>
              </a:ext>
            </a:extLst>
          </p:cNvPr>
          <p:cNvSpPr txBox="1"/>
          <p:nvPr/>
        </p:nvSpPr>
        <p:spPr>
          <a:xfrm>
            <a:off x="3150568" y="603368"/>
            <a:ext cx="2839395" cy="276999"/>
          </a:xfrm>
          <a:prstGeom prst="rect">
            <a:avLst/>
          </a:prstGeom>
          <a:noFill/>
        </p:spPr>
        <p:txBody>
          <a:bodyPr wrap="square">
            <a:spAutoFit/>
          </a:bodyPr>
          <a:lstStyle/>
          <a:p>
            <a:r>
              <a:rPr lang="zh-CN" altLang="en-US" sz="1200" dirty="0">
                <a:solidFill>
                  <a:schemeClr val="accent1"/>
                </a:solidFill>
                <a:latin typeface="ui-monospace"/>
              </a:rPr>
              <a:t>抽象命令类角色</a:t>
            </a:r>
            <a:r>
              <a:rPr lang="en-US" altLang="zh-CN" sz="1200" dirty="0">
                <a:solidFill>
                  <a:schemeClr val="accent1"/>
                </a:solidFill>
                <a:latin typeface="ui-monospace"/>
              </a:rPr>
              <a:t>(Command)</a:t>
            </a:r>
          </a:p>
        </p:txBody>
      </p:sp>
      <p:sp>
        <p:nvSpPr>
          <p:cNvPr id="4" name="TextBox 36">
            <a:extLst>
              <a:ext uri="{FF2B5EF4-FFF2-40B4-BE49-F238E27FC236}">
                <a16:creationId xmlns:a16="http://schemas.microsoft.com/office/drawing/2014/main" id="{FAD85537-C691-0546-0A84-EEE772F522CA}"/>
              </a:ext>
            </a:extLst>
          </p:cNvPr>
          <p:cNvSpPr txBox="1"/>
          <p:nvPr/>
        </p:nvSpPr>
        <p:spPr>
          <a:xfrm>
            <a:off x="3150568" y="1541010"/>
            <a:ext cx="2839395" cy="276999"/>
          </a:xfrm>
          <a:prstGeom prst="rect">
            <a:avLst/>
          </a:prstGeom>
          <a:noFill/>
        </p:spPr>
        <p:txBody>
          <a:bodyPr wrap="square">
            <a:spAutoFit/>
          </a:bodyPr>
          <a:lstStyle/>
          <a:p>
            <a:r>
              <a:rPr lang="zh-CN" altLang="en-US" sz="1200" dirty="0">
                <a:solidFill>
                  <a:schemeClr val="accent1"/>
                </a:solidFill>
                <a:latin typeface="ui-monospace"/>
              </a:rPr>
              <a:t>具体命令角色</a:t>
            </a:r>
            <a:r>
              <a:rPr lang="en-US" altLang="zh-CN" sz="1200" dirty="0">
                <a:solidFill>
                  <a:schemeClr val="accent1"/>
                </a:solidFill>
                <a:latin typeface="ui-monospace"/>
              </a:rPr>
              <a:t>(</a:t>
            </a:r>
            <a:r>
              <a:rPr lang="en-US" altLang="zh-CN" sz="1200" dirty="0" err="1">
                <a:solidFill>
                  <a:schemeClr val="accent1"/>
                </a:solidFill>
                <a:latin typeface="ui-monospace"/>
              </a:rPr>
              <a:t>ConcreteCommand</a:t>
            </a:r>
            <a:r>
              <a:rPr lang="en-US" altLang="zh-CN" sz="1200" dirty="0">
                <a:solidFill>
                  <a:schemeClr val="accent1"/>
                </a:solidFill>
                <a:latin typeface="ui-monospace"/>
              </a:rPr>
              <a:t>)</a:t>
            </a:r>
          </a:p>
        </p:txBody>
      </p:sp>
      <p:sp>
        <p:nvSpPr>
          <p:cNvPr id="7" name="TextBox 36">
            <a:extLst>
              <a:ext uri="{FF2B5EF4-FFF2-40B4-BE49-F238E27FC236}">
                <a16:creationId xmlns:a16="http://schemas.microsoft.com/office/drawing/2014/main" id="{1E6C16C8-7B80-5A8D-FF1D-2649ECE3CBED}"/>
              </a:ext>
            </a:extLst>
          </p:cNvPr>
          <p:cNvSpPr txBox="1"/>
          <p:nvPr/>
        </p:nvSpPr>
        <p:spPr>
          <a:xfrm>
            <a:off x="7727229" y="612729"/>
            <a:ext cx="2839395" cy="276999"/>
          </a:xfrm>
          <a:prstGeom prst="rect">
            <a:avLst/>
          </a:prstGeom>
          <a:noFill/>
        </p:spPr>
        <p:txBody>
          <a:bodyPr wrap="square">
            <a:spAutoFit/>
          </a:bodyPr>
          <a:lstStyle/>
          <a:p>
            <a:r>
              <a:rPr lang="zh-CN" altLang="en-US" sz="1200" dirty="0">
                <a:solidFill>
                  <a:schemeClr val="accent1"/>
                </a:solidFill>
                <a:latin typeface="ui-monospace"/>
              </a:rPr>
              <a:t>实现者</a:t>
            </a:r>
            <a:r>
              <a:rPr lang="en-US" altLang="zh-CN" sz="1200" dirty="0">
                <a:solidFill>
                  <a:schemeClr val="accent1"/>
                </a:solidFill>
                <a:latin typeface="ui-monospace"/>
              </a:rPr>
              <a:t>/</a:t>
            </a:r>
            <a:r>
              <a:rPr lang="zh-CN" altLang="en-US" sz="1200" dirty="0">
                <a:solidFill>
                  <a:schemeClr val="accent1"/>
                </a:solidFill>
                <a:latin typeface="ui-monospace"/>
              </a:rPr>
              <a:t>接收者角色</a:t>
            </a:r>
            <a:r>
              <a:rPr lang="en-US" altLang="zh-CN" sz="1200" dirty="0">
                <a:solidFill>
                  <a:schemeClr val="accent1"/>
                </a:solidFill>
                <a:latin typeface="ui-monospace"/>
              </a:rPr>
              <a:t>(Receiver)</a:t>
            </a:r>
          </a:p>
        </p:txBody>
      </p:sp>
      <p:sp>
        <p:nvSpPr>
          <p:cNvPr id="8" name="TextBox 36">
            <a:extLst>
              <a:ext uri="{FF2B5EF4-FFF2-40B4-BE49-F238E27FC236}">
                <a16:creationId xmlns:a16="http://schemas.microsoft.com/office/drawing/2014/main" id="{0C9EB6A9-25C7-1DCF-591A-708EA53F8DB0}"/>
              </a:ext>
            </a:extLst>
          </p:cNvPr>
          <p:cNvSpPr txBox="1"/>
          <p:nvPr/>
        </p:nvSpPr>
        <p:spPr>
          <a:xfrm>
            <a:off x="7727229" y="1818009"/>
            <a:ext cx="2839395" cy="276999"/>
          </a:xfrm>
          <a:prstGeom prst="rect">
            <a:avLst/>
          </a:prstGeom>
          <a:noFill/>
        </p:spPr>
        <p:txBody>
          <a:bodyPr wrap="square">
            <a:spAutoFit/>
          </a:bodyPr>
          <a:lstStyle/>
          <a:p>
            <a:r>
              <a:rPr lang="zh-CN" altLang="en-US" sz="1200" dirty="0">
                <a:solidFill>
                  <a:schemeClr val="accent1"/>
                </a:solidFill>
                <a:latin typeface="ui-monospace"/>
              </a:rPr>
              <a:t>调用者</a:t>
            </a:r>
            <a:r>
              <a:rPr lang="en-US" altLang="zh-CN" sz="1200" dirty="0">
                <a:solidFill>
                  <a:schemeClr val="accent1"/>
                </a:solidFill>
                <a:latin typeface="ui-monospace"/>
              </a:rPr>
              <a:t>/</a:t>
            </a:r>
            <a:r>
              <a:rPr lang="zh-CN" altLang="en-US" sz="1200" dirty="0">
                <a:solidFill>
                  <a:schemeClr val="accent1"/>
                </a:solidFill>
                <a:latin typeface="ui-monospace"/>
              </a:rPr>
              <a:t>请求者角色</a:t>
            </a:r>
            <a:r>
              <a:rPr lang="en-US" altLang="zh-CN" sz="1200" dirty="0">
                <a:solidFill>
                  <a:schemeClr val="accent1"/>
                </a:solidFill>
                <a:latin typeface="ui-monospace"/>
              </a:rPr>
              <a:t>(Invoker)</a:t>
            </a:r>
          </a:p>
        </p:txBody>
      </p:sp>
      <p:sp>
        <p:nvSpPr>
          <p:cNvPr id="9" name="Rectangle: Rounded Corners 8">
            <a:extLst>
              <a:ext uri="{FF2B5EF4-FFF2-40B4-BE49-F238E27FC236}">
                <a16:creationId xmlns:a16="http://schemas.microsoft.com/office/drawing/2014/main" id="{5DA0CA86-308D-9C76-109D-13CAEE007F51}"/>
              </a:ext>
            </a:extLst>
          </p:cNvPr>
          <p:cNvSpPr/>
          <p:nvPr/>
        </p:nvSpPr>
        <p:spPr>
          <a:xfrm>
            <a:off x="7801504" y="885044"/>
            <a:ext cx="3846354" cy="92366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资深大厨类，是命令的</a:t>
            </a:r>
            <a:r>
              <a:rPr lang="en-US" sz="800" b="0" dirty="0">
                <a:solidFill>
                  <a:srgbClr val="6A9955"/>
                </a:solidFill>
                <a:effectLst/>
                <a:latin typeface="Consolas" panose="020B0609020204030204" pitchFamily="49" charset="0"/>
              </a:rPr>
              <a:t>Receiver（</a:t>
            </a:r>
            <a:r>
              <a:rPr lang="zh-CN" altLang="en-US" sz="800" b="0" dirty="0">
                <a:solidFill>
                  <a:srgbClr val="6A9955"/>
                </a:solidFill>
                <a:effectLst/>
                <a:latin typeface="Consolas" panose="020B0609020204030204" pitchFamily="49" charset="0"/>
              </a:rPr>
              <a:t>接收者角色）</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SeniorChef</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根据餐品及分数制作食物</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makeFood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name</a:t>
            </a:r>
            <a:r>
              <a:rPr lang="en-US" sz="800" b="0" dirty="0" err="1">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num</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num</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份</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0" name="Rectangle: Rounded Corners 9">
            <a:extLst>
              <a:ext uri="{FF2B5EF4-FFF2-40B4-BE49-F238E27FC236}">
                <a16:creationId xmlns:a16="http://schemas.microsoft.com/office/drawing/2014/main" id="{1E7AC240-C3B3-F7EE-EEC7-642EDB819F5E}"/>
              </a:ext>
            </a:extLst>
          </p:cNvPr>
          <p:cNvSpPr/>
          <p:nvPr/>
        </p:nvSpPr>
        <p:spPr>
          <a:xfrm>
            <a:off x="3255132" y="868284"/>
            <a:ext cx="4385395" cy="67272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抽象命令类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Command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命令执行方法</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execute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p:txBody>
      </p:sp>
      <p:sp>
        <p:nvSpPr>
          <p:cNvPr id="12" name="Rectangle: Rounded Corners 11">
            <a:extLst>
              <a:ext uri="{FF2B5EF4-FFF2-40B4-BE49-F238E27FC236}">
                <a16:creationId xmlns:a16="http://schemas.microsoft.com/office/drawing/2014/main" id="{A6F0412F-1B74-7E78-665E-028907704731}"/>
              </a:ext>
            </a:extLst>
          </p:cNvPr>
          <p:cNvSpPr/>
          <p:nvPr/>
        </p:nvSpPr>
        <p:spPr>
          <a:xfrm>
            <a:off x="3255132" y="1825137"/>
            <a:ext cx="4385395" cy="297758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订单命令类，属于具体的命令类，需要聚合对象接收者和接收者依赖的操作数据</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OrderCommand</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Command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持有接收者对象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SeniorChef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receiver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订单，接收者依赖的操作数据</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OrderCommand</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SeniorChef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receiver</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receiver</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receiver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execute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order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getDiningTable</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桌的订单：</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Map</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Integer</a:t>
            </a:r>
            <a:r>
              <a:rPr lang="en-US" sz="800" b="0" dirty="0">
                <a:solidFill>
                  <a:srgbClr val="D4D4D4"/>
                </a:solidFill>
                <a:effectLst/>
                <a:latin typeface="Consolas" panose="020B0609020204030204" pitchFamily="49" charset="0"/>
              </a:rPr>
              <a:t>&gt; </a:t>
            </a:r>
            <a:r>
              <a:rPr lang="en-US" sz="800" b="0" dirty="0" err="1">
                <a:solidFill>
                  <a:srgbClr val="9CDCFE"/>
                </a:solidFill>
                <a:effectLst/>
                <a:latin typeface="Consolas" panose="020B0609020204030204" pitchFamily="49" charset="0"/>
              </a:rPr>
              <a:t>foodDir</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order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getFoodDir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遍历</a:t>
            </a:r>
            <a:r>
              <a:rPr lang="en-US" sz="800" b="0" dirty="0">
                <a:solidFill>
                  <a:srgbClr val="6A9955"/>
                </a:solidFill>
                <a:effectLst/>
                <a:latin typeface="Consolas" panose="020B0609020204030204" pitchFamily="49" charset="0"/>
              </a:rPr>
              <a:t>map</a:t>
            </a:r>
            <a:r>
              <a:rPr lang="zh-CN" altLang="en-US" sz="800" b="0" dirty="0">
                <a:solidFill>
                  <a:srgbClr val="6A9955"/>
                </a:solidFill>
                <a:effectLst/>
                <a:latin typeface="Consolas" panose="020B0609020204030204" pitchFamily="49" charset="0"/>
              </a:rPr>
              <a:t>集合</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Set</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&gt; </a:t>
            </a:r>
            <a:r>
              <a:rPr lang="en-US" sz="800" b="0" dirty="0">
                <a:solidFill>
                  <a:srgbClr val="9CDCFE"/>
                </a:solidFill>
                <a:effectLst/>
                <a:latin typeface="Consolas" panose="020B0609020204030204" pitchFamily="49" charset="0"/>
              </a:rPr>
              <a:t>keys</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foodDir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keySet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foodName</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keys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receiver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makeFood</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foodName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foodDir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foodName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order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getDiningTable</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桌的饭准备完毕！！！</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
        <p:nvSpPr>
          <p:cNvPr id="13" name="Rectangle: Rounded Corners 12">
            <a:extLst>
              <a:ext uri="{FF2B5EF4-FFF2-40B4-BE49-F238E27FC236}">
                <a16:creationId xmlns:a16="http://schemas.microsoft.com/office/drawing/2014/main" id="{3DCA070D-4548-2974-7A3D-90459C528D14}"/>
              </a:ext>
            </a:extLst>
          </p:cNvPr>
          <p:cNvSpPr/>
          <p:nvPr/>
        </p:nvSpPr>
        <p:spPr>
          <a:xfrm>
            <a:off x="7837064" y="2095008"/>
            <a:ext cx="3846354" cy="2675048"/>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服务员类，调用者（请求者）角色</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Waitor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持有多个命令对象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List</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Command</a:t>
            </a:r>
            <a:r>
              <a:rPr lang="en-US" sz="800" b="0" dirty="0">
                <a:solidFill>
                  <a:srgbClr val="D4D4D4"/>
                </a:solidFill>
                <a:effectLst/>
                <a:latin typeface="Consolas" panose="020B0609020204030204" pitchFamily="49" charset="0"/>
              </a:rPr>
              <a:t>&gt; </a:t>
            </a:r>
            <a:r>
              <a:rPr lang="en-US" sz="800" b="0" dirty="0">
                <a:solidFill>
                  <a:srgbClr val="9CDCFE"/>
                </a:solidFill>
                <a:effectLst/>
                <a:latin typeface="Consolas" panose="020B0609020204030204" pitchFamily="49" charset="0"/>
              </a:rPr>
              <a:t>commands</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ArrayList</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Command</a:t>
            </a:r>
            <a:r>
              <a:rPr lang="en-US" sz="800" b="0" dirty="0">
                <a:solidFill>
                  <a:srgbClr val="D4D4D4"/>
                </a:solidFill>
                <a:effectLst/>
                <a:latin typeface="Consolas" panose="020B0609020204030204" pitchFamily="49" charset="0"/>
              </a:rPr>
              <a:t>&gt;();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setCommand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Command</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cmd</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将</a:t>
            </a:r>
            <a:r>
              <a:rPr lang="en-US" sz="800" b="0" dirty="0" err="1">
                <a:solidFill>
                  <a:srgbClr val="6A9955"/>
                </a:solidFill>
                <a:effectLst/>
                <a:latin typeface="Consolas" panose="020B0609020204030204" pitchFamily="49" charset="0"/>
              </a:rPr>
              <a:t>cmd</a:t>
            </a:r>
            <a:r>
              <a:rPr lang="zh-CN" altLang="en-US" sz="800" b="0" dirty="0">
                <a:solidFill>
                  <a:srgbClr val="6A9955"/>
                </a:solidFill>
                <a:effectLst/>
                <a:latin typeface="Consolas" panose="020B0609020204030204" pitchFamily="49" charset="0"/>
              </a:rPr>
              <a:t>对象存储到</a:t>
            </a:r>
            <a:r>
              <a:rPr lang="en-US" sz="800" b="0" dirty="0">
                <a:solidFill>
                  <a:srgbClr val="6A9955"/>
                </a:solidFill>
                <a:effectLst/>
                <a:latin typeface="Consolas" panose="020B0609020204030204" pitchFamily="49" charset="0"/>
              </a:rPr>
              <a:t>list</a:t>
            </a:r>
            <a:r>
              <a:rPr lang="zh-CN" altLang="en-US" sz="800" b="0" dirty="0">
                <a:solidFill>
                  <a:srgbClr val="6A9955"/>
                </a:solidFill>
                <a:effectLst/>
                <a:latin typeface="Consolas" panose="020B0609020204030204" pitchFamily="49" charset="0"/>
              </a:rPr>
              <a:t>集合中</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commands</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cmd</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发起命令功能 喊 订单来了</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orderUp</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美女服务员：大厨，新订单来了。。。。</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遍历</a:t>
            </a:r>
            <a:r>
              <a:rPr lang="en-US" sz="800" b="0" dirty="0">
                <a:solidFill>
                  <a:srgbClr val="6A9955"/>
                </a:solidFill>
                <a:effectLst/>
                <a:latin typeface="Consolas" panose="020B0609020204030204" pitchFamily="49" charset="0"/>
              </a:rPr>
              <a:t>list</a:t>
            </a:r>
            <a:r>
              <a:rPr lang="zh-CN" altLang="en-US" sz="800" b="0" dirty="0">
                <a:solidFill>
                  <a:srgbClr val="6A9955"/>
                </a:solidFill>
                <a:effectLst/>
                <a:latin typeface="Consolas" panose="020B0609020204030204" pitchFamily="49" charset="0"/>
              </a:rPr>
              <a:t>集合</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Command</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command</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commands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command</a:t>
            </a:r>
            <a:r>
              <a:rPr lang="en-US" sz="800" b="0" dirty="0">
                <a:solidFill>
                  <a:srgbClr val="D4D4D4"/>
                </a:solidFill>
                <a:effectLst/>
                <a:latin typeface="Consolas" panose="020B0609020204030204" pitchFamily="49" charset="0"/>
              </a:rPr>
              <a:t> != </a:t>
            </a:r>
            <a:r>
              <a:rPr lang="en-US" sz="800" b="0" dirty="0">
                <a:solidFill>
                  <a:srgbClr val="569CD6"/>
                </a:solidFill>
                <a:effectLst/>
                <a:latin typeface="Consolas" panose="020B0609020204030204" pitchFamily="49" charset="0"/>
              </a:rPr>
              <a:t>null</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command</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execute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941096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95961-0974-27AF-848E-53F0CC0A019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5B70D90-E9A3-8BA0-766C-CB8F498B00FA}"/>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01364087-03CB-8BE6-8B5E-BA97C9CBD46F}"/>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8201EFA-8BF7-18DB-B420-337650573345}"/>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A4AA194C-3418-83A8-233F-19F8CD54A9B2}"/>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96CDFDB4-5CC8-BE53-9734-702A453BF1C1}"/>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66078288-70D7-5C52-E851-17B23627624D}"/>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▶命令模式</a:t>
              </a:r>
              <a:endParaRPr lang="en-US" sz="1200" dirty="0">
                <a:solidFill>
                  <a:schemeClr val="bg1"/>
                </a:solidFill>
              </a:endParaRPr>
            </a:p>
          </p:txBody>
        </p:sp>
        <p:sp>
          <p:nvSpPr>
            <p:cNvPr id="32" name="TextBox 36">
              <a:extLst>
                <a:ext uri="{FF2B5EF4-FFF2-40B4-BE49-F238E27FC236}">
                  <a16:creationId xmlns:a16="http://schemas.microsoft.com/office/drawing/2014/main" id="{78CC970E-CA21-C070-00B4-22E20AC2B4E9}"/>
                </a:ext>
              </a:extLst>
            </p:cNvPr>
            <p:cNvSpPr txBox="1"/>
            <p:nvPr/>
          </p:nvSpPr>
          <p:spPr>
            <a:xfrm>
              <a:off x="7667294" y="6245750"/>
              <a:ext cx="8838232" cy="276999"/>
            </a:xfrm>
            <a:prstGeom prst="rect">
              <a:avLst/>
            </a:prstGeom>
            <a:noFill/>
          </p:spPr>
          <p:txBody>
            <a:bodyPr wrap="square">
              <a:spAutoFit/>
            </a:bodyPr>
            <a:lstStyle/>
            <a:p>
              <a:endParaRPr lang="en-US" altLang="zh-CN" sz="1200" dirty="0">
                <a:solidFill>
                  <a:schemeClr val="accent1"/>
                </a:solidFill>
                <a:latin typeface="ui-monospace"/>
              </a:endParaRPr>
            </a:p>
          </p:txBody>
        </p:sp>
      </p:grpSp>
      <p:sp>
        <p:nvSpPr>
          <p:cNvPr id="11" name="Rectangle: Rounded Corners 10">
            <a:extLst>
              <a:ext uri="{FF2B5EF4-FFF2-40B4-BE49-F238E27FC236}">
                <a16:creationId xmlns:a16="http://schemas.microsoft.com/office/drawing/2014/main" id="{0E992472-B857-0503-9FFF-A088A41F0BF6}"/>
              </a:ext>
            </a:extLst>
          </p:cNvPr>
          <p:cNvSpPr/>
          <p:nvPr/>
        </p:nvSpPr>
        <p:spPr>
          <a:xfrm>
            <a:off x="3208748" y="480258"/>
            <a:ext cx="4385395" cy="2977587"/>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订单类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餐桌号码</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diningTable</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所下的餐品及份数</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Map</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Integer</a:t>
            </a:r>
            <a:r>
              <a:rPr lang="en-US" sz="800" b="0" dirty="0">
                <a:solidFill>
                  <a:srgbClr val="D4D4D4"/>
                </a:solidFill>
                <a:effectLst/>
                <a:latin typeface="Consolas" panose="020B0609020204030204" pitchFamily="49" charset="0"/>
              </a:rPr>
              <a:t>&gt; </a:t>
            </a:r>
            <a:r>
              <a:rPr lang="en-US" sz="800" b="0" dirty="0" err="1">
                <a:solidFill>
                  <a:srgbClr val="9CDCFE"/>
                </a:solidFill>
                <a:effectLst/>
                <a:latin typeface="Consolas" panose="020B0609020204030204" pitchFamily="49" charset="0"/>
              </a:rPr>
              <a:t>foodDir</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HashMap</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Integer</a:t>
            </a:r>
            <a:r>
              <a:rPr lang="en-US" sz="800" b="0" dirty="0">
                <a:solidFill>
                  <a:srgbClr val="D4D4D4"/>
                </a:solidFill>
                <a:effectLst/>
                <a:latin typeface="Consolas" panose="020B0609020204030204" pitchFamily="49" charset="0"/>
              </a:rPr>
              <a:t>&gt;();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getDiningTable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diningTable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setDiningTable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diningTable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diningTable</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diningTable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Map</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Integer</a:t>
            </a:r>
            <a:r>
              <a:rPr lang="en-US" sz="800" b="0" dirty="0">
                <a:solidFill>
                  <a:srgbClr val="D4D4D4"/>
                </a:solidFill>
                <a:effectLst/>
                <a:latin typeface="Consolas" panose="020B0609020204030204" pitchFamily="49" charset="0"/>
              </a:rPr>
              <a:t>&gt; </a:t>
            </a:r>
            <a:r>
              <a:rPr lang="en-US" sz="800" b="0" dirty="0" err="1">
                <a:solidFill>
                  <a:srgbClr val="DCDCAA"/>
                </a:solidFill>
                <a:effectLst/>
                <a:latin typeface="Consolas" panose="020B0609020204030204" pitchFamily="49" charset="0"/>
              </a:rPr>
              <a:t>getFoodDir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foodDir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setFood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num</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foodDir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put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num</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7" name="Rectangle: Rounded Corners 16">
            <a:extLst>
              <a:ext uri="{FF2B5EF4-FFF2-40B4-BE49-F238E27FC236}">
                <a16:creationId xmlns:a16="http://schemas.microsoft.com/office/drawing/2014/main" id="{D9AD0CF3-816F-2CB8-F45A-137C8EF41C05}"/>
              </a:ext>
            </a:extLst>
          </p:cNvPr>
          <p:cNvSpPr/>
          <p:nvPr/>
        </p:nvSpPr>
        <p:spPr>
          <a:xfrm>
            <a:off x="7758505" y="480258"/>
            <a:ext cx="3792603" cy="3673391"/>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创建第一个订单对象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order1</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order1</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setDiningTable</a:t>
            </a:r>
            <a:r>
              <a:rPr lang="en-US" sz="800" b="0" dirty="0">
                <a:solidFill>
                  <a:srgbClr val="D4D4D4"/>
                </a:solidFill>
                <a:effectLst/>
                <a:latin typeface="Consolas" panose="020B0609020204030204" pitchFamily="49" charset="0"/>
              </a:rPr>
              <a:t>(</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order1</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setFood</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西红柿鸡蛋面</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altLang="zh-CN" sz="800" b="0" dirty="0">
                <a:solidFill>
                  <a:srgbClr val="B5CEA8"/>
                </a:solidFill>
                <a:effectLst/>
                <a:latin typeface="Consolas" panose="020B0609020204030204" pitchFamily="49" charset="0"/>
              </a:rPr>
              <a:t>1</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order1</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setFood</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小杯可乐</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altLang="zh-CN" sz="800" b="0" dirty="0">
                <a:solidFill>
                  <a:srgbClr val="B5CEA8"/>
                </a:solidFill>
                <a:effectLst/>
                <a:latin typeface="Consolas" panose="020B0609020204030204" pitchFamily="49" charset="0"/>
              </a:rPr>
              <a:t>2</a:t>
            </a:r>
            <a:r>
              <a:rPr lang="en-US" altLang="zh-CN" sz="800" b="0" dirty="0">
                <a:solidFill>
                  <a:srgbClr val="D4D4D4"/>
                </a:solidFill>
                <a:effectLst/>
                <a:latin typeface="Consolas" panose="020B0609020204030204" pitchFamily="49" charset="0"/>
              </a:rPr>
              <a:t>);</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创建第二个订单对象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order2</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Order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order2</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setDiningTable</a:t>
            </a:r>
            <a:r>
              <a:rPr lang="en-US" sz="800" b="0" dirty="0">
                <a:solidFill>
                  <a:srgbClr val="D4D4D4"/>
                </a:solidFill>
                <a:effectLst/>
                <a:latin typeface="Consolas" panose="020B0609020204030204" pitchFamily="49" charset="0"/>
              </a:rPr>
              <a:t>(</a:t>
            </a:r>
            <a:r>
              <a:rPr lang="en-US" sz="800" b="0" dirty="0">
                <a:solidFill>
                  <a:srgbClr val="B5CEA8"/>
                </a:solidFill>
                <a:effectLst/>
                <a:latin typeface="Consolas" panose="020B0609020204030204" pitchFamily="49" charset="0"/>
              </a:rPr>
              <a:t>2</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order2</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setFood</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尖椒肉丝盖饭</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altLang="zh-CN" sz="800" b="0" dirty="0">
                <a:solidFill>
                  <a:srgbClr val="B5CEA8"/>
                </a:solidFill>
                <a:effectLst/>
                <a:latin typeface="Consolas" panose="020B0609020204030204" pitchFamily="49" charset="0"/>
              </a:rPr>
              <a:t>1</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order2</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setFood</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小杯雪碧</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altLang="zh-CN" sz="800" b="0" dirty="0">
                <a:solidFill>
                  <a:srgbClr val="B5CEA8"/>
                </a:solidFill>
                <a:effectLst/>
                <a:latin typeface="Consolas" panose="020B0609020204030204" pitchFamily="49" charset="0"/>
              </a:rPr>
              <a:t>1</a:t>
            </a:r>
            <a:r>
              <a:rPr lang="en-US" altLang="zh-CN" sz="800" b="0" dirty="0">
                <a:solidFill>
                  <a:srgbClr val="D4D4D4"/>
                </a:solidFill>
                <a:effectLst/>
                <a:latin typeface="Consolas" panose="020B0609020204030204" pitchFamily="49" charset="0"/>
              </a:rPr>
              <a:t>);</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创建厨师对象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SeniorChef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receiver</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SeniorChef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创建命令对象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OrderCommand</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cmd1</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OrderCommand</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receiver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order1</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OrderCommand</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cmd2</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OrderCommand</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receiver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order2</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创建调用者（服务员对象）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Waitor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invoke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Waitor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invoke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setCommand</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cmd1</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invoke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setCommand</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cmd2</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让服务员发起命令</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invoke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orderUp</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pic>
        <p:nvPicPr>
          <p:cNvPr id="3028" name="Picture 3027">
            <a:extLst>
              <a:ext uri="{FF2B5EF4-FFF2-40B4-BE49-F238E27FC236}">
                <a16:creationId xmlns:a16="http://schemas.microsoft.com/office/drawing/2014/main" id="{77530EC5-9481-6ACC-8C82-128211CFA3FE}"/>
              </a:ext>
            </a:extLst>
          </p:cNvPr>
          <p:cNvPicPr>
            <a:picLocks noChangeAspect="1"/>
          </p:cNvPicPr>
          <p:nvPr/>
        </p:nvPicPr>
        <p:blipFill>
          <a:blip r:embed="rId2"/>
          <a:stretch>
            <a:fillRect/>
          </a:stretch>
        </p:blipFill>
        <p:spPr>
          <a:xfrm>
            <a:off x="3325577" y="3937126"/>
            <a:ext cx="4151736" cy="1896020"/>
          </a:xfrm>
          <a:prstGeom prst="rect">
            <a:avLst/>
          </a:prstGeom>
        </p:spPr>
      </p:pic>
      <p:sp>
        <p:nvSpPr>
          <p:cNvPr id="14" name="TextBox 36">
            <a:extLst>
              <a:ext uri="{FF2B5EF4-FFF2-40B4-BE49-F238E27FC236}">
                <a16:creationId xmlns:a16="http://schemas.microsoft.com/office/drawing/2014/main" id="{488F273F-0D3C-A1AD-11E6-D4291FD31A88}"/>
              </a:ext>
            </a:extLst>
          </p:cNvPr>
          <p:cNvSpPr txBox="1"/>
          <p:nvPr/>
        </p:nvSpPr>
        <p:spPr>
          <a:xfrm>
            <a:off x="3150568" y="3529448"/>
            <a:ext cx="2839395"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spTree>
    <p:extLst>
      <p:ext uri="{BB962C8B-B14F-4D97-AF65-F5344CB8AC3E}">
        <p14:creationId xmlns:p14="http://schemas.microsoft.com/office/powerpoint/2010/main" val="12612088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1B0BD-2DB7-2132-E349-2E5A4C4BAB4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65F63B7-0681-707D-50ED-02F4CA28A08A}"/>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1FD87E8B-1E5B-616D-7E2F-8FE74CDF71AE}"/>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8411758-145E-BF6D-A7DE-F79A32F48F0C}"/>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331E30C6-708B-B0E3-DEC9-BBE8F8F32978}"/>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125EE0CF-A7D0-88DD-666A-3A6CCE8EE5CA}"/>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D8FE8807-FF0B-8755-D195-A3D27BB7D46B}"/>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▶解释器模式</a:t>
              </a:r>
              <a:endParaRPr lang="en-US" sz="1200" dirty="0">
                <a:solidFill>
                  <a:schemeClr val="bg1"/>
                </a:solidFill>
              </a:endParaRPr>
            </a:p>
          </p:txBody>
        </p:sp>
        <p:sp>
          <p:nvSpPr>
            <p:cNvPr id="32" name="TextBox 36">
              <a:extLst>
                <a:ext uri="{FF2B5EF4-FFF2-40B4-BE49-F238E27FC236}">
                  <a16:creationId xmlns:a16="http://schemas.microsoft.com/office/drawing/2014/main" id="{4E03568C-400F-A1C7-D930-9615A5DF2E4A}"/>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给定一个语言，定义它的文法表示，并定义一个解释器，这个解释器使用该标识来解释语言中的句子</a:t>
              </a:r>
              <a:endParaRPr lang="en-US" altLang="zh-CN" sz="1200" dirty="0">
                <a:solidFill>
                  <a:schemeClr val="accent1"/>
                </a:solidFill>
                <a:latin typeface="ui-monospace"/>
              </a:endParaRPr>
            </a:p>
          </p:txBody>
        </p:sp>
      </p:grpSp>
      <p:sp>
        <p:nvSpPr>
          <p:cNvPr id="5" name="TextBox 36">
            <a:extLst>
              <a:ext uri="{FF2B5EF4-FFF2-40B4-BE49-F238E27FC236}">
                <a16:creationId xmlns:a16="http://schemas.microsoft.com/office/drawing/2014/main" id="{7347BE86-0046-3384-5E3E-F1C0C452A340}"/>
              </a:ext>
            </a:extLst>
          </p:cNvPr>
          <p:cNvSpPr txBox="1"/>
          <p:nvPr/>
        </p:nvSpPr>
        <p:spPr>
          <a:xfrm>
            <a:off x="3150568" y="603368"/>
            <a:ext cx="2839395" cy="276999"/>
          </a:xfrm>
          <a:prstGeom prst="rect">
            <a:avLst/>
          </a:prstGeom>
          <a:noFill/>
        </p:spPr>
        <p:txBody>
          <a:bodyPr wrap="square">
            <a:spAutoFit/>
          </a:bodyPr>
          <a:lstStyle/>
          <a:p>
            <a:r>
              <a:rPr lang="zh-CN" altLang="en-US" sz="1200" dirty="0">
                <a:solidFill>
                  <a:schemeClr val="accent1"/>
                </a:solidFill>
                <a:latin typeface="ui-monospace"/>
              </a:rPr>
              <a:t>抽象表达式角色</a:t>
            </a:r>
            <a:r>
              <a:rPr lang="en-US" altLang="zh-CN" sz="1200" dirty="0">
                <a:solidFill>
                  <a:schemeClr val="accent1"/>
                </a:solidFill>
                <a:latin typeface="ui-monospace"/>
              </a:rPr>
              <a:t>(</a:t>
            </a:r>
            <a:r>
              <a:rPr lang="en-US" altLang="zh-CN" sz="1200" dirty="0" err="1">
                <a:solidFill>
                  <a:schemeClr val="accent1"/>
                </a:solidFill>
                <a:latin typeface="ui-monospace"/>
              </a:rPr>
              <a:t>AbstractExpression</a:t>
            </a:r>
            <a:r>
              <a:rPr lang="en-US" altLang="zh-CN" sz="1200" dirty="0">
                <a:solidFill>
                  <a:schemeClr val="accent1"/>
                </a:solidFill>
                <a:latin typeface="ui-monospace"/>
              </a:rPr>
              <a:t>)</a:t>
            </a:r>
          </a:p>
        </p:txBody>
      </p:sp>
      <p:sp>
        <p:nvSpPr>
          <p:cNvPr id="10" name="Rectangle: Rounded Corners 9">
            <a:extLst>
              <a:ext uri="{FF2B5EF4-FFF2-40B4-BE49-F238E27FC236}">
                <a16:creationId xmlns:a16="http://schemas.microsoft.com/office/drawing/2014/main" id="{4D76CFD0-AEC0-30E6-AFAC-051CF79D82D8}"/>
              </a:ext>
            </a:extLst>
          </p:cNvPr>
          <p:cNvSpPr/>
          <p:nvPr/>
        </p:nvSpPr>
        <p:spPr>
          <a:xfrm>
            <a:off x="3230297" y="888881"/>
            <a:ext cx="4102100" cy="704783"/>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抽象表达式类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interpret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p:txBody>
      </p:sp>
      <p:sp>
        <p:nvSpPr>
          <p:cNvPr id="11" name="TextBox 36">
            <a:extLst>
              <a:ext uri="{FF2B5EF4-FFF2-40B4-BE49-F238E27FC236}">
                <a16:creationId xmlns:a16="http://schemas.microsoft.com/office/drawing/2014/main" id="{04C20BFA-7C1F-CDE5-17F0-07B8018D3DF2}"/>
              </a:ext>
            </a:extLst>
          </p:cNvPr>
          <p:cNvSpPr txBox="1"/>
          <p:nvPr/>
        </p:nvSpPr>
        <p:spPr>
          <a:xfrm>
            <a:off x="7387810" y="4154356"/>
            <a:ext cx="2839395" cy="276999"/>
          </a:xfrm>
          <a:prstGeom prst="rect">
            <a:avLst/>
          </a:prstGeom>
          <a:noFill/>
        </p:spPr>
        <p:txBody>
          <a:bodyPr wrap="square">
            <a:spAutoFit/>
          </a:bodyPr>
          <a:lstStyle/>
          <a:p>
            <a:r>
              <a:rPr lang="zh-CN" altLang="en-US" sz="1200" dirty="0">
                <a:solidFill>
                  <a:schemeClr val="accent1"/>
                </a:solidFill>
                <a:latin typeface="ui-monospace"/>
              </a:rPr>
              <a:t>终结符表达式角色</a:t>
            </a:r>
            <a:r>
              <a:rPr lang="en-US" altLang="zh-CN" sz="1200" dirty="0">
                <a:solidFill>
                  <a:schemeClr val="accent1"/>
                </a:solidFill>
                <a:latin typeface="ui-monospace"/>
              </a:rPr>
              <a:t>(</a:t>
            </a:r>
            <a:r>
              <a:rPr lang="en-US" altLang="zh-CN" sz="1200" dirty="0" err="1">
                <a:solidFill>
                  <a:schemeClr val="accent1"/>
                </a:solidFill>
                <a:latin typeface="ui-monospace"/>
              </a:rPr>
              <a:t>TerminalExpression</a:t>
            </a:r>
            <a:r>
              <a:rPr lang="en-US" altLang="zh-CN" sz="1200" dirty="0">
                <a:solidFill>
                  <a:schemeClr val="accent1"/>
                </a:solidFill>
                <a:latin typeface="ui-monospace"/>
              </a:rPr>
              <a:t>)</a:t>
            </a:r>
          </a:p>
        </p:txBody>
      </p:sp>
      <p:sp>
        <p:nvSpPr>
          <p:cNvPr id="14" name="TextBox 36">
            <a:extLst>
              <a:ext uri="{FF2B5EF4-FFF2-40B4-BE49-F238E27FC236}">
                <a16:creationId xmlns:a16="http://schemas.microsoft.com/office/drawing/2014/main" id="{30035333-366A-E7B1-750E-ECFC357E8D5D}"/>
              </a:ext>
            </a:extLst>
          </p:cNvPr>
          <p:cNvSpPr txBox="1"/>
          <p:nvPr/>
        </p:nvSpPr>
        <p:spPr>
          <a:xfrm>
            <a:off x="3150568" y="1601413"/>
            <a:ext cx="3065934" cy="276999"/>
          </a:xfrm>
          <a:prstGeom prst="rect">
            <a:avLst/>
          </a:prstGeom>
          <a:noFill/>
        </p:spPr>
        <p:txBody>
          <a:bodyPr wrap="square">
            <a:spAutoFit/>
          </a:bodyPr>
          <a:lstStyle/>
          <a:p>
            <a:r>
              <a:rPr lang="zh-CN" altLang="en-US" sz="1200" dirty="0">
                <a:solidFill>
                  <a:schemeClr val="accent1"/>
                </a:solidFill>
                <a:latin typeface="ui-monospace"/>
              </a:rPr>
              <a:t>非终结符表达式角色</a:t>
            </a:r>
            <a:r>
              <a:rPr lang="en-US" altLang="zh-CN" sz="1200" dirty="0">
                <a:solidFill>
                  <a:schemeClr val="accent1"/>
                </a:solidFill>
                <a:latin typeface="ui-monospace"/>
              </a:rPr>
              <a:t>(</a:t>
            </a:r>
            <a:r>
              <a:rPr lang="en-US" altLang="zh-CN" sz="1200" dirty="0" err="1">
                <a:solidFill>
                  <a:schemeClr val="accent1"/>
                </a:solidFill>
                <a:latin typeface="ui-monospace"/>
              </a:rPr>
              <a:t>NonterminalExpression</a:t>
            </a:r>
            <a:r>
              <a:rPr lang="en-US" altLang="zh-CN" sz="1200" dirty="0">
                <a:solidFill>
                  <a:schemeClr val="accent1"/>
                </a:solidFill>
                <a:latin typeface="ui-monospace"/>
              </a:rPr>
              <a:t>)</a:t>
            </a:r>
          </a:p>
        </p:txBody>
      </p:sp>
      <p:sp>
        <p:nvSpPr>
          <p:cNvPr id="15" name="TextBox 36">
            <a:extLst>
              <a:ext uri="{FF2B5EF4-FFF2-40B4-BE49-F238E27FC236}">
                <a16:creationId xmlns:a16="http://schemas.microsoft.com/office/drawing/2014/main" id="{0145EC4B-F054-D075-0AC3-D1922DD187F7}"/>
              </a:ext>
            </a:extLst>
          </p:cNvPr>
          <p:cNvSpPr txBox="1"/>
          <p:nvPr/>
        </p:nvSpPr>
        <p:spPr>
          <a:xfrm>
            <a:off x="3150568" y="4608174"/>
            <a:ext cx="2839395" cy="276999"/>
          </a:xfrm>
          <a:prstGeom prst="rect">
            <a:avLst/>
          </a:prstGeom>
          <a:noFill/>
        </p:spPr>
        <p:txBody>
          <a:bodyPr wrap="square">
            <a:spAutoFit/>
          </a:bodyPr>
          <a:lstStyle/>
          <a:p>
            <a:r>
              <a:rPr lang="zh-CN" altLang="en-US" sz="1200" dirty="0">
                <a:solidFill>
                  <a:schemeClr val="accent1"/>
                </a:solidFill>
                <a:latin typeface="ui-monospace"/>
              </a:rPr>
              <a:t>环境角色</a:t>
            </a:r>
            <a:r>
              <a:rPr lang="en-US" altLang="zh-CN" sz="1200" dirty="0">
                <a:solidFill>
                  <a:schemeClr val="accent1"/>
                </a:solidFill>
                <a:latin typeface="ui-monospace"/>
              </a:rPr>
              <a:t>(Context)</a:t>
            </a:r>
          </a:p>
        </p:txBody>
      </p:sp>
      <p:sp>
        <p:nvSpPr>
          <p:cNvPr id="7" name="Rectangle: Rounded Corners 6">
            <a:extLst>
              <a:ext uri="{FF2B5EF4-FFF2-40B4-BE49-F238E27FC236}">
                <a16:creationId xmlns:a16="http://schemas.microsoft.com/office/drawing/2014/main" id="{C309E39B-900C-442B-E46C-2F8457732141}"/>
              </a:ext>
            </a:extLst>
          </p:cNvPr>
          <p:cNvSpPr/>
          <p:nvPr/>
        </p:nvSpPr>
        <p:spPr>
          <a:xfrm>
            <a:off x="7469107" y="1377654"/>
            <a:ext cx="4102100" cy="2770689"/>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非终结符表达式角色 加法表达式</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Plus</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号左边的表达式</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号右边的表达式</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Plus</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interpret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将左边表达式的结果和右边表达式的结果进行相加</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left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interpret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right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interpret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toString</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left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toString</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 + "</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right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toString</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8" name="Rectangle: Rounded Corners 7">
            <a:extLst>
              <a:ext uri="{FF2B5EF4-FFF2-40B4-BE49-F238E27FC236}">
                <a16:creationId xmlns:a16="http://schemas.microsoft.com/office/drawing/2014/main" id="{58E1AF6A-74A6-3FB4-8D5A-70430E81D040}"/>
              </a:ext>
            </a:extLst>
          </p:cNvPr>
          <p:cNvSpPr/>
          <p:nvPr/>
        </p:nvSpPr>
        <p:spPr>
          <a:xfrm>
            <a:off x="3230297" y="1855258"/>
            <a:ext cx="4102100" cy="2770689"/>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非终结符表达式角色 减法表达式</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Minus</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号左边的表达式</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号右边的表达式</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Minus</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interpret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将左边表达式的结果和右边表达式的结果进行相减</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left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interpret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right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interpret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toString</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left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toString</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 - "</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right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toString</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9" name="Rectangle: Rounded Corners 8">
            <a:extLst>
              <a:ext uri="{FF2B5EF4-FFF2-40B4-BE49-F238E27FC236}">
                <a16:creationId xmlns:a16="http://schemas.microsoft.com/office/drawing/2014/main" id="{636CA477-6473-5E08-43CB-BB5D00849686}"/>
              </a:ext>
            </a:extLst>
          </p:cNvPr>
          <p:cNvSpPr/>
          <p:nvPr/>
        </p:nvSpPr>
        <p:spPr>
          <a:xfrm>
            <a:off x="7463365" y="4421606"/>
            <a:ext cx="4102100" cy="2200148"/>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终结符表达式角色</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Value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value</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Value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value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value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value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interpret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value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toString</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Integer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value</a:t>
            </a:r>
            <a:r>
              <a:rPr lang="en-US" sz="800" b="0" dirty="0">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toString</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2" name="Rectangle: Rounded Corners 11">
            <a:extLst>
              <a:ext uri="{FF2B5EF4-FFF2-40B4-BE49-F238E27FC236}">
                <a16:creationId xmlns:a16="http://schemas.microsoft.com/office/drawing/2014/main" id="{1E448C0D-71E9-14A8-4992-29B88BAAD40E}"/>
              </a:ext>
            </a:extLst>
          </p:cNvPr>
          <p:cNvSpPr/>
          <p:nvPr/>
        </p:nvSpPr>
        <p:spPr>
          <a:xfrm>
            <a:off x="3252771" y="4878169"/>
            <a:ext cx="4079626" cy="1743127"/>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环境角色类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Map</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Integer</a:t>
            </a:r>
            <a:r>
              <a:rPr lang="en-US" sz="800" b="0" dirty="0">
                <a:solidFill>
                  <a:srgbClr val="D4D4D4"/>
                </a:solidFill>
                <a:effectLst/>
                <a:latin typeface="Consolas" panose="020B0609020204030204" pitchFamily="49" charset="0"/>
              </a:rPr>
              <a:t>&gt; </a:t>
            </a:r>
            <a:r>
              <a:rPr lang="en-US" sz="800" b="0" dirty="0">
                <a:solidFill>
                  <a:srgbClr val="9CDCFE"/>
                </a:solidFill>
                <a:effectLst/>
                <a:latin typeface="Consolas" panose="020B0609020204030204" pitchFamily="49" charset="0"/>
              </a:rPr>
              <a:t>map</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HashMap</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Integer</a:t>
            </a:r>
            <a:r>
              <a:rPr lang="en-US" sz="800" b="0" dirty="0">
                <a:solidFill>
                  <a:srgbClr val="D4D4D4"/>
                </a:solidFill>
                <a:effectLst/>
                <a:latin typeface="Consolas" panose="020B0609020204030204" pitchFamily="49" charset="0"/>
              </a:rPr>
              <a:t>&gt;();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assign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var</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Integer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value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map</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put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var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value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getValue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var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Integer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value</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map</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var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value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452628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1B0BD-2DB7-2132-E349-2E5A4C4BAB4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65F63B7-0681-707D-50ED-02F4CA28A08A}"/>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1FD87E8B-1E5B-616D-7E2F-8FE74CDF71AE}"/>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8411758-145E-BF6D-A7DE-F79A32F48F0C}"/>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331E30C6-708B-B0E3-DEC9-BBE8F8F32978}"/>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125EE0CF-A7D0-88DD-666A-3A6CCE8EE5CA}"/>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D8FE8807-FF0B-8755-D195-A3D27BB7D46B}"/>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▶解释器模式</a:t>
              </a:r>
              <a:endParaRPr lang="en-US" sz="1200" dirty="0">
                <a:solidFill>
                  <a:schemeClr val="bg1"/>
                </a:solidFill>
              </a:endParaRPr>
            </a:p>
          </p:txBody>
        </p:sp>
        <p:sp>
          <p:nvSpPr>
            <p:cNvPr id="32" name="TextBox 36">
              <a:extLst>
                <a:ext uri="{FF2B5EF4-FFF2-40B4-BE49-F238E27FC236}">
                  <a16:creationId xmlns:a16="http://schemas.microsoft.com/office/drawing/2014/main" id="{4E03568C-400F-A1C7-D930-9615A5DF2E4A}"/>
                </a:ext>
              </a:extLst>
            </p:cNvPr>
            <p:cNvSpPr txBox="1"/>
            <p:nvPr/>
          </p:nvSpPr>
          <p:spPr>
            <a:xfrm>
              <a:off x="7667294" y="6245750"/>
              <a:ext cx="8838232" cy="276999"/>
            </a:xfrm>
            <a:prstGeom prst="rect">
              <a:avLst/>
            </a:prstGeom>
            <a:noFill/>
          </p:spPr>
          <p:txBody>
            <a:bodyPr wrap="square">
              <a:spAutoFit/>
            </a:bodyPr>
            <a:lstStyle/>
            <a:p>
              <a:endParaRPr lang="en-US" altLang="zh-CN" sz="1200" dirty="0">
                <a:solidFill>
                  <a:schemeClr val="accent1"/>
                </a:solidFill>
                <a:latin typeface="ui-monospace"/>
              </a:endParaRPr>
            </a:p>
          </p:txBody>
        </p:sp>
      </p:grpSp>
      <p:sp>
        <p:nvSpPr>
          <p:cNvPr id="16" name="TextBox 36">
            <a:extLst>
              <a:ext uri="{FF2B5EF4-FFF2-40B4-BE49-F238E27FC236}">
                <a16:creationId xmlns:a16="http://schemas.microsoft.com/office/drawing/2014/main" id="{B1D91950-E96B-DE09-EEDD-E8A87F4788D8}"/>
              </a:ext>
            </a:extLst>
          </p:cNvPr>
          <p:cNvSpPr txBox="1"/>
          <p:nvPr/>
        </p:nvSpPr>
        <p:spPr>
          <a:xfrm>
            <a:off x="3150568" y="405460"/>
            <a:ext cx="2839395" cy="276999"/>
          </a:xfrm>
          <a:prstGeom prst="rect">
            <a:avLst/>
          </a:prstGeom>
          <a:noFill/>
        </p:spPr>
        <p:txBody>
          <a:bodyPr wrap="square">
            <a:spAutoFit/>
          </a:bodyPr>
          <a:lstStyle/>
          <a:p>
            <a:r>
              <a:rPr lang="zh-CN" altLang="en-US" sz="1200" dirty="0">
                <a:solidFill>
                  <a:schemeClr val="accent1"/>
                </a:solidFill>
                <a:latin typeface="ui-monospace"/>
              </a:rPr>
              <a:t>客户端</a:t>
            </a:r>
            <a:r>
              <a:rPr lang="en-US" altLang="zh-CN" sz="1200" dirty="0">
                <a:solidFill>
                  <a:schemeClr val="accent1"/>
                </a:solidFill>
                <a:latin typeface="ui-monospace"/>
              </a:rPr>
              <a:t>(Client)</a:t>
            </a:r>
          </a:p>
        </p:txBody>
      </p:sp>
      <p:sp>
        <p:nvSpPr>
          <p:cNvPr id="4" name="Rectangle: Rounded Corners 3">
            <a:extLst>
              <a:ext uri="{FF2B5EF4-FFF2-40B4-BE49-F238E27FC236}">
                <a16:creationId xmlns:a16="http://schemas.microsoft.com/office/drawing/2014/main" id="{378D76D2-537B-4837-05A2-9AAA913CCFA0}"/>
              </a:ext>
            </a:extLst>
          </p:cNvPr>
          <p:cNvSpPr/>
          <p:nvPr/>
        </p:nvSpPr>
        <p:spPr>
          <a:xfrm>
            <a:off x="3229791" y="4105922"/>
            <a:ext cx="2986205" cy="2375970"/>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封装变量的类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声明存储变量名的成员变量</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interpret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直接返回变量的值</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getValue</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toString</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3" name="Rectangle: Rounded Corners 12">
            <a:extLst>
              <a:ext uri="{FF2B5EF4-FFF2-40B4-BE49-F238E27FC236}">
                <a16:creationId xmlns:a16="http://schemas.microsoft.com/office/drawing/2014/main" id="{AF80192D-EC17-2C51-309D-352B425A058A}"/>
              </a:ext>
            </a:extLst>
          </p:cNvPr>
          <p:cNvSpPr/>
          <p:nvPr/>
        </p:nvSpPr>
        <p:spPr>
          <a:xfrm>
            <a:off x="3233658" y="634834"/>
            <a:ext cx="4914901" cy="3338800"/>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创建环境对象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创建多个变量对象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b</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"b"</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"c"</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Variable</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"d"</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Value v = new Value(1);</a:t>
            </a:r>
            <a:endParaRPr lang="en-US" sz="800" b="0" dirty="0">
              <a:solidFill>
                <a:srgbClr val="D4D4D4"/>
              </a:solidFill>
              <a:effectLst/>
              <a:latin typeface="Consolas" panose="020B0609020204030204" pitchFamily="49" charset="0"/>
            </a:endParaRP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将变量存储到环境对象中</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assign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assign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b</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2</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assign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c</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3</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assign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d</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4</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获取抽象语法树 </a:t>
            </a:r>
            <a:r>
              <a:rPr lang="en-US" sz="800" b="0" dirty="0">
                <a:solidFill>
                  <a:srgbClr val="6A9955"/>
                </a:solidFill>
                <a:effectLst/>
                <a:latin typeface="Consolas" panose="020B0609020204030204" pitchFamily="49" charset="0"/>
              </a:rPr>
              <a:t>a + b - c + d</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AbstractExpression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expression</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Minus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Minus</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Minus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b</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解释（计算）</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result</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expression</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interpret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expression</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 = "</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result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pic>
        <p:nvPicPr>
          <p:cNvPr id="3452" name="Picture 3451">
            <a:extLst>
              <a:ext uri="{FF2B5EF4-FFF2-40B4-BE49-F238E27FC236}">
                <a16:creationId xmlns:a16="http://schemas.microsoft.com/office/drawing/2014/main" id="{3008F7A1-EA93-A114-8B9A-C625B513E898}"/>
              </a:ext>
            </a:extLst>
          </p:cNvPr>
          <p:cNvPicPr>
            <a:picLocks noChangeAspect="1"/>
          </p:cNvPicPr>
          <p:nvPr/>
        </p:nvPicPr>
        <p:blipFill>
          <a:blip r:embed="rId2"/>
          <a:stretch>
            <a:fillRect/>
          </a:stretch>
        </p:blipFill>
        <p:spPr>
          <a:xfrm>
            <a:off x="8231649" y="689540"/>
            <a:ext cx="3757151" cy="2743429"/>
          </a:xfrm>
          <a:prstGeom prst="rect">
            <a:avLst/>
          </a:prstGeom>
        </p:spPr>
      </p:pic>
      <p:sp>
        <p:nvSpPr>
          <p:cNvPr id="17" name="TextBox 36">
            <a:extLst>
              <a:ext uri="{FF2B5EF4-FFF2-40B4-BE49-F238E27FC236}">
                <a16:creationId xmlns:a16="http://schemas.microsoft.com/office/drawing/2014/main" id="{B1D91950-E96B-DE09-EEDD-E8A87F4788D8}"/>
              </a:ext>
            </a:extLst>
          </p:cNvPr>
          <p:cNvSpPr txBox="1"/>
          <p:nvPr/>
        </p:nvSpPr>
        <p:spPr>
          <a:xfrm>
            <a:off x="8148559" y="405460"/>
            <a:ext cx="2839395"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spTree>
    <p:extLst>
      <p:ext uri="{BB962C8B-B14F-4D97-AF65-F5344CB8AC3E}">
        <p14:creationId xmlns:p14="http://schemas.microsoft.com/office/powerpoint/2010/main" val="4003385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5C25B-31E6-BF20-16F3-B55A6AB8C77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3CC213B-C30C-0415-FB14-717FB123F170}"/>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C51E5EB6-57EA-6FB6-B478-3930A1578332}"/>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6A5336E-9CEA-44F9-795E-907AB6A3AE4F}"/>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6C8F1FD-6006-6D54-5D30-4F21B37DF3EE}"/>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B6BC586F-0390-D3EB-CFC1-8687EB1BC9F1}"/>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81F9F8E9-F762-96CE-567E-2626D2286858}"/>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▶迭代器模式</a:t>
              </a:r>
              <a:endParaRPr lang="en-US" sz="1200" dirty="0">
                <a:solidFill>
                  <a:schemeClr val="bg1"/>
                </a:solidFill>
              </a:endParaRPr>
            </a:p>
          </p:txBody>
        </p:sp>
        <p:sp>
          <p:nvSpPr>
            <p:cNvPr id="32" name="TextBox 36">
              <a:extLst>
                <a:ext uri="{FF2B5EF4-FFF2-40B4-BE49-F238E27FC236}">
                  <a16:creationId xmlns:a16="http://schemas.microsoft.com/office/drawing/2014/main" id="{E911FA18-B604-1C37-009C-0938A060F4C2}"/>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提供一种方法顺序访问一个</a:t>
              </a:r>
              <a:r>
                <a:rPr lang="zh-CN" altLang="en-US" sz="1200" b="1" dirty="0">
                  <a:solidFill>
                    <a:schemeClr val="accent1"/>
                  </a:solidFill>
                  <a:latin typeface="ui-monospace"/>
                </a:rPr>
                <a:t>聚合对象</a:t>
              </a:r>
              <a:r>
                <a:rPr lang="zh-CN" altLang="en-US" sz="1200" dirty="0">
                  <a:solidFill>
                    <a:schemeClr val="accent1"/>
                  </a:solidFill>
                  <a:latin typeface="ui-monospace"/>
                </a:rPr>
                <a:t>的各个元素，且不需要暴露该对象的内部表示</a:t>
              </a:r>
              <a:endParaRPr lang="en-US" altLang="zh-CN" sz="1200" dirty="0">
                <a:solidFill>
                  <a:schemeClr val="accent1"/>
                </a:solidFill>
                <a:latin typeface="ui-monospace"/>
              </a:endParaRPr>
            </a:p>
          </p:txBody>
        </p:sp>
      </p:grpSp>
      <p:sp>
        <p:nvSpPr>
          <p:cNvPr id="5" name="TextBox 36">
            <a:extLst>
              <a:ext uri="{FF2B5EF4-FFF2-40B4-BE49-F238E27FC236}">
                <a16:creationId xmlns:a16="http://schemas.microsoft.com/office/drawing/2014/main" id="{8386A5AC-202B-D8AE-BF2D-C5CFC465BDE9}"/>
              </a:ext>
            </a:extLst>
          </p:cNvPr>
          <p:cNvSpPr txBox="1"/>
          <p:nvPr/>
        </p:nvSpPr>
        <p:spPr>
          <a:xfrm>
            <a:off x="3150568" y="603368"/>
            <a:ext cx="2839395" cy="276999"/>
          </a:xfrm>
          <a:prstGeom prst="rect">
            <a:avLst/>
          </a:prstGeom>
          <a:noFill/>
        </p:spPr>
        <p:txBody>
          <a:bodyPr wrap="square">
            <a:spAutoFit/>
          </a:bodyPr>
          <a:lstStyle/>
          <a:p>
            <a:r>
              <a:rPr lang="zh-CN" altLang="en-US" sz="1200" dirty="0">
                <a:solidFill>
                  <a:schemeClr val="accent1"/>
                </a:solidFill>
                <a:latin typeface="ui-monospace"/>
              </a:rPr>
              <a:t>抽象聚合角色</a:t>
            </a:r>
            <a:r>
              <a:rPr lang="en-US" altLang="zh-CN" sz="1200" dirty="0">
                <a:solidFill>
                  <a:schemeClr val="accent1"/>
                </a:solidFill>
                <a:latin typeface="ui-monospace"/>
              </a:rPr>
              <a:t>(Aggregate)</a:t>
            </a:r>
          </a:p>
        </p:txBody>
      </p:sp>
      <p:sp>
        <p:nvSpPr>
          <p:cNvPr id="10" name="Rectangle: Rounded Corners 9">
            <a:extLst>
              <a:ext uri="{FF2B5EF4-FFF2-40B4-BE49-F238E27FC236}">
                <a16:creationId xmlns:a16="http://schemas.microsoft.com/office/drawing/2014/main" id="{253B4AEF-8604-9399-473C-2B7A405B1E38}"/>
              </a:ext>
            </a:extLst>
          </p:cNvPr>
          <p:cNvSpPr/>
          <p:nvPr/>
        </p:nvSpPr>
        <p:spPr>
          <a:xfrm>
            <a:off x="3198284" y="5472189"/>
            <a:ext cx="2578598" cy="91433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抽象迭代器角色接口</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StudentIterator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判断是否还有元素</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boolean</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hasNext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获取下一个元素</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next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p:txBody>
      </p:sp>
      <p:sp>
        <p:nvSpPr>
          <p:cNvPr id="4" name="TextBox 36">
            <a:extLst>
              <a:ext uri="{FF2B5EF4-FFF2-40B4-BE49-F238E27FC236}">
                <a16:creationId xmlns:a16="http://schemas.microsoft.com/office/drawing/2014/main" id="{71EED6A1-DDBB-34E3-1156-89FD075630CA}"/>
              </a:ext>
            </a:extLst>
          </p:cNvPr>
          <p:cNvSpPr txBox="1"/>
          <p:nvPr/>
        </p:nvSpPr>
        <p:spPr>
          <a:xfrm>
            <a:off x="3150568" y="2215598"/>
            <a:ext cx="2839395" cy="276999"/>
          </a:xfrm>
          <a:prstGeom prst="rect">
            <a:avLst/>
          </a:prstGeom>
          <a:noFill/>
        </p:spPr>
        <p:txBody>
          <a:bodyPr wrap="square">
            <a:spAutoFit/>
          </a:bodyPr>
          <a:lstStyle/>
          <a:p>
            <a:r>
              <a:rPr lang="zh-CN" altLang="en-US" sz="1200" dirty="0">
                <a:solidFill>
                  <a:schemeClr val="accent1"/>
                </a:solidFill>
                <a:latin typeface="ui-monospace"/>
              </a:rPr>
              <a:t>具体聚合角色</a:t>
            </a:r>
            <a:r>
              <a:rPr lang="en-US" altLang="zh-CN" sz="1200" dirty="0">
                <a:solidFill>
                  <a:schemeClr val="accent1"/>
                </a:solidFill>
                <a:latin typeface="ui-monospace"/>
              </a:rPr>
              <a:t>(</a:t>
            </a:r>
            <a:r>
              <a:rPr lang="en-US" altLang="zh-CN" sz="1200" dirty="0" err="1">
                <a:solidFill>
                  <a:schemeClr val="accent1"/>
                </a:solidFill>
                <a:latin typeface="ui-monospace"/>
              </a:rPr>
              <a:t>ConcreteAggregate</a:t>
            </a:r>
            <a:r>
              <a:rPr lang="en-US" altLang="zh-CN" sz="1200" dirty="0">
                <a:solidFill>
                  <a:schemeClr val="accent1"/>
                </a:solidFill>
                <a:latin typeface="ui-monospace"/>
              </a:rPr>
              <a:t>)</a:t>
            </a:r>
          </a:p>
        </p:txBody>
      </p:sp>
      <p:sp>
        <p:nvSpPr>
          <p:cNvPr id="7" name="TextBox 36">
            <a:extLst>
              <a:ext uri="{FF2B5EF4-FFF2-40B4-BE49-F238E27FC236}">
                <a16:creationId xmlns:a16="http://schemas.microsoft.com/office/drawing/2014/main" id="{2D0D9A7D-30EA-9D75-459D-715902EFBF29}"/>
              </a:ext>
            </a:extLst>
          </p:cNvPr>
          <p:cNvSpPr txBox="1"/>
          <p:nvPr/>
        </p:nvSpPr>
        <p:spPr>
          <a:xfrm>
            <a:off x="3198284" y="5232779"/>
            <a:ext cx="2839395" cy="276999"/>
          </a:xfrm>
          <a:prstGeom prst="rect">
            <a:avLst/>
          </a:prstGeom>
          <a:noFill/>
        </p:spPr>
        <p:txBody>
          <a:bodyPr wrap="square">
            <a:spAutoFit/>
          </a:bodyPr>
          <a:lstStyle/>
          <a:p>
            <a:r>
              <a:rPr lang="zh-CN" altLang="en-US" sz="1200" dirty="0">
                <a:solidFill>
                  <a:schemeClr val="accent1"/>
                </a:solidFill>
                <a:latin typeface="ui-monospace"/>
              </a:rPr>
              <a:t>抽象迭代器角色</a:t>
            </a:r>
            <a:r>
              <a:rPr lang="en-US" altLang="zh-CN" sz="1200" dirty="0">
                <a:solidFill>
                  <a:schemeClr val="accent1"/>
                </a:solidFill>
                <a:latin typeface="ui-monospace"/>
              </a:rPr>
              <a:t>(Iterator)</a:t>
            </a:r>
          </a:p>
        </p:txBody>
      </p:sp>
      <p:sp>
        <p:nvSpPr>
          <p:cNvPr id="8" name="TextBox 36">
            <a:extLst>
              <a:ext uri="{FF2B5EF4-FFF2-40B4-BE49-F238E27FC236}">
                <a16:creationId xmlns:a16="http://schemas.microsoft.com/office/drawing/2014/main" id="{9BD47EE7-17C7-C87F-A86B-8963A75B230F}"/>
              </a:ext>
            </a:extLst>
          </p:cNvPr>
          <p:cNvSpPr txBox="1"/>
          <p:nvPr/>
        </p:nvSpPr>
        <p:spPr>
          <a:xfrm>
            <a:off x="5776882" y="599941"/>
            <a:ext cx="2839395" cy="276999"/>
          </a:xfrm>
          <a:prstGeom prst="rect">
            <a:avLst/>
          </a:prstGeom>
          <a:noFill/>
        </p:spPr>
        <p:txBody>
          <a:bodyPr wrap="square">
            <a:spAutoFit/>
          </a:bodyPr>
          <a:lstStyle/>
          <a:p>
            <a:r>
              <a:rPr lang="zh-CN" altLang="en-US" sz="1200" dirty="0">
                <a:solidFill>
                  <a:schemeClr val="accent1"/>
                </a:solidFill>
                <a:latin typeface="ui-monospace"/>
              </a:rPr>
              <a:t>具体迭代器角色</a:t>
            </a:r>
            <a:r>
              <a:rPr lang="en-US" altLang="zh-CN" sz="1200" dirty="0">
                <a:solidFill>
                  <a:schemeClr val="accent1"/>
                </a:solidFill>
                <a:latin typeface="ui-monospace"/>
              </a:rPr>
              <a:t>(</a:t>
            </a:r>
            <a:r>
              <a:rPr lang="en-US" altLang="zh-CN" sz="1200" dirty="0" err="1">
                <a:solidFill>
                  <a:schemeClr val="accent1"/>
                </a:solidFill>
                <a:latin typeface="ui-monospace"/>
              </a:rPr>
              <a:t>ConcreteIterator</a:t>
            </a:r>
            <a:r>
              <a:rPr lang="en-US" altLang="zh-CN" sz="1200" dirty="0">
                <a:solidFill>
                  <a:schemeClr val="accent1"/>
                </a:solidFill>
                <a:latin typeface="ui-monospace"/>
              </a:rPr>
              <a:t>)</a:t>
            </a:r>
          </a:p>
        </p:txBody>
      </p:sp>
      <p:sp>
        <p:nvSpPr>
          <p:cNvPr id="9" name="Rectangle: Rounded Corners 8">
            <a:extLst>
              <a:ext uri="{FF2B5EF4-FFF2-40B4-BE49-F238E27FC236}">
                <a16:creationId xmlns:a16="http://schemas.microsoft.com/office/drawing/2014/main" id="{09D166DC-899A-E5D5-DFC9-3312DF31CB93}"/>
              </a:ext>
            </a:extLst>
          </p:cNvPr>
          <p:cNvSpPr/>
          <p:nvPr/>
        </p:nvSpPr>
        <p:spPr>
          <a:xfrm>
            <a:off x="5839442" y="904306"/>
            <a:ext cx="3095007" cy="292777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具体迭代器角色类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StudentIteratorImpl</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StudentIterator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List</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&gt; </a:t>
            </a:r>
            <a:r>
              <a:rPr lang="en-US" sz="800" b="0" dirty="0">
                <a:solidFill>
                  <a:srgbClr val="9CDCFE"/>
                </a:solidFill>
                <a:effectLst/>
                <a:latin typeface="Consolas" panose="020B0609020204030204" pitchFamily="49" charset="0"/>
              </a:rPr>
              <a:t>list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position</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用来记录遍历时的位置</a:t>
            </a:r>
            <a:endParaRPr lang="zh-CN" altLang="en-US" sz="800" b="0" dirty="0">
              <a:solidFill>
                <a:srgbClr val="D4D4D4"/>
              </a:solidFill>
              <a:effectLst/>
              <a:latin typeface="Consolas" panose="020B0609020204030204" pitchFamily="49" charset="0"/>
            </a:endParaRPr>
          </a:p>
          <a:p>
            <a:br>
              <a:rPr lang="zh-CN" altLang="en-US" sz="800" b="0" dirty="0">
                <a:solidFill>
                  <a:srgbClr val="D4D4D4"/>
                </a:solidFill>
                <a:effectLst/>
                <a:latin typeface="Consolas" panose="020B0609020204030204" pitchFamily="49" charset="0"/>
              </a:rPr>
            </a:br>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StudentIteratorImpl</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List</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&gt; </a:t>
            </a:r>
            <a:r>
              <a:rPr lang="en-US" sz="800" b="0" dirty="0">
                <a:solidFill>
                  <a:srgbClr val="9CDCFE"/>
                </a:solidFill>
                <a:effectLst/>
                <a:latin typeface="Consolas" panose="020B0609020204030204" pitchFamily="49" charset="0"/>
              </a:rPr>
              <a:t>list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list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list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boolean</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hasNext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position</a:t>
            </a:r>
            <a:r>
              <a:rPr lang="en-US" sz="800" b="0" dirty="0">
                <a:solidFill>
                  <a:srgbClr val="D4D4D4"/>
                </a:solidFill>
                <a:effectLst/>
                <a:latin typeface="Consolas" panose="020B0609020204030204" pitchFamily="49" charset="0"/>
              </a:rPr>
              <a:t> &lt; </a:t>
            </a:r>
            <a:r>
              <a:rPr lang="en-US" sz="800" b="0" dirty="0" err="1">
                <a:solidFill>
                  <a:srgbClr val="9CDCFE"/>
                </a:solidFill>
                <a:effectLst/>
                <a:latin typeface="Consolas" panose="020B0609020204030204" pitchFamily="49" charset="0"/>
              </a:rPr>
              <a:t>list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size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next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从集合中获取指定位置的元素</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currentStudent</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list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position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position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currentStudent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1" name="Rectangle: Rounded Corners 10">
            <a:extLst>
              <a:ext uri="{FF2B5EF4-FFF2-40B4-BE49-F238E27FC236}">
                <a16:creationId xmlns:a16="http://schemas.microsoft.com/office/drawing/2014/main" id="{7C0DAE9F-5088-FA00-43C2-36B293279DB5}"/>
              </a:ext>
            </a:extLst>
          </p:cNvPr>
          <p:cNvSpPr/>
          <p:nvPr/>
        </p:nvSpPr>
        <p:spPr>
          <a:xfrm>
            <a:off x="3198285" y="914713"/>
            <a:ext cx="2578598" cy="128596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抽象聚合角色接口</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StudentAggregate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添加学生功能</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addStudent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stu</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删除学生功能</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removeStudent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stu</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获取迭代器对象功能</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StudentIterator</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getStudentIterator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p:txBody>
      </p:sp>
      <p:sp>
        <p:nvSpPr>
          <p:cNvPr id="12" name="Rectangle: Rounded Corners 11">
            <a:extLst>
              <a:ext uri="{FF2B5EF4-FFF2-40B4-BE49-F238E27FC236}">
                <a16:creationId xmlns:a16="http://schemas.microsoft.com/office/drawing/2014/main" id="{24F63631-2F53-FCA7-A2EC-F6D49A04F0AC}"/>
              </a:ext>
            </a:extLst>
          </p:cNvPr>
          <p:cNvSpPr/>
          <p:nvPr/>
        </p:nvSpPr>
        <p:spPr>
          <a:xfrm>
            <a:off x="3198285" y="2507515"/>
            <a:ext cx="2578598" cy="2721709"/>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具体聚合角色</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StudentAggregateImpl</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StudentAggregate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List</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&gt; </a:t>
            </a:r>
            <a:r>
              <a:rPr lang="en-US" sz="800" b="0" dirty="0">
                <a:solidFill>
                  <a:srgbClr val="9CDCFE"/>
                </a:solidFill>
                <a:effectLst/>
                <a:latin typeface="Consolas" panose="020B0609020204030204" pitchFamily="49" charset="0"/>
              </a:rPr>
              <a:t>list</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ArrayList</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&gt;();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addStudent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stu</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list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stu</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removeStudent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stu</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list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remove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stu</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获取迭代器对象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StudentIterator</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getStudentIterator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StudentIteratorImpl</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list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3" name="Rectangle: Rounded Corners 12">
            <a:extLst>
              <a:ext uri="{FF2B5EF4-FFF2-40B4-BE49-F238E27FC236}">
                <a16:creationId xmlns:a16="http://schemas.microsoft.com/office/drawing/2014/main" id="{EA3F8473-847B-8885-515D-8A08CB252201}"/>
              </a:ext>
            </a:extLst>
          </p:cNvPr>
          <p:cNvSpPr/>
          <p:nvPr/>
        </p:nvSpPr>
        <p:spPr>
          <a:xfrm>
            <a:off x="5839442" y="3874280"/>
            <a:ext cx="3379203" cy="2921924"/>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创建聚合对象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StudentAggregateImpl</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aggregate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StudentAggregateImpl</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添加元素</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aggregate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addStudent</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张三</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altLang="zh-CN" sz="800" b="0" dirty="0">
                <a:solidFill>
                  <a:srgbClr val="CE9178"/>
                </a:solidFill>
                <a:effectLst/>
                <a:latin typeface="Consolas" panose="020B0609020204030204" pitchFamily="49" charset="0"/>
              </a:rPr>
              <a:t>"001"</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aggregate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addStudent</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李四</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altLang="zh-CN" sz="800" b="0" dirty="0">
                <a:solidFill>
                  <a:srgbClr val="CE9178"/>
                </a:solidFill>
                <a:effectLst/>
                <a:latin typeface="Consolas" panose="020B0609020204030204" pitchFamily="49" charset="0"/>
              </a:rPr>
              <a:t>"002"</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aggregate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addStudent</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王五</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altLang="zh-CN" sz="800" b="0" dirty="0">
                <a:solidFill>
                  <a:srgbClr val="CE9178"/>
                </a:solidFill>
                <a:effectLst/>
                <a:latin typeface="Consolas" panose="020B0609020204030204" pitchFamily="49" charset="0"/>
              </a:rPr>
              <a:t>"003"</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aggregate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addStudent</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赵六</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altLang="zh-CN" sz="800" b="0" dirty="0">
                <a:solidFill>
                  <a:srgbClr val="CE9178"/>
                </a:solidFill>
                <a:effectLst/>
                <a:latin typeface="Consolas" panose="020B0609020204030204" pitchFamily="49" charset="0"/>
              </a:rPr>
              <a:t>"004"</a:t>
            </a:r>
            <a:r>
              <a:rPr lang="en-US" altLang="zh-CN" sz="800" b="0" dirty="0">
                <a:solidFill>
                  <a:srgbClr val="D4D4D4"/>
                </a:solidFill>
                <a:effectLst/>
                <a:latin typeface="Consolas" panose="020B0609020204030204" pitchFamily="49" charset="0"/>
              </a:rPr>
              <a:t>));</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遍历聚合对象</a:t>
            </a:r>
            <a:endParaRPr lang="zh-CN" altLang="en-US" sz="800" b="0" dirty="0">
              <a:solidFill>
                <a:srgbClr val="D4D4D4"/>
              </a:solidFill>
              <a:effectLst/>
              <a:latin typeface="Consolas" panose="020B0609020204030204" pitchFamily="49" charset="0"/>
            </a:endParaRPr>
          </a:p>
          <a:p>
            <a:br>
              <a:rPr lang="zh-CN" altLang="en-US" sz="800" b="0" dirty="0">
                <a:solidFill>
                  <a:srgbClr val="D4D4D4"/>
                </a:solidFill>
                <a:effectLst/>
                <a:latin typeface="Consolas" panose="020B0609020204030204" pitchFamily="49" charset="0"/>
              </a:rPr>
            </a:br>
            <a:r>
              <a:rPr lang="zh-CN" altLang="en-US"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1,</a:t>
            </a:r>
            <a:r>
              <a:rPr lang="zh-CN" altLang="en-US" sz="800" b="0" dirty="0">
                <a:solidFill>
                  <a:srgbClr val="6A9955"/>
                </a:solidFill>
                <a:effectLst/>
                <a:latin typeface="Consolas" panose="020B0609020204030204" pitchFamily="49" charset="0"/>
              </a:rPr>
              <a:t>获取迭代器对象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StudentIterator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iterator</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aggregate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getStudentIterator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2,</a:t>
            </a:r>
            <a:r>
              <a:rPr lang="zh-CN" altLang="en-US" sz="800" b="0" dirty="0">
                <a:solidFill>
                  <a:srgbClr val="6A9955"/>
                </a:solidFill>
                <a:effectLst/>
                <a:latin typeface="Consolas" panose="020B0609020204030204" pitchFamily="49" charset="0"/>
              </a:rPr>
              <a:t>遍历</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while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iterator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hasNext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3,</a:t>
            </a:r>
            <a:r>
              <a:rPr lang="zh-CN" altLang="en-US" sz="800" b="0" dirty="0">
                <a:solidFill>
                  <a:srgbClr val="6A9955"/>
                </a:solidFill>
                <a:effectLst/>
                <a:latin typeface="Consolas" panose="020B0609020204030204" pitchFamily="49" charset="0"/>
              </a:rPr>
              <a:t>获取元素</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iterator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next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student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toString</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4" name="Rectangle: Rounded Corners 13">
            <a:extLst>
              <a:ext uri="{FF2B5EF4-FFF2-40B4-BE49-F238E27FC236}">
                <a16:creationId xmlns:a16="http://schemas.microsoft.com/office/drawing/2014/main" id="{E62DD9F5-A271-7B3D-4238-258905CAA05C}"/>
              </a:ext>
            </a:extLst>
          </p:cNvPr>
          <p:cNvSpPr/>
          <p:nvPr/>
        </p:nvSpPr>
        <p:spPr>
          <a:xfrm>
            <a:off x="8997009" y="389957"/>
            <a:ext cx="3093392" cy="3442121"/>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toString</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en-US" sz="800" b="0" dirty="0">
                <a:solidFill>
                  <a:srgbClr val="D7BA7D"/>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 number='"</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en-US" sz="800" b="0" dirty="0">
                <a:solidFill>
                  <a:srgbClr val="D7BA7D"/>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getName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setName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getNumber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setNumber</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Student</a:t>
            </a:r>
            <a:r>
              <a:rPr lang="en-US" sz="800" b="0" dirty="0">
                <a:solidFill>
                  <a:srgbClr val="D4D4D4"/>
                </a:solidFill>
                <a:effectLst/>
                <a:latin typeface="Consolas" panose="020B0609020204030204" pitchFamily="49" charset="0"/>
              </a:rPr>
              <a:t>() { }</a:t>
            </a:r>
          </a:p>
          <a:p>
            <a:r>
              <a:rPr lang="en-US" sz="800" b="0" dirty="0">
                <a:solidFill>
                  <a:srgbClr val="D4D4D4"/>
                </a:solidFill>
                <a:effectLst/>
                <a:latin typeface="Consolas" panose="020B0609020204030204" pitchFamily="49" charset="0"/>
              </a:rPr>
              <a:t>}</a:t>
            </a:r>
          </a:p>
        </p:txBody>
      </p:sp>
      <p:pic>
        <p:nvPicPr>
          <p:cNvPr id="2959" name="Picture 2958">
            <a:extLst>
              <a:ext uri="{FF2B5EF4-FFF2-40B4-BE49-F238E27FC236}">
                <a16:creationId xmlns:a16="http://schemas.microsoft.com/office/drawing/2014/main" id="{386B91EC-1A3B-371C-56A3-523ED31F432F}"/>
              </a:ext>
            </a:extLst>
          </p:cNvPr>
          <p:cNvPicPr>
            <a:picLocks noChangeAspect="1"/>
          </p:cNvPicPr>
          <p:nvPr/>
        </p:nvPicPr>
        <p:blipFill>
          <a:blip r:embed="rId2"/>
          <a:stretch>
            <a:fillRect/>
          </a:stretch>
        </p:blipFill>
        <p:spPr>
          <a:xfrm>
            <a:off x="9281204" y="4342293"/>
            <a:ext cx="2780017" cy="2334970"/>
          </a:xfrm>
          <a:prstGeom prst="rect">
            <a:avLst/>
          </a:prstGeom>
        </p:spPr>
      </p:pic>
      <p:sp>
        <p:nvSpPr>
          <p:cNvPr id="15" name="TextBox 36">
            <a:extLst>
              <a:ext uri="{FF2B5EF4-FFF2-40B4-BE49-F238E27FC236}">
                <a16:creationId xmlns:a16="http://schemas.microsoft.com/office/drawing/2014/main" id="{A849B12B-A73B-A8E2-F28A-E7D5BC6C90D7}"/>
              </a:ext>
            </a:extLst>
          </p:cNvPr>
          <p:cNvSpPr txBox="1"/>
          <p:nvPr/>
        </p:nvSpPr>
        <p:spPr>
          <a:xfrm>
            <a:off x="9251005" y="3914127"/>
            <a:ext cx="2839395"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spTree>
    <p:extLst>
      <p:ext uri="{BB962C8B-B14F-4D97-AF65-F5344CB8AC3E}">
        <p14:creationId xmlns:p14="http://schemas.microsoft.com/office/powerpoint/2010/main" val="26742517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28B88-7F68-25AC-8AD0-862CB3BB338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E22CA93-78E7-7045-B30C-8A0540C94F2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4191637C-38C1-E777-63FC-B6C46165F28B}"/>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1CEB07A-E7BE-DF98-3740-A03A044BFBB9}"/>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56FB1D00-2FC2-37C6-0BB1-D4A21E645634}"/>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D8269BC7-1203-BDAA-442D-BB950E76F8E6}"/>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5F5DDA5D-DCA0-E2F3-7F3A-3803E2F1057A}"/>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▶中介者模式</a:t>
              </a:r>
              <a:endParaRPr lang="en-US" sz="1200" dirty="0">
                <a:solidFill>
                  <a:schemeClr val="bg1"/>
                </a:solidFill>
              </a:endParaRPr>
            </a:p>
          </p:txBody>
        </p:sp>
        <p:sp>
          <p:nvSpPr>
            <p:cNvPr id="32" name="TextBox 36">
              <a:extLst>
                <a:ext uri="{FF2B5EF4-FFF2-40B4-BE49-F238E27FC236}">
                  <a16:creationId xmlns:a16="http://schemas.microsoft.com/office/drawing/2014/main" id="{B3E9CA26-1FA5-C7CB-6A46-A34761E85202}"/>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调停模式。用一个中介对象来封装一系列的对象交互。使各对象不需要显式地相互引用，耦合松散，且可独立改变之间的交互</a:t>
              </a:r>
              <a:endParaRPr lang="en-US" altLang="zh-CN" sz="1200" dirty="0">
                <a:solidFill>
                  <a:schemeClr val="accent1"/>
                </a:solidFill>
                <a:latin typeface="ui-monospace"/>
              </a:endParaRPr>
            </a:p>
          </p:txBody>
        </p:sp>
      </p:grpSp>
      <p:sp>
        <p:nvSpPr>
          <p:cNvPr id="5" name="TextBox 36">
            <a:extLst>
              <a:ext uri="{FF2B5EF4-FFF2-40B4-BE49-F238E27FC236}">
                <a16:creationId xmlns:a16="http://schemas.microsoft.com/office/drawing/2014/main" id="{5BA85B8E-B973-8F84-9700-4A3B5F2FE5EE}"/>
              </a:ext>
            </a:extLst>
          </p:cNvPr>
          <p:cNvSpPr txBox="1"/>
          <p:nvPr/>
        </p:nvSpPr>
        <p:spPr>
          <a:xfrm>
            <a:off x="3150568" y="603368"/>
            <a:ext cx="2839395" cy="276999"/>
          </a:xfrm>
          <a:prstGeom prst="rect">
            <a:avLst/>
          </a:prstGeom>
          <a:noFill/>
        </p:spPr>
        <p:txBody>
          <a:bodyPr wrap="square">
            <a:spAutoFit/>
          </a:bodyPr>
          <a:lstStyle/>
          <a:p>
            <a:r>
              <a:rPr lang="zh-CN" altLang="en-US" sz="1200" dirty="0">
                <a:solidFill>
                  <a:schemeClr val="accent1"/>
                </a:solidFill>
                <a:latin typeface="ui-monospace"/>
              </a:rPr>
              <a:t>抽象中介者角色</a:t>
            </a:r>
            <a:r>
              <a:rPr lang="en-US" altLang="zh-CN" sz="1200" dirty="0">
                <a:solidFill>
                  <a:schemeClr val="accent1"/>
                </a:solidFill>
                <a:latin typeface="ui-monospace"/>
              </a:rPr>
              <a:t>(Mediator)</a:t>
            </a:r>
          </a:p>
        </p:txBody>
      </p:sp>
      <p:sp>
        <p:nvSpPr>
          <p:cNvPr id="10" name="Rectangle: Rounded Corners 9">
            <a:extLst>
              <a:ext uri="{FF2B5EF4-FFF2-40B4-BE49-F238E27FC236}">
                <a16:creationId xmlns:a16="http://schemas.microsoft.com/office/drawing/2014/main" id="{ECD3A869-EE30-2344-22CF-B6471AE097F6}"/>
              </a:ext>
            </a:extLst>
          </p:cNvPr>
          <p:cNvSpPr/>
          <p:nvPr/>
        </p:nvSpPr>
        <p:spPr>
          <a:xfrm>
            <a:off x="3253014" y="842267"/>
            <a:ext cx="3143613" cy="81447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抽象中介者</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申明一个联络方法</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constact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p:txBody>
      </p:sp>
      <p:sp>
        <p:nvSpPr>
          <p:cNvPr id="4" name="TextBox 36">
            <a:extLst>
              <a:ext uri="{FF2B5EF4-FFF2-40B4-BE49-F238E27FC236}">
                <a16:creationId xmlns:a16="http://schemas.microsoft.com/office/drawing/2014/main" id="{6B369D66-9326-F284-EEBB-BDF7057E991A}"/>
              </a:ext>
            </a:extLst>
          </p:cNvPr>
          <p:cNvSpPr txBox="1"/>
          <p:nvPr/>
        </p:nvSpPr>
        <p:spPr>
          <a:xfrm>
            <a:off x="3150568" y="1647024"/>
            <a:ext cx="2839395" cy="276999"/>
          </a:xfrm>
          <a:prstGeom prst="rect">
            <a:avLst/>
          </a:prstGeom>
          <a:noFill/>
        </p:spPr>
        <p:txBody>
          <a:bodyPr wrap="square">
            <a:spAutoFit/>
          </a:bodyPr>
          <a:lstStyle/>
          <a:p>
            <a:r>
              <a:rPr lang="zh-CN" altLang="en-US" sz="1200" dirty="0">
                <a:solidFill>
                  <a:schemeClr val="accent1"/>
                </a:solidFill>
                <a:latin typeface="ui-monospace"/>
              </a:rPr>
              <a:t>具体中介者角色</a:t>
            </a:r>
            <a:r>
              <a:rPr lang="en-US" altLang="zh-CN" sz="1200" dirty="0">
                <a:solidFill>
                  <a:schemeClr val="accent1"/>
                </a:solidFill>
                <a:latin typeface="ui-monospace"/>
              </a:rPr>
              <a:t>(</a:t>
            </a:r>
            <a:r>
              <a:rPr lang="en-US" altLang="zh-CN" sz="1200" dirty="0" err="1">
                <a:solidFill>
                  <a:schemeClr val="accent1"/>
                </a:solidFill>
                <a:latin typeface="ui-monospace"/>
              </a:rPr>
              <a:t>ConcreteMediator</a:t>
            </a:r>
            <a:r>
              <a:rPr lang="en-US" altLang="zh-CN" sz="1200" dirty="0">
                <a:solidFill>
                  <a:schemeClr val="accent1"/>
                </a:solidFill>
                <a:latin typeface="ui-monospace"/>
              </a:rPr>
              <a:t>)</a:t>
            </a:r>
          </a:p>
        </p:txBody>
      </p:sp>
      <p:sp>
        <p:nvSpPr>
          <p:cNvPr id="7" name="TextBox 36">
            <a:extLst>
              <a:ext uri="{FF2B5EF4-FFF2-40B4-BE49-F238E27FC236}">
                <a16:creationId xmlns:a16="http://schemas.microsoft.com/office/drawing/2014/main" id="{A85EC4CB-8846-4BBB-535A-4FDF63BFA9DC}"/>
              </a:ext>
            </a:extLst>
          </p:cNvPr>
          <p:cNvSpPr txBox="1"/>
          <p:nvPr/>
        </p:nvSpPr>
        <p:spPr>
          <a:xfrm>
            <a:off x="3182166" y="5286761"/>
            <a:ext cx="2839395" cy="276999"/>
          </a:xfrm>
          <a:prstGeom prst="rect">
            <a:avLst/>
          </a:prstGeom>
          <a:noFill/>
        </p:spPr>
        <p:txBody>
          <a:bodyPr wrap="square">
            <a:spAutoFit/>
          </a:bodyPr>
          <a:lstStyle/>
          <a:p>
            <a:r>
              <a:rPr lang="zh-CN" altLang="en-US" sz="1200" dirty="0">
                <a:solidFill>
                  <a:schemeClr val="accent1"/>
                </a:solidFill>
                <a:latin typeface="ui-monospace"/>
              </a:rPr>
              <a:t>抽象同事类角色</a:t>
            </a:r>
            <a:r>
              <a:rPr lang="en-US" altLang="zh-CN" sz="1200" dirty="0">
                <a:solidFill>
                  <a:schemeClr val="accent1"/>
                </a:solidFill>
                <a:latin typeface="ui-monospace"/>
              </a:rPr>
              <a:t>(Colleague)</a:t>
            </a:r>
          </a:p>
        </p:txBody>
      </p:sp>
      <p:sp>
        <p:nvSpPr>
          <p:cNvPr id="8" name="TextBox 36">
            <a:extLst>
              <a:ext uri="{FF2B5EF4-FFF2-40B4-BE49-F238E27FC236}">
                <a16:creationId xmlns:a16="http://schemas.microsoft.com/office/drawing/2014/main" id="{748FD48C-9494-4640-3A25-01E1122D3B1A}"/>
              </a:ext>
            </a:extLst>
          </p:cNvPr>
          <p:cNvSpPr txBox="1"/>
          <p:nvPr/>
        </p:nvSpPr>
        <p:spPr>
          <a:xfrm>
            <a:off x="6358163" y="597103"/>
            <a:ext cx="2839395" cy="276999"/>
          </a:xfrm>
          <a:prstGeom prst="rect">
            <a:avLst/>
          </a:prstGeom>
          <a:noFill/>
        </p:spPr>
        <p:txBody>
          <a:bodyPr wrap="square">
            <a:spAutoFit/>
          </a:bodyPr>
          <a:lstStyle/>
          <a:p>
            <a:r>
              <a:rPr lang="zh-CN" altLang="en-US" sz="1200" dirty="0">
                <a:solidFill>
                  <a:schemeClr val="accent1"/>
                </a:solidFill>
                <a:latin typeface="ui-monospace"/>
              </a:rPr>
              <a:t>具体同事类角色</a:t>
            </a:r>
            <a:r>
              <a:rPr lang="en-US" altLang="zh-CN" sz="1200" dirty="0">
                <a:solidFill>
                  <a:schemeClr val="accent1"/>
                </a:solidFill>
                <a:latin typeface="ui-monospace"/>
              </a:rPr>
              <a:t>(</a:t>
            </a:r>
            <a:r>
              <a:rPr lang="en-US" altLang="zh-CN" sz="1200" dirty="0" err="1">
                <a:solidFill>
                  <a:schemeClr val="accent1"/>
                </a:solidFill>
                <a:latin typeface="ui-monospace"/>
              </a:rPr>
              <a:t>ConcreteColleague</a:t>
            </a:r>
            <a:r>
              <a:rPr lang="en-US" altLang="zh-CN" sz="1200" dirty="0">
                <a:solidFill>
                  <a:schemeClr val="accent1"/>
                </a:solidFill>
                <a:latin typeface="ui-monospace"/>
              </a:rPr>
              <a:t>)</a:t>
            </a:r>
          </a:p>
        </p:txBody>
      </p:sp>
      <p:sp>
        <p:nvSpPr>
          <p:cNvPr id="9" name="Rectangle: Rounded Corners 8">
            <a:extLst>
              <a:ext uri="{FF2B5EF4-FFF2-40B4-BE49-F238E27FC236}">
                <a16:creationId xmlns:a16="http://schemas.microsoft.com/office/drawing/2014/main" id="{82FE5C7A-3C40-D091-A337-F04CA1C341B0}"/>
              </a:ext>
            </a:extLst>
          </p:cNvPr>
          <p:cNvSpPr/>
          <p:nvPr/>
        </p:nvSpPr>
        <p:spPr>
          <a:xfrm>
            <a:off x="3281952" y="5530421"/>
            <a:ext cx="3114675" cy="1269858"/>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抽象同事类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1" name="Rectangle: Rounded Corners 10">
            <a:extLst>
              <a:ext uri="{FF2B5EF4-FFF2-40B4-BE49-F238E27FC236}">
                <a16:creationId xmlns:a16="http://schemas.microsoft.com/office/drawing/2014/main" id="{27507CDC-0CF1-14B3-1F6C-6C4037300D57}"/>
              </a:ext>
            </a:extLst>
          </p:cNvPr>
          <p:cNvSpPr/>
          <p:nvPr/>
        </p:nvSpPr>
        <p:spPr>
          <a:xfrm>
            <a:off x="6462712" y="836002"/>
            <a:ext cx="4190302" cy="1755515"/>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具体同事类 房屋拥有者</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super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与中介者联系</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constact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mediator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constact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获取信息</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getMessage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房主</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a:solidFill>
                  <a:srgbClr val="D4D4D4"/>
                </a:solidFill>
                <a:effectLst/>
                <a:latin typeface="Consolas" panose="020B0609020204030204" pitchFamily="49" charset="0"/>
              </a:rPr>
              <a:t>name +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获取到的信息：</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2" name="Rectangle: Rounded Corners 11">
            <a:extLst>
              <a:ext uri="{FF2B5EF4-FFF2-40B4-BE49-F238E27FC236}">
                <a16:creationId xmlns:a16="http://schemas.microsoft.com/office/drawing/2014/main" id="{8674269A-7CB8-D290-158E-FD78F84569FA}"/>
              </a:ext>
            </a:extLst>
          </p:cNvPr>
          <p:cNvSpPr/>
          <p:nvPr/>
        </p:nvSpPr>
        <p:spPr>
          <a:xfrm>
            <a:off x="6462712" y="2606628"/>
            <a:ext cx="4190302" cy="1755515"/>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具体同事类 承租人</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super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与中介者联系</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constact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mediator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constact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获取信息</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getMessage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租房者</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a:solidFill>
                  <a:srgbClr val="D4D4D4"/>
                </a:solidFill>
                <a:effectLst/>
                <a:latin typeface="Consolas" panose="020B0609020204030204" pitchFamily="49" charset="0"/>
              </a:rPr>
              <a:t>name + </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获取到的信息：</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3" name="Rectangle: Rounded Corners 12">
            <a:extLst>
              <a:ext uri="{FF2B5EF4-FFF2-40B4-BE49-F238E27FC236}">
                <a16:creationId xmlns:a16="http://schemas.microsoft.com/office/drawing/2014/main" id="{348E26C9-BDF9-385A-3C5A-8EDE97513093}"/>
              </a:ext>
            </a:extLst>
          </p:cNvPr>
          <p:cNvSpPr/>
          <p:nvPr/>
        </p:nvSpPr>
        <p:spPr>
          <a:xfrm>
            <a:off x="3253014" y="1883878"/>
            <a:ext cx="3143613" cy="343107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中介机构</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MediatorStructure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首先中介结构必须知道所有房主和租房者的信息</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getHouseOwner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setHouseOwner</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getTenant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setTenant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constact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如果是房主，则租房者获得信息</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tenant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getMessage</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else</a:t>
            </a:r>
            <a:r>
              <a:rPr lang="en-US" sz="800" b="0" dirty="0">
                <a:solidFill>
                  <a:srgbClr val="D4D4D4"/>
                </a:solidFill>
                <a:effectLst/>
                <a:latin typeface="Consolas" panose="020B0609020204030204" pitchFamily="49" charset="0"/>
              </a:rPr>
              <a:t> {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反正则是房主获得信息</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houseOwner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getMessage</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4" name="Rectangle: Rounded Corners 13">
            <a:extLst>
              <a:ext uri="{FF2B5EF4-FFF2-40B4-BE49-F238E27FC236}">
                <a16:creationId xmlns:a16="http://schemas.microsoft.com/office/drawing/2014/main" id="{CA9AB3EE-9303-BF8D-D024-4D58D99F3436}"/>
              </a:ext>
            </a:extLst>
          </p:cNvPr>
          <p:cNvSpPr/>
          <p:nvPr/>
        </p:nvSpPr>
        <p:spPr>
          <a:xfrm>
            <a:off x="6462713" y="4591050"/>
            <a:ext cx="3143613" cy="2205154"/>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测试类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一个房主、一个租房者、一个中介机构</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MediatorStructure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MediatorStructure</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房主和租房者只需要知道中介机构即可</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张三</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李四</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mediator</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中介结构要知道房主和租房者</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mediator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setHouseOwner</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houseOwner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mediator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setTenant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tenant</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tenant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constact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我要租三室的房子！！！</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houseOwner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constact</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我这里有三室的房子，你要租吗？</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
        <p:nvSpPr>
          <p:cNvPr id="16" name="TextBox 36">
            <a:extLst>
              <a:ext uri="{FF2B5EF4-FFF2-40B4-BE49-F238E27FC236}">
                <a16:creationId xmlns:a16="http://schemas.microsoft.com/office/drawing/2014/main" id="{26294B38-A865-DE25-2073-74729A466420}"/>
              </a:ext>
            </a:extLst>
          </p:cNvPr>
          <p:cNvSpPr txBox="1"/>
          <p:nvPr/>
        </p:nvSpPr>
        <p:spPr>
          <a:xfrm>
            <a:off x="6358163" y="4339154"/>
            <a:ext cx="2839395" cy="276999"/>
          </a:xfrm>
          <a:prstGeom prst="rect">
            <a:avLst/>
          </a:prstGeom>
          <a:noFill/>
        </p:spPr>
        <p:txBody>
          <a:bodyPr wrap="square">
            <a:spAutoFit/>
          </a:bodyPr>
          <a:lstStyle/>
          <a:p>
            <a:r>
              <a:rPr lang="zh-CN" altLang="en-US" sz="1200" dirty="0">
                <a:solidFill>
                  <a:schemeClr val="accent1"/>
                </a:solidFill>
                <a:latin typeface="ui-monospace"/>
              </a:rPr>
              <a:t>调用</a:t>
            </a:r>
            <a:endParaRPr lang="en-US" altLang="zh-CN" sz="1200" dirty="0">
              <a:solidFill>
                <a:schemeClr val="accent1"/>
              </a:solidFill>
              <a:latin typeface="ui-monospace"/>
            </a:endParaRPr>
          </a:p>
        </p:txBody>
      </p:sp>
      <p:pic>
        <p:nvPicPr>
          <p:cNvPr id="1166" name="Picture 1165">
            <a:extLst>
              <a:ext uri="{FF2B5EF4-FFF2-40B4-BE49-F238E27FC236}">
                <a16:creationId xmlns:a16="http://schemas.microsoft.com/office/drawing/2014/main" id="{6D9CFF34-E762-5114-FECF-5B62440A3695}"/>
              </a:ext>
            </a:extLst>
          </p:cNvPr>
          <p:cNvPicPr>
            <a:picLocks noChangeAspect="1"/>
          </p:cNvPicPr>
          <p:nvPr/>
        </p:nvPicPr>
        <p:blipFill>
          <a:blip r:embed="rId2"/>
          <a:stretch>
            <a:fillRect/>
          </a:stretch>
        </p:blipFill>
        <p:spPr>
          <a:xfrm>
            <a:off x="9659659" y="3934719"/>
            <a:ext cx="2475191" cy="2877561"/>
          </a:xfrm>
          <a:prstGeom prst="rect">
            <a:avLst/>
          </a:prstGeom>
        </p:spPr>
      </p:pic>
    </p:spTree>
    <p:extLst>
      <p:ext uri="{BB962C8B-B14F-4D97-AF65-F5344CB8AC3E}">
        <p14:creationId xmlns:p14="http://schemas.microsoft.com/office/powerpoint/2010/main" val="31172045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7C24B-D9D0-B048-35F8-CC771D3C7B7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AEA192E-1F57-C4F9-D5F2-63179F4015CD}"/>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7AF32E35-81E9-CA8B-B423-F76EE15699C6}"/>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6A93102-2E89-5E74-5DF8-A32D09A371F7}"/>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727BD981-C213-BC65-E519-95A3982B835A}"/>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8DF2FE9D-4EF9-5069-F53D-48027DF3628C}"/>
              </a:ext>
            </a:extLst>
          </p:cNvPr>
          <p:cNvGrpSpPr/>
          <p:nvPr/>
        </p:nvGrpSpPr>
        <p:grpSpPr>
          <a:xfrm>
            <a:off x="3097887" y="61796"/>
            <a:ext cx="8992513" cy="756927"/>
            <a:chOff x="7614613" y="5950488"/>
            <a:chExt cx="8992513" cy="756927"/>
          </a:xfrm>
        </p:grpSpPr>
        <p:sp>
          <p:nvSpPr>
            <p:cNvPr id="31" name="Rectangle: Rounded Corners 35">
              <a:extLst>
                <a:ext uri="{FF2B5EF4-FFF2-40B4-BE49-F238E27FC236}">
                  <a16:creationId xmlns:a16="http://schemas.microsoft.com/office/drawing/2014/main" id="{67FC2976-BDEF-9365-743A-E1EBDB54F2BB}"/>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▶备忘录模式</a:t>
              </a:r>
              <a:endParaRPr lang="en-US" sz="1200" dirty="0">
                <a:solidFill>
                  <a:schemeClr val="bg1"/>
                </a:solidFill>
              </a:endParaRPr>
            </a:p>
          </p:txBody>
        </p:sp>
        <p:sp>
          <p:nvSpPr>
            <p:cNvPr id="32" name="TextBox 36">
              <a:extLst>
                <a:ext uri="{FF2B5EF4-FFF2-40B4-BE49-F238E27FC236}">
                  <a16:creationId xmlns:a16="http://schemas.microsoft.com/office/drawing/2014/main" id="{6A4C1B1A-0A58-E2A8-008E-432E9F6C8A20}"/>
                </a:ext>
              </a:extLst>
            </p:cNvPr>
            <p:cNvSpPr txBox="1"/>
            <p:nvPr/>
          </p:nvSpPr>
          <p:spPr>
            <a:xfrm>
              <a:off x="7667294" y="6245750"/>
              <a:ext cx="8838232" cy="461665"/>
            </a:xfrm>
            <a:prstGeom prst="rect">
              <a:avLst/>
            </a:prstGeom>
            <a:noFill/>
          </p:spPr>
          <p:txBody>
            <a:bodyPr wrap="square">
              <a:spAutoFit/>
            </a:bodyPr>
            <a:lstStyle/>
            <a:p>
              <a:r>
                <a:rPr lang="zh-CN" altLang="en-US" sz="1200" dirty="0">
                  <a:solidFill>
                    <a:schemeClr val="accent1"/>
                  </a:solidFill>
                  <a:latin typeface="ui-monospace"/>
                </a:rPr>
                <a:t>快照模式。在不破坏封装性的前提下，捕获一个对象的内部状态，并在该对象之外保存这个状态，以便以后当需要时能将该对象恢复到原先保存的状态。游戏存档，悔棋，数据备份</a:t>
              </a:r>
              <a:endParaRPr lang="en-US" altLang="zh-CN" sz="1200" dirty="0">
                <a:solidFill>
                  <a:schemeClr val="accent1"/>
                </a:solidFill>
                <a:latin typeface="ui-monospace"/>
              </a:endParaRPr>
            </a:p>
          </p:txBody>
        </p:sp>
      </p:grpSp>
      <p:sp>
        <p:nvSpPr>
          <p:cNvPr id="5" name="TextBox 36">
            <a:extLst>
              <a:ext uri="{FF2B5EF4-FFF2-40B4-BE49-F238E27FC236}">
                <a16:creationId xmlns:a16="http://schemas.microsoft.com/office/drawing/2014/main" id="{07C2D660-F74D-CDFB-9CD6-7E32319BA751}"/>
              </a:ext>
            </a:extLst>
          </p:cNvPr>
          <p:cNvSpPr txBox="1"/>
          <p:nvPr/>
        </p:nvSpPr>
        <p:spPr>
          <a:xfrm>
            <a:off x="3150568" y="749082"/>
            <a:ext cx="2839395" cy="276999"/>
          </a:xfrm>
          <a:prstGeom prst="rect">
            <a:avLst/>
          </a:prstGeom>
          <a:noFill/>
        </p:spPr>
        <p:txBody>
          <a:bodyPr wrap="square">
            <a:spAutoFit/>
          </a:bodyPr>
          <a:lstStyle/>
          <a:p>
            <a:r>
              <a:rPr lang="zh-CN" altLang="en-US" sz="1200" dirty="0">
                <a:solidFill>
                  <a:schemeClr val="accent1"/>
                </a:solidFill>
                <a:latin typeface="ui-monospace"/>
              </a:rPr>
              <a:t>发起人角色</a:t>
            </a:r>
            <a:r>
              <a:rPr lang="en-US" altLang="zh-CN" sz="1200" dirty="0">
                <a:solidFill>
                  <a:schemeClr val="accent1"/>
                </a:solidFill>
                <a:latin typeface="ui-monospace"/>
              </a:rPr>
              <a:t>(Originator)</a:t>
            </a:r>
          </a:p>
        </p:txBody>
      </p:sp>
      <p:sp>
        <p:nvSpPr>
          <p:cNvPr id="10" name="Rectangle: Rounded Corners 9">
            <a:extLst>
              <a:ext uri="{FF2B5EF4-FFF2-40B4-BE49-F238E27FC236}">
                <a16:creationId xmlns:a16="http://schemas.microsoft.com/office/drawing/2014/main" id="{6D1498AA-F186-0FF8-A5AC-9CDAA0B4F790}"/>
              </a:ext>
            </a:extLst>
          </p:cNvPr>
          <p:cNvSpPr/>
          <p:nvPr/>
        </p:nvSpPr>
        <p:spPr>
          <a:xfrm>
            <a:off x="3267740" y="983530"/>
            <a:ext cx="8721059" cy="3426150"/>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numCol="2"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GameRole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生命力</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攻击力</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防御力</a:t>
            </a:r>
            <a:endParaRPr lang="zh-CN" altLang="en-US" sz="800" b="0" dirty="0">
              <a:solidFill>
                <a:srgbClr val="D4D4D4"/>
              </a:solidFill>
              <a:effectLst/>
              <a:latin typeface="Consolas" panose="020B0609020204030204" pitchFamily="49" charset="0"/>
            </a:endParaRPr>
          </a:p>
          <a:p>
            <a:br>
              <a:rPr lang="zh-CN" altLang="en-US" sz="800" b="0" dirty="0">
                <a:solidFill>
                  <a:srgbClr val="D4D4D4"/>
                </a:solidFill>
                <a:effectLst/>
                <a:latin typeface="Consolas" panose="020B0609020204030204" pitchFamily="49" charset="0"/>
              </a:rPr>
            </a:br>
            <a:r>
              <a:rPr lang="zh-CN" altLang="en-US"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初始化内部状态</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initState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100</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100</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100</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保存角色状态功能</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saveState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恢复角色状态</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recoverState</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将备忘录对象中存储的状态赋值给当前对象的成员</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roleStateMemento</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getVit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roleStateMemento</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getAtk</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roleStateMemento</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getDef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展示状态功能</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stateDisplay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角色生命力：</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角色攻击力：</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角色防御力：</a:t>
            </a:r>
            <a:r>
              <a:rPr lang="en-US" altLang="zh-CN" sz="800" b="0" dirty="0">
                <a:solidFill>
                  <a:srgbClr val="CE9178"/>
                </a:solidFill>
                <a:effectLst/>
                <a:latin typeface="Consolas" panose="020B0609020204030204" pitchFamily="49" charset="0"/>
              </a:rPr>
              <a:t>"</a:t>
            </a: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getVit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setVit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getAtk</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setAtk</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getDef</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setDef</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战斗</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fight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4" name="TextBox 36">
            <a:extLst>
              <a:ext uri="{FF2B5EF4-FFF2-40B4-BE49-F238E27FC236}">
                <a16:creationId xmlns:a16="http://schemas.microsoft.com/office/drawing/2014/main" id="{992E97FD-0AC3-D959-AB06-ACF7D66BD6E9}"/>
              </a:ext>
            </a:extLst>
          </p:cNvPr>
          <p:cNvSpPr txBox="1"/>
          <p:nvPr/>
        </p:nvSpPr>
        <p:spPr>
          <a:xfrm>
            <a:off x="3150568" y="4373125"/>
            <a:ext cx="2839395" cy="276999"/>
          </a:xfrm>
          <a:prstGeom prst="rect">
            <a:avLst/>
          </a:prstGeom>
          <a:noFill/>
        </p:spPr>
        <p:txBody>
          <a:bodyPr wrap="square">
            <a:spAutoFit/>
          </a:bodyPr>
          <a:lstStyle/>
          <a:p>
            <a:r>
              <a:rPr lang="zh-CN" altLang="en-US" sz="1200" dirty="0">
                <a:solidFill>
                  <a:schemeClr val="accent1"/>
                </a:solidFill>
                <a:latin typeface="ui-monospace"/>
              </a:rPr>
              <a:t>备忘录角色</a:t>
            </a:r>
            <a:r>
              <a:rPr lang="en-US" altLang="zh-CN" sz="1200" dirty="0">
                <a:solidFill>
                  <a:schemeClr val="accent1"/>
                </a:solidFill>
                <a:latin typeface="ui-monospace"/>
              </a:rPr>
              <a:t>(Memento)</a:t>
            </a:r>
          </a:p>
        </p:txBody>
      </p:sp>
      <p:sp>
        <p:nvSpPr>
          <p:cNvPr id="8" name="Rectangle: Rounded Corners 7">
            <a:extLst>
              <a:ext uri="{FF2B5EF4-FFF2-40B4-BE49-F238E27FC236}">
                <a16:creationId xmlns:a16="http://schemas.microsoft.com/office/drawing/2014/main" id="{FB68B3AF-1911-D3D7-669F-86A13AAB6F9B}"/>
              </a:ext>
            </a:extLst>
          </p:cNvPr>
          <p:cNvSpPr/>
          <p:nvPr/>
        </p:nvSpPr>
        <p:spPr>
          <a:xfrm>
            <a:off x="3267740" y="4635783"/>
            <a:ext cx="8721059" cy="2142101"/>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numCol="2"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生命力</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攻击力</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防御力</a:t>
            </a:r>
            <a:endParaRPr lang="zh-CN" altLang="en-US" sz="800" b="0" dirty="0">
              <a:solidFill>
                <a:srgbClr val="D4D4D4"/>
              </a:solidFill>
              <a:effectLst/>
              <a:latin typeface="Consolas" panose="020B0609020204030204" pitchFamily="49" charset="0"/>
            </a:endParaRPr>
          </a:p>
          <a:p>
            <a:br>
              <a:rPr lang="zh-CN" altLang="en-US" sz="800" b="0" dirty="0">
                <a:solidFill>
                  <a:srgbClr val="D4D4D4"/>
                </a:solidFill>
                <a:effectLst/>
                <a:latin typeface="Consolas" panose="020B0609020204030204" pitchFamily="49" charset="0"/>
              </a:rPr>
            </a:br>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 {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getVit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setVit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vit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getAtk</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setAtk</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atk</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getDef</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setDef</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def</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9542453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7C24B-D9D0-B048-35F8-CC771D3C7B7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AEA192E-1F57-C4F9-D5F2-63179F4015CD}"/>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7AF32E35-81E9-CA8B-B423-F76EE15699C6}"/>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6A93102-2E89-5E74-5DF8-A32D09A371F7}"/>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727BD981-C213-BC65-E519-95A3982B835A}"/>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8DF2FE9D-4EF9-5069-F53D-48027DF3628C}"/>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67FC2976-BDEF-9365-743A-E1EBDB54F2BB}"/>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▶备忘录模式</a:t>
              </a:r>
              <a:endParaRPr lang="en-US" sz="1200" dirty="0">
                <a:solidFill>
                  <a:schemeClr val="bg1"/>
                </a:solidFill>
              </a:endParaRPr>
            </a:p>
          </p:txBody>
        </p:sp>
        <p:sp>
          <p:nvSpPr>
            <p:cNvPr id="32" name="TextBox 36">
              <a:extLst>
                <a:ext uri="{FF2B5EF4-FFF2-40B4-BE49-F238E27FC236}">
                  <a16:creationId xmlns:a16="http://schemas.microsoft.com/office/drawing/2014/main" id="{6A4C1B1A-0A58-E2A8-008E-432E9F6C8A20}"/>
                </a:ext>
              </a:extLst>
            </p:cNvPr>
            <p:cNvSpPr txBox="1"/>
            <p:nvPr/>
          </p:nvSpPr>
          <p:spPr>
            <a:xfrm>
              <a:off x="7667294" y="6245750"/>
              <a:ext cx="8838232" cy="276999"/>
            </a:xfrm>
            <a:prstGeom prst="rect">
              <a:avLst/>
            </a:prstGeom>
            <a:noFill/>
          </p:spPr>
          <p:txBody>
            <a:bodyPr wrap="square">
              <a:spAutoFit/>
            </a:bodyPr>
            <a:lstStyle/>
            <a:p>
              <a:endParaRPr lang="en-US" altLang="zh-CN" sz="1200" dirty="0">
                <a:solidFill>
                  <a:schemeClr val="accent1"/>
                </a:solidFill>
                <a:latin typeface="ui-monospace"/>
              </a:endParaRPr>
            </a:p>
          </p:txBody>
        </p:sp>
      </p:grpSp>
      <p:sp>
        <p:nvSpPr>
          <p:cNvPr id="10" name="Rectangle: Rounded Corners 9">
            <a:extLst>
              <a:ext uri="{FF2B5EF4-FFF2-40B4-BE49-F238E27FC236}">
                <a16:creationId xmlns:a16="http://schemas.microsoft.com/office/drawing/2014/main" id="{6D1498AA-F186-0FF8-A5AC-9CDAA0B4F790}"/>
              </a:ext>
            </a:extLst>
          </p:cNvPr>
          <p:cNvSpPr/>
          <p:nvPr/>
        </p:nvSpPr>
        <p:spPr>
          <a:xfrm>
            <a:off x="3209154" y="618094"/>
            <a:ext cx="4490202" cy="1535345"/>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numCol="1"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RoleStateCaretaker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声明</a:t>
            </a:r>
            <a:r>
              <a:rPr lang="en-US" sz="800" b="0" dirty="0" err="1">
                <a:solidFill>
                  <a:srgbClr val="6A9955"/>
                </a:solidFill>
                <a:effectLst/>
                <a:latin typeface="Consolas" panose="020B0609020204030204" pitchFamily="49" charset="0"/>
              </a:rPr>
              <a:t>RoleStateMemento</a:t>
            </a:r>
            <a:r>
              <a:rPr lang="zh-CN" altLang="en-US" sz="800" b="0" dirty="0">
                <a:solidFill>
                  <a:srgbClr val="6A9955"/>
                </a:solidFill>
                <a:effectLst/>
                <a:latin typeface="Consolas" panose="020B0609020204030204" pitchFamily="49" charset="0"/>
              </a:rPr>
              <a:t>类型的变量</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getRoleStateMemento</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setRoleStateMemento</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roleStateMemento</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7" name="TextBox 36">
            <a:extLst>
              <a:ext uri="{FF2B5EF4-FFF2-40B4-BE49-F238E27FC236}">
                <a16:creationId xmlns:a16="http://schemas.microsoft.com/office/drawing/2014/main" id="{09781BC4-06AE-E35C-1931-61BD55990F1C}"/>
              </a:ext>
            </a:extLst>
          </p:cNvPr>
          <p:cNvSpPr txBox="1"/>
          <p:nvPr/>
        </p:nvSpPr>
        <p:spPr>
          <a:xfrm>
            <a:off x="3150568" y="372261"/>
            <a:ext cx="2839395" cy="276999"/>
          </a:xfrm>
          <a:prstGeom prst="rect">
            <a:avLst/>
          </a:prstGeom>
          <a:noFill/>
        </p:spPr>
        <p:txBody>
          <a:bodyPr wrap="square">
            <a:spAutoFit/>
          </a:bodyPr>
          <a:lstStyle/>
          <a:p>
            <a:r>
              <a:rPr lang="zh-CN" altLang="en-US" sz="1200" dirty="0">
                <a:solidFill>
                  <a:schemeClr val="accent1"/>
                </a:solidFill>
                <a:latin typeface="ui-monospace"/>
              </a:rPr>
              <a:t>管理者角色</a:t>
            </a:r>
            <a:r>
              <a:rPr lang="en-US" altLang="zh-CN" sz="1200" dirty="0">
                <a:solidFill>
                  <a:schemeClr val="accent1"/>
                </a:solidFill>
                <a:latin typeface="ui-monospace"/>
              </a:rPr>
              <a:t>(Caretaker)</a:t>
            </a:r>
          </a:p>
        </p:txBody>
      </p:sp>
      <p:sp>
        <p:nvSpPr>
          <p:cNvPr id="9" name="Rectangle: Rounded Corners 8">
            <a:extLst>
              <a:ext uri="{FF2B5EF4-FFF2-40B4-BE49-F238E27FC236}">
                <a16:creationId xmlns:a16="http://schemas.microsoft.com/office/drawing/2014/main" id="{D59CFAF6-CA4D-2C16-5691-50A3DED040E4}"/>
              </a:ext>
            </a:extLst>
          </p:cNvPr>
          <p:cNvSpPr/>
          <p:nvPr/>
        </p:nvSpPr>
        <p:spPr>
          <a:xfrm>
            <a:off x="3209154" y="2273753"/>
            <a:ext cx="4490202" cy="2860955"/>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numCol="1"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大战</a:t>
            </a:r>
            <a:r>
              <a:rPr lang="en-US" sz="800" b="0" dirty="0">
                <a:solidFill>
                  <a:srgbClr val="CE9178"/>
                </a:solidFill>
                <a:effectLst/>
                <a:latin typeface="Consolas" panose="020B0609020204030204" pitchFamily="49" charset="0"/>
              </a:rPr>
              <a:t>boss</a:t>
            </a:r>
            <a:r>
              <a:rPr lang="zh-CN" altLang="en-US" sz="800" b="0" dirty="0">
                <a:solidFill>
                  <a:srgbClr val="CE9178"/>
                </a:solidFill>
                <a:effectLst/>
                <a:latin typeface="Consolas" panose="020B0609020204030204" pitchFamily="49" charset="0"/>
              </a:rPr>
              <a:t>前</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创建游戏角色对象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GameRole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gameRole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GameRole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gameRole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initState</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初始化状态操作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gameRole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stateDisplay</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将该游戏角色内部状态进行备份</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创建管理者对象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RoleStateCaretaker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roleStateCaretaker</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RoleStateCaretaker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roleStateCaretaker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setRoleStateMemento</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gameRole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saveState</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大战</a:t>
            </a:r>
            <a:r>
              <a:rPr lang="en-US" sz="800" b="0" dirty="0">
                <a:solidFill>
                  <a:srgbClr val="CE9178"/>
                </a:solidFill>
                <a:effectLst/>
                <a:latin typeface="Consolas" panose="020B0609020204030204" pitchFamily="49" charset="0"/>
              </a:rPr>
              <a:t>boss</a:t>
            </a:r>
            <a:r>
              <a:rPr lang="zh-CN" altLang="en-US" sz="800" b="0" dirty="0">
                <a:solidFill>
                  <a:srgbClr val="CE9178"/>
                </a:solidFill>
                <a:effectLst/>
                <a:latin typeface="Consolas" panose="020B0609020204030204" pitchFamily="49" charset="0"/>
              </a:rPr>
              <a:t>后</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损耗严重</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gameRole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fight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gameRole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stateDisplay</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恢复之前的状态</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gameRole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recoverState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roleStateCaretaker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getRoleStateMemento</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gameRole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stateDisplay</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pic>
        <p:nvPicPr>
          <p:cNvPr id="3172" name="Picture 3171">
            <a:extLst>
              <a:ext uri="{FF2B5EF4-FFF2-40B4-BE49-F238E27FC236}">
                <a16:creationId xmlns:a16="http://schemas.microsoft.com/office/drawing/2014/main" id="{4AAB9E96-B273-8364-5FFB-6FA9ADF4DB51}"/>
              </a:ext>
            </a:extLst>
          </p:cNvPr>
          <p:cNvPicPr>
            <a:picLocks noChangeAspect="1"/>
          </p:cNvPicPr>
          <p:nvPr/>
        </p:nvPicPr>
        <p:blipFill>
          <a:blip r:embed="rId2"/>
          <a:stretch>
            <a:fillRect/>
          </a:stretch>
        </p:blipFill>
        <p:spPr>
          <a:xfrm>
            <a:off x="7922304" y="618094"/>
            <a:ext cx="3871591" cy="2866306"/>
          </a:xfrm>
          <a:prstGeom prst="rect">
            <a:avLst/>
          </a:prstGeom>
        </p:spPr>
      </p:pic>
      <p:sp>
        <p:nvSpPr>
          <p:cNvPr id="11" name="TextBox 36">
            <a:extLst>
              <a:ext uri="{FF2B5EF4-FFF2-40B4-BE49-F238E27FC236}">
                <a16:creationId xmlns:a16="http://schemas.microsoft.com/office/drawing/2014/main" id="{C7EAF12E-672A-00B1-B4DE-97FF6D925638}"/>
              </a:ext>
            </a:extLst>
          </p:cNvPr>
          <p:cNvSpPr txBox="1"/>
          <p:nvPr/>
        </p:nvSpPr>
        <p:spPr>
          <a:xfrm>
            <a:off x="7699356" y="372261"/>
            <a:ext cx="2839395"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spTree>
    <p:extLst>
      <p:ext uri="{BB962C8B-B14F-4D97-AF65-F5344CB8AC3E}">
        <p14:creationId xmlns:p14="http://schemas.microsoft.com/office/powerpoint/2010/main" val="35322389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2D9C0-5B41-B45B-4A0C-DE83A5EEBA9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6117770-C3E5-4C18-1233-ABF53E54F054}"/>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CCFD7873-20E1-398B-E94D-E799D43504CF}"/>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F546860-4BAC-189B-33D4-EA8D1C18D216}"/>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659BBD9A-984D-9E36-12B6-BFB936E1F7BA}"/>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A1F2C4D2-428E-50F7-9D4B-6C33E7E53613}"/>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1EA1311B-A789-7286-6F69-153964E40DF5}"/>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▶观察者模式</a:t>
              </a:r>
              <a:endParaRPr lang="en-US" sz="1200" dirty="0">
                <a:solidFill>
                  <a:schemeClr val="bg1"/>
                </a:solidFill>
              </a:endParaRPr>
            </a:p>
          </p:txBody>
        </p:sp>
        <p:sp>
          <p:nvSpPr>
            <p:cNvPr id="32" name="TextBox 36">
              <a:extLst>
                <a:ext uri="{FF2B5EF4-FFF2-40B4-BE49-F238E27FC236}">
                  <a16:creationId xmlns:a16="http://schemas.microsoft.com/office/drawing/2014/main" id="{03691690-94BB-22F2-6FF6-BEEA518941B7}"/>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发布</a:t>
              </a:r>
              <a:r>
                <a:rPr lang="en-US" altLang="zh-CN" sz="1200" dirty="0">
                  <a:solidFill>
                    <a:schemeClr val="accent1"/>
                  </a:solidFill>
                  <a:latin typeface="ui-monospace"/>
                </a:rPr>
                <a:t>-</a:t>
              </a:r>
              <a:r>
                <a:rPr lang="zh-CN" altLang="en-US" sz="1200" dirty="0">
                  <a:solidFill>
                    <a:schemeClr val="accent1"/>
                  </a:solidFill>
                  <a:latin typeface="ui-monospace"/>
                </a:rPr>
                <a:t>订阅模式。定义一对多的依赖关系，让多个观察者对象同时监听某一个主题对象，其在状态变化时会通知所有的观察者对象。</a:t>
              </a:r>
              <a:endParaRPr lang="en-US" altLang="zh-CN" sz="1200" dirty="0">
                <a:solidFill>
                  <a:schemeClr val="accent1"/>
                </a:solidFill>
                <a:latin typeface="ui-monospace"/>
              </a:endParaRPr>
            </a:p>
          </p:txBody>
        </p:sp>
      </p:grpSp>
      <p:sp>
        <p:nvSpPr>
          <p:cNvPr id="5" name="TextBox 36">
            <a:extLst>
              <a:ext uri="{FF2B5EF4-FFF2-40B4-BE49-F238E27FC236}">
                <a16:creationId xmlns:a16="http://schemas.microsoft.com/office/drawing/2014/main" id="{1740CC2E-C047-366F-ADEC-ECA23CD76D13}"/>
              </a:ext>
            </a:extLst>
          </p:cNvPr>
          <p:cNvSpPr txBox="1"/>
          <p:nvPr/>
        </p:nvSpPr>
        <p:spPr>
          <a:xfrm>
            <a:off x="3150568" y="603368"/>
            <a:ext cx="2839395" cy="276999"/>
          </a:xfrm>
          <a:prstGeom prst="rect">
            <a:avLst/>
          </a:prstGeom>
          <a:noFill/>
        </p:spPr>
        <p:txBody>
          <a:bodyPr wrap="square">
            <a:spAutoFit/>
          </a:bodyPr>
          <a:lstStyle/>
          <a:p>
            <a:r>
              <a:rPr lang="zh-CN" altLang="en-US" sz="1200" dirty="0">
                <a:solidFill>
                  <a:schemeClr val="accent1"/>
                </a:solidFill>
                <a:latin typeface="ui-monospace"/>
              </a:rPr>
              <a:t>抽象主题</a:t>
            </a:r>
            <a:r>
              <a:rPr lang="en-US" altLang="zh-CN" sz="1200" dirty="0">
                <a:solidFill>
                  <a:schemeClr val="accent1"/>
                </a:solidFill>
                <a:latin typeface="ui-monospace"/>
              </a:rPr>
              <a:t>(Subject)</a:t>
            </a:r>
          </a:p>
        </p:txBody>
      </p:sp>
      <p:sp>
        <p:nvSpPr>
          <p:cNvPr id="10" name="Rectangle: Rounded Corners 9">
            <a:extLst>
              <a:ext uri="{FF2B5EF4-FFF2-40B4-BE49-F238E27FC236}">
                <a16:creationId xmlns:a16="http://schemas.microsoft.com/office/drawing/2014/main" id="{548474C6-8C8E-19FA-EFA7-516FE977AAE5}"/>
              </a:ext>
            </a:extLst>
          </p:cNvPr>
          <p:cNvSpPr/>
          <p:nvPr/>
        </p:nvSpPr>
        <p:spPr>
          <a:xfrm>
            <a:off x="3235913" y="5797817"/>
            <a:ext cx="4015154" cy="62714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定义抽象观察者类，定义一个更新的方法</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update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p:txBody>
      </p:sp>
      <p:sp>
        <p:nvSpPr>
          <p:cNvPr id="4" name="TextBox 36">
            <a:extLst>
              <a:ext uri="{FF2B5EF4-FFF2-40B4-BE49-F238E27FC236}">
                <a16:creationId xmlns:a16="http://schemas.microsoft.com/office/drawing/2014/main" id="{14CF0353-C19C-FC10-5893-F7721C21C905}"/>
              </a:ext>
            </a:extLst>
          </p:cNvPr>
          <p:cNvSpPr txBox="1"/>
          <p:nvPr/>
        </p:nvSpPr>
        <p:spPr>
          <a:xfrm>
            <a:off x="3150568" y="2265458"/>
            <a:ext cx="2839395" cy="276999"/>
          </a:xfrm>
          <a:prstGeom prst="rect">
            <a:avLst/>
          </a:prstGeom>
          <a:noFill/>
        </p:spPr>
        <p:txBody>
          <a:bodyPr wrap="square">
            <a:spAutoFit/>
          </a:bodyPr>
          <a:lstStyle/>
          <a:p>
            <a:r>
              <a:rPr lang="zh-CN" altLang="en-US" sz="1200" dirty="0">
                <a:solidFill>
                  <a:schemeClr val="accent1"/>
                </a:solidFill>
                <a:latin typeface="ui-monospace"/>
              </a:rPr>
              <a:t>具体主题</a:t>
            </a:r>
            <a:r>
              <a:rPr lang="en-US" altLang="zh-CN" sz="1200" dirty="0">
                <a:solidFill>
                  <a:schemeClr val="accent1"/>
                </a:solidFill>
                <a:latin typeface="ui-monospace"/>
              </a:rPr>
              <a:t>(</a:t>
            </a:r>
            <a:r>
              <a:rPr lang="en-US" altLang="zh-CN" sz="1200" dirty="0" err="1">
                <a:solidFill>
                  <a:schemeClr val="accent1"/>
                </a:solidFill>
                <a:latin typeface="ui-monospace"/>
              </a:rPr>
              <a:t>ConcreteSubject</a:t>
            </a:r>
            <a:r>
              <a:rPr lang="en-US" altLang="zh-CN" sz="1200" dirty="0">
                <a:solidFill>
                  <a:schemeClr val="accent1"/>
                </a:solidFill>
                <a:latin typeface="ui-monospace"/>
              </a:rPr>
              <a:t>)</a:t>
            </a:r>
          </a:p>
        </p:txBody>
      </p:sp>
      <p:sp>
        <p:nvSpPr>
          <p:cNvPr id="7" name="TextBox 36">
            <a:extLst>
              <a:ext uri="{FF2B5EF4-FFF2-40B4-BE49-F238E27FC236}">
                <a16:creationId xmlns:a16="http://schemas.microsoft.com/office/drawing/2014/main" id="{8D6D0BFE-EA47-2F2B-972B-5B3651F19DF8}"/>
              </a:ext>
            </a:extLst>
          </p:cNvPr>
          <p:cNvSpPr txBox="1"/>
          <p:nvPr/>
        </p:nvSpPr>
        <p:spPr>
          <a:xfrm>
            <a:off x="3150568" y="5553075"/>
            <a:ext cx="2839395" cy="276999"/>
          </a:xfrm>
          <a:prstGeom prst="rect">
            <a:avLst/>
          </a:prstGeom>
          <a:noFill/>
        </p:spPr>
        <p:txBody>
          <a:bodyPr wrap="square">
            <a:spAutoFit/>
          </a:bodyPr>
          <a:lstStyle/>
          <a:p>
            <a:r>
              <a:rPr lang="zh-CN" altLang="en-US" sz="1200" dirty="0">
                <a:solidFill>
                  <a:schemeClr val="accent1"/>
                </a:solidFill>
                <a:latin typeface="ui-monospace"/>
              </a:rPr>
              <a:t>抽象观察者 </a:t>
            </a:r>
            <a:r>
              <a:rPr lang="en-US" altLang="zh-CN" sz="1200" dirty="0">
                <a:solidFill>
                  <a:schemeClr val="accent1"/>
                </a:solidFill>
                <a:latin typeface="ui-monospace"/>
              </a:rPr>
              <a:t>(Observer)</a:t>
            </a:r>
          </a:p>
        </p:txBody>
      </p:sp>
      <p:sp>
        <p:nvSpPr>
          <p:cNvPr id="8" name="TextBox 36">
            <a:extLst>
              <a:ext uri="{FF2B5EF4-FFF2-40B4-BE49-F238E27FC236}">
                <a16:creationId xmlns:a16="http://schemas.microsoft.com/office/drawing/2014/main" id="{47C76354-FEED-7271-AD14-13FF4EB22506}"/>
              </a:ext>
            </a:extLst>
          </p:cNvPr>
          <p:cNvSpPr txBox="1"/>
          <p:nvPr/>
        </p:nvSpPr>
        <p:spPr>
          <a:xfrm>
            <a:off x="7251069" y="603368"/>
            <a:ext cx="2839395" cy="276999"/>
          </a:xfrm>
          <a:prstGeom prst="rect">
            <a:avLst/>
          </a:prstGeom>
          <a:noFill/>
        </p:spPr>
        <p:txBody>
          <a:bodyPr wrap="square">
            <a:spAutoFit/>
          </a:bodyPr>
          <a:lstStyle/>
          <a:p>
            <a:r>
              <a:rPr lang="zh-CN" altLang="en-US" sz="1200" dirty="0">
                <a:solidFill>
                  <a:schemeClr val="accent1"/>
                </a:solidFill>
                <a:latin typeface="ui-monospace"/>
              </a:rPr>
              <a:t>具体观察者 </a:t>
            </a:r>
            <a:r>
              <a:rPr lang="en-US" altLang="zh-CN" sz="1200" dirty="0">
                <a:solidFill>
                  <a:schemeClr val="accent1"/>
                </a:solidFill>
                <a:latin typeface="ui-monospace"/>
              </a:rPr>
              <a:t>(</a:t>
            </a:r>
            <a:r>
              <a:rPr lang="en-US" altLang="zh-CN" sz="1200" dirty="0" err="1">
                <a:solidFill>
                  <a:schemeClr val="accent1"/>
                </a:solidFill>
                <a:latin typeface="ui-monospace"/>
              </a:rPr>
              <a:t>ConcreteObserver</a:t>
            </a:r>
            <a:r>
              <a:rPr lang="en-US" altLang="zh-CN" sz="1200" dirty="0">
                <a:solidFill>
                  <a:schemeClr val="accent1"/>
                </a:solidFill>
                <a:latin typeface="ui-monospace"/>
              </a:rPr>
              <a:t>)</a:t>
            </a:r>
          </a:p>
        </p:txBody>
      </p:sp>
      <p:sp>
        <p:nvSpPr>
          <p:cNvPr id="9" name="Rectangle: Rounded Corners 8">
            <a:extLst>
              <a:ext uri="{FF2B5EF4-FFF2-40B4-BE49-F238E27FC236}">
                <a16:creationId xmlns:a16="http://schemas.microsoft.com/office/drawing/2014/main" id="{F5B808D8-05D2-B273-1EF7-8186A4664C79}"/>
              </a:ext>
            </a:extLst>
          </p:cNvPr>
          <p:cNvSpPr/>
          <p:nvPr/>
        </p:nvSpPr>
        <p:spPr>
          <a:xfrm>
            <a:off x="7336415" y="860944"/>
            <a:ext cx="4588885" cy="1824263"/>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定义具体观察者类，微信用户是观察者，实现更新的方法</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WeixinUser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微信用户名</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WeixinUser</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update</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name</a:t>
            </a:r>
            <a:r>
              <a:rPr lang="en-US" sz="800" b="0" dirty="0">
                <a:solidFill>
                  <a:srgbClr val="D4D4D4"/>
                </a:solidFill>
                <a:effectLst/>
                <a:latin typeface="Consolas" panose="020B0609020204030204" pitchFamily="49" charset="0"/>
              </a:rPr>
              <a:t> + </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1" name="Rectangle: Rounded Corners 10">
            <a:extLst>
              <a:ext uri="{FF2B5EF4-FFF2-40B4-BE49-F238E27FC236}">
                <a16:creationId xmlns:a16="http://schemas.microsoft.com/office/drawing/2014/main" id="{C5A8DBBB-E53A-CF92-6D91-687503461E1B}"/>
              </a:ext>
            </a:extLst>
          </p:cNvPr>
          <p:cNvSpPr/>
          <p:nvPr/>
        </p:nvSpPr>
        <p:spPr>
          <a:xfrm>
            <a:off x="3235913" y="868289"/>
            <a:ext cx="4015154" cy="1393620"/>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定义抽象主题类，提供三个方法</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Subject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增加订阅者</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attach</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删除订阅者</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detach</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通知订阅者更新消息</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notify</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p:txBody>
      </p:sp>
      <p:sp>
        <p:nvSpPr>
          <p:cNvPr id="12" name="Rectangle: Rounded Corners 11">
            <a:extLst>
              <a:ext uri="{FF2B5EF4-FFF2-40B4-BE49-F238E27FC236}">
                <a16:creationId xmlns:a16="http://schemas.microsoft.com/office/drawing/2014/main" id="{4D4B2C3D-9013-C4C7-323E-46A798732D13}"/>
              </a:ext>
            </a:extLst>
          </p:cNvPr>
          <p:cNvSpPr/>
          <p:nvPr/>
        </p:nvSpPr>
        <p:spPr>
          <a:xfrm>
            <a:off x="3235913" y="2542457"/>
            <a:ext cx="4015155" cy="3010618"/>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微信公众号是具体主题（具体被观察者），存储订阅该公众号的微信用户，并实现了抽象主题中的方法</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SubscriptionSubject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Subject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储存订阅公众号的微信用户</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List</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&gt; </a:t>
            </a:r>
            <a:r>
              <a:rPr lang="en-US" sz="800" b="0" dirty="0" err="1">
                <a:solidFill>
                  <a:srgbClr val="9CDCFE"/>
                </a:solidFill>
                <a:effectLst/>
                <a:latin typeface="Consolas" panose="020B0609020204030204" pitchFamily="49" charset="0"/>
              </a:rPr>
              <a:t>weixinUserlist</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ArrayList</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&gt;();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attach</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weixinUserlist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detach</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weixinUserlist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remove</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notify</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observer</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weixinUserlist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observer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update</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message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3" name="Rectangle: Rounded Corners 12">
            <a:extLst>
              <a:ext uri="{FF2B5EF4-FFF2-40B4-BE49-F238E27FC236}">
                <a16:creationId xmlns:a16="http://schemas.microsoft.com/office/drawing/2014/main" id="{FD734FC6-5C72-9CAC-1F4F-E8BAFA981FA9}"/>
              </a:ext>
            </a:extLst>
          </p:cNvPr>
          <p:cNvSpPr/>
          <p:nvPr/>
        </p:nvSpPr>
        <p:spPr>
          <a:xfrm>
            <a:off x="7336415" y="2739730"/>
            <a:ext cx="4588885" cy="199182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SubscriptionSubject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mSubscriptionSubject</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SubscriptionSubject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创建微信用户</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WeixinUser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user1</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WeixinUser</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孙悟空</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WeixinUser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user2</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WeixinUser</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猪悟能</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WeixinUser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user3</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WeixinUser</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沙悟净</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订阅公众号</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mSubscriptionSubject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attach</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user1</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mSubscriptionSubject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attach</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user2</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mSubscriptionSubject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attach</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user3</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公众号更新发出消息给订阅的微信用户（观察者对象或订阅者）</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mSubscriptionSubject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notify</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"Java</a:t>
            </a:r>
            <a:r>
              <a:rPr lang="zh-CN" altLang="en-US" sz="800" b="0" dirty="0">
                <a:solidFill>
                  <a:srgbClr val="CE9178"/>
                </a:solidFill>
                <a:effectLst/>
                <a:latin typeface="Consolas" panose="020B0609020204030204" pitchFamily="49" charset="0"/>
              </a:rPr>
              <a:t>博客更新了</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pic>
        <p:nvPicPr>
          <p:cNvPr id="2624" name="Picture 2623">
            <a:extLst>
              <a:ext uri="{FF2B5EF4-FFF2-40B4-BE49-F238E27FC236}">
                <a16:creationId xmlns:a16="http://schemas.microsoft.com/office/drawing/2014/main" id="{9414CA8E-5192-F427-DD9F-578C7A7189A8}"/>
              </a:ext>
            </a:extLst>
          </p:cNvPr>
          <p:cNvPicPr>
            <a:picLocks noChangeAspect="1"/>
          </p:cNvPicPr>
          <p:nvPr/>
        </p:nvPicPr>
        <p:blipFill>
          <a:blip r:embed="rId2"/>
          <a:stretch>
            <a:fillRect/>
          </a:stretch>
        </p:blipFill>
        <p:spPr>
          <a:xfrm>
            <a:off x="7817193" y="4844470"/>
            <a:ext cx="2597121" cy="1944793"/>
          </a:xfrm>
          <a:prstGeom prst="rect">
            <a:avLst/>
          </a:prstGeom>
        </p:spPr>
      </p:pic>
      <p:sp>
        <p:nvSpPr>
          <p:cNvPr id="14" name="TextBox 36">
            <a:extLst>
              <a:ext uri="{FF2B5EF4-FFF2-40B4-BE49-F238E27FC236}">
                <a16:creationId xmlns:a16="http://schemas.microsoft.com/office/drawing/2014/main" id="{7F31A1CF-648E-64AD-7188-3B69BC88525B}"/>
              </a:ext>
            </a:extLst>
          </p:cNvPr>
          <p:cNvSpPr txBox="1"/>
          <p:nvPr/>
        </p:nvSpPr>
        <p:spPr>
          <a:xfrm>
            <a:off x="7251069" y="4767029"/>
            <a:ext cx="2839395"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spTree>
    <p:extLst>
      <p:ext uri="{BB962C8B-B14F-4D97-AF65-F5344CB8AC3E}">
        <p14:creationId xmlns:p14="http://schemas.microsoft.com/office/powerpoint/2010/main" val="8630724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62A1F-59DD-B641-0BA0-8D7E6EDB823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99FF277-4ECE-702B-5438-75DC41F1F145}"/>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3A2632E9-E9B0-04B5-C540-79240F86C4E9}"/>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AE84B3B-3ED9-FAE0-AD6A-53337A0E7D96}"/>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074EA550-CF27-B2CB-B2E4-BC29F36BED40}"/>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2853085C-66E9-CE2D-57A8-5154CAEF8E90}"/>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F59C42D7-3487-A32E-C5E4-F805C1457D44}"/>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▶状态模式</a:t>
              </a:r>
              <a:endParaRPr lang="en-US" sz="1200" dirty="0">
                <a:solidFill>
                  <a:schemeClr val="bg1"/>
                </a:solidFill>
              </a:endParaRPr>
            </a:p>
          </p:txBody>
        </p:sp>
        <p:sp>
          <p:nvSpPr>
            <p:cNvPr id="32" name="TextBox 36">
              <a:extLst>
                <a:ext uri="{FF2B5EF4-FFF2-40B4-BE49-F238E27FC236}">
                  <a16:creationId xmlns:a16="http://schemas.microsoft.com/office/drawing/2014/main" id="{1A8706D2-8C42-B7E3-D911-5D674BC2E3E3}"/>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对有状态的对象，把复杂的“判断逻辑”提取到不同的状态对象中，允许状态对象在其内部状态发生改变时改变其行为。</a:t>
              </a:r>
              <a:endParaRPr lang="en-US" altLang="zh-CN" sz="1200" dirty="0">
                <a:solidFill>
                  <a:schemeClr val="accent1"/>
                </a:solidFill>
                <a:latin typeface="ui-monospace"/>
              </a:endParaRPr>
            </a:p>
          </p:txBody>
        </p:sp>
      </p:grpSp>
      <p:sp>
        <p:nvSpPr>
          <p:cNvPr id="10" name="Rectangle: Rounded Corners 9">
            <a:extLst>
              <a:ext uri="{FF2B5EF4-FFF2-40B4-BE49-F238E27FC236}">
                <a16:creationId xmlns:a16="http://schemas.microsoft.com/office/drawing/2014/main" id="{8DCFE720-4C0A-BE0D-86BC-1DEB13BFC327}"/>
              </a:ext>
            </a:extLst>
          </p:cNvPr>
          <p:cNvSpPr/>
          <p:nvPr/>
        </p:nvSpPr>
        <p:spPr>
          <a:xfrm>
            <a:off x="3238356" y="850861"/>
            <a:ext cx="4610244" cy="2578140"/>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抽象状态类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LiftState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定义一个环境角色，也就是封装状态的变化引起的功能变化</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protected</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setContext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电梯开门动作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open</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电梯关门动作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close</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电梯运行动作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run</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电梯停止动作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stop</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p:txBody>
      </p:sp>
      <p:sp>
        <p:nvSpPr>
          <p:cNvPr id="4" name="TextBox 36">
            <a:extLst>
              <a:ext uri="{FF2B5EF4-FFF2-40B4-BE49-F238E27FC236}">
                <a16:creationId xmlns:a16="http://schemas.microsoft.com/office/drawing/2014/main" id="{E84286FD-5B98-5562-0B57-D2560114F221}"/>
              </a:ext>
            </a:extLst>
          </p:cNvPr>
          <p:cNvSpPr txBox="1"/>
          <p:nvPr/>
        </p:nvSpPr>
        <p:spPr>
          <a:xfrm>
            <a:off x="3150568" y="602436"/>
            <a:ext cx="2839395" cy="276999"/>
          </a:xfrm>
          <a:prstGeom prst="rect">
            <a:avLst/>
          </a:prstGeom>
          <a:noFill/>
        </p:spPr>
        <p:txBody>
          <a:bodyPr wrap="square">
            <a:spAutoFit/>
          </a:bodyPr>
          <a:lstStyle/>
          <a:p>
            <a:r>
              <a:rPr lang="zh-CN" altLang="en-US" sz="1200" dirty="0">
                <a:solidFill>
                  <a:schemeClr val="accent1"/>
                </a:solidFill>
                <a:latin typeface="ui-monospace"/>
              </a:rPr>
              <a:t>抽象状态角色</a:t>
            </a:r>
            <a:r>
              <a:rPr lang="en-US" altLang="zh-CN" sz="1200" dirty="0">
                <a:solidFill>
                  <a:schemeClr val="accent1"/>
                </a:solidFill>
                <a:latin typeface="ui-monospace"/>
              </a:rPr>
              <a:t>(State)</a:t>
            </a:r>
          </a:p>
        </p:txBody>
      </p:sp>
      <p:sp>
        <p:nvSpPr>
          <p:cNvPr id="7" name="TextBox 36">
            <a:extLst>
              <a:ext uri="{FF2B5EF4-FFF2-40B4-BE49-F238E27FC236}">
                <a16:creationId xmlns:a16="http://schemas.microsoft.com/office/drawing/2014/main" id="{7242F8C7-13A8-AF4D-93E6-4CDD577A4456}"/>
              </a:ext>
            </a:extLst>
          </p:cNvPr>
          <p:cNvSpPr txBox="1"/>
          <p:nvPr/>
        </p:nvSpPr>
        <p:spPr>
          <a:xfrm>
            <a:off x="3150568" y="3429000"/>
            <a:ext cx="2839395" cy="276999"/>
          </a:xfrm>
          <a:prstGeom prst="rect">
            <a:avLst/>
          </a:prstGeom>
          <a:noFill/>
        </p:spPr>
        <p:txBody>
          <a:bodyPr wrap="square">
            <a:spAutoFit/>
          </a:bodyPr>
          <a:lstStyle/>
          <a:p>
            <a:r>
              <a:rPr lang="zh-CN" altLang="en-US" sz="1200" dirty="0">
                <a:solidFill>
                  <a:schemeClr val="accent1"/>
                </a:solidFill>
                <a:latin typeface="ui-monospace"/>
              </a:rPr>
              <a:t>具体状态角色</a:t>
            </a:r>
            <a:r>
              <a:rPr lang="en-US" altLang="zh-CN" sz="1200" dirty="0">
                <a:solidFill>
                  <a:schemeClr val="accent1"/>
                </a:solidFill>
                <a:latin typeface="ui-monospace"/>
              </a:rPr>
              <a:t>(</a:t>
            </a:r>
            <a:r>
              <a:rPr lang="en-US" altLang="zh-CN" sz="1200" dirty="0" err="1">
                <a:solidFill>
                  <a:schemeClr val="accent1"/>
                </a:solidFill>
                <a:latin typeface="ui-monospace"/>
              </a:rPr>
              <a:t>ConcreteState</a:t>
            </a:r>
            <a:r>
              <a:rPr lang="en-US" altLang="zh-CN" sz="1200" dirty="0">
                <a:solidFill>
                  <a:schemeClr val="accent1"/>
                </a:solidFill>
                <a:latin typeface="ui-monospace"/>
              </a:rPr>
              <a:t>)</a:t>
            </a:r>
          </a:p>
        </p:txBody>
      </p:sp>
      <p:sp>
        <p:nvSpPr>
          <p:cNvPr id="8" name="Rectangle: Rounded Corners 7">
            <a:extLst>
              <a:ext uri="{FF2B5EF4-FFF2-40B4-BE49-F238E27FC236}">
                <a16:creationId xmlns:a16="http://schemas.microsoft.com/office/drawing/2014/main" id="{51BE6F1B-0DB7-CBD1-006A-7F870ABAF272}"/>
              </a:ext>
            </a:extLst>
          </p:cNvPr>
          <p:cNvSpPr/>
          <p:nvPr/>
        </p:nvSpPr>
        <p:spPr>
          <a:xfrm>
            <a:off x="3238356" y="3681431"/>
            <a:ext cx="4610244" cy="3114773"/>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开启状态</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OpenningState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LiftState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开启当然可以关闭了，我就想测试一下电梯门开关功能</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open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电梯门开启</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close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状态修改</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setLiftState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CLOSING_STATE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动作委托为</a:t>
            </a:r>
            <a:r>
              <a:rPr lang="en-US" sz="800" b="0" dirty="0" err="1">
                <a:solidFill>
                  <a:srgbClr val="6A9955"/>
                </a:solidFill>
                <a:effectLst/>
                <a:latin typeface="Consolas" panose="020B0609020204030204" pitchFamily="49" charset="0"/>
              </a:rPr>
              <a:t>CloseState</a:t>
            </a:r>
            <a:r>
              <a:rPr lang="zh-CN" altLang="en-US" sz="800" b="0" dirty="0">
                <a:solidFill>
                  <a:srgbClr val="6A9955"/>
                </a:solidFill>
                <a:effectLst/>
                <a:latin typeface="Consolas" panose="020B0609020204030204" pitchFamily="49" charset="0"/>
              </a:rPr>
              <a:t>来执行，也就是委托给了</a:t>
            </a:r>
            <a:r>
              <a:rPr lang="en-US" sz="800" b="0" dirty="0" err="1">
                <a:solidFill>
                  <a:srgbClr val="6A9955"/>
                </a:solidFill>
                <a:effectLst/>
                <a:latin typeface="Consolas" panose="020B0609020204030204" pitchFamily="49" charset="0"/>
              </a:rPr>
              <a:t>ClosingState</a:t>
            </a:r>
            <a:r>
              <a:rPr lang="zh-CN" altLang="en-US" sz="800" b="0" dirty="0">
                <a:solidFill>
                  <a:srgbClr val="6A9955"/>
                </a:solidFill>
                <a:effectLst/>
                <a:latin typeface="Consolas" panose="020B0609020204030204" pitchFamily="49" charset="0"/>
              </a:rPr>
              <a:t>子类执行这个动作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getLiftState</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close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电梯门不能开着就跑，这里什么也不做</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run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do nothing</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开门状态已经是停止的了</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stop</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do nothing</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9" name="Rectangle: Rounded Corners 8">
            <a:extLst>
              <a:ext uri="{FF2B5EF4-FFF2-40B4-BE49-F238E27FC236}">
                <a16:creationId xmlns:a16="http://schemas.microsoft.com/office/drawing/2014/main" id="{A73E540C-0D13-7025-8444-670930E7CBC7}"/>
              </a:ext>
            </a:extLst>
          </p:cNvPr>
          <p:cNvSpPr/>
          <p:nvPr/>
        </p:nvSpPr>
        <p:spPr>
          <a:xfrm>
            <a:off x="7936388" y="3825205"/>
            <a:ext cx="4140200" cy="2969760"/>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运行状态</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RunningState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LiftState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运行的时候开电梯门？你疯了！电梯不会给你开的</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open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do nothing</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电梯门关闭？这是肯定了</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close</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虽然可以关门，但这个动作不归我执行</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en-US" sz="800" b="0" dirty="0">
                <a:solidFill>
                  <a:srgbClr val="6A9955"/>
                </a:solidFill>
                <a:effectLst/>
                <a:latin typeface="Consolas" panose="020B0609020204030204" pitchFamily="49" charset="0"/>
              </a:rPr>
              <a:t>do nothing</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这是在运行状态下要实现的方法</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run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电梯正在运行</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这个事绝对是合理的，光运行不停止还有谁敢做这个电梯？！估计只有上帝了</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stop</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setLiftState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STOPPING_STATE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stop</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2" name="Rectangle: Rounded Corners 11">
            <a:extLst>
              <a:ext uri="{FF2B5EF4-FFF2-40B4-BE49-F238E27FC236}">
                <a16:creationId xmlns:a16="http://schemas.microsoft.com/office/drawing/2014/main" id="{3C080BC4-7427-A01E-BFC9-2490B5930BC8}"/>
              </a:ext>
            </a:extLst>
          </p:cNvPr>
          <p:cNvSpPr/>
          <p:nvPr/>
        </p:nvSpPr>
        <p:spPr>
          <a:xfrm>
            <a:off x="7936388" y="593985"/>
            <a:ext cx="4140200" cy="3222769"/>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关闭状态</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ClosingState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LiftState</a:t>
            </a:r>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电梯门关闭，这是关闭状态要实现的动作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close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电梯门关闭</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电梯门关了再打开，逗你玩呢，那这个允许呀</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open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setLiftState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OPENNING_STATE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open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电梯门关了就跑，这是再正常不过了</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run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setLiftState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RUNNING_STATE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run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电梯门关着，我就不按楼层</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stop</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setLiftState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STOPPING_STATE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stop</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3536369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62A1F-59DD-B641-0BA0-8D7E6EDB823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99FF277-4ECE-702B-5438-75DC41F1F145}"/>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3A2632E9-E9B0-04B5-C540-79240F86C4E9}"/>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AE84B3B-3ED9-FAE0-AD6A-53337A0E7D96}"/>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074EA550-CF27-B2CB-B2E4-BC29F36BED40}"/>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2853085C-66E9-CE2D-57A8-5154CAEF8E90}"/>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F59C42D7-3487-A32E-C5E4-F805C1457D44}"/>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▶状态模式</a:t>
              </a:r>
              <a:endParaRPr lang="en-US" sz="1200" dirty="0">
                <a:solidFill>
                  <a:schemeClr val="bg1"/>
                </a:solidFill>
              </a:endParaRPr>
            </a:p>
          </p:txBody>
        </p:sp>
        <p:sp>
          <p:nvSpPr>
            <p:cNvPr id="32" name="TextBox 36">
              <a:extLst>
                <a:ext uri="{FF2B5EF4-FFF2-40B4-BE49-F238E27FC236}">
                  <a16:creationId xmlns:a16="http://schemas.microsoft.com/office/drawing/2014/main" id="{1A8706D2-8C42-B7E3-D911-5D674BC2E3E3}"/>
                </a:ext>
              </a:extLst>
            </p:cNvPr>
            <p:cNvSpPr txBox="1"/>
            <p:nvPr/>
          </p:nvSpPr>
          <p:spPr>
            <a:xfrm>
              <a:off x="7667294" y="6245750"/>
              <a:ext cx="8838232" cy="276999"/>
            </a:xfrm>
            <a:prstGeom prst="rect">
              <a:avLst/>
            </a:prstGeom>
            <a:noFill/>
          </p:spPr>
          <p:txBody>
            <a:bodyPr wrap="square">
              <a:spAutoFit/>
            </a:bodyPr>
            <a:lstStyle/>
            <a:p>
              <a:endParaRPr lang="en-US" altLang="zh-CN" sz="1200" dirty="0">
                <a:solidFill>
                  <a:schemeClr val="accent1"/>
                </a:solidFill>
                <a:latin typeface="ui-monospace"/>
              </a:endParaRPr>
            </a:p>
          </p:txBody>
        </p:sp>
      </p:grpSp>
      <p:sp>
        <p:nvSpPr>
          <p:cNvPr id="5" name="TextBox 36">
            <a:extLst>
              <a:ext uri="{FF2B5EF4-FFF2-40B4-BE49-F238E27FC236}">
                <a16:creationId xmlns:a16="http://schemas.microsoft.com/office/drawing/2014/main" id="{977C4D52-B044-B12B-AB00-9E93FA63A6DA}"/>
              </a:ext>
            </a:extLst>
          </p:cNvPr>
          <p:cNvSpPr txBox="1"/>
          <p:nvPr/>
        </p:nvSpPr>
        <p:spPr>
          <a:xfrm>
            <a:off x="7208671" y="382804"/>
            <a:ext cx="2839395" cy="276999"/>
          </a:xfrm>
          <a:prstGeom prst="rect">
            <a:avLst/>
          </a:prstGeom>
          <a:noFill/>
        </p:spPr>
        <p:txBody>
          <a:bodyPr wrap="square">
            <a:spAutoFit/>
          </a:bodyPr>
          <a:lstStyle/>
          <a:p>
            <a:r>
              <a:rPr lang="zh-CN" altLang="en-US" sz="1200" dirty="0">
                <a:solidFill>
                  <a:schemeClr val="accent1"/>
                </a:solidFill>
                <a:latin typeface="ui-monospace"/>
              </a:rPr>
              <a:t>环境角色</a:t>
            </a:r>
            <a:r>
              <a:rPr lang="en-US" altLang="zh-CN" sz="1200" dirty="0">
                <a:solidFill>
                  <a:schemeClr val="accent1"/>
                </a:solidFill>
                <a:latin typeface="ui-monospace"/>
              </a:rPr>
              <a:t>(Context)</a:t>
            </a:r>
          </a:p>
        </p:txBody>
      </p:sp>
      <p:sp>
        <p:nvSpPr>
          <p:cNvPr id="11" name="Rectangle: Rounded Corners 10">
            <a:extLst>
              <a:ext uri="{FF2B5EF4-FFF2-40B4-BE49-F238E27FC236}">
                <a16:creationId xmlns:a16="http://schemas.microsoft.com/office/drawing/2014/main" id="{BD8F7088-FAA0-652D-A0C3-192FC5CF69EE}"/>
              </a:ext>
            </a:extLst>
          </p:cNvPr>
          <p:cNvSpPr/>
          <p:nvPr/>
        </p:nvSpPr>
        <p:spPr>
          <a:xfrm>
            <a:off x="3150568" y="401918"/>
            <a:ext cx="3989721" cy="4207404"/>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停止状态</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StoppingState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LiftState</a:t>
            </a:r>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停止状态，开门，那是要的！</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open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状态修改</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setLiftState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OPENNING_STATE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动作委托为</a:t>
            </a:r>
            <a:r>
              <a:rPr lang="en-US" sz="800" b="0" dirty="0" err="1">
                <a:solidFill>
                  <a:srgbClr val="6A9955"/>
                </a:solidFill>
                <a:effectLst/>
                <a:latin typeface="Consolas" panose="020B0609020204030204" pitchFamily="49" charset="0"/>
              </a:rPr>
              <a:t>CloseState</a:t>
            </a:r>
            <a:r>
              <a:rPr lang="zh-CN" altLang="en-US" sz="800" b="0" dirty="0">
                <a:solidFill>
                  <a:srgbClr val="6A9955"/>
                </a:solidFill>
                <a:effectLst/>
                <a:latin typeface="Consolas" panose="020B0609020204030204" pitchFamily="49" charset="0"/>
              </a:rPr>
              <a:t>来执行，也就是委托给了</a:t>
            </a:r>
            <a:r>
              <a:rPr lang="en-US" sz="800" b="0" dirty="0" err="1">
                <a:solidFill>
                  <a:srgbClr val="6A9955"/>
                </a:solidFill>
                <a:effectLst/>
                <a:latin typeface="Consolas" panose="020B0609020204030204" pitchFamily="49" charset="0"/>
              </a:rPr>
              <a:t>ClosingState</a:t>
            </a:r>
            <a:r>
              <a:rPr lang="zh-CN" altLang="en-US" sz="800" b="0" dirty="0">
                <a:solidFill>
                  <a:srgbClr val="6A9955"/>
                </a:solidFill>
                <a:effectLst/>
                <a:latin typeface="Consolas" panose="020B0609020204030204" pitchFamily="49" charset="0"/>
              </a:rPr>
              <a:t>子类执行这个动作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getLiftState</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open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close</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虽然可以关门，但这个动作不归我执行</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状态修改</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setLiftState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CLOSING_STATE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动作委托为</a:t>
            </a:r>
            <a:r>
              <a:rPr lang="en-US" sz="800" b="0" dirty="0" err="1">
                <a:solidFill>
                  <a:srgbClr val="6A9955"/>
                </a:solidFill>
                <a:effectLst/>
                <a:latin typeface="Consolas" panose="020B0609020204030204" pitchFamily="49" charset="0"/>
              </a:rPr>
              <a:t>CloseState</a:t>
            </a:r>
            <a:r>
              <a:rPr lang="zh-CN" altLang="en-US" sz="800" b="0" dirty="0">
                <a:solidFill>
                  <a:srgbClr val="6A9955"/>
                </a:solidFill>
                <a:effectLst/>
                <a:latin typeface="Consolas" panose="020B0609020204030204" pitchFamily="49" charset="0"/>
              </a:rPr>
              <a:t>来执行，也就是委托给了</a:t>
            </a:r>
            <a:r>
              <a:rPr lang="en-US" sz="800" b="0" dirty="0" err="1">
                <a:solidFill>
                  <a:srgbClr val="6A9955"/>
                </a:solidFill>
                <a:effectLst/>
                <a:latin typeface="Consolas" panose="020B0609020204030204" pitchFamily="49" charset="0"/>
              </a:rPr>
              <a:t>ClosingState</a:t>
            </a:r>
            <a:r>
              <a:rPr lang="zh-CN" altLang="en-US" sz="800" b="0" dirty="0">
                <a:solidFill>
                  <a:srgbClr val="6A9955"/>
                </a:solidFill>
                <a:effectLst/>
                <a:latin typeface="Consolas" panose="020B0609020204030204" pitchFamily="49" charset="0"/>
              </a:rPr>
              <a:t>子类执行这个动作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getLiftState</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close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停止状态再跑起来，正常的很</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run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状态修改</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setLiftState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RUNNING_STATE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动作委托为</a:t>
            </a:r>
            <a:r>
              <a:rPr lang="en-US" sz="800" b="0" dirty="0" err="1">
                <a:solidFill>
                  <a:srgbClr val="6A9955"/>
                </a:solidFill>
                <a:effectLst/>
                <a:latin typeface="Consolas" panose="020B0609020204030204" pitchFamily="49" charset="0"/>
              </a:rPr>
              <a:t>CloseState</a:t>
            </a:r>
            <a:r>
              <a:rPr lang="zh-CN" altLang="en-US" sz="800" b="0" dirty="0">
                <a:solidFill>
                  <a:srgbClr val="6A9955"/>
                </a:solidFill>
                <a:effectLst/>
                <a:latin typeface="Consolas" panose="020B0609020204030204" pitchFamily="49" charset="0"/>
              </a:rPr>
              <a:t>来执行，也就是委托给了</a:t>
            </a:r>
            <a:r>
              <a:rPr lang="en-US" sz="800" b="0" dirty="0" err="1">
                <a:solidFill>
                  <a:srgbClr val="6A9955"/>
                </a:solidFill>
                <a:effectLst/>
                <a:latin typeface="Consolas" panose="020B0609020204030204" pitchFamily="49" charset="0"/>
              </a:rPr>
              <a:t>ClosingState</a:t>
            </a:r>
            <a:r>
              <a:rPr lang="zh-CN" altLang="en-US" sz="800" b="0" dirty="0">
                <a:solidFill>
                  <a:srgbClr val="6A9955"/>
                </a:solidFill>
                <a:effectLst/>
                <a:latin typeface="Consolas" panose="020B0609020204030204" pitchFamily="49" charset="0"/>
              </a:rPr>
              <a:t>子类执行这个动作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super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getLiftState</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run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停止状态是怎么发生的呢？当然是停止方法执行了</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stop</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电梯停止了</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
        <p:nvSpPr>
          <p:cNvPr id="13" name="Rectangle: Rounded Corners 12">
            <a:extLst>
              <a:ext uri="{FF2B5EF4-FFF2-40B4-BE49-F238E27FC236}">
                <a16:creationId xmlns:a16="http://schemas.microsoft.com/office/drawing/2014/main" id="{9E1CB3D1-BCF4-9BBC-B173-09E9918FDA77}"/>
              </a:ext>
            </a:extLst>
          </p:cNvPr>
          <p:cNvSpPr/>
          <p:nvPr/>
        </p:nvSpPr>
        <p:spPr>
          <a:xfrm>
            <a:off x="7304651" y="622479"/>
            <a:ext cx="4684149" cy="4462703"/>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环境角色</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定义出所有的电梯状态</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final</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OpenningState</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OPENNING_STATE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OpenningState</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开门状态，这时候电梯只能关闭</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final</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ClosingState</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CLOSING_STATE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ClosingState</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关闭状态，这时候电梯可以运行、停止和开门</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final</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RunningState</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RUNNING_STATE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RunningState</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运行状态，这时候电梯只能停止</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final</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StoppingState</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STOPPING_STATE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StoppingState</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停止状态，这时候电梯可以开门、运行</a:t>
            </a:r>
            <a:endParaRPr lang="zh-CN" altLang="en-US" sz="800" b="0" dirty="0">
              <a:solidFill>
                <a:srgbClr val="D4D4D4"/>
              </a:solidFill>
              <a:effectLst/>
              <a:latin typeface="Consolas" panose="020B0609020204030204" pitchFamily="49" charset="0"/>
            </a:endParaRPr>
          </a:p>
          <a:p>
            <a:br>
              <a:rPr lang="zh-CN" altLang="en-US" sz="800" b="0" dirty="0">
                <a:solidFill>
                  <a:srgbClr val="D4D4D4"/>
                </a:solidFill>
                <a:effectLst/>
                <a:latin typeface="Consolas" panose="020B0609020204030204" pitchFamily="49" charset="0"/>
              </a:rPr>
            </a:br>
            <a:r>
              <a:rPr lang="zh-CN" altLang="en-US"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定义一个当前电梯状态</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LiftState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liftState</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LiftState</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getLiftState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liftState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setLiftState</a:t>
            </a:r>
            <a:r>
              <a:rPr lang="en-US" sz="800" b="0" dirty="0">
                <a:solidFill>
                  <a:srgbClr val="D4D4D4"/>
                </a:solidFill>
                <a:effectLst/>
                <a:latin typeface="Consolas" panose="020B0609020204030204" pitchFamily="49" charset="0"/>
              </a:rPr>
              <a:t>(</a:t>
            </a:r>
            <a:r>
              <a:rPr lang="en-US" sz="800" b="0" dirty="0" err="1">
                <a:solidFill>
                  <a:srgbClr val="4EC9B0"/>
                </a:solidFill>
                <a:effectLst/>
                <a:latin typeface="Consolas" panose="020B0609020204030204" pitchFamily="49" charset="0"/>
              </a:rPr>
              <a:t>LiftState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liftState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当前环境改变</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liftState</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liftState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把当前的环境通知到各个实现类中</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liftState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setContext</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open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liftState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open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close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liftState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close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run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liftState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run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stop</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liftState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stop</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4" name="Rectangle: Rounded Corners 13">
            <a:extLst>
              <a:ext uri="{FF2B5EF4-FFF2-40B4-BE49-F238E27FC236}">
                <a16:creationId xmlns:a16="http://schemas.microsoft.com/office/drawing/2014/main" id="{D32C4C8D-8641-05B6-28A2-AB0117253333}"/>
              </a:ext>
            </a:extLst>
          </p:cNvPr>
          <p:cNvSpPr/>
          <p:nvPr/>
        </p:nvSpPr>
        <p:spPr>
          <a:xfrm>
            <a:off x="3150568" y="4954557"/>
            <a:ext cx="3989720" cy="1819470"/>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创建环境角色对象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Context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设置当前电梯装填</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setLiftState</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ClosingState</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open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run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close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context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stop</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5" name="TextBox 36">
            <a:extLst>
              <a:ext uri="{FF2B5EF4-FFF2-40B4-BE49-F238E27FC236}">
                <a16:creationId xmlns:a16="http://schemas.microsoft.com/office/drawing/2014/main" id="{BE3AC80B-4AF1-A6F7-005B-03BC48F29503}"/>
              </a:ext>
            </a:extLst>
          </p:cNvPr>
          <p:cNvSpPr txBox="1"/>
          <p:nvPr/>
        </p:nvSpPr>
        <p:spPr>
          <a:xfrm>
            <a:off x="3082186" y="4681466"/>
            <a:ext cx="2839395" cy="276999"/>
          </a:xfrm>
          <a:prstGeom prst="rect">
            <a:avLst/>
          </a:prstGeom>
          <a:noFill/>
        </p:spPr>
        <p:txBody>
          <a:bodyPr wrap="square">
            <a:spAutoFit/>
          </a:bodyPr>
          <a:lstStyle/>
          <a:p>
            <a:r>
              <a:rPr lang="zh-CN" altLang="en-US" sz="1200" dirty="0">
                <a:solidFill>
                  <a:schemeClr val="accent1"/>
                </a:solidFill>
                <a:latin typeface="ui-monospace"/>
              </a:rPr>
              <a:t>调用</a:t>
            </a:r>
            <a:endParaRPr lang="en-US" altLang="zh-CN" sz="1200" dirty="0">
              <a:solidFill>
                <a:schemeClr val="accent1"/>
              </a:solidFill>
              <a:latin typeface="ui-monospace"/>
            </a:endParaRPr>
          </a:p>
        </p:txBody>
      </p:sp>
      <p:sp>
        <p:nvSpPr>
          <p:cNvPr id="16" name="TextBox 36">
            <a:extLst>
              <a:ext uri="{FF2B5EF4-FFF2-40B4-BE49-F238E27FC236}">
                <a16:creationId xmlns:a16="http://schemas.microsoft.com/office/drawing/2014/main" id="{951CCBDE-2674-E035-5944-E8FABB0DB976}"/>
              </a:ext>
            </a:extLst>
          </p:cNvPr>
          <p:cNvSpPr txBox="1"/>
          <p:nvPr/>
        </p:nvSpPr>
        <p:spPr>
          <a:xfrm>
            <a:off x="7208671" y="5148252"/>
            <a:ext cx="2839395"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pic>
        <p:nvPicPr>
          <p:cNvPr id="3208" name="Picture 3207">
            <a:extLst>
              <a:ext uri="{FF2B5EF4-FFF2-40B4-BE49-F238E27FC236}">
                <a16:creationId xmlns:a16="http://schemas.microsoft.com/office/drawing/2014/main" id="{555B36F9-A0B3-BA96-9CCB-8F7B70D0211F}"/>
              </a:ext>
            </a:extLst>
          </p:cNvPr>
          <p:cNvPicPr>
            <a:picLocks noChangeAspect="1"/>
          </p:cNvPicPr>
          <p:nvPr/>
        </p:nvPicPr>
        <p:blipFill>
          <a:blip r:embed="rId2"/>
          <a:stretch>
            <a:fillRect/>
          </a:stretch>
        </p:blipFill>
        <p:spPr>
          <a:xfrm>
            <a:off x="7437533" y="5425251"/>
            <a:ext cx="4551267" cy="1194226"/>
          </a:xfrm>
          <a:prstGeom prst="rect">
            <a:avLst/>
          </a:prstGeom>
        </p:spPr>
      </p:pic>
    </p:spTree>
    <p:extLst>
      <p:ext uri="{BB962C8B-B14F-4D97-AF65-F5344CB8AC3E}">
        <p14:creationId xmlns:p14="http://schemas.microsoft.com/office/powerpoint/2010/main" val="13105313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71F72-7E55-14A9-21BA-D5590FF677E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BB840C0-CC71-6506-B0CE-448170BCC8B2}"/>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91FA78C-710B-7B93-EA82-BC35C60D066B}"/>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4CF38A4-E55B-C291-B68D-5BD3832EE6E7}"/>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D7CCDA9C-4BF8-8441-6A48-198B6C2DBA2C}"/>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3D8D36AF-8D2D-B67B-C119-7B43C55B4FA4}"/>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EFCB3904-1727-CDFC-7CC1-8732FB4D4DE5}"/>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▶策略模式</a:t>
              </a:r>
              <a:endParaRPr lang="en-US" sz="1200" dirty="0">
                <a:solidFill>
                  <a:schemeClr val="bg1"/>
                </a:solidFill>
              </a:endParaRPr>
            </a:p>
          </p:txBody>
        </p:sp>
        <p:sp>
          <p:nvSpPr>
            <p:cNvPr id="32" name="TextBox 36">
              <a:extLst>
                <a:ext uri="{FF2B5EF4-FFF2-40B4-BE49-F238E27FC236}">
                  <a16:creationId xmlns:a16="http://schemas.microsoft.com/office/drawing/2014/main" id="{1EA189CF-8F93-7F05-8BC9-494E4428F254}"/>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定义了一系列算法，并将每个算法封装起来，使它们可以相互替换，且算法的变化不会影响使用算法的客户。选择交通</a:t>
              </a:r>
              <a:r>
                <a:rPr lang="en-US" altLang="zh-CN" sz="1200" dirty="0">
                  <a:solidFill>
                    <a:schemeClr val="accent1"/>
                  </a:solidFill>
                  <a:latin typeface="ui-monospace"/>
                </a:rPr>
                <a:t>/</a:t>
              </a:r>
              <a:r>
                <a:rPr lang="zh-CN" altLang="en-US" sz="1200" dirty="0">
                  <a:solidFill>
                    <a:schemeClr val="accent1"/>
                  </a:solidFill>
                  <a:latin typeface="ui-monospace"/>
                </a:rPr>
                <a:t>开发工具</a:t>
              </a:r>
              <a:endParaRPr lang="en-US" altLang="zh-CN" sz="1200" dirty="0">
                <a:solidFill>
                  <a:schemeClr val="accent1"/>
                </a:solidFill>
                <a:latin typeface="ui-monospace"/>
              </a:endParaRPr>
            </a:p>
          </p:txBody>
        </p:sp>
      </p:grpSp>
      <p:sp>
        <p:nvSpPr>
          <p:cNvPr id="5" name="TextBox 36">
            <a:extLst>
              <a:ext uri="{FF2B5EF4-FFF2-40B4-BE49-F238E27FC236}">
                <a16:creationId xmlns:a16="http://schemas.microsoft.com/office/drawing/2014/main" id="{330D188D-FEEF-FAA0-1FDB-DD75BD653265}"/>
              </a:ext>
            </a:extLst>
          </p:cNvPr>
          <p:cNvSpPr txBox="1"/>
          <p:nvPr/>
        </p:nvSpPr>
        <p:spPr>
          <a:xfrm>
            <a:off x="3150568" y="603368"/>
            <a:ext cx="2839395" cy="276999"/>
          </a:xfrm>
          <a:prstGeom prst="rect">
            <a:avLst/>
          </a:prstGeom>
          <a:noFill/>
        </p:spPr>
        <p:txBody>
          <a:bodyPr wrap="square">
            <a:spAutoFit/>
          </a:bodyPr>
          <a:lstStyle/>
          <a:p>
            <a:r>
              <a:rPr lang="zh-CN" altLang="en-US" sz="1200" dirty="0">
                <a:solidFill>
                  <a:schemeClr val="accent1"/>
                </a:solidFill>
                <a:latin typeface="ui-monospace"/>
              </a:rPr>
              <a:t>抽象策略类角色</a:t>
            </a:r>
            <a:r>
              <a:rPr lang="en-US" altLang="zh-CN" sz="1200" dirty="0">
                <a:solidFill>
                  <a:schemeClr val="accent1"/>
                </a:solidFill>
                <a:latin typeface="ui-monospace"/>
              </a:rPr>
              <a:t>(Strategy)</a:t>
            </a:r>
          </a:p>
        </p:txBody>
      </p:sp>
      <p:sp>
        <p:nvSpPr>
          <p:cNvPr id="10" name="Rectangle: Rounded Corners 9">
            <a:extLst>
              <a:ext uri="{FF2B5EF4-FFF2-40B4-BE49-F238E27FC236}">
                <a16:creationId xmlns:a16="http://schemas.microsoft.com/office/drawing/2014/main" id="{164A1C71-A517-5965-9C2A-6DC6E5FC71D6}"/>
              </a:ext>
            </a:extLst>
          </p:cNvPr>
          <p:cNvSpPr/>
          <p:nvPr/>
        </p:nvSpPr>
        <p:spPr>
          <a:xfrm>
            <a:off x="3234785" y="868090"/>
            <a:ext cx="3779325" cy="591063"/>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抽象策略类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Strategy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show</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p:txBody>
      </p:sp>
      <p:sp>
        <p:nvSpPr>
          <p:cNvPr id="4" name="TextBox 36">
            <a:extLst>
              <a:ext uri="{FF2B5EF4-FFF2-40B4-BE49-F238E27FC236}">
                <a16:creationId xmlns:a16="http://schemas.microsoft.com/office/drawing/2014/main" id="{5DCD50B8-CD70-8E1B-7502-23F39D5A1AE2}"/>
              </a:ext>
            </a:extLst>
          </p:cNvPr>
          <p:cNvSpPr txBox="1"/>
          <p:nvPr/>
        </p:nvSpPr>
        <p:spPr>
          <a:xfrm>
            <a:off x="3150568" y="1476270"/>
            <a:ext cx="2839395" cy="276999"/>
          </a:xfrm>
          <a:prstGeom prst="rect">
            <a:avLst/>
          </a:prstGeom>
          <a:noFill/>
        </p:spPr>
        <p:txBody>
          <a:bodyPr wrap="square">
            <a:spAutoFit/>
          </a:bodyPr>
          <a:lstStyle/>
          <a:p>
            <a:r>
              <a:rPr lang="zh-CN" altLang="en-US" sz="1200" dirty="0">
                <a:solidFill>
                  <a:schemeClr val="accent1"/>
                </a:solidFill>
                <a:latin typeface="ui-monospace"/>
              </a:rPr>
              <a:t>具体策略类角色</a:t>
            </a:r>
            <a:r>
              <a:rPr lang="en-US" altLang="zh-CN" sz="1200" dirty="0">
                <a:solidFill>
                  <a:schemeClr val="accent1"/>
                </a:solidFill>
                <a:latin typeface="ui-monospace"/>
              </a:rPr>
              <a:t>(</a:t>
            </a:r>
            <a:r>
              <a:rPr lang="en-US" altLang="zh-CN" sz="1200" dirty="0" err="1">
                <a:solidFill>
                  <a:schemeClr val="accent1"/>
                </a:solidFill>
                <a:latin typeface="ui-monospace"/>
              </a:rPr>
              <a:t>ConcreteCommand</a:t>
            </a:r>
            <a:r>
              <a:rPr lang="en-US" altLang="zh-CN" sz="1200" dirty="0">
                <a:solidFill>
                  <a:schemeClr val="accent1"/>
                </a:solidFill>
                <a:latin typeface="ui-monospace"/>
              </a:rPr>
              <a:t>)</a:t>
            </a:r>
          </a:p>
        </p:txBody>
      </p:sp>
      <p:sp>
        <p:nvSpPr>
          <p:cNvPr id="7" name="TextBox 36">
            <a:extLst>
              <a:ext uri="{FF2B5EF4-FFF2-40B4-BE49-F238E27FC236}">
                <a16:creationId xmlns:a16="http://schemas.microsoft.com/office/drawing/2014/main" id="{70533B21-3DD4-AC34-F036-C819CB110D56}"/>
              </a:ext>
            </a:extLst>
          </p:cNvPr>
          <p:cNvSpPr txBox="1"/>
          <p:nvPr/>
        </p:nvSpPr>
        <p:spPr>
          <a:xfrm>
            <a:off x="3150567" y="4405602"/>
            <a:ext cx="2839395" cy="276999"/>
          </a:xfrm>
          <a:prstGeom prst="rect">
            <a:avLst/>
          </a:prstGeom>
          <a:noFill/>
        </p:spPr>
        <p:txBody>
          <a:bodyPr wrap="square">
            <a:spAutoFit/>
          </a:bodyPr>
          <a:lstStyle/>
          <a:p>
            <a:r>
              <a:rPr lang="zh-CN" altLang="en-US" sz="1200" dirty="0">
                <a:solidFill>
                  <a:schemeClr val="accent1"/>
                </a:solidFill>
                <a:latin typeface="ui-monospace"/>
              </a:rPr>
              <a:t>环境类角色</a:t>
            </a:r>
            <a:r>
              <a:rPr lang="en-US" altLang="zh-CN" sz="1200" dirty="0">
                <a:solidFill>
                  <a:schemeClr val="accent1"/>
                </a:solidFill>
                <a:latin typeface="ui-monospace"/>
              </a:rPr>
              <a:t>(Context)</a:t>
            </a:r>
          </a:p>
        </p:txBody>
      </p:sp>
      <p:sp>
        <p:nvSpPr>
          <p:cNvPr id="11" name="Rectangle: Rounded Corners 10">
            <a:extLst>
              <a:ext uri="{FF2B5EF4-FFF2-40B4-BE49-F238E27FC236}">
                <a16:creationId xmlns:a16="http://schemas.microsoft.com/office/drawing/2014/main" id="{13ED51AF-8035-4A05-8294-1F569BEC13E5}"/>
              </a:ext>
            </a:extLst>
          </p:cNvPr>
          <p:cNvSpPr/>
          <p:nvPr/>
        </p:nvSpPr>
        <p:spPr>
          <a:xfrm>
            <a:off x="3234786" y="1734794"/>
            <a:ext cx="3779325" cy="2660073"/>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定义具体策略角色：每个节日具体的促销活动</a:t>
            </a:r>
            <a:endParaRPr lang="zh-CN" altLang="en-US" sz="800" b="0" dirty="0">
              <a:solidFill>
                <a:srgbClr val="D4D4D4"/>
              </a:solidFill>
              <a:effectLst/>
              <a:latin typeface="Consolas" panose="020B0609020204030204" pitchFamily="49" charset="0"/>
            </a:endParaRPr>
          </a:p>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为春节准备的促销活动</a:t>
            </a:r>
            <a:r>
              <a:rPr lang="en-US" sz="800" b="0" dirty="0">
                <a:solidFill>
                  <a:srgbClr val="6A9955"/>
                </a:solidFill>
                <a:effectLst/>
                <a:latin typeface="Consolas" panose="020B0609020204030204" pitchFamily="49" charset="0"/>
              </a:rPr>
              <a:t>A</a:t>
            </a:r>
            <a:endParaRPr 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StrategyA</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Strategy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show</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买一送一</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a:p>
            <a:br>
              <a:rPr lang="en-US" altLang="zh-CN" sz="800" b="0" dirty="0">
                <a:solidFill>
                  <a:srgbClr val="D4D4D4"/>
                </a:solidFill>
                <a:effectLst/>
                <a:latin typeface="Consolas" panose="020B0609020204030204" pitchFamily="49" charset="0"/>
              </a:rPr>
            </a:b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为中秋准备的促销活动</a:t>
            </a:r>
            <a:r>
              <a:rPr lang="en-US" sz="800" b="0" dirty="0">
                <a:solidFill>
                  <a:srgbClr val="6A9955"/>
                </a:solidFill>
                <a:effectLst/>
                <a:latin typeface="Consolas" panose="020B0609020204030204" pitchFamily="49" charset="0"/>
              </a:rPr>
              <a:t>B</a:t>
            </a:r>
            <a:endParaRPr 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StrategyB</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Strategy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show</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满</a:t>
            </a:r>
            <a:r>
              <a:rPr lang="en-US" altLang="zh-CN" sz="800" b="0" dirty="0">
                <a:solidFill>
                  <a:srgbClr val="CE9178"/>
                </a:solidFill>
                <a:effectLst/>
                <a:latin typeface="Consolas" panose="020B0609020204030204" pitchFamily="49" charset="0"/>
              </a:rPr>
              <a:t>200</a:t>
            </a:r>
            <a:r>
              <a:rPr lang="zh-CN" altLang="en-US" sz="800" b="0" dirty="0">
                <a:solidFill>
                  <a:srgbClr val="CE9178"/>
                </a:solidFill>
                <a:effectLst/>
                <a:latin typeface="Consolas" panose="020B0609020204030204" pitchFamily="49" charset="0"/>
              </a:rPr>
              <a:t>元减</a:t>
            </a:r>
            <a:r>
              <a:rPr lang="en-US" altLang="zh-CN" sz="800" b="0" dirty="0">
                <a:solidFill>
                  <a:srgbClr val="CE9178"/>
                </a:solidFill>
                <a:effectLst/>
                <a:latin typeface="Consolas" panose="020B0609020204030204" pitchFamily="49" charset="0"/>
              </a:rPr>
              <a:t>50</a:t>
            </a:r>
            <a:r>
              <a:rPr lang="zh-CN" altLang="en-US" sz="800" b="0" dirty="0">
                <a:solidFill>
                  <a:srgbClr val="CE9178"/>
                </a:solidFill>
                <a:effectLst/>
                <a:latin typeface="Consolas" panose="020B0609020204030204" pitchFamily="49" charset="0"/>
              </a:rPr>
              <a:t>元</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a:p>
            <a:br>
              <a:rPr lang="en-US" altLang="zh-CN" sz="800" b="0" dirty="0">
                <a:solidFill>
                  <a:srgbClr val="D4D4D4"/>
                </a:solidFill>
                <a:effectLst/>
                <a:latin typeface="Consolas" panose="020B0609020204030204" pitchFamily="49" charset="0"/>
              </a:rPr>
            </a:b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为圣诞准备的促销活动</a:t>
            </a:r>
            <a:r>
              <a:rPr lang="en-US" sz="800" b="0" dirty="0">
                <a:solidFill>
                  <a:srgbClr val="6A9955"/>
                </a:solidFill>
                <a:effectLst/>
                <a:latin typeface="Consolas" panose="020B0609020204030204" pitchFamily="49" charset="0"/>
              </a:rPr>
              <a:t>C</a:t>
            </a:r>
            <a:endParaRPr 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StrategyC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Strategy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show</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满</a:t>
            </a:r>
            <a:r>
              <a:rPr lang="en-US" altLang="zh-CN" sz="800" b="0" dirty="0">
                <a:solidFill>
                  <a:srgbClr val="CE9178"/>
                </a:solidFill>
                <a:effectLst/>
                <a:latin typeface="Consolas" panose="020B0609020204030204" pitchFamily="49" charset="0"/>
              </a:rPr>
              <a:t>1000</a:t>
            </a:r>
            <a:r>
              <a:rPr lang="zh-CN" altLang="en-US" sz="800" b="0" dirty="0">
                <a:solidFill>
                  <a:srgbClr val="CE9178"/>
                </a:solidFill>
                <a:effectLst/>
                <a:latin typeface="Consolas" panose="020B0609020204030204" pitchFamily="49" charset="0"/>
              </a:rPr>
              <a:t>元加一元换购任意</a:t>
            </a:r>
            <a:r>
              <a:rPr lang="en-US" altLang="zh-CN" sz="800" b="0" dirty="0">
                <a:solidFill>
                  <a:srgbClr val="CE9178"/>
                </a:solidFill>
                <a:effectLst/>
                <a:latin typeface="Consolas" panose="020B0609020204030204" pitchFamily="49" charset="0"/>
              </a:rPr>
              <a:t>200</a:t>
            </a:r>
            <a:r>
              <a:rPr lang="zh-CN" altLang="en-US" sz="800" b="0" dirty="0">
                <a:solidFill>
                  <a:srgbClr val="CE9178"/>
                </a:solidFill>
                <a:effectLst/>
                <a:latin typeface="Consolas" panose="020B0609020204030204" pitchFamily="49" charset="0"/>
              </a:rPr>
              <a:t>元以下商品</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
        <p:nvSpPr>
          <p:cNvPr id="12" name="Rectangle: Rounded Corners 11">
            <a:extLst>
              <a:ext uri="{FF2B5EF4-FFF2-40B4-BE49-F238E27FC236}">
                <a16:creationId xmlns:a16="http://schemas.microsoft.com/office/drawing/2014/main" id="{19FE37EA-6EE6-CCBD-8657-F0B37D2E7E9D}"/>
              </a:ext>
            </a:extLst>
          </p:cNvPr>
          <p:cNvSpPr/>
          <p:nvPr/>
        </p:nvSpPr>
        <p:spPr>
          <a:xfrm>
            <a:off x="3234786" y="4697298"/>
            <a:ext cx="3779325" cy="1883018"/>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定义环境角色（</a:t>
            </a:r>
            <a:r>
              <a:rPr lang="en-US" sz="800" b="0" dirty="0">
                <a:solidFill>
                  <a:srgbClr val="6A9955"/>
                </a:solidFill>
                <a:effectLst/>
                <a:latin typeface="Consolas" panose="020B0609020204030204" pitchFamily="49" charset="0"/>
              </a:rPr>
              <a:t>Context）：</a:t>
            </a:r>
            <a:r>
              <a:rPr lang="zh-CN" altLang="en-US" sz="800" b="0" dirty="0">
                <a:solidFill>
                  <a:srgbClr val="6A9955"/>
                </a:solidFill>
                <a:effectLst/>
                <a:latin typeface="Consolas" panose="020B0609020204030204" pitchFamily="49" charset="0"/>
              </a:rPr>
              <a:t>用于连接上下文，即把促销活动推销给客户</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SalesMan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持有抽象策略角色的引用</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Strategy</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strategy</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SalesMan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Strategy</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strategy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strategy</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strategy</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向客户展示促销活动</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salesManShow</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strategy</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show</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3" name="Rectangle: Rounded Corners 12">
            <a:extLst>
              <a:ext uri="{FF2B5EF4-FFF2-40B4-BE49-F238E27FC236}">
                <a16:creationId xmlns:a16="http://schemas.microsoft.com/office/drawing/2014/main" id="{CD32F3D3-0375-78B6-245E-49A399320A5E}"/>
              </a:ext>
            </a:extLst>
          </p:cNvPr>
          <p:cNvSpPr/>
          <p:nvPr/>
        </p:nvSpPr>
        <p:spPr>
          <a:xfrm>
            <a:off x="7262691" y="868090"/>
            <a:ext cx="4661454" cy="2632351"/>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春节来了，使用春节促销活动</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SalesMan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salesMan</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SalesMan</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StrategyA</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展示促销活动</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salesMan</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salesManShow</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中秋节到了，使用中秋节的促销活动</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salesMan</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setStrategy</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StrategyB</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展示促销活动</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salesMan</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salesManShow</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圣诞节到了，使用圣诞节的促销活动</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salesMan</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setStrategy</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StrategyC</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展示促销活动</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salesMan</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salesManShow</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pic>
        <p:nvPicPr>
          <p:cNvPr id="2928" name="Picture 2927">
            <a:extLst>
              <a:ext uri="{FF2B5EF4-FFF2-40B4-BE49-F238E27FC236}">
                <a16:creationId xmlns:a16="http://schemas.microsoft.com/office/drawing/2014/main" id="{029A4EAF-2C6A-DC57-6D75-2D91EE682668}"/>
              </a:ext>
            </a:extLst>
          </p:cNvPr>
          <p:cNvPicPr>
            <a:picLocks noChangeAspect="1"/>
          </p:cNvPicPr>
          <p:nvPr/>
        </p:nvPicPr>
        <p:blipFill>
          <a:blip r:embed="rId2"/>
          <a:stretch>
            <a:fillRect/>
          </a:stretch>
        </p:blipFill>
        <p:spPr>
          <a:xfrm>
            <a:off x="7262691" y="3926950"/>
            <a:ext cx="4458020" cy="1734710"/>
          </a:xfrm>
          <a:prstGeom prst="rect">
            <a:avLst/>
          </a:prstGeom>
        </p:spPr>
      </p:pic>
      <p:sp>
        <p:nvSpPr>
          <p:cNvPr id="14" name="TextBox 36">
            <a:extLst>
              <a:ext uri="{FF2B5EF4-FFF2-40B4-BE49-F238E27FC236}">
                <a16:creationId xmlns:a16="http://schemas.microsoft.com/office/drawing/2014/main" id="{6765822F-87B4-8A12-0365-58478F3A79E9}"/>
              </a:ext>
            </a:extLst>
          </p:cNvPr>
          <p:cNvSpPr txBox="1"/>
          <p:nvPr/>
        </p:nvSpPr>
        <p:spPr>
          <a:xfrm>
            <a:off x="7181547" y="3575196"/>
            <a:ext cx="2839395" cy="276999"/>
          </a:xfrm>
          <a:prstGeom prst="rect">
            <a:avLst/>
          </a:prstGeom>
          <a:noFill/>
        </p:spPr>
        <p:txBody>
          <a:bodyPr wrap="square">
            <a:spAutoFit/>
          </a:bodyPr>
          <a:lstStyle/>
          <a:p>
            <a:r>
              <a:rPr lang="zh-CN" altLang="en-US" sz="1200" dirty="0">
                <a:solidFill>
                  <a:schemeClr val="accent1"/>
                </a:solidFill>
                <a:latin typeface="ui-monospace"/>
              </a:rPr>
              <a:t>类图</a:t>
            </a:r>
            <a:endParaRPr lang="en-US" altLang="zh-CN" sz="1200" dirty="0">
              <a:solidFill>
                <a:schemeClr val="accent1"/>
              </a:solidFill>
              <a:latin typeface="ui-monospace"/>
            </a:endParaRPr>
          </a:p>
        </p:txBody>
      </p:sp>
    </p:spTree>
    <p:extLst>
      <p:ext uri="{BB962C8B-B14F-4D97-AF65-F5344CB8AC3E}">
        <p14:creationId xmlns:p14="http://schemas.microsoft.com/office/powerpoint/2010/main" val="21037253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DCE8-2250-008F-776E-EF6F612959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2176133-2EFA-B05C-039C-E50FA855DBBA}"/>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01840427-6229-D121-D261-095BF4320935}"/>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AE6456B-BEF5-6D11-F79E-481306285C94}"/>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5DB54431-7A28-B4E6-E47F-7F29F82A371D}"/>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14F47449-D945-1173-D71E-51F8D5333146}"/>
              </a:ext>
            </a:extLst>
          </p:cNvPr>
          <p:cNvGrpSpPr/>
          <p:nvPr/>
        </p:nvGrpSpPr>
        <p:grpSpPr>
          <a:xfrm>
            <a:off x="3097887" y="61796"/>
            <a:ext cx="8992513" cy="756927"/>
            <a:chOff x="7614613" y="5950488"/>
            <a:chExt cx="8992513" cy="756927"/>
          </a:xfrm>
        </p:grpSpPr>
        <p:sp>
          <p:nvSpPr>
            <p:cNvPr id="31" name="Rectangle: Rounded Corners 35">
              <a:extLst>
                <a:ext uri="{FF2B5EF4-FFF2-40B4-BE49-F238E27FC236}">
                  <a16:creationId xmlns:a16="http://schemas.microsoft.com/office/drawing/2014/main" id="{F57D9885-B00C-1D87-4BCE-7E174CE72293}"/>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▶模板方法模式</a:t>
              </a:r>
              <a:endParaRPr lang="en-US" sz="1200" dirty="0">
                <a:solidFill>
                  <a:schemeClr val="bg1"/>
                </a:solidFill>
              </a:endParaRPr>
            </a:p>
          </p:txBody>
        </p:sp>
        <p:sp>
          <p:nvSpPr>
            <p:cNvPr id="32" name="TextBox 36">
              <a:extLst>
                <a:ext uri="{FF2B5EF4-FFF2-40B4-BE49-F238E27FC236}">
                  <a16:creationId xmlns:a16="http://schemas.microsoft.com/office/drawing/2014/main" id="{315810A8-FA24-9B15-9AEF-42DA67642099}"/>
                </a:ext>
              </a:extLst>
            </p:cNvPr>
            <p:cNvSpPr txBox="1"/>
            <p:nvPr/>
          </p:nvSpPr>
          <p:spPr>
            <a:xfrm>
              <a:off x="7667294" y="6245750"/>
              <a:ext cx="8838232" cy="461665"/>
            </a:xfrm>
            <a:prstGeom prst="rect">
              <a:avLst/>
            </a:prstGeom>
            <a:noFill/>
          </p:spPr>
          <p:txBody>
            <a:bodyPr wrap="square">
              <a:spAutoFit/>
            </a:bodyPr>
            <a:lstStyle/>
            <a:p>
              <a:r>
                <a:rPr lang="zh-CN" altLang="en-US" sz="1200" dirty="0">
                  <a:solidFill>
                    <a:schemeClr val="accent1"/>
                  </a:solidFill>
                  <a:latin typeface="ui-monospace"/>
                </a:rPr>
                <a:t>定义一个操作中的算法骨架，而将算法的一些步骤延迟到子类中，使得子类可以不改变该算法结构的情况下重定义该算法的某些特定步骤。倒油、热油、倒蔬菜、倒调料品、翻炒固定步骤的炒菜过程</a:t>
              </a:r>
              <a:endParaRPr lang="en-US" altLang="zh-CN" sz="1200" dirty="0">
                <a:solidFill>
                  <a:schemeClr val="accent1"/>
                </a:solidFill>
                <a:latin typeface="ui-monospace"/>
              </a:endParaRPr>
            </a:p>
          </p:txBody>
        </p:sp>
      </p:grpSp>
      <p:sp>
        <p:nvSpPr>
          <p:cNvPr id="5" name="TextBox 36">
            <a:extLst>
              <a:ext uri="{FF2B5EF4-FFF2-40B4-BE49-F238E27FC236}">
                <a16:creationId xmlns:a16="http://schemas.microsoft.com/office/drawing/2014/main" id="{73AB7276-37EE-B7AB-34DE-063C08BFEAF0}"/>
              </a:ext>
            </a:extLst>
          </p:cNvPr>
          <p:cNvSpPr txBox="1"/>
          <p:nvPr/>
        </p:nvSpPr>
        <p:spPr>
          <a:xfrm>
            <a:off x="3150568" y="778858"/>
            <a:ext cx="2839395" cy="276999"/>
          </a:xfrm>
          <a:prstGeom prst="rect">
            <a:avLst/>
          </a:prstGeom>
          <a:noFill/>
        </p:spPr>
        <p:txBody>
          <a:bodyPr wrap="square">
            <a:spAutoFit/>
          </a:bodyPr>
          <a:lstStyle/>
          <a:p>
            <a:r>
              <a:rPr lang="zh-CN" altLang="en-US" sz="1200" dirty="0">
                <a:solidFill>
                  <a:schemeClr val="accent1"/>
                </a:solidFill>
                <a:latin typeface="ui-monospace"/>
              </a:rPr>
              <a:t>抽象类角色</a:t>
            </a:r>
            <a:r>
              <a:rPr lang="en-US" altLang="zh-CN" sz="1200" dirty="0">
                <a:solidFill>
                  <a:schemeClr val="accent1"/>
                </a:solidFill>
                <a:latin typeface="ui-monospace"/>
              </a:rPr>
              <a:t>(</a:t>
            </a:r>
            <a:r>
              <a:rPr lang="en-US" altLang="zh-CN" sz="1200" dirty="0" err="1">
                <a:solidFill>
                  <a:schemeClr val="accent1"/>
                </a:solidFill>
                <a:latin typeface="ui-monospace"/>
              </a:rPr>
              <a:t>AbstractClass</a:t>
            </a:r>
            <a:r>
              <a:rPr lang="en-US" altLang="zh-CN" sz="1200" dirty="0">
                <a:solidFill>
                  <a:schemeClr val="accent1"/>
                </a:solidFill>
                <a:latin typeface="ui-monospace"/>
              </a:rPr>
              <a:t>)</a:t>
            </a:r>
          </a:p>
        </p:txBody>
      </p:sp>
      <p:sp>
        <p:nvSpPr>
          <p:cNvPr id="10" name="Rectangle: Rounded Corners 9">
            <a:extLst>
              <a:ext uri="{FF2B5EF4-FFF2-40B4-BE49-F238E27FC236}">
                <a16:creationId xmlns:a16="http://schemas.microsoft.com/office/drawing/2014/main" id="{DE169182-86B0-8251-1BEA-9E7A25E86991}"/>
              </a:ext>
            </a:extLst>
          </p:cNvPr>
          <p:cNvSpPr/>
          <p:nvPr/>
        </p:nvSpPr>
        <p:spPr>
          <a:xfrm>
            <a:off x="3251200" y="1065160"/>
            <a:ext cx="3210603" cy="4103544"/>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抽象类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AbstractClass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定义模板方法，定义为</a:t>
            </a:r>
            <a:r>
              <a:rPr lang="en-US" sz="800" b="0" dirty="0">
                <a:solidFill>
                  <a:srgbClr val="6A9955"/>
                </a:solidFill>
                <a:effectLst/>
                <a:latin typeface="Consolas" panose="020B0609020204030204" pitchFamily="49" charset="0"/>
              </a:rPr>
              <a:t>final</a:t>
            </a:r>
            <a:r>
              <a:rPr lang="zh-CN" altLang="en-US" sz="800" b="0" dirty="0">
                <a:solidFill>
                  <a:srgbClr val="6A9955"/>
                </a:solidFill>
                <a:effectLst/>
                <a:latin typeface="Consolas" panose="020B0609020204030204" pitchFamily="49" charset="0"/>
              </a:rPr>
              <a:t>固定流程，禁止被重写</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final</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cookProcess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第一步：倒油</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pourOil</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第二步：热油</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heatOil</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第三步：倒蔬菜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pourVegetable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第四步：倒调味料</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pourSauce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第五步：翻炒</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569CD6"/>
                </a:solidFill>
                <a:effectLst/>
                <a:latin typeface="Consolas" panose="020B0609020204030204" pitchFamily="49" charset="0"/>
              </a:rPr>
              <a:t>this</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fry</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第一步：倒油</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pourOil</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倒油</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第二步：热油是一样的，所以直接实现</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heatOil</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热油</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第三步：倒蔬菜是不一样的（一个下包菜，一个是下菜心）</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pourVegetable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第四步：倒调味料是不一样</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abstract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pourSauce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第五步：翻炒是一样的，所以直接实现</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fry</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炒啊炒啊炒到熟啊</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
        <p:nvSpPr>
          <p:cNvPr id="4" name="TextBox 36">
            <a:extLst>
              <a:ext uri="{FF2B5EF4-FFF2-40B4-BE49-F238E27FC236}">
                <a16:creationId xmlns:a16="http://schemas.microsoft.com/office/drawing/2014/main" id="{B66AD729-E3B4-A347-70E8-78949D75B19D}"/>
              </a:ext>
            </a:extLst>
          </p:cNvPr>
          <p:cNvSpPr txBox="1"/>
          <p:nvPr/>
        </p:nvSpPr>
        <p:spPr>
          <a:xfrm>
            <a:off x="6482977" y="772625"/>
            <a:ext cx="2839395" cy="276999"/>
          </a:xfrm>
          <a:prstGeom prst="rect">
            <a:avLst/>
          </a:prstGeom>
          <a:noFill/>
        </p:spPr>
        <p:txBody>
          <a:bodyPr wrap="square">
            <a:spAutoFit/>
          </a:bodyPr>
          <a:lstStyle/>
          <a:p>
            <a:r>
              <a:rPr lang="zh-CN" altLang="en-US" sz="1200" dirty="0">
                <a:solidFill>
                  <a:schemeClr val="accent1"/>
                </a:solidFill>
                <a:latin typeface="ui-monospace"/>
              </a:rPr>
              <a:t>具体子类角色</a:t>
            </a:r>
            <a:r>
              <a:rPr lang="en-US" altLang="zh-CN" sz="1200" dirty="0">
                <a:solidFill>
                  <a:schemeClr val="accent1"/>
                </a:solidFill>
                <a:latin typeface="ui-monospace"/>
              </a:rPr>
              <a:t>(</a:t>
            </a:r>
            <a:r>
              <a:rPr lang="en-US" altLang="zh-CN" sz="1200" dirty="0" err="1">
                <a:solidFill>
                  <a:schemeClr val="accent1"/>
                </a:solidFill>
                <a:latin typeface="ui-monospace"/>
              </a:rPr>
              <a:t>ConcreteClass</a:t>
            </a:r>
            <a:r>
              <a:rPr lang="en-US" altLang="zh-CN" sz="1200" dirty="0">
                <a:solidFill>
                  <a:schemeClr val="accent1"/>
                </a:solidFill>
                <a:latin typeface="ui-monospace"/>
              </a:rPr>
              <a:t>)</a:t>
            </a:r>
          </a:p>
        </p:txBody>
      </p:sp>
      <p:sp>
        <p:nvSpPr>
          <p:cNvPr id="7" name="Rectangle: Rounded Corners 6">
            <a:extLst>
              <a:ext uri="{FF2B5EF4-FFF2-40B4-BE49-F238E27FC236}">
                <a16:creationId xmlns:a16="http://schemas.microsoft.com/office/drawing/2014/main" id="{D612F46D-DEF9-A3E4-24EB-13498C7D5D65}"/>
              </a:ext>
            </a:extLst>
          </p:cNvPr>
          <p:cNvSpPr/>
          <p:nvPr/>
        </p:nvSpPr>
        <p:spPr>
          <a:xfrm>
            <a:off x="6576291" y="1065160"/>
            <a:ext cx="3210603" cy="348549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具体子类</a:t>
            </a:r>
            <a:endParaRPr lang="zh-CN" altLang="en-US" sz="800" b="0" dirty="0">
              <a:solidFill>
                <a:srgbClr val="D4D4D4"/>
              </a:solidFill>
              <a:effectLst/>
              <a:latin typeface="Consolas" panose="020B0609020204030204" pitchFamily="49" charset="0"/>
            </a:endParaRPr>
          </a:p>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炒手撕包菜类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ConcreteClass_BaoCai</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AbstractClass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pourVegetable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下锅的蔬菜是包菜</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pourSauce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下锅的酱料是辣椒</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a:p>
            <a:br>
              <a:rPr lang="en-US" altLang="zh-CN" sz="800" b="0" dirty="0">
                <a:solidFill>
                  <a:srgbClr val="D4D4D4"/>
                </a:solidFill>
                <a:effectLst/>
                <a:latin typeface="Consolas" panose="020B0609020204030204" pitchFamily="49" charset="0"/>
              </a:rPr>
            </a:b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炒蒜蓉菜心类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ConcreteClass_CaiXin</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extends</a:t>
            </a:r>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AbstractClass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pourVegetable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下锅的蔬菜是菜心</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Override</a:t>
            </a:r>
            <a:endParaRPr lang="en-US" sz="800" b="0" dirty="0">
              <a:solidFill>
                <a:srgbClr val="D4D4D4"/>
              </a:solidFill>
              <a:effectLst/>
              <a:latin typeface="Consolas" panose="020B0609020204030204" pitchFamily="49" charset="0"/>
            </a:endParaRP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pourSauce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下锅的酱料是蒜蓉</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
        <p:nvSpPr>
          <p:cNvPr id="8" name="Rectangle: Rounded Corners 7">
            <a:extLst>
              <a:ext uri="{FF2B5EF4-FFF2-40B4-BE49-F238E27FC236}">
                <a16:creationId xmlns:a16="http://schemas.microsoft.com/office/drawing/2014/main" id="{5DBC0CE9-1529-616C-4438-0744BF8E0FCD}"/>
              </a:ext>
            </a:extLst>
          </p:cNvPr>
          <p:cNvSpPr/>
          <p:nvPr/>
        </p:nvSpPr>
        <p:spPr>
          <a:xfrm>
            <a:off x="3251200" y="5415141"/>
            <a:ext cx="3931967" cy="1270227"/>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炒手撕包菜</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ConcreteClass_BaoCai</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baoCai</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ConcreteClass_BaoCai</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baoCai</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cookProcess</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炒蒜蓉菜心</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ConcreteClass_CaiXin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caiXin</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ConcreteClass_CaiXin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caiXin</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cookProcess</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pic>
        <p:nvPicPr>
          <p:cNvPr id="2140" name="Picture 2139">
            <a:extLst>
              <a:ext uri="{FF2B5EF4-FFF2-40B4-BE49-F238E27FC236}">
                <a16:creationId xmlns:a16="http://schemas.microsoft.com/office/drawing/2014/main" id="{733920BB-7CA7-D734-7C46-8AE7CA83AD15}"/>
              </a:ext>
            </a:extLst>
          </p:cNvPr>
          <p:cNvPicPr>
            <a:picLocks noChangeAspect="1"/>
          </p:cNvPicPr>
          <p:nvPr/>
        </p:nvPicPr>
        <p:blipFill>
          <a:blip r:embed="rId2"/>
          <a:stretch>
            <a:fillRect/>
          </a:stretch>
        </p:blipFill>
        <p:spPr>
          <a:xfrm>
            <a:off x="7280521" y="4722408"/>
            <a:ext cx="3210603" cy="1962960"/>
          </a:xfrm>
          <a:prstGeom prst="rect">
            <a:avLst/>
          </a:prstGeom>
        </p:spPr>
      </p:pic>
    </p:spTree>
    <p:extLst>
      <p:ext uri="{BB962C8B-B14F-4D97-AF65-F5344CB8AC3E}">
        <p14:creationId xmlns:p14="http://schemas.microsoft.com/office/powerpoint/2010/main" val="23670831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EE188-3337-7381-B00B-5E29FB04206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E44C75A-4298-B82A-29D6-D11A3748E018}"/>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D6A65BCF-5CB8-627A-BD21-40482FAF8039}"/>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47BEB87-5E08-7E25-1480-33779C45E0F7}"/>
              </a:ext>
            </a:extLst>
          </p:cNvPr>
          <p:cNvSpPr txBox="1"/>
          <p:nvPr/>
        </p:nvSpPr>
        <p:spPr>
          <a:xfrm>
            <a:off x="0" y="959472"/>
            <a:ext cx="2986206" cy="32316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设计模式</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创建型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结构型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行为型</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80F3D0CA-A632-D40A-217E-DA0D438147BC}"/>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grpSp>
        <p:nvGrpSpPr>
          <p:cNvPr id="30" name="Group 25">
            <a:extLst>
              <a:ext uri="{FF2B5EF4-FFF2-40B4-BE49-F238E27FC236}">
                <a16:creationId xmlns:a16="http://schemas.microsoft.com/office/drawing/2014/main" id="{242B1153-808C-493F-B47F-0837B7EF5542}"/>
              </a:ext>
            </a:extLst>
          </p:cNvPr>
          <p:cNvGrpSpPr/>
          <p:nvPr/>
        </p:nvGrpSpPr>
        <p:grpSpPr>
          <a:xfrm>
            <a:off x="3097887" y="61796"/>
            <a:ext cx="8992513" cy="572261"/>
            <a:chOff x="7614613" y="5950488"/>
            <a:chExt cx="8992513" cy="572261"/>
          </a:xfrm>
        </p:grpSpPr>
        <p:sp>
          <p:nvSpPr>
            <p:cNvPr id="31" name="Rectangle: Rounded Corners 35">
              <a:extLst>
                <a:ext uri="{FF2B5EF4-FFF2-40B4-BE49-F238E27FC236}">
                  <a16:creationId xmlns:a16="http://schemas.microsoft.com/office/drawing/2014/main" id="{7A216C46-EDA9-BED3-4701-2D6AFA82CFE1}"/>
                </a:ext>
              </a:extLst>
            </p:cNvPr>
            <p:cNvSpPr/>
            <p:nvPr/>
          </p:nvSpPr>
          <p:spPr>
            <a:xfrm>
              <a:off x="7614613" y="5950488"/>
              <a:ext cx="899251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▶访问者模式</a:t>
              </a:r>
              <a:endParaRPr lang="en-US" sz="1200" dirty="0">
                <a:solidFill>
                  <a:schemeClr val="bg1"/>
                </a:solidFill>
              </a:endParaRPr>
            </a:p>
          </p:txBody>
        </p:sp>
        <p:sp>
          <p:nvSpPr>
            <p:cNvPr id="32" name="TextBox 36">
              <a:extLst>
                <a:ext uri="{FF2B5EF4-FFF2-40B4-BE49-F238E27FC236}">
                  <a16:creationId xmlns:a16="http://schemas.microsoft.com/office/drawing/2014/main" id="{EE8FD6B4-914B-7E1D-AE0F-7C40B902106A}"/>
                </a:ext>
              </a:extLst>
            </p:cNvPr>
            <p:cNvSpPr txBox="1"/>
            <p:nvPr/>
          </p:nvSpPr>
          <p:spPr>
            <a:xfrm>
              <a:off x="7667294" y="6245750"/>
              <a:ext cx="8838232" cy="276999"/>
            </a:xfrm>
            <a:prstGeom prst="rect">
              <a:avLst/>
            </a:prstGeom>
            <a:noFill/>
          </p:spPr>
          <p:txBody>
            <a:bodyPr wrap="square">
              <a:spAutoFit/>
            </a:bodyPr>
            <a:lstStyle/>
            <a:p>
              <a:r>
                <a:rPr lang="zh-CN" altLang="en-US" sz="1200" dirty="0">
                  <a:solidFill>
                    <a:schemeClr val="accent1"/>
                  </a:solidFill>
                  <a:latin typeface="ui-monospace"/>
                </a:rPr>
                <a:t>封装一些作用于某种数据结构中的各元素的操作，它可以在不改变这个数据结构的前提下定义作用于这些元素的新的操作。</a:t>
              </a:r>
              <a:endParaRPr lang="en-US" altLang="zh-CN" sz="1200" dirty="0">
                <a:solidFill>
                  <a:schemeClr val="accent1"/>
                </a:solidFill>
                <a:latin typeface="ui-monospace"/>
              </a:endParaRPr>
            </a:p>
          </p:txBody>
        </p:sp>
      </p:grpSp>
      <p:sp>
        <p:nvSpPr>
          <p:cNvPr id="5" name="TextBox 36">
            <a:extLst>
              <a:ext uri="{FF2B5EF4-FFF2-40B4-BE49-F238E27FC236}">
                <a16:creationId xmlns:a16="http://schemas.microsoft.com/office/drawing/2014/main" id="{2610CA53-C018-40AA-6130-E511D8EE1CD2}"/>
              </a:ext>
            </a:extLst>
          </p:cNvPr>
          <p:cNvSpPr txBox="1"/>
          <p:nvPr/>
        </p:nvSpPr>
        <p:spPr>
          <a:xfrm>
            <a:off x="3150568" y="603368"/>
            <a:ext cx="2839395" cy="276999"/>
          </a:xfrm>
          <a:prstGeom prst="rect">
            <a:avLst/>
          </a:prstGeom>
          <a:noFill/>
        </p:spPr>
        <p:txBody>
          <a:bodyPr wrap="square">
            <a:spAutoFit/>
          </a:bodyPr>
          <a:lstStyle/>
          <a:p>
            <a:r>
              <a:rPr lang="zh-CN" altLang="en-US" sz="1200" dirty="0">
                <a:solidFill>
                  <a:schemeClr val="accent1"/>
                </a:solidFill>
                <a:latin typeface="ui-monospace"/>
              </a:rPr>
              <a:t>抽象访问者角色</a:t>
            </a:r>
            <a:r>
              <a:rPr lang="en-US" altLang="zh-CN" sz="1200" dirty="0">
                <a:solidFill>
                  <a:schemeClr val="accent1"/>
                </a:solidFill>
                <a:latin typeface="ui-monospace"/>
              </a:rPr>
              <a:t>(Visitor)</a:t>
            </a:r>
          </a:p>
        </p:txBody>
      </p:sp>
      <p:sp>
        <p:nvSpPr>
          <p:cNvPr id="10" name="Rectangle: Rounded Corners 9">
            <a:extLst>
              <a:ext uri="{FF2B5EF4-FFF2-40B4-BE49-F238E27FC236}">
                <a16:creationId xmlns:a16="http://schemas.microsoft.com/office/drawing/2014/main" id="{76DDB13A-DD0C-53BF-D5AB-8A23BB1691BC}"/>
              </a:ext>
            </a:extLst>
          </p:cNvPr>
          <p:cNvSpPr/>
          <p:nvPr/>
        </p:nvSpPr>
        <p:spPr>
          <a:xfrm>
            <a:off x="3255132" y="862075"/>
            <a:ext cx="2507912" cy="1028219"/>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抽象访问者角色类（这里的方法名称可以更抽象一点，扩展性会更好）</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喂食宠物狗</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feed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Cat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cat</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喂食宠物猫</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feed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Dog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dog</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p:txBody>
      </p:sp>
      <p:sp>
        <p:nvSpPr>
          <p:cNvPr id="4" name="TextBox 36">
            <a:extLst>
              <a:ext uri="{FF2B5EF4-FFF2-40B4-BE49-F238E27FC236}">
                <a16:creationId xmlns:a16="http://schemas.microsoft.com/office/drawing/2014/main" id="{A00A5DA0-D975-3FAB-ECCE-150284FE4CBC}"/>
              </a:ext>
            </a:extLst>
          </p:cNvPr>
          <p:cNvSpPr txBox="1"/>
          <p:nvPr/>
        </p:nvSpPr>
        <p:spPr>
          <a:xfrm>
            <a:off x="3150567" y="1924170"/>
            <a:ext cx="2839395" cy="276999"/>
          </a:xfrm>
          <a:prstGeom prst="rect">
            <a:avLst/>
          </a:prstGeom>
          <a:noFill/>
        </p:spPr>
        <p:txBody>
          <a:bodyPr wrap="square">
            <a:spAutoFit/>
          </a:bodyPr>
          <a:lstStyle/>
          <a:p>
            <a:r>
              <a:rPr lang="zh-CN" altLang="en-US" sz="1200" dirty="0">
                <a:solidFill>
                  <a:schemeClr val="accent1"/>
                </a:solidFill>
                <a:latin typeface="ui-monospace"/>
              </a:rPr>
              <a:t>具体访问者角色</a:t>
            </a:r>
            <a:r>
              <a:rPr lang="en-US" altLang="zh-CN" sz="1200" dirty="0">
                <a:solidFill>
                  <a:schemeClr val="accent1"/>
                </a:solidFill>
                <a:latin typeface="ui-monospace"/>
              </a:rPr>
              <a:t>(</a:t>
            </a:r>
            <a:r>
              <a:rPr lang="en-US" altLang="zh-CN" sz="1200" dirty="0" err="1">
                <a:solidFill>
                  <a:schemeClr val="accent1"/>
                </a:solidFill>
                <a:latin typeface="ui-monospace"/>
              </a:rPr>
              <a:t>ConcreteVisitor</a:t>
            </a:r>
            <a:r>
              <a:rPr lang="en-US" altLang="zh-CN" sz="1200" dirty="0">
                <a:solidFill>
                  <a:schemeClr val="accent1"/>
                </a:solidFill>
                <a:latin typeface="ui-monospace"/>
              </a:rPr>
              <a:t>)</a:t>
            </a:r>
          </a:p>
        </p:txBody>
      </p:sp>
      <p:sp>
        <p:nvSpPr>
          <p:cNvPr id="7" name="TextBox 36">
            <a:extLst>
              <a:ext uri="{FF2B5EF4-FFF2-40B4-BE49-F238E27FC236}">
                <a16:creationId xmlns:a16="http://schemas.microsoft.com/office/drawing/2014/main" id="{1CF6BD18-BDDF-546A-0994-DCF46AF9221D}"/>
              </a:ext>
            </a:extLst>
          </p:cNvPr>
          <p:cNvSpPr txBox="1"/>
          <p:nvPr/>
        </p:nvSpPr>
        <p:spPr>
          <a:xfrm>
            <a:off x="3150567" y="5146985"/>
            <a:ext cx="2839395" cy="276999"/>
          </a:xfrm>
          <a:prstGeom prst="rect">
            <a:avLst/>
          </a:prstGeom>
          <a:noFill/>
        </p:spPr>
        <p:txBody>
          <a:bodyPr wrap="square">
            <a:spAutoFit/>
          </a:bodyPr>
          <a:lstStyle/>
          <a:p>
            <a:r>
              <a:rPr lang="zh-CN" altLang="en-US" sz="1200" dirty="0">
                <a:solidFill>
                  <a:schemeClr val="accent1"/>
                </a:solidFill>
                <a:latin typeface="ui-monospace"/>
              </a:rPr>
              <a:t>抽象元素角色</a:t>
            </a:r>
            <a:r>
              <a:rPr lang="en-US" altLang="zh-CN" sz="1200" dirty="0">
                <a:solidFill>
                  <a:schemeClr val="accent1"/>
                </a:solidFill>
                <a:latin typeface="ui-monospace"/>
              </a:rPr>
              <a:t>(Element)</a:t>
            </a:r>
          </a:p>
        </p:txBody>
      </p:sp>
      <p:sp>
        <p:nvSpPr>
          <p:cNvPr id="8" name="TextBox 36">
            <a:extLst>
              <a:ext uri="{FF2B5EF4-FFF2-40B4-BE49-F238E27FC236}">
                <a16:creationId xmlns:a16="http://schemas.microsoft.com/office/drawing/2014/main" id="{4F914D70-CCC9-5A14-D7D9-717476BC842B}"/>
              </a:ext>
            </a:extLst>
          </p:cNvPr>
          <p:cNvSpPr txBox="1"/>
          <p:nvPr/>
        </p:nvSpPr>
        <p:spPr>
          <a:xfrm>
            <a:off x="5720278" y="613216"/>
            <a:ext cx="2839395" cy="276999"/>
          </a:xfrm>
          <a:prstGeom prst="rect">
            <a:avLst/>
          </a:prstGeom>
          <a:noFill/>
        </p:spPr>
        <p:txBody>
          <a:bodyPr wrap="square">
            <a:spAutoFit/>
          </a:bodyPr>
          <a:lstStyle/>
          <a:p>
            <a:r>
              <a:rPr lang="zh-CN" altLang="en-US" sz="1200" dirty="0">
                <a:solidFill>
                  <a:schemeClr val="accent1"/>
                </a:solidFill>
                <a:latin typeface="ui-monospace"/>
              </a:rPr>
              <a:t>具体元素角色</a:t>
            </a:r>
            <a:r>
              <a:rPr lang="en-US" altLang="zh-CN" sz="1200" dirty="0">
                <a:solidFill>
                  <a:schemeClr val="accent1"/>
                </a:solidFill>
                <a:latin typeface="ui-monospace"/>
              </a:rPr>
              <a:t>(</a:t>
            </a:r>
            <a:r>
              <a:rPr lang="en-US" altLang="zh-CN" sz="1200" dirty="0" err="1">
                <a:solidFill>
                  <a:schemeClr val="accent1"/>
                </a:solidFill>
                <a:latin typeface="ui-monospace"/>
              </a:rPr>
              <a:t>ConcreteElement</a:t>
            </a:r>
            <a:r>
              <a:rPr lang="en-US" altLang="zh-CN" sz="1200" dirty="0">
                <a:solidFill>
                  <a:schemeClr val="accent1"/>
                </a:solidFill>
                <a:latin typeface="ui-monospace"/>
              </a:rPr>
              <a:t>)</a:t>
            </a:r>
          </a:p>
        </p:txBody>
      </p:sp>
      <p:sp>
        <p:nvSpPr>
          <p:cNvPr id="9" name="TextBox 36">
            <a:extLst>
              <a:ext uri="{FF2B5EF4-FFF2-40B4-BE49-F238E27FC236}">
                <a16:creationId xmlns:a16="http://schemas.microsoft.com/office/drawing/2014/main" id="{5EB08370-6A54-F021-3EEA-DDF96A876C57}"/>
              </a:ext>
            </a:extLst>
          </p:cNvPr>
          <p:cNvSpPr txBox="1"/>
          <p:nvPr/>
        </p:nvSpPr>
        <p:spPr>
          <a:xfrm>
            <a:off x="5720278" y="2619083"/>
            <a:ext cx="2839395" cy="276999"/>
          </a:xfrm>
          <a:prstGeom prst="rect">
            <a:avLst/>
          </a:prstGeom>
          <a:noFill/>
        </p:spPr>
        <p:txBody>
          <a:bodyPr wrap="square">
            <a:spAutoFit/>
          </a:bodyPr>
          <a:lstStyle/>
          <a:p>
            <a:r>
              <a:rPr lang="zh-CN" altLang="en-US" sz="1200" dirty="0">
                <a:solidFill>
                  <a:schemeClr val="accent1"/>
                </a:solidFill>
                <a:latin typeface="ui-monospace"/>
              </a:rPr>
              <a:t>对象结构角色</a:t>
            </a:r>
            <a:r>
              <a:rPr lang="en-US" altLang="zh-CN" sz="1200" dirty="0">
                <a:solidFill>
                  <a:schemeClr val="accent1"/>
                </a:solidFill>
                <a:latin typeface="ui-monospace"/>
              </a:rPr>
              <a:t>(</a:t>
            </a:r>
            <a:r>
              <a:rPr lang="en-US" altLang="zh-CN" sz="1200" dirty="0" err="1">
                <a:solidFill>
                  <a:schemeClr val="accent1"/>
                </a:solidFill>
                <a:latin typeface="ui-monospace"/>
              </a:rPr>
              <a:t>ObjectStructure</a:t>
            </a:r>
            <a:r>
              <a:rPr lang="en-US" altLang="zh-CN" sz="1200" dirty="0">
                <a:solidFill>
                  <a:schemeClr val="accent1"/>
                </a:solidFill>
                <a:latin typeface="ui-monospace"/>
              </a:rPr>
              <a:t>)</a:t>
            </a:r>
          </a:p>
        </p:txBody>
      </p:sp>
      <p:sp>
        <p:nvSpPr>
          <p:cNvPr id="11" name="Rectangle: Rounded Corners 10">
            <a:extLst>
              <a:ext uri="{FF2B5EF4-FFF2-40B4-BE49-F238E27FC236}">
                <a16:creationId xmlns:a16="http://schemas.microsoft.com/office/drawing/2014/main" id="{C6A11748-8137-A46A-D1FA-CC21B0611E61}"/>
              </a:ext>
            </a:extLst>
          </p:cNvPr>
          <p:cNvSpPr/>
          <p:nvPr/>
        </p:nvSpPr>
        <p:spPr>
          <a:xfrm>
            <a:off x="3255132" y="2216661"/>
            <a:ext cx="2507912" cy="2898353"/>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具体访问者角色类</a:t>
            </a:r>
            <a:r>
              <a:rPr lang="en-US" altLang="zh-CN" sz="800" b="0" dirty="0">
                <a:solidFill>
                  <a:srgbClr val="6A9955"/>
                </a:solidFill>
                <a:effectLst/>
                <a:latin typeface="Consolas" panose="020B0609020204030204" pitchFamily="49" charset="0"/>
              </a:rPr>
              <a:t>(</a:t>
            </a:r>
            <a:r>
              <a:rPr lang="zh-CN" altLang="en-US" sz="800" b="0" dirty="0">
                <a:solidFill>
                  <a:srgbClr val="6A9955"/>
                </a:solidFill>
                <a:effectLst/>
                <a:latin typeface="Consolas" panose="020B0609020204030204" pitchFamily="49" charset="0"/>
              </a:rPr>
              <a:t>主人</a:t>
            </a:r>
            <a:r>
              <a:rPr lang="en-US" altLang="zh-CN" sz="800" b="0" dirty="0">
                <a:solidFill>
                  <a:srgbClr val="6A9955"/>
                </a:solidFill>
                <a:effectLst/>
                <a:latin typeface="Consolas" panose="020B0609020204030204" pitchFamily="49" charset="0"/>
              </a:rPr>
              <a:t>)</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Owner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feed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Cat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cat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主人喂食猫</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feed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Dog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dog</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主人喂食狗</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a:p>
            <a:br>
              <a:rPr lang="en-US" altLang="zh-CN" sz="800" b="0" dirty="0">
                <a:solidFill>
                  <a:srgbClr val="D4D4D4"/>
                </a:solidFill>
                <a:effectLst/>
                <a:latin typeface="Consolas" panose="020B0609020204030204" pitchFamily="49" charset="0"/>
              </a:rPr>
            </a:b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具体访问者角色类</a:t>
            </a:r>
            <a:r>
              <a:rPr lang="en-US" altLang="zh-CN" sz="800" b="0" dirty="0">
                <a:solidFill>
                  <a:srgbClr val="6A9955"/>
                </a:solidFill>
                <a:effectLst/>
                <a:latin typeface="Consolas" panose="020B0609020204030204" pitchFamily="49" charset="0"/>
              </a:rPr>
              <a:t>(</a:t>
            </a:r>
            <a:r>
              <a:rPr lang="zh-CN" altLang="en-US" sz="800" b="0" dirty="0">
                <a:solidFill>
                  <a:srgbClr val="6A9955"/>
                </a:solidFill>
                <a:effectLst/>
                <a:latin typeface="Consolas" panose="020B0609020204030204" pitchFamily="49" charset="0"/>
              </a:rPr>
              <a:t>其他人</a:t>
            </a:r>
            <a:r>
              <a:rPr lang="en-US" altLang="zh-CN" sz="800" b="0" dirty="0">
                <a:solidFill>
                  <a:srgbClr val="6A9955"/>
                </a:solidFill>
                <a:effectLst/>
                <a:latin typeface="Consolas" panose="020B0609020204030204" pitchFamily="49" charset="0"/>
              </a:rPr>
              <a:t>)</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Someone</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feed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Cat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cat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其他人喂食猫</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feed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Dog</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dog</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其他人喂食狗</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
        <p:nvSpPr>
          <p:cNvPr id="12" name="Rectangle: Rounded Corners 11">
            <a:extLst>
              <a:ext uri="{FF2B5EF4-FFF2-40B4-BE49-F238E27FC236}">
                <a16:creationId xmlns:a16="http://schemas.microsoft.com/office/drawing/2014/main" id="{362250DD-831C-5EBF-4874-C2024701E5D7}"/>
              </a:ext>
            </a:extLst>
          </p:cNvPr>
          <p:cNvSpPr/>
          <p:nvPr/>
        </p:nvSpPr>
        <p:spPr>
          <a:xfrm>
            <a:off x="3255131" y="5439945"/>
            <a:ext cx="2507913" cy="722232"/>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抽象元素角色类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interface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Animal</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接受访问者访问的功能</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accept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a:t>
            </a:r>
          </a:p>
        </p:txBody>
      </p:sp>
      <p:sp>
        <p:nvSpPr>
          <p:cNvPr id="13" name="Rectangle: Rounded Corners 12">
            <a:extLst>
              <a:ext uri="{FF2B5EF4-FFF2-40B4-BE49-F238E27FC236}">
                <a16:creationId xmlns:a16="http://schemas.microsoft.com/office/drawing/2014/main" id="{DF154618-F21E-D308-1679-5E4EABD9B4D3}"/>
              </a:ext>
            </a:extLst>
          </p:cNvPr>
          <p:cNvSpPr/>
          <p:nvPr/>
        </p:nvSpPr>
        <p:spPr>
          <a:xfrm>
            <a:off x="5826261" y="862076"/>
            <a:ext cx="2986206" cy="1785918"/>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具体元素角色类（宠物狗）</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Dog</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Animal</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accept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person</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feed</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访问者给宠物猫喂食</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好好吃，汪汪汪。。。</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具体元素角色类（宠物猫）</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Cat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implements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Animal</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accept</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person</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feed</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this</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访问者给宠物猫喂食</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4EC9B0"/>
                </a:solidFill>
                <a:effectLst/>
                <a:latin typeface="Consolas" panose="020B0609020204030204" pitchFamily="49" charset="0"/>
              </a:rPr>
              <a:t>System</a:t>
            </a:r>
            <a:r>
              <a:rPr lang="en-US" sz="800" b="0" dirty="0" err="1">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out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println</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zh-CN" altLang="en-US" sz="800" b="0" dirty="0">
                <a:solidFill>
                  <a:srgbClr val="CE9178"/>
                </a:solidFill>
                <a:effectLst/>
                <a:latin typeface="Consolas" panose="020B0609020204030204" pitchFamily="49" charset="0"/>
              </a:rPr>
              <a:t>好好吃，喵喵喵。。。</a:t>
            </a:r>
            <a:r>
              <a:rPr lang="en-US" altLang="zh-CN" sz="800" b="0" dirty="0">
                <a:solidFill>
                  <a:srgbClr val="CE9178"/>
                </a:solidFill>
                <a:effectLst/>
                <a:latin typeface="Consolas" panose="020B0609020204030204" pitchFamily="49" charset="0"/>
              </a:rPr>
              <a:t>"</a:t>
            </a:r>
            <a:r>
              <a:rPr lang="en-US" altLang="zh-CN" sz="800" b="0" dirty="0">
                <a:solidFill>
                  <a:srgbClr val="D4D4D4"/>
                </a:solidFill>
                <a:effectLst/>
                <a:latin typeface="Consolas" panose="020B0609020204030204" pitchFamily="49" charset="0"/>
              </a:rPr>
              <a:t>);</a:t>
            </a:r>
          </a:p>
          <a:p>
            <a:r>
              <a:rPr lang="en-US" altLang="zh-CN" sz="800" b="0" dirty="0">
                <a:solidFill>
                  <a:srgbClr val="D4D4D4"/>
                </a:solidFill>
                <a:effectLst/>
                <a:latin typeface="Consolas" panose="020B0609020204030204" pitchFamily="49" charset="0"/>
              </a:rPr>
              <a:t>    }</a:t>
            </a:r>
          </a:p>
          <a:p>
            <a:r>
              <a:rPr lang="en-US" altLang="zh-CN" sz="800" b="0" dirty="0">
                <a:solidFill>
                  <a:srgbClr val="D4D4D4"/>
                </a:solidFill>
                <a:effectLst/>
                <a:latin typeface="Consolas" panose="020B0609020204030204" pitchFamily="49" charset="0"/>
              </a:rPr>
              <a:t>}</a:t>
            </a:r>
          </a:p>
        </p:txBody>
      </p:sp>
      <p:sp>
        <p:nvSpPr>
          <p:cNvPr id="14" name="Rectangle: Rounded Corners 13">
            <a:extLst>
              <a:ext uri="{FF2B5EF4-FFF2-40B4-BE49-F238E27FC236}">
                <a16:creationId xmlns:a16="http://schemas.microsoft.com/office/drawing/2014/main" id="{FEA75A16-D6FE-9A9A-DF3C-21E9403CBE6E}"/>
              </a:ext>
            </a:extLst>
          </p:cNvPr>
          <p:cNvSpPr/>
          <p:nvPr/>
        </p:nvSpPr>
        <p:spPr>
          <a:xfrm>
            <a:off x="5826261" y="2884261"/>
            <a:ext cx="3548653" cy="1898323"/>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对象结构类</a:t>
            </a:r>
            <a:endParaRPr lang="zh-CN" altLang="en-US" sz="800" b="0" dirty="0">
              <a:solidFill>
                <a:srgbClr val="D4D4D4"/>
              </a:solidFill>
              <a:effectLst/>
              <a:latin typeface="Consolas" panose="020B0609020204030204" pitchFamily="49" charset="0"/>
            </a:endParaRPr>
          </a:p>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Home</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声明一个集合对象，用来存储元素对象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private</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List</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Animal</a:t>
            </a:r>
            <a:r>
              <a:rPr lang="en-US" sz="800" b="0" dirty="0">
                <a:solidFill>
                  <a:srgbClr val="D4D4D4"/>
                </a:solidFill>
                <a:effectLst/>
                <a:latin typeface="Consolas" panose="020B0609020204030204" pitchFamily="49" charset="0"/>
              </a:rPr>
              <a:t>&gt; </a:t>
            </a:r>
            <a:r>
              <a:rPr lang="en-US" sz="800" b="0" dirty="0" err="1">
                <a:solidFill>
                  <a:srgbClr val="9CDCFE"/>
                </a:solidFill>
                <a:effectLst/>
                <a:latin typeface="Consolas" panose="020B0609020204030204" pitchFamily="49" charset="0"/>
              </a:rPr>
              <a:t>nodeList</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ArrayList</a:t>
            </a:r>
            <a:r>
              <a:rPr lang="en-US" sz="800" b="0" dirty="0">
                <a:solidFill>
                  <a:srgbClr val="D4D4D4"/>
                </a:solidFill>
                <a:effectLst/>
                <a:latin typeface="Consolas" panose="020B0609020204030204" pitchFamily="49" charset="0"/>
              </a:rPr>
              <a:t>&lt;</a:t>
            </a:r>
            <a:r>
              <a:rPr lang="en-US" sz="800" b="0" dirty="0">
                <a:solidFill>
                  <a:srgbClr val="4EC9B0"/>
                </a:solidFill>
                <a:effectLst/>
                <a:latin typeface="Consolas" panose="020B0609020204030204" pitchFamily="49" charset="0"/>
              </a:rPr>
              <a:t>Animal</a:t>
            </a:r>
            <a:r>
              <a:rPr lang="en-US" sz="800" b="0" dirty="0">
                <a:solidFill>
                  <a:srgbClr val="D4D4D4"/>
                </a:solidFill>
                <a:effectLst/>
                <a:latin typeface="Consolas" panose="020B0609020204030204" pitchFamily="49" charset="0"/>
              </a:rPr>
              <a:t>&gt;();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添加元素功能</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add</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Animal</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animal</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nodeList</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animal</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action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遍历集合，获取每一个元素，让访问者访问每一个元素</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Animal</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animal</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nodeList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animal</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accept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person</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sp>
        <p:nvSpPr>
          <p:cNvPr id="15" name="Rectangle: Rounded Corners 14">
            <a:extLst>
              <a:ext uri="{FF2B5EF4-FFF2-40B4-BE49-F238E27FC236}">
                <a16:creationId xmlns:a16="http://schemas.microsoft.com/office/drawing/2014/main" id="{9BC6C7CC-44F0-9BDF-068F-40C17F92D68B}"/>
              </a:ext>
            </a:extLst>
          </p:cNvPr>
          <p:cNvSpPr/>
          <p:nvPr/>
        </p:nvSpPr>
        <p:spPr>
          <a:xfrm>
            <a:off x="8994335" y="870324"/>
            <a:ext cx="2986206" cy="1783004"/>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class</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Client</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public</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static</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r>
              <a:rPr lang="en-US" sz="800" b="0" dirty="0">
                <a:solidFill>
                  <a:srgbClr val="4EC9B0"/>
                </a:solidFill>
                <a:effectLst/>
                <a:latin typeface="Consolas" panose="020B0609020204030204" pitchFamily="49" charset="0"/>
              </a:rPr>
              <a:t>String</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args</a:t>
            </a:r>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a:t>
            </a:r>
            <a:r>
              <a:rPr lang="en-US" sz="800" b="0" dirty="0">
                <a:solidFill>
                  <a:srgbClr val="6A9955"/>
                </a:solidFill>
                <a:effectLst/>
                <a:latin typeface="Consolas" panose="020B0609020204030204" pitchFamily="49" charset="0"/>
              </a:rPr>
              <a:t>Home</a:t>
            </a:r>
            <a:r>
              <a:rPr lang="zh-CN" altLang="en-US" sz="800" b="0" dirty="0">
                <a:solidFill>
                  <a:srgbClr val="6A9955"/>
                </a:solidFill>
                <a:effectLst/>
                <a:latin typeface="Consolas" panose="020B0609020204030204" pitchFamily="49" charset="0"/>
              </a:rPr>
              <a:t>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Home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home</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Home</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添加元素到</a:t>
            </a:r>
            <a:r>
              <a:rPr lang="en-US" sz="800" b="0" dirty="0">
                <a:solidFill>
                  <a:srgbClr val="6A9955"/>
                </a:solidFill>
                <a:effectLst/>
                <a:latin typeface="Consolas" panose="020B0609020204030204" pitchFamily="49" charset="0"/>
              </a:rPr>
              <a:t>Home</a:t>
            </a:r>
            <a:r>
              <a:rPr lang="zh-CN" altLang="en-US" sz="800" b="0" dirty="0">
                <a:solidFill>
                  <a:srgbClr val="6A9955"/>
                </a:solidFill>
                <a:effectLst/>
                <a:latin typeface="Consolas" panose="020B0609020204030204" pitchFamily="49" charset="0"/>
              </a:rPr>
              <a:t>对象中</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home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Dog</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home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add</a:t>
            </a:r>
            <a:r>
              <a:rPr lang="en-US" sz="800" b="0" dirty="0">
                <a:solidFill>
                  <a:srgbClr val="D4D4D4"/>
                </a:solidFill>
                <a:effectLst/>
                <a:latin typeface="Consolas" panose="020B0609020204030204" pitchFamily="49" charset="0"/>
              </a:rPr>
              <a:t>(</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Cat</a:t>
            </a:r>
            <a:r>
              <a:rPr lang="en-US" sz="800" b="0" dirty="0">
                <a:solidFill>
                  <a:srgbClr val="D4D4D4"/>
                </a:solidFill>
                <a:effectLst/>
                <a:latin typeface="Consolas" panose="020B0609020204030204" pitchFamily="49" charset="0"/>
              </a:rPr>
              <a:t>());</a:t>
            </a:r>
          </a:p>
          <a:p>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创建主人对象</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Owner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owner</a:t>
            </a: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Owner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让主人喂食所有的宠物</a:t>
            </a:r>
            <a:endParaRPr lang="zh-CN" altLang="en-US" sz="800" b="0" dirty="0">
              <a:solidFill>
                <a:srgbClr val="D4D4D4"/>
              </a:solidFill>
              <a:effectLst/>
              <a:latin typeface="Consolas" panose="020B0609020204030204" pitchFamily="49" charset="0"/>
            </a:endParaRPr>
          </a:p>
          <a:p>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home</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action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owner</a:t>
            </a:r>
            <a:r>
              <a:rPr lang="en-US" sz="800" b="0" dirty="0">
                <a:solidFill>
                  <a:srgbClr val="D4D4D4"/>
                </a:solidFill>
                <a:effectLst/>
                <a:latin typeface="Consolas" panose="020B0609020204030204" pitchFamily="49" charset="0"/>
              </a:rPr>
              <a:t>);</a:t>
            </a:r>
          </a:p>
          <a:p>
            <a:r>
              <a:rPr lang="en-US" sz="800" b="0" dirty="0">
                <a:solidFill>
                  <a:srgbClr val="D4D4D4"/>
                </a:solidFill>
                <a:effectLst/>
                <a:latin typeface="Consolas" panose="020B0609020204030204" pitchFamily="49" charset="0"/>
              </a:rPr>
              <a:t>    }</a:t>
            </a:r>
          </a:p>
          <a:p>
            <a:r>
              <a:rPr lang="en-US" sz="800" b="0" dirty="0">
                <a:solidFill>
                  <a:srgbClr val="D4D4D4"/>
                </a:solidFill>
                <a:effectLst/>
                <a:latin typeface="Consolas" panose="020B0609020204030204" pitchFamily="49" charset="0"/>
              </a:rPr>
              <a:t>}</a:t>
            </a:r>
          </a:p>
        </p:txBody>
      </p:sp>
      <p:pic>
        <p:nvPicPr>
          <p:cNvPr id="3259" name="Picture 3258">
            <a:extLst>
              <a:ext uri="{FF2B5EF4-FFF2-40B4-BE49-F238E27FC236}">
                <a16:creationId xmlns:a16="http://schemas.microsoft.com/office/drawing/2014/main" id="{AF70A467-99FF-CA87-F764-D6C0575DFA1C}"/>
              </a:ext>
            </a:extLst>
          </p:cNvPr>
          <p:cNvPicPr>
            <a:picLocks noChangeAspect="1"/>
          </p:cNvPicPr>
          <p:nvPr/>
        </p:nvPicPr>
        <p:blipFill>
          <a:blip r:embed="rId2"/>
          <a:stretch>
            <a:fillRect/>
          </a:stretch>
        </p:blipFill>
        <p:spPr>
          <a:xfrm>
            <a:off x="6031969" y="4856429"/>
            <a:ext cx="4170841" cy="1928159"/>
          </a:xfrm>
          <a:prstGeom prst="rect">
            <a:avLst/>
          </a:prstGeom>
        </p:spPr>
      </p:pic>
    </p:spTree>
    <p:extLst>
      <p:ext uri="{BB962C8B-B14F-4D97-AF65-F5344CB8AC3E}">
        <p14:creationId xmlns:p14="http://schemas.microsoft.com/office/powerpoint/2010/main" val="13829197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60098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操作系统</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进程管理</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存储管理</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设备管理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文件管理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作业管理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4386653" cy="941593"/>
            <a:chOff x="7614613" y="5950488"/>
            <a:chExt cx="4386653" cy="941593"/>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▶操作系统</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地位：应用软件</a:t>
              </a:r>
              <a:r>
                <a:rPr lang="en-US" altLang="zh-CN" sz="1200" dirty="0">
                  <a:solidFill>
                    <a:schemeClr val="accent1"/>
                  </a:solidFill>
                  <a:latin typeface="ui-monospace"/>
                </a:rPr>
                <a:t>/</a:t>
              </a:r>
              <a:r>
                <a:rPr lang="zh-CN" altLang="en-US" sz="1200" dirty="0">
                  <a:solidFill>
                    <a:schemeClr val="accent1"/>
                  </a:solidFill>
                  <a:latin typeface="ui-monospace"/>
                </a:rPr>
                <a:t>系统软件</a:t>
              </a:r>
              <a:r>
                <a:rPr lang="en-US" altLang="zh-CN" sz="1200" dirty="0">
                  <a:solidFill>
                    <a:schemeClr val="accent1"/>
                  </a:solidFill>
                  <a:latin typeface="ui-monospace"/>
                </a:rPr>
                <a:t>/</a:t>
              </a:r>
              <a:r>
                <a:rPr lang="zh-CN" altLang="en-US" sz="1200" dirty="0">
                  <a:solidFill>
                    <a:schemeClr val="accent1"/>
                  </a:solidFill>
                  <a:latin typeface="ui-monospace"/>
                </a:rPr>
                <a:t>操作系统</a:t>
              </a:r>
              <a:r>
                <a:rPr lang="en-US" altLang="zh-CN" sz="1200" dirty="0">
                  <a:solidFill>
                    <a:schemeClr val="accent1"/>
                  </a:solidFill>
                  <a:latin typeface="ui-monospace"/>
                </a:rPr>
                <a:t>/</a:t>
              </a:r>
              <a:r>
                <a:rPr lang="zh-CN" altLang="en-US" sz="1200" dirty="0">
                  <a:solidFill>
                    <a:schemeClr val="accent1"/>
                  </a:solidFill>
                  <a:latin typeface="ui-monospace"/>
                </a:rPr>
                <a:t>计算机硬件</a:t>
              </a:r>
              <a:endParaRPr lang="en-US" altLang="zh-CN" sz="1200" dirty="0">
                <a:solidFill>
                  <a:schemeClr val="accent1"/>
                </a:solidFill>
                <a:latin typeface="ui-monospace"/>
              </a:endParaRPr>
            </a:p>
            <a:p>
              <a:r>
                <a:rPr lang="zh-CN" altLang="en-US" sz="1200" dirty="0">
                  <a:solidFill>
                    <a:schemeClr val="accent1"/>
                  </a:solidFill>
                  <a:latin typeface="ui-monospace"/>
                </a:rPr>
                <a:t>特征：并发性</a:t>
              </a:r>
              <a:r>
                <a:rPr lang="en-US" altLang="zh-CN" sz="1200" dirty="0">
                  <a:solidFill>
                    <a:schemeClr val="accent1"/>
                  </a:solidFill>
                  <a:latin typeface="ui-monospace"/>
                </a:rPr>
                <a:t>/</a:t>
              </a:r>
              <a:r>
                <a:rPr lang="zh-CN" altLang="en-US" sz="1200" dirty="0">
                  <a:solidFill>
                    <a:schemeClr val="accent1"/>
                  </a:solidFill>
                  <a:latin typeface="ui-monospace"/>
                </a:rPr>
                <a:t>共享性</a:t>
              </a:r>
              <a:r>
                <a:rPr lang="en-US" altLang="zh-CN" sz="1200" dirty="0">
                  <a:solidFill>
                    <a:schemeClr val="accent1"/>
                  </a:solidFill>
                  <a:latin typeface="ui-monospace"/>
                </a:rPr>
                <a:t>/</a:t>
              </a:r>
              <a:r>
                <a:rPr lang="zh-CN" altLang="en-US" sz="1200" dirty="0">
                  <a:solidFill>
                    <a:schemeClr val="accent1"/>
                  </a:solidFill>
                  <a:latin typeface="ui-monospace"/>
                </a:rPr>
                <a:t>虚拟性</a:t>
              </a:r>
              <a:r>
                <a:rPr lang="en-US" altLang="zh-CN" sz="1200" dirty="0">
                  <a:solidFill>
                    <a:schemeClr val="accent1"/>
                  </a:solidFill>
                  <a:latin typeface="ui-monospace"/>
                </a:rPr>
                <a:t>/</a:t>
              </a:r>
              <a:r>
                <a:rPr lang="zh-CN" altLang="en-US" sz="1200" dirty="0">
                  <a:solidFill>
                    <a:schemeClr val="accent1"/>
                  </a:solidFill>
                  <a:latin typeface="ui-monospace"/>
                </a:rPr>
                <a:t>不确定性</a:t>
              </a:r>
              <a:endParaRPr lang="en-US" altLang="zh-CN" sz="1200" dirty="0">
                <a:solidFill>
                  <a:schemeClr val="accent1"/>
                </a:solidFill>
                <a:latin typeface="ui-monospace"/>
              </a:endParaRPr>
            </a:p>
            <a:p>
              <a:r>
                <a:rPr lang="zh-CN" altLang="en-US" sz="1200" dirty="0">
                  <a:solidFill>
                    <a:schemeClr val="accent1"/>
                  </a:solidFill>
                  <a:latin typeface="ui-monospace"/>
                </a:rPr>
                <a:t>分类：批处理</a:t>
              </a:r>
              <a:r>
                <a:rPr lang="en-US" altLang="zh-CN" sz="1200" dirty="0">
                  <a:solidFill>
                    <a:schemeClr val="accent1"/>
                  </a:solidFill>
                  <a:latin typeface="ui-monospace"/>
                </a:rPr>
                <a:t>/</a:t>
              </a:r>
              <a:r>
                <a:rPr lang="zh-CN" altLang="en-US" sz="1200" dirty="0">
                  <a:solidFill>
                    <a:schemeClr val="accent1"/>
                  </a:solidFill>
                  <a:latin typeface="ui-monospace"/>
                </a:rPr>
                <a:t>分时</a:t>
              </a:r>
              <a:r>
                <a:rPr lang="en-US" altLang="zh-CN" sz="1200" dirty="0">
                  <a:solidFill>
                    <a:schemeClr val="accent1"/>
                  </a:solidFill>
                  <a:latin typeface="ui-monospace"/>
                </a:rPr>
                <a:t>/</a:t>
              </a:r>
              <a:r>
                <a:rPr lang="zh-CN" altLang="en-US" sz="1200" dirty="0">
                  <a:solidFill>
                    <a:schemeClr val="accent1"/>
                  </a:solidFill>
                  <a:latin typeface="ui-monospace"/>
                </a:rPr>
                <a:t>实时</a:t>
              </a:r>
              <a:r>
                <a:rPr lang="en-US" altLang="zh-CN" sz="1200" dirty="0">
                  <a:solidFill>
                    <a:schemeClr val="accent1"/>
                  </a:solidFill>
                  <a:latin typeface="ui-monospace"/>
                </a:rPr>
                <a:t>/</a:t>
              </a:r>
              <a:r>
                <a:rPr lang="zh-CN" altLang="en-US" sz="1200" dirty="0">
                  <a:solidFill>
                    <a:schemeClr val="accent1"/>
                  </a:solidFill>
                  <a:latin typeface="ui-monospace"/>
                </a:rPr>
                <a:t>网络</a:t>
              </a:r>
              <a:r>
                <a:rPr lang="en-US" altLang="zh-CN" sz="1200" dirty="0">
                  <a:solidFill>
                    <a:schemeClr val="accent1"/>
                  </a:solidFill>
                  <a:latin typeface="ui-monospace"/>
                </a:rPr>
                <a:t>/</a:t>
              </a:r>
              <a:r>
                <a:rPr lang="zh-CN" altLang="en-US" sz="1200" dirty="0">
                  <a:solidFill>
                    <a:schemeClr val="accent1"/>
                  </a:solidFill>
                  <a:latin typeface="ui-monospace"/>
                </a:rPr>
                <a:t>分布式</a:t>
              </a:r>
              <a:r>
                <a:rPr lang="en-US" altLang="zh-CN" sz="1200" dirty="0">
                  <a:solidFill>
                    <a:schemeClr val="accent1"/>
                  </a:solidFill>
                  <a:latin typeface="ui-monospace"/>
                </a:rPr>
                <a:t>/</a:t>
              </a:r>
              <a:r>
                <a:rPr lang="zh-CN" altLang="en-US" sz="1200" dirty="0">
                  <a:solidFill>
                    <a:schemeClr val="accent1"/>
                  </a:solidFill>
                  <a:latin typeface="ui-monospace"/>
                </a:rPr>
                <a:t>微机</a:t>
              </a:r>
              <a:r>
                <a:rPr lang="en-US" altLang="zh-CN" sz="1200" dirty="0">
                  <a:solidFill>
                    <a:schemeClr val="accent1"/>
                  </a:solidFill>
                  <a:latin typeface="ui-monospace"/>
                </a:rPr>
                <a:t>/</a:t>
              </a:r>
              <a:r>
                <a:rPr lang="zh-CN" altLang="en-US" sz="1200" dirty="0">
                  <a:solidFill>
                    <a:schemeClr val="accent1"/>
                  </a:solidFill>
                  <a:latin typeface="ui-monospace"/>
                </a:rPr>
                <a:t>嵌入式</a:t>
              </a:r>
              <a:endParaRPr lang="en-US" altLang="zh-CN" sz="1200" dirty="0">
                <a:solidFill>
                  <a:schemeClr val="accent1"/>
                </a:solidFill>
                <a:latin typeface="ui-monospace"/>
              </a:endParaRPr>
            </a:p>
          </p:txBody>
        </p:sp>
      </p:grpSp>
      <p:grpSp>
        <p:nvGrpSpPr>
          <p:cNvPr id="33" name="Group 25">
            <a:extLst>
              <a:ext uri="{FF2B5EF4-FFF2-40B4-BE49-F238E27FC236}">
                <a16:creationId xmlns:a16="http://schemas.microsoft.com/office/drawing/2014/main" id="{B8FA9490-77B4-E4EA-AA14-98492AF3D1D7}"/>
              </a:ext>
            </a:extLst>
          </p:cNvPr>
          <p:cNvGrpSpPr/>
          <p:nvPr/>
        </p:nvGrpSpPr>
        <p:grpSpPr>
          <a:xfrm>
            <a:off x="7655287" y="71394"/>
            <a:ext cx="4386653" cy="756927"/>
            <a:chOff x="7614613" y="5950488"/>
            <a:chExt cx="4386653" cy="756927"/>
          </a:xfrm>
        </p:grpSpPr>
        <p:sp>
          <p:nvSpPr>
            <p:cNvPr id="34" name="Rectangle: Rounded Corners 35">
              <a:extLst>
                <a:ext uri="{FF2B5EF4-FFF2-40B4-BE49-F238E27FC236}">
                  <a16:creationId xmlns:a16="http://schemas.microsoft.com/office/drawing/2014/main" id="{9B0280EF-C067-9382-6455-DC4DFA9BABC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▶银行家算法</a:t>
              </a:r>
              <a:endParaRPr lang="en-US" sz="1200" dirty="0">
                <a:solidFill>
                  <a:schemeClr val="bg1"/>
                </a:solidFill>
              </a:endParaRPr>
            </a:p>
          </p:txBody>
        </p:sp>
        <p:sp>
          <p:nvSpPr>
            <p:cNvPr id="35" name="TextBox 36">
              <a:extLst>
                <a:ext uri="{FF2B5EF4-FFF2-40B4-BE49-F238E27FC236}">
                  <a16:creationId xmlns:a16="http://schemas.microsoft.com/office/drawing/2014/main" id="{501076B1-418C-C120-5596-4155B0B6B970}"/>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总资源数：</a:t>
              </a:r>
              <a:r>
                <a:rPr lang="en-US" altLang="zh-CN" sz="1200" dirty="0">
                  <a:solidFill>
                    <a:schemeClr val="accent1"/>
                  </a:solidFill>
                  <a:latin typeface="ui-monospace"/>
                </a:rPr>
                <a:t>R1-8/R2-7/R3-4</a:t>
              </a:r>
              <a:r>
                <a:rPr lang="zh-CN" altLang="en-US" sz="1200" dirty="0">
                  <a:solidFill>
                    <a:schemeClr val="accent1"/>
                  </a:solidFill>
                  <a:latin typeface="ui-monospace"/>
                </a:rPr>
                <a:t>，总可用资源数：</a:t>
              </a:r>
              <a:r>
                <a:rPr lang="en-US" altLang="zh-CN" sz="1200" dirty="0">
                  <a:solidFill>
                    <a:schemeClr val="accent1"/>
                  </a:solidFill>
                  <a:latin typeface="ui-monospace"/>
                </a:rPr>
                <a:t>R1-1/R2-1/R3-0</a:t>
              </a:r>
            </a:p>
            <a:p>
              <a:r>
                <a:rPr lang="zh-CN" altLang="en-US" sz="1200" dirty="0">
                  <a:solidFill>
                    <a:schemeClr val="accent1"/>
                  </a:solidFill>
                  <a:latin typeface="ui-monospace"/>
                </a:rPr>
                <a:t>按顺序调用进程</a:t>
              </a:r>
              <a:endParaRPr lang="en-US" altLang="zh-CN" sz="1200" dirty="0">
                <a:solidFill>
                  <a:schemeClr val="accent1"/>
                </a:solidFill>
                <a:latin typeface="ui-monospace"/>
              </a:endParaRPr>
            </a:p>
          </p:txBody>
        </p:sp>
      </p:grpSp>
      <p:grpSp>
        <p:nvGrpSpPr>
          <p:cNvPr id="8" name="Group 25">
            <a:extLst>
              <a:ext uri="{FF2B5EF4-FFF2-40B4-BE49-F238E27FC236}">
                <a16:creationId xmlns:a16="http://schemas.microsoft.com/office/drawing/2014/main" id="{CBFBB481-2780-2CA8-F36F-C2DF2989E5CC}"/>
              </a:ext>
            </a:extLst>
          </p:cNvPr>
          <p:cNvGrpSpPr/>
          <p:nvPr/>
        </p:nvGrpSpPr>
        <p:grpSpPr>
          <a:xfrm>
            <a:off x="3097830" y="1022571"/>
            <a:ext cx="4386653" cy="5742907"/>
            <a:chOff x="7614613" y="5950488"/>
            <a:chExt cx="4386653" cy="5742907"/>
          </a:xfrm>
        </p:grpSpPr>
        <p:sp>
          <p:nvSpPr>
            <p:cNvPr id="9" name="Rectangle: Rounded Corners 35">
              <a:extLst>
                <a:ext uri="{FF2B5EF4-FFF2-40B4-BE49-F238E27FC236}">
                  <a16:creationId xmlns:a16="http://schemas.microsoft.com/office/drawing/2014/main" id="{F25A6156-F911-DA2C-AED9-3B994E8CB8CF}"/>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▶进程管理</a:t>
              </a:r>
              <a:endParaRPr lang="en-US" sz="1200" dirty="0">
                <a:solidFill>
                  <a:schemeClr val="bg1"/>
                </a:solidFill>
              </a:endParaRPr>
            </a:p>
          </p:txBody>
        </p:sp>
        <mc:AlternateContent xmlns:mc="http://schemas.openxmlformats.org/markup-compatibility/2006" xmlns:a14="http://schemas.microsoft.com/office/drawing/2010/main">
          <mc:Choice Requires="a14">
            <p:sp>
              <p:nvSpPr>
                <p:cNvPr id="10" name="TextBox 36">
                  <a:extLst>
                    <a:ext uri="{FF2B5EF4-FFF2-40B4-BE49-F238E27FC236}">
                      <a16:creationId xmlns:a16="http://schemas.microsoft.com/office/drawing/2014/main" id="{B72221F4-EE2E-5536-2A52-B9D3637D7EFC}"/>
                    </a:ext>
                  </a:extLst>
                </p:cNvPr>
                <p:cNvSpPr txBox="1"/>
                <p:nvPr/>
              </p:nvSpPr>
              <p:spPr>
                <a:xfrm>
                  <a:off x="7667294" y="6245750"/>
                  <a:ext cx="4281578" cy="5447645"/>
                </a:xfrm>
                <a:prstGeom prst="rect">
                  <a:avLst/>
                </a:prstGeom>
                <a:noFill/>
              </p:spPr>
              <p:txBody>
                <a:bodyPr wrap="square">
                  <a:spAutoFit/>
                </a:bodyPr>
                <a:lstStyle/>
                <a:p>
                  <a:r>
                    <a:rPr lang="zh-CN" altLang="en-US" sz="1200" dirty="0">
                      <a:solidFill>
                        <a:schemeClr val="accent1"/>
                      </a:solidFill>
                      <a:latin typeface="ui-monospace"/>
                    </a:rPr>
                    <a:t>进程：系统执行的独立单元，由程序、数据和程序控制块组状态：三态图</a:t>
                  </a:r>
                  <a:r>
                    <a:rPr lang="en-US" altLang="zh-CN" sz="1200" dirty="0">
                      <a:solidFill>
                        <a:schemeClr val="accent1"/>
                      </a:solidFill>
                      <a:latin typeface="ui-monospace"/>
                    </a:rPr>
                    <a:t>/</a:t>
                  </a:r>
                  <a:r>
                    <a:rPr lang="zh-CN" altLang="en-US" sz="1200" dirty="0">
                      <a:solidFill>
                        <a:schemeClr val="accent1"/>
                      </a:solidFill>
                      <a:latin typeface="ui-monospace"/>
                    </a:rPr>
                    <a:t>五态图</a:t>
                  </a:r>
                  <a:endParaRPr lang="en-US" altLang="zh-CN" sz="1200" dirty="0">
                    <a:solidFill>
                      <a:schemeClr val="accent1"/>
                    </a:solidFill>
                    <a:latin typeface="ui-monospace"/>
                  </a:endParaRPr>
                </a:p>
                <a:p>
                  <a:r>
                    <a:rPr lang="zh-CN" altLang="en-US" sz="1200" dirty="0">
                      <a:solidFill>
                        <a:schemeClr val="accent1"/>
                      </a:solidFill>
                      <a:latin typeface="ui-monospace"/>
                    </a:rPr>
                    <a:t>前驱图：表示和描述进程之间的先后顺序和执行的依赖关系</a:t>
                  </a:r>
                  <a:endParaRPr lang="en-US" altLang="zh-CN" sz="1200" dirty="0">
                    <a:solidFill>
                      <a:schemeClr val="accent1"/>
                    </a:solidFill>
                    <a:latin typeface="ui-monospace"/>
                  </a:endParaRPr>
                </a:p>
                <a:p>
                  <a:r>
                    <a:rPr lang="zh-CN" altLang="en-US" sz="1200" dirty="0">
                      <a:solidFill>
                        <a:schemeClr val="accent1"/>
                      </a:solidFill>
                      <a:latin typeface="ui-monospace"/>
                    </a:rPr>
                    <a:t>顺序执行：顺序性</a:t>
                  </a:r>
                  <a:r>
                    <a:rPr lang="en-US" altLang="zh-CN" sz="1200" dirty="0">
                      <a:solidFill>
                        <a:schemeClr val="accent1"/>
                      </a:solidFill>
                      <a:latin typeface="ui-monospace"/>
                    </a:rPr>
                    <a:t>/</a:t>
                  </a:r>
                  <a:r>
                    <a:rPr lang="zh-CN" altLang="en-US" sz="1200" dirty="0">
                      <a:solidFill>
                        <a:schemeClr val="accent1"/>
                      </a:solidFill>
                      <a:latin typeface="ui-monospace"/>
                    </a:rPr>
                    <a:t>封闭性</a:t>
                  </a:r>
                  <a:r>
                    <a:rPr lang="en-US" altLang="zh-CN" sz="1200" dirty="0">
                      <a:solidFill>
                        <a:schemeClr val="accent1"/>
                      </a:solidFill>
                      <a:latin typeface="ui-monospace"/>
                    </a:rPr>
                    <a:t>/</a:t>
                  </a:r>
                  <a:r>
                    <a:rPr lang="zh-CN" altLang="en-US" sz="1200" dirty="0">
                      <a:solidFill>
                        <a:schemeClr val="accent1"/>
                      </a:solidFill>
                      <a:latin typeface="ui-monospace"/>
                    </a:rPr>
                    <a:t>可再现性</a:t>
                  </a:r>
                  <a:endParaRPr lang="en-US" altLang="zh-CN" sz="1200" dirty="0">
                    <a:solidFill>
                      <a:schemeClr val="accent1"/>
                    </a:solidFill>
                    <a:latin typeface="ui-monospace"/>
                  </a:endParaRPr>
                </a:p>
                <a:p>
                  <a:r>
                    <a:rPr lang="zh-CN" altLang="en-US" sz="1200" dirty="0">
                      <a:solidFill>
                        <a:schemeClr val="accent1"/>
                      </a:solidFill>
                      <a:latin typeface="ui-monospace"/>
                    </a:rPr>
                    <a:t>并发执行：无封闭性，相互制约</a:t>
                  </a:r>
                  <a:endParaRPr lang="en-US" altLang="zh-CN" sz="1200" dirty="0">
                    <a:solidFill>
                      <a:schemeClr val="accent1"/>
                    </a:solidFill>
                    <a:latin typeface="ui-monospace"/>
                  </a:endParaRPr>
                </a:p>
                <a:p>
                  <a:r>
                    <a:rPr lang="zh-CN" altLang="en-US" sz="1200" dirty="0">
                      <a:solidFill>
                        <a:schemeClr val="accent1"/>
                      </a:solidFill>
                      <a:latin typeface="ui-monospace"/>
                    </a:rPr>
                    <a:t>三态模型：运行</a:t>
                  </a:r>
                  <a:r>
                    <a:rPr lang="en-US" altLang="zh-CN" sz="1200" dirty="0">
                      <a:solidFill>
                        <a:schemeClr val="accent1"/>
                      </a:solidFill>
                      <a:latin typeface="ui-monospace"/>
                    </a:rPr>
                    <a:t>/</a:t>
                  </a:r>
                  <a:r>
                    <a:rPr lang="zh-CN" altLang="en-US" sz="1200" dirty="0">
                      <a:solidFill>
                        <a:schemeClr val="accent1"/>
                      </a:solidFill>
                      <a:latin typeface="ui-monospace"/>
                    </a:rPr>
                    <a:t>阻塞</a:t>
                  </a:r>
                  <a:r>
                    <a:rPr lang="en-US" altLang="zh-CN" sz="1200" dirty="0">
                      <a:solidFill>
                        <a:schemeClr val="accent1"/>
                      </a:solidFill>
                      <a:latin typeface="ui-monospace"/>
                    </a:rPr>
                    <a:t>(</a:t>
                  </a:r>
                  <a:r>
                    <a:rPr lang="zh-CN" altLang="en-US" sz="1200" dirty="0">
                      <a:solidFill>
                        <a:schemeClr val="accent1"/>
                      </a:solidFill>
                      <a:latin typeface="ui-monospace"/>
                    </a:rPr>
                    <a:t>等待</a:t>
                  </a:r>
                  <a:r>
                    <a:rPr lang="en-US" altLang="zh-CN" sz="1200" dirty="0">
                      <a:solidFill>
                        <a:schemeClr val="accent1"/>
                      </a:solidFill>
                      <a:latin typeface="ui-monospace"/>
                    </a:rPr>
                    <a:t>)/</a:t>
                  </a:r>
                  <a:r>
                    <a:rPr lang="zh-CN" altLang="en-US" sz="1200" dirty="0">
                      <a:solidFill>
                        <a:schemeClr val="accent1"/>
                      </a:solidFill>
                      <a:latin typeface="ui-monospace"/>
                    </a:rPr>
                    <a:t>就绪</a:t>
                  </a:r>
                  <a:endParaRPr lang="en-US" altLang="zh-CN" sz="1200" dirty="0">
                    <a:solidFill>
                      <a:schemeClr val="accent1"/>
                    </a:solidFill>
                    <a:latin typeface="ui-monospace"/>
                  </a:endParaRPr>
                </a:p>
                <a:p>
                  <a:r>
                    <a:rPr lang="zh-CN" altLang="en-US" sz="1200" dirty="0">
                      <a:solidFill>
                        <a:schemeClr val="accent1"/>
                      </a:solidFill>
                      <a:latin typeface="ui-monospace"/>
                    </a:rPr>
                    <a:t>五态模型：创建</a:t>
                  </a:r>
                  <a:r>
                    <a:rPr lang="en-US" altLang="zh-CN" sz="1200" dirty="0">
                      <a:solidFill>
                        <a:schemeClr val="accent1"/>
                      </a:solidFill>
                      <a:latin typeface="ui-monospace"/>
                    </a:rPr>
                    <a:t>/</a:t>
                  </a:r>
                  <a:r>
                    <a:rPr lang="zh-CN" altLang="en-US" sz="1200" dirty="0">
                      <a:solidFill>
                        <a:schemeClr val="accent1"/>
                      </a:solidFill>
                      <a:latin typeface="ui-monospace"/>
                    </a:rPr>
                    <a:t>终止</a:t>
                  </a:r>
                  <a:endParaRPr lang="en-US" altLang="zh-CN" sz="1200" dirty="0">
                    <a:solidFill>
                      <a:schemeClr val="accent1"/>
                    </a:solidFill>
                    <a:latin typeface="ui-monospace"/>
                  </a:endParaRPr>
                </a:p>
                <a:p>
                  <a:r>
                    <a:rPr lang="zh-CN" altLang="en-US" sz="1200" dirty="0">
                      <a:solidFill>
                        <a:schemeClr val="accent1"/>
                      </a:solidFill>
                      <a:latin typeface="ui-monospace"/>
                    </a:rPr>
                    <a:t>进程通讯：资源共享和合作进而交换信息</a:t>
                  </a:r>
                  <a:endParaRPr lang="en-US" altLang="zh-CN" sz="1200" dirty="0">
                    <a:solidFill>
                      <a:schemeClr val="accent1"/>
                    </a:solidFill>
                    <a:latin typeface="ui-monospace"/>
                  </a:endParaRPr>
                </a:p>
                <a:p>
                  <a:r>
                    <a:rPr lang="zh-CN" altLang="en-US" sz="1200" dirty="0">
                      <a:solidFill>
                        <a:schemeClr val="accent1"/>
                      </a:solidFill>
                      <a:latin typeface="ui-monospace"/>
                    </a:rPr>
                    <a:t>同步：合作进程间的直接制约</a:t>
                  </a:r>
                  <a:endParaRPr lang="en-US" altLang="zh-CN" sz="1200" dirty="0">
                    <a:solidFill>
                      <a:schemeClr val="accent1"/>
                    </a:solidFill>
                    <a:latin typeface="ui-monospace"/>
                  </a:endParaRPr>
                </a:p>
                <a:p>
                  <a:r>
                    <a:rPr lang="zh-CN" altLang="en-US" sz="1200" dirty="0">
                      <a:solidFill>
                        <a:schemeClr val="accent1"/>
                      </a:solidFill>
                      <a:latin typeface="ui-monospace"/>
                    </a:rPr>
                    <a:t>互斥：申请临界资源间的间接制约</a:t>
                  </a:r>
                  <a:endParaRPr lang="en-US" altLang="zh-CN" sz="1200" dirty="0">
                    <a:solidFill>
                      <a:schemeClr val="accent1"/>
                    </a:solidFill>
                    <a:latin typeface="ui-monospace"/>
                  </a:endParaRPr>
                </a:p>
                <a:p>
                  <a:r>
                    <a:rPr lang="zh-CN" altLang="en-US" sz="1200" dirty="0">
                      <a:solidFill>
                        <a:schemeClr val="accent1"/>
                      </a:solidFill>
                      <a:latin typeface="ui-monospace"/>
                    </a:rPr>
                    <a:t>整型信号量：公用信号量</a:t>
                  </a:r>
                  <a:r>
                    <a:rPr lang="en-US" altLang="zh-CN" sz="1200" dirty="0">
                      <a:solidFill>
                        <a:schemeClr val="accent1"/>
                      </a:solidFill>
                      <a:latin typeface="ui-monospace"/>
                    </a:rPr>
                    <a:t>-</a:t>
                  </a:r>
                  <a:r>
                    <a:rPr lang="zh-CN" altLang="en-US" sz="1200" dirty="0">
                      <a:solidFill>
                        <a:schemeClr val="accent1"/>
                      </a:solidFill>
                      <a:latin typeface="ui-monospace"/>
                    </a:rPr>
                    <a:t>互斥</a:t>
                  </a:r>
                  <a:r>
                    <a:rPr lang="en-US" altLang="zh-CN" sz="1200" dirty="0">
                      <a:solidFill>
                        <a:schemeClr val="accent1"/>
                      </a:solidFill>
                      <a:latin typeface="ui-monospace"/>
                    </a:rPr>
                    <a:t>1/</a:t>
                  </a:r>
                  <a:r>
                    <a:rPr lang="zh-CN" altLang="en-US" sz="1200" dirty="0">
                      <a:solidFill>
                        <a:schemeClr val="accent1"/>
                      </a:solidFill>
                      <a:latin typeface="ui-monospace"/>
                    </a:rPr>
                    <a:t>私用信号量</a:t>
                  </a:r>
                  <a:r>
                    <a:rPr lang="en-US" altLang="zh-CN" sz="1200" dirty="0">
                      <a:solidFill>
                        <a:schemeClr val="accent1"/>
                      </a:solidFill>
                      <a:latin typeface="ui-monospace"/>
                    </a:rPr>
                    <a:t>-</a:t>
                  </a:r>
                  <a:r>
                    <a:rPr lang="zh-CN" altLang="en-US" sz="1200" dirty="0">
                      <a:solidFill>
                        <a:schemeClr val="accent1"/>
                      </a:solidFill>
                      <a:latin typeface="ui-monospace"/>
                    </a:rPr>
                    <a:t>同步</a:t>
                  </a:r>
                  <a:endParaRPr lang="en-US" altLang="zh-CN" sz="1200" dirty="0">
                    <a:solidFill>
                      <a:schemeClr val="accent1"/>
                    </a:solidFill>
                    <a:latin typeface="ui-monospace"/>
                  </a:endParaRPr>
                </a:p>
                <a:p>
                  <a:r>
                    <a:rPr lang="zh-CN" altLang="en-US" sz="1200" dirty="0">
                      <a:solidFill>
                        <a:schemeClr val="accent1"/>
                      </a:solidFill>
                      <a:latin typeface="ui-monospace"/>
                    </a:rPr>
                    <a:t>信号量</a:t>
                  </a:r>
                  <a:r>
                    <a:rPr lang="en-US" altLang="zh-CN" sz="1200" dirty="0">
                      <a:solidFill>
                        <a:schemeClr val="accent1"/>
                      </a:solidFill>
                      <a:latin typeface="ui-monospace"/>
                    </a:rPr>
                    <a:t>S</a:t>
                  </a:r>
                  <a:r>
                    <a:rPr lang="zh-CN" altLang="en-US" sz="1200" dirty="0">
                      <a:solidFill>
                        <a:schemeClr val="accent1"/>
                      </a:solidFill>
                      <a:latin typeface="ui-monospace"/>
                    </a:rPr>
                    <a:t>：正数为可用资源数，负数的绝对值为等待资源数</a:t>
                  </a:r>
                  <a:endParaRPr lang="en-US" altLang="zh-CN" sz="1200" dirty="0">
                    <a:solidFill>
                      <a:schemeClr val="accent1"/>
                    </a:solidFill>
                    <a:latin typeface="ui-monospace"/>
                  </a:endParaRPr>
                </a:p>
                <a:p>
                  <a:r>
                    <a:rPr lang="en-US" altLang="zh-CN" sz="1200" b="1" dirty="0">
                      <a:solidFill>
                        <a:schemeClr val="accent1"/>
                      </a:solidFill>
                      <a:latin typeface="ui-monospace"/>
                    </a:rPr>
                    <a:t>PV</a:t>
                  </a:r>
                  <a:r>
                    <a:rPr lang="zh-CN" altLang="en-US" sz="1200" b="1" dirty="0">
                      <a:solidFill>
                        <a:schemeClr val="accent1"/>
                      </a:solidFill>
                      <a:latin typeface="ui-monospace"/>
                    </a:rPr>
                    <a:t>操作</a:t>
                  </a:r>
                  <a:r>
                    <a:rPr lang="zh-CN" altLang="en-US" sz="1200" dirty="0">
                      <a:solidFill>
                        <a:schemeClr val="accent1"/>
                      </a:solidFill>
                      <a:latin typeface="ui-monospace"/>
                    </a:rPr>
                    <a:t>：</a:t>
                  </a:r>
                  <a:endParaRPr lang="en-US" altLang="zh-CN" sz="1200" dirty="0">
                    <a:solidFill>
                      <a:schemeClr val="accent1"/>
                    </a:solidFill>
                    <a:latin typeface="ui-monospace"/>
                  </a:endParaRPr>
                </a:p>
                <a:p>
                  <a:r>
                    <a:rPr lang="zh-CN" altLang="en-US" sz="1200" dirty="0">
                      <a:solidFill>
                        <a:schemeClr val="accent1"/>
                      </a:solidFill>
                      <a:latin typeface="ui-monospace"/>
                    </a:rPr>
                    <a:t>执行前等待资源</a:t>
                  </a:r>
                  <a:r>
                    <a:rPr lang="en-US" altLang="zh-CN" sz="1200" dirty="0">
                      <a:solidFill>
                        <a:schemeClr val="accent1"/>
                      </a:solidFill>
                      <a:latin typeface="ui-monospace"/>
                    </a:rPr>
                    <a:t>P(S)</a:t>
                  </a:r>
                  <a:r>
                    <a:rPr lang="zh-CN" altLang="en-US" sz="1200" dirty="0">
                      <a:solidFill>
                        <a:schemeClr val="accent1"/>
                      </a:solidFill>
                      <a:latin typeface="ui-monospace"/>
                    </a:rPr>
                    <a:t>减，</a:t>
                  </a:r>
                  <a14:m>
                    <m:oMath xmlns:m="http://schemas.openxmlformats.org/officeDocument/2006/math">
                      <m:r>
                        <m:rPr>
                          <m:sty m:val="p"/>
                        </m:rPr>
                        <a:rPr lang="en-US" altLang="zh-CN" sz="1200" b="0" i="0" smtClean="0">
                          <a:solidFill>
                            <a:schemeClr val="accent1"/>
                          </a:solidFill>
                          <a:latin typeface="Cambria Math" panose="02040503050406030204" pitchFamily="18" charset="0"/>
                        </a:rPr>
                        <m:t>S</m:t>
                      </m:r>
                      <m:r>
                        <a:rPr lang="zh-CN" altLang="en-US" sz="1200" i="1" smtClean="0">
                          <a:solidFill>
                            <a:schemeClr val="accent1"/>
                          </a:solidFill>
                          <a:latin typeface="Cambria Math" panose="02040503050406030204" pitchFamily="18" charset="0"/>
                        </a:rPr>
                        <m:t>≤</m:t>
                      </m:r>
                      <m:r>
                        <a:rPr lang="en-US" altLang="zh-CN" sz="1200" b="0" i="1" smtClean="0">
                          <a:solidFill>
                            <a:schemeClr val="accent1"/>
                          </a:solidFill>
                          <a:latin typeface="Cambria Math" panose="02040503050406030204" pitchFamily="18" charset="0"/>
                        </a:rPr>
                        <m:t>0</m:t>
                      </m:r>
                    </m:oMath>
                  </a14:m>
                  <a:r>
                    <a:rPr lang="zh-CN" altLang="en-US" sz="1200" dirty="0">
                      <a:solidFill>
                        <a:schemeClr val="accent1"/>
                      </a:solidFill>
                      <a:latin typeface="ui-monospace"/>
                    </a:rPr>
                    <a:t>则等待</a:t>
                  </a:r>
                  <a:endParaRPr lang="en-US" altLang="zh-CN" sz="1200" dirty="0">
                    <a:solidFill>
                      <a:schemeClr val="accent1"/>
                    </a:solidFill>
                    <a:latin typeface="ui-monospace"/>
                  </a:endParaRPr>
                </a:p>
                <a:p>
                  <a:r>
                    <a:rPr lang="zh-CN" altLang="en-US" sz="1200" dirty="0">
                      <a:solidFill>
                        <a:schemeClr val="accent1"/>
                      </a:solidFill>
                      <a:latin typeface="ui-monospace"/>
                    </a:rPr>
                    <a:t>执行后释放资源</a:t>
                  </a:r>
                  <a:r>
                    <a:rPr lang="en-US" altLang="zh-CN" sz="1200" dirty="0">
                      <a:solidFill>
                        <a:schemeClr val="accent1"/>
                      </a:solidFill>
                      <a:latin typeface="ui-monospace"/>
                    </a:rPr>
                    <a:t>V(S)</a:t>
                  </a:r>
                  <a:r>
                    <a:rPr lang="zh-CN" altLang="en-US" sz="1200" dirty="0">
                      <a:solidFill>
                        <a:schemeClr val="accent1"/>
                      </a:solidFill>
                      <a:latin typeface="ui-monospace"/>
                    </a:rPr>
                    <a:t>加，</a:t>
                  </a:r>
                  <a14:m>
                    <m:oMath xmlns:m="http://schemas.openxmlformats.org/officeDocument/2006/math">
                      <m:r>
                        <m:rPr>
                          <m:sty m:val="p"/>
                        </m:rPr>
                        <a:rPr lang="en-US" altLang="zh-CN" sz="1200" b="0" i="0" smtClean="0">
                          <a:solidFill>
                            <a:schemeClr val="accent1"/>
                          </a:solidFill>
                          <a:latin typeface="Cambria Math" panose="02040503050406030204" pitchFamily="18" charset="0"/>
                        </a:rPr>
                        <m:t>S</m:t>
                      </m:r>
                      <m:r>
                        <a:rPr lang="zh-CN" altLang="en-US" sz="1200" i="1">
                          <a:solidFill>
                            <a:schemeClr val="accent1"/>
                          </a:solidFill>
                          <a:latin typeface="Cambria Math" panose="02040503050406030204" pitchFamily="18" charset="0"/>
                        </a:rPr>
                        <m:t>≤</m:t>
                      </m:r>
                      <m:r>
                        <a:rPr lang="en-US" altLang="zh-CN" sz="1200" i="1">
                          <a:solidFill>
                            <a:schemeClr val="accent1"/>
                          </a:solidFill>
                          <a:latin typeface="Cambria Math" panose="02040503050406030204" pitchFamily="18" charset="0"/>
                        </a:rPr>
                        <m:t>0</m:t>
                      </m:r>
                    </m:oMath>
                  </a14:m>
                  <a:r>
                    <a:rPr lang="zh-CN" altLang="en-US" sz="1200" dirty="0">
                      <a:solidFill>
                        <a:schemeClr val="accent1"/>
                      </a:solidFill>
                      <a:latin typeface="ui-monospace"/>
                    </a:rPr>
                    <a:t>则唤醒</a:t>
                  </a:r>
                  <a:endParaRPr lang="en-US" altLang="zh-CN" sz="1200" dirty="0">
                    <a:solidFill>
                      <a:schemeClr val="accent1"/>
                    </a:solidFill>
                    <a:latin typeface="ui-monospace"/>
                  </a:endParaRPr>
                </a:p>
                <a:p>
                  <a:r>
                    <a:rPr lang="zh-CN" altLang="en-US" sz="1200" dirty="0">
                      <a:solidFill>
                        <a:schemeClr val="accent1"/>
                      </a:solidFill>
                      <a:latin typeface="ui-monospace"/>
                    </a:rPr>
                    <a:t>信号量</a:t>
                  </a:r>
                  <a:r>
                    <a:rPr lang="en-US" altLang="zh-CN" sz="1200" dirty="0">
                      <a:solidFill>
                        <a:schemeClr val="accent1"/>
                      </a:solidFill>
                      <a:latin typeface="ui-monospace"/>
                    </a:rPr>
                    <a:t>s</a:t>
                  </a:r>
                  <a:r>
                    <a:rPr lang="zh-CN" altLang="en-US" sz="1200" dirty="0">
                      <a:solidFill>
                        <a:schemeClr val="accent1"/>
                      </a:solidFill>
                      <a:latin typeface="ui-monospace"/>
                    </a:rPr>
                    <a:t>按照</a:t>
                  </a:r>
                  <a:r>
                    <a:rPr lang="en-US" altLang="zh-CN" sz="1200" dirty="0">
                      <a:solidFill>
                        <a:schemeClr val="accent1"/>
                      </a:solidFill>
                      <a:latin typeface="ui-monospace"/>
                    </a:rPr>
                    <a:t>(12,13,23,34)</a:t>
                  </a:r>
                  <a:r>
                    <a:rPr lang="zh-CN" altLang="en-US" sz="1200" dirty="0">
                      <a:solidFill>
                        <a:schemeClr val="accent1"/>
                      </a:solidFill>
                      <a:latin typeface="ui-monospace"/>
                    </a:rPr>
                    <a:t>排序决定</a:t>
                  </a:r>
                  <a:endParaRPr lang="en-US" altLang="zh-CN" sz="1200" dirty="0">
                    <a:solidFill>
                      <a:schemeClr val="accent1"/>
                    </a:solidFill>
                    <a:latin typeface="ui-monospace"/>
                  </a:endParaRPr>
                </a:p>
                <a:p>
                  <a:r>
                    <a:rPr lang="zh-CN" altLang="en-US" sz="1200" dirty="0">
                      <a:solidFill>
                        <a:schemeClr val="accent1"/>
                      </a:solidFill>
                      <a:latin typeface="ui-monospace"/>
                    </a:rPr>
                    <a:t>实现互斥：临界区</a:t>
                  </a:r>
                  <a:endParaRPr lang="en-US" altLang="zh-CN" sz="1200" dirty="0">
                    <a:solidFill>
                      <a:schemeClr val="accent1"/>
                    </a:solidFill>
                    <a:latin typeface="ui-monospace"/>
                  </a:endParaRPr>
                </a:p>
                <a:p>
                  <a:r>
                    <a:rPr lang="zh-CN" altLang="en-US" sz="1200" dirty="0">
                      <a:solidFill>
                        <a:schemeClr val="accent1"/>
                      </a:solidFill>
                      <a:latin typeface="ui-monospace"/>
                    </a:rPr>
                    <a:t>实现同步：容量</a:t>
                  </a:r>
                  <a:r>
                    <a:rPr lang="en-US" altLang="zh-CN" sz="1200" dirty="0">
                      <a:solidFill>
                        <a:schemeClr val="accent1"/>
                      </a:solidFill>
                      <a:latin typeface="ui-monospace"/>
                    </a:rPr>
                    <a:t>n</a:t>
                  </a:r>
                  <a:r>
                    <a:rPr lang="zh-CN" altLang="en-US" sz="1200" dirty="0">
                      <a:solidFill>
                        <a:schemeClr val="accent1"/>
                      </a:solidFill>
                      <a:latin typeface="ui-monospace"/>
                    </a:rPr>
                    <a:t>缓冲区的生产者消费者问题</a:t>
                  </a:r>
                  <a:endParaRPr lang="en-US" altLang="zh-CN" sz="1200" dirty="0">
                    <a:solidFill>
                      <a:schemeClr val="accent1"/>
                    </a:solidFill>
                    <a:latin typeface="ui-monospace"/>
                  </a:endParaRPr>
                </a:p>
                <a:p>
                  <a:r>
                    <a:rPr lang="zh-CN" altLang="en-US" sz="1200" dirty="0">
                      <a:solidFill>
                        <a:schemeClr val="accent1"/>
                      </a:solidFill>
                      <a:latin typeface="ui-monospace"/>
                    </a:rPr>
                    <a:t>缓冲区</a:t>
                  </a:r>
                  <a:r>
                    <a:rPr lang="en-US" altLang="zh-CN" sz="1200" dirty="0">
                      <a:solidFill>
                        <a:schemeClr val="accent1"/>
                      </a:solidFill>
                      <a:latin typeface="ui-monospace"/>
                    </a:rPr>
                    <a:t>+</a:t>
                  </a:r>
                  <a:r>
                    <a:rPr lang="zh-CN" altLang="en-US" sz="1200" dirty="0">
                      <a:solidFill>
                        <a:schemeClr val="accent1"/>
                      </a:solidFill>
                      <a:latin typeface="ui-monospace"/>
                    </a:rPr>
                    <a:t>互斥信号量</a:t>
                  </a:r>
                  <a:r>
                    <a:rPr lang="en-US" altLang="zh-CN" sz="1200" dirty="0">
                      <a:solidFill>
                        <a:schemeClr val="accent1"/>
                      </a:solidFill>
                      <a:latin typeface="ui-monospace"/>
                    </a:rPr>
                    <a:t>S+</a:t>
                  </a:r>
                  <a:r>
                    <a:rPr lang="zh-CN" altLang="en-US" sz="1200" b="1" dirty="0">
                      <a:solidFill>
                        <a:schemeClr val="accent1"/>
                      </a:solidFill>
                      <a:latin typeface="ui-monospace"/>
                    </a:rPr>
                    <a:t>同步信号量</a:t>
                  </a:r>
                  <a:r>
                    <a:rPr lang="en-US" altLang="zh-CN" sz="1200" dirty="0">
                      <a:solidFill>
                        <a:schemeClr val="accent1"/>
                      </a:solidFill>
                      <a:latin typeface="ui-monospace"/>
                    </a:rPr>
                    <a:t>(S1</a:t>
                  </a:r>
                  <a:r>
                    <a:rPr lang="zh-CN" altLang="en-US" sz="1200" dirty="0">
                      <a:solidFill>
                        <a:schemeClr val="accent1"/>
                      </a:solidFill>
                      <a:latin typeface="ui-monospace"/>
                    </a:rPr>
                    <a:t>可放产品数</a:t>
                  </a:r>
                  <a:r>
                    <a:rPr lang="en-US" altLang="zh-CN" sz="1200" dirty="0">
                      <a:solidFill>
                        <a:schemeClr val="accent1"/>
                      </a:solidFill>
                      <a:latin typeface="ui-monospace"/>
                    </a:rPr>
                    <a:t>n/S2</a:t>
                  </a:r>
                  <a:r>
                    <a:rPr lang="zh-CN" altLang="en-US" sz="1200" dirty="0">
                      <a:solidFill>
                        <a:schemeClr val="accent1"/>
                      </a:solidFill>
                      <a:latin typeface="ui-monospace"/>
                    </a:rPr>
                    <a:t>产品数</a:t>
                  </a:r>
                  <a:r>
                    <a:rPr lang="en-US" altLang="zh-CN" sz="1200" dirty="0">
                      <a:solidFill>
                        <a:schemeClr val="accent1"/>
                      </a:solidFill>
                      <a:latin typeface="ui-monospace"/>
                    </a:rPr>
                    <a:t>0)</a:t>
                  </a:r>
                </a:p>
                <a:p>
                  <a:r>
                    <a:rPr lang="zh-CN" altLang="en-US" sz="1200" dirty="0">
                      <a:solidFill>
                        <a:schemeClr val="accent1"/>
                      </a:solidFill>
                      <a:latin typeface="ui-monospace"/>
                    </a:rPr>
                    <a:t>生产者：</a:t>
                  </a:r>
                  <a:r>
                    <a:rPr lang="en-US" altLang="zh-CN" sz="1200" dirty="0">
                      <a:solidFill>
                        <a:schemeClr val="accent1"/>
                      </a:solidFill>
                      <a:latin typeface="ui-monospace"/>
                    </a:rPr>
                    <a:t>P(S1)&gt;P(S)&gt;V(S)&gt;V(S2)</a:t>
                  </a:r>
                </a:p>
                <a:p>
                  <a:r>
                    <a:rPr lang="zh-CN" altLang="en-US" sz="1200" dirty="0">
                      <a:solidFill>
                        <a:schemeClr val="accent1"/>
                      </a:solidFill>
                      <a:latin typeface="ui-monospace"/>
                    </a:rPr>
                    <a:t>消费者：</a:t>
                  </a:r>
                  <a:r>
                    <a:rPr lang="en-US" altLang="zh-CN" sz="1200" dirty="0">
                      <a:solidFill>
                        <a:schemeClr val="accent1"/>
                      </a:solidFill>
                      <a:latin typeface="ui-monospace"/>
                    </a:rPr>
                    <a:t>P(S2)&gt;P(S)&gt;V(S)&gt;V(S1)</a:t>
                  </a:r>
                </a:p>
                <a:p>
                  <a:r>
                    <a:rPr lang="zh-CN" altLang="en-US" sz="1200" dirty="0">
                      <a:solidFill>
                        <a:schemeClr val="accent1"/>
                      </a:solidFill>
                      <a:latin typeface="ui-monospace"/>
                    </a:rPr>
                    <a:t>同类资源分配不当引起死锁：</a:t>
                  </a:r>
                  <a:r>
                    <a:rPr lang="en-US" altLang="zh-CN" sz="1200" b="1" dirty="0">
                      <a:solidFill>
                        <a:schemeClr val="accent1"/>
                      </a:solidFill>
                      <a:latin typeface="ui-monospace"/>
                    </a:rPr>
                    <a:t>m</a:t>
                  </a:r>
                  <a14:m>
                    <m:oMath xmlns:m="http://schemas.openxmlformats.org/officeDocument/2006/math">
                      <m:r>
                        <a:rPr lang="zh-CN" altLang="en-US" sz="1200" b="1" i="1" smtClean="0">
                          <a:solidFill>
                            <a:schemeClr val="accent1"/>
                          </a:solidFill>
                          <a:latin typeface="Cambria Math" panose="02040503050406030204" pitchFamily="18" charset="0"/>
                        </a:rPr>
                        <m:t>≥</m:t>
                      </m:r>
                    </m:oMath>
                  </a14:m>
                  <a:r>
                    <a:rPr lang="en-US" altLang="zh-CN" sz="1200" b="1" dirty="0">
                      <a:solidFill>
                        <a:schemeClr val="accent1"/>
                      </a:solidFill>
                      <a:latin typeface="ui-monospace"/>
                    </a:rPr>
                    <a:t>n*(k-1)+1</a:t>
                  </a:r>
                </a:p>
                <a:p>
                  <a:r>
                    <a:rPr lang="zh-CN" altLang="en-US" sz="1200" dirty="0">
                      <a:solidFill>
                        <a:schemeClr val="accent1"/>
                      </a:solidFill>
                      <a:latin typeface="ui-monospace"/>
                    </a:rPr>
                    <a:t>系统采用轮流分配资源，资源数</a:t>
                  </a:r>
                  <a:r>
                    <a:rPr lang="en-US" altLang="zh-CN" sz="1200" dirty="0">
                      <a:solidFill>
                        <a:schemeClr val="accent1"/>
                      </a:solidFill>
                      <a:latin typeface="ui-monospace"/>
                    </a:rPr>
                    <a:t>m</a:t>
                  </a:r>
                  <a:r>
                    <a:rPr lang="zh-CN" altLang="en-US" sz="1200" dirty="0">
                      <a:solidFill>
                        <a:schemeClr val="accent1"/>
                      </a:solidFill>
                      <a:latin typeface="ui-monospace"/>
                    </a:rPr>
                    <a:t>小于进程所需资源总数</a:t>
                  </a:r>
                  <a:r>
                    <a:rPr lang="en-US" altLang="zh-CN" sz="1200" dirty="0">
                      <a:solidFill>
                        <a:schemeClr val="accent1"/>
                      </a:solidFill>
                      <a:latin typeface="ui-monospace"/>
                    </a:rPr>
                    <a:t>n*k</a:t>
                  </a:r>
                </a:p>
                <a:p>
                  <a:r>
                    <a:rPr lang="zh-CN" altLang="en-US" sz="1200" b="1" dirty="0">
                      <a:solidFill>
                        <a:schemeClr val="accent1"/>
                      </a:solidFill>
                      <a:latin typeface="ui-monospace"/>
                    </a:rPr>
                    <a:t>进程资源图</a:t>
                  </a:r>
                  <a:r>
                    <a:rPr lang="zh-CN" altLang="en-US" sz="1200" dirty="0">
                      <a:solidFill>
                        <a:schemeClr val="accent1"/>
                      </a:solidFill>
                      <a:latin typeface="ui-monospace"/>
                    </a:rPr>
                    <a:t>：描述进程所需资源和资源分配情况</a:t>
                  </a:r>
                  <a:endParaRPr lang="en-US" altLang="zh-CN" sz="1200" dirty="0">
                    <a:solidFill>
                      <a:schemeClr val="accent1"/>
                    </a:solidFill>
                    <a:latin typeface="ui-monospace"/>
                  </a:endParaRPr>
                </a:p>
                <a:p>
                  <a:r>
                    <a:rPr lang="en-US" altLang="zh-CN" sz="1200" dirty="0">
                      <a:solidFill>
                        <a:schemeClr val="accent1"/>
                      </a:solidFill>
                      <a:latin typeface="ui-monospace"/>
                    </a:rPr>
                    <a:t>P</a:t>
                  </a:r>
                  <a:r>
                    <a:rPr lang="zh-CN" altLang="en-US" sz="1200" dirty="0">
                      <a:solidFill>
                        <a:schemeClr val="accent1"/>
                      </a:solidFill>
                      <a:latin typeface="ui-monospace"/>
                    </a:rPr>
                    <a:t>进程，</a:t>
                  </a:r>
                  <a:r>
                    <a:rPr lang="en-US" altLang="zh-CN" sz="1200" dirty="0">
                      <a:solidFill>
                        <a:schemeClr val="accent1"/>
                      </a:solidFill>
                      <a:latin typeface="ui-monospace"/>
                    </a:rPr>
                    <a:t>R</a:t>
                  </a:r>
                  <a:r>
                    <a:rPr lang="zh-CN" altLang="en-US" sz="1200" dirty="0">
                      <a:solidFill>
                        <a:schemeClr val="accent1"/>
                      </a:solidFill>
                      <a:latin typeface="ui-monospace"/>
                    </a:rPr>
                    <a:t>资源：</a:t>
                  </a:r>
                  <a:r>
                    <a:rPr lang="en-US" altLang="zh-CN" sz="1200" dirty="0">
                      <a:solidFill>
                        <a:schemeClr val="accent1"/>
                      </a:solidFill>
                      <a:latin typeface="ui-monospace"/>
                    </a:rPr>
                    <a:t>R&gt;P</a:t>
                  </a:r>
                  <a:r>
                    <a:rPr lang="zh-CN" altLang="en-US" sz="1200" dirty="0">
                      <a:solidFill>
                        <a:schemeClr val="accent1"/>
                      </a:solidFill>
                      <a:latin typeface="ui-monospace"/>
                    </a:rPr>
                    <a:t>代表</a:t>
                  </a:r>
                  <a:r>
                    <a:rPr lang="en-US" altLang="zh-CN" sz="1200" dirty="0">
                      <a:solidFill>
                        <a:schemeClr val="accent1"/>
                      </a:solidFill>
                      <a:latin typeface="ui-monospace"/>
                    </a:rPr>
                    <a:t>R</a:t>
                  </a:r>
                  <a:r>
                    <a:rPr lang="zh-CN" altLang="en-US" sz="1200" dirty="0">
                      <a:solidFill>
                        <a:schemeClr val="accent1"/>
                      </a:solidFill>
                      <a:latin typeface="ui-monospace"/>
                    </a:rPr>
                    <a:t>已分配给</a:t>
                  </a:r>
                  <a:r>
                    <a:rPr lang="en-US" altLang="zh-CN" sz="1200" dirty="0">
                      <a:solidFill>
                        <a:schemeClr val="accent1"/>
                      </a:solidFill>
                      <a:latin typeface="ui-monospace"/>
                    </a:rPr>
                    <a:t>P</a:t>
                  </a:r>
                  <a:r>
                    <a:rPr lang="zh-CN" altLang="en-US" sz="1200" dirty="0">
                      <a:solidFill>
                        <a:schemeClr val="accent1"/>
                      </a:solidFill>
                      <a:latin typeface="ui-monospace"/>
                    </a:rPr>
                    <a:t>，</a:t>
                  </a:r>
                  <a:r>
                    <a:rPr lang="en-US" altLang="zh-CN" sz="1200" dirty="0">
                      <a:solidFill>
                        <a:schemeClr val="accent1"/>
                      </a:solidFill>
                      <a:latin typeface="ui-monospace"/>
                    </a:rPr>
                    <a:t>P&gt;R</a:t>
                  </a:r>
                  <a:r>
                    <a:rPr lang="zh-CN" altLang="en-US" sz="1200" dirty="0">
                      <a:solidFill>
                        <a:schemeClr val="accent1"/>
                      </a:solidFill>
                      <a:latin typeface="ui-monospace"/>
                    </a:rPr>
                    <a:t>代表</a:t>
                  </a:r>
                  <a:r>
                    <a:rPr lang="en-US" altLang="zh-CN" sz="1200" dirty="0">
                      <a:solidFill>
                        <a:schemeClr val="accent1"/>
                      </a:solidFill>
                      <a:latin typeface="ui-monospace"/>
                    </a:rPr>
                    <a:t>P</a:t>
                  </a:r>
                  <a:r>
                    <a:rPr lang="zh-CN" altLang="en-US" sz="1200" dirty="0">
                      <a:solidFill>
                        <a:schemeClr val="accent1"/>
                      </a:solidFill>
                      <a:latin typeface="ui-monospace"/>
                    </a:rPr>
                    <a:t>还需要请求</a:t>
                  </a:r>
                  <a:r>
                    <a:rPr lang="en-US" altLang="zh-CN" sz="1200" dirty="0">
                      <a:solidFill>
                        <a:schemeClr val="accent1"/>
                      </a:solidFill>
                      <a:latin typeface="ui-monospace"/>
                    </a:rPr>
                    <a:t>R</a:t>
                  </a:r>
                </a:p>
                <a:p>
                  <a:r>
                    <a:rPr lang="zh-CN" altLang="en-US" sz="1200" dirty="0">
                      <a:solidFill>
                        <a:schemeClr val="accent1"/>
                      </a:solidFill>
                      <a:latin typeface="ui-monospace"/>
                    </a:rPr>
                    <a:t>阻塞节点：该节点所请求的资源已分配完</a:t>
                  </a:r>
                  <a:endParaRPr lang="en-US" altLang="zh-CN" sz="1200" dirty="0">
                    <a:solidFill>
                      <a:schemeClr val="accent1"/>
                    </a:solidFill>
                    <a:latin typeface="ui-monospace"/>
                  </a:endParaRPr>
                </a:p>
                <a:p>
                  <a:r>
                    <a:rPr lang="zh-CN" altLang="en-US" sz="1200" dirty="0">
                      <a:solidFill>
                        <a:schemeClr val="accent1"/>
                      </a:solidFill>
                      <a:latin typeface="ui-monospace"/>
                    </a:rPr>
                    <a:t>非阻塞节点：可化简</a:t>
                  </a:r>
                  <a:endParaRPr lang="en-US" altLang="zh-CN" sz="1200" dirty="0">
                    <a:solidFill>
                      <a:schemeClr val="accent1"/>
                    </a:solidFill>
                    <a:latin typeface="ui-monospace"/>
                  </a:endParaRPr>
                </a:p>
                <a:p>
                  <a:r>
                    <a:rPr lang="zh-CN" altLang="en-US" sz="1200" dirty="0">
                      <a:solidFill>
                        <a:schemeClr val="accent1"/>
                      </a:solidFill>
                      <a:latin typeface="ui-monospace"/>
                    </a:rPr>
                    <a:t>死锁状态：所有进程都是阻塞节点</a:t>
                  </a:r>
                  <a:endParaRPr lang="en-US" altLang="zh-CN" sz="1200" dirty="0">
                    <a:solidFill>
                      <a:schemeClr val="accent1"/>
                    </a:solidFill>
                    <a:latin typeface="ui-monospace"/>
                  </a:endParaRPr>
                </a:p>
                <a:p>
                  <a:r>
                    <a:rPr lang="zh-CN" altLang="en-US" sz="1200" dirty="0">
                      <a:solidFill>
                        <a:schemeClr val="accent1"/>
                      </a:solidFill>
                      <a:latin typeface="ui-monospace"/>
                    </a:rPr>
                    <a:t>死锁处理：避免策略</a:t>
                  </a:r>
                  <a:r>
                    <a:rPr lang="en-US" altLang="zh-CN" sz="1200" dirty="0">
                      <a:solidFill>
                        <a:schemeClr val="accent1"/>
                      </a:solidFill>
                      <a:latin typeface="ui-monospace"/>
                    </a:rPr>
                    <a:t>-</a:t>
                  </a:r>
                  <a:r>
                    <a:rPr lang="zh-CN" altLang="en-US" sz="1200" dirty="0">
                      <a:solidFill>
                        <a:schemeClr val="accent1"/>
                      </a:solidFill>
                      <a:latin typeface="ui-monospace"/>
                    </a:rPr>
                    <a:t>银行家算法</a:t>
                  </a:r>
                  <a:endParaRPr lang="en-US" altLang="zh-CN" sz="1200" dirty="0">
                    <a:solidFill>
                      <a:schemeClr val="accent1"/>
                    </a:solidFill>
                    <a:latin typeface="ui-monospace"/>
                  </a:endParaRPr>
                </a:p>
              </p:txBody>
            </p:sp>
          </mc:Choice>
          <mc:Fallback xmlns="">
            <p:sp>
              <p:nvSpPr>
                <p:cNvPr id="10" name="TextBox 36">
                  <a:extLst>
                    <a:ext uri="{FF2B5EF4-FFF2-40B4-BE49-F238E27FC236}">
                      <a16:creationId xmlns:a16="http://schemas.microsoft.com/office/drawing/2014/main" id="{B72221F4-EE2E-5536-2A52-B9D3637D7EFC}"/>
                    </a:ext>
                  </a:extLst>
                </p:cNvPr>
                <p:cNvSpPr txBox="1">
                  <a:spLocks noRot="1" noChangeAspect="1" noMove="1" noResize="1" noEditPoints="1" noAdjustHandles="1" noChangeArrowheads="1" noChangeShapeType="1" noTextEdit="1"/>
                </p:cNvSpPr>
                <p:nvPr/>
              </p:nvSpPr>
              <p:spPr>
                <a:xfrm>
                  <a:off x="7667294" y="6245750"/>
                  <a:ext cx="4281578" cy="5447645"/>
                </a:xfrm>
                <a:prstGeom prst="rect">
                  <a:avLst/>
                </a:prstGeom>
                <a:blipFill>
                  <a:blip r:embed="rId2"/>
                  <a:stretch>
                    <a:fillRect l="-142"/>
                  </a:stretch>
                </a:blipFill>
              </p:spPr>
              <p:txBody>
                <a:bodyPr/>
                <a:lstStyle/>
                <a:p>
                  <a:r>
                    <a:rPr lang="en-US">
                      <a:noFill/>
                    </a:rPr>
                    <a:t> </a:t>
                  </a:r>
                </a:p>
              </p:txBody>
            </p:sp>
          </mc:Fallback>
        </mc:AlternateContent>
      </p:grpSp>
      <p:pic>
        <p:nvPicPr>
          <p:cNvPr id="3202" name="Picture 3201">
            <a:extLst>
              <a:ext uri="{FF2B5EF4-FFF2-40B4-BE49-F238E27FC236}">
                <a16:creationId xmlns:a16="http://schemas.microsoft.com/office/drawing/2014/main" id="{7E93736A-C904-8731-6F11-4A6DC332C660}"/>
              </a:ext>
            </a:extLst>
          </p:cNvPr>
          <p:cNvPicPr>
            <a:picLocks noChangeAspect="1"/>
          </p:cNvPicPr>
          <p:nvPr/>
        </p:nvPicPr>
        <p:blipFill>
          <a:blip r:embed="rId3"/>
          <a:stretch>
            <a:fillRect/>
          </a:stretch>
        </p:blipFill>
        <p:spPr>
          <a:xfrm>
            <a:off x="6284680" y="4398766"/>
            <a:ext cx="1061477" cy="220703"/>
          </a:xfrm>
          <a:prstGeom prst="rect">
            <a:avLst/>
          </a:prstGeom>
        </p:spPr>
      </p:pic>
      <p:pic>
        <p:nvPicPr>
          <p:cNvPr id="3220" name="Picture 3219">
            <a:extLst>
              <a:ext uri="{FF2B5EF4-FFF2-40B4-BE49-F238E27FC236}">
                <a16:creationId xmlns:a16="http://schemas.microsoft.com/office/drawing/2014/main" id="{FFB2F4C0-F968-1E45-BF9E-269C2CAA08AA}"/>
              </a:ext>
            </a:extLst>
          </p:cNvPr>
          <p:cNvPicPr>
            <a:picLocks noChangeAspect="1"/>
          </p:cNvPicPr>
          <p:nvPr/>
        </p:nvPicPr>
        <p:blipFill>
          <a:blip r:embed="rId4"/>
          <a:stretch>
            <a:fillRect/>
          </a:stretch>
        </p:blipFill>
        <p:spPr>
          <a:xfrm>
            <a:off x="6169222" y="3541464"/>
            <a:ext cx="1292395" cy="816249"/>
          </a:xfrm>
          <a:prstGeom prst="rect">
            <a:avLst/>
          </a:prstGeom>
        </p:spPr>
      </p:pic>
      <p:pic>
        <p:nvPicPr>
          <p:cNvPr id="3345" name="Picture 3344">
            <a:extLst>
              <a:ext uri="{FF2B5EF4-FFF2-40B4-BE49-F238E27FC236}">
                <a16:creationId xmlns:a16="http://schemas.microsoft.com/office/drawing/2014/main" id="{F52495E1-7734-F63C-EBB3-1110CC15F893}"/>
              </a:ext>
            </a:extLst>
          </p:cNvPr>
          <p:cNvPicPr>
            <a:picLocks noChangeAspect="1"/>
          </p:cNvPicPr>
          <p:nvPr/>
        </p:nvPicPr>
        <p:blipFill>
          <a:blip r:embed="rId5"/>
          <a:stretch>
            <a:fillRect/>
          </a:stretch>
        </p:blipFill>
        <p:spPr>
          <a:xfrm>
            <a:off x="5835329" y="2053272"/>
            <a:ext cx="1510828" cy="561165"/>
          </a:xfrm>
          <a:prstGeom prst="rect">
            <a:avLst/>
          </a:prstGeom>
        </p:spPr>
      </p:pic>
      <p:pic>
        <p:nvPicPr>
          <p:cNvPr id="61" name="Picture 60">
            <a:extLst>
              <a:ext uri="{FF2B5EF4-FFF2-40B4-BE49-F238E27FC236}">
                <a16:creationId xmlns:a16="http://schemas.microsoft.com/office/drawing/2014/main" id="{C64A496E-48CA-94EB-D2C0-61A96AE50684}"/>
              </a:ext>
            </a:extLst>
          </p:cNvPr>
          <p:cNvPicPr>
            <a:picLocks noChangeAspect="1"/>
          </p:cNvPicPr>
          <p:nvPr/>
        </p:nvPicPr>
        <p:blipFill>
          <a:blip r:embed="rId6"/>
          <a:stretch>
            <a:fillRect/>
          </a:stretch>
        </p:blipFill>
        <p:spPr>
          <a:xfrm>
            <a:off x="6214762" y="5899658"/>
            <a:ext cx="1246855" cy="883846"/>
          </a:xfrm>
          <a:prstGeom prst="rect">
            <a:avLst/>
          </a:prstGeom>
        </p:spPr>
      </p:pic>
      <p:graphicFrame>
        <p:nvGraphicFramePr>
          <p:cNvPr id="63" name="Table 62">
            <a:extLst>
              <a:ext uri="{FF2B5EF4-FFF2-40B4-BE49-F238E27FC236}">
                <a16:creationId xmlns:a16="http://schemas.microsoft.com/office/drawing/2014/main" id="{3420A2F9-CFBD-29E5-9087-42121A9E4812}"/>
              </a:ext>
            </a:extLst>
          </p:cNvPr>
          <p:cNvGraphicFramePr>
            <a:graphicFrameLocks noGrp="1"/>
          </p:cNvGraphicFramePr>
          <p:nvPr>
            <p:extLst>
              <p:ext uri="{D42A27DB-BD31-4B8C-83A1-F6EECF244321}">
                <p14:modId xmlns:p14="http://schemas.microsoft.com/office/powerpoint/2010/main" val="2166846812"/>
              </p:ext>
            </p:extLst>
          </p:nvPr>
        </p:nvGraphicFramePr>
        <p:xfrm>
          <a:off x="7720232" y="825609"/>
          <a:ext cx="4269312" cy="1600200"/>
        </p:xfrm>
        <a:graphic>
          <a:graphicData uri="http://schemas.openxmlformats.org/drawingml/2006/table">
            <a:tbl>
              <a:tblPr firstRow="1" bandRow="1">
                <a:tableStyleId>{5C22544A-7EE6-4342-B048-85BDC9FD1C3A}</a:tableStyleId>
              </a:tblPr>
              <a:tblGrid>
                <a:gridCol w="429069">
                  <a:extLst>
                    <a:ext uri="{9D8B030D-6E8A-4147-A177-3AD203B41FA5}">
                      <a16:colId xmlns:a16="http://schemas.microsoft.com/office/drawing/2014/main" val="4196207211"/>
                    </a:ext>
                  </a:extLst>
                </a:gridCol>
                <a:gridCol w="401516">
                  <a:extLst>
                    <a:ext uri="{9D8B030D-6E8A-4147-A177-3AD203B41FA5}">
                      <a16:colId xmlns:a16="http://schemas.microsoft.com/office/drawing/2014/main" val="3523767036"/>
                    </a:ext>
                  </a:extLst>
                </a:gridCol>
                <a:gridCol w="401516">
                  <a:extLst>
                    <a:ext uri="{9D8B030D-6E8A-4147-A177-3AD203B41FA5}">
                      <a16:colId xmlns:a16="http://schemas.microsoft.com/office/drawing/2014/main" val="689627898"/>
                    </a:ext>
                  </a:extLst>
                </a:gridCol>
                <a:gridCol w="401516">
                  <a:extLst>
                    <a:ext uri="{9D8B030D-6E8A-4147-A177-3AD203B41FA5}">
                      <a16:colId xmlns:a16="http://schemas.microsoft.com/office/drawing/2014/main" val="2004319125"/>
                    </a:ext>
                  </a:extLst>
                </a:gridCol>
                <a:gridCol w="421393">
                  <a:extLst>
                    <a:ext uri="{9D8B030D-6E8A-4147-A177-3AD203B41FA5}">
                      <a16:colId xmlns:a16="http://schemas.microsoft.com/office/drawing/2014/main" val="2142024621"/>
                    </a:ext>
                  </a:extLst>
                </a:gridCol>
                <a:gridCol w="421393">
                  <a:extLst>
                    <a:ext uri="{9D8B030D-6E8A-4147-A177-3AD203B41FA5}">
                      <a16:colId xmlns:a16="http://schemas.microsoft.com/office/drawing/2014/main" val="2873242355"/>
                    </a:ext>
                  </a:extLst>
                </a:gridCol>
                <a:gridCol w="421393">
                  <a:extLst>
                    <a:ext uri="{9D8B030D-6E8A-4147-A177-3AD203B41FA5}">
                      <a16:colId xmlns:a16="http://schemas.microsoft.com/office/drawing/2014/main" val="32176265"/>
                    </a:ext>
                  </a:extLst>
                </a:gridCol>
                <a:gridCol w="457172">
                  <a:extLst>
                    <a:ext uri="{9D8B030D-6E8A-4147-A177-3AD203B41FA5}">
                      <a16:colId xmlns:a16="http://schemas.microsoft.com/office/drawing/2014/main" val="3706294920"/>
                    </a:ext>
                  </a:extLst>
                </a:gridCol>
                <a:gridCol w="457172">
                  <a:extLst>
                    <a:ext uri="{9D8B030D-6E8A-4147-A177-3AD203B41FA5}">
                      <a16:colId xmlns:a16="http://schemas.microsoft.com/office/drawing/2014/main" val="3448660061"/>
                    </a:ext>
                  </a:extLst>
                </a:gridCol>
                <a:gridCol w="457172">
                  <a:extLst>
                    <a:ext uri="{9D8B030D-6E8A-4147-A177-3AD203B41FA5}">
                      <a16:colId xmlns:a16="http://schemas.microsoft.com/office/drawing/2014/main" val="1823866607"/>
                    </a:ext>
                  </a:extLst>
                </a:gridCol>
              </a:tblGrid>
              <a:tr h="204220">
                <a:tc rowSpan="2">
                  <a:txBody>
                    <a:bodyPr/>
                    <a:lstStyle/>
                    <a:p>
                      <a:pPr algn="ct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r>
                        <a:rPr lang="zh-CN" altLang="en-US" sz="900" b="0" dirty="0">
                          <a:solidFill>
                            <a:schemeClr val="tx1"/>
                          </a:solidFill>
                        </a:rPr>
                        <a:t>最大需求数</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gridSpan="3">
                  <a:txBody>
                    <a:bodyPr/>
                    <a:lstStyle/>
                    <a:p>
                      <a:pPr algn="ctr"/>
                      <a:r>
                        <a:rPr lang="zh-CN" altLang="en-US" sz="900" b="0" dirty="0">
                          <a:solidFill>
                            <a:schemeClr val="tx1"/>
                          </a:solidFill>
                        </a:rPr>
                        <a:t>已分配资源数</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gridSpan="3">
                  <a:txBody>
                    <a:bodyPr/>
                    <a:lstStyle/>
                    <a:p>
                      <a:pPr algn="ctr"/>
                      <a:r>
                        <a:rPr lang="zh-CN" altLang="en-US" sz="900" b="0" dirty="0">
                          <a:solidFill>
                            <a:schemeClr val="tx1"/>
                          </a:solidFill>
                        </a:rPr>
                        <a:t>仍需要资源数</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65607175"/>
                  </a:ext>
                </a:extLst>
              </a:tr>
              <a:tr h="204220">
                <a:tc vMerge="1">
                  <a:txBody>
                    <a:bodyPr/>
                    <a:lstStyle/>
                    <a:p>
                      <a:pPr algn="ct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R2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R3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R2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R3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R2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R3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9522999"/>
                  </a:ext>
                </a:extLst>
              </a:tr>
              <a:tr h="204220">
                <a:tc>
                  <a:txBody>
                    <a:bodyPr/>
                    <a:lstStyle/>
                    <a:p>
                      <a:pPr algn="ctr"/>
                      <a:r>
                        <a:rPr lang="en-US" sz="900" b="0" dirty="0">
                          <a:solidFill>
                            <a:schemeClr val="tx1"/>
                          </a:solidFill>
                        </a:rPr>
                        <a:t>P1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en-US" sz="900" b="0" dirty="0">
                          <a:solidFill>
                            <a:schemeClr val="tx1"/>
                          </a:solidFill>
                        </a:rPr>
                        <a:t>P2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en-US" sz="900" b="0" dirty="0">
                          <a:solidFill>
                            <a:schemeClr val="tx1"/>
                          </a:solidFill>
                        </a:rPr>
                        <a:t>P3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7826130"/>
                  </a:ext>
                </a:extLst>
              </a:tr>
              <a:tr h="204220">
                <a:tc>
                  <a:txBody>
                    <a:bodyPr/>
                    <a:lstStyle/>
                    <a:p>
                      <a:pPr algn="ctr"/>
                      <a:r>
                        <a:rPr lang="en-US" altLang="zh-CN" sz="900" b="0" dirty="0">
                          <a:solidFill>
                            <a:schemeClr val="tx1"/>
                          </a:solidFill>
                        </a:rPr>
                        <a:t>P4</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9753178"/>
                  </a:ext>
                </a:extLst>
              </a:tr>
              <a:tr h="204220">
                <a:tc>
                  <a:txBody>
                    <a:bodyPr/>
                    <a:lstStyle/>
                    <a:p>
                      <a:pPr algn="ctr"/>
                      <a:r>
                        <a:rPr lang="en-US" altLang="zh-CN" sz="900" b="0" dirty="0">
                          <a:solidFill>
                            <a:schemeClr val="tx1"/>
                          </a:solidFill>
                        </a:rPr>
                        <a:t>P5</a:t>
                      </a:r>
                      <a:endParaRPr lang="en-US" sz="900" b="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900"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900"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900"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4E9"/>
                    </a:solidFill>
                  </a:tcPr>
                </a:tc>
                <a:tc>
                  <a:txBody>
                    <a:bodyPr/>
                    <a:lstStyle/>
                    <a:p>
                      <a:pPr algn="ctr"/>
                      <a:r>
                        <a:rPr lang="en-US" sz="900"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8069755"/>
                  </a:ext>
                </a:extLst>
              </a:tr>
            </a:tbl>
          </a:graphicData>
        </a:graphic>
      </p:graphicFrame>
      <p:grpSp>
        <p:nvGrpSpPr>
          <p:cNvPr id="3136" name="Group 25">
            <a:extLst>
              <a:ext uri="{FF2B5EF4-FFF2-40B4-BE49-F238E27FC236}">
                <a16:creationId xmlns:a16="http://schemas.microsoft.com/office/drawing/2014/main" id="{70901822-C2D8-388F-2BEA-65F77F578F0C}"/>
              </a:ext>
            </a:extLst>
          </p:cNvPr>
          <p:cNvGrpSpPr/>
          <p:nvPr/>
        </p:nvGrpSpPr>
        <p:grpSpPr>
          <a:xfrm>
            <a:off x="7655512" y="2491409"/>
            <a:ext cx="4386653" cy="941593"/>
            <a:chOff x="7614613" y="5950488"/>
            <a:chExt cx="4386653" cy="941593"/>
          </a:xfrm>
        </p:grpSpPr>
        <p:sp>
          <p:nvSpPr>
            <p:cNvPr id="3137" name="Rectangle: Rounded Corners 35">
              <a:extLst>
                <a:ext uri="{FF2B5EF4-FFF2-40B4-BE49-F238E27FC236}">
                  <a16:creationId xmlns:a16="http://schemas.microsoft.com/office/drawing/2014/main" id="{4A265588-9877-30A8-C09F-7121382943E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 线程</a:t>
              </a:r>
              <a:endParaRPr lang="en-US" sz="1200" dirty="0">
                <a:solidFill>
                  <a:schemeClr val="bg1"/>
                </a:solidFill>
              </a:endParaRPr>
            </a:p>
          </p:txBody>
        </p:sp>
        <p:sp>
          <p:nvSpPr>
            <p:cNvPr id="3138" name="TextBox 36">
              <a:extLst>
                <a:ext uri="{FF2B5EF4-FFF2-40B4-BE49-F238E27FC236}">
                  <a16:creationId xmlns:a16="http://schemas.microsoft.com/office/drawing/2014/main" id="{B19C6B64-001E-0BBD-9417-72D056C962D1}"/>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线程：可独立调度和分配的基本单元。</a:t>
              </a:r>
              <a:endParaRPr lang="en-US" altLang="zh-CN" sz="1200" dirty="0">
                <a:solidFill>
                  <a:schemeClr val="accent1"/>
                </a:solidFill>
                <a:latin typeface="ui-monospace"/>
              </a:endParaRPr>
            </a:p>
            <a:p>
              <a:r>
                <a:rPr lang="zh-CN" altLang="en-US" sz="1200" dirty="0">
                  <a:solidFill>
                    <a:schemeClr val="accent1"/>
                  </a:solidFill>
                  <a:latin typeface="ui-monospace"/>
                </a:rPr>
                <a:t>可与同属一个进程的其他线程共享进程所拥有的全部资源</a:t>
              </a:r>
              <a:endParaRPr lang="en-US" altLang="zh-CN" sz="1200" dirty="0">
                <a:solidFill>
                  <a:schemeClr val="accent1"/>
                </a:solidFill>
                <a:latin typeface="ui-monospace"/>
              </a:endParaRPr>
            </a:p>
            <a:p>
              <a:r>
                <a:rPr lang="zh-CN" altLang="en-US" sz="1200" dirty="0">
                  <a:solidFill>
                    <a:schemeClr val="accent1"/>
                  </a:solidFill>
                  <a:latin typeface="ui-monospace"/>
                </a:rPr>
                <a:t>线程与线程之间是不可见的</a:t>
              </a:r>
              <a:endParaRPr lang="en-US" altLang="zh-CN" sz="1200" dirty="0">
                <a:solidFill>
                  <a:schemeClr val="accent1"/>
                </a:solidFill>
                <a:latin typeface="ui-monospace"/>
              </a:endParaRPr>
            </a:p>
          </p:txBody>
        </p:sp>
      </p:grpSp>
      <p:grpSp>
        <p:nvGrpSpPr>
          <p:cNvPr id="3139" name="Group 25">
            <a:extLst>
              <a:ext uri="{FF2B5EF4-FFF2-40B4-BE49-F238E27FC236}">
                <a16:creationId xmlns:a16="http://schemas.microsoft.com/office/drawing/2014/main" id="{68D16CE7-DB83-DC89-2D9B-3A45F899E20D}"/>
              </a:ext>
            </a:extLst>
          </p:cNvPr>
          <p:cNvGrpSpPr/>
          <p:nvPr/>
        </p:nvGrpSpPr>
        <p:grpSpPr>
          <a:xfrm>
            <a:off x="7655287" y="3412159"/>
            <a:ext cx="4386653" cy="756927"/>
            <a:chOff x="7614613" y="5950488"/>
            <a:chExt cx="4386653" cy="756927"/>
          </a:xfrm>
        </p:grpSpPr>
        <p:sp>
          <p:nvSpPr>
            <p:cNvPr id="3140" name="Rectangle: Rounded Corners 35">
              <a:extLst>
                <a:ext uri="{FF2B5EF4-FFF2-40B4-BE49-F238E27FC236}">
                  <a16:creationId xmlns:a16="http://schemas.microsoft.com/office/drawing/2014/main" id="{64B22182-CEE8-115D-846D-86574D86A942}"/>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 局部性原理</a:t>
              </a:r>
              <a:endParaRPr lang="en-US" sz="1200" dirty="0">
                <a:solidFill>
                  <a:schemeClr val="bg1"/>
                </a:solidFill>
              </a:endParaRPr>
            </a:p>
          </p:txBody>
        </p:sp>
        <p:sp>
          <p:nvSpPr>
            <p:cNvPr id="3141" name="TextBox 36">
              <a:extLst>
                <a:ext uri="{FF2B5EF4-FFF2-40B4-BE49-F238E27FC236}">
                  <a16:creationId xmlns:a16="http://schemas.microsoft.com/office/drawing/2014/main" id="{E8D42977-30BB-AFE3-0628-FFDAF578F1D4}"/>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时间局限性：循环操作</a:t>
              </a:r>
              <a:r>
                <a:rPr lang="en-US" altLang="zh-CN" sz="1200" dirty="0">
                  <a:solidFill>
                    <a:schemeClr val="accent1"/>
                  </a:solidFill>
                  <a:latin typeface="ui-monospace"/>
                </a:rPr>
                <a:t>/</a:t>
              </a:r>
              <a:r>
                <a:rPr lang="zh-CN" altLang="en-US" sz="1200" dirty="0">
                  <a:solidFill>
                    <a:schemeClr val="accent1"/>
                  </a:solidFill>
                  <a:latin typeface="ui-monospace"/>
                </a:rPr>
                <a:t>空间局限性：顺序存储</a:t>
              </a:r>
              <a:endParaRPr lang="en-US" altLang="zh-CN" sz="1200" dirty="0">
                <a:solidFill>
                  <a:schemeClr val="accent1"/>
                </a:solidFill>
                <a:latin typeface="ui-monospace"/>
              </a:endParaRPr>
            </a:p>
            <a:p>
              <a:r>
                <a:rPr lang="zh-CN" altLang="en-US" sz="1200" dirty="0">
                  <a:solidFill>
                    <a:schemeClr val="accent1"/>
                  </a:solidFill>
                  <a:latin typeface="ui-monospace"/>
                </a:rPr>
                <a:t>只可</a:t>
              </a:r>
              <a:r>
                <a:rPr lang="zh-CN" altLang="en-US" sz="1200" b="1" dirty="0">
                  <a:solidFill>
                    <a:schemeClr val="accent1"/>
                  </a:solidFill>
                  <a:latin typeface="ui-monospace"/>
                </a:rPr>
                <a:t>淘汰</a:t>
              </a:r>
              <a:r>
                <a:rPr lang="zh-CN" altLang="en-US" sz="1200" dirty="0">
                  <a:solidFill>
                    <a:schemeClr val="accent1"/>
                  </a:solidFill>
                  <a:latin typeface="ui-monospace"/>
                </a:rPr>
                <a:t>在内存中</a:t>
              </a:r>
              <a:r>
                <a:rPr lang="en-US" altLang="zh-CN" sz="1200" dirty="0">
                  <a:solidFill>
                    <a:schemeClr val="accent1"/>
                  </a:solidFill>
                  <a:latin typeface="ui-monospace"/>
                </a:rPr>
                <a:t>1</a:t>
              </a:r>
              <a:r>
                <a:rPr lang="zh-CN" altLang="en-US" sz="1200" dirty="0">
                  <a:solidFill>
                    <a:schemeClr val="accent1"/>
                  </a:solidFill>
                  <a:latin typeface="ui-monospace"/>
                </a:rPr>
                <a:t>，先淘汰未访问过的</a:t>
              </a:r>
              <a:r>
                <a:rPr lang="en-US" altLang="zh-CN" sz="1200" dirty="0">
                  <a:solidFill>
                    <a:schemeClr val="accent1"/>
                  </a:solidFill>
                  <a:latin typeface="ui-monospace"/>
                </a:rPr>
                <a:t>0</a:t>
              </a:r>
              <a:r>
                <a:rPr lang="zh-CN" altLang="en-US" sz="1200" dirty="0">
                  <a:solidFill>
                    <a:schemeClr val="accent1"/>
                  </a:solidFill>
                  <a:latin typeface="ui-monospace"/>
                </a:rPr>
                <a:t>再淘汰未修改过的</a:t>
              </a:r>
              <a:r>
                <a:rPr lang="en-US" altLang="zh-CN" sz="1200" dirty="0">
                  <a:solidFill>
                    <a:schemeClr val="accent1"/>
                  </a:solidFill>
                  <a:latin typeface="ui-monospace"/>
                </a:rPr>
                <a:t>0</a:t>
              </a:r>
            </a:p>
          </p:txBody>
        </p:sp>
      </p:grpSp>
      <p:grpSp>
        <p:nvGrpSpPr>
          <p:cNvPr id="3142" name="Group 25">
            <a:extLst>
              <a:ext uri="{FF2B5EF4-FFF2-40B4-BE49-F238E27FC236}">
                <a16:creationId xmlns:a16="http://schemas.microsoft.com/office/drawing/2014/main" id="{EF712790-8722-D7DC-54DA-F6A1F66F9FEF}"/>
              </a:ext>
            </a:extLst>
          </p:cNvPr>
          <p:cNvGrpSpPr/>
          <p:nvPr/>
        </p:nvGrpSpPr>
        <p:grpSpPr>
          <a:xfrm>
            <a:off x="7655286" y="4146362"/>
            <a:ext cx="4386653" cy="2234254"/>
            <a:chOff x="7614613" y="5950488"/>
            <a:chExt cx="4386653" cy="2234254"/>
          </a:xfrm>
        </p:grpSpPr>
        <p:sp>
          <p:nvSpPr>
            <p:cNvPr id="3143" name="Rectangle: Rounded Corners 35">
              <a:extLst>
                <a:ext uri="{FF2B5EF4-FFF2-40B4-BE49-F238E27FC236}">
                  <a16:creationId xmlns:a16="http://schemas.microsoft.com/office/drawing/2014/main" id="{85D205F6-D7A7-B8F4-EE45-1378C2620BB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 存储管理</a:t>
              </a:r>
              <a:endParaRPr lang="en-US" sz="1200" dirty="0">
                <a:solidFill>
                  <a:schemeClr val="bg1"/>
                </a:solidFill>
              </a:endParaRPr>
            </a:p>
          </p:txBody>
        </p:sp>
        <mc:AlternateContent xmlns:mc="http://schemas.openxmlformats.org/markup-compatibility/2006" xmlns:a14="http://schemas.microsoft.com/office/drawing/2010/main">
          <mc:Choice Requires="a14">
            <p:sp>
              <p:nvSpPr>
                <p:cNvPr id="3144" name="TextBox 36">
                  <a:extLst>
                    <a:ext uri="{FF2B5EF4-FFF2-40B4-BE49-F238E27FC236}">
                      <a16:creationId xmlns:a16="http://schemas.microsoft.com/office/drawing/2014/main" id="{5E62F41B-E133-F730-224A-472B8CE1E99B}"/>
                    </a:ext>
                  </a:extLst>
                </p:cNvPr>
                <p:cNvSpPr txBox="1"/>
                <p:nvPr/>
              </p:nvSpPr>
              <p:spPr>
                <a:xfrm>
                  <a:off x="7667294" y="6245750"/>
                  <a:ext cx="4281578" cy="1938992"/>
                </a:xfrm>
                <a:prstGeom prst="rect">
                  <a:avLst/>
                </a:prstGeom>
                <a:noFill/>
              </p:spPr>
              <p:txBody>
                <a:bodyPr wrap="square">
                  <a:spAutoFit/>
                </a:bodyPr>
                <a:lstStyle/>
                <a:p>
                  <a:r>
                    <a:rPr lang="zh-CN" altLang="en-US" sz="1200" dirty="0">
                      <a:solidFill>
                        <a:schemeClr val="accent1"/>
                      </a:solidFill>
                      <a:latin typeface="ui-monospace"/>
                    </a:rPr>
                    <a:t>分区管理</a:t>
                  </a:r>
                  <a:r>
                    <a:rPr lang="en-US" altLang="zh-CN" sz="1200" dirty="0">
                      <a:solidFill>
                        <a:schemeClr val="accent1"/>
                      </a:solidFill>
                      <a:latin typeface="ui-monospace"/>
                    </a:rPr>
                    <a:t>/</a:t>
                  </a:r>
                  <a:r>
                    <a:rPr lang="zh-CN" altLang="en-US" sz="1200" dirty="0">
                      <a:solidFill>
                        <a:schemeClr val="accent1"/>
                      </a:solidFill>
                      <a:latin typeface="ui-monospace"/>
                    </a:rPr>
                    <a:t>页式管理</a:t>
                  </a:r>
                  <a:endParaRPr lang="en-US" altLang="zh-CN" sz="1200" dirty="0">
                    <a:solidFill>
                      <a:schemeClr val="accent1"/>
                    </a:solidFill>
                    <a:latin typeface="ui-monospace"/>
                  </a:endParaRPr>
                </a:p>
                <a:p>
                  <a:r>
                    <a:rPr lang="zh-CN" altLang="en-US" sz="1200" dirty="0">
                      <a:solidFill>
                        <a:schemeClr val="accent1"/>
                      </a:solidFill>
                      <a:latin typeface="ui-monospace"/>
                    </a:rPr>
                    <a:t>分页存储管理：</a:t>
                  </a:r>
                  <a:endParaRPr lang="en-US" altLang="zh-CN" sz="1200" dirty="0">
                    <a:solidFill>
                      <a:schemeClr val="accent1"/>
                    </a:solidFill>
                    <a:latin typeface="ui-monospace"/>
                  </a:endParaRPr>
                </a:p>
                <a:p>
                  <a:r>
                    <a:rPr lang="zh-CN" altLang="en-US" sz="1200" dirty="0">
                      <a:solidFill>
                        <a:schemeClr val="accent1"/>
                      </a:solidFill>
                      <a:latin typeface="ui-monospace"/>
                    </a:rPr>
                    <a:t>地址结构：页号</a:t>
                  </a:r>
                  <a:r>
                    <a:rPr lang="en-US" altLang="zh-CN" sz="1200" dirty="0">
                      <a:solidFill>
                        <a:schemeClr val="accent1"/>
                      </a:solidFill>
                      <a:latin typeface="ui-monospace"/>
                    </a:rPr>
                    <a:t>+</a:t>
                  </a:r>
                  <a:r>
                    <a:rPr lang="zh-CN" altLang="en-US" sz="1200" dirty="0">
                      <a:solidFill>
                        <a:schemeClr val="accent1"/>
                      </a:solidFill>
                      <a:latin typeface="ui-monospace"/>
                    </a:rPr>
                    <a:t>页内地址</a:t>
                  </a:r>
                  <a:r>
                    <a:rPr lang="en-US" altLang="zh-CN" sz="1200" dirty="0">
                      <a:solidFill>
                        <a:schemeClr val="accent1"/>
                      </a:solidFill>
                      <a:latin typeface="ui-monospace"/>
                    </a:rPr>
                    <a:t>(4K)</a:t>
                  </a:r>
                </a:p>
                <a:p>
                  <a:r>
                    <a:rPr lang="zh-CN" altLang="en-US" sz="1200" b="1" dirty="0">
                      <a:solidFill>
                        <a:schemeClr val="accent1"/>
                      </a:solidFill>
                      <a:latin typeface="ui-monospace"/>
                    </a:rPr>
                    <a:t>页面变换表</a:t>
                  </a:r>
                  <a:r>
                    <a:rPr lang="zh-CN" altLang="en-US" sz="1200" dirty="0">
                      <a:solidFill>
                        <a:schemeClr val="accent1"/>
                      </a:solidFill>
                      <a:latin typeface="ui-monospace"/>
                    </a:rPr>
                    <a:t>：页号</a:t>
                  </a:r>
                  <a:r>
                    <a:rPr lang="en-US" altLang="zh-CN" sz="1200" dirty="0">
                      <a:solidFill>
                        <a:schemeClr val="accent1"/>
                      </a:solidFill>
                      <a:latin typeface="ui-monospace"/>
                      <a:sym typeface="Wingdings" panose="05000000000000000000" pitchFamily="2" charset="2"/>
                    </a:rPr>
                    <a:t></a:t>
                  </a:r>
                  <a:r>
                    <a:rPr lang="zh-CN" altLang="en-US" sz="1200" dirty="0">
                      <a:solidFill>
                        <a:schemeClr val="accent1"/>
                      </a:solidFill>
                      <a:latin typeface="ui-monospace"/>
                    </a:rPr>
                    <a:t>物理块号</a:t>
                  </a:r>
                  <a:r>
                    <a:rPr lang="en-US" altLang="zh-CN" sz="1200" dirty="0">
                      <a:solidFill>
                        <a:schemeClr val="accent1"/>
                      </a:solidFill>
                      <a:latin typeface="ui-monospace"/>
                    </a:rPr>
                    <a:t>(</a:t>
                  </a:r>
                  <a:r>
                    <a:rPr lang="zh-CN" altLang="en-US" sz="1200" dirty="0">
                      <a:solidFill>
                        <a:schemeClr val="accent1"/>
                      </a:solidFill>
                      <a:latin typeface="ui-monospace"/>
                    </a:rPr>
                    <a:t>页帧号</a:t>
                  </a:r>
                  <a:r>
                    <a:rPr lang="en-US" altLang="zh-CN" sz="1200" dirty="0">
                      <a:solidFill>
                        <a:schemeClr val="accent1"/>
                      </a:solidFill>
                      <a:latin typeface="ui-monospace"/>
                    </a:rPr>
                    <a:t>)</a:t>
                  </a:r>
                </a:p>
                <a:p>
                  <a:r>
                    <a:rPr lang="zh-CN" altLang="en-US" sz="1200" dirty="0">
                      <a:solidFill>
                        <a:schemeClr val="accent1"/>
                      </a:solidFill>
                      <a:latin typeface="ui-monospace"/>
                    </a:rPr>
                    <a:t>逻辑地址转换物理地址</a:t>
                  </a:r>
                  <a:endParaRPr lang="en-US" altLang="zh-CN" sz="1200" dirty="0">
                    <a:solidFill>
                      <a:schemeClr val="accent1"/>
                    </a:solidFill>
                    <a:latin typeface="ui-monospace"/>
                  </a:endParaRPr>
                </a:p>
                <a:p>
                  <a:r>
                    <a:rPr lang="zh-CN" altLang="en-US" sz="1200" dirty="0">
                      <a:solidFill>
                        <a:schemeClr val="accent1"/>
                      </a:solidFill>
                      <a:latin typeface="ui-monospace"/>
                    </a:rPr>
                    <a:t>十六进制</a:t>
                  </a:r>
                  <a:r>
                    <a:rPr lang="en-US" altLang="zh-CN" sz="1200" dirty="0">
                      <a:solidFill>
                        <a:schemeClr val="accent1"/>
                      </a:solidFill>
                      <a:latin typeface="ui-monospace"/>
                    </a:rPr>
                    <a:t>1C20H=&gt;</a:t>
                  </a:r>
                  <a:r>
                    <a:rPr lang="zh-CN" altLang="en-US" sz="1200" dirty="0">
                      <a:solidFill>
                        <a:schemeClr val="accent1"/>
                      </a:solidFill>
                      <a:latin typeface="ui-monospace"/>
                    </a:rPr>
                    <a:t>页号</a:t>
                  </a:r>
                  <a:r>
                    <a:rPr lang="en-US" altLang="zh-CN" sz="1200" dirty="0">
                      <a:solidFill>
                        <a:schemeClr val="accent1"/>
                      </a:solidFill>
                      <a:latin typeface="ui-monospace"/>
                    </a:rPr>
                    <a:t>1+</a:t>
                  </a:r>
                  <a:r>
                    <a:rPr lang="zh-CN" altLang="en-US" sz="1200" dirty="0">
                      <a:solidFill>
                        <a:schemeClr val="accent1"/>
                      </a:solidFill>
                      <a:latin typeface="ui-monospace"/>
                    </a:rPr>
                    <a:t>页内地址</a:t>
                  </a:r>
                  <a:r>
                    <a:rPr lang="en-US" altLang="zh-CN" sz="1200" dirty="0">
                      <a:solidFill>
                        <a:schemeClr val="accent1"/>
                      </a:solidFill>
                      <a:latin typeface="ui-monospace"/>
                    </a:rPr>
                    <a:t>C20(12</a:t>
                  </a:r>
                  <a:r>
                    <a:rPr lang="zh-CN" altLang="en-US" sz="1200" dirty="0">
                      <a:solidFill>
                        <a:schemeClr val="accent1"/>
                      </a:solidFill>
                      <a:latin typeface="ui-monospace"/>
                    </a:rPr>
                    <a:t>位</a:t>
                  </a:r>
                  <a:r>
                    <a:rPr lang="en-US" altLang="zh-CN" sz="1200" dirty="0">
                      <a:solidFill>
                        <a:schemeClr val="accent1"/>
                      </a:solidFill>
                      <a:latin typeface="ui-monospace"/>
                    </a:rPr>
                    <a:t>)=&gt;</a:t>
                  </a:r>
                  <a:r>
                    <a:rPr lang="zh-CN" altLang="en-US" sz="1200" dirty="0">
                      <a:solidFill>
                        <a:schemeClr val="accent1"/>
                      </a:solidFill>
                      <a:latin typeface="ui-monospace"/>
                    </a:rPr>
                    <a:t>物理块号</a:t>
                  </a:r>
                  <a:r>
                    <a:rPr lang="en-US" altLang="zh-CN" sz="1200" dirty="0">
                      <a:solidFill>
                        <a:schemeClr val="accent1"/>
                      </a:solidFill>
                      <a:latin typeface="ui-monospace"/>
                    </a:rPr>
                    <a:t>3+C20</a:t>
                  </a:r>
                </a:p>
                <a:p>
                  <a:r>
                    <a:rPr lang="zh-CN" altLang="en-US" sz="1200" dirty="0">
                      <a:solidFill>
                        <a:schemeClr val="accent1"/>
                      </a:solidFill>
                      <a:latin typeface="ui-monospace"/>
                    </a:rPr>
                    <a:t>段式存储管理：段号</a:t>
                  </a:r>
                  <a:r>
                    <a:rPr lang="en-US" altLang="zh-CN" sz="1200" dirty="0">
                      <a:solidFill>
                        <a:schemeClr val="accent1"/>
                      </a:solidFill>
                      <a:latin typeface="ui-monospace"/>
                    </a:rPr>
                    <a:t>+</a:t>
                  </a:r>
                  <a:r>
                    <a:rPr lang="zh-CN" altLang="en-US" sz="1200" dirty="0">
                      <a:solidFill>
                        <a:schemeClr val="accent1"/>
                      </a:solidFill>
                      <a:latin typeface="ui-monospace"/>
                    </a:rPr>
                    <a:t>基地址</a:t>
                  </a:r>
                  <a:r>
                    <a:rPr lang="en-US" altLang="zh-CN" sz="1200" dirty="0">
                      <a:solidFill>
                        <a:schemeClr val="accent1"/>
                      </a:solidFill>
                      <a:latin typeface="ui-monospace"/>
                    </a:rPr>
                    <a:t>+</a:t>
                  </a:r>
                  <a:r>
                    <a:rPr lang="zh-CN" altLang="en-US" sz="1200" dirty="0">
                      <a:solidFill>
                        <a:schemeClr val="accent1"/>
                      </a:solidFill>
                      <a:latin typeface="ui-monospace"/>
                    </a:rPr>
                    <a:t>段长</a:t>
                  </a:r>
                  <a:endParaRPr lang="en-US" altLang="zh-CN" sz="1200" dirty="0">
                    <a:solidFill>
                      <a:schemeClr val="accent1"/>
                    </a:solidFill>
                    <a:latin typeface="ui-monospace"/>
                  </a:endParaRPr>
                </a:p>
                <a:p>
                  <a:r>
                    <a:rPr lang="zh-CN" altLang="en-US" sz="1200" b="1" dirty="0">
                      <a:solidFill>
                        <a:schemeClr val="accent1"/>
                      </a:solidFill>
                      <a:latin typeface="ui-monospace"/>
                    </a:rPr>
                    <a:t>段页式存储管理：</a:t>
                  </a:r>
                  <a:endParaRPr lang="en-US" altLang="zh-CN" sz="1200" b="1" dirty="0">
                    <a:solidFill>
                      <a:schemeClr val="accent1"/>
                    </a:solidFill>
                    <a:latin typeface="ui-monospace"/>
                  </a:endParaRPr>
                </a:p>
                <a:p>
                  <a:r>
                    <a:rPr lang="zh-CN" altLang="en-US" sz="1200" dirty="0">
                      <a:solidFill>
                        <a:schemeClr val="accent1"/>
                      </a:solidFill>
                      <a:latin typeface="ui-monospace"/>
                    </a:rPr>
                    <a:t>地址结构：段号</a:t>
                  </a:r>
                  <a:r>
                    <a:rPr lang="en-US" altLang="zh-CN" sz="1200" dirty="0">
                      <a:solidFill>
                        <a:schemeClr val="accent1"/>
                      </a:solidFill>
                      <a:latin typeface="ui-monospace"/>
                    </a:rPr>
                    <a:t>s+</a:t>
                  </a:r>
                  <a:r>
                    <a:rPr lang="zh-CN" altLang="en-US" sz="1200" dirty="0">
                      <a:solidFill>
                        <a:schemeClr val="accent1"/>
                      </a:solidFill>
                      <a:latin typeface="ui-monospace"/>
                    </a:rPr>
                    <a:t>段内页号</a:t>
                  </a:r>
                  <a:r>
                    <a:rPr lang="en-US" altLang="zh-CN" sz="1200" dirty="0">
                      <a:solidFill>
                        <a:schemeClr val="accent1"/>
                      </a:solidFill>
                      <a:latin typeface="ui-monospace"/>
                    </a:rPr>
                    <a:t>p+</a:t>
                  </a:r>
                  <a:r>
                    <a:rPr lang="zh-CN" altLang="en-US" sz="1200" dirty="0">
                      <a:solidFill>
                        <a:schemeClr val="accent1"/>
                      </a:solidFill>
                      <a:latin typeface="ui-monospace"/>
                    </a:rPr>
                    <a:t>页内地址</a:t>
                  </a:r>
                  <a:r>
                    <a:rPr lang="en-US" altLang="zh-CN" sz="1200" dirty="0">
                      <a:solidFill>
                        <a:schemeClr val="accent1"/>
                      </a:solidFill>
                      <a:latin typeface="ui-monospace"/>
                    </a:rPr>
                    <a:t>w</a:t>
                  </a:r>
                </a:p>
                <a:p>
                  <a:r>
                    <a:rPr lang="zh-CN" altLang="en-US" sz="1200" dirty="0">
                      <a:solidFill>
                        <a:schemeClr val="accent1"/>
                      </a:solidFill>
                      <a:latin typeface="ui-monospace"/>
                    </a:rPr>
                    <a:t>最多有</a:t>
                  </a:r>
                  <a14:m>
                    <m:oMath xmlns:m="http://schemas.openxmlformats.org/officeDocument/2006/math">
                      <m:sSup>
                        <m:sSupPr>
                          <m:ctrlPr>
                            <a:rPr lang="en-US" altLang="zh-CN" sz="1200" i="1" smtClean="0">
                              <a:solidFill>
                                <a:schemeClr val="accent1"/>
                              </a:solidFill>
                              <a:latin typeface="Cambria Math" panose="02040503050406030204" pitchFamily="18" charset="0"/>
                            </a:rPr>
                          </m:ctrlPr>
                        </m:sSupPr>
                        <m:e>
                          <m:r>
                            <a:rPr lang="en-US" altLang="zh-CN" sz="1200" b="0" i="1" smtClean="0">
                              <a:solidFill>
                                <a:schemeClr val="accent1"/>
                              </a:solidFill>
                              <a:latin typeface="Cambria Math" panose="02040503050406030204" pitchFamily="18" charset="0"/>
                            </a:rPr>
                            <m:t>2</m:t>
                          </m:r>
                        </m:e>
                        <m:sup>
                          <m:r>
                            <a:rPr lang="en-US" altLang="zh-CN" sz="1200" b="0" i="1" smtClean="0">
                              <a:solidFill>
                                <a:schemeClr val="accent1"/>
                              </a:solidFill>
                              <a:latin typeface="Cambria Math" panose="02040503050406030204" pitchFamily="18" charset="0"/>
                            </a:rPr>
                            <m:t>𝑠</m:t>
                          </m:r>
                        </m:sup>
                      </m:sSup>
                    </m:oMath>
                  </a14:m>
                  <a:r>
                    <a:rPr lang="zh-CN" altLang="en-US" sz="1200" dirty="0">
                      <a:solidFill>
                        <a:schemeClr val="accent1"/>
                      </a:solidFill>
                      <a:latin typeface="ui-monospace"/>
                    </a:rPr>
                    <a:t>段，每个段</a:t>
                  </a:r>
                  <a:r>
                    <a:rPr lang="zh-CN" altLang="en-US" sz="1200" b="1" dirty="0">
                      <a:solidFill>
                        <a:schemeClr val="accent1"/>
                      </a:solidFill>
                      <a:latin typeface="ui-monospace"/>
                    </a:rPr>
                    <a:t>最大</a:t>
                  </a:r>
                  <a:r>
                    <a:rPr lang="zh-CN" altLang="en-US" sz="1200" dirty="0">
                      <a:solidFill>
                        <a:schemeClr val="accent1"/>
                      </a:solidFill>
                      <a:latin typeface="ui-monospace"/>
                    </a:rPr>
                    <a:t>允许有</a:t>
                  </a:r>
                  <a14:m>
                    <m:oMath xmlns:m="http://schemas.openxmlformats.org/officeDocument/2006/math">
                      <m:sSup>
                        <m:sSupPr>
                          <m:ctrlPr>
                            <a:rPr lang="en-US" altLang="zh-CN" sz="1200" i="1">
                              <a:solidFill>
                                <a:schemeClr val="accent1"/>
                              </a:solidFill>
                              <a:latin typeface="Cambria Math" panose="02040503050406030204" pitchFamily="18" charset="0"/>
                            </a:rPr>
                          </m:ctrlPr>
                        </m:sSupPr>
                        <m:e>
                          <m:r>
                            <a:rPr lang="en-US" altLang="zh-CN" sz="1200" i="1">
                              <a:solidFill>
                                <a:schemeClr val="accent1"/>
                              </a:solidFill>
                              <a:latin typeface="Cambria Math" panose="02040503050406030204" pitchFamily="18" charset="0"/>
                            </a:rPr>
                            <m:t>2</m:t>
                          </m:r>
                        </m:e>
                        <m:sup>
                          <m:r>
                            <a:rPr lang="en-US" altLang="zh-CN" sz="1200" b="0" i="1" smtClean="0">
                              <a:solidFill>
                                <a:schemeClr val="accent1"/>
                              </a:solidFill>
                              <a:latin typeface="Cambria Math" panose="02040503050406030204" pitchFamily="18" charset="0"/>
                            </a:rPr>
                            <m:t>𝑝</m:t>
                          </m:r>
                        </m:sup>
                      </m:sSup>
                    </m:oMath>
                  </a14:m>
                  <a:r>
                    <a:rPr lang="zh-CN" altLang="en-US" sz="1200" dirty="0">
                      <a:solidFill>
                        <a:schemeClr val="accent1"/>
                      </a:solidFill>
                      <a:latin typeface="ui-monospace"/>
                    </a:rPr>
                    <a:t>页，页的大小为</a:t>
                  </a:r>
                  <a:r>
                    <a:rPr lang="en-US" altLang="zh-CN" sz="1200" dirty="0">
                      <a:solidFill>
                        <a:schemeClr val="accent1"/>
                      </a:solidFill>
                      <a:latin typeface="ui-monospace"/>
                    </a:rPr>
                    <a:t>4K(</a:t>
                  </a:r>
                  <a14:m>
                    <m:oMath xmlns:m="http://schemas.openxmlformats.org/officeDocument/2006/math">
                      <m:sSup>
                        <m:sSupPr>
                          <m:ctrlPr>
                            <a:rPr lang="en-US" altLang="zh-CN" sz="1200" i="1">
                              <a:solidFill>
                                <a:schemeClr val="accent1"/>
                              </a:solidFill>
                              <a:latin typeface="Cambria Math" panose="02040503050406030204" pitchFamily="18" charset="0"/>
                            </a:rPr>
                          </m:ctrlPr>
                        </m:sSupPr>
                        <m:e>
                          <m:r>
                            <a:rPr lang="en-US" altLang="zh-CN" sz="1200" i="1">
                              <a:solidFill>
                                <a:schemeClr val="accent1"/>
                              </a:solidFill>
                              <a:latin typeface="Cambria Math" panose="02040503050406030204" pitchFamily="18" charset="0"/>
                            </a:rPr>
                            <m:t>2</m:t>
                          </m:r>
                        </m:e>
                        <m:sup>
                          <m:r>
                            <a:rPr lang="en-US" altLang="zh-CN" sz="1200" i="1">
                              <a:solidFill>
                                <a:schemeClr val="accent1"/>
                              </a:solidFill>
                              <a:latin typeface="Cambria Math" panose="02040503050406030204" pitchFamily="18" charset="0"/>
                            </a:rPr>
                            <m:t>2</m:t>
                          </m:r>
                        </m:sup>
                      </m:sSup>
                    </m:oMath>
                  </a14:m>
                  <a:r>
                    <a:rPr lang="en-US" altLang="zh-CN" sz="1200" dirty="0">
                      <a:solidFill>
                        <a:schemeClr val="accent1"/>
                      </a:solidFill>
                      <a:latin typeface="ui-monospace"/>
                    </a:rPr>
                    <a:t>*</a:t>
                  </a:r>
                  <a:r>
                    <a:rPr lang="en-US" altLang="zh-CN" sz="1200" dirty="0">
                      <a:solidFill>
                        <a:schemeClr val="accent1"/>
                      </a:solidFill>
                    </a:rPr>
                    <a:t> </a:t>
                  </a:r>
                  <a14:m>
                    <m:oMath xmlns:m="http://schemas.openxmlformats.org/officeDocument/2006/math">
                      <m:sSup>
                        <m:sSupPr>
                          <m:ctrlPr>
                            <a:rPr lang="en-US" altLang="zh-CN" sz="1200" i="1">
                              <a:solidFill>
                                <a:schemeClr val="accent1"/>
                              </a:solidFill>
                              <a:latin typeface="Cambria Math" panose="02040503050406030204" pitchFamily="18" charset="0"/>
                            </a:rPr>
                          </m:ctrlPr>
                        </m:sSupPr>
                        <m:e>
                          <m:r>
                            <a:rPr lang="en-US" altLang="zh-CN" sz="1200" i="1">
                              <a:solidFill>
                                <a:schemeClr val="accent1"/>
                              </a:solidFill>
                              <a:latin typeface="Cambria Math" panose="02040503050406030204" pitchFamily="18" charset="0"/>
                            </a:rPr>
                            <m:t>2</m:t>
                          </m:r>
                        </m:e>
                        <m:sup>
                          <m:r>
                            <a:rPr lang="en-US" altLang="zh-CN" sz="1200" i="1">
                              <a:solidFill>
                                <a:schemeClr val="accent1"/>
                              </a:solidFill>
                              <a:latin typeface="Cambria Math" panose="02040503050406030204" pitchFamily="18" charset="0"/>
                            </a:rPr>
                            <m:t>10</m:t>
                          </m:r>
                        </m:sup>
                      </m:sSup>
                    </m:oMath>
                  </a14:m>
                  <a:r>
                    <a:rPr lang="en-US" altLang="zh-CN" sz="1200" dirty="0">
                      <a:solidFill>
                        <a:schemeClr val="accent1"/>
                      </a:solidFill>
                      <a:latin typeface="ui-monospace"/>
                    </a:rPr>
                    <a:t>)</a:t>
                  </a:r>
                </a:p>
              </p:txBody>
            </p:sp>
          </mc:Choice>
          <mc:Fallback xmlns="">
            <p:sp>
              <p:nvSpPr>
                <p:cNvPr id="3144" name="TextBox 36">
                  <a:extLst>
                    <a:ext uri="{FF2B5EF4-FFF2-40B4-BE49-F238E27FC236}">
                      <a16:creationId xmlns:a16="http://schemas.microsoft.com/office/drawing/2014/main" id="{5E62F41B-E133-F730-224A-472B8CE1E99B}"/>
                    </a:ext>
                  </a:extLst>
                </p:cNvPr>
                <p:cNvSpPr txBox="1">
                  <a:spLocks noRot="1" noChangeAspect="1" noMove="1" noResize="1" noEditPoints="1" noAdjustHandles="1" noChangeArrowheads="1" noChangeShapeType="1" noTextEdit="1"/>
                </p:cNvSpPr>
                <p:nvPr/>
              </p:nvSpPr>
              <p:spPr>
                <a:xfrm>
                  <a:off x="7667294" y="6245750"/>
                  <a:ext cx="4281578" cy="1938992"/>
                </a:xfrm>
                <a:prstGeom prst="rect">
                  <a:avLst/>
                </a:prstGeom>
                <a:blipFill>
                  <a:blip r:embed="rId7"/>
                  <a:stretch>
                    <a:fillRect t="-314" b="-1887"/>
                  </a:stretch>
                </a:blipFill>
              </p:spPr>
              <p:txBody>
                <a:bodyPr/>
                <a:lstStyle/>
                <a:p>
                  <a:r>
                    <a:rPr lang="en-US">
                      <a:noFill/>
                    </a:rPr>
                    <a:t> </a:t>
                  </a:r>
                </a:p>
              </p:txBody>
            </p:sp>
          </mc:Fallback>
        </mc:AlternateContent>
      </p:grpSp>
      <p:pic>
        <p:nvPicPr>
          <p:cNvPr id="3393" name="Picture 3392">
            <a:extLst>
              <a:ext uri="{FF2B5EF4-FFF2-40B4-BE49-F238E27FC236}">
                <a16:creationId xmlns:a16="http://schemas.microsoft.com/office/drawing/2014/main" id="{9C32176F-A2F3-C704-7B62-F26B875012F7}"/>
              </a:ext>
            </a:extLst>
          </p:cNvPr>
          <p:cNvPicPr>
            <a:picLocks noChangeAspect="1"/>
          </p:cNvPicPr>
          <p:nvPr/>
        </p:nvPicPr>
        <p:blipFill>
          <a:blip r:embed="rId8"/>
          <a:stretch>
            <a:fillRect/>
          </a:stretch>
        </p:blipFill>
        <p:spPr>
          <a:xfrm>
            <a:off x="8801100" y="6371851"/>
            <a:ext cx="3188444" cy="374874"/>
          </a:xfrm>
          <a:prstGeom prst="rect">
            <a:avLst/>
          </a:prstGeom>
        </p:spPr>
      </p:pic>
    </p:spTree>
    <p:extLst>
      <p:ext uri="{BB962C8B-B14F-4D97-AF65-F5344CB8AC3E}">
        <p14:creationId xmlns:p14="http://schemas.microsoft.com/office/powerpoint/2010/main" val="37640433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60098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操作系统</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进程管理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存储管理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设备管理</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文件管理</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作业管理</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4386653" cy="1864922"/>
            <a:chOff x="7614613" y="5950488"/>
            <a:chExt cx="4386653" cy="1864922"/>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▶缓冲区</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4281578" cy="1569660"/>
            </a:xfrm>
            <a:prstGeom prst="rect">
              <a:avLst/>
            </a:prstGeom>
            <a:noFill/>
          </p:spPr>
          <p:txBody>
            <a:bodyPr wrap="square">
              <a:spAutoFit/>
            </a:bodyPr>
            <a:lstStyle/>
            <a:p>
              <a:r>
                <a:rPr lang="zh-CN" altLang="en-US" sz="1200" dirty="0">
                  <a:solidFill>
                    <a:schemeClr val="accent1"/>
                  </a:solidFill>
                  <a:latin typeface="ui-monospace"/>
                </a:rPr>
                <a:t>单缓冲区：输入</a:t>
              </a:r>
              <a:r>
                <a:rPr lang="en-US" altLang="zh-CN" sz="1200" dirty="0">
                  <a:solidFill>
                    <a:schemeClr val="accent1"/>
                  </a:solidFill>
                  <a:latin typeface="ui-monospace"/>
                </a:rPr>
                <a:t>T&gt;</a:t>
              </a:r>
              <a:r>
                <a:rPr lang="zh-CN" altLang="en-US" sz="1200" dirty="0">
                  <a:solidFill>
                    <a:schemeClr val="accent1"/>
                  </a:solidFill>
                  <a:latin typeface="ui-monospace"/>
                </a:rPr>
                <a:t>传送</a:t>
              </a:r>
              <a:r>
                <a:rPr lang="en-US" altLang="zh-CN" sz="1200" dirty="0">
                  <a:solidFill>
                    <a:schemeClr val="accent1"/>
                  </a:solidFill>
                  <a:latin typeface="ui-monospace"/>
                </a:rPr>
                <a:t>M&gt;</a:t>
              </a:r>
              <a:r>
                <a:rPr lang="zh-CN" altLang="en-US" sz="1200" dirty="0">
                  <a:solidFill>
                    <a:schemeClr val="accent1"/>
                  </a:solidFill>
                  <a:latin typeface="ui-monospace"/>
                </a:rPr>
                <a:t>处理</a:t>
              </a:r>
              <a:r>
                <a:rPr lang="en-US" altLang="zh-CN" sz="1200" dirty="0">
                  <a:solidFill>
                    <a:schemeClr val="accent1"/>
                  </a:solidFill>
                  <a:latin typeface="ui-monospace"/>
                </a:rPr>
                <a:t>C</a:t>
              </a:r>
            </a:p>
            <a:p>
              <a:r>
                <a:rPr lang="en-US" altLang="zh-CN" sz="1200" dirty="0">
                  <a:solidFill>
                    <a:schemeClr val="accent1"/>
                  </a:solidFill>
                  <a:latin typeface="ui-monospace"/>
                </a:rPr>
                <a:t>(T+M)*(n-1)+(T+M+C)</a:t>
              </a: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r>
                <a:rPr lang="zh-CN" altLang="en-US" sz="1200" dirty="0">
                  <a:solidFill>
                    <a:schemeClr val="accent1"/>
                  </a:solidFill>
                  <a:latin typeface="ui-monospace"/>
                </a:rPr>
                <a:t>双缓冲区：输入</a:t>
              </a:r>
              <a:r>
                <a:rPr lang="en-US" altLang="zh-CN" sz="1200" dirty="0">
                  <a:solidFill>
                    <a:schemeClr val="accent1"/>
                  </a:solidFill>
                  <a:latin typeface="ui-monospace"/>
                </a:rPr>
                <a:t>T&gt;</a:t>
              </a:r>
              <a:r>
                <a:rPr lang="zh-CN" altLang="en-US" sz="1200" dirty="0">
                  <a:solidFill>
                    <a:schemeClr val="accent1"/>
                  </a:solidFill>
                  <a:latin typeface="ui-monospace"/>
                </a:rPr>
                <a:t>传送</a:t>
              </a:r>
              <a:r>
                <a:rPr lang="en-US" altLang="zh-CN" sz="1200" dirty="0">
                  <a:solidFill>
                    <a:schemeClr val="accent1"/>
                  </a:solidFill>
                  <a:latin typeface="ui-monospace"/>
                </a:rPr>
                <a:t>M1/M2&gt;</a:t>
              </a:r>
              <a:r>
                <a:rPr lang="zh-CN" altLang="en-US" sz="1200" dirty="0">
                  <a:solidFill>
                    <a:schemeClr val="accent1"/>
                  </a:solidFill>
                  <a:latin typeface="ui-monospace"/>
                </a:rPr>
                <a:t>处理</a:t>
              </a:r>
              <a:r>
                <a:rPr lang="en-US" altLang="zh-CN" sz="1200" dirty="0">
                  <a:solidFill>
                    <a:schemeClr val="accent1"/>
                  </a:solidFill>
                  <a:latin typeface="ui-monospace"/>
                </a:rPr>
                <a:t>C</a:t>
              </a:r>
            </a:p>
            <a:p>
              <a:r>
                <a:rPr lang="en-US" altLang="zh-CN" sz="1200" dirty="0">
                  <a:solidFill>
                    <a:schemeClr val="accent1"/>
                  </a:solidFill>
                  <a:latin typeface="ui-monospace"/>
                </a:rPr>
                <a:t>T*(n-1)+(T+M+C)</a:t>
              </a:r>
            </a:p>
            <a:p>
              <a:endParaRPr lang="en-US" altLang="zh-CN" sz="1200" dirty="0">
                <a:solidFill>
                  <a:schemeClr val="accent1"/>
                </a:solidFill>
                <a:latin typeface="ui-monospace"/>
              </a:endParaRPr>
            </a:p>
            <a:p>
              <a:endParaRPr lang="en-US" altLang="zh-CN" sz="1200" dirty="0">
                <a:solidFill>
                  <a:schemeClr val="accent1"/>
                </a:solidFill>
                <a:latin typeface="ui-monospace"/>
              </a:endParaRPr>
            </a:p>
          </p:txBody>
        </p:sp>
      </p:grpSp>
      <p:grpSp>
        <p:nvGrpSpPr>
          <p:cNvPr id="33" name="Group 25">
            <a:extLst>
              <a:ext uri="{FF2B5EF4-FFF2-40B4-BE49-F238E27FC236}">
                <a16:creationId xmlns:a16="http://schemas.microsoft.com/office/drawing/2014/main" id="{B8FA9490-77B4-E4EA-AA14-98492AF3D1D7}"/>
              </a:ext>
            </a:extLst>
          </p:cNvPr>
          <p:cNvGrpSpPr/>
          <p:nvPr/>
        </p:nvGrpSpPr>
        <p:grpSpPr>
          <a:xfrm>
            <a:off x="7655287" y="1585869"/>
            <a:ext cx="4386653" cy="1310925"/>
            <a:chOff x="7614613" y="5950488"/>
            <a:chExt cx="4386653" cy="1310925"/>
          </a:xfrm>
        </p:grpSpPr>
        <p:sp>
          <p:nvSpPr>
            <p:cNvPr id="34" name="Rectangle: Rounded Corners 35">
              <a:extLst>
                <a:ext uri="{FF2B5EF4-FFF2-40B4-BE49-F238E27FC236}">
                  <a16:creationId xmlns:a16="http://schemas.microsoft.com/office/drawing/2014/main" id="{9B0280EF-C067-9382-6455-DC4DFA9BABC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▶文件目录</a:t>
              </a:r>
              <a:endParaRPr lang="en-US" sz="1200" dirty="0">
                <a:solidFill>
                  <a:schemeClr val="bg1"/>
                </a:solidFill>
              </a:endParaRPr>
            </a:p>
          </p:txBody>
        </p:sp>
        <p:sp>
          <p:nvSpPr>
            <p:cNvPr id="35" name="TextBox 36">
              <a:extLst>
                <a:ext uri="{FF2B5EF4-FFF2-40B4-BE49-F238E27FC236}">
                  <a16:creationId xmlns:a16="http://schemas.microsoft.com/office/drawing/2014/main" id="{501076B1-418C-C120-5596-4155B0B6B970}"/>
                </a:ext>
              </a:extLst>
            </p:cNvPr>
            <p:cNvSpPr txBox="1"/>
            <p:nvPr/>
          </p:nvSpPr>
          <p:spPr>
            <a:xfrm>
              <a:off x="7667294" y="6245750"/>
              <a:ext cx="4281578" cy="1015663"/>
            </a:xfrm>
            <a:prstGeom prst="rect">
              <a:avLst/>
            </a:prstGeom>
            <a:noFill/>
          </p:spPr>
          <p:txBody>
            <a:bodyPr wrap="square">
              <a:spAutoFit/>
            </a:bodyPr>
            <a:lstStyle/>
            <a:p>
              <a:r>
                <a:rPr lang="zh-CN" altLang="en-US" sz="1200" dirty="0">
                  <a:solidFill>
                    <a:schemeClr val="accent1"/>
                  </a:solidFill>
                  <a:latin typeface="ui-monospace"/>
                </a:rPr>
                <a:t>文件控制块：基本信息类、存取控制信息类、使用信息类</a:t>
              </a:r>
              <a:endParaRPr lang="en-US" altLang="zh-CN" sz="1200" dirty="0">
                <a:solidFill>
                  <a:schemeClr val="accent1"/>
                </a:solidFill>
                <a:latin typeface="ui-monospace"/>
              </a:endParaRPr>
            </a:p>
            <a:p>
              <a:r>
                <a:rPr lang="zh-CN" altLang="en-US" sz="1200" dirty="0">
                  <a:solidFill>
                    <a:schemeClr val="accent1"/>
                  </a:solidFill>
                  <a:latin typeface="ui-monospace"/>
                </a:rPr>
                <a:t>文件目录：文件控制块的有序集合</a:t>
              </a:r>
              <a:endParaRPr lang="en-US" altLang="zh-CN" sz="1200" dirty="0">
                <a:solidFill>
                  <a:schemeClr val="accent1"/>
                </a:solidFill>
                <a:latin typeface="ui-monospace"/>
              </a:endParaRPr>
            </a:p>
            <a:p>
              <a:r>
                <a:rPr lang="zh-CN" altLang="en-US" sz="1200" dirty="0">
                  <a:solidFill>
                    <a:schemeClr val="accent1"/>
                  </a:solidFill>
                  <a:latin typeface="ui-monospace"/>
                </a:rPr>
                <a:t>目录文件对系统的影响较大</a:t>
              </a:r>
              <a:endParaRPr lang="en-US" altLang="zh-CN" sz="1200" dirty="0">
                <a:solidFill>
                  <a:schemeClr val="accent1"/>
                </a:solidFill>
                <a:latin typeface="ui-monospace"/>
              </a:endParaRPr>
            </a:p>
            <a:p>
              <a:r>
                <a:rPr lang="zh-CN" altLang="en-US" sz="1200" dirty="0">
                  <a:solidFill>
                    <a:schemeClr val="accent1"/>
                  </a:solidFill>
                  <a:latin typeface="ui-monospace"/>
                </a:rPr>
                <a:t>目录结构：一级</a:t>
              </a:r>
              <a:r>
                <a:rPr lang="en-US" altLang="zh-CN" sz="1200" dirty="0">
                  <a:solidFill>
                    <a:schemeClr val="accent1"/>
                  </a:solidFill>
                  <a:latin typeface="ui-monospace"/>
                </a:rPr>
                <a:t>/</a:t>
              </a:r>
              <a:r>
                <a:rPr lang="zh-CN" altLang="en-US" sz="1200" dirty="0">
                  <a:solidFill>
                    <a:schemeClr val="accent1"/>
                  </a:solidFill>
                  <a:latin typeface="ui-monospace"/>
                </a:rPr>
                <a:t>二级</a:t>
              </a:r>
              <a:r>
                <a:rPr lang="en-US" altLang="zh-CN" sz="1200" dirty="0">
                  <a:solidFill>
                    <a:schemeClr val="accent1"/>
                  </a:solidFill>
                  <a:latin typeface="ui-monospace"/>
                </a:rPr>
                <a:t>/</a:t>
              </a:r>
              <a:r>
                <a:rPr lang="zh-CN" altLang="en-US" sz="1200" dirty="0">
                  <a:solidFill>
                    <a:schemeClr val="accent1"/>
                  </a:solidFill>
                  <a:latin typeface="ui-monospace"/>
                </a:rPr>
                <a:t>多级目录结构</a:t>
              </a:r>
              <a:endParaRPr lang="en-US" altLang="zh-CN" sz="1200" dirty="0">
                <a:solidFill>
                  <a:schemeClr val="accent1"/>
                </a:solidFill>
                <a:latin typeface="ui-monospace"/>
              </a:endParaRPr>
            </a:p>
            <a:p>
              <a:r>
                <a:rPr lang="zh-CN" altLang="en-US" sz="1200" dirty="0">
                  <a:solidFill>
                    <a:schemeClr val="accent1"/>
                  </a:solidFill>
                  <a:latin typeface="ui-monospace"/>
                </a:rPr>
                <a:t>树型文件结构：全文件名</a:t>
              </a:r>
              <a:r>
                <a:rPr lang="en-US" altLang="zh-CN" sz="1200" dirty="0">
                  <a:solidFill>
                    <a:schemeClr val="accent1"/>
                  </a:solidFill>
                  <a:latin typeface="ui-monospace"/>
                </a:rPr>
                <a:t>/</a:t>
              </a:r>
              <a:r>
                <a:rPr lang="zh-CN" altLang="en-US" sz="1200" dirty="0">
                  <a:solidFill>
                    <a:schemeClr val="accent1"/>
                  </a:solidFill>
                  <a:latin typeface="ui-monospace"/>
                </a:rPr>
                <a:t>绝对路径</a:t>
              </a:r>
              <a:r>
                <a:rPr lang="en-US" altLang="zh-CN" sz="1200" dirty="0">
                  <a:solidFill>
                    <a:schemeClr val="accent1"/>
                  </a:solidFill>
                  <a:latin typeface="ui-monospace"/>
                </a:rPr>
                <a:t>/</a:t>
              </a:r>
              <a:r>
                <a:rPr lang="zh-CN" altLang="en-US" sz="1200" dirty="0">
                  <a:solidFill>
                    <a:schemeClr val="accent1"/>
                  </a:solidFill>
                  <a:latin typeface="ui-monospace"/>
                </a:rPr>
                <a:t>相对路径</a:t>
              </a:r>
              <a:endParaRPr lang="en-US" altLang="zh-CN" sz="1200" dirty="0">
                <a:solidFill>
                  <a:schemeClr val="accent1"/>
                </a:solidFill>
                <a:latin typeface="ui-monospace"/>
              </a:endParaRPr>
            </a:p>
          </p:txBody>
        </p:sp>
      </p:grpSp>
      <p:pic>
        <p:nvPicPr>
          <p:cNvPr id="2090" name="Picture 2089">
            <a:extLst>
              <a:ext uri="{FF2B5EF4-FFF2-40B4-BE49-F238E27FC236}">
                <a16:creationId xmlns:a16="http://schemas.microsoft.com/office/drawing/2014/main" id="{6EEC6618-A163-8861-4DCC-CFF768A93C4F}"/>
              </a:ext>
            </a:extLst>
          </p:cNvPr>
          <p:cNvPicPr>
            <a:picLocks noChangeAspect="1"/>
          </p:cNvPicPr>
          <p:nvPr/>
        </p:nvPicPr>
        <p:blipFill>
          <a:blip r:embed="rId2"/>
          <a:stretch>
            <a:fillRect/>
          </a:stretch>
        </p:blipFill>
        <p:spPr>
          <a:xfrm>
            <a:off x="4833523" y="682897"/>
            <a:ext cx="2706859" cy="481626"/>
          </a:xfrm>
          <a:prstGeom prst="rect">
            <a:avLst/>
          </a:prstGeom>
        </p:spPr>
      </p:pic>
      <p:pic>
        <p:nvPicPr>
          <p:cNvPr id="2113" name="Picture 2112">
            <a:extLst>
              <a:ext uri="{FF2B5EF4-FFF2-40B4-BE49-F238E27FC236}">
                <a16:creationId xmlns:a16="http://schemas.microsoft.com/office/drawing/2014/main" id="{FF2E33F1-19A6-C15E-00F0-F0792C0166A8}"/>
              </a:ext>
            </a:extLst>
          </p:cNvPr>
          <p:cNvPicPr>
            <a:picLocks noChangeAspect="1"/>
          </p:cNvPicPr>
          <p:nvPr/>
        </p:nvPicPr>
        <p:blipFill>
          <a:blip r:embed="rId3"/>
          <a:stretch>
            <a:fillRect/>
          </a:stretch>
        </p:blipFill>
        <p:spPr>
          <a:xfrm>
            <a:off x="4833523" y="1406541"/>
            <a:ext cx="2591025" cy="475529"/>
          </a:xfrm>
          <a:prstGeom prst="rect">
            <a:avLst/>
          </a:prstGeom>
        </p:spPr>
      </p:pic>
      <p:grpSp>
        <p:nvGrpSpPr>
          <p:cNvPr id="24" name="Group 25">
            <a:extLst>
              <a:ext uri="{FF2B5EF4-FFF2-40B4-BE49-F238E27FC236}">
                <a16:creationId xmlns:a16="http://schemas.microsoft.com/office/drawing/2014/main" id="{AAAE0876-4101-AFE1-4EEB-52394F586878}"/>
              </a:ext>
            </a:extLst>
          </p:cNvPr>
          <p:cNvGrpSpPr/>
          <p:nvPr/>
        </p:nvGrpSpPr>
        <p:grpSpPr>
          <a:xfrm>
            <a:off x="3097889" y="1890589"/>
            <a:ext cx="4386653" cy="1495591"/>
            <a:chOff x="7614613" y="5950488"/>
            <a:chExt cx="4386653" cy="1495591"/>
          </a:xfrm>
        </p:grpSpPr>
        <p:sp>
          <p:nvSpPr>
            <p:cNvPr id="25" name="Rectangle: Rounded Corners 35">
              <a:extLst>
                <a:ext uri="{FF2B5EF4-FFF2-40B4-BE49-F238E27FC236}">
                  <a16:creationId xmlns:a16="http://schemas.microsoft.com/office/drawing/2014/main" id="{68F8E257-904B-72C0-DEBA-A615014DDDE1}"/>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▶磁盘调度算法</a:t>
              </a:r>
              <a:endParaRPr lang="en-US" sz="1200" dirty="0">
                <a:solidFill>
                  <a:schemeClr val="bg1"/>
                </a:solidFill>
              </a:endParaRPr>
            </a:p>
          </p:txBody>
        </p:sp>
        <p:sp>
          <p:nvSpPr>
            <p:cNvPr id="26" name="TextBox 36">
              <a:extLst>
                <a:ext uri="{FF2B5EF4-FFF2-40B4-BE49-F238E27FC236}">
                  <a16:creationId xmlns:a16="http://schemas.microsoft.com/office/drawing/2014/main" id="{BEE86554-95E4-26CB-40D7-35680FCDD65F}"/>
                </a:ext>
              </a:extLst>
            </p:cNvPr>
            <p:cNvSpPr txBox="1"/>
            <p:nvPr/>
          </p:nvSpPr>
          <p:spPr>
            <a:xfrm>
              <a:off x="7667294" y="6245750"/>
              <a:ext cx="4281578" cy="1200329"/>
            </a:xfrm>
            <a:prstGeom prst="rect">
              <a:avLst/>
            </a:prstGeom>
            <a:noFill/>
          </p:spPr>
          <p:txBody>
            <a:bodyPr wrap="square">
              <a:spAutoFit/>
            </a:bodyPr>
            <a:lstStyle/>
            <a:p>
              <a:r>
                <a:rPr lang="zh-CN" altLang="en-US" sz="1200" dirty="0">
                  <a:solidFill>
                    <a:schemeClr val="accent1"/>
                  </a:solidFill>
                  <a:latin typeface="ui-monospace"/>
                </a:rPr>
                <a:t>磁头移动柱面</a:t>
              </a:r>
              <a:r>
                <a:rPr lang="en-US" altLang="zh-CN" sz="1200" dirty="0">
                  <a:solidFill>
                    <a:schemeClr val="accent1"/>
                  </a:solidFill>
                  <a:latin typeface="ui-monospace"/>
                </a:rPr>
                <a:t>/</a:t>
              </a:r>
              <a:r>
                <a:rPr lang="zh-CN" altLang="en-US" sz="1200" dirty="0">
                  <a:solidFill>
                    <a:schemeClr val="accent1"/>
                  </a:solidFill>
                  <a:latin typeface="ui-monospace"/>
                </a:rPr>
                <a:t>平均寻道长度</a:t>
              </a:r>
              <a:endParaRPr lang="en-US" altLang="zh-CN" sz="1200" dirty="0">
                <a:solidFill>
                  <a:schemeClr val="accent1"/>
                </a:solidFill>
                <a:latin typeface="ui-monospace"/>
              </a:endParaRPr>
            </a:p>
            <a:p>
              <a:r>
                <a:rPr lang="zh-CN" altLang="en-US" sz="1200" dirty="0">
                  <a:solidFill>
                    <a:schemeClr val="accent1"/>
                  </a:solidFill>
                  <a:latin typeface="ui-monospace"/>
                </a:rPr>
                <a:t>柱面号</a:t>
              </a:r>
              <a:r>
                <a:rPr lang="en-US" altLang="zh-CN" sz="1200" dirty="0">
                  <a:solidFill>
                    <a:schemeClr val="accent1"/>
                  </a:solidFill>
                  <a:latin typeface="ui-monospace"/>
                </a:rPr>
                <a:t>/</a:t>
              </a:r>
              <a:r>
                <a:rPr lang="zh-CN" altLang="en-US" sz="1200" dirty="0">
                  <a:solidFill>
                    <a:schemeClr val="accent1"/>
                  </a:solidFill>
                  <a:latin typeface="ui-monospace"/>
                </a:rPr>
                <a:t>磁头号</a:t>
              </a:r>
              <a:r>
                <a:rPr lang="en-US" altLang="zh-CN" sz="1200" dirty="0">
                  <a:solidFill>
                    <a:schemeClr val="accent1"/>
                  </a:solidFill>
                  <a:latin typeface="ui-monospace"/>
                </a:rPr>
                <a:t>/</a:t>
              </a:r>
              <a:r>
                <a:rPr lang="zh-CN" altLang="en-US" sz="1200" dirty="0">
                  <a:solidFill>
                    <a:schemeClr val="accent1"/>
                  </a:solidFill>
                  <a:latin typeface="ui-monospace"/>
                </a:rPr>
                <a:t>扇区号</a:t>
              </a:r>
              <a:endParaRPr lang="en-US" altLang="zh-CN" sz="1200" dirty="0">
                <a:solidFill>
                  <a:schemeClr val="accent1"/>
                </a:solidFill>
                <a:latin typeface="ui-monospace"/>
              </a:endParaRPr>
            </a:p>
            <a:p>
              <a:r>
                <a:rPr lang="zh-CN" altLang="en-US" sz="1200" dirty="0">
                  <a:solidFill>
                    <a:schemeClr val="accent1"/>
                  </a:solidFill>
                  <a:latin typeface="ui-monospace"/>
                </a:rPr>
                <a:t>先来先服务</a:t>
              </a:r>
              <a:r>
                <a:rPr lang="en-US" altLang="zh-CN" sz="1200" dirty="0">
                  <a:solidFill>
                    <a:schemeClr val="accent1"/>
                  </a:solidFill>
                  <a:latin typeface="ui-monospace"/>
                </a:rPr>
                <a:t>(FCFS)</a:t>
              </a:r>
              <a:r>
                <a:rPr lang="zh-CN" altLang="en-US" sz="1200" dirty="0">
                  <a:solidFill>
                    <a:schemeClr val="accent1"/>
                  </a:solidFill>
                  <a:latin typeface="ui-monospace"/>
                </a:rPr>
                <a:t>：按先后次序访问</a:t>
              </a:r>
              <a:endParaRPr lang="en-US" altLang="zh-CN" sz="1200" dirty="0">
                <a:solidFill>
                  <a:schemeClr val="accent1"/>
                </a:solidFill>
                <a:latin typeface="ui-monospace"/>
              </a:endParaRPr>
            </a:p>
            <a:p>
              <a:r>
                <a:rPr lang="zh-CN" altLang="en-US" sz="1200" dirty="0">
                  <a:solidFill>
                    <a:schemeClr val="accent1"/>
                  </a:solidFill>
                  <a:latin typeface="ui-monospace"/>
                </a:rPr>
                <a:t>最短寻道时间优先</a:t>
              </a:r>
              <a:r>
                <a:rPr lang="en-US" altLang="zh-CN" sz="1200" dirty="0">
                  <a:solidFill>
                    <a:schemeClr val="accent1"/>
                  </a:solidFill>
                  <a:latin typeface="ui-monospace"/>
                </a:rPr>
                <a:t>(SSTF)</a:t>
              </a:r>
              <a:r>
                <a:rPr lang="zh-CN" altLang="en-US" sz="1200" dirty="0">
                  <a:solidFill>
                    <a:schemeClr val="accent1"/>
                  </a:solidFill>
                  <a:latin typeface="ui-monospace"/>
                </a:rPr>
                <a:t>：先访问最近的</a:t>
              </a:r>
              <a:endParaRPr lang="en-US" altLang="zh-CN" sz="1200" dirty="0">
                <a:solidFill>
                  <a:schemeClr val="accent1"/>
                </a:solidFill>
                <a:latin typeface="ui-monospace"/>
              </a:endParaRPr>
            </a:p>
            <a:p>
              <a:r>
                <a:rPr lang="zh-CN" altLang="en-US" sz="1200" dirty="0">
                  <a:solidFill>
                    <a:schemeClr val="accent1"/>
                  </a:solidFill>
                  <a:latin typeface="ui-monospace"/>
                </a:rPr>
                <a:t>扫描算法</a:t>
              </a:r>
              <a:r>
                <a:rPr lang="en-US" altLang="zh-CN" sz="1200" dirty="0">
                  <a:solidFill>
                    <a:schemeClr val="accent1"/>
                  </a:solidFill>
                  <a:latin typeface="ui-monospace"/>
                </a:rPr>
                <a:t>(SCAN)</a:t>
              </a:r>
              <a:r>
                <a:rPr lang="zh-CN" altLang="en-US" sz="1200" dirty="0">
                  <a:solidFill>
                    <a:schemeClr val="accent1"/>
                  </a:solidFill>
                  <a:latin typeface="ui-monospace"/>
                </a:rPr>
                <a:t>：先访问同一方向的</a:t>
              </a:r>
              <a:endParaRPr lang="en-US" altLang="zh-CN" sz="1200" dirty="0">
                <a:solidFill>
                  <a:schemeClr val="accent1"/>
                </a:solidFill>
                <a:latin typeface="ui-monospace"/>
              </a:endParaRPr>
            </a:p>
            <a:p>
              <a:r>
                <a:rPr lang="zh-CN" altLang="en-US" sz="1200" dirty="0">
                  <a:solidFill>
                    <a:schemeClr val="accent1"/>
                  </a:solidFill>
                  <a:latin typeface="ui-monospace"/>
                </a:rPr>
                <a:t>循环扫描算法</a:t>
              </a:r>
              <a:r>
                <a:rPr lang="en-US" altLang="zh-CN" sz="1200" dirty="0">
                  <a:solidFill>
                    <a:schemeClr val="accent1"/>
                  </a:solidFill>
                  <a:latin typeface="ui-monospace"/>
                </a:rPr>
                <a:t>(CSCAN)</a:t>
              </a:r>
              <a:r>
                <a:rPr lang="zh-CN" altLang="en-US" sz="1200" dirty="0">
                  <a:solidFill>
                    <a:schemeClr val="accent1"/>
                  </a:solidFill>
                  <a:latin typeface="ui-monospace"/>
                </a:rPr>
                <a:t>：转向时访问极值</a:t>
              </a:r>
              <a:endParaRPr lang="en-US" altLang="zh-CN" sz="1200" dirty="0">
                <a:solidFill>
                  <a:schemeClr val="accent1"/>
                </a:solidFill>
                <a:latin typeface="ui-monospace"/>
              </a:endParaRPr>
            </a:p>
          </p:txBody>
        </p:sp>
      </p:grpSp>
      <p:grpSp>
        <p:nvGrpSpPr>
          <p:cNvPr id="27" name="Group 25">
            <a:extLst>
              <a:ext uri="{FF2B5EF4-FFF2-40B4-BE49-F238E27FC236}">
                <a16:creationId xmlns:a16="http://schemas.microsoft.com/office/drawing/2014/main" id="{F7E29064-0D94-3DF8-F96A-9026C7896717}"/>
              </a:ext>
            </a:extLst>
          </p:cNvPr>
          <p:cNvGrpSpPr/>
          <p:nvPr/>
        </p:nvGrpSpPr>
        <p:grpSpPr>
          <a:xfrm>
            <a:off x="3097830" y="3424129"/>
            <a:ext cx="4386653" cy="1310925"/>
            <a:chOff x="7614613" y="5950488"/>
            <a:chExt cx="4386653" cy="1310925"/>
          </a:xfrm>
        </p:grpSpPr>
        <p:sp>
          <p:nvSpPr>
            <p:cNvPr id="28" name="Rectangle: Rounded Corners 35">
              <a:extLst>
                <a:ext uri="{FF2B5EF4-FFF2-40B4-BE49-F238E27FC236}">
                  <a16:creationId xmlns:a16="http://schemas.microsoft.com/office/drawing/2014/main" id="{D5F5C2F1-C80D-7FBC-D9E1-5B6D8B64F9F0}"/>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▶旋转调度算法</a:t>
              </a:r>
              <a:endParaRPr lang="en-US" sz="1200" dirty="0">
                <a:solidFill>
                  <a:schemeClr val="bg1"/>
                </a:solidFill>
              </a:endParaRPr>
            </a:p>
          </p:txBody>
        </p:sp>
        <p:sp>
          <p:nvSpPr>
            <p:cNvPr id="29" name="TextBox 36">
              <a:extLst>
                <a:ext uri="{FF2B5EF4-FFF2-40B4-BE49-F238E27FC236}">
                  <a16:creationId xmlns:a16="http://schemas.microsoft.com/office/drawing/2014/main" id="{D97A6D10-BFBF-23D6-D6FF-88A8CF3D3766}"/>
                </a:ext>
              </a:extLst>
            </p:cNvPr>
            <p:cNvSpPr txBox="1"/>
            <p:nvPr/>
          </p:nvSpPr>
          <p:spPr>
            <a:xfrm>
              <a:off x="7667294" y="6245750"/>
              <a:ext cx="4281578" cy="1015663"/>
            </a:xfrm>
            <a:prstGeom prst="rect">
              <a:avLst/>
            </a:prstGeom>
            <a:noFill/>
          </p:spPr>
          <p:txBody>
            <a:bodyPr wrap="square">
              <a:spAutoFit/>
            </a:bodyPr>
            <a:lstStyle/>
            <a:p>
              <a:r>
                <a:rPr lang="zh-CN" altLang="en-US" sz="1200" dirty="0">
                  <a:solidFill>
                    <a:schemeClr val="accent1"/>
                  </a:solidFill>
                  <a:latin typeface="ui-monospace"/>
                </a:rPr>
                <a:t>旋转速度</a:t>
              </a:r>
              <a:r>
                <a:rPr lang="en-US" altLang="zh-CN" sz="1200" dirty="0">
                  <a:solidFill>
                    <a:schemeClr val="accent1"/>
                  </a:solidFill>
                  <a:latin typeface="ui-monospace"/>
                </a:rPr>
                <a:t>20ms/</a:t>
              </a:r>
              <a:r>
                <a:rPr lang="zh-CN" altLang="en-US" sz="1200" dirty="0">
                  <a:solidFill>
                    <a:schemeClr val="accent1"/>
                  </a:solidFill>
                  <a:latin typeface="ui-monospace"/>
                </a:rPr>
                <a:t>圈，处理时间</a:t>
              </a:r>
              <a:r>
                <a:rPr lang="en-US" altLang="zh-CN" sz="1200" dirty="0">
                  <a:solidFill>
                    <a:schemeClr val="accent1"/>
                  </a:solidFill>
                  <a:latin typeface="ui-monospace"/>
                </a:rPr>
                <a:t>4ms</a:t>
              </a:r>
              <a:r>
                <a:rPr lang="zh-CN" altLang="en-US" sz="1200" dirty="0">
                  <a:solidFill>
                    <a:schemeClr val="accent1"/>
                  </a:solidFill>
                  <a:latin typeface="ui-monospace"/>
                </a:rPr>
                <a:t>，扇区数</a:t>
              </a:r>
              <a:r>
                <a:rPr lang="en-US" altLang="zh-CN" sz="1200" dirty="0">
                  <a:solidFill>
                    <a:schemeClr val="accent1"/>
                  </a:solidFill>
                  <a:latin typeface="ui-monospace"/>
                </a:rPr>
                <a:t>10</a:t>
              </a:r>
            </a:p>
            <a:p>
              <a:r>
                <a:rPr lang="en-US" altLang="zh-CN" sz="1200" dirty="0">
                  <a:solidFill>
                    <a:schemeClr val="accent1"/>
                  </a:solidFill>
                  <a:latin typeface="ui-monospace"/>
                </a:rPr>
                <a:t>=(2+4)*10+(10-4/2)*2*(10-1)</a:t>
              </a:r>
            </a:p>
            <a:p>
              <a:r>
                <a:rPr lang="zh-CN" altLang="en-US" sz="1200" dirty="0">
                  <a:solidFill>
                    <a:schemeClr val="accent1"/>
                  </a:solidFill>
                  <a:latin typeface="ui-monospace"/>
                </a:rPr>
                <a:t>修改顺序来优化</a:t>
              </a:r>
              <a:endParaRPr lang="en-US" altLang="zh-CN" sz="1200" dirty="0">
                <a:solidFill>
                  <a:schemeClr val="accent1"/>
                </a:solidFill>
                <a:latin typeface="ui-monospace"/>
              </a:endParaRPr>
            </a:p>
            <a:p>
              <a:r>
                <a:rPr lang="en-US" altLang="zh-CN" sz="1200" dirty="0">
                  <a:solidFill>
                    <a:schemeClr val="accent1"/>
                  </a:solidFill>
                  <a:latin typeface="ui-monospace"/>
                </a:rPr>
                <a:t>=(2+4)*10</a:t>
              </a:r>
            </a:p>
            <a:p>
              <a:r>
                <a:rPr lang="zh-CN" altLang="en-US" sz="1200" dirty="0">
                  <a:solidFill>
                    <a:schemeClr val="accent1"/>
                  </a:solidFill>
                  <a:latin typeface="ui-monospace"/>
                </a:rPr>
                <a:t>磁道距离</a:t>
              </a:r>
              <a:r>
                <a:rPr lang="en-US" altLang="zh-CN" sz="1200" dirty="0">
                  <a:solidFill>
                    <a:schemeClr val="accent1"/>
                  </a:solidFill>
                  <a:latin typeface="ui-monospace"/>
                </a:rPr>
                <a:t>*</a:t>
              </a:r>
              <a:r>
                <a:rPr lang="zh-CN" altLang="en-US" sz="1200" dirty="0">
                  <a:solidFill>
                    <a:schemeClr val="accent1"/>
                  </a:solidFill>
                  <a:latin typeface="ui-monospace"/>
                </a:rPr>
                <a:t>移动速度</a:t>
              </a:r>
              <a:r>
                <a:rPr lang="en-US" altLang="zh-CN" sz="1200" dirty="0">
                  <a:solidFill>
                    <a:schemeClr val="accent1"/>
                  </a:solidFill>
                  <a:latin typeface="ui-monospace"/>
                </a:rPr>
                <a:t>+</a:t>
              </a:r>
              <a:r>
                <a:rPr lang="zh-CN" altLang="en-US" sz="1200" dirty="0">
                  <a:solidFill>
                    <a:schemeClr val="accent1"/>
                  </a:solidFill>
                  <a:latin typeface="ui-monospace"/>
                </a:rPr>
                <a:t>延迟</a:t>
              </a:r>
              <a:r>
                <a:rPr lang="en-US" altLang="zh-CN" sz="1200" dirty="0">
                  <a:solidFill>
                    <a:schemeClr val="accent1"/>
                  </a:solidFill>
                  <a:latin typeface="ui-monospace"/>
                </a:rPr>
                <a:t>+</a:t>
              </a:r>
              <a:r>
                <a:rPr lang="zh-CN" altLang="en-US" sz="1200" dirty="0">
                  <a:solidFill>
                    <a:schemeClr val="accent1"/>
                  </a:solidFill>
                  <a:latin typeface="ui-monospace"/>
                </a:rPr>
                <a:t>传输</a:t>
              </a:r>
              <a:endParaRPr lang="en-US" altLang="zh-CN" sz="1200" dirty="0">
                <a:solidFill>
                  <a:schemeClr val="accent1"/>
                </a:solidFill>
                <a:latin typeface="ui-monospace"/>
              </a:endParaRPr>
            </a:p>
          </p:txBody>
        </p:sp>
      </p:grpSp>
      <p:pic>
        <p:nvPicPr>
          <p:cNvPr id="47" name="Picture 46">
            <a:extLst>
              <a:ext uri="{FF2B5EF4-FFF2-40B4-BE49-F238E27FC236}">
                <a16:creationId xmlns:a16="http://schemas.microsoft.com/office/drawing/2014/main" id="{24BB4AA6-FB41-E218-59A6-C11ABFC041AE}"/>
              </a:ext>
            </a:extLst>
          </p:cNvPr>
          <p:cNvPicPr>
            <a:picLocks noChangeAspect="1"/>
          </p:cNvPicPr>
          <p:nvPr/>
        </p:nvPicPr>
        <p:blipFill>
          <a:blip r:embed="rId4"/>
          <a:stretch>
            <a:fillRect/>
          </a:stretch>
        </p:blipFill>
        <p:spPr>
          <a:xfrm>
            <a:off x="5412133" y="3973522"/>
            <a:ext cx="976937" cy="984147"/>
          </a:xfrm>
          <a:prstGeom prst="rect">
            <a:avLst/>
          </a:prstGeom>
        </p:spPr>
      </p:pic>
      <p:pic>
        <p:nvPicPr>
          <p:cNvPr id="59" name="Picture 58">
            <a:extLst>
              <a:ext uri="{FF2B5EF4-FFF2-40B4-BE49-F238E27FC236}">
                <a16:creationId xmlns:a16="http://schemas.microsoft.com/office/drawing/2014/main" id="{6D698AF8-1945-A051-D872-A8D7EA3B7279}"/>
              </a:ext>
            </a:extLst>
          </p:cNvPr>
          <p:cNvPicPr>
            <a:picLocks noChangeAspect="1"/>
          </p:cNvPicPr>
          <p:nvPr/>
        </p:nvPicPr>
        <p:blipFill>
          <a:blip r:embed="rId5"/>
          <a:stretch>
            <a:fillRect/>
          </a:stretch>
        </p:blipFill>
        <p:spPr>
          <a:xfrm>
            <a:off x="6448131" y="3966449"/>
            <a:ext cx="983958" cy="991220"/>
          </a:xfrm>
          <a:prstGeom prst="rect">
            <a:avLst/>
          </a:prstGeom>
        </p:spPr>
      </p:pic>
      <p:sp>
        <p:nvSpPr>
          <p:cNvPr id="2168" name="Rectangle 2167">
            <a:extLst>
              <a:ext uri="{FF2B5EF4-FFF2-40B4-BE49-F238E27FC236}">
                <a16:creationId xmlns:a16="http://schemas.microsoft.com/office/drawing/2014/main" id="{B426C5A9-A93F-E0D2-0DE9-F82EEFA52FEB}"/>
              </a:ext>
            </a:extLst>
          </p:cNvPr>
          <p:cNvSpPr/>
          <p:nvPr/>
        </p:nvSpPr>
        <p:spPr>
          <a:xfrm>
            <a:off x="3529010" y="4759619"/>
            <a:ext cx="347663" cy="1694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ysClr val="windowText" lastClr="000000"/>
                </a:solidFill>
              </a:rPr>
              <a:t>块</a:t>
            </a:r>
            <a:endParaRPr lang="en-US" sz="1000" dirty="0">
              <a:solidFill>
                <a:sysClr val="windowText" lastClr="000000"/>
              </a:solidFill>
            </a:endParaRPr>
          </a:p>
        </p:txBody>
      </p:sp>
      <p:sp>
        <p:nvSpPr>
          <p:cNvPr id="60" name="Rectangle 59">
            <a:extLst>
              <a:ext uri="{FF2B5EF4-FFF2-40B4-BE49-F238E27FC236}">
                <a16:creationId xmlns:a16="http://schemas.microsoft.com/office/drawing/2014/main" id="{B8FC0793-C38C-D4C9-9295-5ADD7B85E38A}"/>
              </a:ext>
            </a:extLst>
          </p:cNvPr>
          <p:cNvSpPr/>
          <p:nvPr/>
        </p:nvSpPr>
        <p:spPr>
          <a:xfrm>
            <a:off x="4848018" y="4759619"/>
            <a:ext cx="347663" cy="1694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ysClr val="windowText" lastClr="000000"/>
                </a:solidFill>
              </a:rPr>
              <a:t>块</a:t>
            </a:r>
            <a:endParaRPr lang="en-US" sz="1000" dirty="0">
              <a:solidFill>
                <a:sysClr val="windowText" lastClr="000000"/>
              </a:solidFill>
            </a:endParaRPr>
          </a:p>
        </p:txBody>
      </p:sp>
      <p:sp>
        <p:nvSpPr>
          <p:cNvPr id="61" name="Rectangle 60">
            <a:extLst>
              <a:ext uri="{FF2B5EF4-FFF2-40B4-BE49-F238E27FC236}">
                <a16:creationId xmlns:a16="http://schemas.microsoft.com/office/drawing/2014/main" id="{F6E2D29C-A540-BFFC-AC55-06FD45F0C9A7}"/>
              </a:ext>
            </a:extLst>
          </p:cNvPr>
          <p:cNvSpPr/>
          <p:nvPr/>
        </p:nvSpPr>
        <p:spPr>
          <a:xfrm>
            <a:off x="3876673" y="4795589"/>
            <a:ext cx="971345" cy="8587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600" dirty="0">
                <a:solidFill>
                  <a:sysClr val="windowText" lastClr="000000"/>
                </a:solidFill>
              </a:rPr>
              <a:t>磁道</a:t>
            </a:r>
            <a:endParaRPr lang="en-US" sz="600" dirty="0">
              <a:solidFill>
                <a:sysClr val="windowText" lastClr="000000"/>
              </a:solidFill>
            </a:endParaRPr>
          </a:p>
        </p:txBody>
      </p:sp>
      <p:grpSp>
        <p:nvGrpSpPr>
          <p:cNvPr id="62" name="Group 25">
            <a:extLst>
              <a:ext uri="{FF2B5EF4-FFF2-40B4-BE49-F238E27FC236}">
                <a16:creationId xmlns:a16="http://schemas.microsoft.com/office/drawing/2014/main" id="{89D86D62-C3DB-9757-0E00-F6BC751DB071}"/>
              </a:ext>
            </a:extLst>
          </p:cNvPr>
          <p:cNvGrpSpPr/>
          <p:nvPr/>
        </p:nvGrpSpPr>
        <p:grpSpPr>
          <a:xfrm>
            <a:off x="7655287" y="71381"/>
            <a:ext cx="4386653" cy="1495591"/>
            <a:chOff x="7614613" y="5950488"/>
            <a:chExt cx="4386653" cy="1495591"/>
          </a:xfrm>
        </p:grpSpPr>
        <p:sp>
          <p:nvSpPr>
            <p:cNvPr id="63" name="Rectangle: Rounded Corners 35">
              <a:extLst>
                <a:ext uri="{FF2B5EF4-FFF2-40B4-BE49-F238E27FC236}">
                  <a16:creationId xmlns:a16="http://schemas.microsoft.com/office/drawing/2014/main" id="{0266B5E7-0B8E-7331-57F5-B9169CA1DB1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▶多级索引结构</a:t>
              </a:r>
              <a:endParaRPr lang="en-US" sz="1200" dirty="0">
                <a:solidFill>
                  <a:schemeClr val="bg1"/>
                </a:solidFill>
              </a:endParaRPr>
            </a:p>
          </p:txBody>
        </p:sp>
        <p:sp>
          <p:nvSpPr>
            <p:cNvPr id="1024" name="TextBox 36">
              <a:extLst>
                <a:ext uri="{FF2B5EF4-FFF2-40B4-BE49-F238E27FC236}">
                  <a16:creationId xmlns:a16="http://schemas.microsoft.com/office/drawing/2014/main" id="{1C003C80-DED2-6CD9-0174-27835EFDC152}"/>
                </a:ext>
              </a:extLst>
            </p:cNvPr>
            <p:cNvSpPr txBox="1"/>
            <p:nvPr/>
          </p:nvSpPr>
          <p:spPr>
            <a:xfrm>
              <a:off x="7667294" y="6245750"/>
              <a:ext cx="4281578" cy="1200329"/>
            </a:xfrm>
            <a:prstGeom prst="rect">
              <a:avLst/>
            </a:prstGeom>
            <a:noFill/>
          </p:spPr>
          <p:txBody>
            <a:bodyPr wrap="square">
              <a:spAutoFit/>
            </a:bodyPr>
            <a:lstStyle/>
            <a:p>
              <a:r>
                <a:rPr lang="zh-CN" altLang="en-US" sz="1200" dirty="0">
                  <a:solidFill>
                    <a:schemeClr val="accent1"/>
                  </a:solidFill>
                  <a:latin typeface="ui-monospace"/>
                </a:rPr>
                <a:t>索引表</a:t>
              </a:r>
              <a:r>
                <a:rPr lang="en-US" altLang="zh-CN" sz="1200" dirty="0">
                  <a:solidFill>
                    <a:schemeClr val="accent1"/>
                  </a:solidFill>
                  <a:latin typeface="ui-monospace"/>
                </a:rPr>
                <a:t>&lt;</a:t>
              </a:r>
              <a:r>
                <a:rPr lang="zh-CN" altLang="en-US" sz="1200" dirty="0">
                  <a:solidFill>
                    <a:schemeClr val="accent1"/>
                  </a:solidFill>
                  <a:latin typeface="ui-monospace"/>
                </a:rPr>
                <a:t>地址项</a:t>
              </a:r>
              <a:r>
                <a:rPr lang="en-US" altLang="zh-CN" sz="1200" dirty="0">
                  <a:solidFill>
                    <a:schemeClr val="accent1"/>
                  </a:solidFill>
                  <a:latin typeface="ui-monospace"/>
                </a:rPr>
                <a:t>&gt; </a:t>
              </a:r>
              <a:r>
                <a:rPr lang="en-US" altLang="zh-CN" sz="1200" dirty="0">
                  <a:solidFill>
                    <a:schemeClr val="accent1"/>
                  </a:solidFill>
                  <a:latin typeface="ui-monospace"/>
                  <a:sym typeface="Wingdings" panose="05000000000000000000" pitchFamily="2" charset="2"/>
                </a:rPr>
                <a:t> </a:t>
              </a:r>
              <a:r>
                <a:rPr lang="zh-CN" altLang="en-US" sz="1200" dirty="0">
                  <a:solidFill>
                    <a:schemeClr val="accent1"/>
                  </a:solidFill>
                  <a:latin typeface="ui-monospace"/>
                  <a:sym typeface="Wingdings" panose="05000000000000000000" pitchFamily="2" charset="2"/>
                </a:rPr>
                <a:t>磁盘</a:t>
              </a:r>
              <a:r>
                <a:rPr lang="en-US" altLang="zh-CN" sz="1200" dirty="0">
                  <a:solidFill>
                    <a:schemeClr val="accent1"/>
                  </a:solidFill>
                  <a:latin typeface="ui-monospace"/>
                  <a:sym typeface="Wingdings" panose="05000000000000000000" pitchFamily="2" charset="2"/>
                </a:rPr>
                <a:t>&lt;</a:t>
              </a:r>
              <a:r>
                <a:rPr lang="zh-CN" altLang="en-US" sz="1200" dirty="0">
                  <a:solidFill>
                    <a:schemeClr val="accent1"/>
                  </a:solidFill>
                  <a:latin typeface="ui-monospace"/>
                  <a:sym typeface="Wingdings" panose="05000000000000000000" pitchFamily="2" charset="2"/>
                </a:rPr>
                <a:t>磁盘数据块</a:t>
              </a:r>
              <a:r>
                <a:rPr lang="en-US" altLang="zh-CN" sz="1200" dirty="0">
                  <a:solidFill>
                    <a:schemeClr val="accent1"/>
                  </a:solidFill>
                  <a:latin typeface="ui-monospace"/>
                  <a:sym typeface="Wingdings" panose="05000000000000000000" pitchFamily="2" charset="2"/>
                </a:rPr>
                <a:t>&gt;</a:t>
              </a:r>
            </a:p>
            <a:p>
              <a:r>
                <a:rPr lang="zh-CN" altLang="en-US" sz="1200" dirty="0">
                  <a:solidFill>
                    <a:schemeClr val="accent1"/>
                  </a:solidFill>
                  <a:latin typeface="ui-monospace"/>
                  <a:sym typeface="Wingdings" panose="05000000000000000000" pitchFamily="2" charset="2"/>
                </a:rPr>
                <a:t>直接地址索引：</a:t>
              </a:r>
              <a:endParaRPr lang="en-US" altLang="zh-CN" sz="1200" dirty="0">
                <a:solidFill>
                  <a:schemeClr val="accent1"/>
                </a:solidFill>
                <a:latin typeface="ui-monospace"/>
                <a:sym typeface="Wingdings" panose="05000000000000000000" pitchFamily="2" charset="2"/>
              </a:endParaRPr>
            </a:p>
            <a:p>
              <a:r>
                <a:rPr lang="zh-CN" altLang="en-US" sz="1200" dirty="0">
                  <a:solidFill>
                    <a:schemeClr val="accent1"/>
                  </a:solidFill>
                  <a:latin typeface="ui-monospace"/>
                  <a:sym typeface="Wingdings" panose="05000000000000000000" pitchFamily="2" charset="2"/>
                </a:rPr>
                <a:t>一级间接地址索引：</a:t>
              </a:r>
              <a:endParaRPr lang="en-US" altLang="zh-CN" sz="1200" dirty="0">
                <a:solidFill>
                  <a:schemeClr val="accent1"/>
                </a:solidFill>
                <a:latin typeface="ui-monospace"/>
                <a:sym typeface="Wingdings" panose="05000000000000000000" pitchFamily="2" charset="2"/>
              </a:endParaRPr>
            </a:p>
            <a:p>
              <a:r>
                <a:rPr lang="zh-CN" altLang="en-US" sz="1200" dirty="0">
                  <a:solidFill>
                    <a:schemeClr val="accent1"/>
                  </a:solidFill>
                  <a:latin typeface="ui-monospace"/>
                  <a:sym typeface="Wingdings" panose="05000000000000000000" pitchFamily="2" charset="2"/>
                </a:rPr>
                <a:t>索引地址项指向磁盘索引块</a:t>
              </a:r>
              <a:endParaRPr lang="en-US" altLang="zh-CN" sz="1200" dirty="0">
                <a:solidFill>
                  <a:schemeClr val="accent1"/>
                </a:solidFill>
                <a:latin typeface="ui-monospace"/>
                <a:sym typeface="Wingdings" panose="05000000000000000000" pitchFamily="2" charset="2"/>
              </a:endParaRPr>
            </a:p>
            <a:p>
              <a:r>
                <a:rPr lang="zh-CN" altLang="en-US" sz="1200" dirty="0">
                  <a:solidFill>
                    <a:schemeClr val="accent1"/>
                  </a:solidFill>
                  <a:latin typeface="ui-monospace"/>
                  <a:sym typeface="Wingdings" panose="05000000000000000000" pitchFamily="2" charset="2"/>
                </a:rPr>
                <a:t>磁盘索引块大小</a:t>
              </a:r>
              <a:r>
                <a:rPr lang="en-US" altLang="zh-CN" sz="1200" dirty="0">
                  <a:solidFill>
                    <a:schemeClr val="accent1"/>
                  </a:solidFill>
                  <a:latin typeface="ui-monospace"/>
                  <a:sym typeface="Wingdings" panose="05000000000000000000" pitchFamily="2" charset="2"/>
                </a:rPr>
                <a:t>1KB/</a:t>
              </a:r>
              <a:r>
                <a:rPr lang="zh-CN" altLang="en-US" sz="1200" dirty="0">
                  <a:solidFill>
                    <a:schemeClr val="accent1"/>
                  </a:solidFill>
                  <a:latin typeface="ui-monospace"/>
                  <a:sym typeface="Wingdings" panose="05000000000000000000" pitchFamily="2" charset="2"/>
                </a:rPr>
                <a:t>地址项大小</a:t>
              </a:r>
              <a:r>
                <a:rPr lang="en-US" altLang="zh-CN" sz="1200" dirty="0">
                  <a:solidFill>
                    <a:schemeClr val="accent1"/>
                  </a:solidFill>
                  <a:latin typeface="ui-monospace"/>
                  <a:sym typeface="Wingdings" panose="05000000000000000000" pitchFamily="2" charset="2"/>
                </a:rPr>
                <a:t>4B</a:t>
              </a:r>
              <a:r>
                <a:rPr lang="zh-CN" altLang="en-US" sz="1200" dirty="0">
                  <a:solidFill>
                    <a:schemeClr val="accent1"/>
                  </a:solidFill>
                  <a:latin typeface="ui-monospace"/>
                  <a:sym typeface="Wingdings" panose="05000000000000000000" pitchFamily="2" charset="2"/>
                </a:rPr>
                <a:t> </a:t>
              </a:r>
              <a:r>
                <a:rPr lang="en-US" altLang="zh-CN" sz="1200" dirty="0">
                  <a:solidFill>
                    <a:schemeClr val="accent1"/>
                  </a:solidFill>
                  <a:latin typeface="ui-monospace"/>
                  <a:sym typeface="Wingdings" panose="05000000000000000000" pitchFamily="2" charset="2"/>
                </a:rPr>
                <a:t>*</a:t>
              </a:r>
              <a:r>
                <a:rPr lang="zh-CN" altLang="en-US" sz="1200" dirty="0">
                  <a:solidFill>
                    <a:schemeClr val="accent1"/>
                  </a:solidFill>
                  <a:latin typeface="ui-monospace"/>
                  <a:sym typeface="Wingdings" panose="05000000000000000000" pitchFamily="2" charset="2"/>
                </a:rPr>
                <a:t>磁盘数据块大小</a:t>
              </a:r>
              <a:r>
                <a:rPr lang="en-US" altLang="zh-CN" sz="1200" dirty="0">
                  <a:solidFill>
                    <a:schemeClr val="accent1"/>
                  </a:solidFill>
                  <a:latin typeface="ui-monospace"/>
                  <a:sym typeface="Wingdings" panose="05000000000000000000" pitchFamily="2" charset="2"/>
                </a:rPr>
                <a:t>1KB</a:t>
              </a:r>
            </a:p>
            <a:p>
              <a:r>
                <a:rPr lang="zh-CN" altLang="en-US" sz="1200" dirty="0">
                  <a:solidFill>
                    <a:schemeClr val="accent1"/>
                  </a:solidFill>
                  <a:latin typeface="ui-monospace"/>
                  <a:sym typeface="Wingdings" panose="05000000000000000000" pitchFamily="2" charset="2"/>
                </a:rPr>
                <a:t>二级间接地址索引：</a:t>
              </a:r>
              <a:endParaRPr lang="en-US" altLang="zh-CN" sz="1200" dirty="0">
                <a:solidFill>
                  <a:schemeClr val="accent1"/>
                </a:solidFill>
                <a:latin typeface="ui-monospace"/>
                <a:sym typeface="Wingdings" panose="05000000000000000000" pitchFamily="2" charset="2"/>
              </a:endParaRPr>
            </a:p>
          </p:txBody>
        </p:sp>
      </p:grpSp>
      <p:grpSp>
        <p:nvGrpSpPr>
          <p:cNvPr id="1031" name="Group 25">
            <a:extLst>
              <a:ext uri="{FF2B5EF4-FFF2-40B4-BE49-F238E27FC236}">
                <a16:creationId xmlns:a16="http://schemas.microsoft.com/office/drawing/2014/main" id="{B54621BA-AD3A-DD53-96CC-BA4708F90F82}"/>
              </a:ext>
            </a:extLst>
          </p:cNvPr>
          <p:cNvGrpSpPr/>
          <p:nvPr/>
        </p:nvGrpSpPr>
        <p:grpSpPr>
          <a:xfrm>
            <a:off x="7655512" y="2890930"/>
            <a:ext cx="4386653" cy="941593"/>
            <a:chOff x="7614613" y="5950488"/>
            <a:chExt cx="4386653" cy="941593"/>
          </a:xfrm>
        </p:grpSpPr>
        <p:sp>
          <p:nvSpPr>
            <p:cNvPr id="1032" name="Rectangle: Rounded Corners 35">
              <a:extLst>
                <a:ext uri="{FF2B5EF4-FFF2-40B4-BE49-F238E27FC236}">
                  <a16:creationId xmlns:a16="http://schemas.microsoft.com/office/drawing/2014/main" id="{84EA3A8F-034A-125E-E530-CA0262FD8F5C}"/>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▶空间存储</a:t>
              </a:r>
              <a:endParaRPr lang="en-US" sz="1200" dirty="0">
                <a:solidFill>
                  <a:schemeClr val="bg1"/>
                </a:solidFill>
              </a:endParaRPr>
            </a:p>
          </p:txBody>
        </p:sp>
        <p:sp>
          <p:nvSpPr>
            <p:cNvPr id="1033" name="TextBox 36">
              <a:extLst>
                <a:ext uri="{FF2B5EF4-FFF2-40B4-BE49-F238E27FC236}">
                  <a16:creationId xmlns:a16="http://schemas.microsoft.com/office/drawing/2014/main" id="{70913FF4-0DFF-95AD-93C4-1531796A0BE4}"/>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位示图：对每个物理空间用一位标识，</a:t>
              </a:r>
              <a:r>
                <a:rPr lang="en-US" altLang="zh-CN" sz="1200" dirty="0">
                  <a:solidFill>
                    <a:schemeClr val="accent1"/>
                  </a:solidFill>
                  <a:latin typeface="ui-monospace"/>
                </a:rPr>
                <a:t>1</a:t>
              </a:r>
              <a:r>
                <a:rPr lang="zh-CN" altLang="en-US" sz="1200" dirty="0">
                  <a:solidFill>
                    <a:schemeClr val="accent1"/>
                  </a:solidFill>
                  <a:latin typeface="ui-monospace"/>
                </a:rPr>
                <a:t>则使用，</a:t>
              </a:r>
              <a:r>
                <a:rPr lang="en-US" altLang="zh-CN" sz="1200" dirty="0">
                  <a:solidFill>
                    <a:schemeClr val="accent1"/>
                  </a:solidFill>
                  <a:latin typeface="ui-monospace"/>
                </a:rPr>
                <a:t>0</a:t>
              </a:r>
              <a:r>
                <a:rPr lang="zh-CN" altLang="en-US" sz="1200" dirty="0">
                  <a:solidFill>
                    <a:schemeClr val="accent1"/>
                  </a:solidFill>
                  <a:latin typeface="ui-monospace"/>
                </a:rPr>
                <a:t>则空闲</a:t>
              </a:r>
              <a:endParaRPr lang="en-US" altLang="zh-CN" sz="1200" dirty="0">
                <a:solidFill>
                  <a:schemeClr val="accent1"/>
                </a:solidFill>
                <a:latin typeface="ui-monospace"/>
              </a:endParaRPr>
            </a:p>
            <a:p>
              <a:r>
                <a:rPr lang="zh-CN" altLang="en-US" sz="1200" dirty="0">
                  <a:solidFill>
                    <a:schemeClr val="accent1"/>
                  </a:solidFill>
                  <a:latin typeface="ui-monospace"/>
                </a:rPr>
                <a:t>逻辑编号 </a:t>
              </a:r>
              <a:r>
                <a:rPr lang="en-US" altLang="zh-CN" sz="1200" dirty="0">
                  <a:solidFill>
                    <a:schemeClr val="accent1"/>
                  </a:solidFill>
                  <a:latin typeface="ui-monospace"/>
                </a:rPr>
                <a:t>0/1</a:t>
              </a:r>
              <a:r>
                <a:rPr lang="zh-CN" altLang="en-US" sz="1200" dirty="0">
                  <a:solidFill>
                    <a:schemeClr val="accent1"/>
                  </a:solidFill>
                  <a:latin typeface="ui-monospace"/>
                </a:rPr>
                <a:t>字 代表物理块 </a:t>
              </a:r>
              <a:r>
                <a:rPr lang="en-US" altLang="zh-CN" sz="1200" dirty="0">
                  <a:solidFill>
                    <a:schemeClr val="accent1"/>
                  </a:solidFill>
                  <a:latin typeface="ui-monospace"/>
                </a:rPr>
                <a:t>0~31</a:t>
              </a:r>
              <a:r>
                <a:rPr lang="zh-CN" altLang="en-US" sz="1200" dirty="0">
                  <a:solidFill>
                    <a:schemeClr val="accent1"/>
                  </a:solidFill>
                  <a:latin typeface="ui-monospace"/>
                </a:rPr>
                <a:t>位</a:t>
              </a:r>
              <a:r>
                <a:rPr lang="en-US" altLang="zh-CN" sz="1200" dirty="0">
                  <a:solidFill>
                    <a:schemeClr val="accent1"/>
                  </a:solidFill>
                  <a:latin typeface="ui-monospace"/>
                </a:rPr>
                <a:t> 32*(n+1)-1</a:t>
              </a:r>
            </a:p>
            <a:p>
              <a:r>
                <a:rPr lang="zh-CN" altLang="en-US" sz="1200" dirty="0">
                  <a:solidFill>
                    <a:schemeClr val="accent1"/>
                  </a:solidFill>
                  <a:latin typeface="ui-monospace"/>
                </a:rPr>
                <a:t>求所需位示图的字大小</a:t>
              </a:r>
              <a:endParaRPr lang="en-US" altLang="zh-CN" sz="1200" dirty="0">
                <a:solidFill>
                  <a:schemeClr val="accent1"/>
                </a:solidFill>
                <a:latin typeface="ui-monospace"/>
              </a:endParaRPr>
            </a:p>
          </p:txBody>
        </p:sp>
      </p:grpSp>
      <p:grpSp>
        <p:nvGrpSpPr>
          <p:cNvPr id="1034" name="Group 25">
            <a:extLst>
              <a:ext uri="{FF2B5EF4-FFF2-40B4-BE49-F238E27FC236}">
                <a16:creationId xmlns:a16="http://schemas.microsoft.com/office/drawing/2014/main" id="{66881AD7-8406-FC61-2412-F6019C76843F}"/>
              </a:ext>
            </a:extLst>
          </p:cNvPr>
          <p:cNvGrpSpPr/>
          <p:nvPr/>
        </p:nvGrpSpPr>
        <p:grpSpPr>
          <a:xfrm>
            <a:off x="3092677" y="5027729"/>
            <a:ext cx="4386653" cy="572261"/>
            <a:chOff x="7614613" y="5950488"/>
            <a:chExt cx="4386653" cy="572261"/>
          </a:xfrm>
        </p:grpSpPr>
        <p:sp>
          <p:nvSpPr>
            <p:cNvPr id="1035" name="Rectangle: Rounded Corners 35">
              <a:extLst>
                <a:ext uri="{FF2B5EF4-FFF2-40B4-BE49-F238E27FC236}">
                  <a16:creationId xmlns:a16="http://schemas.microsoft.com/office/drawing/2014/main" id="{02A56987-E0FA-82A0-DFA4-C5C11F7EAA52}"/>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a:t>
              </a:r>
              <a:r>
                <a:rPr lang="en-US" altLang="zh-CN" sz="1200" dirty="0">
                  <a:solidFill>
                    <a:schemeClr val="bg1"/>
                  </a:solidFill>
                  <a:latin typeface="ui-monospace"/>
                </a:rPr>
                <a:t>I/O</a:t>
              </a:r>
              <a:endParaRPr lang="en-US" sz="1200" dirty="0">
                <a:solidFill>
                  <a:schemeClr val="bg1"/>
                </a:solidFill>
              </a:endParaRPr>
            </a:p>
          </p:txBody>
        </p:sp>
        <p:sp>
          <p:nvSpPr>
            <p:cNvPr id="1036" name="TextBox 36">
              <a:extLst>
                <a:ext uri="{FF2B5EF4-FFF2-40B4-BE49-F238E27FC236}">
                  <a16:creationId xmlns:a16="http://schemas.microsoft.com/office/drawing/2014/main" id="{C49C25CA-619C-B1F1-DC22-700C7F72C852}"/>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latin typeface="ui-monospace"/>
                </a:rPr>
                <a:t>位</a:t>
              </a:r>
              <a:endParaRPr lang="en-US" altLang="zh-CN" sz="1200" dirty="0">
                <a:solidFill>
                  <a:schemeClr val="accent1"/>
                </a:solidFill>
                <a:latin typeface="ui-monospace"/>
              </a:endParaRPr>
            </a:p>
          </p:txBody>
        </p:sp>
      </p:grpSp>
      <p:pic>
        <p:nvPicPr>
          <p:cNvPr id="1038" name="Picture 1037">
            <a:extLst>
              <a:ext uri="{FF2B5EF4-FFF2-40B4-BE49-F238E27FC236}">
                <a16:creationId xmlns:a16="http://schemas.microsoft.com/office/drawing/2014/main" id="{F11284EF-7D41-13A9-47E2-EA5410D9A470}"/>
              </a:ext>
            </a:extLst>
          </p:cNvPr>
          <p:cNvPicPr>
            <a:picLocks noChangeAspect="1"/>
          </p:cNvPicPr>
          <p:nvPr/>
        </p:nvPicPr>
        <p:blipFill>
          <a:blip r:embed="rId6"/>
          <a:stretch>
            <a:fillRect/>
          </a:stretch>
        </p:blipFill>
        <p:spPr>
          <a:xfrm>
            <a:off x="3804217" y="5389803"/>
            <a:ext cx="3578269" cy="1454849"/>
          </a:xfrm>
          <a:prstGeom prst="rect">
            <a:avLst/>
          </a:prstGeom>
        </p:spPr>
      </p:pic>
      <p:grpSp>
        <p:nvGrpSpPr>
          <p:cNvPr id="1039" name="Group 25">
            <a:extLst>
              <a:ext uri="{FF2B5EF4-FFF2-40B4-BE49-F238E27FC236}">
                <a16:creationId xmlns:a16="http://schemas.microsoft.com/office/drawing/2014/main" id="{D10FAB65-60CF-5D44-7650-571000F9EC56}"/>
              </a:ext>
            </a:extLst>
          </p:cNvPr>
          <p:cNvGrpSpPr/>
          <p:nvPr/>
        </p:nvGrpSpPr>
        <p:grpSpPr>
          <a:xfrm>
            <a:off x="7655287" y="3808122"/>
            <a:ext cx="4386653" cy="1310925"/>
            <a:chOff x="7614613" y="5950488"/>
            <a:chExt cx="4386653" cy="1310925"/>
          </a:xfrm>
        </p:grpSpPr>
        <p:sp>
          <p:nvSpPr>
            <p:cNvPr id="1040" name="Rectangle: Rounded Corners 35">
              <a:extLst>
                <a:ext uri="{FF2B5EF4-FFF2-40B4-BE49-F238E27FC236}">
                  <a16:creationId xmlns:a16="http://schemas.microsoft.com/office/drawing/2014/main" id="{2E8BB390-EC94-2C18-A984-8DAFA4F97A1E}"/>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▶作业管理</a:t>
              </a:r>
              <a:endParaRPr lang="en-US" sz="1200" dirty="0">
                <a:solidFill>
                  <a:schemeClr val="bg1"/>
                </a:solidFill>
              </a:endParaRPr>
            </a:p>
          </p:txBody>
        </p:sp>
        <p:sp>
          <p:nvSpPr>
            <p:cNvPr id="1041" name="TextBox 36">
              <a:extLst>
                <a:ext uri="{FF2B5EF4-FFF2-40B4-BE49-F238E27FC236}">
                  <a16:creationId xmlns:a16="http://schemas.microsoft.com/office/drawing/2014/main" id="{3A3D407F-7915-208D-BF24-7E243E2EE541}"/>
                </a:ext>
              </a:extLst>
            </p:cNvPr>
            <p:cNvSpPr txBox="1"/>
            <p:nvPr/>
          </p:nvSpPr>
          <p:spPr>
            <a:xfrm>
              <a:off x="7667294" y="6245750"/>
              <a:ext cx="4281578" cy="1015663"/>
            </a:xfrm>
            <a:prstGeom prst="rect">
              <a:avLst/>
            </a:prstGeom>
            <a:noFill/>
          </p:spPr>
          <p:txBody>
            <a:bodyPr wrap="square">
              <a:spAutoFit/>
            </a:bodyPr>
            <a:lstStyle/>
            <a:p>
              <a:r>
                <a:rPr lang="zh-CN" altLang="en-US" sz="1200" dirty="0">
                  <a:solidFill>
                    <a:schemeClr val="accent1"/>
                  </a:solidFill>
                  <a:latin typeface="ui-monospace"/>
                </a:rPr>
                <a:t>作业：系统为完成一个用户的计算任务</a:t>
              </a:r>
              <a:r>
                <a:rPr lang="en-US" altLang="zh-CN" sz="1200" dirty="0">
                  <a:solidFill>
                    <a:schemeClr val="accent1"/>
                  </a:solidFill>
                  <a:latin typeface="ui-monospace"/>
                </a:rPr>
                <a:t>(</a:t>
              </a:r>
              <a:r>
                <a:rPr lang="zh-CN" altLang="en-US" sz="1200" dirty="0">
                  <a:solidFill>
                    <a:schemeClr val="accent1"/>
                  </a:solidFill>
                  <a:latin typeface="ui-monospace"/>
                </a:rPr>
                <a:t>或事务处理</a:t>
              </a:r>
              <a:r>
                <a:rPr lang="en-US" altLang="zh-CN" sz="1200" dirty="0">
                  <a:solidFill>
                    <a:schemeClr val="accent1"/>
                  </a:solidFill>
                  <a:latin typeface="ui-monospace"/>
                </a:rPr>
                <a:t>)</a:t>
              </a:r>
              <a:r>
                <a:rPr lang="zh-CN" altLang="en-US" sz="1200" dirty="0">
                  <a:solidFill>
                    <a:schemeClr val="accent1"/>
                  </a:solidFill>
                  <a:latin typeface="ui-monospace"/>
                </a:rPr>
                <a:t>所做的工作总和</a:t>
              </a:r>
              <a:endParaRPr lang="en-US" altLang="zh-CN" sz="1200" dirty="0">
                <a:solidFill>
                  <a:schemeClr val="accent1"/>
                </a:solidFill>
                <a:latin typeface="ui-monospace"/>
              </a:endParaRPr>
            </a:p>
            <a:p>
              <a:r>
                <a:rPr lang="zh-CN" altLang="en-US" sz="1200" dirty="0">
                  <a:solidFill>
                    <a:schemeClr val="accent1"/>
                  </a:solidFill>
                  <a:latin typeface="ui-monospace"/>
                </a:rPr>
                <a:t>状态：提交、后备、执行、完成</a:t>
              </a:r>
              <a:endParaRPr lang="en-US" altLang="zh-CN" sz="1200" dirty="0">
                <a:solidFill>
                  <a:schemeClr val="accent1"/>
                </a:solidFill>
                <a:latin typeface="ui-monospace"/>
              </a:endParaRPr>
            </a:p>
            <a:p>
              <a:r>
                <a:rPr lang="zh-CN" altLang="en-US" sz="1200" dirty="0">
                  <a:solidFill>
                    <a:schemeClr val="accent1"/>
                  </a:solidFill>
                  <a:latin typeface="ui-monospace"/>
                </a:rPr>
                <a:t>作业调度算法：</a:t>
              </a:r>
              <a:endParaRPr lang="en-US" altLang="zh-CN" sz="1200" dirty="0">
                <a:solidFill>
                  <a:schemeClr val="accent1"/>
                </a:solidFill>
                <a:latin typeface="ui-monospace"/>
              </a:endParaRPr>
            </a:p>
            <a:p>
              <a:r>
                <a:rPr lang="zh-CN" altLang="en-US" sz="1200" dirty="0">
                  <a:solidFill>
                    <a:schemeClr val="accent1"/>
                  </a:solidFill>
                  <a:latin typeface="ui-monospace"/>
                </a:rPr>
                <a:t>用户界面</a:t>
              </a:r>
              <a:endParaRPr lang="en-US" altLang="zh-CN" sz="1200" dirty="0">
                <a:solidFill>
                  <a:schemeClr val="accent1"/>
                </a:solidFill>
                <a:latin typeface="ui-monospace"/>
              </a:endParaRPr>
            </a:p>
          </p:txBody>
        </p:sp>
      </p:grpSp>
    </p:spTree>
    <p:extLst>
      <p:ext uri="{BB962C8B-B14F-4D97-AF65-F5344CB8AC3E}">
        <p14:creationId xmlns:p14="http://schemas.microsoft.com/office/powerpoint/2010/main" val="27986049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1DE44-A8FF-F3D4-CCA5-6F339E44FF1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84DB452-2F70-2B9B-75DE-AD4782E1B15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EE19CFA-4A90-9F52-6680-093B90433163}"/>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BFFB5BB-487E-6457-1279-FB068E5A0246}"/>
              </a:ext>
            </a:extLst>
          </p:cNvPr>
          <p:cNvSpPr txBox="1"/>
          <p:nvPr/>
        </p:nvSpPr>
        <p:spPr>
          <a:xfrm>
            <a:off x="0" y="959472"/>
            <a:ext cx="2986206" cy="267765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结构化开发</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7D2CB94B-BD1F-F8F6-924C-0E787FEA4D4C}"/>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EEFEE837-5032-B974-BDCA-3E3B9C094146}"/>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0" name="Group 25">
            <a:extLst>
              <a:ext uri="{FF2B5EF4-FFF2-40B4-BE49-F238E27FC236}">
                <a16:creationId xmlns:a16="http://schemas.microsoft.com/office/drawing/2014/main" id="{8287B287-35B5-20A1-748E-0B0CA8B2CA17}"/>
              </a:ext>
            </a:extLst>
          </p:cNvPr>
          <p:cNvGrpSpPr/>
          <p:nvPr/>
        </p:nvGrpSpPr>
        <p:grpSpPr>
          <a:xfrm>
            <a:off x="3097887" y="61796"/>
            <a:ext cx="4386653" cy="756927"/>
            <a:chOff x="7614613" y="5950488"/>
            <a:chExt cx="4386653" cy="756927"/>
          </a:xfrm>
        </p:grpSpPr>
        <p:sp>
          <p:nvSpPr>
            <p:cNvPr id="31" name="Rectangle: Rounded Corners 35">
              <a:extLst>
                <a:ext uri="{FF2B5EF4-FFF2-40B4-BE49-F238E27FC236}">
                  <a16:creationId xmlns:a16="http://schemas.microsoft.com/office/drawing/2014/main" id="{A0CE83D1-9FDB-7D17-0DEA-00B72F583B4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▶系统设计</a:t>
              </a:r>
              <a:endParaRPr lang="en-US" sz="1200" dirty="0">
                <a:solidFill>
                  <a:schemeClr val="bg1"/>
                </a:solidFill>
              </a:endParaRPr>
            </a:p>
          </p:txBody>
        </p:sp>
        <p:sp>
          <p:nvSpPr>
            <p:cNvPr id="32" name="TextBox 36">
              <a:extLst>
                <a:ext uri="{FF2B5EF4-FFF2-40B4-BE49-F238E27FC236}">
                  <a16:creationId xmlns:a16="http://schemas.microsoft.com/office/drawing/2014/main" id="{D51AA4D0-88BB-4B3D-0CC3-7780E2577F7F}"/>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抽象、模块化、信息隐蔽、模块独立</a:t>
              </a:r>
              <a:r>
                <a:rPr lang="en-US" altLang="zh-CN" sz="1200" dirty="0">
                  <a:solidFill>
                    <a:schemeClr val="accent1"/>
                  </a:solidFill>
                  <a:latin typeface="ui-monospace"/>
                </a:rPr>
                <a:t>(</a:t>
              </a:r>
              <a:r>
                <a:rPr lang="zh-CN" altLang="en-US" sz="1200" dirty="0">
                  <a:solidFill>
                    <a:schemeClr val="accent1"/>
                  </a:solidFill>
                  <a:latin typeface="ui-monospace"/>
                </a:rPr>
                <a:t>低耦合</a:t>
              </a:r>
              <a:r>
                <a:rPr lang="en-US" altLang="zh-CN" sz="1200" dirty="0">
                  <a:solidFill>
                    <a:schemeClr val="accent1"/>
                  </a:solidFill>
                  <a:latin typeface="ui-monospace"/>
                </a:rPr>
                <a:t>/</a:t>
              </a:r>
              <a:r>
                <a:rPr lang="zh-CN" altLang="en-US" sz="1200" dirty="0">
                  <a:solidFill>
                    <a:schemeClr val="accent1"/>
                  </a:solidFill>
                  <a:latin typeface="ui-monospace"/>
                </a:rPr>
                <a:t>高内聚</a:t>
              </a:r>
              <a:r>
                <a:rPr lang="en-US" altLang="zh-CN" sz="1200" dirty="0">
                  <a:solidFill>
                    <a:schemeClr val="accent1"/>
                  </a:solidFill>
                  <a:latin typeface="ui-monospace"/>
                </a:rPr>
                <a:t>)</a:t>
              </a:r>
            </a:p>
            <a:p>
              <a:endParaRPr lang="en-US" altLang="zh-CN" sz="1200" dirty="0">
                <a:solidFill>
                  <a:schemeClr val="accent1"/>
                </a:solidFill>
                <a:latin typeface="ui-monospace"/>
              </a:endParaRPr>
            </a:p>
          </p:txBody>
        </p:sp>
      </p:grpSp>
      <p:grpSp>
        <p:nvGrpSpPr>
          <p:cNvPr id="33" name="Group 25">
            <a:extLst>
              <a:ext uri="{FF2B5EF4-FFF2-40B4-BE49-F238E27FC236}">
                <a16:creationId xmlns:a16="http://schemas.microsoft.com/office/drawing/2014/main" id="{1A0D6914-735B-FCB0-4F6D-271113A546DC}"/>
              </a:ext>
            </a:extLst>
          </p:cNvPr>
          <p:cNvGrpSpPr/>
          <p:nvPr/>
        </p:nvGrpSpPr>
        <p:grpSpPr>
          <a:xfrm>
            <a:off x="7655287" y="71394"/>
            <a:ext cx="4386653" cy="572261"/>
            <a:chOff x="7614613" y="5950488"/>
            <a:chExt cx="4386653" cy="572261"/>
          </a:xfrm>
        </p:grpSpPr>
        <p:sp>
          <p:nvSpPr>
            <p:cNvPr id="34" name="Rectangle: Rounded Corners 35">
              <a:extLst>
                <a:ext uri="{FF2B5EF4-FFF2-40B4-BE49-F238E27FC236}">
                  <a16:creationId xmlns:a16="http://schemas.microsoft.com/office/drawing/2014/main" id="{DFDC20B5-7672-72EB-8E96-56E78F55E18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▶系统文档</a:t>
              </a:r>
              <a:endParaRPr lang="en-US" sz="1200" dirty="0">
                <a:solidFill>
                  <a:schemeClr val="bg1"/>
                </a:solidFill>
              </a:endParaRPr>
            </a:p>
          </p:txBody>
        </p:sp>
        <p:sp>
          <p:nvSpPr>
            <p:cNvPr id="35" name="TextBox 36">
              <a:extLst>
                <a:ext uri="{FF2B5EF4-FFF2-40B4-BE49-F238E27FC236}">
                  <a16:creationId xmlns:a16="http://schemas.microsoft.com/office/drawing/2014/main" id="{11539F2F-4E0D-B640-2DEB-62F215F1DAF4}"/>
                </a:ext>
              </a:extLst>
            </p:cNvPr>
            <p:cNvSpPr txBox="1"/>
            <p:nvPr/>
          </p:nvSpPr>
          <p:spPr>
            <a:xfrm>
              <a:off x="7667294" y="6245750"/>
              <a:ext cx="4281578" cy="276999"/>
            </a:xfrm>
            <a:prstGeom prst="rect">
              <a:avLst/>
            </a:prstGeom>
            <a:noFill/>
          </p:spPr>
          <p:txBody>
            <a:bodyPr wrap="square">
              <a:spAutoFit/>
            </a:bodyPr>
            <a:lstStyle/>
            <a:p>
              <a:endParaRPr lang="en-US" altLang="zh-CN" sz="1200" dirty="0">
                <a:solidFill>
                  <a:schemeClr val="accent1"/>
                </a:solidFill>
                <a:latin typeface="ui-monospace"/>
              </a:endParaRPr>
            </a:p>
          </p:txBody>
        </p:sp>
      </p:grpSp>
      <p:graphicFrame>
        <p:nvGraphicFramePr>
          <p:cNvPr id="4" name="Table 10">
            <a:extLst>
              <a:ext uri="{FF2B5EF4-FFF2-40B4-BE49-F238E27FC236}">
                <a16:creationId xmlns:a16="http://schemas.microsoft.com/office/drawing/2014/main" id="{0735D670-555B-2B07-DC53-B14CDC9B61BE}"/>
              </a:ext>
            </a:extLst>
          </p:cNvPr>
          <p:cNvGraphicFramePr>
            <a:graphicFrameLocks noGrp="1"/>
          </p:cNvGraphicFramePr>
          <p:nvPr/>
        </p:nvGraphicFramePr>
        <p:xfrm>
          <a:off x="3166330" y="652808"/>
          <a:ext cx="3714948" cy="1600200"/>
        </p:xfrm>
        <a:graphic>
          <a:graphicData uri="http://schemas.openxmlformats.org/drawingml/2006/table">
            <a:tbl>
              <a:tblPr firstRow="1" bandRow="1">
                <a:tableStyleId>{5C22544A-7EE6-4342-B048-85BDC9FD1C3A}</a:tableStyleId>
              </a:tblPr>
              <a:tblGrid>
                <a:gridCol w="865458">
                  <a:extLst>
                    <a:ext uri="{9D8B030D-6E8A-4147-A177-3AD203B41FA5}">
                      <a16:colId xmlns:a16="http://schemas.microsoft.com/office/drawing/2014/main" val="4196207211"/>
                    </a:ext>
                  </a:extLst>
                </a:gridCol>
                <a:gridCol w="2849490">
                  <a:extLst>
                    <a:ext uri="{9D8B030D-6E8A-4147-A177-3AD203B41FA5}">
                      <a16:colId xmlns:a16="http://schemas.microsoft.com/office/drawing/2014/main" val="3523767036"/>
                    </a:ext>
                  </a:extLst>
                </a:gridCol>
              </a:tblGrid>
              <a:tr h="204220">
                <a:tc>
                  <a:txBody>
                    <a:bodyPr/>
                    <a:lstStyle/>
                    <a:p>
                      <a:pPr algn="ctr"/>
                      <a:r>
                        <a:rPr lang="zh-CN" altLang="en-US" sz="900" b="1" dirty="0">
                          <a:solidFill>
                            <a:schemeClr val="tx1"/>
                          </a:solidFill>
                        </a:rPr>
                        <a:t>无直接耦合</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模块间无直接关系</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1" dirty="0">
                          <a:solidFill>
                            <a:schemeClr val="tx1"/>
                          </a:solidFill>
                        </a:rPr>
                        <a:t>数据耦合</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有调用关系，传递</a:t>
                      </a:r>
                      <a:r>
                        <a:rPr lang="zh-CN" altLang="en-US" sz="900" b="1" dirty="0">
                          <a:solidFill>
                            <a:schemeClr val="tx1"/>
                          </a:solidFill>
                        </a:rPr>
                        <a:t>简单数据</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r h="204220">
                <a:tc>
                  <a:txBody>
                    <a:bodyPr/>
                    <a:lstStyle/>
                    <a:p>
                      <a:pPr algn="ctr"/>
                      <a:r>
                        <a:rPr lang="zh-CN" altLang="en-US" sz="900" b="1" dirty="0">
                          <a:solidFill>
                            <a:schemeClr val="tx1"/>
                          </a:solidFill>
                        </a:rPr>
                        <a:t>标记耦合</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传递</a:t>
                      </a:r>
                      <a:r>
                        <a:rPr lang="zh-CN" altLang="en-US" sz="900" b="1" dirty="0">
                          <a:solidFill>
                            <a:schemeClr val="tx1"/>
                          </a:solidFill>
                        </a:rPr>
                        <a:t>数据结构</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zh-CN" altLang="en-US" sz="900" b="1" dirty="0">
                          <a:solidFill>
                            <a:schemeClr val="tx1"/>
                          </a:solidFill>
                        </a:rPr>
                        <a:t>控制耦合</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传递</a:t>
                      </a:r>
                      <a:r>
                        <a:rPr lang="zh-CN" altLang="en-US" sz="900" b="1" dirty="0">
                          <a:solidFill>
                            <a:schemeClr val="tx1"/>
                          </a:solidFill>
                        </a:rPr>
                        <a:t>控制变量</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r h="204220">
                <a:tc>
                  <a:txBody>
                    <a:bodyPr/>
                    <a:lstStyle/>
                    <a:p>
                      <a:pPr algn="ctr"/>
                      <a:r>
                        <a:rPr lang="zh-CN" altLang="en-US" sz="900" b="1" dirty="0">
                          <a:solidFill>
                            <a:schemeClr val="tx1"/>
                          </a:solidFill>
                        </a:rPr>
                        <a:t>外部耦合</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通过软件之外的环境联结</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608652"/>
                  </a:ext>
                </a:extLst>
              </a:tr>
              <a:tr h="204220">
                <a:tc>
                  <a:txBody>
                    <a:bodyPr/>
                    <a:lstStyle/>
                    <a:p>
                      <a:pPr algn="ctr"/>
                      <a:r>
                        <a:rPr lang="zh-CN" altLang="en-US" sz="900" b="1" dirty="0">
                          <a:solidFill>
                            <a:schemeClr val="tx1"/>
                          </a:solidFill>
                        </a:rPr>
                        <a:t>公共耦合</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通过</a:t>
                      </a:r>
                      <a:r>
                        <a:rPr lang="zh-CN" altLang="en-US" sz="900" b="1" dirty="0">
                          <a:solidFill>
                            <a:schemeClr val="tx1"/>
                          </a:solidFill>
                        </a:rPr>
                        <a:t>公共数据环境</a:t>
                      </a:r>
                      <a:r>
                        <a:rPr lang="zh-CN" altLang="en-US" sz="900" b="0" dirty="0">
                          <a:solidFill>
                            <a:schemeClr val="tx1"/>
                          </a:solidFill>
                        </a:rPr>
                        <a:t>相互作用</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8787694"/>
                  </a:ext>
                </a:extLst>
              </a:tr>
              <a:tr h="204220">
                <a:tc>
                  <a:txBody>
                    <a:bodyPr/>
                    <a:lstStyle/>
                    <a:p>
                      <a:pPr algn="ctr"/>
                      <a:r>
                        <a:rPr lang="zh-CN" altLang="en-US" sz="900" b="1" dirty="0">
                          <a:solidFill>
                            <a:schemeClr val="tx1"/>
                          </a:solidFill>
                        </a:rPr>
                        <a:t>内容耦合</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直接使用另一模块</a:t>
                      </a:r>
                      <a:r>
                        <a:rPr lang="zh-CN" altLang="en-US" sz="900" b="1" dirty="0">
                          <a:solidFill>
                            <a:schemeClr val="tx1"/>
                          </a:solidFill>
                        </a:rPr>
                        <a:t>内部数据</a:t>
                      </a:r>
                      <a:r>
                        <a:rPr lang="zh-CN" altLang="en-US" sz="900" b="0" dirty="0">
                          <a:solidFill>
                            <a:schemeClr val="tx1"/>
                          </a:solidFill>
                        </a:rPr>
                        <a:t>或转入内部</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253374"/>
                  </a:ext>
                </a:extLst>
              </a:tr>
            </a:tbl>
          </a:graphicData>
        </a:graphic>
      </p:graphicFrame>
      <p:cxnSp>
        <p:nvCxnSpPr>
          <p:cNvPr id="8" name="直接箭头连接符 7">
            <a:extLst>
              <a:ext uri="{FF2B5EF4-FFF2-40B4-BE49-F238E27FC236}">
                <a16:creationId xmlns:a16="http://schemas.microsoft.com/office/drawing/2014/main" id="{F1AE0D19-B4FF-476C-458A-F130AB7197AA}"/>
              </a:ext>
            </a:extLst>
          </p:cNvPr>
          <p:cNvCxnSpPr/>
          <p:nvPr/>
        </p:nvCxnSpPr>
        <p:spPr>
          <a:xfrm>
            <a:off x="7172075" y="688580"/>
            <a:ext cx="0" cy="1569598"/>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8C234E45-5377-5693-7203-E048F21847F3}"/>
              </a:ext>
            </a:extLst>
          </p:cNvPr>
          <p:cNvCxnSpPr>
            <a:cxnSpLocks/>
          </p:cNvCxnSpPr>
          <p:nvPr/>
        </p:nvCxnSpPr>
        <p:spPr>
          <a:xfrm flipV="1">
            <a:off x="7249764" y="683410"/>
            <a:ext cx="0" cy="1569598"/>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13" name="文本框 12">
            <a:extLst>
              <a:ext uri="{FF2B5EF4-FFF2-40B4-BE49-F238E27FC236}">
                <a16:creationId xmlns:a16="http://schemas.microsoft.com/office/drawing/2014/main" id="{AEAB2E91-8D02-3465-6705-1C19295FC07F}"/>
              </a:ext>
            </a:extLst>
          </p:cNvPr>
          <p:cNvSpPr txBox="1"/>
          <p:nvPr/>
        </p:nvSpPr>
        <p:spPr>
          <a:xfrm rot="16200000">
            <a:off x="6767510" y="1329796"/>
            <a:ext cx="569387" cy="246221"/>
          </a:xfrm>
          <a:prstGeom prst="rect">
            <a:avLst/>
          </a:prstGeom>
          <a:noFill/>
        </p:spPr>
        <p:txBody>
          <a:bodyPr wrap="none" rtlCol="0">
            <a:spAutoFit/>
          </a:bodyPr>
          <a:lstStyle/>
          <a:p>
            <a:r>
              <a:rPr lang="zh-CN" altLang="en-US" sz="1000" b="1" dirty="0"/>
              <a:t>耦合性</a:t>
            </a:r>
          </a:p>
        </p:txBody>
      </p:sp>
      <p:sp>
        <p:nvSpPr>
          <p:cNvPr id="14" name="文本框 13">
            <a:extLst>
              <a:ext uri="{FF2B5EF4-FFF2-40B4-BE49-F238E27FC236}">
                <a16:creationId xmlns:a16="http://schemas.microsoft.com/office/drawing/2014/main" id="{B894358F-4825-2424-CA27-EA89E30E3008}"/>
              </a:ext>
            </a:extLst>
          </p:cNvPr>
          <p:cNvSpPr txBox="1"/>
          <p:nvPr/>
        </p:nvSpPr>
        <p:spPr>
          <a:xfrm rot="16200000">
            <a:off x="6953817" y="1345697"/>
            <a:ext cx="825867" cy="246221"/>
          </a:xfrm>
          <a:prstGeom prst="rect">
            <a:avLst/>
          </a:prstGeom>
          <a:noFill/>
        </p:spPr>
        <p:txBody>
          <a:bodyPr wrap="none" rtlCol="0">
            <a:spAutoFit/>
          </a:bodyPr>
          <a:lstStyle/>
          <a:p>
            <a:r>
              <a:rPr lang="zh-CN" altLang="en-US" sz="1000" b="1" dirty="0"/>
              <a:t>模块独立性</a:t>
            </a:r>
          </a:p>
        </p:txBody>
      </p:sp>
      <p:graphicFrame>
        <p:nvGraphicFramePr>
          <p:cNvPr id="15" name="Table 10">
            <a:extLst>
              <a:ext uri="{FF2B5EF4-FFF2-40B4-BE49-F238E27FC236}">
                <a16:creationId xmlns:a16="http://schemas.microsoft.com/office/drawing/2014/main" id="{DC220731-45D9-FB51-F0F0-953E71634A73}"/>
              </a:ext>
            </a:extLst>
          </p:cNvPr>
          <p:cNvGraphicFramePr>
            <a:graphicFrameLocks noGrp="1"/>
          </p:cNvGraphicFramePr>
          <p:nvPr/>
        </p:nvGraphicFramePr>
        <p:xfrm>
          <a:off x="3166331" y="2378845"/>
          <a:ext cx="3714948" cy="1874520"/>
        </p:xfrm>
        <a:graphic>
          <a:graphicData uri="http://schemas.openxmlformats.org/drawingml/2006/table">
            <a:tbl>
              <a:tblPr firstRow="1" bandRow="1">
                <a:tableStyleId>{5C22544A-7EE6-4342-B048-85BDC9FD1C3A}</a:tableStyleId>
              </a:tblPr>
              <a:tblGrid>
                <a:gridCol w="865458">
                  <a:extLst>
                    <a:ext uri="{9D8B030D-6E8A-4147-A177-3AD203B41FA5}">
                      <a16:colId xmlns:a16="http://schemas.microsoft.com/office/drawing/2014/main" val="4196207211"/>
                    </a:ext>
                  </a:extLst>
                </a:gridCol>
                <a:gridCol w="2849490">
                  <a:extLst>
                    <a:ext uri="{9D8B030D-6E8A-4147-A177-3AD203B41FA5}">
                      <a16:colId xmlns:a16="http://schemas.microsoft.com/office/drawing/2014/main" val="3523767036"/>
                    </a:ext>
                  </a:extLst>
                </a:gridCol>
              </a:tblGrid>
              <a:tr h="204220">
                <a:tc>
                  <a:txBody>
                    <a:bodyPr/>
                    <a:lstStyle/>
                    <a:p>
                      <a:pPr algn="ctr"/>
                      <a:r>
                        <a:rPr lang="zh-CN" altLang="en-US" sz="900" b="1" dirty="0">
                          <a:solidFill>
                            <a:schemeClr val="tx1"/>
                          </a:solidFill>
                        </a:rPr>
                        <a:t>偶然内聚</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模块内无联系</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1" dirty="0">
                          <a:solidFill>
                            <a:schemeClr val="tx1"/>
                          </a:solidFill>
                        </a:rPr>
                        <a:t>逻辑内聚</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执行若干</a:t>
                      </a:r>
                      <a:r>
                        <a:rPr lang="zh-CN" altLang="en-US" sz="900" b="1" dirty="0">
                          <a:solidFill>
                            <a:schemeClr val="tx1"/>
                          </a:solidFill>
                        </a:rPr>
                        <a:t>逻辑相似</a:t>
                      </a:r>
                      <a:r>
                        <a:rPr lang="zh-CN" altLang="en-US" sz="900" b="0" dirty="0">
                          <a:solidFill>
                            <a:schemeClr val="tx1"/>
                          </a:solidFill>
                        </a:rPr>
                        <a:t>功能，通过参数确定具体功能</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r h="204220">
                <a:tc>
                  <a:txBody>
                    <a:bodyPr/>
                    <a:lstStyle/>
                    <a:p>
                      <a:pPr algn="ctr"/>
                      <a:r>
                        <a:rPr lang="zh-CN" altLang="en-US" sz="900" b="1" dirty="0">
                          <a:solidFill>
                            <a:schemeClr val="tx1"/>
                          </a:solidFill>
                        </a:rPr>
                        <a:t>时间内聚</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将</a:t>
                      </a:r>
                      <a:r>
                        <a:rPr lang="zh-CN" altLang="en-US" sz="900" b="1" dirty="0">
                          <a:solidFill>
                            <a:schemeClr val="tx1"/>
                          </a:solidFill>
                        </a:rPr>
                        <a:t>同时执行</a:t>
                      </a:r>
                      <a:r>
                        <a:rPr lang="zh-CN" altLang="en-US" sz="900" b="0" dirty="0">
                          <a:solidFill>
                            <a:schemeClr val="tx1"/>
                          </a:solidFill>
                        </a:rPr>
                        <a:t>的动作组合</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zh-CN" altLang="en-US" sz="900" b="1" dirty="0">
                          <a:solidFill>
                            <a:schemeClr val="tx1"/>
                          </a:solidFill>
                        </a:rPr>
                        <a:t>过程内聚</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完成</a:t>
                      </a:r>
                      <a:r>
                        <a:rPr lang="zh-CN" altLang="en-US" sz="900" b="1" dirty="0">
                          <a:solidFill>
                            <a:schemeClr val="tx1"/>
                          </a:solidFill>
                        </a:rPr>
                        <a:t>多个</a:t>
                      </a:r>
                      <a:r>
                        <a:rPr lang="zh-CN" altLang="en-US" sz="900" b="0" dirty="0">
                          <a:solidFill>
                            <a:schemeClr val="tx1"/>
                          </a:solidFill>
                        </a:rPr>
                        <a:t>按</a:t>
                      </a:r>
                      <a:r>
                        <a:rPr lang="zh-CN" altLang="en-US" sz="900" b="1" dirty="0">
                          <a:solidFill>
                            <a:schemeClr val="tx1"/>
                          </a:solidFill>
                        </a:rPr>
                        <a:t>指定过程</a:t>
                      </a:r>
                      <a:r>
                        <a:rPr lang="zh-CN" altLang="en-US" sz="900" b="0" dirty="0">
                          <a:solidFill>
                            <a:schemeClr val="tx1"/>
                          </a:solidFill>
                        </a:rPr>
                        <a:t>执行的组合</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r h="204220">
                <a:tc>
                  <a:txBody>
                    <a:bodyPr/>
                    <a:lstStyle/>
                    <a:p>
                      <a:pPr algn="ctr"/>
                      <a:r>
                        <a:rPr lang="zh-CN" altLang="en-US" sz="900" b="1" dirty="0">
                          <a:solidFill>
                            <a:schemeClr val="tx1"/>
                          </a:solidFill>
                        </a:rPr>
                        <a:t>通信内聚</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处理元素在用一个</a:t>
                      </a:r>
                      <a:r>
                        <a:rPr lang="zh-CN" altLang="en-US" sz="900" b="1" dirty="0">
                          <a:solidFill>
                            <a:schemeClr val="tx1"/>
                          </a:solidFill>
                        </a:rPr>
                        <a:t>数据结构</a:t>
                      </a:r>
                      <a:r>
                        <a:rPr lang="zh-CN" altLang="en-US" sz="900" b="0" dirty="0">
                          <a:solidFill>
                            <a:schemeClr val="tx1"/>
                          </a:solidFill>
                        </a:rPr>
                        <a:t>上操作，或使用相同输入</a:t>
                      </a:r>
                      <a:r>
                        <a:rPr lang="en-US" altLang="zh-CN" sz="900" b="0" dirty="0">
                          <a:solidFill>
                            <a:schemeClr val="tx1"/>
                          </a:solidFill>
                        </a:rPr>
                        <a:t>/</a:t>
                      </a:r>
                      <a:r>
                        <a:rPr lang="zh-CN" altLang="en-US" sz="900" b="0" dirty="0">
                          <a:solidFill>
                            <a:schemeClr val="tx1"/>
                          </a:solidFill>
                        </a:rPr>
                        <a:t>产生相同输出数据</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608652"/>
                  </a:ext>
                </a:extLst>
              </a:tr>
              <a:tr h="204220">
                <a:tc>
                  <a:txBody>
                    <a:bodyPr/>
                    <a:lstStyle/>
                    <a:p>
                      <a:pPr algn="ctr"/>
                      <a:r>
                        <a:rPr lang="zh-CN" altLang="en-US" sz="900" b="1" dirty="0">
                          <a:solidFill>
                            <a:schemeClr val="tx1"/>
                          </a:solidFill>
                        </a:rPr>
                        <a:t>顺序内聚</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处理元素紧密相关且</a:t>
                      </a:r>
                      <a:r>
                        <a:rPr lang="zh-CN" altLang="en-US" sz="900" b="1" dirty="0">
                          <a:solidFill>
                            <a:schemeClr val="tx1"/>
                          </a:solidFill>
                        </a:rPr>
                        <a:t>顺序执行</a:t>
                      </a:r>
                      <a:r>
                        <a:rPr lang="zh-CN" altLang="en-US" sz="900" b="0" dirty="0">
                          <a:solidFill>
                            <a:schemeClr val="tx1"/>
                          </a:solidFill>
                        </a:rPr>
                        <a:t>，前一功能输出是下一功能输入</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8787694"/>
                  </a:ext>
                </a:extLst>
              </a:tr>
              <a:tr h="204220">
                <a:tc>
                  <a:txBody>
                    <a:bodyPr/>
                    <a:lstStyle/>
                    <a:p>
                      <a:pPr algn="ctr"/>
                      <a:r>
                        <a:rPr lang="zh-CN" altLang="en-US" sz="900" b="1" dirty="0">
                          <a:solidFill>
                            <a:schemeClr val="tx1"/>
                          </a:solidFill>
                        </a:rPr>
                        <a:t>功能内聚</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最强内聚，所有元素</a:t>
                      </a:r>
                      <a:r>
                        <a:rPr lang="zh-CN" altLang="en-US" sz="900" b="1" dirty="0">
                          <a:solidFill>
                            <a:schemeClr val="tx1"/>
                          </a:solidFill>
                        </a:rPr>
                        <a:t>共同完成</a:t>
                      </a:r>
                      <a:r>
                        <a:rPr lang="zh-CN" altLang="en-US" sz="900" b="0" dirty="0">
                          <a:solidFill>
                            <a:schemeClr val="tx1"/>
                          </a:solidFill>
                        </a:rPr>
                        <a:t>一个功能，缺一不可</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253374"/>
                  </a:ext>
                </a:extLst>
              </a:tr>
            </a:tbl>
          </a:graphicData>
        </a:graphic>
      </p:graphicFrame>
      <p:cxnSp>
        <p:nvCxnSpPr>
          <p:cNvPr id="16" name="直接箭头连接符 15">
            <a:extLst>
              <a:ext uri="{FF2B5EF4-FFF2-40B4-BE49-F238E27FC236}">
                <a16:creationId xmlns:a16="http://schemas.microsoft.com/office/drawing/2014/main" id="{964CD9A5-59D8-215B-10F1-8B9E7F962AAC}"/>
              </a:ext>
            </a:extLst>
          </p:cNvPr>
          <p:cNvCxnSpPr/>
          <p:nvPr/>
        </p:nvCxnSpPr>
        <p:spPr>
          <a:xfrm>
            <a:off x="7172076" y="2541837"/>
            <a:ext cx="0" cy="1569598"/>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18" name="文本框 17">
            <a:extLst>
              <a:ext uri="{FF2B5EF4-FFF2-40B4-BE49-F238E27FC236}">
                <a16:creationId xmlns:a16="http://schemas.microsoft.com/office/drawing/2014/main" id="{91E1295B-1816-8A5F-2DEB-64346CAE460E}"/>
              </a:ext>
            </a:extLst>
          </p:cNvPr>
          <p:cNvSpPr txBox="1"/>
          <p:nvPr/>
        </p:nvSpPr>
        <p:spPr>
          <a:xfrm rot="16200000">
            <a:off x="6767511" y="3183053"/>
            <a:ext cx="569387" cy="246221"/>
          </a:xfrm>
          <a:prstGeom prst="rect">
            <a:avLst/>
          </a:prstGeom>
          <a:noFill/>
        </p:spPr>
        <p:txBody>
          <a:bodyPr wrap="none" rtlCol="0">
            <a:spAutoFit/>
          </a:bodyPr>
          <a:lstStyle/>
          <a:p>
            <a:r>
              <a:rPr lang="zh-CN" altLang="en-US" sz="1000" b="1" dirty="0"/>
              <a:t>内聚性</a:t>
            </a:r>
          </a:p>
        </p:txBody>
      </p:sp>
      <p:sp>
        <p:nvSpPr>
          <p:cNvPr id="20" name="文本框 19">
            <a:extLst>
              <a:ext uri="{FF2B5EF4-FFF2-40B4-BE49-F238E27FC236}">
                <a16:creationId xmlns:a16="http://schemas.microsoft.com/office/drawing/2014/main" id="{6CED9C0A-21A5-20FE-43E8-80BA19A8BA86}"/>
              </a:ext>
            </a:extLst>
          </p:cNvPr>
          <p:cNvSpPr txBox="1"/>
          <p:nvPr/>
        </p:nvSpPr>
        <p:spPr>
          <a:xfrm rot="16200000">
            <a:off x="6946232" y="570508"/>
            <a:ext cx="312906" cy="246221"/>
          </a:xfrm>
          <a:prstGeom prst="rect">
            <a:avLst/>
          </a:prstGeom>
          <a:noFill/>
        </p:spPr>
        <p:txBody>
          <a:bodyPr wrap="none" rtlCol="0">
            <a:spAutoFit/>
          </a:bodyPr>
          <a:lstStyle/>
          <a:p>
            <a:r>
              <a:rPr lang="zh-CN" altLang="en-US" sz="1000" b="1" dirty="0"/>
              <a:t>低</a:t>
            </a:r>
          </a:p>
        </p:txBody>
      </p:sp>
      <p:sp>
        <p:nvSpPr>
          <p:cNvPr id="21" name="文本框 20">
            <a:extLst>
              <a:ext uri="{FF2B5EF4-FFF2-40B4-BE49-F238E27FC236}">
                <a16:creationId xmlns:a16="http://schemas.microsoft.com/office/drawing/2014/main" id="{47136BCB-D1BA-742F-31D6-B6B5E83FF008}"/>
              </a:ext>
            </a:extLst>
          </p:cNvPr>
          <p:cNvSpPr txBox="1"/>
          <p:nvPr/>
        </p:nvSpPr>
        <p:spPr>
          <a:xfrm rot="16200000">
            <a:off x="6941526" y="2149502"/>
            <a:ext cx="312906" cy="246221"/>
          </a:xfrm>
          <a:prstGeom prst="rect">
            <a:avLst/>
          </a:prstGeom>
          <a:noFill/>
        </p:spPr>
        <p:txBody>
          <a:bodyPr wrap="none" rtlCol="0">
            <a:spAutoFit/>
          </a:bodyPr>
          <a:lstStyle/>
          <a:p>
            <a:r>
              <a:rPr lang="zh-CN" altLang="en-US" sz="1000" b="1" dirty="0"/>
              <a:t>高</a:t>
            </a:r>
          </a:p>
        </p:txBody>
      </p:sp>
      <p:sp>
        <p:nvSpPr>
          <p:cNvPr id="22" name="文本框 21">
            <a:extLst>
              <a:ext uri="{FF2B5EF4-FFF2-40B4-BE49-F238E27FC236}">
                <a16:creationId xmlns:a16="http://schemas.microsoft.com/office/drawing/2014/main" id="{55523A86-EA69-1024-9936-8609263264B8}"/>
              </a:ext>
            </a:extLst>
          </p:cNvPr>
          <p:cNvSpPr txBox="1"/>
          <p:nvPr/>
        </p:nvSpPr>
        <p:spPr>
          <a:xfrm rot="16200000">
            <a:off x="6941525" y="2413556"/>
            <a:ext cx="312906" cy="246221"/>
          </a:xfrm>
          <a:prstGeom prst="rect">
            <a:avLst/>
          </a:prstGeom>
          <a:noFill/>
        </p:spPr>
        <p:txBody>
          <a:bodyPr wrap="none" rtlCol="0">
            <a:spAutoFit/>
          </a:bodyPr>
          <a:lstStyle/>
          <a:p>
            <a:r>
              <a:rPr lang="zh-CN" altLang="en-US" sz="1000" b="1" dirty="0"/>
              <a:t>低</a:t>
            </a:r>
          </a:p>
        </p:txBody>
      </p:sp>
      <p:sp>
        <p:nvSpPr>
          <p:cNvPr id="23" name="文本框 22">
            <a:extLst>
              <a:ext uri="{FF2B5EF4-FFF2-40B4-BE49-F238E27FC236}">
                <a16:creationId xmlns:a16="http://schemas.microsoft.com/office/drawing/2014/main" id="{849976F4-0B26-FE66-11CF-3A1517E5A347}"/>
              </a:ext>
            </a:extLst>
          </p:cNvPr>
          <p:cNvSpPr txBox="1"/>
          <p:nvPr/>
        </p:nvSpPr>
        <p:spPr>
          <a:xfrm rot="16200000">
            <a:off x="6936819" y="3992550"/>
            <a:ext cx="312906" cy="246221"/>
          </a:xfrm>
          <a:prstGeom prst="rect">
            <a:avLst/>
          </a:prstGeom>
          <a:noFill/>
        </p:spPr>
        <p:txBody>
          <a:bodyPr wrap="none" rtlCol="0">
            <a:spAutoFit/>
          </a:bodyPr>
          <a:lstStyle/>
          <a:p>
            <a:r>
              <a:rPr lang="zh-CN" altLang="en-US" sz="1000" b="1" dirty="0"/>
              <a:t>高</a:t>
            </a:r>
          </a:p>
        </p:txBody>
      </p:sp>
      <p:cxnSp>
        <p:nvCxnSpPr>
          <p:cNvPr id="25" name="直接箭头连接符 24">
            <a:extLst>
              <a:ext uri="{FF2B5EF4-FFF2-40B4-BE49-F238E27FC236}">
                <a16:creationId xmlns:a16="http://schemas.microsoft.com/office/drawing/2014/main" id="{E6D6D4FA-F30E-266D-4B98-A81D00F674E5}"/>
              </a:ext>
            </a:extLst>
          </p:cNvPr>
          <p:cNvCxnSpPr/>
          <p:nvPr/>
        </p:nvCxnSpPr>
        <p:spPr>
          <a:xfrm>
            <a:off x="7267494" y="2548740"/>
            <a:ext cx="0" cy="1569598"/>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grpSp>
        <p:nvGrpSpPr>
          <p:cNvPr id="28" name="Group 25">
            <a:extLst>
              <a:ext uri="{FF2B5EF4-FFF2-40B4-BE49-F238E27FC236}">
                <a16:creationId xmlns:a16="http://schemas.microsoft.com/office/drawing/2014/main" id="{8A43F10F-4D41-21C9-AB28-4A0631988BE0}"/>
              </a:ext>
            </a:extLst>
          </p:cNvPr>
          <p:cNvGrpSpPr/>
          <p:nvPr/>
        </p:nvGrpSpPr>
        <p:grpSpPr>
          <a:xfrm>
            <a:off x="3097832" y="4359500"/>
            <a:ext cx="4386653" cy="2049588"/>
            <a:chOff x="7614613" y="5950488"/>
            <a:chExt cx="4386653" cy="2049588"/>
          </a:xfrm>
        </p:grpSpPr>
        <p:sp>
          <p:nvSpPr>
            <p:cNvPr id="29" name="Rectangle: Rounded Corners 35">
              <a:extLst>
                <a:ext uri="{FF2B5EF4-FFF2-40B4-BE49-F238E27FC236}">
                  <a16:creationId xmlns:a16="http://schemas.microsoft.com/office/drawing/2014/main" id="{02F07EEA-2942-79F8-5968-F55C6C1C7326}"/>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▶系统结构设计原则</a:t>
              </a:r>
              <a:endParaRPr lang="en-US" sz="1200" dirty="0">
                <a:solidFill>
                  <a:schemeClr val="bg1"/>
                </a:solidFill>
              </a:endParaRPr>
            </a:p>
          </p:txBody>
        </p:sp>
        <p:sp>
          <p:nvSpPr>
            <p:cNvPr id="36" name="TextBox 36">
              <a:extLst>
                <a:ext uri="{FF2B5EF4-FFF2-40B4-BE49-F238E27FC236}">
                  <a16:creationId xmlns:a16="http://schemas.microsoft.com/office/drawing/2014/main" id="{7E8B90DA-39E7-DAE9-9F58-725868EA4941}"/>
                </a:ext>
              </a:extLst>
            </p:cNvPr>
            <p:cNvSpPr txBox="1"/>
            <p:nvPr/>
          </p:nvSpPr>
          <p:spPr>
            <a:xfrm>
              <a:off x="7667294" y="6245750"/>
              <a:ext cx="4281578" cy="1754326"/>
            </a:xfrm>
            <a:prstGeom prst="rect">
              <a:avLst/>
            </a:prstGeom>
            <a:noFill/>
          </p:spPr>
          <p:txBody>
            <a:bodyPr wrap="square">
              <a:spAutoFit/>
            </a:bodyPr>
            <a:lstStyle/>
            <a:p>
              <a:r>
                <a:rPr lang="zh-CN" altLang="en-US" sz="1200" dirty="0">
                  <a:solidFill>
                    <a:schemeClr val="accent1"/>
                  </a:solidFill>
                  <a:latin typeface="ui-monospace"/>
                </a:rPr>
                <a:t>分解</a:t>
              </a:r>
              <a:r>
                <a:rPr lang="en-US" altLang="zh-CN" sz="1200" dirty="0">
                  <a:solidFill>
                    <a:schemeClr val="accent1"/>
                  </a:solidFill>
                  <a:latin typeface="ui-monospace"/>
                </a:rPr>
                <a:t>-</a:t>
              </a:r>
              <a:r>
                <a:rPr lang="zh-CN" altLang="en-US" sz="1200" dirty="0">
                  <a:solidFill>
                    <a:schemeClr val="accent1"/>
                  </a:solidFill>
                  <a:latin typeface="ui-monospace"/>
                </a:rPr>
                <a:t>协调原则</a:t>
              </a:r>
              <a:endParaRPr lang="en-US" altLang="zh-CN" sz="1200" dirty="0">
                <a:solidFill>
                  <a:schemeClr val="accent1"/>
                </a:solidFill>
                <a:latin typeface="ui-monospace"/>
              </a:endParaRPr>
            </a:p>
            <a:p>
              <a:r>
                <a:rPr lang="zh-CN" altLang="en-US" sz="1200" dirty="0">
                  <a:solidFill>
                    <a:schemeClr val="accent1"/>
                  </a:solidFill>
                  <a:latin typeface="ui-monospace"/>
                </a:rPr>
                <a:t>自顶向下原则：先确定上层模块，逐层确定下层模块</a:t>
              </a:r>
              <a:endParaRPr lang="en-US" altLang="zh-CN" sz="1200" dirty="0">
                <a:solidFill>
                  <a:schemeClr val="accent1"/>
                </a:solidFill>
                <a:latin typeface="ui-monospace"/>
              </a:endParaRPr>
            </a:p>
            <a:p>
              <a:r>
                <a:rPr lang="zh-CN" altLang="en-US" sz="1200" dirty="0">
                  <a:solidFill>
                    <a:schemeClr val="accent1"/>
                  </a:solidFill>
                  <a:latin typeface="ui-monospace"/>
                </a:rPr>
                <a:t>信息隐蔽、抽象原则：只规定做什么，不规定怎么做</a:t>
              </a:r>
              <a:endParaRPr lang="en-US" altLang="zh-CN" sz="1200" dirty="0">
                <a:solidFill>
                  <a:schemeClr val="accent1"/>
                </a:solidFill>
                <a:latin typeface="ui-monospace"/>
              </a:endParaRPr>
            </a:p>
            <a:p>
              <a:r>
                <a:rPr lang="zh-CN" altLang="en-US" sz="1200" dirty="0">
                  <a:solidFill>
                    <a:schemeClr val="accent1"/>
                  </a:solidFill>
                  <a:latin typeface="ui-monospace"/>
                </a:rPr>
                <a:t>一致性原则：保证设计过程规范、标准和文件模式统一</a:t>
              </a:r>
              <a:endParaRPr lang="en-US" altLang="zh-CN" sz="1200" dirty="0">
                <a:solidFill>
                  <a:schemeClr val="accent1"/>
                </a:solidFill>
                <a:latin typeface="ui-monospace"/>
              </a:endParaRPr>
            </a:p>
            <a:p>
              <a:r>
                <a:rPr lang="zh-CN" altLang="en-US" sz="1200" dirty="0">
                  <a:solidFill>
                    <a:schemeClr val="accent1"/>
                  </a:solidFill>
                  <a:latin typeface="ui-monospace"/>
                </a:rPr>
                <a:t>明确性原则：功能明确，接口明确</a:t>
              </a:r>
              <a:endParaRPr lang="en-US" altLang="zh-CN" sz="1200" dirty="0">
                <a:solidFill>
                  <a:schemeClr val="accent1"/>
                </a:solidFill>
                <a:latin typeface="ui-monospace"/>
              </a:endParaRPr>
            </a:p>
            <a:p>
              <a:r>
                <a:rPr lang="zh-CN" altLang="en-US" sz="1200" dirty="0">
                  <a:solidFill>
                    <a:schemeClr val="accent1"/>
                  </a:solidFill>
                  <a:latin typeface="ui-monospace"/>
                </a:rPr>
                <a:t>低耦合、高内聚原则</a:t>
              </a:r>
              <a:endParaRPr lang="en-US" altLang="zh-CN" sz="1200" dirty="0">
                <a:solidFill>
                  <a:schemeClr val="accent1"/>
                </a:solidFill>
                <a:latin typeface="ui-monospace"/>
              </a:endParaRPr>
            </a:p>
            <a:p>
              <a:r>
                <a:rPr lang="zh-CN" altLang="en-US" sz="1200" dirty="0">
                  <a:solidFill>
                    <a:schemeClr val="accent1"/>
                  </a:solidFill>
                  <a:latin typeface="ui-monospace"/>
                </a:rPr>
                <a:t>扇入扇出系数合理原则：适当为</a:t>
              </a:r>
              <a:r>
                <a:rPr lang="en-US" altLang="zh-CN" sz="1200" dirty="0">
                  <a:solidFill>
                    <a:schemeClr val="accent1"/>
                  </a:solidFill>
                  <a:latin typeface="ui-monospace"/>
                </a:rPr>
                <a:t>3</a:t>
              </a:r>
              <a:r>
                <a:rPr lang="zh-CN" altLang="en-US" sz="1200" dirty="0">
                  <a:solidFill>
                    <a:schemeClr val="accent1"/>
                  </a:solidFill>
                  <a:latin typeface="ui-monospace"/>
                </a:rPr>
                <a:t>或</a:t>
              </a:r>
              <a:r>
                <a:rPr lang="en-US" altLang="zh-CN" sz="1200" dirty="0">
                  <a:solidFill>
                    <a:schemeClr val="accent1"/>
                  </a:solidFill>
                  <a:latin typeface="ui-monospace"/>
                </a:rPr>
                <a:t>4</a:t>
              </a:r>
              <a:r>
                <a:rPr lang="zh-CN" altLang="en-US" sz="1200" dirty="0">
                  <a:solidFill>
                    <a:schemeClr val="accent1"/>
                  </a:solidFill>
                  <a:latin typeface="ui-monospace"/>
                </a:rPr>
                <a:t>，不超</a:t>
              </a:r>
              <a:r>
                <a:rPr lang="en-US" altLang="zh-CN" sz="1200" dirty="0">
                  <a:solidFill>
                    <a:schemeClr val="accent1"/>
                  </a:solidFill>
                  <a:latin typeface="ui-monospace"/>
                </a:rPr>
                <a:t>7</a:t>
              </a:r>
            </a:p>
            <a:p>
              <a:r>
                <a:rPr lang="zh-CN" altLang="en-US" sz="1200" dirty="0">
                  <a:solidFill>
                    <a:schemeClr val="accent1"/>
                  </a:solidFill>
                  <a:latin typeface="ui-monospace"/>
                </a:rPr>
                <a:t>规模适当原则：避免过大过小</a:t>
              </a:r>
              <a:endParaRPr lang="en-US" altLang="zh-CN" sz="1200" dirty="0">
                <a:solidFill>
                  <a:schemeClr val="accent1"/>
                </a:solidFill>
                <a:latin typeface="ui-monospace"/>
              </a:endParaRPr>
            </a:p>
            <a:p>
              <a:r>
                <a:rPr lang="zh-CN" altLang="en-US" sz="1200" dirty="0">
                  <a:solidFill>
                    <a:schemeClr val="accent1"/>
                  </a:solidFill>
                  <a:latin typeface="ui-monospace"/>
                </a:rPr>
                <a:t>作用范围原则：模块作用范围应在其控制范围内</a:t>
              </a:r>
              <a:endParaRPr lang="en-US" altLang="zh-CN" sz="1200" dirty="0">
                <a:solidFill>
                  <a:schemeClr val="accent1"/>
                </a:solidFill>
                <a:latin typeface="ui-monospace"/>
              </a:endParaRPr>
            </a:p>
          </p:txBody>
        </p:sp>
      </p:grpSp>
      <p:graphicFrame>
        <p:nvGraphicFramePr>
          <p:cNvPr id="37" name="Table 10">
            <a:extLst>
              <a:ext uri="{FF2B5EF4-FFF2-40B4-BE49-F238E27FC236}">
                <a16:creationId xmlns:a16="http://schemas.microsoft.com/office/drawing/2014/main" id="{546B6E23-8E64-09D7-B1B6-ED0169E2D85D}"/>
              </a:ext>
            </a:extLst>
          </p:cNvPr>
          <p:cNvGraphicFramePr>
            <a:graphicFrameLocks noGrp="1"/>
          </p:cNvGraphicFramePr>
          <p:nvPr/>
        </p:nvGraphicFramePr>
        <p:xfrm>
          <a:off x="7702588" y="400487"/>
          <a:ext cx="4281572" cy="2011680"/>
        </p:xfrm>
        <a:graphic>
          <a:graphicData uri="http://schemas.openxmlformats.org/drawingml/2006/table">
            <a:tbl>
              <a:tblPr firstRow="1" bandRow="1">
                <a:tableStyleId>{5C22544A-7EE6-4342-B048-85BDC9FD1C3A}</a:tableStyleId>
              </a:tblPr>
              <a:tblGrid>
                <a:gridCol w="1274435">
                  <a:extLst>
                    <a:ext uri="{9D8B030D-6E8A-4147-A177-3AD203B41FA5}">
                      <a16:colId xmlns:a16="http://schemas.microsoft.com/office/drawing/2014/main" val="4196207211"/>
                    </a:ext>
                  </a:extLst>
                </a:gridCol>
                <a:gridCol w="922351">
                  <a:extLst>
                    <a:ext uri="{9D8B030D-6E8A-4147-A177-3AD203B41FA5}">
                      <a16:colId xmlns:a16="http://schemas.microsoft.com/office/drawing/2014/main" val="1287694817"/>
                    </a:ext>
                  </a:extLst>
                </a:gridCol>
                <a:gridCol w="2084786">
                  <a:extLst>
                    <a:ext uri="{9D8B030D-6E8A-4147-A177-3AD203B41FA5}">
                      <a16:colId xmlns:a16="http://schemas.microsoft.com/office/drawing/2014/main" val="3523767036"/>
                    </a:ext>
                  </a:extLst>
                </a:gridCol>
              </a:tblGrid>
              <a:tr h="204220">
                <a:tc>
                  <a:txBody>
                    <a:bodyPr/>
                    <a:lstStyle/>
                    <a:p>
                      <a:pPr algn="ctr"/>
                      <a:r>
                        <a:rPr lang="zh-CN" altLang="en-US" sz="900" b="1" dirty="0">
                          <a:solidFill>
                            <a:schemeClr val="tx1"/>
                          </a:solidFill>
                        </a:rPr>
                        <a:t>人员</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阶段</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文档</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9798099"/>
                  </a:ext>
                </a:extLst>
              </a:tr>
              <a:tr h="204220">
                <a:tc>
                  <a:txBody>
                    <a:bodyPr/>
                    <a:lstStyle/>
                    <a:p>
                      <a:pPr algn="ctr"/>
                      <a:r>
                        <a:rPr lang="zh-CN" altLang="en-US" sz="900" b="1" dirty="0">
                          <a:solidFill>
                            <a:schemeClr val="tx1"/>
                          </a:solidFill>
                        </a:rPr>
                        <a:t>系统分析与用户</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系统规划和系统分析</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可行性研究报告、总体规划报告、系统开发合同、系统方案说明书</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1" dirty="0">
                          <a:solidFill>
                            <a:schemeClr val="tx1"/>
                          </a:solidFill>
                        </a:rPr>
                        <a:t>系统开发与项目管理</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项目期</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系统开发计划</a:t>
                      </a:r>
                      <a:r>
                        <a:rPr lang="zh-CN" altLang="en-US" sz="900" b="0" dirty="0">
                          <a:solidFill>
                            <a:schemeClr val="tx1"/>
                          </a:solidFill>
                        </a:rPr>
                        <a:t>、系统开发月报、系统开发总结报告</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r h="204220">
                <a:tc>
                  <a:txBody>
                    <a:bodyPr/>
                    <a:lstStyle/>
                    <a:p>
                      <a:pPr algn="ctr"/>
                      <a:r>
                        <a:rPr lang="zh-CN" altLang="en-US" sz="900" b="1" dirty="0">
                          <a:solidFill>
                            <a:schemeClr val="tx1"/>
                          </a:solidFill>
                        </a:rPr>
                        <a:t>系统开发与系统测试</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系统方案说明书、系统开发合同、系统设计说明书、测试计划</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zh-CN" altLang="en-US" sz="900" b="1" dirty="0">
                          <a:solidFill>
                            <a:schemeClr val="tx1"/>
                          </a:solidFill>
                        </a:rPr>
                        <a:t>系统开发与用户</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系统运行</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用户手册、操作指南</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r h="204220">
                <a:tc>
                  <a:txBody>
                    <a:bodyPr/>
                    <a:lstStyle/>
                    <a:p>
                      <a:pPr algn="ctr"/>
                      <a:r>
                        <a:rPr lang="zh-CN" altLang="en-US" sz="900" b="1" dirty="0">
                          <a:solidFill>
                            <a:schemeClr val="tx1"/>
                          </a:solidFill>
                        </a:rPr>
                        <a:t>系统开发与系统维护</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系统设计说明书、系统开发总结报告</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608652"/>
                  </a:ext>
                </a:extLst>
              </a:tr>
              <a:tr h="204220">
                <a:tc>
                  <a:txBody>
                    <a:bodyPr/>
                    <a:lstStyle/>
                    <a:p>
                      <a:pPr algn="ctr"/>
                      <a:r>
                        <a:rPr lang="zh-CN" altLang="en-US" sz="900" b="1" dirty="0">
                          <a:solidFill>
                            <a:schemeClr val="tx1"/>
                          </a:solidFill>
                        </a:rPr>
                        <a:t>系统维护与用户</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运行维护</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系统运行报告、维护修改建议</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8787694"/>
                  </a:ext>
                </a:extLst>
              </a:tr>
            </a:tbl>
          </a:graphicData>
        </a:graphic>
      </p:graphicFrame>
      <p:grpSp>
        <p:nvGrpSpPr>
          <p:cNvPr id="38" name="Group 25">
            <a:extLst>
              <a:ext uri="{FF2B5EF4-FFF2-40B4-BE49-F238E27FC236}">
                <a16:creationId xmlns:a16="http://schemas.microsoft.com/office/drawing/2014/main" id="{26453AFE-C992-74D0-B68A-B87F2E77B074}"/>
              </a:ext>
            </a:extLst>
          </p:cNvPr>
          <p:cNvGrpSpPr/>
          <p:nvPr/>
        </p:nvGrpSpPr>
        <p:grpSpPr>
          <a:xfrm>
            <a:off x="7650047" y="2470453"/>
            <a:ext cx="4386653" cy="941593"/>
            <a:chOff x="7614613" y="5950488"/>
            <a:chExt cx="4386653" cy="941593"/>
          </a:xfrm>
        </p:grpSpPr>
        <p:sp>
          <p:nvSpPr>
            <p:cNvPr id="39" name="Rectangle: Rounded Corners 35">
              <a:extLst>
                <a:ext uri="{FF2B5EF4-FFF2-40B4-BE49-F238E27FC236}">
                  <a16:creationId xmlns:a16="http://schemas.microsoft.com/office/drawing/2014/main" id="{9A7567AD-EE4F-ABA3-2E19-CC0B13493946}"/>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▶数据字典 </a:t>
              </a:r>
              <a:r>
                <a:rPr lang="en-US" altLang="zh-CN" sz="1200" dirty="0">
                  <a:solidFill>
                    <a:schemeClr val="bg1"/>
                  </a:solidFill>
                  <a:latin typeface="ui-monospace"/>
                </a:rPr>
                <a:t>DD</a:t>
              </a:r>
              <a:endParaRPr lang="en-US" sz="1200" dirty="0">
                <a:solidFill>
                  <a:schemeClr val="bg1"/>
                </a:solidFill>
              </a:endParaRPr>
            </a:p>
          </p:txBody>
        </p:sp>
        <p:sp>
          <p:nvSpPr>
            <p:cNvPr id="40" name="TextBox 36">
              <a:extLst>
                <a:ext uri="{FF2B5EF4-FFF2-40B4-BE49-F238E27FC236}">
                  <a16:creationId xmlns:a16="http://schemas.microsoft.com/office/drawing/2014/main" id="{141E1F13-FF8C-8AEF-5DC6-E465C4EFDC7D}"/>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条目：数据流、数据项、数据存储、基本加工</a:t>
              </a:r>
              <a:endParaRPr lang="en-US" altLang="zh-CN" sz="1200" dirty="0">
                <a:solidFill>
                  <a:schemeClr val="accent1"/>
                </a:solidFill>
                <a:latin typeface="ui-monospace"/>
              </a:endParaRPr>
            </a:p>
            <a:p>
              <a:r>
                <a:rPr lang="zh-CN" altLang="en-US" sz="1200" dirty="0">
                  <a:solidFill>
                    <a:schemeClr val="accent1"/>
                  </a:solidFill>
                  <a:latin typeface="ui-monospace"/>
                </a:rPr>
                <a:t>加工逻辑</a:t>
              </a:r>
              <a:r>
                <a:rPr lang="en-US" altLang="zh-CN" sz="1200" dirty="0">
                  <a:solidFill>
                    <a:schemeClr val="accent1"/>
                  </a:solidFill>
                  <a:latin typeface="ui-monospace"/>
                </a:rPr>
                <a:t>(</a:t>
              </a:r>
              <a:r>
                <a:rPr lang="zh-CN" altLang="en-US" sz="1200" dirty="0">
                  <a:solidFill>
                    <a:schemeClr val="accent1"/>
                  </a:solidFill>
                  <a:latin typeface="ui-monospace"/>
                </a:rPr>
                <a:t>小说明</a:t>
              </a:r>
              <a:r>
                <a:rPr lang="en-US" altLang="zh-CN" sz="1200" dirty="0">
                  <a:solidFill>
                    <a:schemeClr val="accent1"/>
                  </a:solidFill>
                  <a:latin typeface="ui-monospace"/>
                </a:rPr>
                <a:t>)</a:t>
              </a:r>
              <a:r>
                <a:rPr lang="zh-CN" altLang="en-US" sz="1200" dirty="0">
                  <a:solidFill>
                    <a:schemeClr val="accent1"/>
                  </a:solidFill>
                  <a:latin typeface="ui-monospace"/>
                </a:rPr>
                <a:t>：结构化语言</a:t>
              </a:r>
              <a:r>
                <a:rPr lang="en-US" altLang="zh-CN" sz="1200" dirty="0">
                  <a:solidFill>
                    <a:schemeClr val="accent1"/>
                  </a:solidFill>
                  <a:latin typeface="ui-monospace"/>
                </a:rPr>
                <a:t>(</a:t>
              </a:r>
              <a:r>
                <a:rPr lang="zh-CN" altLang="en-US" sz="1200" dirty="0">
                  <a:solidFill>
                    <a:schemeClr val="accent1"/>
                  </a:solidFill>
                  <a:latin typeface="ui-monospace"/>
                </a:rPr>
                <a:t>顺序</a:t>
              </a:r>
              <a:r>
                <a:rPr lang="en-US" altLang="zh-CN" sz="1200" dirty="0">
                  <a:solidFill>
                    <a:schemeClr val="accent1"/>
                  </a:solidFill>
                  <a:latin typeface="ui-monospace"/>
                </a:rPr>
                <a:t>/</a:t>
              </a:r>
              <a:r>
                <a:rPr lang="zh-CN" altLang="en-US" sz="1200" dirty="0">
                  <a:solidFill>
                    <a:schemeClr val="accent1"/>
                  </a:solidFill>
                  <a:latin typeface="ui-monospace"/>
                </a:rPr>
                <a:t>选择</a:t>
              </a:r>
              <a:r>
                <a:rPr lang="en-US" altLang="zh-CN" sz="1200" dirty="0">
                  <a:solidFill>
                    <a:schemeClr val="accent1"/>
                  </a:solidFill>
                  <a:latin typeface="ui-monospace"/>
                </a:rPr>
                <a:t>/</a:t>
              </a:r>
              <a:r>
                <a:rPr lang="zh-CN" altLang="en-US" sz="1200" dirty="0">
                  <a:solidFill>
                    <a:schemeClr val="accent1"/>
                  </a:solidFill>
                  <a:latin typeface="ui-monospace"/>
                </a:rPr>
                <a:t>重复</a:t>
              </a:r>
              <a:r>
                <a:rPr lang="en-US" altLang="zh-CN" sz="1200" dirty="0">
                  <a:solidFill>
                    <a:schemeClr val="accent1"/>
                  </a:solidFill>
                  <a:latin typeface="ui-monospace"/>
                </a:rPr>
                <a:t>)</a:t>
              </a:r>
              <a:r>
                <a:rPr lang="zh-CN" altLang="en-US" sz="1200" dirty="0">
                  <a:solidFill>
                    <a:schemeClr val="accent1"/>
                  </a:solidFill>
                  <a:latin typeface="ui-monospace"/>
                </a:rPr>
                <a:t>、判定表、判定树</a:t>
              </a:r>
              <a:endParaRPr lang="en-US" altLang="zh-CN" sz="1200" dirty="0">
                <a:solidFill>
                  <a:schemeClr val="accent1"/>
                </a:solidFill>
                <a:latin typeface="ui-monospace"/>
              </a:endParaRPr>
            </a:p>
          </p:txBody>
        </p:sp>
      </p:grpSp>
      <p:pic>
        <p:nvPicPr>
          <p:cNvPr id="10" name="图片 9">
            <a:extLst>
              <a:ext uri="{FF2B5EF4-FFF2-40B4-BE49-F238E27FC236}">
                <a16:creationId xmlns:a16="http://schemas.microsoft.com/office/drawing/2014/main" id="{7726BFF3-805D-DC5D-B8CC-5F38C50301EF}"/>
              </a:ext>
            </a:extLst>
          </p:cNvPr>
          <p:cNvPicPr>
            <a:picLocks noChangeAspect="1"/>
          </p:cNvPicPr>
          <p:nvPr/>
        </p:nvPicPr>
        <p:blipFill>
          <a:blip r:embed="rId2"/>
          <a:stretch>
            <a:fillRect/>
          </a:stretch>
        </p:blipFill>
        <p:spPr>
          <a:xfrm>
            <a:off x="7739368" y="3411263"/>
            <a:ext cx="4208009" cy="1845618"/>
          </a:xfrm>
          <a:prstGeom prst="rect">
            <a:avLst/>
          </a:prstGeom>
        </p:spPr>
      </p:pic>
      <p:grpSp>
        <p:nvGrpSpPr>
          <p:cNvPr id="11" name="Group 25">
            <a:extLst>
              <a:ext uri="{FF2B5EF4-FFF2-40B4-BE49-F238E27FC236}">
                <a16:creationId xmlns:a16="http://schemas.microsoft.com/office/drawing/2014/main" id="{2CE2AC07-E84A-A9E5-20FF-52400A8C87C9}"/>
              </a:ext>
            </a:extLst>
          </p:cNvPr>
          <p:cNvGrpSpPr/>
          <p:nvPr/>
        </p:nvGrpSpPr>
        <p:grpSpPr>
          <a:xfrm>
            <a:off x="7655287" y="5324175"/>
            <a:ext cx="4386653" cy="941593"/>
            <a:chOff x="7614613" y="5950488"/>
            <a:chExt cx="4386653" cy="941593"/>
          </a:xfrm>
        </p:grpSpPr>
        <p:sp>
          <p:nvSpPr>
            <p:cNvPr id="12" name="Rectangle: Rounded Corners 35">
              <a:extLst>
                <a:ext uri="{FF2B5EF4-FFF2-40B4-BE49-F238E27FC236}">
                  <a16:creationId xmlns:a16="http://schemas.microsoft.com/office/drawing/2014/main" id="{50CE7E23-F32D-C3A0-7E0D-B49BBDBFCFB5}"/>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▶界面设计</a:t>
              </a:r>
              <a:endParaRPr lang="en-US" sz="1200" dirty="0">
                <a:solidFill>
                  <a:schemeClr val="bg1"/>
                </a:solidFill>
              </a:endParaRPr>
            </a:p>
          </p:txBody>
        </p:sp>
        <p:sp>
          <p:nvSpPr>
            <p:cNvPr id="17" name="TextBox 36">
              <a:extLst>
                <a:ext uri="{FF2B5EF4-FFF2-40B4-BE49-F238E27FC236}">
                  <a16:creationId xmlns:a16="http://schemas.microsoft.com/office/drawing/2014/main" id="{03D9273C-8273-59AF-1955-98B01F21EFCF}"/>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置界面与用户控制之下</a:t>
              </a:r>
              <a:endParaRPr lang="en-US" altLang="zh-CN" sz="1200" dirty="0">
                <a:solidFill>
                  <a:schemeClr val="accent1"/>
                </a:solidFill>
                <a:latin typeface="ui-monospace"/>
              </a:endParaRPr>
            </a:p>
            <a:p>
              <a:r>
                <a:rPr lang="zh-CN" altLang="en-US" sz="1200" dirty="0">
                  <a:solidFill>
                    <a:schemeClr val="accent1"/>
                  </a:solidFill>
                  <a:latin typeface="ui-monospace"/>
                </a:rPr>
                <a:t>减少用户的记忆负担</a:t>
              </a:r>
              <a:endParaRPr lang="en-US" altLang="zh-CN" sz="1200" dirty="0">
                <a:solidFill>
                  <a:schemeClr val="accent1"/>
                </a:solidFill>
                <a:latin typeface="ui-monospace"/>
              </a:endParaRPr>
            </a:p>
            <a:p>
              <a:r>
                <a:rPr lang="zh-CN" altLang="en-US" sz="1200" dirty="0">
                  <a:solidFill>
                    <a:schemeClr val="accent1"/>
                  </a:solidFill>
                  <a:latin typeface="ui-monospace"/>
                </a:rPr>
                <a:t>保持界面的一致性</a:t>
              </a:r>
              <a:endParaRPr lang="en-US" altLang="zh-CN" sz="1200" dirty="0">
                <a:solidFill>
                  <a:schemeClr val="accent1"/>
                </a:solidFill>
                <a:latin typeface="ui-monospace"/>
              </a:endParaRPr>
            </a:p>
          </p:txBody>
        </p:sp>
      </p:grpSp>
    </p:spTree>
    <p:extLst>
      <p:ext uri="{BB962C8B-B14F-4D97-AF65-F5344CB8AC3E}">
        <p14:creationId xmlns:p14="http://schemas.microsoft.com/office/powerpoint/2010/main" val="7259633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267765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结构化开发</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8" name="Group 25">
            <a:extLst>
              <a:ext uri="{FF2B5EF4-FFF2-40B4-BE49-F238E27FC236}">
                <a16:creationId xmlns:a16="http://schemas.microsoft.com/office/drawing/2014/main" id="{A31A56C9-AC60-FB1C-8BA1-777825CD1CED}"/>
              </a:ext>
            </a:extLst>
          </p:cNvPr>
          <p:cNvGrpSpPr/>
          <p:nvPr/>
        </p:nvGrpSpPr>
        <p:grpSpPr>
          <a:xfrm>
            <a:off x="3104560" y="72905"/>
            <a:ext cx="4386653" cy="572261"/>
            <a:chOff x="7614613" y="5950488"/>
            <a:chExt cx="4386653" cy="572261"/>
          </a:xfrm>
        </p:grpSpPr>
        <p:sp>
          <p:nvSpPr>
            <p:cNvPr id="39" name="Rectangle: Rounded Corners 35">
              <a:extLst>
                <a:ext uri="{FF2B5EF4-FFF2-40B4-BE49-F238E27FC236}">
                  <a16:creationId xmlns:a16="http://schemas.microsoft.com/office/drawing/2014/main" id="{674D20CD-7C8F-DA1E-DFE7-F43E7D5D50B5}"/>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▶数据流图 </a:t>
              </a:r>
              <a:r>
                <a:rPr lang="en-US" altLang="zh-CN" sz="1200" dirty="0">
                  <a:solidFill>
                    <a:schemeClr val="bg1"/>
                  </a:solidFill>
                  <a:latin typeface="ui-monospace"/>
                </a:rPr>
                <a:t>DFD</a:t>
              </a:r>
              <a:endParaRPr lang="en-US" sz="1200" dirty="0">
                <a:solidFill>
                  <a:schemeClr val="bg1"/>
                </a:solidFill>
              </a:endParaRPr>
            </a:p>
          </p:txBody>
        </p:sp>
        <p:sp>
          <p:nvSpPr>
            <p:cNvPr id="40" name="TextBox 36">
              <a:extLst>
                <a:ext uri="{FF2B5EF4-FFF2-40B4-BE49-F238E27FC236}">
                  <a16:creationId xmlns:a16="http://schemas.microsoft.com/office/drawing/2014/main" id="{1486E1EB-3DF1-1529-523F-E0BB1BD06870}"/>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latin typeface="ui-monospace"/>
                </a:rPr>
                <a:t>基本图形元素：数据流、加工、数据存储、外部实体</a:t>
              </a:r>
              <a:endParaRPr lang="en-US" altLang="zh-CN" sz="1200" dirty="0">
                <a:solidFill>
                  <a:schemeClr val="accent1"/>
                </a:solidFill>
                <a:latin typeface="ui-monospace"/>
              </a:endParaRPr>
            </a:p>
          </p:txBody>
        </p:sp>
      </p:grpSp>
      <p:sp>
        <p:nvSpPr>
          <p:cNvPr id="41" name="矩形 40">
            <a:extLst>
              <a:ext uri="{FF2B5EF4-FFF2-40B4-BE49-F238E27FC236}">
                <a16:creationId xmlns:a16="http://schemas.microsoft.com/office/drawing/2014/main" id="{1B823A9B-99E2-AC45-15A7-993B87315AC8}"/>
              </a:ext>
            </a:extLst>
          </p:cNvPr>
          <p:cNvSpPr/>
          <p:nvPr/>
        </p:nvSpPr>
        <p:spPr>
          <a:xfrm>
            <a:off x="6745520" y="692569"/>
            <a:ext cx="652007" cy="3862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a:extLst>
              <a:ext uri="{FF2B5EF4-FFF2-40B4-BE49-F238E27FC236}">
                <a16:creationId xmlns:a16="http://schemas.microsoft.com/office/drawing/2014/main" id="{83BC5FFE-EED6-2BE6-9DA5-AA62674D4CC7}"/>
              </a:ext>
            </a:extLst>
          </p:cNvPr>
          <p:cNvSpPr/>
          <p:nvPr/>
        </p:nvSpPr>
        <p:spPr>
          <a:xfrm>
            <a:off x="4046437" y="692569"/>
            <a:ext cx="628650" cy="38628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BA7084F7-FEED-FC2E-160E-3D1F084A8A4E}"/>
              </a:ext>
            </a:extLst>
          </p:cNvPr>
          <p:cNvSpPr/>
          <p:nvPr/>
        </p:nvSpPr>
        <p:spPr>
          <a:xfrm>
            <a:off x="4730262" y="686427"/>
            <a:ext cx="392428" cy="392428"/>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箭头连接符 44">
            <a:extLst>
              <a:ext uri="{FF2B5EF4-FFF2-40B4-BE49-F238E27FC236}">
                <a16:creationId xmlns:a16="http://schemas.microsoft.com/office/drawing/2014/main" id="{A2A64790-528D-9355-1C6A-7CC5EB6F358E}"/>
              </a:ext>
            </a:extLst>
          </p:cNvPr>
          <p:cNvCxnSpPr/>
          <p:nvPr/>
        </p:nvCxnSpPr>
        <p:spPr>
          <a:xfrm>
            <a:off x="3207480" y="891428"/>
            <a:ext cx="7162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直接连接符 49">
            <a:extLst>
              <a:ext uri="{FF2B5EF4-FFF2-40B4-BE49-F238E27FC236}">
                <a16:creationId xmlns:a16="http://schemas.microsoft.com/office/drawing/2014/main" id="{5C46B628-BD20-EF64-9FE5-0DD21FE9CE2F}"/>
              </a:ext>
            </a:extLst>
          </p:cNvPr>
          <p:cNvCxnSpPr/>
          <p:nvPr/>
        </p:nvCxnSpPr>
        <p:spPr>
          <a:xfrm>
            <a:off x="5323300" y="757132"/>
            <a:ext cx="617220" cy="0"/>
          </a:xfrm>
          <a:prstGeom prst="line">
            <a:avLst/>
          </a:prstGeom>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2330D448-0B1E-603E-3379-AA9DCA4ED52E}"/>
              </a:ext>
            </a:extLst>
          </p:cNvPr>
          <p:cNvCxnSpPr/>
          <p:nvPr/>
        </p:nvCxnSpPr>
        <p:spPr>
          <a:xfrm>
            <a:off x="5323300" y="977901"/>
            <a:ext cx="617220" cy="0"/>
          </a:xfrm>
          <a:prstGeom prst="line">
            <a:avLst/>
          </a:prstGeom>
        </p:spPr>
        <p:style>
          <a:lnRef idx="1">
            <a:schemeClr val="dk1"/>
          </a:lnRef>
          <a:fillRef idx="0">
            <a:schemeClr val="dk1"/>
          </a:fillRef>
          <a:effectRef idx="0">
            <a:schemeClr val="dk1"/>
          </a:effectRef>
          <a:fontRef idx="minor">
            <a:schemeClr val="tx1"/>
          </a:fontRef>
        </p:style>
      </p:cxnSp>
      <p:cxnSp>
        <p:nvCxnSpPr>
          <p:cNvPr id="52" name="直接连接符 51">
            <a:extLst>
              <a:ext uri="{FF2B5EF4-FFF2-40B4-BE49-F238E27FC236}">
                <a16:creationId xmlns:a16="http://schemas.microsoft.com/office/drawing/2014/main" id="{248D5F17-7D53-E1C2-4F17-C9E6AC8C67A2}"/>
              </a:ext>
            </a:extLst>
          </p:cNvPr>
          <p:cNvCxnSpPr/>
          <p:nvPr/>
        </p:nvCxnSpPr>
        <p:spPr>
          <a:xfrm>
            <a:off x="6001480" y="757132"/>
            <a:ext cx="617220" cy="0"/>
          </a:xfrm>
          <a:prstGeom prst="line">
            <a:avLst/>
          </a:prstGeom>
        </p:spPr>
        <p:style>
          <a:lnRef idx="1">
            <a:schemeClr val="dk1"/>
          </a:lnRef>
          <a:fillRef idx="0">
            <a:schemeClr val="dk1"/>
          </a:fillRef>
          <a:effectRef idx="0">
            <a:schemeClr val="dk1"/>
          </a:effectRef>
          <a:fontRef idx="minor">
            <a:schemeClr val="tx1"/>
          </a:fontRef>
        </p:style>
      </p:cxnSp>
      <p:cxnSp>
        <p:nvCxnSpPr>
          <p:cNvPr id="53" name="直接连接符 52">
            <a:extLst>
              <a:ext uri="{FF2B5EF4-FFF2-40B4-BE49-F238E27FC236}">
                <a16:creationId xmlns:a16="http://schemas.microsoft.com/office/drawing/2014/main" id="{3F2D56A8-32DC-B59D-BCF3-D5CEC1B3CAE1}"/>
              </a:ext>
            </a:extLst>
          </p:cNvPr>
          <p:cNvCxnSpPr/>
          <p:nvPr/>
        </p:nvCxnSpPr>
        <p:spPr>
          <a:xfrm>
            <a:off x="6001480" y="974091"/>
            <a:ext cx="617220" cy="0"/>
          </a:xfrm>
          <a:prstGeom prst="line">
            <a:avLst/>
          </a:prstGeom>
        </p:spPr>
        <p:style>
          <a:lnRef idx="1">
            <a:schemeClr val="dk1"/>
          </a:lnRef>
          <a:fillRef idx="0">
            <a:schemeClr val="dk1"/>
          </a:fillRef>
          <a:effectRef idx="0">
            <a:schemeClr val="dk1"/>
          </a:effectRef>
          <a:fontRef idx="minor">
            <a:schemeClr val="tx1"/>
          </a:fontRef>
        </p:style>
      </p:cxnSp>
      <p:cxnSp>
        <p:nvCxnSpPr>
          <p:cNvPr id="54" name="直接连接符 53">
            <a:extLst>
              <a:ext uri="{FF2B5EF4-FFF2-40B4-BE49-F238E27FC236}">
                <a16:creationId xmlns:a16="http://schemas.microsoft.com/office/drawing/2014/main" id="{28159BDA-A646-7FE4-0B99-1106BC071044}"/>
              </a:ext>
            </a:extLst>
          </p:cNvPr>
          <p:cNvCxnSpPr>
            <a:cxnSpLocks/>
          </p:cNvCxnSpPr>
          <p:nvPr/>
        </p:nvCxnSpPr>
        <p:spPr>
          <a:xfrm>
            <a:off x="6001480" y="757132"/>
            <a:ext cx="0" cy="216959"/>
          </a:xfrm>
          <a:prstGeom prst="line">
            <a:avLst/>
          </a:prstGeom>
        </p:spPr>
        <p:style>
          <a:lnRef idx="1">
            <a:schemeClr val="dk1"/>
          </a:lnRef>
          <a:fillRef idx="0">
            <a:schemeClr val="dk1"/>
          </a:fillRef>
          <a:effectRef idx="0">
            <a:schemeClr val="dk1"/>
          </a:effectRef>
          <a:fontRef idx="minor">
            <a:schemeClr val="tx1"/>
          </a:fontRef>
        </p:style>
      </p:cxnSp>
      <p:sp>
        <p:nvSpPr>
          <p:cNvPr id="60" name="文本框 59">
            <a:extLst>
              <a:ext uri="{FF2B5EF4-FFF2-40B4-BE49-F238E27FC236}">
                <a16:creationId xmlns:a16="http://schemas.microsoft.com/office/drawing/2014/main" id="{BAF3FBE9-23FE-09CA-6DD3-C4EC484CE082}"/>
              </a:ext>
            </a:extLst>
          </p:cNvPr>
          <p:cNvSpPr txBox="1"/>
          <p:nvPr/>
        </p:nvSpPr>
        <p:spPr>
          <a:xfrm>
            <a:off x="6001480" y="749512"/>
            <a:ext cx="652007" cy="230832"/>
          </a:xfrm>
          <a:prstGeom prst="rect">
            <a:avLst/>
          </a:prstGeom>
          <a:noFill/>
        </p:spPr>
        <p:txBody>
          <a:bodyPr wrap="square">
            <a:spAutoFit/>
          </a:bodyPr>
          <a:lstStyle/>
          <a:p>
            <a:pPr algn="ctr"/>
            <a:r>
              <a:rPr lang="en-US" altLang="zh-CN" sz="900" dirty="0">
                <a:latin typeface="ui-monospace"/>
              </a:rPr>
              <a:t>D</a:t>
            </a:r>
            <a:endParaRPr lang="zh-CN" altLang="en-US" sz="900" dirty="0"/>
          </a:p>
        </p:txBody>
      </p:sp>
      <p:sp>
        <p:nvSpPr>
          <p:cNvPr id="61" name="文本框 60">
            <a:extLst>
              <a:ext uri="{FF2B5EF4-FFF2-40B4-BE49-F238E27FC236}">
                <a16:creationId xmlns:a16="http://schemas.microsoft.com/office/drawing/2014/main" id="{BB11295C-A30A-7689-ED34-DDCFF2E84DE0}"/>
              </a:ext>
            </a:extLst>
          </p:cNvPr>
          <p:cNvSpPr txBox="1"/>
          <p:nvPr/>
        </p:nvSpPr>
        <p:spPr>
          <a:xfrm>
            <a:off x="6745519" y="757132"/>
            <a:ext cx="652007" cy="230832"/>
          </a:xfrm>
          <a:prstGeom prst="rect">
            <a:avLst/>
          </a:prstGeom>
          <a:noFill/>
        </p:spPr>
        <p:txBody>
          <a:bodyPr wrap="square">
            <a:spAutoFit/>
          </a:bodyPr>
          <a:lstStyle/>
          <a:p>
            <a:pPr algn="ctr"/>
            <a:r>
              <a:rPr lang="en-US" altLang="zh-CN" sz="900" dirty="0">
                <a:latin typeface="ui-monospace"/>
              </a:rPr>
              <a:t>E</a:t>
            </a:r>
            <a:endParaRPr lang="zh-CN" altLang="en-US" sz="900" dirty="0"/>
          </a:p>
        </p:txBody>
      </p:sp>
      <p:sp>
        <p:nvSpPr>
          <p:cNvPr id="1038" name="文本框 1037">
            <a:extLst>
              <a:ext uri="{FF2B5EF4-FFF2-40B4-BE49-F238E27FC236}">
                <a16:creationId xmlns:a16="http://schemas.microsoft.com/office/drawing/2014/main" id="{7D9E1CDF-A61B-C91C-E7CC-A32D7D855787}"/>
              </a:ext>
            </a:extLst>
          </p:cNvPr>
          <p:cNvSpPr txBox="1"/>
          <p:nvPr/>
        </p:nvSpPr>
        <p:spPr>
          <a:xfrm>
            <a:off x="3759127" y="732684"/>
            <a:ext cx="287310" cy="153888"/>
          </a:xfrm>
          <a:prstGeom prst="rect">
            <a:avLst/>
          </a:prstGeom>
          <a:noFill/>
        </p:spPr>
        <p:txBody>
          <a:bodyPr wrap="square">
            <a:spAutoFit/>
          </a:bodyPr>
          <a:lstStyle/>
          <a:p>
            <a:pPr algn="ctr"/>
            <a:r>
              <a:rPr lang="zh-CN" altLang="en-US" sz="400" dirty="0">
                <a:latin typeface="ui-monospace"/>
              </a:rPr>
              <a:t>终点</a:t>
            </a:r>
            <a:endParaRPr lang="zh-CN" altLang="en-US" sz="400" dirty="0"/>
          </a:p>
        </p:txBody>
      </p:sp>
      <p:sp>
        <p:nvSpPr>
          <p:cNvPr id="1039" name="文本框 1038">
            <a:extLst>
              <a:ext uri="{FF2B5EF4-FFF2-40B4-BE49-F238E27FC236}">
                <a16:creationId xmlns:a16="http://schemas.microsoft.com/office/drawing/2014/main" id="{D123AD8F-6E4C-46E0-918D-9DA2EAC07622}"/>
              </a:ext>
            </a:extLst>
          </p:cNvPr>
          <p:cNvSpPr txBox="1"/>
          <p:nvPr/>
        </p:nvSpPr>
        <p:spPr>
          <a:xfrm>
            <a:off x="3109889" y="738278"/>
            <a:ext cx="287310" cy="153888"/>
          </a:xfrm>
          <a:prstGeom prst="rect">
            <a:avLst/>
          </a:prstGeom>
          <a:noFill/>
        </p:spPr>
        <p:txBody>
          <a:bodyPr wrap="square">
            <a:spAutoFit/>
          </a:bodyPr>
          <a:lstStyle/>
          <a:p>
            <a:pPr algn="ctr"/>
            <a:r>
              <a:rPr lang="zh-CN" altLang="en-US" sz="400" dirty="0">
                <a:latin typeface="ui-monospace"/>
              </a:rPr>
              <a:t>起点</a:t>
            </a:r>
            <a:endParaRPr lang="zh-CN" altLang="en-US" sz="400" dirty="0"/>
          </a:p>
        </p:txBody>
      </p:sp>
      <p:sp>
        <p:nvSpPr>
          <p:cNvPr id="1040" name="文本框 1039">
            <a:extLst>
              <a:ext uri="{FF2B5EF4-FFF2-40B4-BE49-F238E27FC236}">
                <a16:creationId xmlns:a16="http://schemas.microsoft.com/office/drawing/2014/main" id="{20761A2E-0239-3400-A08D-3D5F76C2441C}"/>
              </a:ext>
            </a:extLst>
          </p:cNvPr>
          <p:cNvSpPr txBox="1"/>
          <p:nvPr/>
        </p:nvSpPr>
        <p:spPr>
          <a:xfrm>
            <a:off x="3338862" y="702634"/>
            <a:ext cx="367759" cy="184666"/>
          </a:xfrm>
          <a:prstGeom prst="rect">
            <a:avLst/>
          </a:prstGeom>
          <a:noFill/>
        </p:spPr>
        <p:txBody>
          <a:bodyPr wrap="square">
            <a:spAutoFit/>
          </a:bodyPr>
          <a:lstStyle/>
          <a:p>
            <a:pPr algn="ctr"/>
            <a:r>
              <a:rPr lang="zh-CN" altLang="en-US" sz="600" dirty="0">
                <a:latin typeface="ui-monospace"/>
              </a:rPr>
              <a:t>名称</a:t>
            </a:r>
            <a:endParaRPr lang="zh-CN" altLang="en-US" sz="600" dirty="0"/>
          </a:p>
        </p:txBody>
      </p:sp>
      <p:sp>
        <p:nvSpPr>
          <p:cNvPr id="1041" name="文本框 1040">
            <a:extLst>
              <a:ext uri="{FF2B5EF4-FFF2-40B4-BE49-F238E27FC236}">
                <a16:creationId xmlns:a16="http://schemas.microsoft.com/office/drawing/2014/main" id="{73A19D3E-8BD0-8660-8ED5-757F1BB867DD}"/>
              </a:ext>
            </a:extLst>
          </p:cNvPr>
          <p:cNvSpPr txBox="1"/>
          <p:nvPr/>
        </p:nvSpPr>
        <p:spPr>
          <a:xfrm>
            <a:off x="4033770" y="762546"/>
            <a:ext cx="652007" cy="230832"/>
          </a:xfrm>
          <a:prstGeom prst="rect">
            <a:avLst/>
          </a:prstGeom>
          <a:noFill/>
        </p:spPr>
        <p:txBody>
          <a:bodyPr wrap="square">
            <a:spAutoFit/>
          </a:bodyPr>
          <a:lstStyle/>
          <a:p>
            <a:pPr algn="ctr"/>
            <a:r>
              <a:rPr lang="en-US" altLang="zh-CN" sz="900" dirty="0">
                <a:latin typeface="ui-monospace"/>
              </a:rPr>
              <a:t>P</a:t>
            </a:r>
            <a:endParaRPr lang="zh-CN" altLang="en-US" sz="900" dirty="0"/>
          </a:p>
        </p:txBody>
      </p:sp>
      <p:sp>
        <p:nvSpPr>
          <p:cNvPr id="1043" name="TextBox 36">
            <a:extLst>
              <a:ext uri="{FF2B5EF4-FFF2-40B4-BE49-F238E27FC236}">
                <a16:creationId xmlns:a16="http://schemas.microsoft.com/office/drawing/2014/main" id="{E783E1F6-0DF2-3FEF-484F-0F3DE67E7DAE}"/>
              </a:ext>
            </a:extLst>
          </p:cNvPr>
          <p:cNvSpPr txBox="1"/>
          <p:nvPr/>
        </p:nvSpPr>
        <p:spPr>
          <a:xfrm>
            <a:off x="3157101" y="1063745"/>
            <a:ext cx="4281578" cy="2308324"/>
          </a:xfrm>
          <a:prstGeom prst="rect">
            <a:avLst/>
          </a:prstGeom>
          <a:noFill/>
        </p:spPr>
        <p:txBody>
          <a:bodyPr wrap="square">
            <a:spAutoFit/>
          </a:bodyPr>
          <a:lstStyle/>
          <a:p>
            <a:r>
              <a:rPr lang="zh-CN" altLang="en-US" sz="1200" dirty="0">
                <a:solidFill>
                  <a:schemeClr val="accent1"/>
                </a:solidFill>
                <a:latin typeface="ui-monospace"/>
              </a:rPr>
              <a:t>数据流：加工</a:t>
            </a:r>
            <a:r>
              <a:rPr lang="en-US" altLang="zh-CN" sz="1200" dirty="0">
                <a:solidFill>
                  <a:schemeClr val="accent1"/>
                </a:solidFill>
                <a:latin typeface="ui-monospace"/>
              </a:rPr>
              <a:t>&gt;</a:t>
            </a:r>
            <a:r>
              <a:rPr lang="zh-CN" altLang="en-US" sz="1200" dirty="0">
                <a:solidFill>
                  <a:schemeClr val="accent1"/>
                </a:solidFill>
                <a:latin typeface="ui-monospace"/>
              </a:rPr>
              <a:t>加工、加工</a:t>
            </a:r>
            <a:r>
              <a:rPr lang="en-US" altLang="zh-CN" sz="1200" dirty="0">
                <a:solidFill>
                  <a:schemeClr val="accent1"/>
                </a:solidFill>
                <a:latin typeface="ui-monospace"/>
              </a:rPr>
              <a:t>&gt;</a:t>
            </a:r>
            <a:r>
              <a:rPr lang="zh-CN" altLang="en-US" sz="1200" dirty="0">
                <a:solidFill>
                  <a:schemeClr val="accent1"/>
                </a:solidFill>
                <a:latin typeface="ui-monospace"/>
              </a:rPr>
              <a:t>数据存储</a:t>
            </a:r>
            <a:r>
              <a:rPr lang="en-US" altLang="zh-CN" sz="1200" dirty="0">
                <a:solidFill>
                  <a:schemeClr val="accent1"/>
                </a:solidFill>
                <a:latin typeface="ui-monospace"/>
              </a:rPr>
              <a:t>(</a:t>
            </a:r>
            <a:r>
              <a:rPr lang="zh-CN" altLang="en-US" sz="1200" dirty="0">
                <a:solidFill>
                  <a:schemeClr val="accent1"/>
                </a:solidFill>
                <a:latin typeface="ui-monospace"/>
              </a:rPr>
              <a:t>写</a:t>
            </a:r>
            <a:r>
              <a:rPr lang="en-US" altLang="zh-CN" sz="1200" dirty="0">
                <a:solidFill>
                  <a:schemeClr val="accent1"/>
                </a:solidFill>
                <a:latin typeface="ui-monospace"/>
              </a:rPr>
              <a:t>)</a:t>
            </a:r>
            <a:r>
              <a:rPr lang="zh-CN" altLang="en-US" sz="1200" dirty="0">
                <a:solidFill>
                  <a:schemeClr val="accent1"/>
                </a:solidFill>
                <a:latin typeface="ui-monospace"/>
              </a:rPr>
              <a:t>、数据存储</a:t>
            </a:r>
            <a:r>
              <a:rPr lang="en-US" altLang="zh-CN" sz="1200" dirty="0">
                <a:solidFill>
                  <a:schemeClr val="accent1"/>
                </a:solidFill>
                <a:latin typeface="ui-monospace"/>
              </a:rPr>
              <a:t>&gt;</a:t>
            </a:r>
            <a:r>
              <a:rPr lang="zh-CN" altLang="en-US" sz="1200" dirty="0">
                <a:solidFill>
                  <a:schemeClr val="accent1"/>
                </a:solidFill>
                <a:latin typeface="ui-monospace"/>
              </a:rPr>
              <a:t>加工</a:t>
            </a:r>
            <a:r>
              <a:rPr lang="en-US" altLang="zh-CN" sz="1200" dirty="0">
                <a:solidFill>
                  <a:schemeClr val="accent1"/>
                </a:solidFill>
                <a:latin typeface="ui-monospace"/>
              </a:rPr>
              <a:t>(</a:t>
            </a:r>
            <a:r>
              <a:rPr lang="zh-CN" altLang="en-US" sz="1200" dirty="0">
                <a:solidFill>
                  <a:schemeClr val="accent1"/>
                </a:solidFill>
                <a:latin typeface="ui-monospace"/>
              </a:rPr>
              <a:t>读</a:t>
            </a:r>
            <a:r>
              <a:rPr lang="en-US" altLang="zh-CN" sz="1200" dirty="0">
                <a:solidFill>
                  <a:schemeClr val="accent1"/>
                </a:solidFill>
                <a:latin typeface="ui-monospace"/>
              </a:rPr>
              <a:t>)</a:t>
            </a:r>
            <a:r>
              <a:rPr lang="zh-CN" altLang="en-US" sz="1200" dirty="0">
                <a:solidFill>
                  <a:schemeClr val="accent1"/>
                </a:solidFill>
                <a:latin typeface="ui-monospace"/>
              </a:rPr>
              <a:t>、外部实体</a:t>
            </a:r>
            <a:r>
              <a:rPr lang="en-US" altLang="zh-CN" sz="1200" dirty="0">
                <a:solidFill>
                  <a:schemeClr val="accent1"/>
                </a:solidFill>
                <a:latin typeface="ui-monospace"/>
              </a:rPr>
              <a:t>&gt;</a:t>
            </a:r>
            <a:r>
              <a:rPr lang="zh-CN" altLang="en-US" sz="1200" dirty="0">
                <a:solidFill>
                  <a:schemeClr val="accent1"/>
                </a:solidFill>
                <a:latin typeface="ui-monospace"/>
              </a:rPr>
              <a:t>加工</a:t>
            </a:r>
            <a:r>
              <a:rPr lang="en-US" altLang="zh-CN" sz="1200" dirty="0">
                <a:solidFill>
                  <a:schemeClr val="accent1"/>
                </a:solidFill>
                <a:latin typeface="ui-monospace"/>
              </a:rPr>
              <a:t>(</a:t>
            </a:r>
            <a:r>
              <a:rPr lang="zh-CN" altLang="en-US" sz="1200" dirty="0">
                <a:solidFill>
                  <a:schemeClr val="accent1"/>
                </a:solidFill>
                <a:latin typeface="ui-monospace"/>
              </a:rPr>
              <a:t>输入</a:t>
            </a:r>
            <a:r>
              <a:rPr lang="en-US" altLang="zh-CN" sz="1200" dirty="0">
                <a:solidFill>
                  <a:schemeClr val="accent1"/>
                </a:solidFill>
                <a:latin typeface="ui-monospace"/>
              </a:rPr>
              <a:t>)</a:t>
            </a:r>
            <a:r>
              <a:rPr lang="zh-CN" altLang="en-US" sz="1200" dirty="0">
                <a:solidFill>
                  <a:schemeClr val="accent1"/>
                </a:solidFill>
                <a:latin typeface="ui-monospace"/>
              </a:rPr>
              <a:t>、加工</a:t>
            </a:r>
            <a:r>
              <a:rPr lang="en-US" altLang="zh-CN" sz="1200" dirty="0">
                <a:solidFill>
                  <a:schemeClr val="accent1"/>
                </a:solidFill>
                <a:latin typeface="ui-monospace"/>
              </a:rPr>
              <a:t>&gt;</a:t>
            </a:r>
            <a:r>
              <a:rPr lang="zh-CN" altLang="en-US" sz="1200" dirty="0">
                <a:solidFill>
                  <a:schemeClr val="accent1"/>
                </a:solidFill>
                <a:latin typeface="ui-monospace"/>
              </a:rPr>
              <a:t>外部实体</a:t>
            </a:r>
            <a:r>
              <a:rPr lang="en-US" altLang="zh-CN" sz="1200" dirty="0">
                <a:solidFill>
                  <a:schemeClr val="accent1"/>
                </a:solidFill>
                <a:latin typeface="ui-monospace"/>
              </a:rPr>
              <a:t>(</a:t>
            </a:r>
            <a:r>
              <a:rPr lang="zh-CN" altLang="en-US" sz="1200" dirty="0">
                <a:solidFill>
                  <a:schemeClr val="accent1"/>
                </a:solidFill>
                <a:latin typeface="ui-monospace"/>
              </a:rPr>
              <a:t>输出</a:t>
            </a:r>
            <a:r>
              <a:rPr lang="en-US" altLang="zh-CN" sz="1200" dirty="0">
                <a:solidFill>
                  <a:schemeClr val="accent1"/>
                </a:solidFill>
                <a:latin typeface="ui-monospace"/>
              </a:rPr>
              <a:t>)</a:t>
            </a:r>
          </a:p>
          <a:p>
            <a:r>
              <a:rPr lang="zh-CN" altLang="en-US" sz="1200" dirty="0">
                <a:solidFill>
                  <a:schemeClr val="accent1"/>
                </a:solidFill>
                <a:latin typeface="ui-monospace"/>
              </a:rPr>
              <a:t>加工：有输出无输入为奇迹，有输入无输出为黑洞，输入不足以产生输出为灰洞</a:t>
            </a:r>
            <a:endParaRPr lang="en-US" altLang="zh-CN" sz="1200" dirty="0">
              <a:solidFill>
                <a:schemeClr val="accent1"/>
              </a:solidFill>
              <a:latin typeface="ui-monospace"/>
            </a:endParaRPr>
          </a:p>
          <a:p>
            <a:r>
              <a:rPr lang="zh-CN" altLang="en-US" sz="1200" dirty="0">
                <a:solidFill>
                  <a:schemeClr val="accent1"/>
                </a:solidFill>
                <a:latin typeface="ui-monospace"/>
              </a:rPr>
              <a:t>数据存储：存储数据和提供数据</a:t>
            </a:r>
            <a:endParaRPr lang="en-US" altLang="zh-CN" sz="1200" dirty="0">
              <a:solidFill>
                <a:schemeClr val="accent1"/>
              </a:solidFill>
              <a:latin typeface="ui-monospace"/>
            </a:endParaRPr>
          </a:p>
          <a:p>
            <a:r>
              <a:rPr lang="zh-CN" altLang="en-US" sz="1200" dirty="0">
                <a:solidFill>
                  <a:schemeClr val="accent1"/>
                </a:solidFill>
                <a:latin typeface="ui-monospace"/>
              </a:rPr>
              <a:t>外部实体：当前系统之外的人员组织，数据发源地和归宿地</a:t>
            </a:r>
            <a:endParaRPr lang="en-US" altLang="zh-CN" sz="1200" dirty="0">
              <a:solidFill>
                <a:schemeClr val="accent1"/>
              </a:solidFill>
              <a:latin typeface="ui-monospace"/>
            </a:endParaRPr>
          </a:p>
          <a:p>
            <a:r>
              <a:rPr lang="zh-CN" altLang="en-US" sz="1200" dirty="0">
                <a:solidFill>
                  <a:schemeClr val="accent1"/>
                </a:solidFill>
                <a:latin typeface="ui-monospace"/>
              </a:rPr>
              <a:t>加工既有输入也要有输出</a:t>
            </a:r>
            <a:endParaRPr lang="en-US" altLang="zh-CN" sz="1200" dirty="0">
              <a:solidFill>
                <a:schemeClr val="accent1"/>
              </a:solidFill>
              <a:latin typeface="ui-monospace"/>
            </a:endParaRPr>
          </a:p>
          <a:p>
            <a:r>
              <a:rPr lang="zh-CN" altLang="en-US" sz="1200" dirty="0">
                <a:solidFill>
                  <a:schemeClr val="accent1"/>
                </a:solidFill>
                <a:latin typeface="ui-monospace"/>
              </a:rPr>
              <a:t>父图子图平衡：输入输出要保持一致</a:t>
            </a:r>
            <a:endParaRPr lang="en-US" altLang="zh-CN" sz="1200" dirty="0">
              <a:solidFill>
                <a:schemeClr val="accent1"/>
              </a:solidFill>
              <a:latin typeface="ui-monospace"/>
            </a:endParaRPr>
          </a:p>
          <a:p>
            <a:r>
              <a:rPr lang="zh-CN" altLang="en-US" sz="1200" dirty="0">
                <a:solidFill>
                  <a:schemeClr val="accent1"/>
                </a:solidFill>
                <a:latin typeface="ui-monospace"/>
              </a:rPr>
              <a:t>顶层数据流图</a:t>
            </a:r>
            <a:r>
              <a:rPr lang="en-US" altLang="zh-CN" sz="1200" dirty="0">
                <a:solidFill>
                  <a:schemeClr val="accent1"/>
                </a:solidFill>
                <a:latin typeface="ui-monospace"/>
              </a:rPr>
              <a:t>(</a:t>
            </a:r>
            <a:r>
              <a:rPr lang="zh-CN" altLang="en-US" sz="1200" dirty="0">
                <a:solidFill>
                  <a:schemeClr val="accent1"/>
                </a:solidFill>
                <a:latin typeface="ui-monospace"/>
              </a:rPr>
              <a:t>父图</a:t>
            </a:r>
            <a:r>
              <a:rPr lang="en-US" altLang="zh-CN" sz="1200" dirty="0">
                <a:solidFill>
                  <a:schemeClr val="accent1"/>
                </a:solidFill>
                <a:latin typeface="ui-monospace"/>
              </a:rPr>
              <a:t>)</a:t>
            </a:r>
            <a:r>
              <a:rPr lang="zh-CN" altLang="en-US" sz="1200" dirty="0">
                <a:solidFill>
                  <a:schemeClr val="accent1"/>
                </a:solidFill>
                <a:latin typeface="ui-monospace"/>
              </a:rPr>
              <a:t>是整个系统的高度抽象，描述系统的输入输出、外部实体以及之间的数据流</a:t>
            </a:r>
            <a:endParaRPr lang="en-US" altLang="zh-CN" sz="1200" dirty="0">
              <a:solidFill>
                <a:schemeClr val="accent1"/>
              </a:solidFill>
              <a:latin typeface="ui-monospace"/>
            </a:endParaRPr>
          </a:p>
          <a:p>
            <a:r>
              <a:rPr lang="zh-CN" altLang="en-US" sz="1200" dirty="0">
                <a:solidFill>
                  <a:schemeClr val="accent1"/>
                </a:solidFill>
                <a:latin typeface="ui-monospace"/>
              </a:rPr>
              <a:t>底层数据流图</a:t>
            </a:r>
            <a:r>
              <a:rPr lang="en-US" altLang="zh-CN" sz="1200" dirty="0">
                <a:solidFill>
                  <a:schemeClr val="accent1"/>
                </a:solidFill>
                <a:latin typeface="ui-monospace"/>
              </a:rPr>
              <a:t>(</a:t>
            </a:r>
            <a:r>
              <a:rPr lang="zh-CN" altLang="en-US" sz="1200" dirty="0">
                <a:solidFill>
                  <a:schemeClr val="accent1"/>
                </a:solidFill>
                <a:latin typeface="ui-monospace"/>
              </a:rPr>
              <a:t>子图</a:t>
            </a:r>
            <a:r>
              <a:rPr lang="en-US" altLang="zh-CN" sz="1200" dirty="0">
                <a:solidFill>
                  <a:schemeClr val="accent1"/>
                </a:solidFill>
                <a:latin typeface="ui-monospace"/>
              </a:rPr>
              <a:t>)</a:t>
            </a:r>
            <a:r>
              <a:rPr lang="zh-CN" altLang="en-US" sz="1200" dirty="0">
                <a:solidFill>
                  <a:schemeClr val="accent1"/>
                </a:solidFill>
                <a:latin typeface="ui-monospace"/>
              </a:rPr>
              <a:t>对父图的逐步细化</a:t>
            </a:r>
            <a:endParaRPr lang="en-US" altLang="zh-CN" sz="1200" dirty="0">
              <a:solidFill>
                <a:schemeClr val="accent1"/>
              </a:solidFill>
              <a:latin typeface="ui-monospace"/>
            </a:endParaRPr>
          </a:p>
          <a:p>
            <a:r>
              <a:rPr lang="zh-CN" altLang="en-US" sz="1200" dirty="0">
                <a:solidFill>
                  <a:schemeClr val="accent1"/>
                </a:solidFill>
                <a:latin typeface="ui-monospace"/>
              </a:rPr>
              <a:t>数据守恒：数据总量相同</a:t>
            </a:r>
            <a:endParaRPr lang="en-US" altLang="zh-CN" sz="1200" dirty="0">
              <a:solidFill>
                <a:schemeClr val="accent1"/>
              </a:solidFill>
              <a:latin typeface="ui-monospace"/>
            </a:endParaRPr>
          </a:p>
        </p:txBody>
      </p:sp>
    </p:spTree>
    <p:extLst>
      <p:ext uri="{BB962C8B-B14F-4D97-AF65-F5344CB8AC3E}">
        <p14:creationId xmlns:p14="http://schemas.microsoft.com/office/powerpoint/2010/main" val="14953812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97031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软件工程</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过程模型</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需求分析</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系统设计</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系统测试</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运行和维护</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软件质量和度量</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项目管理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4386653" cy="572261"/>
            <a:chOff x="7614613" y="5950488"/>
            <a:chExt cx="4386653" cy="57226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▶能力成熟度模型 </a:t>
              </a:r>
              <a:r>
                <a:rPr lang="en-US" altLang="zh-CN" sz="1200" dirty="0">
                  <a:solidFill>
                    <a:schemeClr val="bg1"/>
                  </a:solidFill>
                  <a:latin typeface="ui-monospace"/>
                </a:rPr>
                <a:t>CMM</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4281578" cy="276999"/>
            </a:xfrm>
            <a:prstGeom prst="rect">
              <a:avLst/>
            </a:prstGeom>
            <a:noFill/>
          </p:spPr>
          <p:txBody>
            <a:bodyPr wrap="square">
              <a:spAutoFit/>
            </a:bodyPr>
            <a:lstStyle/>
            <a:p>
              <a:endParaRPr lang="en-US" altLang="zh-CN" sz="1200" dirty="0">
                <a:solidFill>
                  <a:schemeClr val="accent1"/>
                </a:solidFill>
                <a:latin typeface="ui-monospace"/>
              </a:endParaRPr>
            </a:p>
          </p:txBody>
        </p:sp>
      </p:grpSp>
      <p:grpSp>
        <p:nvGrpSpPr>
          <p:cNvPr id="33" name="Group 25">
            <a:extLst>
              <a:ext uri="{FF2B5EF4-FFF2-40B4-BE49-F238E27FC236}">
                <a16:creationId xmlns:a16="http://schemas.microsoft.com/office/drawing/2014/main" id="{B8FA9490-77B4-E4EA-AA14-98492AF3D1D7}"/>
              </a:ext>
            </a:extLst>
          </p:cNvPr>
          <p:cNvGrpSpPr/>
          <p:nvPr/>
        </p:nvGrpSpPr>
        <p:grpSpPr>
          <a:xfrm>
            <a:off x="7655287" y="71394"/>
            <a:ext cx="4386653" cy="5742907"/>
            <a:chOff x="7614613" y="5950488"/>
            <a:chExt cx="4386653" cy="5742907"/>
          </a:xfrm>
        </p:grpSpPr>
        <p:sp>
          <p:nvSpPr>
            <p:cNvPr id="34" name="Rectangle: Rounded Corners 35">
              <a:extLst>
                <a:ext uri="{FF2B5EF4-FFF2-40B4-BE49-F238E27FC236}">
                  <a16:creationId xmlns:a16="http://schemas.microsoft.com/office/drawing/2014/main" id="{9B0280EF-C067-9382-6455-DC4DFA9BABC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▶软件过程模型</a:t>
              </a:r>
              <a:endParaRPr lang="en-US" sz="1200" dirty="0">
                <a:solidFill>
                  <a:schemeClr val="bg1"/>
                </a:solidFill>
              </a:endParaRPr>
            </a:p>
          </p:txBody>
        </p:sp>
        <p:sp>
          <p:nvSpPr>
            <p:cNvPr id="35" name="TextBox 36">
              <a:extLst>
                <a:ext uri="{FF2B5EF4-FFF2-40B4-BE49-F238E27FC236}">
                  <a16:creationId xmlns:a16="http://schemas.microsoft.com/office/drawing/2014/main" id="{501076B1-418C-C120-5596-4155B0B6B970}"/>
                </a:ext>
              </a:extLst>
            </p:cNvPr>
            <p:cNvSpPr txBox="1"/>
            <p:nvPr/>
          </p:nvSpPr>
          <p:spPr>
            <a:xfrm>
              <a:off x="7667294" y="6245750"/>
              <a:ext cx="4281578" cy="5447645"/>
            </a:xfrm>
            <a:prstGeom prst="rect">
              <a:avLst/>
            </a:prstGeom>
            <a:noFill/>
          </p:spPr>
          <p:txBody>
            <a:bodyPr wrap="square">
              <a:spAutoFit/>
            </a:bodyPr>
            <a:lstStyle/>
            <a:p>
              <a:r>
                <a:rPr lang="zh-CN" altLang="en-US" sz="1200" b="1" dirty="0">
                  <a:solidFill>
                    <a:schemeClr val="accent1"/>
                  </a:solidFill>
                  <a:latin typeface="ui-monospace"/>
                </a:rPr>
                <a:t>瀑布模型</a:t>
              </a:r>
              <a:r>
                <a:rPr lang="zh-CN" altLang="en-US" sz="1200" dirty="0">
                  <a:solidFill>
                    <a:schemeClr val="accent1"/>
                  </a:solidFill>
                  <a:latin typeface="ui-monospace"/>
                </a:rPr>
                <a:t>：需求分析</a:t>
              </a:r>
              <a:r>
                <a:rPr lang="en-US" altLang="zh-CN" sz="1200" dirty="0">
                  <a:solidFill>
                    <a:schemeClr val="accent1"/>
                  </a:solidFill>
                  <a:latin typeface="ui-monospace"/>
                </a:rPr>
                <a:t>&gt;</a:t>
              </a:r>
              <a:r>
                <a:rPr lang="zh-CN" altLang="en-US" sz="1200" dirty="0">
                  <a:solidFill>
                    <a:schemeClr val="accent1"/>
                  </a:solidFill>
                  <a:latin typeface="ui-monospace"/>
                </a:rPr>
                <a:t>设计</a:t>
              </a:r>
              <a:r>
                <a:rPr lang="en-US" altLang="zh-CN" sz="1200" dirty="0">
                  <a:solidFill>
                    <a:schemeClr val="accent1"/>
                  </a:solidFill>
                  <a:latin typeface="ui-monospace"/>
                </a:rPr>
                <a:t>&gt;</a:t>
              </a:r>
              <a:r>
                <a:rPr lang="zh-CN" altLang="en-US" sz="1200" dirty="0">
                  <a:solidFill>
                    <a:schemeClr val="accent1"/>
                  </a:solidFill>
                  <a:latin typeface="ui-monospace"/>
                </a:rPr>
                <a:t>编码</a:t>
              </a:r>
              <a:r>
                <a:rPr lang="en-US" altLang="zh-CN" sz="1200" dirty="0">
                  <a:solidFill>
                    <a:schemeClr val="accent1"/>
                  </a:solidFill>
                  <a:latin typeface="ui-monospace"/>
                </a:rPr>
                <a:t>&gt;</a:t>
              </a:r>
              <a:r>
                <a:rPr lang="zh-CN" altLang="en-US" sz="1200" dirty="0">
                  <a:solidFill>
                    <a:schemeClr val="accent1"/>
                  </a:solidFill>
                  <a:latin typeface="ui-monospace"/>
                </a:rPr>
                <a:t>测试</a:t>
              </a:r>
              <a:r>
                <a:rPr lang="en-US" altLang="zh-CN" sz="1200" dirty="0">
                  <a:solidFill>
                    <a:schemeClr val="accent1"/>
                  </a:solidFill>
                  <a:latin typeface="ui-monospace"/>
                </a:rPr>
                <a:t>&gt;</a:t>
              </a:r>
              <a:r>
                <a:rPr lang="zh-CN" altLang="en-US" sz="1200" dirty="0">
                  <a:solidFill>
                    <a:schemeClr val="accent1"/>
                  </a:solidFill>
                  <a:latin typeface="ui-monospace"/>
                </a:rPr>
                <a:t>运行与维护</a:t>
              </a:r>
              <a:endParaRPr lang="en-US" altLang="zh-CN" sz="1200" dirty="0">
                <a:solidFill>
                  <a:schemeClr val="accent1"/>
                </a:solidFill>
                <a:latin typeface="ui-monospace"/>
              </a:endParaRPr>
            </a:p>
            <a:p>
              <a:r>
                <a:rPr lang="zh-CN" altLang="en-US" sz="1200" dirty="0">
                  <a:solidFill>
                    <a:schemeClr val="accent1"/>
                  </a:solidFill>
                  <a:latin typeface="ui-monospace"/>
                </a:rPr>
                <a:t>特点：结构化方法，以项目的阶段评审和</a:t>
              </a:r>
              <a:r>
                <a:rPr lang="zh-CN" altLang="en-US" sz="1200" b="1" dirty="0">
                  <a:solidFill>
                    <a:schemeClr val="accent1"/>
                  </a:solidFill>
                  <a:latin typeface="ui-monospace"/>
                </a:rPr>
                <a:t>文档</a:t>
              </a:r>
              <a:r>
                <a:rPr lang="zh-CN" altLang="en-US" sz="1200" dirty="0">
                  <a:solidFill>
                    <a:schemeClr val="accent1"/>
                  </a:solidFill>
                  <a:latin typeface="ui-monospace"/>
                </a:rPr>
                <a:t>控制来指导，</a:t>
              </a:r>
              <a:r>
                <a:rPr lang="zh-CN" altLang="en-US" sz="1200" b="1" dirty="0">
                  <a:solidFill>
                    <a:schemeClr val="accent1"/>
                  </a:solidFill>
                  <a:latin typeface="ui-monospace"/>
                </a:rPr>
                <a:t>需求明确</a:t>
              </a:r>
              <a:r>
                <a:rPr lang="zh-CN" altLang="en-US" sz="1200" dirty="0">
                  <a:solidFill>
                    <a:schemeClr val="accent1"/>
                  </a:solidFill>
                  <a:latin typeface="ui-monospace"/>
                </a:rPr>
                <a:t>，管理成本低</a:t>
              </a:r>
              <a:endParaRPr lang="en-US" altLang="zh-CN" sz="1200" dirty="0">
                <a:solidFill>
                  <a:schemeClr val="accent1"/>
                </a:solidFill>
                <a:latin typeface="ui-monospace"/>
              </a:endParaRPr>
            </a:p>
            <a:p>
              <a:r>
                <a:rPr lang="zh-CN" altLang="en-US" sz="1200" dirty="0">
                  <a:solidFill>
                    <a:schemeClr val="accent1"/>
                  </a:solidFill>
                  <a:latin typeface="ui-monospace"/>
                </a:rPr>
                <a:t>缺点：由于各个阶段的依赖关系，需求变更较大时，会导致整个项目的延迟；测试阶段在开发结束后才进行，可能导致问题的发现和修复较晚；客户参与程度较低，可能导致最终产品与客户需求有较大差距，风险控制弱</a:t>
              </a:r>
              <a:endParaRPr lang="en-US" altLang="zh-CN" sz="1200" dirty="0">
                <a:solidFill>
                  <a:schemeClr val="accent1"/>
                </a:solidFill>
                <a:latin typeface="ui-monospace"/>
              </a:endParaRPr>
            </a:p>
            <a:p>
              <a:r>
                <a:rPr lang="en-US" altLang="zh-CN" sz="1200" dirty="0">
                  <a:solidFill>
                    <a:schemeClr val="accent1"/>
                  </a:solidFill>
                  <a:latin typeface="ui-monospace"/>
                </a:rPr>
                <a:t>V</a:t>
              </a:r>
              <a:r>
                <a:rPr lang="zh-CN" altLang="en-US" sz="1200" dirty="0">
                  <a:solidFill>
                    <a:schemeClr val="accent1"/>
                  </a:solidFill>
                  <a:latin typeface="ui-monospace"/>
                </a:rPr>
                <a:t>模型：变体，质量保证活动，开发与测试结合，有</a:t>
              </a:r>
              <a:r>
                <a:rPr lang="en-US" altLang="zh-CN" sz="1200" dirty="0">
                  <a:solidFill>
                    <a:schemeClr val="accent1"/>
                  </a:solidFill>
                  <a:latin typeface="ui-monospace"/>
                </a:rPr>
                <a:t>V</a:t>
              </a:r>
              <a:r>
                <a:rPr lang="zh-CN" altLang="en-US" sz="1200" dirty="0">
                  <a:solidFill>
                    <a:schemeClr val="accent1"/>
                  </a:solidFill>
                  <a:latin typeface="ui-monospace"/>
                </a:rPr>
                <a:t>选瀑</a:t>
              </a:r>
              <a:endParaRPr lang="en-US" altLang="zh-CN" sz="1200" dirty="0">
                <a:solidFill>
                  <a:schemeClr val="accent1"/>
                </a:solidFill>
                <a:latin typeface="ui-monospace"/>
              </a:endParaRPr>
            </a:p>
            <a:p>
              <a:r>
                <a:rPr lang="zh-CN" altLang="en-US" sz="1200" b="1" dirty="0">
                  <a:solidFill>
                    <a:schemeClr val="accent1"/>
                  </a:solidFill>
                  <a:latin typeface="ui-monospace"/>
                </a:rPr>
                <a:t>增量模型</a:t>
              </a:r>
              <a:r>
                <a:rPr lang="zh-CN" altLang="en-US" sz="1200" dirty="0">
                  <a:solidFill>
                    <a:schemeClr val="accent1"/>
                  </a:solidFill>
                  <a:latin typeface="ui-monospace"/>
                </a:rPr>
                <a:t>：将软件系统划分成多个增量，每个增量分别开发、测试和部署，然后按顺序进行整合。首个增量是核心</a:t>
              </a:r>
              <a:endParaRPr lang="en-US" altLang="zh-CN" sz="1200" dirty="0">
                <a:solidFill>
                  <a:schemeClr val="accent1"/>
                </a:solidFill>
                <a:latin typeface="ui-monospace"/>
              </a:endParaRPr>
            </a:p>
            <a:p>
              <a:r>
                <a:rPr lang="zh-CN" altLang="en-US" sz="1200" dirty="0">
                  <a:solidFill>
                    <a:schemeClr val="accent1"/>
                  </a:solidFill>
                  <a:latin typeface="ui-monospace"/>
                </a:rPr>
                <a:t>特点：增量划分、迭代开发、重复循环、增量交付</a:t>
              </a:r>
              <a:endParaRPr lang="en-US" altLang="zh-CN" sz="1200" dirty="0">
                <a:solidFill>
                  <a:schemeClr val="accent1"/>
                </a:solidFill>
                <a:latin typeface="ui-monospace"/>
              </a:endParaRPr>
            </a:p>
            <a:p>
              <a:r>
                <a:rPr lang="zh-CN" altLang="en-US" sz="1200" dirty="0">
                  <a:solidFill>
                    <a:schemeClr val="accent1"/>
                  </a:solidFill>
                  <a:latin typeface="ui-monospace"/>
                </a:rPr>
                <a:t>缺点：</a:t>
              </a:r>
              <a:r>
                <a:rPr lang="zh-CN" altLang="en-US" sz="1200" b="1" dirty="0">
                  <a:solidFill>
                    <a:schemeClr val="accent1"/>
                  </a:solidFill>
                  <a:latin typeface="ui-monospace"/>
                </a:rPr>
                <a:t>管理成本高</a:t>
              </a:r>
              <a:r>
                <a:rPr lang="zh-CN" altLang="en-US" sz="1200" dirty="0">
                  <a:solidFill>
                    <a:schemeClr val="accent1"/>
                  </a:solidFill>
                  <a:latin typeface="ui-monospace"/>
                </a:rPr>
                <a:t>，效率低</a:t>
              </a:r>
              <a:endParaRPr lang="en-US" altLang="zh-CN" sz="1200" dirty="0">
                <a:solidFill>
                  <a:schemeClr val="accent1"/>
                </a:solidFill>
                <a:latin typeface="ui-monospace"/>
              </a:endParaRPr>
            </a:p>
            <a:p>
              <a:r>
                <a:rPr lang="zh-CN" altLang="en-US" sz="1200" dirty="0">
                  <a:solidFill>
                    <a:schemeClr val="accent1"/>
                  </a:solidFill>
                  <a:latin typeface="ui-monospace"/>
                </a:rPr>
                <a:t>演化模型：对软件需求缺乏准确认识时</a:t>
              </a:r>
              <a:endParaRPr lang="en-US" altLang="zh-CN" sz="1200" dirty="0">
                <a:solidFill>
                  <a:schemeClr val="accent1"/>
                </a:solidFill>
                <a:latin typeface="ui-monospace"/>
              </a:endParaRPr>
            </a:p>
            <a:p>
              <a:r>
                <a:rPr lang="zh-CN" altLang="en-US" sz="1200" b="1" dirty="0">
                  <a:solidFill>
                    <a:schemeClr val="accent1"/>
                  </a:solidFill>
                  <a:latin typeface="ui-monospace"/>
                </a:rPr>
                <a:t>原型模型</a:t>
              </a:r>
              <a:r>
                <a:rPr lang="zh-CN" altLang="en-US" sz="1200" dirty="0">
                  <a:solidFill>
                    <a:schemeClr val="accent1"/>
                  </a:solidFill>
                  <a:latin typeface="ui-monospace"/>
                </a:rPr>
                <a:t>：创建快速原型，了解需求和反馈。</a:t>
              </a:r>
              <a:r>
                <a:rPr lang="zh-CN" altLang="en-US" sz="1200" b="1" dirty="0">
                  <a:solidFill>
                    <a:schemeClr val="accent1"/>
                  </a:solidFill>
                  <a:latin typeface="ui-monospace"/>
                </a:rPr>
                <a:t>需求不明确</a:t>
              </a:r>
              <a:r>
                <a:rPr lang="zh-CN" altLang="en-US" sz="1200" dirty="0">
                  <a:solidFill>
                    <a:schemeClr val="accent1"/>
                  </a:solidFill>
                  <a:latin typeface="ui-monospace"/>
                </a:rPr>
                <a:t>，经常变化，规模小</a:t>
              </a:r>
              <a:endParaRPr lang="en-US" altLang="zh-CN" sz="1200" dirty="0">
                <a:solidFill>
                  <a:schemeClr val="accent1"/>
                </a:solidFill>
                <a:latin typeface="ui-monospace"/>
              </a:endParaRPr>
            </a:p>
            <a:p>
              <a:r>
                <a:rPr lang="zh-CN" altLang="en-US" sz="1200" dirty="0">
                  <a:solidFill>
                    <a:schemeClr val="accent1"/>
                  </a:solidFill>
                  <a:latin typeface="ui-monospace"/>
                </a:rPr>
                <a:t>特点：实际可行、具有基本特征、构造方便快速，动态需求</a:t>
              </a:r>
              <a:endParaRPr lang="en-US" altLang="zh-CN" sz="1200" dirty="0">
                <a:solidFill>
                  <a:schemeClr val="accent1"/>
                </a:solidFill>
                <a:latin typeface="ui-monospace"/>
              </a:endParaRPr>
            </a:p>
            <a:p>
              <a:r>
                <a:rPr lang="zh-CN" altLang="en-US" sz="1200" b="1" dirty="0">
                  <a:solidFill>
                    <a:schemeClr val="accent1"/>
                  </a:solidFill>
                  <a:latin typeface="ui-monospace"/>
                </a:rPr>
                <a:t>螺旋模型</a:t>
              </a:r>
              <a:r>
                <a:rPr lang="zh-CN" altLang="en-US" sz="1200" dirty="0">
                  <a:solidFill>
                    <a:schemeClr val="accent1"/>
                  </a:solidFill>
                  <a:latin typeface="ui-monospace"/>
                </a:rPr>
                <a:t>：适用于</a:t>
              </a:r>
              <a:r>
                <a:rPr lang="zh-CN" altLang="en-US" sz="1200" b="1" dirty="0">
                  <a:solidFill>
                    <a:schemeClr val="accent1"/>
                  </a:solidFill>
                  <a:latin typeface="ui-monospace"/>
                </a:rPr>
                <a:t>复杂、大型、高风险</a:t>
              </a:r>
              <a:r>
                <a:rPr lang="zh-CN" altLang="en-US" sz="1200" dirty="0">
                  <a:solidFill>
                    <a:schemeClr val="accent1"/>
                  </a:solidFill>
                  <a:latin typeface="ui-monospace"/>
                </a:rPr>
                <a:t>的项目</a:t>
              </a:r>
              <a:endParaRPr lang="en-US" altLang="zh-CN" sz="1200" dirty="0">
                <a:solidFill>
                  <a:schemeClr val="accent1"/>
                </a:solidFill>
                <a:latin typeface="ui-monospace"/>
              </a:endParaRPr>
            </a:p>
            <a:p>
              <a:r>
                <a:rPr lang="zh-CN" altLang="en-US" sz="1200" dirty="0">
                  <a:solidFill>
                    <a:schemeClr val="accent1"/>
                  </a:solidFill>
                  <a:latin typeface="ui-monospace"/>
                </a:rPr>
                <a:t>螺旋周期：制定计划、</a:t>
              </a:r>
              <a:r>
                <a:rPr lang="zh-CN" altLang="en-US" sz="1200" b="1" dirty="0">
                  <a:solidFill>
                    <a:schemeClr val="accent1"/>
                  </a:solidFill>
                  <a:latin typeface="ui-monospace"/>
                </a:rPr>
                <a:t>风险分析</a:t>
              </a:r>
              <a:r>
                <a:rPr lang="zh-CN" altLang="en-US" sz="1200" dirty="0">
                  <a:solidFill>
                    <a:schemeClr val="accent1"/>
                  </a:solidFill>
                  <a:latin typeface="ui-monospace"/>
                </a:rPr>
                <a:t>、实施工程、客户评估</a:t>
              </a:r>
              <a:endParaRPr lang="en-US" altLang="zh-CN" sz="1200" dirty="0">
                <a:solidFill>
                  <a:schemeClr val="accent1"/>
                </a:solidFill>
                <a:latin typeface="ui-monospace"/>
              </a:endParaRPr>
            </a:p>
            <a:p>
              <a:r>
                <a:rPr lang="zh-CN" altLang="en-US" sz="1200" dirty="0">
                  <a:solidFill>
                    <a:schemeClr val="accent1"/>
                  </a:solidFill>
                  <a:latin typeface="ui-monospace"/>
                </a:rPr>
                <a:t>缺点：需要较高的技术和管理能力，且增加成本</a:t>
              </a:r>
              <a:endParaRPr lang="en-US" altLang="zh-CN" sz="1200" dirty="0">
                <a:solidFill>
                  <a:schemeClr val="accent1"/>
                </a:solidFill>
                <a:latin typeface="ui-monospace"/>
              </a:endParaRPr>
            </a:p>
            <a:p>
              <a:r>
                <a:rPr lang="zh-CN" altLang="en-US" sz="1200" b="1" dirty="0">
                  <a:solidFill>
                    <a:schemeClr val="accent1"/>
                  </a:solidFill>
                  <a:latin typeface="ui-monospace"/>
                </a:rPr>
                <a:t>喷泉模型</a:t>
              </a:r>
              <a:r>
                <a:rPr lang="zh-CN" altLang="en-US" sz="1200" dirty="0">
                  <a:solidFill>
                    <a:schemeClr val="accent1"/>
                  </a:solidFill>
                  <a:latin typeface="ui-monospace"/>
                </a:rPr>
                <a:t>：以用户需求为动力，以对象作为驱动，</a:t>
              </a:r>
              <a:r>
                <a:rPr lang="zh-CN" altLang="en-US" sz="1200" b="1" dirty="0">
                  <a:solidFill>
                    <a:schemeClr val="accent1"/>
                  </a:solidFill>
                  <a:latin typeface="ui-monospace"/>
                </a:rPr>
                <a:t>面向对象</a:t>
              </a:r>
              <a:endParaRPr lang="en-US" altLang="zh-CN" sz="1200" b="1" dirty="0">
                <a:solidFill>
                  <a:schemeClr val="accent1"/>
                </a:solidFill>
                <a:latin typeface="ui-monospace"/>
              </a:endParaRPr>
            </a:p>
            <a:p>
              <a:r>
                <a:rPr lang="zh-CN" altLang="en-US" sz="1200" dirty="0">
                  <a:solidFill>
                    <a:schemeClr val="accent1"/>
                  </a:solidFill>
                  <a:latin typeface="ui-monospace"/>
                </a:rPr>
                <a:t>特点：</a:t>
              </a:r>
              <a:r>
                <a:rPr lang="zh-CN" altLang="en-US" sz="1200" b="1" dirty="0">
                  <a:solidFill>
                    <a:schemeClr val="accent1"/>
                  </a:solidFill>
                  <a:latin typeface="ui-monospace"/>
                </a:rPr>
                <a:t>迭代</a:t>
              </a:r>
              <a:r>
                <a:rPr lang="zh-CN" altLang="en-US" sz="1200" dirty="0">
                  <a:solidFill>
                    <a:schemeClr val="accent1"/>
                  </a:solidFill>
                  <a:latin typeface="ui-monospace"/>
                </a:rPr>
                <a:t>性，无间隙性，</a:t>
              </a:r>
              <a:r>
                <a:rPr lang="zh-CN" altLang="en-US" sz="1200" b="1" dirty="0">
                  <a:solidFill>
                    <a:schemeClr val="accent1"/>
                  </a:solidFill>
                  <a:latin typeface="ui-monospace"/>
                </a:rPr>
                <a:t>无边界</a:t>
              </a:r>
              <a:r>
                <a:rPr lang="zh-CN" altLang="en-US" sz="1200" dirty="0">
                  <a:solidFill>
                    <a:schemeClr val="accent1"/>
                  </a:solidFill>
                  <a:latin typeface="ui-monospace"/>
                </a:rPr>
                <a:t>可同步进行，开发效率高，复用好</a:t>
              </a:r>
              <a:endParaRPr lang="en-US" altLang="zh-CN" sz="1200" dirty="0">
                <a:solidFill>
                  <a:schemeClr val="accent1"/>
                </a:solidFill>
                <a:latin typeface="ui-monospace"/>
              </a:endParaRPr>
            </a:p>
            <a:p>
              <a:r>
                <a:rPr lang="zh-CN" altLang="en-US" sz="1200" dirty="0">
                  <a:solidFill>
                    <a:schemeClr val="accent1"/>
                  </a:solidFill>
                  <a:latin typeface="ui-monospace"/>
                </a:rPr>
                <a:t>过程：分析、设计、实现、维护、演化</a:t>
              </a:r>
              <a:endParaRPr lang="en-US" altLang="zh-CN" sz="1200" dirty="0">
                <a:solidFill>
                  <a:schemeClr val="accent1"/>
                </a:solidFill>
                <a:latin typeface="ui-monospace"/>
              </a:endParaRPr>
            </a:p>
            <a:p>
              <a:r>
                <a:rPr lang="zh-CN" altLang="en-US" sz="1200" dirty="0">
                  <a:solidFill>
                    <a:schemeClr val="accent1"/>
                  </a:solidFill>
                  <a:latin typeface="ui-monospace"/>
                </a:rPr>
                <a:t>缺点：团队成员多，需严格管理文档</a:t>
              </a:r>
              <a:endParaRPr lang="en-US" altLang="zh-CN" sz="1200" dirty="0">
                <a:solidFill>
                  <a:schemeClr val="accent1"/>
                </a:solidFill>
                <a:latin typeface="ui-monospace"/>
              </a:endParaRPr>
            </a:p>
            <a:p>
              <a:r>
                <a:rPr lang="zh-CN" altLang="en-US" sz="1200" b="1" dirty="0">
                  <a:solidFill>
                    <a:schemeClr val="accent1"/>
                  </a:solidFill>
                  <a:latin typeface="ui-monospace"/>
                </a:rPr>
                <a:t>统一过程模型</a:t>
              </a:r>
              <a:r>
                <a:rPr lang="en-US" altLang="zh-CN" sz="1200" dirty="0">
                  <a:solidFill>
                    <a:schemeClr val="accent1"/>
                  </a:solidFill>
                  <a:latin typeface="ui-monospace"/>
                </a:rPr>
                <a:t>(UP/RUP)</a:t>
              </a:r>
              <a:r>
                <a:rPr lang="zh-CN" altLang="en-US" sz="1200" dirty="0">
                  <a:solidFill>
                    <a:schemeClr val="accent1"/>
                  </a:solidFill>
                  <a:latin typeface="ui-monospace"/>
                </a:rPr>
                <a:t>：用例和风险驱动、以架构为中心、迭代且增量</a:t>
              </a:r>
              <a:endParaRPr lang="en-US" altLang="zh-CN" sz="1200" dirty="0">
                <a:solidFill>
                  <a:schemeClr val="accent1"/>
                </a:solidFill>
                <a:latin typeface="ui-monospace"/>
              </a:endParaRPr>
            </a:p>
            <a:p>
              <a:r>
                <a:rPr lang="zh-CN" altLang="en-US" sz="1200" dirty="0">
                  <a:solidFill>
                    <a:schemeClr val="accent1"/>
                  </a:solidFill>
                  <a:latin typeface="ui-monospace"/>
                </a:rPr>
                <a:t>阶段：起始阶段：生命周期目标、精化阶段：生命周期架构、构建阶段：初始运行功能、移交阶段：产品发布</a:t>
              </a:r>
              <a:endParaRPr lang="en-US" altLang="zh-CN" sz="1200" dirty="0">
                <a:solidFill>
                  <a:schemeClr val="accent1"/>
                </a:solidFill>
                <a:latin typeface="ui-monospace"/>
              </a:endParaRPr>
            </a:p>
          </p:txBody>
        </p:sp>
      </p:grpSp>
      <p:graphicFrame>
        <p:nvGraphicFramePr>
          <p:cNvPr id="5" name="Table 4">
            <a:extLst>
              <a:ext uri="{FF2B5EF4-FFF2-40B4-BE49-F238E27FC236}">
                <a16:creationId xmlns:a16="http://schemas.microsoft.com/office/drawing/2014/main" id="{DEFE333C-1B8E-3A8B-2DFC-000171B9089A}"/>
              </a:ext>
            </a:extLst>
          </p:cNvPr>
          <p:cNvGraphicFramePr>
            <a:graphicFrameLocks noGrp="1"/>
          </p:cNvGraphicFramePr>
          <p:nvPr>
            <p:extLst>
              <p:ext uri="{D42A27DB-BD31-4B8C-83A1-F6EECF244321}">
                <p14:modId xmlns:p14="http://schemas.microsoft.com/office/powerpoint/2010/main" val="126373776"/>
              </p:ext>
            </p:extLst>
          </p:nvPr>
        </p:nvGraphicFramePr>
        <p:xfrm>
          <a:off x="3150427" y="404304"/>
          <a:ext cx="4281575" cy="1965960"/>
        </p:xfrm>
        <a:graphic>
          <a:graphicData uri="http://schemas.openxmlformats.org/drawingml/2006/table">
            <a:tbl>
              <a:tblPr firstRow="1" bandRow="1">
                <a:tableStyleId>{5C22544A-7EE6-4342-B048-85BDC9FD1C3A}</a:tableStyleId>
              </a:tblPr>
              <a:tblGrid>
                <a:gridCol w="850073">
                  <a:extLst>
                    <a:ext uri="{9D8B030D-6E8A-4147-A177-3AD203B41FA5}">
                      <a16:colId xmlns:a16="http://schemas.microsoft.com/office/drawing/2014/main" val="4196207211"/>
                    </a:ext>
                  </a:extLst>
                </a:gridCol>
                <a:gridCol w="3431502">
                  <a:extLst>
                    <a:ext uri="{9D8B030D-6E8A-4147-A177-3AD203B41FA5}">
                      <a16:colId xmlns:a16="http://schemas.microsoft.com/office/drawing/2014/main" val="3523767036"/>
                    </a:ext>
                  </a:extLst>
                </a:gridCol>
              </a:tblGrid>
              <a:tr h="204220">
                <a:tc>
                  <a:txBody>
                    <a:bodyPr/>
                    <a:lstStyle/>
                    <a:p>
                      <a:pPr algn="ctr"/>
                      <a:r>
                        <a:rPr lang="zh-CN" altLang="en-US" sz="900" b="1" dirty="0">
                          <a:solidFill>
                            <a:schemeClr val="tx1"/>
                          </a:solidFill>
                        </a:rPr>
                        <a:t>初始级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软件过程的特点是杂乱无章，有时甚至很混，几乎没有明确定义的步骤，项目的成功完全依赖个人努力和英雄式核心任务的作用</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1" dirty="0">
                          <a:solidFill>
                            <a:schemeClr val="tx1"/>
                          </a:solidFill>
                        </a:rPr>
                        <a:t>可重复级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建立了</a:t>
                      </a:r>
                      <a:r>
                        <a:rPr lang="zh-CN" altLang="en-US" sz="900" b="1" dirty="0">
                          <a:solidFill>
                            <a:schemeClr val="tx1"/>
                          </a:solidFill>
                        </a:rPr>
                        <a:t>基本</a:t>
                      </a:r>
                      <a:r>
                        <a:rPr lang="zh-CN" altLang="en-US" sz="900" b="0" dirty="0">
                          <a:solidFill>
                            <a:schemeClr val="tx1"/>
                          </a:solidFill>
                        </a:rPr>
                        <a:t>的项目管理过程和实践来跟踪项目费用、进度和功能特性，有必要的过程准则来</a:t>
                      </a:r>
                      <a:r>
                        <a:rPr lang="zh-CN" altLang="en-US" sz="900" b="1" dirty="0">
                          <a:solidFill>
                            <a:schemeClr val="tx1"/>
                          </a:solidFill>
                        </a:rPr>
                        <a:t>重复</a:t>
                      </a:r>
                      <a:r>
                        <a:rPr lang="zh-CN" altLang="en-US" sz="900" b="0" dirty="0">
                          <a:solidFill>
                            <a:schemeClr val="tx1"/>
                          </a:solidFill>
                        </a:rPr>
                        <a:t>以前在同类项目中的成功</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r h="204220">
                <a:tc>
                  <a:txBody>
                    <a:bodyPr/>
                    <a:lstStyle/>
                    <a:p>
                      <a:pPr algn="ctr"/>
                      <a:r>
                        <a:rPr lang="zh-CN" altLang="en-US" sz="900" b="1" dirty="0">
                          <a:solidFill>
                            <a:schemeClr val="tx1"/>
                          </a:solidFill>
                        </a:rPr>
                        <a:t>已定义级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管理和工程两方面的软件过程已文档化、标准化，并综合成整个软件开发组织的标准软件过程。所有项目都采用根据实际情况修改后得到的</a:t>
                      </a:r>
                      <a:r>
                        <a:rPr lang="zh-CN" altLang="en-US" sz="900" b="1" dirty="0">
                          <a:solidFill>
                            <a:schemeClr val="tx1"/>
                          </a:solidFill>
                        </a:rPr>
                        <a:t>标准软件过程</a:t>
                      </a:r>
                      <a:r>
                        <a:rPr lang="zh-CN" altLang="en-US" sz="900" b="0" dirty="0">
                          <a:solidFill>
                            <a:schemeClr val="tx1"/>
                          </a:solidFill>
                        </a:rPr>
                        <a:t>来开发和维护软件</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zh-CN" altLang="en-US" sz="900" b="1" dirty="0">
                          <a:solidFill>
                            <a:schemeClr val="tx1"/>
                          </a:solidFill>
                        </a:rPr>
                        <a:t>已管理级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指定了软件过程和产品质量的详细</a:t>
                      </a:r>
                      <a:r>
                        <a:rPr lang="zh-CN" altLang="en-US" sz="900" b="1" dirty="0">
                          <a:solidFill>
                            <a:schemeClr val="tx1"/>
                          </a:solidFill>
                        </a:rPr>
                        <a:t>度量标准</a:t>
                      </a:r>
                      <a:r>
                        <a:rPr lang="zh-CN" altLang="en-US" sz="900" b="0" dirty="0">
                          <a:solidFill>
                            <a:schemeClr val="tx1"/>
                          </a:solidFill>
                        </a:rPr>
                        <a:t>。软件过程的产品质量都被开发组织的成员所</a:t>
                      </a:r>
                      <a:r>
                        <a:rPr lang="zh-CN" altLang="en-US" sz="900" b="1" dirty="0">
                          <a:solidFill>
                            <a:schemeClr val="tx1"/>
                          </a:solidFill>
                        </a:rPr>
                        <a:t>理解和控制</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r h="204220">
                <a:tc>
                  <a:txBody>
                    <a:bodyPr/>
                    <a:lstStyle/>
                    <a:p>
                      <a:pPr algn="ctr"/>
                      <a:r>
                        <a:rPr lang="zh-CN" altLang="en-US" sz="900" b="1" dirty="0">
                          <a:solidFill>
                            <a:schemeClr val="tx1"/>
                          </a:solidFill>
                        </a:rPr>
                        <a:t>优化级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加强了定量分析，通过来自过程质量</a:t>
                      </a:r>
                      <a:r>
                        <a:rPr lang="zh-CN" altLang="en-US" sz="900" b="1" dirty="0">
                          <a:solidFill>
                            <a:schemeClr val="tx1"/>
                          </a:solidFill>
                        </a:rPr>
                        <a:t>反馈</a:t>
                      </a:r>
                      <a:r>
                        <a:rPr lang="zh-CN" altLang="en-US" sz="900" b="0" dirty="0">
                          <a:solidFill>
                            <a:schemeClr val="tx1"/>
                          </a:solidFill>
                        </a:rPr>
                        <a:t>和来自新观念、新技术的反馈使过程能不断持续地</a:t>
                      </a:r>
                      <a:r>
                        <a:rPr lang="zh-CN" altLang="en-US" sz="900" b="1" dirty="0">
                          <a:solidFill>
                            <a:schemeClr val="tx1"/>
                          </a:solidFill>
                        </a:rPr>
                        <a:t>改进</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608652"/>
                  </a:ext>
                </a:extLst>
              </a:tr>
            </a:tbl>
          </a:graphicData>
        </a:graphic>
      </p:graphicFrame>
      <p:grpSp>
        <p:nvGrpSpPr>
          <p:cNvPr id="8" name="Group 25">
            <a:extLst>
              <a:ext uri="{FF2B5EF4-FFF2-40B4-BE49-F238E27FC236}">
                <a16:creationId xmlns:a16="http://schemas.microsoft.com/office/drawing/2014/main" id="{05323D5E-7C08-7172-8098-4BCF9582F2D5}"/>
              </a:ext>
            </a:extLst>
          </p:cNvPr>
          <p:cNvGrpSpPr/>
          <p:nvPr/>
        </p:nvGrpSpPr>
        <p:grpSpPr>
          <a:xfrm>
            <a:off x="3097889" y="2424830"/>
            <a:ext cx="4386653" cy="572261"/>
            <a:chOff x="7614613" y="5950488"/>
            <a:chExt cx="4386653" cy="572261"/>
          </a:xfrm>
        </p:grpSpPr>
        <p:sp>
          <p:nvSpPr>
            <p:cNvPr id="9" name="Rectangle: Rounded Corners 35">
              <a:extLst>
                <a:ext uri="{FF2B5EF4-FFF2-40B4-BE49-F238E27FC236}">
                  <a16:creationId xmlns:a16="http://schemas.microsoft.com/office/drawing/2014/main" id="{C938A41E-25E7-6DD3-F99B-5452AAC12696}"/>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▶能力成熟度模型集成 </a:t>
              </a:r>
              <a:r>
                <a:rPr lang="en-US" altLang="zh-CN" sz="1200" dirty="0">
                  <a:solidFill>
                    <a:schemeClr val="bg1"/>
                  </a:solidFill>
                  <a:latin typeface="ui-monospace"/>
                </a:rPr>
                <a:t>CMMI</a:t>
              </a:r>
              <a:endParaRPr lang="en-US" sz="1200" dirty="0">
                <a:solidFill>
                  <a:schemeClr val="bg1"/>
                </a:solidFill>
              </a:endParaRPr>
            </a:p>
          </p:txBody>
        </p:sp>
        <p:sp>
          <p:nvSpPr>
            <p:cNvPr id="10" name="TextBox 36">
              <a:extLst>
                <a:ext uri="{FF2B5EF4-FFF2-40B4-BE49-F238E27FC236}">
                  <a16:creationId xmlns:a16="http://schemas.microsoft.com/office/drawing/2014/main" id="{83751DE5-57D0-ED3B-2ABC-DD2E155C3EC1}"/>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latin typeface="ui-monospace"/>
                </a:rPr>
                <a:t>阶段式模型</a:t>
              </a:r>
              <a:endParaRPr lang="en-US" altLang="zh-CN" sz="1200" dirty="0">
                <a:solidFill>
                  <a:schemeClr val="accent1"/>
                </a:solidFill>
                <a:latin typeface="ui-monospace"/>
              </a:endParaRPr>
            </a:p>
          </p:txBody>
        </p:sp>
      </p:grpSp>
      <p:graphicFrame>
        <p:nvGraphicFramePr>
          <p:cNvPr id="11" name="Table 10">
            <a:extLst>
              <a:ext uri="{FF2B5EF4-FFF2-40B4-BE49-F238E27FC236}">
                <a16:creationId xmlns:a16="http://schemas.microsoft.com/office/drawing/2014/main" id="{1CD92FC8-9425-C477-5263-C3040DB9E162}"/>
              </a:ext>
            </a:extLst>
          </p:cNvPr>
          <p:cNvGraphicFramePr>
            <a:graphicFrameLocks noGrp="1"/>
          </p:cNvGraphicFramePr>
          <p:nvPr>
            <p:extLst>
              <p:ext uri="{D42A27DB-BD31-4B8C-83A1-F6EECF244321}">
                <p14:modId xmlns:p14="http://schemas.microsoft.com/office/powerpoint/2010/main" val="4135446947"/>
              </p:ext>
            </p:extLst>
          </p:nvPr>
        </p:nvGraphicFramePr>
        <p:xfrm>
          <a:off x="3150427" y="3006394"/>
          <a:ext cx="4281575" cy="1143000"/>
        </p:xfrm>
        <a:graphic>
          <a:graphicData uri="http://schemas.openxmlformats.org/drawingml/2006/table">
            <a:tbl>
              <a:tblPr firstRow="1" bandRow="1">
                <a:tableStyleId>{5C22544A-7EE6-4342-B048-85BDC9FD1C3A}</a:tableStyleId>
              </a:tblPr>
              <a:tblGrid>
                <a:gridCol w="850073">
                  <a:extLst>
                    <a:ext uri="{9D8B030D-6E8A-4147-A177-3AD203B41FA5}">
                      <a16:colId xmlns:a16="http://schemas.microsoft.com/office/drawing/2014/main" val="4196207211"/>
                    </a:ext>
                  </a:extLst>
                </a:gridCol>
                <a:gridCol w="3431502">
                  <a:extLst>
                    <a:ext uri="{9D8B030D-6E8A-4147-A177-3AD203B41FA5}">
                      <a16:colId xmlns:a16="http://schemas.microsoft.com/office/drawing/2014/main" val="3523767036"/>
                    </a:ext>
                  </a:extLst>
                </a:gridCol>
              </a:tblGrid>
              <a:tr h="204220">
                <a:tc>
                  <a:txBody>
                    <a:bodyPr/>
                    <a:lstStyle/>
                    <a:p>
                      <a:pPr algn="ctr"/>
                      <a:r>
                        <a:rPr lang="zh-CN" altLang="en-US" sz="900" b="1" dirty="0">
                          <a:solidFill>
                            <a:schemeClr val="tx1"/>
                          </a:solidFill>
                        </a:rPr>
                        <a:t>初始级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过程不可预测且缺乏控制</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1" dirty="0">
                          <a:solidFill>
                            <a:schemeClr val="tx1"/>
                          </a:solidFill>
                        </a:rPr>
                        <a:t>已管理级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过程为项目服务</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r h="204220">
                <a:tc>
                  <a:txBody>
                    <a:bodyPr/>
                    <a:lstStyle/>
                    <a:p>
                      <a:pPr algn="ctr"/>
                      <a:r>
                        <a:rPr lang="zh-CN" altLang="en-US" sz="900" b="1" dirty="0">
                          <a:solidFill>
                            <a:schemeClr val="tx1"/>
                          </a:solidFill>
                        </a:rPr>
                        <a:t>已定义级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过程为组织服务</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zh-CN" altLang="en-US" sz="900" b="1" dirty="0">
                          <a:solidFill>
                            <a:schemeClr val="tx1"/>
                          </a:solidFill>
                        </a:rPr>
                        <a:t>定量管理级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过程已度量和控制</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r h="204220">
                <a:tc>
                  <a:txBody>
                    <a:bodyPr/>
                    <a:lstStyle/>
                    <a:p>
                      <a:pPr algn="ctr"/>
                      <a:r>
                        <a:rPr lang="zh-CN" altLang="en-US" sz="900" b="1" dirty="0">
                          <a:solidFill>
                            <a:schemeClr val="tx1"/>
                          </a:solidFill>
                        </a:rPr>
                        <a:t>优化级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集中于过程</a:t>
                      </a:r>
                      <a:r>
                        <a:rPr lang="zh-CN" altLang="en-US" sz="900" b="1" dirty="0">
                          <a:solidFill>
                            <a:schemeClr val="tx1"/>
                          </a:solidFill>
                        </a:rPr>
                        <a:t>改进</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608652"/>
                  </a:ext>
                </a:extLst>
              </a:tr>
            </a:tbl>
          </a:graphicData>
        </a:graphic>
      </p:graphicFrame>
      <p:sp>
        <p:nvSpPr>
          <p:cNvPr id="12" name="TextBox 36">
            <a:extLst>
              <a:ext uri="{FF2B5EF4-FFF2-40B4-BE49-F238E27FC236}">
                <a16:creationId xmlns:a16="http://schemas.microsoft.com/office/drawing/2014/main" id="{B6931C55-A792-8CC2-F3A3-B2FC5ADC56B0}"/>
              </a:ext>
            </a:extLst>
          </p:cNvPr>
          <p:cNvSpPr txBox="1"/>
          <p:nvPr/>
        </p:nvSpPr>
        <p:spPr>
          <a:xfrm>
            <a:off x="3150283" y="4174421"/>
            <a:ext cx="4281578" cy="276999"/>
          </a:xfrm>
          <a:prstGeom prst="rect">
            <a:avLst/>
          </a:prstGeom>
          <a:noFill/>
        </p:spPr>
        <p:txBody>
          <a:bodyPr wrap="square">
            <a:spAutoFit/>
          </a:bodyPr>
          <a:lstStyle/>
          <a:p>
            <a:r>
              <a:rPr lang="zh-CN" altLang="en-US" sz="1200" dirty="0">
                <a:solidFill>
                  <a:schemeClr val="accent1"/>
                </a:solidFill>
                <a:latin typeface="ui-monospace"/>
              </a:rPr>
              <a:t>连续式模型：过程域能力等级</a:t>
            </a:r>
            <a:r>
              <a:rPr lang="en-US" altLang="zh-CN" sz="1200" dirty="0">
                <a:solidFill>
                  <a:schemeClr val="accent1"/>
                </a:solidFill>
                <a:latin typeface="ui-monospace"/>
              </a:rPr>
              <a:t>CL</a:t>
            </a:r>
          </a:p>
        </p:txBody>
      </p:sp>
      <p:graphicFrame>
        <p:nvGraphicFramePr>
          <p:cNvPr id="13" name="Table 12">
            <a:extLst>
              <a:ext uri="{FF2B5EF4-FFF2-40B4-BE49-F238E27FC236}">
                <a16:creationId xmlns:a16="http://schemas.microsoft.com/office/drawing/2014/main" id="{D49717EE-78B6-2565-F00F-1A21B9681D07}"/>
              </a:ext>
            </a:extLst>
          </p:cNvPr>
          <p:cNvGraphicFramePr>
            <a:graphicFrameLocks noGrp="1"/>
          </p:cNvGraphicFramePr>
          <p:nvPr>
            <p:extLst>
              <p:ext uri="{D42A27DB-BD31-4B8C-83A1-F6EECF244321}">
                <p14:modId xmlns:p14="http://schemas.microsoft.com/office/powerpoint/2010/main" val="2599773739"/>
              </p:ext>
            </p:extLst>
          </p:nvPr>
        </p:nvGraphicFramePr>
        <p:xfrm>
          <a:off x="3150283" y="4455554"/>
          <a:ext cx="4281575" cy="1920240"/>
        </p:xfrm>
        <a:graphic>
          <a:graphicData uri="http://schemas.openxmlformats.org/drawingml/2006/table">
            <a:tbl>
              <a:tblPr firstRow="1" bandRow="1">
                <a:tableStyleId>{5C22544A-7EE6-4342-B048-85BDC9FD1C3A}</a:tableStyleId>
              </a:tblPr>
              <a:tblGrid>
                <a:gridCol w="831167">
                  <a:extLst>
                    <a:ext uri="{9D8B030D-6E8A-4147-A177-3AD203B41FA5}">
                      <a16:colId xmlns:a16="http://schemas.microsoft.com/office/drawing/2014/main" val="4196207211"/>
                    </a:ext>
                  </a:extLst>
                </a:gridCol>
                <a:gridCol w="371475">
                  <a:extLst>
                    <a:ext uri="{9D8B030D-6E8A-4147-A177-3AD203B41FA5}">
                      <a16:colId xmlns:a16="http://schemas.microsoft.com/office/drawing/2014/main" val="2378697663"/>
                    </a:ext>
                  </a:extLst>
                </a:gridCol>
                <a:gridCol w="3078933">
                  <a:extLst>
                    <a:ext uri="{9D8B030D-6E8A-4147-A177-3AD203B41FA5}">
                      <a16:colId xmlns:a16="http://schemas.microsoft.com/office/drawing/2014/main" val="3523767036"/>
                    </a:ext>
                  </a:extLst>
                </a:gridCol>
              </a:tblGrid>
              <a:tr h="204220">
                <a:tc>
                  <a:txBody>
                    <a:bodyPr/>
                    <a:lstStyle/>
                    <a:p>
                      <a:pPr algn="ctr"/>
                      <a:r>
                        <a:rPr lang="zh-CN" altLang="en-US" sz="900" b="1" dirty="0">
                          <a:solidFill>
                            <a:schemeClr val="tx1"/>
                          </a:solidFill>
                        </a:rPr>
                        <a:t>未完成级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1" dirty="0">
                          <a:solidFill>
                            <a:schemeClr val="tx1"/>
                          </a:solidFill>
                        </a:rPr>
                        <a:t>CL0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过程域</a:t>
                      </a:r>
                      <a:r>
                        <a:rPr lang="zh-CN" altLang="en-US" sz="900" b="1" dirty="0">
                          <a:solidFill>
                            <a:schemeClr val="tx1"/>
                          </a:solidFill>
                        </a:rPr>
                        <a:t>未执行</a:t>
                      </a:r>
                      <a:r>
                        <a:rPr lang="zh-CN" altLang="en-US" sz="900" b="0" dirty="0">
                          <a:solidFill>
                            <a:schemeClr val="tx1"/>
                          </a:solidFill>
                        </a:rPr>
                        <a:t>或未得到</a:t>
                      </a:r>
                      <a:r>
                        <a:rPr lang="en-US" altLang="zh-CN" sz="900" b="0" dirty="0">
                          <a:solidFill>
                            <a:schemeClr val="tx1"/>
                          </a:solidFill>
                        </a:rPr>
                        <a:t>CL1</a:t>
                      </a:r>
                      <a:r>
                        <a:rPr lang="zh-CN" altLang="en-US" sz="900" b="0" dirty="0">
                          <a:solidFill>
                            <a:schemeClr val="tx1"/>
                          </a:solidFill>
                        </a:rPr>
                        <a:t>中定义的目标</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1" dirty="0">
                          <a:solidFill>
                            <a:schemeClr val="tx1"/>
                          </a:solidFill>
                        </a:rPr>
                        <a:t>已执行级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1" dirty="0">
                          <a:solidFill>
                            <a:schemeClr val="tx1"/>
                          </a:solidFill>
                        </a:rPr>
                        <a:t>CL1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其共性目标是过程将可标识的</a:t>
                      </a:r>
                      <a:r>
                        <a:rPr lang="zh-CN" altLang="en-US" sz="900" b="1" dirty="0">
                          <a:solidFill>
                            <a:schemeClr val="tx1"/>
                          </a:solidFill>
                        </a:rPr>
                        <a:t>输入</a:t>
                      </a:r>
                      <a:r>
                        <a:rPr lang="zh-CN" altLang="en-US" sz="900" b="0" dirty="0">
                          <a:solidFill>
                            <a:schemeClr val="tx1"/>
                          </a:solidFill>
                        </a:rPr>
                        <a:t>工作产品转换成可标识的</a:t>
                      </a:r>
                      <a:r>
                        <a:rPr lang="zh-CN" altLang="en-US" sz="900" b="1" dirty="0">
                          <a:solidFill>
                            <a:schemeClr val="tx1"/>
                          </a:solidFill>
                        </a:rPr>
                        <a:t>输出</a:t>
                      </a:r>
                      <a:r>
                        <a:rPr lang="zh-CN" altLang="en-US" sz="900" b="0" dirty="0">
                          <a:solidFill>
                            <a:schemeClr val="tx1"/>
                          </a:solidFill>
                        </a:rPr>
                        <a:t>工作产品，已实现支持过程域的特定目标</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r h="204220">
                <a:tc>
                  <a:txBody>
                    <a:bodyPr/>
                    <a:lstStyle/>
                    <a:p>
                      <a:pPr algn="ctr"/>
                      <a:r>
                        <a:rPr lang="zh-CN" altLang="en-US" sz="900" b="1" dirty="0">
                          <a:solidFill>
                            <a:schemeClr val="tx1"/>
                          </a:solidFill>
                        </a:rPr>
                        <a:t>已管理级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1" dirty="0">
                          <a:solidFill>
                            <a:schemeClr val="tx1"/>
                          </a:solidFill>
                        </a:rPr>
                        <a:t>CL2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其共性目标集中于</a:t>
                      </a:r>
                      <a:r>
                        <a:rPr lang="zh-CN" altLang="en-US" sz="900" b="1" dirty="0">
                          <a:solidFill>
                            <a:schemeClr val="tx1"/>
                          </a:solidFill>
                        </a:rPr>
                        <a:t>已管理</a:t>
                      </a:r>
                      <a:r>
                        <a:rPr lang="zh-CN" altLang="en-US" sz="900" b="0" dirty="0">
                          <a:solidFill>
                            <a:schemeClr val="tx1"/>
                          </a:solidFill>
                        </a:rPr>
                        <a:t>的过程的制度化，针对单个过程实例的额能力</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zh-CN" altLang="en-US" sz="900" b="1" dirty="0">
                          <a:solidFill>
                            <a:schemeClr val="tx1"/>
                          </a:solidFill>
                        </a:rPr>
                        <a:t>已定义级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1" dirty="0">
                          <a:solidFill>
                            <a:schemeClr val="tx1"/>
                          </a:solidFill>
                        </a:rPr>
                        <a:t>CL3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其共性目标集中于</a:t>
                      </a:r>
                      <a:r>
                        <a:rPr lang="zh-CN" altLang="en-US" sz="900" b="1" dirty="0">
                          <a:solidFill>
                            <a:schemeClr val="tx1"/>
                          </a:solidFill>
                        </a:rPr>
                        <a:t>已定义</a:t>
                      </a:r>
                      <a:r>
                        <a:rPr lang="zh-CN" altLang="en-US" sz="900" b="0" dirty="0">
                          <a:solidFill>
                            <a:schemeClr val="tx1"/>
                          </a:solidFill>
                        </a:rPr>
                        <a:t>的过程的制度化，关注过程的组织标准化和部署</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9163596"/>
                  </a:ext>
                </a:extLst>
              </a:tr>
              <a:tr h="204220">
                <a:tc>
                  <a:txBody>
                    <a:bodyPr/>
                    <a:lstStyle/>
                    <a:p>
                      <a:pPr algn="ctr"/>
                      <a:r>
                        <a:rPr lang="zh-CN" altLang="en-US" sz="900" b="1" dirty="0">
                          <a:solidFill>
                            <a:schemeClr val="tx1"/>
                          </a:solidFill>
                        </a:rPr>
                        <a:t>定量管理级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1" dirty="0">
                          <a:solidFill>
                            <a:schemeClr val="tx1"/>
                          </a:solidFill>
                        </a:rPr>
                        <a:t>CL4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其共性目标集中于</a:t>
                      </a:r>
                      <a:r>
                        <a:rPr lang="zh-CN" altLang="en-US" sz="900" b="1" dirty="0">
                          <a:solidFill>
                            <a:schemeClr val="tx1"/>
                          </a:solidFill>
                        </a:rPr>
                        <a:t>可定量管理</a:t>
                      </a:r>
                      <a:r>
                        <a:rPr lang="zh-CN" altLang="en-US" sz="900" b="0" dirty="0">
                          <a:solidFill>
                            <a:schemeClr val="tx1"/>
                          </a:solidFill>
                        </a:rPr>
                        <a:t>的过程的制度化</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r h="204220">
                <a:tc>
                  <a:txBody>
                    <a:bodyPr/>
                    <a:lstStyle/>
                    <a:p>
                      <a:pPr algn="ctr"/>
                      <a:r>
                        <a:rPr lang="zh-CN" altLang="en-US" sz="900" b="1" dirty="0">
                          <a:solidFill>
                            <a:schemeClr val="tx1"/>
                          </a:solidFill>
                        </a:rPr>
                        <a:t>优化级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900" b="1" dirty="0">
                          <a:solidFill>
                            <a:schemeClr val="tx1"/>
                          </a:solidFill>
                        </a:rPr>
                        <a:t>CL5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使用量化手段改变和优化过程域，以满足客户要求的改变和</a:t>
                      </a:r>
                      <a:r>
                        <a:rPr lang="zh-CN" altLang="en-US" sz="900" b="1" dirty="0">
                          <a:solidFill>
                            <a:schemeClr val="tx1"/>
                          </a:solidFill>
                        </a:rPr>
                        <a:t>持续改进</a:t>
                      </a:r>
                      <a:r>
                        <a:rPr lang="zh-CN" altLang="en-US" sz="900" b="0" dirty="0">
                          <a:solidFill>
                            <a:schemeClr val="tx1"/>
                          </a:solidFill>
                        </a:rPr>
                        <a:t>计划中的过程域的功效</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608652"/>
                  </a:ext>
                </a:extLst>
              </a:tr>
            </a:tbl>
          </a:graphicData>
        </a:graphic>
      </p:graphicFrame>
    </p:spTree>
    <p:extLst>
      <p:ext uri="{BB962C8B-B14F-4D97-AF65-F5344CB8AC3E}">
        <p14:creationId xmlns:p14="http://schemas.microsoft.com/office/powerpoint/2010/main" val="21499193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97031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软件工程</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过程模型</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需求分析</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系统设计</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系统测试</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运行和维护</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软件质量和度量</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项目管理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4386653" cy="5742907"/>
            <a:chOff x="7614613" y="5950488"/>
            <a:chExt cx="4386653" cy="5742907"/>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▶敏捷过程 </a:t>
              </a:r>
              <a:r>
                <a:rPr lang="en-US" altLang="zh-CN" sz="1200" dirty="0">
                  <a:solidFill>
                    <a:schemeClr val="bg1"/>
                  </a:solidFill>
                  <a:latin typeface="ui-monospace"/>
                </a:rPr>
                <a:t>Agile</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4281578" cy="5447645"/>
            </a:xfrm>
            <a:prstGeom prst="rect">
              <a:avLst/>
            </a:prstGeom>
            <a:noFill/>
          </p:spPr>
          <p:txBody>
            <a:bodyPr wrap="square">
              <a:spAutoFit/>
            </a:bodyPr>
            <a:lstStyle/>
            <a:p>
              <a:r>
                <a:rPr lang="zh-CN" altLang="en-US" sz="1200" dirty="0">
                  <a:solidFill>
                    <a:schemeClr val="accent1"/>
                  </a:solidFill>
                  <a:latin typeface="ui-monospace"/>
                </a:rPr>
                <a:t>通过迭代、协作和快速响应变化来提高团队的效率和灵活性</a:t>
              </a:r>
              <a:endParaRPr lang="en-US" altLang="zh-CN" sz="1200" dirty="0">
                <a:solidFill>
                  <a:schemeClr val="accent1"/>
                </a:solidFill>
                <a:latin typeface="ui-monospace"/>
              </a:endParaRPr>
            </a:p>
            <a:p>
              <a:r>
                <a:rPr lang="zh-CN" altLang="en-US" sz="1200" dirty="0">
                  <a:solidFill>
                    <a:schemeClr val="accent1"/>
                  </a:solidFill>
                  <a:latin typeface="ui-monospace"/>
                </a:rPr>
                <a:t>极限编程</a:t>
              </a:r>
              <a:r>
                <a:rPr lang="en-US" altLang="zh-CN" sz="1200" dirty="0">
                  <a:solidFill>
                    <a:schemeClr val="accent1"/>
                  </a:solidFill>
                  <a:latin typeface="ui-monospace"/>
                </a:rPr>
                <a:t>(XP)</a:t>
              </a:r>
              <a:r>
                <a:rPr lang="zh-CN" altLang="en-US" sz="1200" dirty="0">
                  <a:solidFill>
                    <a:schemeClr val="accent1"/>
                  </a:solidFill>
                  <a:latin typeface="ui-monospace"/>
                </a:rPr>
                <a:t>：</a:t>
              </a:r>
              <a:endParaRPr lang="en-US" altLang="zh-CN" sz="1200" dirty="0">
                <a:solidFill>
                  <a:schemeClr val="accent1"/>
                </a:solidFill>
                <a:latin typeface="ui-monospace"/>
              </a:endParaRPr>
            </a:p>
            <a:p>
              <a:r>
                <a:rPr lang="zh-CN" altLang="en-US" sz="1200" dirty="0">
                  <a:solidFill>
                    <a:schemeClr val="accent1"/>
                  </a:solidFill>
                  <a:latin typeface="ui-monospace"/>
                </a:rPr>
                <a:t>构成：价值观、原则、实践、行为</a:t>
              </a:r>
              <a:endParaRPr lang="en-US" altLang="zh-CN" sz="1200" dirty="0">
                <a:solidFill>
                  <a:schemeClr val="accent1"/>
                </a:solidFill>
                <a:latin typeface="ui-monospace"/>
              </a:endParaRPr>
            </a:p>
            <a:p>
              <a:r>
                <a:rPr lang="en-US" altLang="zh-CN" sz="1200" dirty="0">
                  <a:solidFill>
                    <a:schemeClr val="accent1"/>
                  </a:solidFill>
                  <a:latin typeface="ui-monospace"/>
                </a:rPr>
                <a:t>4</a:t>
              </a:r>
              <a:r>
                <a:rPr lang="zh-CN" altLang="en-US" sz="1200" dirty="0">
                  <a:solidFill>
                    <a:schemeClr val="accent1"/>
                  </a:solidFill>
                  <a:latin typeface="ui-monospace"/>
                </a:rPr>
                <a:t>个价值观：沟通、简单性假设、反馈、勇气</a:t>
              </a:r>
              <a:endParaRPr lang="en-US" altLang="zh-CN" sz="1200" dirty="0">
                <a:solidFill>
                  <a:schemeClr val="accent1"/>
                </a:solidFill>
                <a:latin typeface="ui-monospace"/>
              </a:endParaRPr>
            </a:p>
            <a:p>
              <a:r>
                <a:rPr lang="en-US" altLang="zh-CN" sz="1200" dirty="0">
                  <a:solidFill>
                    <a:schemeClr val="accent1"/>
                  </a:solidFill>
                  <a:latin typeface="ui-monospace"/>
                </a:rPr>
                <a:t>12</a:t>
              </a:r>
              <a:r>
                <a:rPr lang="zh-CN" altLang="en-US" sz="1200" dirty="0">
                  <a:solidFill>
                    <a:schemeClr val="accent1"/>
                  </a:solidFill>
                  <a:latin typeface="ui-monospace"/>
                </a:rPr>
                <a:t>个最佳实践：</a:t>
              </a:r>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r>
                <a:rPr lang="zh-CN" altLang="en-US" sz="1200" dirty="0">
                  <a:solidFill>
                    <a:schemeClr val="accent1"/>
                  </a:solidFill>
                  <a:latin typeface="ui-monospace"/>
                </a:rPr>
                <a:t>水晶法</a:t>
              </a:r>
              <a:r>
                <a:rPr lang="en-US" altLang="zh-CN" sz="1200" dirty="0">
                  <a:solidFill>
                    <a:schemeClr val="accent1"/>
                  </a:solidFill>
                  <a:latin typeface="ui-monospace"/>
                </a:rPr>
                <a:t>(Crystal)</a:t>
              </a:r>
              <a:r>
                <a:rPr lang="zh-CN" altLang="en-US" sz="1200" dirty="0">
                  <a:solidFill>
                    <a:schemeClr val="accent1"/>
                  </a:solidFill>
                  <a:latin typeface="ui-monospace"/>
                </a:rPr>
                <a:t>：不同项目需要</a:t>
              </a:r>
              <a:r>
                <a:rPr lang="zh-CN" altLang="en-US" sz="1200" b="1" dirty="0">
                  <a:solidFill>
                    <a:schemeClr val="accent1"/>
                  </a:solidFill>
                  <a:latin typeface="ui-monospace"/>
                </a:rPr>
                <a:t>不同策略</a:t>
              </a:r>
              <a:r>
                <a:rPr lang="zh-CN" altLang="en-US" sz="1200" dirty="0">
                  <a:solidFill>
                    <a:schemeClr val="accent1"/>
                  </a:solidFill>
                  <a:latin typeface="ui-monospace"/>
                </a:rPr>
                <a:t>、约定和方法论 </a:t>
              </a:r>
              <a:endParaRPr lang="en-US" altLang="zh-CN" sz="1200" dirty="0">
                <a:solidFill>
                  <a:schemeClr val="accent1"/>
                </a:solidFill>
                <a:latin typeface="ui-monospace"/>
              </a:endParaRPr>
            </a:p>
            <a:p>
              <a:r>
                <a:rPr lang="zh-CN" altLang="en-US" sz="1200" dirty="0">
                  <a:solidFill>
                    <a:schemeClr val="accent1"/>
                  </a:solidFill>
                  <a:latin typeface="ui-monospace"/>
                </a:rPr>
                <a:t>并列争求法</a:t>
              </a:r>
              <a:r>
                <a:rPr lang="en-US" altLang="zh-CN" sz="1200" dirty="0">
                  <a:solidFill>
                    <a:schemeClr val="accent1"/>
                  </a:solidFill>
                  <a:latin typeface="ui-monospace"/>
                </a:rPr>
                <a:t>(Scrum)</a:t>
              </a:r>
              <a:r>
                <a:rPr lang="zh-CN" altLang="en-US" sz="1200" dirty="0">
                  <a:solidFill>
                    <a:schemeClr val="accent1"/>
                  </a:solidFill>
                  <a:latin typeface="ui-monospace"/>
                </a:rPr>
                <a:t>：迭代的增量化工程方法，按需求的优先级别实现产品。</a:t>
              </a:r>
              <a:r>
                <a:rPr lang="en-US" altLang="zh-CN" sz="1200" dirty="0">
                  <a:solidFill>
                    <a:schemeClr val="accent1"/>
                  </a:solidFill>
                  <a:latin typeface="ui-monospace"/>
                </a:rPr>
                <a:t>30</a:t>
              </a:r>
              <a:r>
                <a:rPr lang="zh-CN" altLang="en-US" sz="1200" dirty="0">
                  <a:solidFill>
                    <a:schemeClr val="accent1"/>
                  </a:solidFill>
                  <a:latin typeface="ui-monospace"/>
                </a:rPr>
                <a:t>天为一个</a:t>
              </a:r>
              <a:r>
                <a:rPr lang="zh-CN" altLang="en-US" sz="1200" b="1" dirty="0">
                  <a:solidFill>
                    <a:schemeClr val="accent1"/>
                  </a:solidFill>
                  <a:latin typeface="ui-monospace"/>
                </a:rPr>
                <a:t>冲刺</a:t>
              </a:r>
              <a:endParaRPr lang="en-US" altLang="zh-CN" sz="1200" b="1" dirty="0">
                <a:solidFill>
                  <a:schemeClr val="accent1"/>
                </a:solidFill>
                <a:latin typeface="ui-monospace"/>
              </a:endParaRPr>
            </a:p>
            <a:p>
              <a:r>
                <a:rPr lang="zh-CN" altLang="en-US" sz="1200" dirty="0">
                  <a:solidFill>
                    <a:schemeClr val="accent1"/>
                  </a:solidFill>
                  <a:latin typeface="ui-monospace"/>
                </a:rPr>
                <a:t>自适应软件开发</a:t>
              </a:r>
              <a:r>
                <a:rPr lang="en-US" altLang="zh-CN" sz="1200" dirty="0">
                  <a:solidFill>
                    <a:schemeClr val="accent1"/>
                  </a:solidFill>
                  <a:latin typeface="ui-monospace"/>
                </a:rPr>
                <a:t>(ASD)</a:t>
              </a:r>
              <a:r>
                <a:rPr lang="zh-CN" altLang="en-US" sz="1200" dirty="0">
                  <a:solidFill>
                    <a:schemeClr val="accent1"/>
                  </a:solidFill>
                  <a:latin typeface="ui-monospace"/>
                </a:rPr>
                <a:t>：强调开发方法的适应性，为软件的重要性提供基础，适应组织和管理层次</a:t>
              </a:r>
              <a:endParaRPr lang="en-US" altLang="zh-CN" sz="1200" dirty="0">
                <a:solidFill>
                  <a:schemeClr val="accent1"/>
                </a:solidFill>
                <a:latin typeface="ui-monospace"/>
              </a:endParaRPr>
            </a:p>
            <a:p>
              <a:r>
                <a:rPr lang="zh-CN" altLang="en-US" sz="1200" b="1" dirty="0">
                  <a:solidFill>
                    <a:schemeClr val="accent1"/>
                  </a:solidFill>
                  <a:latin typeface="ui-monospace"/>
                </a:rPr>
                <a:t>敏捷统一过程</a:t>
              </a:r>
              <a:r>
                <a:rPr lang="en-US" altLang="zh-CN" sz="1200" dirty="0">
                  <a:solidFill>
                    <a:schemeClr val="accent1"/>
                  </a:solidFill>
                  <a:latin typeface="ui-monospace"/>
                </a:rPr>
                <a:t>(AUP)</a:t>
              </a:r>
              <a:r>
                <a:rPr lang="zh-CN" altLang="en-US" sz="1200" dirty="0">
                  <a:solidFill>
                    <a:schemeClr val="accent1"/>
                  </a:solidFill>
                  <a:latin typeface="ui-monospace"/>
                </a:rPr>
                <a:t>：在大型上连续，在小型上迭代</a:t>
              </a:r>
              <a:endParaRPr lang="en-US" altLang="zh-CN" sz="1200" dirty="0">
                <a:solidFill>
                  <a:schemeClr val="accent1"/>
                </a:solidFill>
                <a:latin typeface="ui-monospace"/>
              </a:endParaRPr>
            </a:p>
            <a:p>
              <a:r>
                <a:rPr lang="zh-CN" altLang="en-US" sz="1200" dirty="0">
                  <a:solidFill>
                    <a:schemeClr val="accent1"/>
                  </a:solidFill>
                  <a:latin typeface="ui-monospace"/>
                </a:rPr>
                <a:t>建模、实现、测试、部署、配置及项目管理、环境管理</a:t>
              </a:r>
              <a:endParaRPr lang="en-US" altLang="zh-CN" sz="1200" dirty="0">
                <a:solidFill>
                  <a:schemeClr val="accent1"/>
                </a:solidFill>
                <a:latin typeface="ui-monospace"/>
              </a:endParaRPr>
            </a:p>
          </p:txBody>
        </p:sp>
      </p:grpSp>
      <p:grpSp>
        <p:nvGrpSpPr>
          <p:cNvPr id="33" name="Group 25">
            <a:extLst>
              <a:ext uri="{FF2B5EF4-FFF2-40B4-BE49-F238E27FC236}">
                <a16:creationId xmlns:a16="http://schemas.microsoft.com/office/drawing/2014/main" id="{B8FA9490-77B4-E4EA-AA14-98492AF3D1D7}"/>
              </a:ext>
            </a:extLst>
          </p:cNvPr>
          <p:cNvGrpSpPr/>
          <p:nvPr/>
        </p:nvGrpSpPr>
        <p:grpSpPr>
          <a:xfrm>
            <a:off x="7655287" y="71394"/>
            <a:ext cx="4386653" cy="2049588"/>
            <a:chOff x="7614613" y="5950488"/>
            <a:chExt cx="4386653" cy="2049588"/>
          </a:xfrm>
        </p:grpSpPr>
        <p:sp>
          <p:nvSpPr>
            <p:cNvPr id="34" name="Rectangle: Rounded Corners 35">
              <a:extLst>
                <a:ext uri="{FF2B5EF4-FFF2-40B4-BE49-F238E27FC236}">
                  <a16:creationId xmlns:a16="http://schemas.microsoft.com/office/drawing/2014/main" id="{9B0280EF-C067-9382-6455-DC4DFA9BABC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▶需求分析</a:t>
              </a:r>
              <a:endParaRPr lang="en-US" sz="1200" dirty="0">
                <a:solidFill>
                  <a:schemeClr val="bg1"/>
                </a:solidFill>
              </a:endParaRPr>
            </a:p>
          </p:txBody>
        </p:sp>
        <p:sp>
          <p:nvSpPr>
            <p:cNvPr id="35" name="TextBox 36">
              <a:extLst>
                <a:ext uri="{FF2B5EF4-FFF2-40B4-BE49-F238E27FC236}">
                  <a16:creationId xmlns:a16="http://schemas.microsoft.com/office/drawing/2014/main" id="{501076B1-418C-C120-5596-4155B0B6B970}"/>
                </a:ext>
              </a:extLst>
            </p:cNvPr>
            <p:cNvSpPr txBox="1"/>
            <p:nvPr/>
          </p:nvSpPr>
          <p:spPr>
            <a:xfrm>
              <a:off x="7667294" y="6245750"/>
              <a:ext cx="4281578" cy="1754326"/>
            </a:xfrm>
            <a:prstGeom prst="rect">
              <a:avLst/>
            </a:prstGeom>
            <a:noFill/>
          </p:spPr>
          <p:txBody>
            <a:bodyPr wrap="square">
              <a:spAutoFit/>
            </a:bodyPr>
            <a:lstStyle/>
            <a:p>
              <a:r>
                <a:rPr lang="zh-CN" altLang="en-US" sz="1200" dirty="0">
                  <a:solidFill>
                    <a:schemeClr val="accent1"/>
                  </a:solidFill>
                  <a:latin typeface="ui-monospace"/>
                </a:rPr>
                <a:t>软件需求：指用户解决问题或达到目标所需要的条件或能力，是系统或系统部件要满足合同、标准、规范或其他正式规定文档所需具有的条件或能力，以及反映这些条件或能力的文档说明，涵盖了系统的功能、行为、性能、设计约束等方面</a:t>
              </a:r>
              <a:endParaRPr lang="en-US" altLang="zh-CN" sz="1200" dirty="0">
                <a:solidFill>
                  <a:schemeClr val="accent1"/>
                </a:solidFill>
                <a:latin typeface="ui-monospace"/>
              </a:endParaRPr>
            </a:p>
            <a:p>
              <a:r>
                <a:rPr lang="zh-CN" altLang="en-US" sz="1200" dirty="0">
                  <a:solidFill>
                    <a:schemeClr val="accent1"/>
                  </a:solidFill>
                  <a:latin typeface="ui-monospace"/>
                </a:rPr>
                <a:t>分类：包括业务需求、用户需求、系统需求</a:t>
              </a:r>
              <a:endParaRPr lang="en-US" altLang="zh-CN" sz="1200" dirty="0">
                <a:solidFill>
                  <a:schemeClr val="accent1"/>
                </a:solidFill>
                <a:latin typeface="ui-monospace"/>
              </a:endParaRPr>
            </a:p>
            <a:p>
              <a:r>
                <a:rPr lang="zh-CN" altLang="en-US" sz="1200" dirty="0">
                  <a:solidFill>
                    <a:schemeClr val="accent1"/>
                  </a:solidFill>
                  <a:latin typeface="ui-monospace"/>
                </a:rPr>
                <a:t>包含：</a:t>
              </a:r>
              <a:r>
                <a:rPr lang="zh-CN" altLang="en-US" sz="1200" b="1" dirty="0">
                  <a:solidFill>
                    <a:schemeClr val="accent1"/>
                  </a:solidFill>
                  <a:latin typeface="ui-monospace"/>
                </a:rPr>
                <a:t>功能需求</a:t>
              </a:r>
              <a:r>
                <a:rPr lang="zh-CN" altLang="en-US" sz="1200" dirty="0">
                  <a:solidFill>
                    <a:schemeClr val="accent1"/>
                  </a:solidFill>
                  <a:latin typeface="ui-monospace"/>
                </a:rPr>
                <a:t>、</a:t>
              </a:r>
              <a:r>
                <a:rPr lang="zh-CN" altLang="en-US" sz="1200" b="1" dirty="0">
                  <a:solidFill>
                    <a:schemeClr val="accent1"/>
                  </a:solidFill>
                  <a:latin typeface="ui-monospace"/>
                </a:rPr>
                <a:t>性能需求</a:t>
              </a:r>
              <a:r>
                <a:rPr lang="zh-CN" altLang="en-US" sz="1200" dirty="0">
                  <a:solidFill>
                    <a:schemeClr val="accent1"/>
                  </a:solidFill>
                  <a:latin typeface="ui-monospace"/>
                </a:rPr>
                <a:t>、用户或人的因素、环境需求、界面需求、文档需求、</a:t>
              </a:r>
              <a:r>
                <a:rPr lang="zh-CN" altLang="en-US" sz="1200" b="1" dirty="0">
                  <a:solidFill>
                    <a:schemeClr val="accent1"/>
                  </a:solidFill>
                  <a:latin typeface="ui-monospace"/>
                </a:rPr>
                <a:t>数据需求</a:t>
              </a:r>
              <a:r>
                <a:rPr lang="zh-CN" altLang="en-US" sz="1200" dirty="0">
                  <a:solidFill>
                    <a:schemeClr val="accent1"/>
                  </a:solidFill>
                  <a:latin typeface="ui-monospace"/>
                </a:rPr>
                <a:t>、资源使用需求、安全保密需求、可靠性需求、软件成本消耗与开发进度需求、其他非功能性需求</a:t>
              </a:r>
              <a:endParaRPr lang="en-US" altLang="zh-CN" sz="1200" dirty="0">
                <a:solidFill>
                  <a:schemeClr val="accent1"/>
                </a:solidFill>
                <a:latin typeface="ui-monospace"/>
              </a:endParaRPr>
            </a:p>
          </p:txBody>
        </p:sp>
      </p:grpSp>
      <p:graphicFrame>
        <p:nvGraphicFramePr>
          <p:cNvPr id="16" name="Table 15">
            <a:extLst>
              <a:ext uri="{FF2B5EF4-FFF2-40B4-BE49-F238E27FC236}">
                <a16:creationId xmlns:a16="http://schemas.microsoft.com/office/drawing/2014/main" id="{F903FCEF-33C5-EE9B-E2BA-FD632CACF3AB}"/>
              </a:ext>
            </a:extLst>
          </p:cNvPr>
          <p:cNvGraphicFramePr>
            <a:graphicFrameLocks noGrp="1"/>
          </p:cNvGraphicFramePr>
          <p:nvPr>
            <p:extLst>
              <p:ext uri="{D42A27DB-BD31-4B8C-83A1-F6EECF244321}">
                <p14:modId xmlns:p14="http://schemas.microsoft.com/office/powerpoint/2010/main" val="3806184807"/>
              </p:ext>
            </p:extLst>
          </p:nvPr>
        </p:nvGraphicFramePr>
        <p:xfrm>
          <a:off x="3150285" y="1339519"/>
          <a:ext cx="4281575" cy="2880360"/>
        </p:xfrm>
        <a:graphic>
          <a:graphicData uri="http://schemas.openxmlformats.org/drawingml/2006/table">
            <a:tbl>
              <a:tblPr firstRow="1" bandRow="1">
                <a:tableStyleId>{5C22544A-7EE6-4342-B048-85BDC9FD1C3A}</a:tableStyleId>
              </a:tblPr>
              <a:tblGrid>
                <a:gridCol w="1097723">
                  <a:extLst>
                    <a:ext uri="{9D8B030D-6E8A-4147-A177-3AD203B41FA5}">
                      <a16:colId xmlns:a16="http://schemas.microsoft.com/office/drawing/2014/main" val="4196207211"/>
                    </a:ext>
                  </a:extLst>
                </a:gridCol>
                <a:gridCol w="3183852">
                  <a:extLst>
                    <a:ext uri="{9D8B030D-6E8A-4147-A177-3AD203B41FA5}">
                      <a16:colId xmlns:a16="http://schemas.microsoft.com/office/drawing/2014/main" val="3523767036"/>
                    </a:ext>
                  </a:extLst>
                </a:gridCol>
              </a:tblGrid>
              <a:tr h="204220">
                <a:tc>
                  <a:txBody>
                    <a:bodyPr/>
                    <a:lstStyle/>
                    <a:p>
                      <a:pPr algn="ctr"/>
                      <a:r>
                        <a:rPr lang="zh-CN" altLang="en-US" sz="900" b="1">
                          <a:solidFill>
                            <a:schemeClr val="tx1"/>
                          </a:solidFill>
                        </a:rPr>
                        <a:t>计划游戏</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快速制定计划、随着细节的不断变化而完善</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1" dirty="0">
                          <a:solidFill>
                            <a:schemeClr val="tx1"/>
                          </a:solidFill>
                        </a:rPr>
                        <a:t>小型发布</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系统的设计要能够尽可能早地交付</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r h="204220">
                <a:tc>
                  <a:txBody>
                    <a:bodyPr/>
                    <a:lstStyle/>
                    <a:p>
                      <a:pPr algn="ctr"/>
                      <a:r>
                        <a:rPr lang="zh-CN" altLang="en-US" sz="900" b="1">
                          <a:solidFill>
                            <a:schemeClr val="tx1"/>
                          </a:solidFill>
                        </a:rPr>
                        <a:t>隐喻</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找到合适的比喻传达信息</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zh-CN" altLang="en-US" sz="900" b="1">
                          <a:solidFill>
                            <a:schemeClr val="tx1"/>
                          </a:solidFill>
                        </a:rPr>
                        <a:t>简单设计</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只处理当前的需求，使设计保持简单</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r h="204220">
                <a:tc>
                  <a:txBody>
                    <a:bodyPr/>
                    <a:lstStyle/>
                    <a:p>
                      <a:pPr algn="ctr"/>
                      <a:r>
                        <a:rPr lang="zh-CN" altLang="en-US" sz="900" b="1">
                          <a:solidFill>
                            <a:schemeClr val="tx1"/>
                          </a:solidFill>
                        </a:rPr>
                        <a:t>测试先行</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先写测试代码，然后再编写程序</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608652"/>
                  </a:ext>
                </a:extLst>
              </a:tr>
              <a:tr h="204220">
                <a:tc>
                  <a:txBody>
                    <a:bodyPr/>
                    <a:lstStyle/>
                    <a:p>
                      <a:pPr algn="ctr"/>
                      <a:r>
                        <a:rPr lang="zh-CN" altLang="en-US" sz="900" b="1" dirty="0">
                          <a:solidFill>
                            <a:schemeClr val="tx1"/>
                          </a:solidFill>
                        </a:rPr>
                        <a:t>重构</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重新审视需求和设计，重新明确地描述它们以符合新的和现有的需求</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197340"/>
                  </a:ext>
                </a:extLst>
              </a:tr>
              <a:tr h="204220">
                <a:tc>
                  <a:txBody>
                    <a:bodyPr/>
                    <a:lstStyle/>
                    <a:p>
                      <a:pPr algn="ctr"/>
                      <a:r>
                        <a:rPr lang="zh-CN" altLang="en-US" sz="900" b="1">
                          <a:solidFill>
                            <a:schemeClr val="tx1"/>
                          </a:solidFill>
                        </a:rPr>
                        <a:t>结对编程</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一个开发，另一个观察审查代码，提高代码质量 </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9675871"/>
                  </a:ext>
                </a:extLst>
              </a:tr>
              <a:tr h="204220">
                <a:tc>
                  <a:txBody>
                    <a:bodyPr/>
                    <a:lstStyle/>
                    <a:p>
                      <a:pPr algn="ctr"/>
                      <a:r>
                        <a:rPr lang="zh-CN" altLang="en-US" sz="900" b="1">
                          <a:solidFill>
                            <a:schemeClr val="tx1"/>
                          </a:solidFill>
                        </a:rPr>
                        <a:t>集体代码所有制</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5819357"/>
                  </a:ext>
                </a:extLst>
              </a:tr>
              <a:tr h="204220">
                <a:tc>
                  <a:txBody>
                    <a:bodyPr/>
                    <a:lstStyle/>
                    <a:p>
                      <a:pPr algn="ctr"/>
                      <a:r>
                        <a:rPr lang="zh-CN" altLang="en-US" sz="900" b="1" dirty="0">
                          <a:solidFill>
                            <a:schemeClr val="tx1"/>
                          </a:solidFill>
                        </a:rPr>
                        <a:t>持续集成</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可以按日甚至按小时为客户提供可运行的版本</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8617368"/>
                  </a:ext>
                </a:extLst>
              </a:tr>
              <a:tr h="204220">
                <a:tc>
                  <a:txBody>
                    <a:bodyPr/>
                    <a:lstStyle/>
                    <a:p>
                      <a:pPr algn="ctr"/>
                      <a:r>
                        <a:rPr lang="zh-CN" altLang="en-US" sz="900" b="1">
                          <a:solidFill>
                            <a:schemeClr val="tx1"/>
                          </a:solidFill>
                        </a:rPr>
                        <a:t>每周工作</a:t>
                      </a:r>
                      <a:r>
                        <a:rPr lang="en-US" altLang="zh-CN" sz="900" b="1">
                          <a:solidFill>
                            <a:schemeClr val="tx1"/>
                          </a:solidFill>
                        </a:rPr>
                        <a:t>40h</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0261811"/>
                  </a:ext>
                </a:extLst>
              </a:tr>
              <a:tr h="204220">
                <a:tc>
                  <a:txBody>
                    <a:bodyPr/>
                    <a:lstStyle/>
                    <a:p>
                      <a:pPr algn="ctr"/>
                      <a:r>
                        <a:rPr lang="zh-CN" altLang="en-US" sz="900" b="1">
                          <a:solidFill>
                            <a:schemeClr val="tx1"/>
                          </a:solidFill>
                        </a:rPr>
                        <a:t>现场客户</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7263866"/>
                  </a:ext>
                </a:extLst>
              </a:tr>
              <a:tr h="204220">
                <a:tc>
                  <a:txBody>
                    <a:bodyPr/>
                    <a:lstStyle/>
                    <a:p>
                      <a:pPr algn="ctr"/>
                      <a:r>
                        <a:rPr lang="zh-CN" altLang="en-US" sz="900" b="1">
                          <a:solidFill>
                            <a:schemeClr val="tx1"/>
                          </a:solidFill>
                        </a:rPr>
                        <a:t>编码标准</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6720012"/>
                  </a:ext>
                </a:extLst>
              </a:tr>
            </a:tbl>
          </a:graphicData>
        </a:graphic>
      </p:graphicFrame>
      <p:grpSp>
        <p:nvGrpSpPr>
          <p:cNvPr id="19" name="Group 25">
            <a:extLst>
              <a:ext uri="{FF2B5EF4-FFF2-40B4-BE49-F238E27FC236}">
                <a16:creationId xmlns:a16="http://schemas.microsoft.com/office/drawing/2014/main" id="{13849F87-5A10-7BD5-B3C3-E47DD6B72F7F}"/>
              </a:ext>
            </a:extLst>
          </p:cNvPr>
          <p:cNvGrpSpPr/>
          <p:nvPr/>
        </p:nvGrpSpPr>
        <p:grpSpPr>
          <a:xfrm>
            <a:off x="7655287" y="2120982"/>
            <a:ext cx="4386653" cy="3896248"/>
            <a:chOff x="7614613" y="5950488"/>
            <a:chExt cx="4386653" cy="3896248"/>
          </a:xfrm>
        </p:grpSpPr>
        <p:sp>
          <p:nvSpPr>
            <p:cNvPr id="20" name="Rectangle: Rounded Corners 35">
              <a:extLst>
                <a:ext uri="{FF2B5EF4-FFF2-40B4-BE49-F238E27FC236}">
                  <a16:creationId xmlns:a16="http://schemas.microsoft.com/office/drawing/2014/main" id="{29E27670-637F-14D4-1D6A-9229A9F0726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▶系统设计</a:t>
              </a:r>
              <a:endParaRPr lang="en-US" sz="1200" dirty="0">
                <a:solidFill>
                  <a:schemeClr val="bg1"/>
                </a:solidFill>
              </a:endParaRPr>
            </a:p>
          </p:txBody>
        </p:sp>
        <p:sp>
          <p:nvSpPr>
            <p:cNvPr id="21" name="TextBox 36">
              <a:extLst>
                <a:ext uri="{FF2B5EF4-FFF2-40B4-BE49-F238E27FC236}">
                  <a16:creationId xmlns:a16="http://schemas.microsoft.com/office/drawing/2014/main" id="{72B96783-828B-F8FE-6DC9-3BA72F84E956}"/>
                </a:ext>
              </a:extLst>
            </p:cNvPr>
            <p:cNvSpPr txBox="1"/>
            <p:nvPr/>
          </p:nvSpPr>
          <p:spPr>
            <a:xfrm>
              <a:off x="7667294" y="6245750"/>
              <a:ext cx="4281578" cy="3600986"/>
            </a:xfrm>
            <a:prstGeom prst="rect">
              <a:avLst/>
            </a:prstGeom>
            <a:noFill/>
          </p:spPr>
          <p:txBody>
            <a:bodyPr wrap="square">
              <a:spAutoFit/>
            </a:bodyPr>
            <a:lstStyle/>
            <a:p>
              <a:r>
                <a:rPr lang="zh-CN" altLang="en-US" sz="1200" dirty="0">
                  <a:solidFill>
                    <a:schemeClr val="accent1"/>
                  </a:solidFill>
                  <a:latin typeface="ui-monospace"/>
                </a:rPr>
                <a:t>系统设计：指在需求分析的基础上，对软件系统进行整体架构和各个模块的设计。</a:t>
              </a:r>
              <a:endParaRPr lang="en-US" altLang="zh-CN" sz="1200" dirty="0">
                <a:solidFill>
                  <a:schemeClr val="accent1"/>
                </a:solidFill>
                <a:latin typeface="ui-monospace"/>
              </a:endParaRPr>
            </a:p>
            <a:p>
              <a:r>
                <a:rPr lang="zh-CN" altLang="en-US" sz="1200" dirty="0">
                  <a:solidFill>
                    <a:schemeClr val="accent1"/>
                  </a:solidFill>
                  <a:latin typeface="ui-monospace"/>
                </a:rPr>
                <a:t>目标：将需求转化为具体的实现方案，明确软件的结构和功能，并考虑系统的可维护性、可扩展性、可重用性等方面的要求</a:t>
              </a:r>
              <a:endParaRPr lang="en-US" altLang="zh-CN" sz="1200" dirty="0">
                <a:solidFill>
                  <a:schemeClr val="accent1"/>
                </a:solidFill>
                <a:latin typeface="ui-monospace"/>
              </a:endParaRPr>
            </a:p>
            <a:p>
              <a:r>
                <a:rPr lang="zh-CN" altLang="en-US" sz="1200" dirty="0">
                  <a:solidFill>
                    <a:schemeClr val="accent1"/>
                  </a:solidFill>
                  <a:latin typeface="ui-monospace"/>
                </a:rPr>
                <a:t>设计方法：面向数据流</a:t>
              </a:r>
              <a:r>
                <a:rPr lang="en-US" altLang="zh-CN" sz="1200" dirty="0">
                  <a:solidFill>
                    <a:schemeClr val="accent1"/>
                  </a:solidFill>
                  <a:latin typeface="ui-monospace"/>
                </a:rPr>
                <a:t>(SD)</a:t>
              </a:r>
              <a:r>
                <a:rPr lang="zh-CN" altLang="en-US" sz="1200" dirty="0">
                  <a:solidFill>
                    <a:schemeClr val="accent1"/>
                  </a:solidFill>
                  <a:latin typeface="ui-monospace"/>
                </a:rPr>
                <a:t>、面向对象</a:t>
              </a:r>
              <a:r>
                <a:rPr lang="en-US" altLang="zh-CN" sz="1200" dirty="0">
                  <a:solidFill>
                    <a:schemeClr val="accent1"/>
                  </a:solidFill>
                  <a:latin typeface="ui-monospace"/>
                </a:rPr>
                <a:t>(OOD)</a:t>
              </a:r>
            </a:p>
            <a:p>
              <a:r>
                <a:rPr lang="zh-CN" altLang="en-US" sz="1200" dirty="0">
                  <a:solidFill>
                    <a:schemeClr val="accent1"/>
                  </a:solidFill>
                  <a:latin typeface="ui-monospace"/>
                </a:rPr>
                <a:t>基本原理：抽象化、自顶而下，逐步求精、信息隐蔽、模块独立，高内聚低耦合</a:t>
              </a:r>
              <a:endParaRPr lang="en-US" altLang="zh-CN" sz="1200" dirty="0">
                <a:solidFill>
                  <a:schemeClr val="accent1"/>
                </a:solidFill>
                <a:latin typeface="ui-monospace"/>
              </a:endParaRPr>
            </a:p>
            <a:p>
              <a:r>
                <a:rPr lang="zh-CN" altLang="en-US" sz="1200" dirty="0">
                  <a:solidFill>
                    <a:schemeClr val="accent1"/>
                  </a:solidFill>
                  <a:latin typeface="ui-monospace"/>
                </a:rPr>
                <a:t>原则：保持模块的大小适中、尽可能减少调用的深度、多扇入少扇出、单入口单出口、模块的作用域应在模块之内、功能应该是可预测的</a:t>
              </a:r>
              <a:endParaRPr lang="en-US" altLang="zh-CN" sz="1200" dirty="0">
                <a:solidFill>
                  <a:schemeClr val="accent1"/>
                </a:solidFill>
                <a:latin typeface="ui-monospace"/>
              </a:endParaRPr>
            </a:p>
            <a:p>
              <a:r>
                <a:rPr lang="zh-CN" altLang="en-US" sz="1200" dirty="0">
                  <a:solidFill>
                    <a:schemeClr val="accent1"/>
                  </a:solidFill>
                  <a:latin typeface="ui-monospace"/>
                </a:rPr>
                <a:t>概要设计</a:t>
              </a:r>
              <a:endParaRPr lang="en-US" altLang="zh-CN" sz="1200" dirty="0">
                <a:solidFill>
                  <a:schemeClr val="accent1"/>
                </a:solidFill>
                <a:latin typeface="ui-monospace"/>
              </a:endParaRPr>
            </a:p>
            <a:p>
              <a:r>
                <a:rPr lang="zh-CN" altLang="en-US" sz="1200" b="1" dirty="0">
                  <a:solidFill>
                    <a:schemeClr val="accent1"/>
                  </a:solidFill>
                  <a:latin typeface="ui-monospace"/>
                </a:rPr>
                <a:t>设计软件系统总体结构</a:t>
              </a:r>
              <a:r>
                <a:rPr lang="zh-CN" altLang="en-US" sz="1200" dirty="0">
                  <a:solidFill>
                    <a:schemeClr val="accent1"/>
                  </a:solidFill>
                  <a:latin typeface="ui-monospace"/>
                </a:rPr>
                <a:t>：是概要设计的</a:t>
              </a:r>
              <a:r>
                <a:rPr lang="zh-CN" altLang="en-US" sz="1200" b="1" dirty="0">
                  <a:solidFill>
                    <a:schemeClr val="accent1"/>
                  </a:solidFill>
                  <a:latin typeface="ui-monospace"/>
                </a:rPr>
                <a:t>基本任务</a:t>
              </a:r>
              <a:r>
                <a:rPr lang="zh-CN" altLang="en-US" sz="1200" dirty="0">
                  <a:solidFill>
                    <a:schemeClr val="accent1"/>
                  </a:solidFill>
                  <a:latin typeface="ui-monospace"/>
                </a:rPr>
                <a:t>，分配</a:t>
              </a:r>
              <a:r>
                <a:rPr lang="zh-CN" altLang="en-US" sz="1200" b="1" dirty="0">
                  <a:solidFill>
                    <a:schemeClr val="accent1"/>
                  </a:solidFill>
                  <a:latin typeface="ui-monospace"/>
                </a:rPr>
                <a:t>模块</a:t>
              </a:r>
              <a:r>
                <a:rPr lang="zh-CN" altLang="en-US" sz="1200" dirty="0">
                  <a:solidFill>
                    <a:schemeClr val="accent1"/>
                  </a:solidFill>
                  <a:latin typeface="ui-monospace"/>
                </a:rPr>
                <a:t>并确定功能和调用关系，形成</a:t>
              </a:r>
              <a:r>
                <a:rPr lang="zh-CN" altLang="en-US" sz="1200" b="1" dirty="0">
                  <a:solidFill>
                    <a:schemeClr val="accent1"/>
                  </a:solidFill>
                  <a:latin typeface="ui-monospace"/>
                </a:rPr>
                <a:t>系统结构图</a:t>
              </a:r>
              <a:endParaRPr lang="en-US" altLang="zh-CN" sz="1200" b="1" dirty="0">
                <a:solidFill>
                  <a:schemeClr val="accent1"/>
                </a:solidFill>
                <a:latin typeface="ui-monospace"/>
              </a:endParaRPr>
            </a:p>
            <a:p>
              <a:r>
                <a:rPr lang="zh-CN" altLang="en-US" sz="1200" dirty="0">
                  <a:solidFill>
                    <a:schemeClr val="accent1"/>
                  </a:solidFill>
                  <a:latin typeface="ui-monospace"/>
                </a:rPr>
                <a:t>数据结构及数据库设计：概念设计、逻辑设计、物理设计</a:t>
              </a:r>
              <a:endParaRPr lang="en-US" altLang="zh-CN" sz="1200" dirty="0">
                <a:solidFill>
                  <a:schemeClr val="accent1"/>
                </a:solidFill>
                <a:latin typeface="ui-monospace"/>
              </a:endParaRPr>
            </a:p>
            <a:p>
              <a:r>
                <a:rPr lang="zh-CN" altLang="en-US" sz="1200" dirty="0">
                  <a:solidFill>
                    <a:schemeClr val="accent1"/>
                  </a:solidFill>
                  <a:latin typeface="ui-monospace"/>
                </a:rPr>
                <a:t>编写概要设计文档：概要设计说明书、数据库设计说明书、用户手册、修订测试计划</a:t>
              </a:r>
              <a:endParaRPr lang="en-US" altLang="zh-CN" sz="1200" dirty="0">
                <a:solidFill>
                  <a:schemeClr val="accent1"/>
                </a:solidFill>
                <a:latin typeface="ui-monospace"/>
              </a:endParaRPr>
            </a:p>
            <a:p>
              <a:r>
                <a:rPr lang="zh-CN" altLang="en-US" sz="1200" dirty="0">
                  <a:solidFill>
                    <a:schemeClr val="accent1"/>
                  </a:solidFill>
                  <a:latin typeface="ui-monospace"/>
                </a:rPr>
                <a:t>评审</a:t>
              </a:r>
              <a:endParaRPr lang="en-US" altLang="zh-CN" sz="1200" dirty="0">
                <a:solidFill>
                  <a:schemeClr val="accent1"/>
                </a:solidFill>
                <a:latin typeface="ui-monospace"/>
              </a:endParaRPr>
            </a:p>
            <a:p>
              <a:r>
                <a:rPr lang="zh-CN" altLang="en-US" sz="1200" dirty="0">
                  <a:solidFill>
                    <a:schemeClr val="accent1"/>
                  </a:solidFill>
                  <a:latin typeface="ui-monospace"/>
                </a:rPr>
                <a:t>详细设计：算法设计，数据结构设计，数据库物理设计</a:t>
              </a:r>
              <a:endParaRPr lang="en-US" altLang="zh-CN" sz="1200" dirty="0">
                <a:solidFill>
                  <a:schemeClr val="accent1"/>
                </a:solidFill>
                <a:latin typeface="ui-monospace"/>
              </a:endParaRPr>
            </a:p>
          </p:txBody>
        </p:sp>
      </p:grpSp>
    </p:spTree>
    <p:extLst>
      <p:ext uri="{BB962C8B-B14F-4D97-AF65-F5344CB8AC3E}">
        <p14:creationId xmlns:p14="http://schemas.microsoft.com/office/powerpoint/2010/main" val="171589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pic>
        <p:nvPicPr>
          <p:cNvPr id="54" name="Picture 53">
            <a:extLst>
              <a:ext uri="{FF2B5EF4-FFF2-40B4-BE49-F238E27FC236}">
                <a16:creationId xmlns:a16="http://schemas.microsoft.com/office/drawing/2014/main" id="{3B01D7F0-C710-8BEF-245A-CD48A80038C0}"/>
              </a:ext>
            </a:extLst>
          </p:cNvPr>
          <p:cNvPicPr>
            <a:picLocks noChangeAspect="1"/>
          </p:cNvPicPr>
          <p:nvPr/>
        </p:nvPicPr>
        <p:blipFill>
          <a:blip r:embed="rId2"/>
          <a:stretch>
            <a:fillRect/>
          </a:stretch>
        </p:blipFill>
        <p:spPr>
          <a:xfrm>
            <a:off x="9980619" y="5920982"/>
            <a:ext cx="2061260" cy="718934"/>
          </a:xfrm>
          <a:prstGeom prst="rect">
            <a:avLst/>
          </a:prstGeom>
        </p:spPr>
      </p:pic>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97031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软件工程</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过程模型</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需求分析</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系统设计</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系统测试</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运行和维护</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软件质量和度量</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项目管理</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4386653" cy="1126259"/>
            <a:chOff x="7614613" y="5950488"/>
            <a:chExt cx="4386653" cy="1126259"/>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▶系统测试</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意义：验证系统是否符合预期的功能需求和性能要求，以及发现系统中的缺陷和风险</a:t>
              </a:r>
              <a:endParaRPr lang="en-US" altLang="zh-CN" sz="1200" dirty="0">
                <a:solidFill>
                  <a:schemeClr val="accent1"/>
                </a:solidFill>
                <a:latin typeface="ui-monospace"/>
              </a:endParaRPr>
            </a:p>
            <a:p>
              <a:r>
                <a:rPr lang="zh-CN" altLang="en-US" sz="1200" dirty="0">
                  <a:solidFill>
                    <a:schemeClr val="accent1"/>
                  </a:solidFill>
                  <a:latin typeface="ui-monospace"/>
                </a:rPr>
                <a:t>目的：希望能以最少的人力和时间发现潜在的错误和缺陷</a:t>
              </a:r>
              <a:endParaRPr lang="en-US" altLang="zh-CN" sz="1200" dirty="0">
                <a:solidFill>
                  <a:schemeClr val="accent1"/>
                </a:solidFill>
                <a:latin typeface="ui-monospace"/>
              </a:endParaRPr>
            </a:p>
            <a:p>
              <a:r>
                <a:rPr lang="zh-CN" altLang="en-US" sz="1200" dirty="0">
                  <a:solidFill>
                    <a:schemeClr val="accent1"/>
                  </a:solidFill>
                  <a:latin typeface="ui-monospace"/>
                </a:rPr>
                <a:t>包含软件测试、硬件测试、网络测试</a:t>
              </a:r>
              <a:endParaRPr lang="en-US" altLang="zh-CN" sz="1200" dirty="0">
                <a:solidFill>
                  <a:schemeClr val="accent1"/>
                </a:solidFill>
                <a:latin typeface="ui-monospace"/>
              </a:endParaRPr>
            </a:p>
          </p:txBody>
        </p:sp>
      </p:grpSp>
      <p:grpSp>
        <p:nvGrpSpPr>
          <p:cNvPr id="33" name="Group 25">
            <a:extLst>
              <a:ext uri="{FF2B5EF4-FFF2-40B4-BE49-F238E27FC236}">
                <a16:creationId xmlns:a16="http://schemas.microsoft.com/office/drawing/2014/main" id="{B8FA9490-77B4-E4EA-AA14-98492AF3D1D7}"/>
              </a:ext>
            </a:extLst>
          </p:cNvPr>
          <p:cNvGrpSpPr/>
          <p:nvPr/>
        </p:nvGrpSpPr>
        <p:grpSpPr>
          <a:xfrm>
            <a:off x="7655287" y="71394"/>
            <a:ext cx="4386653" cy="756927"/>
            <a:chOff x="7614613" y="5950488"/>
            <a:chExt cx="4386653" cy="756927"/>
          </a:xfrm>
        </p:grpSpPr>
        <p:sp>
          <p:nvSpPr>
            <p:cNvPr id="34" name="Rectangle: Rounded Corners 35">
              <a:extLst>
                <a:ext uri="{FF2B5EF4-FFF2-40B4-BE49-F238E27FC236}">
                  <a16:creationId xmlns:a16="http://schemas.microsoft.com/office/drawing/2014/main" id="{9B0280EF-C067-9382-6455-DC4DFA9BABC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▶测试方法</a:t>
              </a:r>
              <a:endParaRPr lang="en-US" sz="1200" dirty="0">
                <a:solidFill>
                  <a:schemeClr val="bg1"/>
                </a:solidFill>
              </a:endParaRPr>
            </a:p>
          </p:txBody>
        </p:sp>
        <p:sp>
          <p:nvSpPr>
            <p:cNvPr id="35" name="TextBox 36">
              <a:extLst>
                <a:ext uri="{FF2B5EF4-FFF2-40B4-BE49-F238E27FC236}">
                  <a16:creationId xmlns:a16="http://schemas.microsoft.com/office/drawing/2014/main" id="{501076B1-418C-C120-5596-4155B0B6B970}"/>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静态测试：人工检测、计算机辅助静态分析</a:t>
              </a:r>
              <a:endParaRPr lang="en-US" altLang="zh-CN" sz="1200" dirty="0">
                <a:solidFill>
                  <a:schemeClr val="accent1"/>
                </a:solidFill>
                <a:latin typeface="ui-monospace"/>
              </a:endParaRPr>
            </a:p>
            <a:p>
              <a:r>
                <a:rPr lang="zh-CN" altLang="en-US" sz="1200" dirty="0">
                  <a:solidFill>
                    <a:schemeClr val="accent1"/>
                  </a:solidFill>
                  <a:latin typeface="ui-monospace"/>
                </a:rPr>
                <a:t>动态测试：通过运行程序，发现并纠正错误</a:t>
              </a:r>
              <a:endParaRPr lang="en-US" altLang="zh-CN" sz="1200" dirty="0">
                <a:solidFill>
                  <a:schemeClr val="accent1"/>
                </a:solidFill>
                <a:latin typeface="ui-monospace"/>
              </a:endParaRPr>
            </a:p>
          </p:txBody>
        </p:sp>
      </p:grpSp>
      <p:graphicFrame>
        <p:nvGraphicFramePr>
          <p:cNvPr id="4" name="Table 3">
            <a:extLst>
              <a:ext uri="{FF2B5EF4-FFF2-40B4-BE49-F238E27FC236}">
                <a16:creationId xmlns:a16="http://schemas.microsoft.com/office/drawing/2014/main" id="{E3C4FE3C-FE77-C6EA-96DD-97EE8E37D04D}"/>
              </a:ext>
            </a:extLst>
          </p:cNvPr>
          <p:cNvGraphicFramePr>
            <a:graphicFrameLocks noGrp="1"/>
          </p:cNvGraphicFramePr>
          <p:nvPr>
            <p:extLst>
              <p:ext uri="{D42A27DB-BD31-4B8C-83A1-F6EECF244321}">
                <p14:modId xmlns:p14="http://schemas.microsoft.com/office/powerpoint/2010/main" val="473303660"/>
              </p:ext>
            </p:extLst>
          </p:nvPr>
        </p:nvGraphicFramePr>
        <p:xfrm>
          <a:off x="3150285" y="1158544"/>
          <a:ext cx="4281575" cy="3017520"/>
        </p:xfrm>
        <a:graphic>
          <a:graphicData uri="http://schemas.openxmlformats.org/drawingml/2006/table">
            <a:tbl>
              <a:tblPr firstRow="1" bandRow="1">
                <a:tableStyleId>{5C22544A-7EE6-4342-B048-85BDC9FD1C3A}</a:tableStyleId>
              </a:tblPr>
              <a:tblGrid>
                <a:gridCol w="1564590">
                  <a:extLst>
                    <a:ext uri="{9D8B030D-6E8A-4147-A177-3AD203B41FA5}">
                      <a16:colId xmlns:a16="http://schemas.microsoft.com/office/drawing/2014/main" val="4196207211"/>
                    </a:ext>
                  </a:extLst>
                </a:gridCol>
                <a:gridCol w="2716985">
                  <a:extLst>
                    <a:ext uri="{9D8B030D-6E8A-4147-A177-3AD203B41FA5}">
                      <a16:colId xmlns:a16="http://schemas.microsoft.com/office/drawing/2014/main" val="3523767036"/>
                    </a:ext>
                  </a:extLst>
                </a:gridCol>
              </a:tblGrid>
              <a:tr h="204220">
                <a:tc>
                  <a:txBody>
                    <a:bodyPr/>
                    <a:lstStyle/>
                    <a:p>
                      <a:pPr algn="ctr"/>
                      <a:r>
                        <a:rPr lang="zh-CN" altLang="en-US" sz="900" b="1" dirty="0">
                          <a:solidFill>
                            <a:schemeClr val="tx1"/>
                          </a:solidFill>
                          <a:sym typeface="Wingdings 2" panose="05020102010507070707" pitchFamily="18" charset="2"/>
                        </a:rPr>
                        <a:t> </a:t>
                      </a:r>
                      <a:r>
                        <a:rPr lang="zh-CN" altLang="en-US" sz="900" b="1" dirty="0">
                          <a:solidFill>
                            <a:schemeClr val="tx1"/>
                          </a:solidFill>
                        </a:rPr>
                        <a:t>尽早进行测试</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测试应贯穿在开发的各个阶段，应尽早纠正错误，消除隐患</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1" dirty="0">
                          <a:solidFill>
                            <a:schemeClr val="tx1"/>
                          </a:solidFill>
                        </a:rPr>
                        <a:t>委托专门人员进行测试 </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测试工作应由专门人员来进行，避免由原开发软件的人或小组承担</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r h="204220">
                <a:tc>
                  <a:txBody>
                    <a:bodyPr/>
                    <a:lstStyle/>
                    <a:p>
                      <a:pPr algn="ctr"/>
                      <a:r>
                        <a:rPr lang="zh-CN" altLang="en-US" sz="900" b="1" dirty="0">
                          <a:solidFill>
                            <a:schemeClr val="tx1"/>
                          </a:solidFill>
                          <a:sym typeface="Wingdings 2" panose="05020102010507070707" pitchFamily="18" charset="2"/>
                        </a:rPr>
                        <a:t> </a:t>
                      </a:r>
                      <a:r>
                        <a:rPr lang="zh-CN" altLang="en-US" sz="900" b="1" dirty="0">
                          <a:solidFill>
                            <a:schemeClr val="tx1"/>
                          </a:solidFill>
                        </a:rPr>
                        <a:t>设计测试方案时要确定预期输出结果</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在设计测试方案时，不仅要确定输入数据，还要根据系统功能确定预期输出结果</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zh-CN" altLang="en-US" sz="900" b="1" dirty="0">
                          <a:solidFill>
                            <a:schemeClr val="tx1"/>
                          </a:solidFill>
                          <a:sym typeface="Wingdings 2" panose="05020102010507070707" pitchFamily="18" charset="2"/>
                        </a:rPr>
                        <a:t> </a:t>
                      </a:r>
                      <a:r>
                        <a:rPr lang="zh-CN" altLang="en-US" sz="900" b="1" dirty="0">
                          <a:solidFill>
                            <a:schemeClr val="tx1"/>
                          </a:solidFill>
                        </a:rPr>
                        <a:t>设计包含不合理、失效的输入条件的测试用例</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在设计测试用例时，不仅要设计有效、合理的输入条件，也要包含不合理、失效的输入条件</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r h="204220">
                <a:tc>
                  <a:txBody>
                    <a:bodyPr/>
                    <a:lstStyle/>
                    <a:p>
                      <a:pPr algn="ctr"/>
                      <a:r>
                        <a:rPr lang="zh-CN" altLang="en-US" sz="900" b="1" dirty="0">
                          <a:solidFill>
                            <a:schemeClr val="tx1"/>
                          </a:solidFill>
                          <a:sym typeface="Wingdings 2" panose="05020102010507070707" pitchFamily="18" charset="2"/>
                        </a:rPr>
                        <a:t> </a:t>
                      </a:r>
                      <a:r>
                        <a:rPr lang="zh-CN" altLang="en-US" sz="900" b="1" dirty="0">
                          <a:solidFill>
                            <a:schemeClr val="tx1"/>
                          </a:solidFill>
                        </a:rPr>
                        <a:t>检验程序做了该做的事和不该做的事</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在测试程序时，不仅要检验程序是否做了该做的事，还要检验程序是否做了不该做的事</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608652"/>
                  </a:ext>
                </a:extLst>
              </a:tr>
              <a:tr h="204220">
                <a:tc>
                  <a:txBody>
                    <a:bodyPr/>
                    <a:lstStyle/>
                    <a:p>
                      <a:pPr algn="ctr"/>
                      <a:r>
                        <a:rPr lang="zh-CN" altLang="en-US" sz="900" b="1" dirty="0">
                          <a:solidFill>
                            <a:schemeClr val="tx1"/>
                          </a:solidFill>
                        </a:rPr>
                        <a:t>严格按照测试计划进行测试</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严格按照测试计划来进行测试，避免测试的随意性</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197340"/>
                  </a:ext>
                </a:extLst>
              </a:tr>
              <a:tr h="204220">
                <a:tc>
                  <a:txBody>
                    <a:bodyPr/>
                    <a:lstStyle/>
                    <a:p>
                      <a:pPr algn="ctr"/>
                      <a:r>
                        <a:rPr lang="zh-CN" altLang="en-US" sz="900" b="1" dirty="0">
                          <a:solidFill>
                            <a:schemeClr val="tx1"/>
                          </a:solidFill>
                        </a:rPr>
                        <a:t>妥善保存测试计划和测试用例</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妥善保存测试计划、测试用例，作为软件文档的组成部分，为维护提供方便</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9675871"/>
                  </a:ext>
                </a:extLst>
              </a:tr>
              <a:tr h="204220">
                <a:tc>
                  <a:txBody>
                    <a:bodyPr/>
                    <a:lstStyle/>
                    <a:p>
                      <a:pPr algn="ctr"/>
                      <a:r>
                        <a:rPr lang="zh-CN" altLang="en-US" sz="900" b="1" dirty="0">
                          <a:solidFill>
                            <a:schemeClr val="tx1"/>
                          </a:solidFill>
                          <a:sym typeface="Wingdings 2" panose="05020102010507070707" pitchFamily="18" charset="2"/>
                        </a:rPr>
                        <a:t> </a:t>
                      </a:r>
                      <a:r>
                        <a:rPr lang="zh-CN" altLang="en-US" sz="900" b="1" dirty="0">
                          <a:solidFill>
                            <a:schemeClr val="tx1"/>
                          </a:solidFill>
                        </a:rPr>
                        <a:t>设计可重复使用的测试用例</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测试例子都是精心设计出来的，可以为重新测试或追加测试提供方便</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5819357"/>
                  </a:ext>
                </a:extLst>
              </a:tr>
              <a:tr h="204220">
                <a:tc>
                  <a:txBody>
                    <a:bodyPr/>
                    <a:lstStyle/>
                    <a:p>
                      <a:pPr algn="ctr"/>
                      <a:r>
                        <a:rPr lang="zh-CN" altLang="en-US" sz="900" b="1" dirty="0">
                          <a:solidFill>
                            <a:schemeClr val="tx1"/>
                          </a:solidFill>
                          <a:sym typeface="Wingdings 2" panose="05020102010507070707" pitchFamily="18" charset="2"/>
                        </a:rPr>
                        <a:t> </a:t>
                      </a:r>
                      <a:r>
                        <a:rPr lang="zh-CN" altLang="en-US" sz="900" b="1" dirty="0">
                          <a:solidFill>
                            <a:schemeClr val="tx1"/>
                          </a:solidFill>
                        </a:rPr>
                        <a:t>目标来自需求分析</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系统测试阶段的测试目标来自于需求分析阶段</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6986250"/>
                  </a:ext>
                </a:extLst>
              </a:tr>
            </a:tbl>
          </a:graphicData>
        </a:graphic>
      </p:graphicFrame>
      <p:grpSp>
        <p:nvGrpSpPr>
          <p:cNvPr id="5" name="Group 25">
            <a:extLst>
              <a:ext uri="{FF2B5EF4-FFF2-40B4-BE49-F238E27FC236}">
                <a16:creationId xmlns:a16="http://schemas.microsoft.com/office/drawing/2014/main" id="{A363C36A-B252-BD8D-62BC-65997DE03D1B}"/>
              </a:ext>
            </a:extLst>
          </p:cNvPr>
          <p:cNvGrpSpPr/>
          <p:nvPr/>
        </p:nvGrpSpPr>
        <p:grpSpPr>
          <a:xfrm>
            <a:off x="3097745" y="4243271"/>
            <a:ext cx="4386653" cy="2234254"/>
            <a:chOff x="7614613" y="5950488"/>
            <a:chExt cx="4386653" cy="2234254"/>
          </a:xfrm>
        </p:grpSpPr>
        <p:sp>
          <p:nvSpPr>
            <p:cNvPr id="8" name="Rectangle: Rounded Corners 35">
              <a:extLst>
                <a:ext uri="{FF2B5EF4-FFF2-40B4-BE49-F238E27FC236}">
                  <a16:creationId xmlns:a16="http://schemas.microsoft.com/office/drawing/2014/main" id="{5A5ED375-AC89-F320-2395-BEB92DD37435}"/>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▶测试策略</a:t>
              </a:r>
              <a:endParaRPr lang="en-US" sz="1200" dirty="0">
                <a:solidFill>
                  <a:schemeClr val="bg1"/>
                </a:solidFill>
              </a:endParaRPr>
            </a:p>
          </p:txBody>
        </p:sp>
        <p:sp>
          <p:nvSpPr>
            <p:cNvPr id="9" name="TextBox 36">
              <a:extLst>
                <a:ext uri="{FF2B5EF4-FFF2-40B4-BE49-F238E27FC236}">
                  <a16:creationId xmlns:a16="http://schemas.microsoft.com/office/drawing/2014/main" id="{357A40B2-8760-291B-DB53-310C6B6C22CA}"/>
                </a:ext>
              </a:extLst>
            </p:cNvPr>
            <p:cNvSpPr txBox="1"/>
            <p:nvPr/>
          </p:nvSpPr>
          <p:spPr>
            <a:xfrm>
              <a:off x="7667294" y="6245750"/>
              <a:ext cx="4281578" cy="1938992"/>
            </a:xfrm>
            <a:prstGeom prst="rect">
              <a:avLst/>
            </a:prstGeom>
            <a:noFill/>
          </p:spPr>
          <p:txBody>
            <a:bodyPr wrap="square">
              <a:spAutoFit/>
            </a:bodyPr>
            <a:lstStyle/>
            <a:p>
              <a:r>
                <a:rPr lang="zh-CN" altLang="en-US" sz="1200" dirty="0">
                  <a:solidFill>
                    <a:schemeClr val="accent1"/>
                  </a:solidFill>
                  <a:latin typeface="ui-monospace"/>
                </a:rPr>
                <a:t>单元测试：是软件开发过程中的测试活动，用于验证软件系统的最小可测试单元（即单元）是否按照预期功能进行工作，依据软件详细设计说明书</a:t>
              </a:r>
              <a:endParaRPr lang="en-US" altLang="zh-CN" sz="1200" dirty="0">
                <a:solidFill>
                  <a:schemeClr val="accent1"/>
                </a:solidFill>
                <a:latin typeface="ui-monospace"/>
              </a:endParaRPr>
            </a:p>
            <a:p>
              <a:r>
                <a:rPr lang="zh-CN" altLang="en-US" sz="1200" dirty="0">
                  <a:solidFill>
                    <a:schemeClr val="accent1"/>
                  </a:solidFill>
                  <a:latin typeface="ui-monospace"/>
                </a:rPr>
                <a:t>特征：</a:t>
              </a:r>
              <a:r>
                <a:rPr lang="zh-CN" altLang="en-US" sz="1200" b="1" dirty="0">
                  <a:solidFill>
                    <a:schemeClr val="accent1"/>
                  </a:solidFill>
                  <a:latin typeface="ui-monospace"/>
                </a:rPr>
                <a:t>模块接口</a:t>
              </a:r>
              <a:r>
                <a:rPr lang="en-US" altLang="zh-CN" sz="1200" dirty="0">
                  <a:solidFill>
                    <a:schemeClr val="accent1"/>
                  </a:solidFill>
                  <a:latin typeface="ui-monospace"/>
                </a:rPr>
                <a:t>(</a:t>
              </a:r>
              <a:r>
                <a:rPr lang="zh-CN" altLang="en-US" sz="1200" dirty="0">
                  <a:solidFill>
                    <a:schemeClr val="accent1"/>
                  </a:solidFill>
                  <a:latin typeface="ui-monospace"/>
                </a:rPr>
                <a:t>数据流</a:t>
              </a:r>
              <a:r>
                <a:rPr lang="en-US" altLang="zh-CN" sz="1200" dirty="0">
                  <a:solidFill>
                    <a:schemeClr val="accent1"/>
                  </a:solidFill>
                  <a:latin typeface="ui-monospace"/>
                </a:rPr>
                <a:t>)</a:t>
              </a:r>
              <a:r>
                <a:rPr lang="zh-CN" altLang="en-US" sz="1200" dirty="0">
                  <a:solidFill>
                    <a:schemeClr val="accent1"/>
                  </a:solidFill>
                  <a:latin typeface="ui-monospace"/>
                </a:rPr>
                <a:t>、</a:t>
              </a:r>
              <a:r>
                <a:rPr lang="zh-CN" altLang="en-US" sz="1200" b="1" dirty="0">
                  <a:solidFill>
                    <a:schemeClr val="accent1"/>
                  </a:solidFill>
                  <a:latin typeface="ui-monospace"/>
                </a:rPr>
                <a:t>局部数据结构</a:t>
              </a:r>
              <a:r>
                <a:rPr lang="en-US" altLang="zh-CN" sz="1200" dirty="0">
                  <a:solidFill>
                    <a:schemeClr val="accent1"/>
                  </a:solidFill>
                  <a:latin typeface="ui-monospace"/>
                </a:rPr>
                <a:t>(</a:t>
              </a:r>
              <a:r>
                <a:rPr lang="zh-CN" altLang="en-US" sz="1200" dirty="0">
                  <a:solidFill>
                    <a:schemeClr val="accent1"/>
                  </a:solidFill>
                  <a:latin typeface="ui-monospace"/>
                </a:rPr>
                <a:t>变量</a:t>
              </a:r>
              <a:r>
                <a:rPr lang="en-US" altLang="zh-CN" sz="1200" dirty="0">
                  <a:solidFill>
                    <a:schemeClr val="accent1"/>
                  </a:solidFill>
                  <a:latin typeface="ui-monospace"/>
                </a:rPr>
                <a:t>)</a:t>
              </a:r>
              <a:r>
                <a:rPr lang="zh-CN" altLang="en-US" sz="1200" dirty="0">
                  <a:solidFill>
                    <a:schemeClr val="accent1"/>
                  </a:solidFill>
                  <a:latin typeface="ui-monospace"/>
                </a:rPr>
                <a:t>、重要的执行路径、出错处理、边界条件</a:t>
              </a:r>
              <a:endParaRPr lang="en-US" altLang="zh-CN" sz="1200" dirty="0">
                <a:solidFill>
                  <a:schemeClr val="accent1"/>
                </a:solidFill>
                <a:latin typeface="ui-monospace"/>
              </a:endParaRPr>
            </a:p>
            <a:p>
              <a:r>
                <a:rPr lang="zh-CN" altLang="en-US" sz="1200" dirty="0">
                  <a:solidFill>
                    <a:schemeClr val="accent1"/>
                  </a:solidFill>
                  <a:latin typeface="ui-monospace"/>
                </a:rPr>
                <a:t>过程：编写</a:t>
              </a:r>
              <a:r>
                <a:rPr lang="zh-CN" altLang="en-US" sz="1200" b="1" dirty="0">
                  <a:solidFill>
                    <a:schemeClr val="accent1"/>
                  </a:solidFill>
                  <a:latin typeface="ui-monospace"/>
                </a:rPr>
                <a:t>驱动模块</a:t>
              </a:r>
              <a:r>
                <a:rPr lang="zh-CN" altLang="en-US" sz="1200" dirty="0">
                  <a:solidFill>
                    <a:schemeClr val="accent1"/>
                  </a:solidFill>
                  <a:latin typeface="ui-monospace"/>
                </a:rPr>
                <a:t>，测试</a:t>
              </a:r>
              <a:r>
                <a:rPr lang="zh-CN" altLang="en-US" sz="1200" b="1" dirty="0">
                  <a:solidFill>
                    <a:schemeClr val="accent1"/>
                  </a:solidFill>
                  <a:latin typeface="ui-monospace"/>
                </a:rPr>
                <a:t>桩模块</a:t>
              </a:r>
              <a:endParaRPr lang="en-US" altLang="zh-CN" sz="1200" b="1" dirty="0">
                <a:solidFill>
                  <a:schemeClr val="accent1"/>
                </a:solidFill>
                <a:latin typeface="ui-monospace"/>
              </a:endParaRPr>
            </a:p>
            <a:p>
              <a:r>
                <a:rPr lang="zh-CN" altLang="en-US" sz="1200" dirty="0">
                  <a:solidFill>
                    <a:schemeClr val="accent1"/>
                  </a:solidFill>
                  <a:latin typeface="ui-monospace"/>
                </a:rPr>
                <a:t>集成测试：依据软件概要设计文档</a:t>
              </a:r>
              <a:endParaRPr lang="en-US" altLang="zh-CN" sz="1200" dirty="0">
                <a:solidFill>
                  <a:schemeClr val="accent1"/>
                </a:solidFill>
                <a:latin typeface="ui-monospace"/>
              </a:endParaRPr>
            </a:p>
            <a:p>
              <a:r>
                <a:rPr lang="zh-CN" altLang="en-US" sz="1200" dirty="0">
                  <a:solidFill>
                    <a:schemeClr val="accent1"/>
                  </a:solidFill>
                  <a:latin typeface="ui-monospace"/>
                </a:rPr>
                <a:t>方法：自顶向下、自底向上、</a:t>
              </a:r>
              <a:r>
                <a:rPr lang="zh-CN" altLang="en-US" sz="1200" b="1" dirty="0">
                  <a:solidFill>
                    <a:schemeClr val="accent1"/>
                  </a:solidFill>
                  <a:latin typeface="ui-monospace"/>
                </a:rPr>
                <a:t>回归测试</a:t>
              </a:r>
              <a:r>
                <a:rPr lang="en-US" altLang="zh-CN" sz="1200" dirty="0">
                  <a:solidFill>
                    <a:schemeClr val="accent1"/>
                  </a:solidFill>
                  <a:latin typeface="ui-monospace"/>
                </a:rPr>
                <a:t>(</a:t>
              </a:r>
              <a:r>
                <a:rPr lang="zh-CN" altLang="en-US" sz="1200" dirty="0">
                  <a:solidFill>
                    <a:schemeClr val="accent1"/>
                  </a:solidFill>
                  <a:latin typeface="ui-monospace"/>
                </a:rPr>
                <a:t>变更</a:t>
              </a:r>
              <a:r>
                <a:rPr lang="en-US" altLang="zh-CN" sz="1200" dirty="0">
                  <a:solidFill>
                    <a:schemeClr val="accent1"/>
                  </a:solidFill>
                  <a:latin typeface="ui-monospace"/>
                </a:rPr>
                <a:t>)</a:t>
              </a:r>
              <a:r>
                <a:rPr lang="zh-CN" altLang="en-US" sz="1200" dirty="0">
                  <a:solidFill>
                    <a:schemeClr val="accent1"/>
                  </a:solidFill>
                  <a:latin typeface="ui-monospace"/>
                </a:rPr>
                <a:t>、冒烟测试</a:t>
              </a:r>
              <a:endParaRPr lang="en-US" altLang="zh-CN" sz="1200" dirty="0">
                <a:solidFill>
                  <a:schemeClr val="accent1"/>
                </a:solidFill>
                <a:latin typeface="ui-monospace"/>
              </a:endParaRPr>
            </a:p>
            <a:p>
              <a:r>
                <a:rPr lang="zh-CN" altLang="en-US" sz="1200" dirty="0">
                  <a:solidFill>
                    <a:schemeClr val="accent1"/>
                  </a:solidFill>
                  <a:latin typeface="ui-monospace"/>
                </a:rPr>
                <a:t>确认测试：确认先前发现的缺陷是否已经修复或解决</a:t>
              </a:r>
              <a:endParaRPr lang="en-US" altLang="zh-CN" sz="1200" dirty="0">
                <a:solidFill>
                  <a:schemeClr val="accent1"/>
                </a:solidFill>
                <a:latin typeface="ui-monospace"/>
              </a:endParaRPr>
            </a:p>
            <a:p>
              <a:r>
                <a:rPr lang="zh-CN" altLang="en-US" sz="1200" dirty="0">
                  <a:solidFill>
                    <a:schemeClr val="accent1"/>
                  </a:solidFill>
                  <a:latin typeface="ui-monospace"/>
                </a:rPr>
                <a:t>系统测试</a:t>
              </a:r>
              <a:endParaRPr lang="en-US" altLang="zh-CN" sz="1200" dirty="0">
                <a:solidFill>
                  <a:schemeClr val="accent1"/>
                </a:solidFill>
                <a:latin typeface="ui-monospace"/>
              </a:endParaRPr>
            </a:p>
          </p:txBody>
        </p:sp>
      </p:grpSp>
      <p:grpSp>
        <p:nvGrpSpPr>
          <p:cNvPr id="10" name="Group 25">
            <a:extLst>
              <a:ext uri="{FF2B5EF4-FFF2-40B4-BE49-F238E27FC236}">
                <a16:creationId xmlns:a16="http://schemas.microsoft.com/office/drawing/2014/main" id="{FEF0544F-EB29-B677-D3EE-9C6B013892FB}"/>
              </a:ext>
            </a:extLst>
          </p:cNvPr>
          <p:cNvGrpSpPr/>
          <p:nvPr/>
        </p:nvGrpSpPr>
        <p:grpSpPr>
          <a:xfrm>
            <a:off x="7655286" y="813176"/>
            <a:ext cx="4386653" cy="1680257"/>
            <a:chOff x="7614613" y="5950488"/>
            <a:chExt cx="4386653" cy="1680257"/>
          </a:xfrm>
        </p:grpSpPr>
        <p:sp>
          <p:nvSpPr>
            <p:cNvPr id="11" name="Rectangle: Rounded Corners 35">
              <a:extLst>
                <a:ext uri="{FF2B5EF4-FFF2-40B4-BE49-F238E27FC236}">
                  <a16:creationId xmlns:a16="http://schemas.microsoft.com/office/drawing/2014/main" id="{20159DBA-3235-E774-4871-3DC56CCCC376}"/>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▶黑盒测试</a:t>
              </a:r>
              <a:endParaRPr lang="en-US" sz="1200" dirty="0">
                <a:solidFill>
                  <a:schemeClr val="bg1"/>
                </a:solidFill>
              </a:endParaRPr>
            </a:p>
          </p:txBody>
        </p:sp>
        <p:sp>
          <p:nvSpPr>
            <p:cNvPr id="12" name="TextBox 36">
              <a:extLst>
                <a:ext uri="{FF2B5EF4-FFF2-40B4-BE49-F238E27FC236}">
                  <a16:creationId xmlns:a16="http://schemas.microsoft.com/office/drawing/2014/main" id="{0D20CDF8-BEE1-AEF1-8D44-8879C05CD0DF}"/>
                </a:ext>
              </a:extLst>
            </p:cNvPr>
            <p:cNvSpPr txBox="1"/>
            <p:nvPr/>
          </p:nvSpPr>
          <p:spPr>
            <a:xfrm>
              <a:off x="7667294" y="6245750"/>
              <a:ext cx="4281578" cy="1384995"/>
            </a:xfrm>
            <a:prstGeom prst="rect">
              <a:avLst/>
            </a:prstGeom>
            <a:noFill/>
          </p:spPr>
          <p:txBody>
            <a:bodyPr wrap="square">
              <a:spAutoFit/>
            </a:bodyPr>
            <a:lstStyle/>
            <a:p>
              <a:r>
                <a:rPr lang="zh-CN" altLang="en-US" sz="1200" dirty="0">
                  <a:solidFill>
                    <a:schemeClr val="accent1"/>
                  </a:solidFill>
                  <a:latin typeface="ui-monospace"/>
                </a:rPr>
                <a:t>只关注测试对象的输入和输出，而不考虑内部的代码和结构</a:t>
              </a:r>
              <a:endParaRPr lang="en-US" altLang="zh-CN" sz="1200" dirty="0">
                <a:solidFill>
                  <a:schemeClr val="accent1"/>
                </a:solidFill>
                <a:latin typeface="ui-monospace"/>
              </a:endParaRPr>
            </a:p>
            <a:p>
              <a:r>
                <a:rPr lang="zh-CN" altLang="en-US" sz="1200" b="1" dirty="0">
                  <a:solidFill>
                    <a:schemeClr val="accent1"/>
                  </a:solidFill>
                  <a:latin typeface="ui-monospace"/>
                </a:rPr>
                <a:t>等价类划分</a:t>
              </a:r>
              <a:r>
                <a:rPr lang="zh-CN" altLang="en-US" sz="1200" dirty="0">
                  <a:solidFill>
                    <a:schemeClr val="accent1"/>
                  </a:solidFill>
                  <a:latin typeface="ui-monospace"/>
                </a:rPr>
                <a:t>：将识别的输入域划分为若干个等价类，每个等价类包含具有相同特征和行为的输入。例如数字参可划分正数、零、负数，然后选择代表性数据，不可两个都不合理</a:t>
              </a:r>
              <a:endParaRPr lang="en-US" altLang="zh-CN" sz="1200" dirty="0">
                <a:solidFill>
                  <a:schemeClr val="accent1"/>
                </a:solidFill>
                <a:latin typeface="ui-monospace"/>
              </a:endParaRPr>
            </a:p>
            <a:p>
              <a:r>
                <a:rPr lang="zh-CN" altLang="en-US" sz="1200" dirty="0">
                  <a:solidFill>
                    <a:schemeClr val="accent1"/>
                  </a:solidFill>
                  <a:latin typeface="ui-monospace"/>
                </a:rPr>
                <a:t>边界值分析：在输入范围中确认边界，选择上点</a:t>
              </a:r>
              <a:r>
                <a:rPr lang="en-US" altLang="zh-CN" sz="1200" dirty="0">
                  <a:solidFill>
                    <a:schemeClr val="accent1"/>
                  </a:solidFill>
                  <a:latin typeface="ui-monospace"/>
                </a:rPr>
                <a:t>/</a:t>
              </a:r>
              <a:r>
                <a:rPr lang="zh-CN" altLang="en-US" sz="1200" dirty="0">
                  <a:solidFill>
                    <a:schemeClr val="accent1"/>
                  </a:solidFill>
                  <a:latin typeface="ui-monospace"/>
                </a:rPr>
                <a:t>离点</a:t>
              </a:r>
              <a:r>
                <a:rPr lang="en-US" altLang="zh-CN" sz="1200" dirty="0">
                  <a:solidFill>
                    <a:schemeClr val="accent1"/>
                  </a:solidFill>
                  <a:latin typeface="ui-monospace"/>
                </a:rPr>
                <a:t>/</a:t>
              </a:r>
              <a:r>
                <a:rPr lang="zh-CN" altLang="en-US" sz="1200" dirty="0">
                  <a:solidFill>
                    <a:schemeClr val="accent1"/>
                  </a:solidFill>
                  <a:latin typeface="ui-monospace"/>
                </a:rPr>
                <a:t>内点</a:t>
              </a:r>
              <a:endParaRPr lang="en-US" altLang="zh-CN" sz="1200" dirty="0">
                <a:solidFill>
                  <a:schemeClr val="accent1"/>
                </a:solidFill>
                <a:latin typeface="ui-monospace"/>
              </a:endParaRPr>
            </a:p>
            <a:p>
              <a:r>
                <a:rPr lang="zh-CN" altLang="en-US" sz="1200" dirty="0">
                  <a:solidFill>
                    <a:schemeClr val="accent1"/>
                  </a:solidFill>
                  <a:latin typeface="ui-monospace"/>
                </a:rPr>
                <a:t>错误推测：凭经验而言，来推测有可能产生问题的地方</a:t>
              </a:r>
              <a:endParaRPr lang="en-US" altLang="zh-CN" sz="1200" dirty="0">
                <a:solidFill>
                  <a:schemeClr val="accent1"/>
                </a:solidFill>
                <a:latin typeface="ui-monospace"/>
              </a:endParaRPr>
            </a:p>
            <a:p>
              <a:r>
                <a:rPr lang="zh-CN" altLang="en-US" sz="1200" dirty="0">
                  <a:solidFill>
                    <a:schemeClr val="accent1"/>
                  </a:solidFill>
                  <a:latin typeface="ui-monospace"/>
                </a:rPr>
                <a:t>因果图：通过一个结果来反推出导致该结果的原因</a:t>
              </a:r>
              <a:endParaRPr lang="en-US" altLang="zh-CN" sz="1200" dirty="0">
                <a:solidFill>
                  <a:schemeClr val="accent1"/>
                </a:solidFill>
                <a:latin typeface="ui-monospace"/>
              </a:endParaRPr>
            </a:p>
          </p:txBody>
        </p:sp>
      </p:grpSp>
      <p:grpSp>
        <p:nvGrpSpPr>
          <p:cNvPr id="13" name="Group 25">
            <a:extLst>
              <a:ext uri="{FF2B5EF4-FFF2-40B4-BE49-F238E27FC236}">
                <a16:creationId xmlns:a16="http://schemas.microsoft.com/office/drawing/2014/main" id="{DCAC669B-DA0D-777C-BF5C-041CB3737A92}"/>
              </a:ext>
            </a:extLst>
          </p:cNvPr>
          <p:cNvGrpSpPr/>
          <p:nvPr/>
        </p:nvGrpSpPr>
        <p:grpSpPr>
          <a:xfrm>
            <a:off x="7655226" y="2462604"/>
            <a:ext cx="4386653" cy="941593"/>
            <a:chOff x="7614613" y="5950488"/>
            <a:chExt cx="4386653" cy="941593"/>
          </a:xfrm>
        </p:grpSpPr>
        <p:sp>
          <p:nvSpPr>
            <p:cNvPr id="14" name="Rectangle: Rounded Corners 35">
              <a:extLst>
                <a:ext uri="{FF2B5EF4-FFF2-40B4-BE49-F238E27FC236}">
                  <a16:creationId xmlns:a16="http://schemas.microsoft.com/office/drawing/2014/main" id="{2C11DCC7-333A-8503-BC47-697046F00BBF}"/>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▶白盒测试</a:t>
              </a:r>
              <a:endParaRPr lang="en-US" sz="1200" dirty="0">
                <a:solidFill>
                  <a:schemeClr val="bg1"/>
                </a:solidFill>
              </a:endParaRPr>
            </a:p>
          </p:txBody>
        </p:sp>
        <p:sp>
          <p:nvSpPr>
            <p:cNvPr id="15" name="TextBox 36">
              <a:extLst>
                <a:ext uri="{FF2B5EF4-FFF2-40B4-BE49-F238E27FC236}">
                  <a16:creationId xmlns:a16="http://schemas.microsoft.com/office/drawing/2014/main" id="{3BFAD13A-E7F0-375E-577C-4B1D83BB6DF1}"/>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验证软件的</a:t>
              </a:r>
              <a:r>
                <a:rPr lang="zh-CN" altLang="en-US" sz="1200" b="1" dirty="0">
                  <a:solidFill>
                    <a:schemeClr val="accent1"/>
                  </a:solidFill>
                  <a:latin typeface="ui-monospace"/>
                </a:rPr>
                <a:t>内部逻辑</a:t>
              </a:r>
              <a:r>
                <a:rPr lang="zh-CN" altLang="en-US" sz="1200" dirty="0">
                  <a:solidFill>
                    <a:schemeClr val="accent1"/>
                  </a:solidFill>
                  <a:latin typeface="ui-monospace"/>
                </a:rPr>
                <a:t>是否正确，并且最大限度地覆盖测试对象的代码路径</a:t>
              </a:r>
              <a:endParaRPr lang="en-US" altLang="zh-CN" sz="1200" dirty="0">
                <a:solidFill>
                  <a:schemeClr val="accent1"/>
                </a:solidFill>
                <a:latin typeface="ui-monospace"/>
              </a:endParaRPr>
            </a:p>
            <a:p>
              <a:r>
                <a:rPr lang="zh-CN" altLang="en-US" sz="1200" dirty="0">
                  <a:solidFill>
                    <a:schemeClr val="accent1"/>
                  </a:solidFill>
                  <a:latin typeface="ui-monospace"/>
                </a:rPr>
                <a:t>技术：逻辑覆盖、循环覆盖、基本路径测试</a:t>
              </a:r>
              <a:endParaRPr lang="en-US" altLang="zh-CN" sz="1200" dirty="0">
                <a:solidFill>
                  <a:schemeClr val="accent1"/>
                </a:solidFill>
                <a:latin typeface="ui-monospace"/>
              </a:endParaRPr>
            </a:p>
          </p:txBody>
        </p:sp>
      </p:grpSp>
      <p:grpSp>
        <p:nvGrpSpPr>
          <p:cNvPr id="18" name="Group 25">
            <a:extLst>
              <a:ext uri="{FF2B5EF4-FFF2-40B4-BE49-F238E27FC236}">
                <a16:creationId xmlns:a16="http://schemas.microsoft.com/office/drawing/2014/main" id="{AD4FA6DB-58C3-B588-105B-7FD2E38941A4}"/>
              </a:ext>
            </a:extLst>
          </p:cNvPr>
          <p:cNvGrpSpPr/>
          <p:nvPr/>
        </p:nvGrpSpPr>
        <p:grpSpPr>
          <a:xfrm>
            <a:off x="7655226" y="3386423"/>
            <a:ext cx="4386653" cy="1495591"/>
            <a:chOff x="7614613" y="5950488"/>
            <a:chExt cx="4386653" cy="1495591"/>
          </a:xfrm>
        </p:grpSpPr>
        <p:sp>
          <p:nvSpPr>
            <p:cNvPr id="22" name="Rectangle: Rounded Corners 35">
              <a:extLst>
                <a:ext uri="{FF2B5EF4-FFF2-40B4-BE49-F238E27FC236}">
                  <a16:creationId xmlns:a16="http://schemas.microsoft.com/office/drawing/2014/main" id="{0ADE5F82-F4FE-2D52-660E-3055810AE785}"/>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▶逻辑覆盖</a:t>
              </a:r>
              <a:endParaRPr lang="en-US" sz="1200" dirty="0">
                <a:solidFill>
                  <a:schemeClr val="bg1"/>
                </a:solidFill>
              </a:endParaRPr>
            </a:p>
          </p:txBody>
        </p:sp>
        <p:sp>
          <p:nvSpPr>
            <p:cNvPr id="23" name="TextBox 36">
              <a:extLst>
                <a:ext uri="{FF2B5EF4-FFF2-40B4-BE49-F238E27FC236}">
                  <a16:creationId xmlns:a16="http://schemas.microsoft.com/office/drawing/2014/main" id="{FB7EFDE6-58B9-A68B-EFDB-BCFC856906BA}"/>
                </a:ext>
              </a:extLst>
            </p:cNvPr>
            <p:cNvSpPr txBox="1"/>
            <p:nvPr/>
          </p:nvSpPr>
          <p:spPr>
            <a:xfrm>
              <a:off x="7667294" y="6245750"/>
              <a:ext cx="4281578" cy="1200329"/>
            </a:xfrm>
            <a:prstGeom prst="rect">
              <a:avLst/>
            </a:prstGeom>
            <a:noFill/>
          </p:spPr>
          <p:txBody>
            <a:bodyPr wrap="square">
              <a:spAutoFit/>
            </a:bodyPr>
            <a:lstStyle/>
            <a:p>
              <a:r>
                <a:rPr lang="zh-CN" altLang="en-US" sz="1200" dirty="0">
                  <a:solidFill>
                    <a:schemeClr val="accent1"/>
                  </a:solidFill>
                  <a:latin typeface="ui-monospace"/>
                </a:rPr>
                <a:t>语句覆盖：覆盖每个语句，分支不执行语句时可以不覆盖</a:t>
              </a:r>
              <a:endParaRPr lang="en-US" altLang="zh-CN" sz="1200" dirty="0">
                <a:solidFill>
                  <a:schemeClr val="accent1"/>
                </a:solidFill>
                <a:latin typeface="ui-monospace"/>
              </a:endParaRPr>
            </a:p>
            <a:p>
              <a:r>
                <a:rPr lang="zh-CN" altLang="en-US" sz="1200" dirty="0">
                  <a:solidFill>
                    <a:schemeClr val="accent1"/>
                  </a:solidFill>
                  <a:latin typeface="ui-monospace"/>
                </a:rPr>
                <a:t>判定</a:t>
              </a:r>
              <a:r>
                <a:rPr lang="en-US" altLang="zh-CN" sz="1200" dirty="0">
                  <a:solidFill>
                    <a:schemeClr val="accent1"/>
                  </a:solidFill>
                  <a:latin typeface="ui-monospace"/>
                </a:rPr>
                <a:t>(</a:t>
              </a:r>
              <a:r>
                <a:rPr lang="zh-CN" altLang="en-US" sz="1200" dirty="0">
                  <a:solidFill>
                    <a:schemeClr val="accent1"/>
                  </a:solidFill>
                  <a:latin typeface="ui-monospace"/>
                </a:rPr>
                <a:t>分支</a:t>
              </a:r>
              <a:r>
                <a:rPr lang="en-US" altLang="zh-CN" sz="1200" dirty="0">
                  <a:solidFill>
                    <a:schemeClr val="accent1"/>
                  </a:solidFill>
                  <a:latin typeface="ui-monospace"/>
                </a:rPr>
                <a:t>)</a:t>
              </a:r>
              <a:r>
                <a:rPr lang="zh-CN" altLang="en-US" sz="1200" dirty="0">
                  <a:solidFill>
                    <a:schemeClr val="accent1"/>
                  </a:solidFill>
                  <a:latin typeface="ui-monospace"/>
                </a:rPr>
                <a:t>覆盖：每个判定表达式的结果都要真假覆盖</a:t>
              </a:r>
              <a:endParaRPr lang="en-US" altLang="zh-CN" sz="1200" dirty="0">
                <a:solidFill>
                  <a:schemeClr val="accent1"/>
                </a:solidFill>
                <a:latin typeface="ui-monospace"/>
              </a:endParaRPr>
            </a:p>
            <a:p>
              <a:r>
                <a:rPr lang="zh-CN" altLang="en-US" sz="1200" dirty="0">
                  <a:solidFill>
                    <a:schemeClr val="accent1"/>
                  </a:solidFill>
                  <a:latin typeface="ui-monospace"/>
                </a:rPr>
                <a:t>条件覆盖：逻辑条件的可能值都要真假覆盖 </a:t>
              </a:r>
              <a:r>
                <a:rPr lang="en-US" altLang="zh-CN" sz="1200" dirty="0">
                  <a:solidFill>
                    <a:schemeClr val="accent1"/>
                  </a:solidFill>
                  <a:latin typeface="ui-monospace"/>
                </a:rPr>
                <a:t>A&gt;0 B&gt;0/A&lt;0 B&lt;0</a:t>
              </a:r>
            </a:p>
            <a:p>
              <a:r>
                <a:rPr lang="zh-CN" altLang="en-US" sz="1200" dirty="0">
                  <a:solidFill>
                    <a:schemeClr val="accent1"/>
                  </a:solidFill>
                  <a:latin typeface="ui-monospace"/>
                </a:rPr>
                <a:t>判定</a:t>
              </a:r>
              <a:r>
                <a:rPr lang="en-US" altLang="zh-CN" sz="1200" dirty="0">
                  <a:solidFill>
                    <a:schemeClr val="accent1"/>
                  </a:solidFill>
                  <a:latin typeface="ui-monospace"/>
                </a:rPr>
                <a:t>/</a:t>
              </a:r>
              <a:r>
                <a:rPr lang="zh-CN" altLang="en-US" sz="1200" dirty="0">
                  <a:solidFill>
                    <a:schemeClr val="accent1"/>
                  </a:solidFill>
                  <a:latin typeface="ui-monospace"/>
                </a:rPr>
                <a:t>条件覆盖：条件可能值和判定结果都要真假覆盖</a:t>
              </a:r>
              <a:endParaRPr lang="en-US" altLang="zh-CN" sz="1200" dirty="0">
                <a:solidFill>
                  <a:schemeClr val="accent1"/>
                </a:solidFill>
                <a:latin typeface="ui-monospace"/>
              </a:endParaRPr>
            </a:p>
            <a:p>
              <a:r>
                <a:rPr lang="zh-CN" altLang="en-US" sz="1200" dirty="0">
                  <a:solidFill>
                    <a:schemeClr val="accent1"/>
                  </a:solidFill>
                  <a:latin typeface="ui-monospace"/>
                </a:rPr>
                <a:t>条件组合覆盖：条件可能值组合覆盖，满足上述三个</a:t>
              </a:r>
              <a:endParaRPr lang="en-US" altLang="zh-CN" sz="1200" dirty="0">
                <a:solidFill>
                  <a:schemeClr val="accent1"/>
                </a:solidFill>
                <a:latin typeface="ui-monospace"/>
              </a:endParaRPr>
            </a:p>
            <a:p>
              <a:r>
                <a:rPr lang="zh-CN" altLang="en-US" sz="1200" dirty="0">
                  <a:solidFill>
                    <a:schemeClr val="accent1"/>
                  </a:solidFill>
                  <a:latin typeface="ui-monospace"/>
                </a:rPr>
                <a:t>路径覆盖：覆盖被测试程序中的所有可能路径</a:t>
              </a:r>
              <a:endParaRPr lang="en-US" altLang="zh-CN" sz="1200" dirty="0">
                <a:solidFill>
                  <a:schemeClr val="accent1"/>
                </a:solidFill>
                <a:latin typeface="ui-monospace"/>
              </a:endParaRPr>
            </a:p>
          </p:txBody>
        </p:sp>
      </p:grpSp>
      <p:pic>
        <p:nvPicPr>
          <p:cNvPr id="49" name="Picture 48">
            <a:extLst>
              <a:ext uri="{FF2B5EF4-FFF2-40B4-BE49-F238E27FC236}">
                <a16:creationId xmlns:a16="http://schemas.microsoft.com/office/drawing/2014/main" id="{49B7C1FA-8118-26C1-7415-4AD230655014}"/>
              </a:ext>
            </a:extLst>
          </p:cNvPr>
          <p:cNvPicPr>
            <a:picLocks noChangeAspect="1"/>
          </p:cNvPicPr>
          <p:nvPr/>
        </p:nvPicPr>
        <p:blipFill>
          <a:blip r:embed="rId3"/>
          <a:stretch>
            <a:fillRect/>
          </a:stretch>
        </p:blipFill>
        <p:spPr>
          <a:xfrm>
            <a:off x="9038927" y="4880276"/>
            <a:ext cx="2950558" cy="579518"/>
          </a:xfrm>
          <a:prstGeom prst="rect">
            <a:avLst/>
          </a:prstGeom>
        </p:spPr>
      </p:pic>
      <p:grpSp>
        <p:nvGrpSpPr>
          <p:cNvPr id="50" name="Group 25">
            <a:extLst>
              <a:ext uri="{FF2B5EF4-FFF2-40B4-BE49-F238E27FC236}">
                <a16:creationId xmlns:a16="http://schemas.microsoft.com/office/drawing/2014/main" id="{74493490-40E1-C078-D597-3971FED5AB99}"/>
              </a:ext>
            </a:extLst>
          </p:cNvPr>
          <p:cNvGrpSpPr/>
          <p:nvPr/>
        </p:nvGrpSpPr>
        <p:grpSpPr>
          <a:xfrm>
            <a:off x="7655226" y="5525425"/>
            <a:ext cx="4386653" cy="572261"/>
            <a:chOff x="7614613" y="5950488"/>
            <a:chExt cx="4386653" cy="572261"/>
          </a:xfrm>
        </p:grpSpPr>
        <p:sp>
          <p:nvSpPr>
            <p:cNvPr id="51" name="Rectangle: Rounded Corners 35">
              <a:extLst>
                <a:ext uri="{FF2B5EF4-FFF2-40B4-BE49-F238E27FC236}">
                  <a16:creationId xmlns:a16="http://schemas.microsoft.com/office/drawing/2014/main" id="{A75CB023-CD18-4198-6EFF-644C192B0758}"/>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a:t>
              </a:r>
              <a:r>
                <a:rPr lang="en-US" altLang="zh-CN" sz="1200" dirty="0">
                  <a:solidFill>
                    <a:schemeClr val="bg1"/>
                  </a:solidFill>
                  <a:latin typeface="ui-monospace"/>
                </a:rPr>
                <a:t>McCabe</a:t>
              </a:r>
              <a:r>
                <a:rPr lang="zh-CN" altLang="en-US" sz="1200" dirty="0">
                  <a:solidFill>
                    <a:schemeClr val="bg1"/>
                  </a:solidFill>
                  <a:latin typeface="ui-monospace"/>
                </a:rPr>
                <a:t>度量法</a:t>
              </a:r>
              <a:endParaRPr lang="en-US" sz="1200" dirty="0">
                <a:solidFill>
                  <a:schemeClr val="bg1"/>
                </a:solidFill>
              </a:endParaRPr>
            </a:p>
          </p:txBody>
        </p:sp>
        <p:sp>
          <p:nvSpPr>
            <p:cNvPr id="52" name="TextBox 36">
              <a:extLst>
                <a:ext uri="{FF2B5EF4-FFF2-40B4-BE49-F238E27FC236}">
                  <a16:creationId xmlns:a16="http://schemas.microsoft.com/office/drawing/2014/main" id="{94CA61FB-A8A6-C1C0-D61D-3A0CAFAB9E93}"/>
                </a:ext>
              </a:extLst>
            </p:cNvPr>
            <p:cNvSpPr txBox="1"/>
            <p:nvPr/>
          </p:nvSpPr>
          <p:spPr>
            <a:xfrm>
              <a:off x="7667294" y="6245750"/>
              <a:ext cx="4281578" cy="276999"/>
            </a:xfrm>
            <a:prstGeom prst="rect">
              <a:avLst/>
            </a:prstGeom>
            <a:noFill/>
          </p:spPr>
          <p:txBody>
            <a:bodyPr wrap="square">
              <a:spAutoFit/>
            </a:bodyPr>
            <a:lstStyle/>
            <a:p>
              <a:r>
                <a:rPr lang="en-US" altLang="zh-CN" sz="1200" dirty="0">
                  <a:solidFill>
                    <a:schemeClr val="accent1"/>
                  </a:solidFill>
                  <a:latin typeface="ui-monospace"/>
                </a:rPr>
                <a:t>V(G)=m-n+2 m</a:t>
              </a:r>
              <a:r>
                <a:rPr lang="zh-CN" altLang="en-US" sz="1200" dirty="0">
                  <a:solidFill>
                    <a:schemeClr val="accent1"/>
                  </a:solidFill>
                  <a:latin typeface="ui-monospace"/>
                </a:rPr>
                <a:t>为有向弧数，</a:t>
              </a:r>
              <a:r>
                <a:rPr lang="en-US" altLang="zh-CN" sz="1200" dirty="0">
                  <a:solidFill>
                    <a:schemeClr val="accent1"/>
                  </a:solidFill>
                  <a:latin typeface="ui-monospace"/>
                </a:rPr>
                <a:t>n</a:t>
              </a:r>
              <a:r>
                <a:rPr lang="zh-CN" altLang="en-US" sz="1200" dirty="0">
                  <a:solidFill>
                    <a:schemeClr val="accent1"/>
                  </a:solidFill>
                  <a:latin typeface="ui-monospace"/>
                </a:rPr>
                <a:t>为节点数</a:t>
              </a:r>
              <a:endParaRPr lang="en-US" altLang="zh-CN" sz="1200" dirty="0">
                <a:solidFill>
                  <a:schemeClr val="accent1"/>
                </a:solidFill>
                <a:latin typeface="ui-monospace"/>
              </a:endParaRPr>
            </a:p>
          </p:txBody>
        </p:sp>
      </p:grpSp>
    </p:spTree>
    <p:extLst>
      <p:ext uri="{BB962C8B-B14F-4D97-AF65-F5344CB8AC3E}">
        <p14:creationId xmlns:p14="http://schemas.microsoft.com/office/powerpoint/2010/main" val="16532707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59E34FE-50E9-2B2C-8E2C-CB9E2A59BC7F}"/>
              </a:ext>
            </a:extLst>
          </p:cNvPr>
          <p:cNvPicPr>
            <a:picLocks noChangeAspect="1"/>
          </p:cNvPicPr>
          <p:nvPr/>
        </p:nvPicPr>
        <p:blipFill>
          <a:blip r:embed="rId2"/>
          <a:stretch>
            <a:fillRect/>
          </a:stretch>
        </p:blipFill>
        <p:spPr>
          <a:xfrm>
            <a:off x="9299783" y="1659233"/>
            <a:ext cx="2742872" cy="963895"/>
          </a:xfrm>
          <a:prstGeom prst="rect">
            <a:avLst/>
          </a:prstGeom>
        </p:spPr>
      </p:pic>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97031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软件工程</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过程模型</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需求分析</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系统设计</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系统测试</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运行和维护</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软件质量和度量</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项目管理</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4386653" cy="1864922"/>
            <a:chOff x="7614613" y="5950488"/>
            <a:chExt cx="4386653" cy="1864922"/>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▶运行和维护</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4281578" cy="1569660"/>
            </a:xfrm>
            <a:prstGeom prst="rect">
              <a:avLst/>
            </a:prstGeom>
            <a:noFill/>
          </p:spPr>
          <p:txBody>
            <a:bodyPr wrap="square">
              <a:spAutoFit/>
            </a:bodyPr>
            <a:lstStyle/>
            <a:p>
              <a:r>
                <a:rPr lang="zh-CN" altLang="en-US" sz="1200" dirty="0">
                  <a:solidFill>
                    <a:schemeClr val="accent1"/>
                  </a:solidFill>
                  <a:latin typeface="ui-monospace"/>
                </a:rPr>
                <a:t>对软件进行修复和改进，以纠正已经发现的错误或缺陷，并进行功能扩展或性能优化</a:t>
              </a:r>
              <a:endParaRPr lang="en-US" altLang="zh-CN" sz="1200" dirty="0">
                <a:solidFill>
                  <a:schemeClr val="accent1"/>
                </a:solidFill>
                <a:latin typeface="ui-monospace"/>
              </a:endParaRPr>
            </a:p>
            <a:p>
              <a:r>
                <a:rPr lang="zh-CN" altLang="en-US" sz="1200" dirty="0">
                  <a:solidFill>
                    <a:schemeClr val="accent1"/>
                  </a:solidFill>
                  <a:latin typeface="ui-monospace"/>
                </a:rPr>
                <a:t>系统可维护性评价指标：</a:t>
              </a:r>
              <a:r>
                <a:rPr lang="zh-CN" altLang="en-US" sz="1200" b="1" dirty="0">
                  <a:solidFill>
                    <a:schemeClr val="accent1"/>
                  </a:solidFill>
                  <a:latin typeface="ui-monospace"/>
                </a:rPr>
                <a:t>可理解性、可测试性、可修改性</a:t>
              </a:r>
              <a:endParaRPr lang="en-US" altLang="zh-CN" sz="1200" dirty="0">
                <a:solidFill>
                  <a:schemeClr val="accent1"/>
                </a:solidFill>
                <a:latin typeface="ui-monospace"/>
              </a:endParaRPr>
            </a:p>
            <a:p>
              <a:r>
                <a:rPr lang="zh-CN" altLang="en-US" sz="1200" dirty="0">
                  <a:solidFill>
                    <a:schemeClr val="accent1"/>
                  </a:solidFill>
                  <a:latin typeface="ui-monospace"/>
                </a:rPr>
                <a:t>维护期很长，更复杂，在每个阶段都需要考虑提高可维护性</a:t>
              </a:r>
              <a:endParaRPr lang="en-US" altLang="zh-CN" sz="1200" dirty="0">
                <a:solidFill>
                  <a:schemeClr val="accent1"/>
                </a:solidFill>
                <a:latin typeface="ui-monospace"/>
              </a:endParaRPr>
            </a:p>
            <a:p>
              <a:r>
                <a:rPr lang="zh-CN" altLang="en-US" sz="1200" dirty="0">
                  <a:solidFill>
                    <a:schemeClr val="accent1"/>
                  </a:solidFill>
                  <a:latin typeface="ui-monospace"/>
                </a:rPr>
                <a:t>软件文档是软件可维护性的决定因素：用户文档、系统文档</a:t>
              </a:r>
              <a:endParaRPr lang="en-US" altLang="zh-CN" sz="1200" dirty="0">
                <a:solidFill>
                  <a:schemeClr val="accent1"/>
                </a:solidFill>
                <a:latin typeface="ui-monospace"/>
              </a:endParaRPr>
            </a:p>
            <a:p>
              <a:r>
                <a:rPr lang="zh-CN" altLang="en-US" sz="1200" dirty="0">
                  <a:solidFill>
                    <a:schemeClr val="accent1"/>
                  </a:solidFill>
                  <a:latin typeface="ui-monospace"/>
                </a:rPr>
                <a:t>高质量文档可以提高开发质量，工作量大，只好不坏</a:t>
              </a:r>
              <a:endParaRPr lang="en-US" altLang="zh-CN" sz="1200" dirty="0">
                <a:solidFill>
                  <a:schemeClr val="accent1"/>
                </a:solidFill>
                <a:latin typeface="ui-monospace"/>
              </a:endParaRPr>
            </a:p>
            <a:p>
              <a:r>
                <a:rPr lang="zh-CN" altLang="en-US" sz="1200" dirty="0">
                  <a:solidFill>
                    <a:schemeClr val="accent1"/>
                  </a:solidFill>
                  <a:latin typeface="ui-monospace"/>
                </a:rPr>
                <a:t>内容：硬件维护、软件维护、数据维护</a:t>
              </a:r>
              <a:endParaRPr lang="en-US" altLang="zh-CN" sz="1200" dirty="0">
                <a:solidFill>
                  <a:schemeClr val="accent1"/>
                </a:solidFill>
                <a:latin typeface="ui-monospace"/>
              </a:endParaRPr>
            </a:p>
            <a:p>
              <a:r>
                <a:rPr lang="zh-CN" altLang="en-US" sz="1200" dirty="0">
                  <a:solidFill>
                    <a:schemeClr val="accent1"/>
                  </a:solidFill>
                  <a:latin typeface="ui-monospace"/>
                </a:rPr>
                <a:t>软件可维护性类型：</a:t>
              </a:r>
              <a:endParaRPr lang="en-US" altLang="zh-CN" sz="1200" dirty="0">
                <a:solidFill>
                  <a:schemeClr val="accent1"/>
                </a:solidFill>
                <a:latin typeface="ui-monospace"/>
              </a:endParaRPr>
            </a:p>
          </p:txBody>
        </p:sp>
      </p:grpSp>
      <p:grpSp>
        <p:nvGrpSpPr>
          <p:cNvPr id="33" name="Group 25">
            <a:extLst>
              <a:ext uri="{FF2B5EF4-FFF2-40B4-BE49-F238E27FC236}">
                <a16:creationId xmlns:a16="http://schemas.microsoft.com/office/drawing/2014/main" id="{B8FA9490-77B4-E4EA-AA14-98492AF3D1D7}"/>
              </a:ext>
            </a:extLst>
          </p:cNvPr>
          <p:cNvGrpSpPr/>
          <p:nvPr/>
        </p:nvGrpSpPr>
        <p:grpSpPr>
          <a:xfrm>
            <a:off x="7680687" y="71394"/>
            <a:ext cx="4386653" cy="1864922"/>
            <a:chOff x="7614613" y="5950488"/>
            <a:chExt cx="4386653" cy="1864922"/>
          </a:xfrm>
        </p:grpSpPr>
        <p:sp>
          <p:nvSpPr>
            <p:cNvPr id="34" name="Rectangle: Rounded Corners 35">
              <a:extLst>
                <a:ext uri="{FF2B5EF4-FFF2-40B4-BE49-F238E27FC236}">
                  <a16:creationId xmlns:a16="http://schemas.microsoft.com/office/drawing/2014/main" id="{9B0280EF-C067-9382-6455-DC4DFA9BABC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▶进度安排</a:t>
              </a:r>
              <a:endParaRPr lang="en-US" sz="1200" dirty="0">
                <a:solidFill>
                  <a:schemeClr val="bg1"/>
                </a:solidFill>
              </a:endParaRPr>
            </a:p>
          </p:txBody>
        </p:sp>
        <p:sp>
          <p:nvSpPr>
            <p:cNvPr id="35" name="TextBox 36">
              <a:extLst>
                <a:ext uri="{FF2B5EF4-FFF2-40B4-BE49-F238E27FC236}">
                  <a16:creationId xmlns:a16="http://schemas.microsoft.com/office/drawing/2014/main" id="{501076B1-418C-C120-5596-4155B0B6B970}"/>
                </a:ext>
              </a:extLst>
            </p:cNvPr>
            <p:cNvSpPr txBox="1"/>
            <p:nvPr/>
          </p:nvSpPr>
          <p:spPr>
            <a:xfrm>
              <a:off x="7667294" y="6245750"/>
              <a:ext cx="4281578" cy="1569660"/>
            </a:xfrm>
            <a:prstGeom prst="rect">
              <a:avLst/>
            </a:prstGeom>
            <a:noFill/>
          </p:spPr>
          <p:txBody>
            <a:bodyPr wrap="square">
              <a:spAutoFit/>
            </a:bodyPr>
            <a:lstStyle/>
            <a:p>
              <a:r>
                <a:rPr lang="zh-CN" altLang="en-US" sz="1200" dirty="0">
                  <a:solidFill>
                    <a:schemeClr val="accent1"/>
                  </a:solidFill>
                  <a:latin typeface="ui-monospace"/>
                </a:rPr>
                <a:t>甘特图</a:t>
              </a:r>
              <a:r>
                <a:rPr lang="en-US" altLang="zh-CN" sz="1200" dirty="0">
                  <a:solidFill>
                    <a:schemeClr val="accent1"/>
                  </a:solidFill>
                  <a:latin typeface="ui-monospace"/>
                </a:rPr>
                <a:t>(Gantt)</a:t>
              </a:r>
              <a:r>
                <a:rPr lang="zh-CN" altLang="en-US" sz="1200" dirty="0">
                  <a:solidFill>
                    <a:schemeClr val="accent1"/>
                  </a:solidFill>
                  <a:latin typeface="ui-monospace"/>
                </a:rPr>
                <a:t>：开始</a:t>
              </a:r>
              <a:r>
                <a:rPr lang="en-US" altLang="zh-CN" sz="1200" dirty="0">
                  <a:solidFill>
                    <a:schemeClr val="accent1"/>
                  </a:solidFill>
                  <a:latin typeface="ui-monospace"/>
                </a:rPr>
                <a:t>/</a:t>
              </a:r>
              <a:r>
                <a:rPr lang="zh-CN" altLang="en-US" sz="1200" dirty="0">
                  <a:solidFill>
                    <a:schemeClr val="accent1"/>
                  </a:solidFill>
                  <a:latin typeface="ui-monospace"/>
                </a:rPr>
                <a:t>结束</a:t>
              </a:r>
              <a:r>
                <a:rPr lang="en-US" altLang="zh-CN" sz="1200" dirty="0">
                  <a:solidFill>
                    <a:schemeClr val="accent1"/>
                  </a:solidFill>
                  <a:latin typeface="ui-monospace"/>
                </a:rPr>
                <a:t>/</a:t>
              </a:r>
              <a:r>
                <a:rPr lang="zh-CN" altLang="en-US" sz="1200" dirty="0">
                  <a:solidFill>
                    <a:schemeClr val="accent1"/>
                  </a:solidFill>
                  <a:latin typeface="ui-monospace"/>
                </a:rPr>
                <a:t>进展情况</a:t>
              </a:r>
              <a:r>
                <a:rPr lang="en-US" altLang="zh-CN" sz="1200" dirty="0">
                  <a:solidFill>
                    <a:schemeClr val="accent1"/>
                  </a:solidFill>
                  <a:latin typeface="ui-monospace"/>
                </a:rPr>
                <a:t>/</a:t>
              </a:r>
              <a:r>
                <a:rPr lang="zh-CN" altLang="en-US" sz="1200" dirty="0">
                  <a:solidFill>
                    <a:schemeClr val="accent1"/>
                  </a:solidFill>
                  <a:latin typeface="ui-monospace"/>
                </a:rPr>
                <a:t>并行信息，不能确定依赖关系和关键任务</a:t>
              </a:r>
              <a:endParaRPr lang="en-US" altLang="zh-CN" sz="1200" dirty="0">
                <a:solidFill>
                  <a:schemeClr val="accent1"/>
                </a:solidFill>
                <a:latin typeface="ui-monospace"/>
              </a:endParaRPr>
            </a:p>
            <a:p>
              <a:r>
                <a:rPr lang="zh-CN" altLang="en-US" sz="1200" dirty="0">
                  <a:solidFill>
                    <a:schemeClr val="accent1"/>
                  </a:solidFill>
                  <a:latin typeface="ui-monospace"/>
                </a:rPr>
                <a:t>项目计划评审技术图</a:t>
              </a:r>
              <a:r>
                <a:rPr lang="en-US" altLang="zh-CN" sz="1200" dirty="0">
                  <a:solidFill>
                    <a:schemeClr val="accent1"/>
                  </a:solidFill>
                  <a:latin typeface="ui-monospace"/>
                </a:rPr>
                <a:t>(PERT)</a:t>
              </a:r>
              <a:r>
                <a:rPr lang="zh-CN" altLang="en-US" sz="1200" dirty="0">
                  <a:solidFill>
                    <a:schemeClr val="accent1"/>
                  </a:solidFill>
                  <a:latin typeface="ui-monospace"/>
                </a:rPr>
                <a:t>：不能反映并行</a:t>
              </a:r>
              <a:endParaRPr lang="en-US" altLang="zh-CN" sz="1200" dirty="0">
                <a:solidFill>
                  <a:schemeClr val="accent1"/>
                </a:solidFill>
                <a:latin typeface="ui-monospace"/>
              </a:endParaRPr>
            </a:p>
            <a:p>
              <a:r>
                <a:rPr lang="zh-CN" altLang="en-US" sz="1200" dirty="0">
                  <a:solidFill>
                    <a:schemeClr val="accent1"/>
                  </a:solidFill>
                  <a:latin typeface="ui-monospace"/>
                </a:rPr>
                <a:t>正推取大值，反推取小值</a:t>
              </a:r>
              <a:endParaRPr lang="en-US" altLang="zh-CN" sz="1200" dirty="0">
                <a:solidFill>
                  <a:schemeClr val="accent1"/>
                </a:solidFill>
                <a:latin typeface="ui-monospace"/>
              </a:endParaRPr>
            </a:p>
            <a:p>
              <a:r>
                <a:rPr lang="zh-CN" altLang="en-US" sz="1200" dirty="0">
                  <a:solidFill>
                    <a:schemeClr val="accent1"/>
                  </a:solidFill>
                  <a:latin typeface="ui-monospace"/>
                </a:rPr>
                <a:t>松弛时间：最迟</a:t>
              </a:r>
              <a:r>
                <a:rPr lang="en-US" altLang="zh-CN" sz="1200" dirty="0">
                  <a:solidFill>
                    <a:schemeClr val="accent1"/>
                  </a:solidFill>
                  <a:latin typeface="ui-monospace"/>
                </a:rPr>
                <a:t>-</a:t>
              </a:r>
              <a:r>
                <a:rPr lang="zh-CN" altLang="en-US" sz="1200" dirty="0">
                  <a:solidFill>
                    <a:schemeClr val="accent1"/>
                  </a:solidFill>
                  <a:latin typeface="ui-monospace"/>
                </a:rPr>
                <a:t>最早</a:t>
              </a:r>
              <a:endParaRPr lang="en-US" altLang="zh-CN" sz="1200" dirty="0">
                <a:solidFill>
                  <a:schemeClr val="accent1"/>
                </a:solidFill>
                <a:latin typeface="ui-monospace"/>
              </a:endParaRPr>
            </a:p>
            <a:p>
              <a:r>
                <a:rPr lang="zh-CN" altLang="en-US" sz="1200" dirty="0">
                  <a:solidFill>
                    <a:schemeClr val="accent1"/>
                  </a:solidFill>
                  <a:latin typeface="ui-monospace"/>
                </a:rPr>
                <a:t>关键路径：项目的最短工期</a:t>
              </a:r>
              <a:endParaRPr lang="en-US" altLang="zh-CN" sz="1200" dirty="0">
                <a:solidFill>
                  <a:schemeClr val="accent1"/>
                </a:solidFill>
                <a:latin typeface="ui-monospace"/>
              </a:endParaRPr>
            </a:p>
            <a:p>
              <a:r>
                <a:rPr lang="zh-CN" altLang="en-US" sz="1200" dirty="0">
                  <a:solidFill>
                    <a:schemeClr val="accent1"/>
                  </a:solidFill>
                  <a:latin typeface="ui-monospace"/>
                </a:rPr>
                <a:t>项目活动图：里程碑、活动、活动时间</a:t>
              </a:r>
              <a:endParaRPr lang="en-US" altLang="zh-CN" sz="1200" dirty="0">
                <a:solidFill>
                  <a:schemeClr val="accent1"/>
                </a:solidFill>
                <a:latin typeface="ui-monospace"/>
              </a:endParaRPr>
            </a:p>
            <a:p>
              <a:r>
                <a:rPr lang="zh-CN" altLang="en-US" sz="1200" dirty="0">
                  <a:solidFill>
                    <a:schemeClr val="accent1"/>
                  </a:solidFill>
                  <a:latin typeface="ui-monospace"/>
                </a:rPr>
                <a:t>画项目活动图</a:t>
              </a:r>
              <a:endParaRPr lang="en-US" altLang="zh-CN" sz="1200" dirty="0">
                <a:solidFill>
                  <a:schemeClr val="accent1"/>
                </a:solidFill>
                <a:latin typeface="ui-monospace"/>
              </a:endParaRPr>
            </a:p>
          </p:txBody>
        </p:sp>
      </p:grpSp>
      <p:graphicFrame>
        <p:nvGraphicFramePr>
          <p:cNvPr id="16" name="Table 15">
            <a:extLst>
              <a:ext uri="{FF2B5EF4-FFF2-40B4-BE49-F238E27FC236}">
                <a16:creationId xmlns:a16="http://schemas.microsoft.com/office/drawing/2014/main" id="{AEDB96C6-470D-F501-2001-166305FABA5F}"/>
              </a:ext>
            </a:extLst>
          </p:cNvPr>
          <p:cNvGraphicFramePr>
            <a:graphicFrameLocks noGrp="1"/>
          </p:cNvGraphicFramePr>
          <p:nvPr>
            <p:extLst>
              <p:ext uri="{D42A27DB-BD31-4B8C-83A1-F6EECF244321}">
                <p14:modId xmlns:p14="http://schemas.microsoft.com/office/powerpoint/2010/main" val="3860104819"/>
              </p:ext>
            </p:extLst>
          </p:nvPr>
        </p:nvGraphicFramePr>
        <p:xfrm>
          <a:off x="3150285" y="1882444"/>
          <a:ext cx="4281575" cy="1188720"/>
        </p:xfrm>
        <a:graphic>
          <a:graphicData uri="http://schemas.openxmlformats.org/drawingml/2006/table">
            <a:tbl>
              <a:tblPr firstRow="1" bandRow="1">
                <a:tableStyleId>{5C22544A-7EE6-4342-B048-85BDC9FD1C3A}</a:tableStyleId>
              </a:tblPr>
              <a:tblGrid>
                <a:gridCol w="831165">
                  <a:extLst>
                    <a:ext uri="{9D8B030D-6E8A-4147-A177-3AD203B41FA5}">
                      <a16:colId xmlns:a16="http://schemas.microsoft.com/office/drawing/2014/main" val="4196207211"/>
                    </a:ext>
                  </a:extLst>
                </a:gridCol>
                <a:gridCol w="3450410">
                  <a:extLst>
                    <a:ext uri="{9D8B030D-6E8A-4147-A177-3AD203B41FA5}">
                      <a16:colId xmlns:a16="http://schemas.microsoft.com/office/drawing/2014/main" val="3523767036"/>
                    </a:ext>
                  </a:extLst>
                </a:gridCol>
              </a:tblGrid>
              <a:tr h="204220">
                <a:tc>
                  <a:txBody>
                    <a:bodyPr/>
                    <a:lstStyle/>
                    <a:p>
                      <a:pPr algn="ctr"/>
                      <a:r>
                        <a:rPr lang="zh-CN" altLang="en-US" sz="900" b="1" dirty="0">
                          <a:solidFill>
                            <a:schemeClr val="tx1"/>
                          </a:solidFill>
                          <a:sym typeface="Wingdings 2" panose="05020102010507070707" pitchFamily="18" charset="2"/>
                        </a:rPr>
                        <a:t>正确性维护</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指改正在系统开发阶段已发生但在系统测试阶段尚未发现的</a:t>
                      </a:r>
                      <a:r>
                        <a:rPr lang="zh-CN" altLang="en-US" sz="900" b="1" dirty="0">
                          <a:solidFill>
                            <a:schemeClr val="tx1"/>
                          </a:solidFill>
                        </a:rPr>
                        <a:t>错误</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1" dirty="0">
                          <a:solidFill>
                            <a:schemeClr val="tx1"/>
                          </a:solidFill>
                        </a:rPr>
                        <a:t>适应性维护</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指使应用软件适应信息技术</a:t>
                      </a:r>
                      <a:r>
                        <a:rPr lang="zh-CN" altLang="en-US" sz="900" b="1" dirty="0">
                          <a:solidFill>
                            <a:schemeClr val="tx1"/>
                          </a:solidFill>
                        </a:rPr>
                        <a:t>变化</a:t>
                      </a:r>
                      <a:r>
                        <a:rPr lang="zh-CN" altLang="en-US" sz="900" b="0" dirty="0">
                          <a:solidFill>
                            <a:schemeClr val="tx1"/>
                          </a:solidFill>
                        </a:rPr>
                        <a:t>和管理需求变化的被动修改</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r h="204220">
                <a:tc>
                  <a:txBody>
                    <a:bodyPr/>
                    <a:lstStyle/>
                    <a:p>
                      <a:pPr algn="ctr"/>
                      <a:r>
                        <a:rPr lang="zh-CN" altLang="en-US" sz="900" b="1" dirty="0">
                          <a:solidFill>
                            <a:schemeClr val="tx1"/>
                          </a:solidFill>
                          <a:sym typeface="Wingdings 2" panose="05020102010507070707" pitchFamily="18" charset="2"/>
                        </a:rPr>
                        <a:t>完</a:t>
                      </a:r>
                      <a:r>
                        <a:rPr lang="en-US" altLang="zh-CN" sz="900" b="1" dirty="0">
                          <a:solidFill>
                            <a:schemeClr val="tx1"/>
                          </a:solidFill>
                          <a:sym typeface="Wingdings 2" panose="05020102010507070707" pitchFamily="18" charset="2"/>
                        </a:rPr>
                        <a:t>/</a:t>
                      </a:r>
                      <a:r>
                        <a:rPr lang="zh-CN" altLang="en-US" sz="900" b="1" dirty="0">
                          <a:solidFill>
                            <a:schemeClr val="tx1"/>
                          </a:solidFill>
                          <a:sym typeface="Wingdings 2" panose="05020102010507070707" pitchFamily="18" charset="2"/>
                        </a:rPr>
                        <a:t>改善性维护</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对已有的软件系统增加一些在系统分析和设计阶段中没有规定的功能与性能特征</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zh-CN" altLang="en-US" sz="900" b="1" dirty="0">
                          <a:solidFill>
                            <a:schemeClr val="tx1"/>
                          </a:solidFill>
                          <a:sym typeface="Wingdings 2" panose="05020102010507070707" pitchFamily="18" charset="2"/>
                        </a:rPr>
                        <a:t>预防性维护</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为了改进应用软件的可靠性和可维护性，主动增加</a:t>
                      </a:r>
                      <a:r>
                        <a:rPr lang="zh-CN" altLang="en-US" sz="900" b="1" dirty="0">
                          <a:solidFill>
                            <a:schemeClr val="tx1"/>
                          </a:solidFill>
                        </a:rPr>
                        <a:t>预防性</a:t>
                      </a:r>
                      <a:r>
                        <a:rPr lang="zh-CN" altLang="en-US" sz="900" b="0" dirty="0">
                          <a:solidFill>
                            <a:schemeClr val="tx1"/>
                          </a:solidFill>
                        </a:rPr>
                        <a:t>的新功能，使应用系统适应各类变化而不被淘汰</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bl>
          </a:graphicData>
        </a:graphic>
      </p:graphicFrame>
      <p:grpSp>
        <p:nvGrpSpPr>
          <p:cNvPr id="17" name="Group 25">
            <a:extLst>
              <a:ext uri="{FF2B5EF4-FFF2-40B4-BE49-F238E27FC236}">
                <a16:creationId xmlns:a16="http://schemas.microsoft.com/office/drawing/2014/main" id="{AB8BFB7F-8E37-0AB3-9638-774CC38D0B8D}"/>
              </a:ext>
            </a:extLst>
          </p:cNvPr>
          <p:cNvGrpSpPr/>
          <p:nvPr/>
        </p:nvGrpSpPr>
        <p:grpSpPr>
          <a:xfrm>
            <a:off x="3097889" y="3138431"/>
            <a:ext cx="4386653" cy="941593"/>
            <a:chOff x="7614613" y="5950488"/>
            <a:chExt cx="4386653" cy="941593"/>
          </a:xfrm>
        </p:grpSpPr>
        <p:sp>
          <p:nvSpPr>
            <p:cNvPr id="19" name="Rectangle: Rounded Corners 35">
              <a:extLst>
                <a:ext uri="{FF2B5EF4-FFF2-40B4-BE49-F238E27FC236}">
                  <a16:creationId xmlns:a16="http://schemas.microsoft.com/office/drawing/2014/main" id="{09094ED2-A10C-4F31-F03B-6ED8042FA4C4}"/>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▶软件质量</a:t>
              </a:r>
              <a:endParaRPr lang="en-US" sz="1200" dirty="0">
                <a:solidFill>
                  <a:schemeClr val="bg1"/>
                </a:solidFill>
              </a:endParaRPr>
            </a:p>
          </p:txBody>
        </p:sp>
        <p:sp>
          <p:nvSpPr>
            <p:cNvPr id="20" name="TextBox 36">
              <a:extLst>
                <a:ext uri="{FF2B5EF4-FFF2-40B4-BE49-F238E27FC236}">
                  <a16:creationId xmlns:a16="http://schemas.microsoft.com/office/drawing/2014/main" id="{87E9CB79-1B69-B3EC-829C-55003F982A12}"/>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可靠性：</a:t>
              </a:r>
              <a:r>
                <a:rPr lang="en-US" altLang="zh-CN" sz="1200" dirty="0">
                  <a:solidFill>
                    <a:schemeClr val="accent1"/>
                  </a:solidFill>
                  <a:latin typeface="ui-monospace"/>
                </a:rPr>
                <a:t>MTTF/(1+MTTF) </a:t>
              </a:r>
              <a:r>
                <a:rPr lang="zh-CN" altLang="en-US" sz="1200" dirty="0">
                  <a:solidFill>
                    <a:schemeClr val="accent1"/>
                  </a:solidFill>
                  <a:latin typeface="ui-monospace"/>
                </a:rPr>
                <a:t>平均无故障时间 </a:t>
              </a:r>
              <a:r>
                <a:rPr lang="en-US" altLang="zh-CN" sz="1200" dirty="0" err="1">
                  <a:solidFill>
                    <a:schemeClr val="accent1"/>
                  </a:solidFill>
                  <a:latin typeface="ui-monospace"/>
                </a:rPr>
                <a:t>ToFailure</a:t>
              </a:r>
              <a:endParaRPr lang="en-US" altLang="zh-CN" sz="1200" dirty="0">
                <a:solidFill>
                  <a:schemeClr val="accent1"/>
                </a:solidFill>
                <a:latin typeface="ui-monospace"/>
              </a:endParaRPr>
            </a:p>
            <a:p>
              <a:r>
                <a:rPr lang="zh-CN" altLang="en-US" sz="1200" dirty="0">
                  <a:solidFill>
                    <a:schemeClr val="accent1"/>
                  </a:solidFill>
                  <a:latin typeface="ui-monospace"/>
                </a:rPr>
                <a:t>可用性：</a:t>
              </a:r>
              <a:r>
                <a:rPr lang="en-US" altLang="zh-CN" sz="1200" dirty="0">
                  <a:solidFill>
                    <a:schemeClr val="accent1"/>
                  </a:solidFill>
                  <a:latin typeface="ui-monospace"/>
                </a:rPr>
                <a:t>MTBF/(1+MTBF) </a:t>
              </a:r>
              <a:r>
                <a:rPr lang="zh-CN" altLang="en-US" sz="1200" dirty="0">
                  <a:solidFill>
                    <a:schemeClr val="accent1"/>
                  </a:solidFill>
                  <a:latin typeface="ui-monospace"/>
                </a:rPr>
                <a:t>平均失效间隔时间 </a:t>
              </a:r>
              <a:r>
                <a:rPr lang="en-US" altLang="zh-CN" sz="1200" dirty="0" err="1">
                  <a:solidFill>
                    <a:schemeClr val="accent1"/>
                  </a:solidFill>
                  <a:latin typeface="ui-monospace"/>
                </a:rPr>
                <a:t>BetweenFailure</a:t>
              </a:r>
              <a:endParaRPr lang="en-US" altLang="zh-CN" sz="1200" dirty="0">
                <a:solidFill>
                  <a:schemeClr val="accent1"/>
                </a:solidFill>
                <a:latin typeface="ui-monospace"/>
              </a:endParaRPr>
            </a:p>
            <a:p>
              <a:r>
                <a:rPr lang="zh-CN" altLang="en-US" sz="1200" dirty="0">
                  <a:solidFill>
                    <a:schemeClr val="accent1"/>
                  </a:solidFill>
                  <a:latin typeface="ui-monospace"/>
                </a:rPr>
                <a:t>可维护性：</a:t>
              </a:r>
              <a:r>
                <a:rPr lang="en-US" altLang="zh-CN" sz="1200" dirty="0">
                  <a:solidFill>
                    <a:schemeClr val="accent1"/>
                  </a:solidFill>
                  <a:latin typeface="ui-monospace"/>
                </a:rPr>
                <a:t>1/(1+MTTR)</a:t>
              </a:r>
              <a:r>
                <a:rPr lang="zh-CN" altLang="en-US" sz="1200" dirty="0">
                  <a:solidFill>
                    <a:schemeClr val="accent1"/>
                  </a:solidFill>
                  <a:latin typeface="ui-monospace"/>
                </a:rPr>
                <a:t> 平均修复时间 </a:t>
              </a:r>
              <a:r>
                <a:rPr lang="en-US" altLang="zh-CN" sz="1200" dirty="0" err="1">
                  <a:solidFill>
                    <a:schemeClr val="accent1"/>
                  </a:solidFill>
                  <a:latin typeface="ui-monospace"/>
                </a:rPr>
                <a:t>ToRepair</a:t>
              </a:r>
              <a:endParaRPr lang="en-US" altLang="zh-CN" sz="1200" dirty="0">
                <a:solidFill>
                  <a:schemeClr val="accent1"/>
                </a:solidFill>
                <a:latin typeface="ui-monospace"/>
              </a:endParaRPr>
            </a:p>
          </p:txBody>
        </p:sp>
      </p:grpSp>
      <p:grpSp>
        <p:nvGrpSpPr>
          <p:cNvPr id="21" name="Group 25">
            <a:extLst>
              <a:ext uri="{FF2B5EF4-FFF2-40B4-BE49-F238E27FC236}">
                <a16:creationId xmlns:a16="http://schemas.microsoft.com/office/drawing/2014/main" id="{37965FD8-8699-E7D0-C514-EFD08514EE46}"/>
              </a:ext>
            </a:extLst>
          </p:cNvPr>
          <p:cNvGrpSpPr/>
          <p:nvPr/>
        </p:nvGrpSpPr>
        <p:grpSpPr>
          <a:xfrm>
            <a:off x="3097745" y="4102632"/>
            <a:ext cx="4386653" cy="572261"/>
            <a:chOff x="7614613" y="5950488"/>
            <a:chExt cx="4386653" cy="572261"/>
          </a:xfrm>
        </p:grpSpPr>
        <p:sp>
          <p:nvSpPr>
            <p:cNvPr id="24" name="Rectangle: Rounded Corners 35">
              <a:extLst>
                <a:ext uri="{FF2B5EF4-FFF2-40B4-BE49-F238E27FC236}">
                  <a16:creationId xmlns:a16="http://schemas.microsoft.com/office/drawing/2014/main" id="{F5D6B58D-B490-DD6F-4F05-E3AFA0FB1655}"/>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▶沟通路径</a:t>
              </a:r>
              <a:endParaRPr lang="en-US" sz="1200" dirty="0">
                <a:solidFill>
                  <a:schemeClr val="bg1"/>
                </a:solidFill>
              </a:endParaRPr>
            </a:p>
          </p:txBody>
        </p:sp>
        <p:sp>
          <p:nvSpPr>
            <p:cNvPr id="25" name="TextBox 36">
              <a:extLst>
                <a:ext uri="{FF2B5EF4-FFF2-40B4-BE49-F238E27FC236}">
                  <a16:creationId xmlns:a16="http://schemas.microsoft.com/office/drawing/2014/main" id="{F8A1533C-9530-EA01-0523-19ECAF6A3E46}"/>
                </a:ext>
              </a:extLst>
            </p:cNvPr>
            <p:cNvSpPr txBox="1"/>
            <p:nvPr/>
          </p:nvSpPr>
          <p:spPr>
            <a:xfrm>
              <a:off x="7667294" y="6245750"/>
              <a:ext cx="4281578" cy="276999"/>
            </a:xfrm>
            <a:prstGeom prst="rect">
              <a:avLst/>
            </a:prstGeom>
            <a:noFill/>
          </p:spPr>
          <p:txBody>
            <a:bodyPr wrap="square">
              <a:spAutoFit/>
            </a:bodyPr>
            <a:lstStyle/>
            <a:p>
              <a:r>
                <a:rPr lang="en-US" altLang="zh-CN" sz="1200" dirty="0">
                  <a:solidFill>
                    <a:schemeClr val="accent1"/>
                  </a:solidFill>
                  <a:latin typeface="ui-monospace"/>
                </a:rPr>
                <a:t>n*(n-1)/2</a:t>
              </a:r>
            </a:p>
          </p:txBody>
        </p:sp>
      </p:grpSp>
      <p:grpSp>
        <p:nvGrpSpPr>
          <p:cNvPr id="26" name="Group 25">
            <a:extLst>
              <a:ext uri="{FF2B5EF4-FFF2-40B4-BE49-F238E27FC236}">
                <a16:creationId xmlns:a16="http://schemas.microsoft.com/office/drawing/2014/main" id="{85AB66B4-85C9-9BFC-F5F9-DD2C7012E751}"/>
              </a:ext>
            </a:extLst>
          </p:cNvPr>
          <p:cNvGrpSpPr/>
          <p:nvPr/>
        </p:nvGrpSpPr>
        <p:grpSpPr>
          <a:xfrm>
            <a:off x="3097743" y="5485279"/>
            <a:ext cx="4386653" cy="1310925"/>
            <a:chOff x="7614613" y="5950488"/>
            <a:chExt cx="4386653" cy="1310925"/>
          </a:xfrm>
        </p:grpSpPr>
        <p:sp>
          <p:nvSpPr>
            <p:cNvPr id="27" name="Rectangle: Rounded Corners 35">
              <a:extLst>
                <a:ext uri="{FF2B5EF4-FFF2-40B4-BE49-F238E27FC236}">
                  <a16:creationId xmlns:a16="http://schemas.microsoft.com/office/drawing/2014/main" id="{074F3FE6-6CD3-D12E-DD5B-E8E2B07236A8}"/>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▶软件项目估算</a:t>
              </a:r>
              <a:endParaRPr lang="en-US" sz="1200" dirty="0">
                <a:solidFill>
                  <a:schemeClr val="bg1"/>
                </a:solidFill>
              </a:endParaRPr>
            </a:p>
          </p:txBody>
        </p:sp>
        <p:sp>
          <p:nvSpPr>
            <p:cNvPr id="28" name="TextBox 36">
              <a:extLst>
                <a:ext uri="{FF2B5EF4-FFF2-40B4-BE49-F238E27FC236}">
                  <a16:creationId xmlns:a16="http://schemas.microsoft.com/office/drawing/2014/main" id="{5C89EECB-7E4C-4FE7-0AE1-6758672FBD56}"/>
                </a:ext>
              </a:extLst>
            </p:cNvPr>
            <p:cNvSpPr txBox="1"/>
            <p:nvPr/>
          </p:nvSpPr>
          <p:spPr>
            <a:xfrm>
              <a:off x="7667294" y="6245750"/>
              <a:ext cx="4281578" cy="1015663"/>
            </a:xfrm>
            <a:prstGeom prst="rect">
              <a:avLst/>
            </a:prstGeom>
            <a:noFill/>
          </p:spPr>
          <p:txBody>
            <a:bodyPr wrap="square">
              <a:spAutoFit/>
            </a:bodyPr>
            <a:lstStyle/>
            <a:p>
              <a:r>
                <a:rPr lang="en-US" altLang="zh-CN" sz="1200" dirty="0">
                  <a:solidFill>
                    <a:schemeClr val="accent1"/>
                  </a:solidFill>
                  <a:latin typeface="ui-monospace"/>
                </a:rPr>
                <a:t>COCOMO</a:t>
              </a:r>
              <a:r>
                <a:rPr lang="zh-CN" altLang="en-US" sz="1200" dirty="0">
                  <a:solidFill>
                    <a:schemeClr val="accent1"/>
                  </a:solidFill>
                  <a:latin typeface="ui-monospace"/>
                </a:rPr>
                <a:t>估算模型：用于估计软件开发项目的成本、进度和资源需求的模型。包含基本</a:t>
              </a:r>
              <a:r>
                <a:rPr lang="en-US" altLang="zh-CN" sz="1200" dirty="0">
                  <a:solidFill>
                    <a:schemeClr val="accent1"/>
                  </a:solidFill>
                  <a:latin typeface="ui-monospace"/>
                </a:rPr>
                <a:t>(</a:t>
              </a:r>
              <a:r>
                <a:rPr lang="zh-CN" altLang="en-US" sz="1200" dirty="0">
                  <a:solidFill>
                    <a:schemeClr val="accent1"/>
                  </a:solidFill>
                  <a:latin typeface="ui-monospace"/>
                </a:rPr>
                <a:t>静态单变量</a:t>
              </a:r>
              <a:r>
                <a:rPr lang="en-US" altLang="zh-CN" sz="1200" dirty="0">
                  <a:solidFill>
                    <a:schemeClr val="accent1"/>
                  </a:solidFill>
                  <a:latin typeface="ui-monospace"/>
                </a:rPr>
                <a:t>)</a:t>
              </a:r>
              <a:r>
                <a:rPr lang="zh-CN" altLang="en-US" sz="1200" dirty="0">
                  <a:solidFill>
                    <a:schemeClr val="accent1"/>
                  </a:solidFill>
                  <a:latin typeface="ui-monospace"/>
                </a:rPr>
                <a:t>、中级</a:t>
              </a:r>
              <a:r>
                <a:rPr lang="en-US" altLang="zh-CN" sz="1200" dirty="0">
                  <a:solidFill>
                    <a:schemeClr val="accent1"/>
                  </a:solidFill>
                  <a:latin typeface="ui-monospace"/>
                </a:rPr>
                <a:t>(</a:t>
              </a:r>
              <a:r>
                <a:rPr lang="zh-CN" altLang="en-US" sz="1200" dirty="0">
                  <a:solidFill>
                    <a:schemeClr val="accent1"/>
                  </a:solidFill>
                  <a:latin typeface="ui-monospace"/>
                </a:rPr>
                <a:t>静态多变量</a:t>
              </a:r>
              <a:r>
                <a:rPr lang="en-US" altLang="zh-CN" sz="1200" dirty="0">
                  <a:solidFill>
                    <a:schemeClr val="accent1"/>
                  </a:solidFill>
                  <a:latin typeface="ui-monospace"/>
                </a:rPr>
                <a:t>)</a:t>
              </a:r>
              <a:r>
                <a:rPr lang="zh-CN" altLang="en-US" sz="1200" dirty="0">
                  <a:solidFill>
                    <a:schemeClr val="accent1"/>
                  </a:solidFill>
                  <a:latin typeface="ui-monospace"/>
                </a:rPr>
                <a:t>、详细</a:t>
              </a:r>
              <a:r>
                <a:rPr lang="en-US" altLang="zh-CN" sz="1200" dirty="0">
                  <a:solidFill>
                    <a:schemeClr val="accent1"/>
                  </a:solidFill>
                  <a:latin typeface="ui-monospace"/>
                </a:rPr>
                <a:t>(</a:t>
              </a:r>
              <a:r>
                <a:rPr lang="zh-CN" altLang="en-US" sz="1200" dirty="0">
                  <a:solidFill>
                    <a:schemeClr val="accent1"/>
                  </a:solidFill>
                  <a:latin typeface="ui-monospace"/>
                </a:rPr>
                <a:t>系统</a:t>
              </a:r>
              <a:r>
                <a:rPr lang="en-US" altLang="zh-CN" sz="1200" dirty="0">
                  <a:solidFill>
                    <a:schemeClr val="accent1"/>
                  </a:solidFill>
                  <a:latin typeface="ui-monospace"/>
                </a:rPr>
                <a:t>/</a:t>
              </a:r>
              <a:r>
                <a:rPr lang="zh-CN" altLang="en-US" sz="1200" dirty="0">
                  <a:solidFill>
                    <a:schemeClr val="accent1"/>
                  </a:solidFill>
                  <a:latin typeface="ui-monospace"/>
                </a:rPr>
                <a:t>子系统</a:t>
              </a:r>
              <a:r>
                <a:rPr lang="en-US" altLang="zh-CN" sz="1200" dirty="0">
                  <a:solidFill>
                    <a:schemeClr val="accent1"/>
                  </a:solidFill>
                  <a:latin typeface="ui-monospace"/>
                </a:rPr>
                <a:t>/</a:t>
              </a:r>
              <a:r>
                <a:rPr lang="zh-CN" altLang="en-US" sz="1200" dirty="0">
                  <a:solidFill>
                    <a:schemeClr val="accent1"/>
                  </a:solidFill>
                  <a:latin typeface="ui-monospace"/>
                </a:rPr>
                <a:t>模块</a:t>
              </a:r>
              <a:r>
                <a:rPr lang="en-US" altLang="zh-CN" sz="1200" dirty="0">
                  <a:solidFill>
                    <a:schemeClr val="accent1"/>
                  </a:solidFill>
                  <a:latin typeface="ui-monospace"/>
                </a:rPr>
                <a:t>)</a:t>
              </a:r>
            </a:p>
            <a:p>
              <a:r>
                <a:rPr lang="en-US" altLang="zh-CN" sz="1200" dirty="0">
                  <a:solidFill>
                    <a:schemeClr val="accent1"/>
                  </a:solidFill>
                  <a:latin typeface="ui-monospace"/>
                </a:rPr>
                <a:t>COCOMOII</a:t>
              </a:r>
              <a:r>
                <a:rPr lang="zh-CN" altLang="en-US" sz="1200" dirty="0">
                  <a:solidFill>
                    <a:schemeClr val="accent1"/>
                  </a:solidFill>
                  <a:latin typeface="ui-monospace"/>
                </a:rPr>
                <a:t>模型：应用组装模型</a:t>
              </a:r>
              <a:r>
                <a:rPr lang="en-US" altLang="zh-CN" sz="1200" dirty="0">
                  <a:solidFill>
                    <a:schemeClr val="accent1"/>
                  </a:solidFill>
                  <a:latin typeface="ui-monospace"/>
                </a:rPr>
                <a:t>(</a:t>
              </a:r>
              <a:r>
                <a:rPr lang="zh-CN" altLang="en-US" sz="1200" dirty="0">
                  <a:solidFill>
                    <a:schemeClr val="accent1"/>
                  </a:solidFill>
                  <a:latin typeface="ui-monospace"/>
                </a:rPr>
                <a:t>对象点</a:t>
              </a:r>
              <a:r>
                <a:rPr lang="en-US" altLang="zh-CN" sz="1200" dirty="0">
                  <a:solidFill>
                    <a:schemeClr val="accent1"/>
                  </a:solidFill>
                  <a:latin typeface="ui-monospace"/>
                </a:rPr>
                <a:t>)</a:t>
              </a:r>
              <a:r>
                <a:rPr lang="zh-CN" altLang="en-US" sz="1200" dirty="0">
                  <a:solidFill>
                    <a:schemeClr val="accent1"/>
                  </a:solidFill>
                  <a:latin typeface="ui-monospace"/>
                </a:rPr>
                <a:t>、早期设计阶段模型</a:t>
              </a:r>
              <a:r>
                <a:rPr lang="en-US" altLang="zh-CN" sz="1200" dirty="0">
                  <a:solidFill>
                    <a:schemeClr val="accent1"/>
                  </a:solidFill>
                  <a:latin typeface="ui-monospace"/>
                </a:rPr>
                <a:t>(</a:t>
              </a:r>
              <a:r>
                <a:rPr lang="zh-CN" altLang="en-US" sz="1200" dirty="0">
                  <a:solidFill>
                    <a:schemeClr val="accent1"/>
                  </a:solidFill>
                  <a:latin typeface="ui-monospace"/>
                </a:rPr>
                <a:t>功能点</a:t>
              </a:r>
              <a:r>
                <a:rPr lang="en-US" altLang="zh-CN" sz="1200" dirty="0">
                  <a:solidFill>
                    <a:schemeClr val="accent1"/>
                  </a:solidFill>
                  <a:latin typeface="ui-monospace"/>
                </a:rPr>
                <a:t>)</a:t>
              </a:r>
              <a:r>
                <a:rPr lang="zh-CN" altLang="en-US" sz="1200" dirty="0">
                  <a:solidFill>
                    <a:schemeClr val="accent1"/>
                  </a:solidFill>
                  <a:latin typeface="ui-monospace"/>
                </a:rPr>
                <a:t>、体系结构阶段模型</a:t>
              </a:r>
              <a:r>
                <a:rPr lang="en-US" altLang="zh-CN" sz="1200" dirty="0">
                  <a:solidFill>
                    <a:schemeClr val="accent1"/>
                  </a:solidFill>
                  <a:latin typeface="ui-monospace"/>
                </a:rPr>
                <a:t>(</a:t>
              </a:r>
              <a:r>
                <a:rPr lang="zh-CN" altLang="en-US" sz="1200" dirty="0">
                  <a:solidFill>
                    <a:schemeClr val="accent1"/>
                  </a:solidFill>
                  <a:latin typeface="ui-monospace"/>
                </a:rPr>
                <a:t>代码行</a:t>
              </a:r>
              <a:r>
                <a:rPr lang="en-US" altLang="zh-CN" sz="1200" dirty="0">
                  <a:solidFill>
                    <a:schemeClr val="accent1"/>
                  </a:solidFill>
                  <a:latin typeface="ui-monospace"/>
                </a:rPr>
                <a:t>)</a:t>
              </a:r>
            </a:p>
          </p:txBody>
        </p:sp>
      </p:grpSp>
      <p:grpSp>
        <p:nvGrpSpPr>
          <p:cNvPr id="29" name="Group 25">
            <a:extLst>
              <a:ext uri="{FF2B5EF4-FFF2-40B4-BE49-F238E27FC236}">
                <a16:creationId xmlns:a16="http://schemas.microsoft.com/office/drawing/2014/main" id="{BDCF58BA-A678-5B7E-769B-EDE68B697D7A}"/>
              </a:ext>
            </a:extLst>
          </p:cNvPr>
          <p:cNvGrpSpPr/>
          <p:nvPr/>
        </p:nvGrpSpPr>
        <p:grpSpPr>
          <a:xfrm>
            <a:off x="3097744" y="4674893"/>
            <a:ext cx="4386653" cy="756927"/>
            <a:chOff x="7614613" y="5950488"/>
            <a:chExt cx="4386653" cy="756927"/>
          </a:xfrm>
        </p:grpSpPr>
        <p:sp>
          <p:nvSpPr>
            <p:cNvPr id="36" name="Rectangle: Rounded Corners 35">
              <a:extLst>
                <a:ext uri="{FF2B5EF4-FFF2-40B4-BE49-F238E27FC236}">
                  <a16:creationId xmlns:a16="http://schemas.microsoft.com/office/drawing/2014/main" id="{2DB9D39B-61A1-667E-8446-B3EB887B69F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▶项目管理</a:t>
              </a:r>
              <a:endParaRPr lang="en-US" sz="1200" dirty="0">
                <a:solidFill>
                  <a:schemeClr val="bg1"/>
                </a:solidFill>
              </a:endParaRPr>
            </a:p>
          </p:txBody>
        </p:sp>
        <p:sp>
          <p:nvSpPr>
            <p:cNvPr id="37" name="TextBox 36">
              <a:extLst>
                <a:ext uri="{FF2B5EF4-FFF2-40B4-BE49-F238E27FC236}">
                  <a16:creationId xmlns:a16="http://schemas.microsoft.com/office/drawing/2014/main" id="{6AD6C602-2520-2A64-6381-D0D394277958}"/>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整合管理、范围管理、</a:t>
              </a:r>
              <a:r>
                <a:rPr lang="zh-CN" altLang="en-US" sz="1200" b="1" dirty="0">
                  <a:solidFill>
                    <a:schemeClr val="accent1"/>
                  </a:solidFill>
                  <a:latin typeface="ui-monospace"/>
                </a:rPr>
                <a:t>时间管理</a:t>
              </a:r>
              <a:r>
                <a:rPr lang="zh-CN" altLang="en-US" sz="1200" dirty="0">
                  <a:solidFill>
                    <a:schemeClr val="accent1"/>
                  </a:solidFill>
                  <a:latin typeface="ui-monospace"/>
                </a:rPr>
                <a:t>、成本管理、</a:t>
              </a:r>
              <a:r>
                <a:rPr lang="zh-CN" altLang="en-US" sz="1200" b="1" dirty="0">
                  <a:solidFill>
                    <a:schemeClr val="accent1"/>
                  </a:solidFill>
                  <a:latin typeface="ui-monospace"/>
                </a:rPr>
                <a:t>质量管理</a:t>
              </a:r>
              <a:r>
                <a:rPr lang="zh-CN" altLang="en-US" sz="1200" dirty="0">
                  <a:solidFill>
                    <a:schemeClr val="accent1"/>
                  </a:solidFill>
                  <a:latin typeface="ui-monospace"/>
                </a:rPr>
                <a:t>、人力资源管理、通信管理、</a:t>
              </a:r>
              <a:r>
                <a:rPr lang="zh-CN" altLang="en-US" sz="1200" b="1" dirty="0">
                  <a:solidFill>
                    <a:schemeClr val="accent1"/>
                  </a:solidFill>
                  <a:latin typeface="ui-monospace"/>
                </a:rPr>
                <a:t>风险管理</a:t>
              </a:r>
              <a:r>
                <a:rPr lang="zh-CN" altLang="en-US" sz="1200" dirty="0">
                  <a:solidFill>
                    <a:schemeClr val="accent1"/>
                  </a:solidFill>
                  <a:latin typeface="ui-monospace"/>
                </a:rPr>
                <a:t>、采购管理、相关方管理</a:t>
              </a:r>
              <a:endParaRPr lang="en-US" altLang="zh-CN" sz="1200" dirty="0">
                <a:solidFill>
                  <a:schemeClr val="accent1"/>
                </a:solidFill>
                <a:latin typeface="ui-monospace"/>
              </a:endParaRPr>
            </a:p>
          </p:txBody>
        </p:sp>
      </p:grpSp>
      <p:pic>
        <p:nvPicPr>
          <p:cNvPr id="124" name="Picture 123">
            <a:extLst>
              <a:ext uri="{FF2B5EF4-FFF2-40B4-BE49-F238E27FC236}">
                <a16:creationId xmlns:a16="http://schemas.microsoft.com/office/drawing/2014/main" id="{C73A5DE4-A8A9-3ADD-22DC-4BAC7CAF6E9F}"/>
              </a:ext>
            </a:extLst>
          </p:cNvPr>
          <p:cNvPicPr>
            <a:picLocks noChangeAspect="1"/>
          </p:cNvPicPr>
          <p:nvPr/>
        </p:nvPicPr>
        <p:blipFill>
          <a:blip r:embed="rId3"/>
          <a:stretch>
            <a:fillRect/>
          </a:stretch>
        </p:blipFill>
        <p:spPr>
          <a:xfrm>
            <a:off x="10675519" y="798342"/>
            <a:ext cx="1027531" cy="613203"/>
          </a:xfrm>
          <a:prstGeom prst="rect">
            <a:avLst/>
          </a:prstGeom>
        </p:spPr>
      </p:pic>
      <p:grpSp>
        <p:nvGrpSpPr>
          <p:cNvPr id="10" name="Group 25">
            <a:extLst>
              <a:ext uri="{FF2B5EF4-FFF2-40B4-BE49-F238E27FC236}">
                <a16:creationId xmlns:a16="http://schemas.microsoft.com/office/drawing/2014/main" id="{04E09053-7F94-B883-2B94-04D82228325C}"/>
              </a:ext>
            </a:extLst>
          </p:cNvPr>
          <p:cNvGrpSpPr/>
          <p:nvPr/>
        </p:nvGrpSpPr>
        <p:grpSpPr>
          <a:xfrm>
            <a:off x="7680626" y="2634775"/>
            <a:ext cx="4386653" cy="1680257"/>
            <a:chOff x="7614613" y="5950488"/>
            <a:chExt cx="4386653" cy="1680257"/>
          </a:xfrm>
        </p:grpSpPr>
        <p:sp>
          <p:nvSpPr>
            <p:cNvPr id="11" name="Rectangle: Rounded Corners 35">
              <a:extLst>
                <a:ext uri="{FF2B5EF4-FFF2-40B4-BE49-F238E27FC236}">
                  <a16:creationId xmlns:a16="http://schemas.microsoft.com/office/drawing/2014/main" id="{B2E83301-4F92-56A8-DD4F-F92061DDC26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▶软件配置管理</a:t>
              </a:r>
              <a:endParaRPr lang="en-US" sz="1200" dirty="0">
                <a:solidFill>
                  <a:schemeClr val="bg1"/>
                </a:solidFill>
              </a:endParaRPr>
            </a:p>
          </p:txBody>
        </p:sp>
        <p:sp>
          <p:nvSpPr>
            <p:cNvPr id="12" name="TextBox 36">
              <a:extLst>
                <a:ext uri="{FF2B5EF4-FFF2-40B4-BE49-F238E27FC236}">
                  <a16:creationId xmlns:a16="http://schemas.microsoft.com/office/drawing/2014/main" id="{71222F0D-9A7F-223B-4381-3C77EB0893F6}"/>
                </a:ext>
              </a:extLst>
            </p:cNvPr>
            <p:cNvSpPr txBox="1"/>
            <p:nvPr/>
          </p:nvSpPr>
          <p:spPr>
            <a:xfrm>
              <a:off x="7667294" y="6245750"/>
              <a:ext cx="4281578" cy="1384995"/>
            </a:xfrm>
            <a:prstGeom prst="rect">
              <a:avLst/>
            </a:prstGeom>
            <a:noFill/>
          </p:spPr>
          <p:txBody>
            <a:bodyPr wrap="square">
              <a:spAutoFit/>
            </a:bodyPr>
            <a:lstStyle/>
            <a:p>
              <a:r>
                <a:rPr lang="zh-CN" altLang="en-US" sz="1200" dirty="0">
                  <a:solidFill>
                    <a:schemeClr val="accent1"/>
                  </a:solidFill>
                  <a:latin typeface="ui-monospace"/>
                </a:rPr>
                <a:t>目标：变更标识、变更控制、版本控制、确保变更正确的实现、变更报告</a:t>
              </a:r>
              <a:endParaRPr lang="en-US" altLang="zh-CN" sz="1200" dirty="0">
                <a:solidFill>
                  <a:schemeClr val="accent1"/>
                </a:solidFill>
                <a:latin typeface="ui-monospace"/>
              </a:endParaRPr>
            </a:p>
            <a:p>
              <a:r>
                <a:rPr lang="zh-CN" altLang="en-US" sz="1200" dirty="0">
                  <a:solidFill>
                    <a:schemeClr val="accent1"/>
                  </a:solidFill>
                  <a:latin typeface="ui-monospace"/>
                </a:rPr>
                <a:t>内容：版本管理、配置支持、变更支持、过程支持、团队支持、变化报告、审计支持。</a:t>
              </a:r>
              <a:endParaRPr lang="en-US" altLang="zh-CN" sz="1200" dirty="0">
                <a:solidFill>
                  <a:schemeClr val="accent1"/>
                </a:solidFill>
                <a:latin typeface="ui-monospace"/>
              </a:endParaRPr>
            </a:p>
            <a:p>
              <a:r>
                <a:rPr lang="zh-CN" altLang="en-US" sz="1200" dirty="0">
                  <a:solidFill>
                    <a:schemeClr val="accent1"/>
                  </a:solidFill>
                  <a:latin typeface="ui-monospace"/>
                </a:rPr>
                <a:t>变更管理、版本控制、系统建立、配置审核、配置状态报告</a:t>
              </a:r>
              <a:endParaRPr lang="en-US" altLang="zh-CN" sz="1200" dirty="0">
                <a:solidFill>
                  <a:schemeClr val="accent1"/>
                </a:solidFill>
                <a:latin typeface="ui-monospace"/>
              </a:endParaRPr>
            </a:p>
            <a:p>
              <a:r>
                <a:rPr lang="zh-CN" altLang="en-US" sz="1200" dirty="0">
                  <a:solidFill>
                    <a:schemeClr val="accent1"/>
                  </a:solidFill>
                  <a:latin typeface="ui-monospace"/>
                </a:rPr>
                <a:t>配置项</a:t>
              </a:r>
              <a:r>
                <a:rPr lang="en-US" altLang="zh-CN" sz="1200" dirty="0">
                  <a:solidFill>
                    <a:schemeClr val="accent1"/>
                  </a:solidFill>
                  <a:latin typeface="ui-monospace"/>
                </a:rPr>
                <a:t>/</a:t>
              </a:r>
              <a:r>
                <a:rPr lang="zh-CN" altLang="en-US" sz="1200" dirty="0">
                  <a:solidFill>
                    <a:schemeClr val="accent1"/>
                  </a:solidFill>
                  <a:latin typeface="ui-monospace"/>
                </a:rPr>
                <a:t>配置基线</a:t>
              </a:r>
              <a:endParaRPr lang="en-US" altLang="zh-CN" sz="1200" dirty="0">
                <a:solidFill>
                  <a:schemeClr val="accent1"/>
                </a:solidFill>
                <a:latin typeface="ui-monospace"/>
              </a:endParaRPr>
            </a:p>
            <a:p>
              <a:r>
                <a:rPr lang="zh-CN" altLang="en-US" sz="1200" dirty="0">
                  <a:solidFill>
                    <a:schemeClr val="accent1"/>
                  </a:solidFill>
                  <a:latin typeface="ui-monospace"/>
                </a:rPr>
                <a:t>配置数据库：开发库、受控库、产品库</a:t>
              </a:r>
              <a:endParaRPr lang="en-US" altLang="zh-CN" sz="1200" dirty="0">
                <a:solidFill>
                  <a:schemeClr val="accent1"/>
                </a:solidFill>
                <a:latin typeface="ui-monospace"/>
              </a:endParaRPr>
            </a:p>
          </p:txBody>
        </p:sp>
      </p:grpSp>
      <p:grpSp>
        <p:nvGrpSpPr>
          <p:cNvPr id="13" name="Group 25">
            <a:extLst>
              <a:ext uri="{FF2B5EF4-FFF2-40B4-BE49-F238E27FC236}">
                <a16:creationId xmlns:a16="http://schemas.microsoft.com/office/drawing/2014/main" id="{D5D6A563-9AF2-AC1E-D126-01B5DD1EEB65}"/>
              </a:ext>
            </a:extLst>
          </p:cNvPr>
          <p:cNvGrpSpPr/>
          <p:nvPr/>
        </p:nvGrpSpPr>
        <p:grpSpPr>
          <a:xfrm>
            <a:off x="7680686" y="4333969"/>
            <a:ext cx="4386653" cy="1680257"/>
            <a:chOff x="7614613" y="5950488"/>
            <a:chExt cx="4386653" cy="1680257"/>
          </a:xfrm>
        </p:grpSpPr>
        <p:sp>
          <p:nvSpPr>
            <p:cNvPr id="14" name="Rectangle: Rounded Corners 35">
              <a:extLst>
                <a:ext uri="{FF2B5EF4-FFF2-40B4-BE49-F238E27FC236}">
                  <a16:creationId xmlns:a16="http://schemas.microsoft.com/office/drawing/2014/main" id="{EF44C84C-6000-AD37-A3C6-4865D372268F}"/>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▶风险管理</a:t>
              </a:r>
              <a:endParaRPr lang="en-US" sz="1200" dirty="0">
                <a:solidFill>
                  <a:schemeClr val="bg1"/>
                </a:solidFill>
              </a:endParaRPr>
            </a:p>
          </p:txBody>
        </p:sp>
        <p:sp>
          <p:nvSpPr>
            <p:cNvPr id="15" name="TextBox 36">
              <a:extLst>
                <a:ext uri="{FF2B5EF4-FFF2-40B4-BE49-F238E27FC236}">
                  <a16:creationId xmlns:a16="http://schemas.microsoft.com/office/drawing/2014/main" id="{19755B0C-3C10-B7C5-DF03-BA4D282C2D96}"/>
                </a:ext>
              </a:extLst>
            </p:cNvPr>
            <p:cNvSpPr txBox="1"/>
            <p:nvPr/>
          </p:nvSpPr>
          <p:spPr>
            <a:xfrm>
              <a:off x="7667294" y="6245750"/>
              <a:ext cx="4281578" cy="1384995"/>
            </a:xfrm>
            <a:prstGeom prst="rect">
              <a:avLst/>
            </a:prstGeom>
            <a:noFill/>
          </p:spPr>
          <p:txBody>
            <a:bodyPr wrap="square">
              <a:spAutoFit/>
            </a:bodyPr>
            <a:lstStyle/>
            <a:p>
              <a:r>
                <a:rPr lang="zh-CN" altLang="en-US" sz="1200" dirty="0">
                  <a:solidFill>
                    <a:schemeClr val="accent1"/>
                  </a:solidFill>
                  <a:latin typeface="ui-monospace"/>
                </a:rPr>
                <a:t>特性：</a:t>
              </a:r>
              <a:r>
                <a:rPr lang="zh-CN" altLang="en-US" sz="1200" b="1" dirty="0">
                  <a:solidFill>
                    <a:schemeClr val="accent1"/>
                  </a:solidFill>
                  <a:latin typeface="ui-monospace"/>
                </a:rPr>
                <a:t>不确定性、损失</a:t>
              </a:r>
              <a:endParaRPr lang="en-US" altLang="zh-CN" sz="1200" b="1" dirty="0">
                <a:solidFill>
                  <a:schemeClr val="accent1"/>
                </a:solidFill>
                <a:latin typeface="ui-monospace"/>
              </a:endParaRPr>
            </a:p>
            <a:p>
              <a:r>
                <a:rPr lang="zh-CN" altLang="en-US" sz="1200" dirty="0">
                  <a:solidFill>
                    <a:schemeClr val="accent1"/>
                  </a:solidFill>
                  <a:latin typeface="ui-monospace"/>
                </a:rPr>
                <a:t>分类：项目风险、</a:t>
              </a:r>
              <a:r>
                <a:rPr lang="zh-CN" altLang="en-US" sz="1200" b="1" dirty="0">
                  <a:solidFill>
                    <a:schemeClr val="accent1"/>
                  </a:solidFill>
                  <a:latin typeface="ui-monospace"/>
                </a:rPr>
                <a:t>技术风险</a:t>
              </a:r>
              <a:r>
                <a:rPr lang="zh-CN" altLang="en-US" sz="1200" dirty="0">
                  <a:solidFill>
                    <a:schemeClr val="accent1"/>
                  </a:solidFill>
                  <a:latin typeface="ui-monospace"/>
                </a:rPr>
                <a:t>、商业风险</a:t>
              </a:r>
              <a:endParaRPr lang="en-US" altLang="zh-CN" sz="1200" dirty="0">
                <a:solidFill>
                  <a:schemeClr val="accent1"/>
                </a:solidFill>
                <a:latin typeface="ui-monospace"/>
              </a:endParaRPr>
            </a:p>
            <a:p>
              <a:r>
                <a:rPr lang="zh-CN" altLang="en-US" sz="1200" dirty="0">
                  <a:solidFill>
                    <a:schemeClr val="accent1"/>
                  </a:solidFill>
                  <a:latin typeface="ui-monospace"/>
                </a:rPr>
                <a:t>风险识别：建立风险条目检查表</a:t>
              </a:r>
              <a:endParaRPr lang="en-US" altLang="zh-CN" sz="1200" dirty="0">
                <a:solidFill>
                  <a:schemeClr val="accent1"/>
                </a:solidFill>
                <a:latin typeface="ui-monospace"/>
              </a:endParaRPr>
            </a:p>
            <a:p>
              <a:r>
                <a:rPr lang="zh-CN" altLang="en-US" sz="1200" dirty="0">
                  <a:solidFill>
                    <a:schemeClr val="accent1"/>
                  </a:solidFill>
                  <a:latin typeface="ui-monospace"/>
                </a:rPr>
                <a:t>风险预测：</a:t>
              </a:r>
              <a:r>
                <a:rPr lang="zh-CN" altLang="en-US" sz="1200" b="1" dirty="0">
                  <a:solidFill>
                    <a:schemeClr val="accent1"/>
                  </a:solidFill>
                  <a:latin typeface="ui-monospace"/>
                </a:rPr>
                <a:t>风险暴露</a:t>
              </a:r>
              <a:r>
                <a:rPr lang="en-US" altLang="zh-CN" sz="1200" b="1" dirty="0">
                  <a:solidFill>
                    <a:schemeClr val="accent1"/>
                  </a:solidFill>
                  <a:latin typeface="ui-monospace"/>
                </a:rPr>
                <a:t>=</a:t>
              </a:r>
              <a:r>
                <a:rPr lang="zh-CN" altLang="en-US" sz="1200" b="1" dirty="0">
                  <a:solidFill>
                    <a:schemeClr val="accent1"/>
                  </a:solidFill>
                  <a:latin typeface="ui-monospace"/>
                </a:rPr>
                <a:t>发生概率</a:t>
              </a:r>
              <a:r>
                <a:rPr lang="en-US" altLang="zh-CN" sz="1200" b="1" dirty="0">
                  <a:solidFill>
                    <a:schemeClr val="accent1"/>
                  </a:solidFill>
                  <a:latin typeface="ui-monospace"/>
                </a:rPr>
                <a:t>*</a:t>
              </a:r>
              <a:r>
                <a:rPr lang="zh-CN" altLang="en-US" sz="1200" b="1" dirty="0">
                  <a:solidFill>
                    <a:schemeClr val="accent1"/>
                  </a:solidFill>
                  <a:latin typeface="ui-monospace"/>
                </a:rPr>
                <a:t>影响后果</a:t>
              </a:r>
              <a:r>
                <a:rPr lang="en-US" altLang="zh-CN" sz="1200" dirty="0">
                  <a:solidFill>
                    <a:schemeClr val="accent1"/>
                  </a:solidFill>
                  <a:latin typeface="ui-monospace"/>
                </a:rPr>
                <a:t>(</a:t>
              </a:r>
              <a:r>
                <a:rPr lang="zh-CN" altLang="en-US" sz="1200" dirty="0">
                  <a:solidFill>
                    <a:schemeClr val="accent1"/>
                  </a:solidFill>
                  <a:latin typeface="ui-monospace"/>
                </a:rPr>
                <a:t>本质、范围、时间</a:t>
              </a:r>
              <a:r>
                <a:rPr lang="en-US" altLang="zh-CN" sz="1200" dirty="0">
                  <a:solidFill>
                    <a:schemeClr val="accent1"/>
                  </a:solidFill>
                  <a:latin typeface="ui-monospace"/>
                </a:rPr>
                <a:t>)</a:t>
              </a:r>
            </a:p>
            <a:p>
              <a:r>
                <a:rPr lang="zh-CN" altLang="en-US" sz="1200" dirty="0">
                  <a:solidFill>
                    <a:schemeClr val="accent1"/>
                  </a:solidFill>
                  <a:latin typeface="ui-monospace"/>
                </a:rPr>
                <a:t>风险评估：定义</a:t>
              </a:r>
              <a:r>
                <a:rPr lang="zh-CN" altLang="en-US" sz="1200" b="1" dirty="0">
                  <a:solidFill>
                    <a:schemeClr val="accent1"/>
                  </a:solidFill>
                  <a:latin typeface="ui-monospace"/>
                </a:rPr>
                <a:t>风险参照水准</a:t>
              </a:r>
              <a:r>
                <a:rPr lang="zh-CN" altLang="en-US" sz="1200" dirty="0">
                  <a:solidFill>
                    <a:schemeClr val="accent1"/>
                  </a:solidFill>
                  <a:latin typeface="ui-monospace"/>
                </a:rPr>
                <a:t>，成本、进度、性能</a:t>
              </a:r>
              <a:endParaRPr lang="en-US" altLang="zh-CN" sz="1200" dirty="0">
                <a:solidFill>
                  <a:schemeClr val="accent1"/>
                </a:solidFill>
                <a:latin typeface="ui-monospace"/>
              </a:endParaRPr>
            </a:p>
            <a:p>
              <a:r>
                <a:rPr lang="zh-CN" altLang="en-US" sz="1200" dirty="0">
                  <a:solidFill>
                    <a:schemeClr val="accent1"/>
                  </a:solidFill>
                  <a:latin typeface="ui-monospace"/>
                </a:rPr>
                <a:t>风险控制：风险避免</a:t>
              </a:r>
              <a:r>
                <a:rPr lang="en-US" altLang="zh-CN" sz="1200" dirty="0">
                  <a:solidFill>
                    <a:schemeClr val="accent1"/>
                  </a:solidFill>
                  <a:latin typeface="ui-monospace"/>
                </a:rPr>
                <a:t>(</a:t>
              </a:r>
              <a:r>
                <a:rPr lang="zh-CN" altLang="en-US" sz="1200" b="1" dirty="0">
                  <a:solidFill>
                    <a:schemeClr val="accent1"/>
                  </a:solidFill>
                  <a:latin typeface="ui-monospace"/>
                </a:rPr>
                <a:t>主动</a:t>
              </a:r>
              <a:r>
                <a:rPr lang="en-US" altLang="zh-CN" sz="1200" dirty="0">
                  <a:solidFill>
                    <a:schemeClr val="accent1"/>
                  </a:solidFill>
                  <a:latin typeface="ui-monospace"/>
                </a:rPr>
                <a:t>)</a:t>
              </a:r>
              <a:r>
                <a:rPr lang="zh-CN" altLang="en-US" sz="1200" dirty="0">
                  <a:solidFill>
                    <a:schemeClr val="accent1"/>
                  </a:solidFill>
                  <a:latin typeface="ui-monospace"/>
                </a:rPr>
                <a:t>、风险监控、</a:t>
              </a:r>
              <a:r>
                <a:rPr lang="en-US" altLang="zh-CN" sz="1200" b="1" dirty="0">
                  <a:solidFill>
                    <a:schemeClr val="accent1"/>
                  </a:solidFill>
                  <a:latin typeface="ui-monospace"/>
                </a:rPr>
                <a:t>RMMM</a:t>
              </a:r>
              <a:r>
                <a:rPr lang="zh-CN" altLang="en-US" sz="1200" b="1" dirty="0">
                  <a:solidFill>
                    <a:schemeClr val="accent1"/>
                  </a:solidFill>
                  <a:latin typeface="ui-monospace"/>
                </a:rPr>
                <a:t>计划</a:t>
              </a:r>
              <a:r>
                <a:rPr lang="en-US" altLang="zh-CN" sz="1200" dirty="0">
                  <a:solidFill>
                    <a:schemeClr val="accent1"/>
                  </a:solidFill>
                  <a:latin typeface="ui-monospace"/>
                </a:rPr>
                <a:t>/</a:t>
              </a:r>
              <a:r>
                <a:rPr lang="zh-CN" altLang="en-US" sz="1200" dirty="0">
                  <a:solidFill>
                    <a:schemeClr val="accent1"/>
                  </a:solidFill>
                  <a:latin typeface="ui-monospace"/>
                </a:rPr>
                <a:t>风险管理策略</a:t>
              </a:r>
              <a:endParaRPr lang="en-US" altLang="zh-CN" sz="1200" dirty="0">
                <a:solidFill>
                  <a:schemeClr val="accent1"/>
                </a:solidFill>
                <a:latin typeface="ui-monospace"/>
              </a:endParaRPr>
            </a:p>
          </p:txBody>
        </p:sp>
      </p:grpSp>
    </p:spTree>
    <p:extLst>
      <p:ext uri="{BB962C8B-B14F-4D97-AF65-F5344CB8AC3E}">
        <p14:creationId xmlns:p14="http://schemas.microsoft.com/office/powerpoint/2010/main" val="26493017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97031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软件工程</a:t>
            </a:r>
            <a:endParaRPr lang="en-US" altLang="zh-CN" sz="1200" b="1"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过程模型</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需求分析</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系统设计</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系统测试</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运行和维护</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软件质量和度量</a:t>
            </a:r>
            <a:endParaRPr lang="en-US" altLang="zh-CN" sz="1200" dirty="0">
              <a:latin typeface="Arial" panose="020B0604020202020204" pitchFamily="34" charset="0"/>
              <a:ea typeface="Punctuation SC"/>
            </a:endParaRPr>
          </a:p>
          <a:p>
            <a:pPr eaLnBrk="0" fontAlgn="base" hangingPunct="0">
              <a:spcBef>
                <a:spcPct val="0"/>
              </a:spcBef>
              <a:spcAft>
                <a:spcPct val="0"/>
              </a:spcAf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项目管理</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4386653" cy="6481571"/>
            <a:chOff x="7614613" y="5950488"/>
            <a:chExt cx="4386653" cy="648157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▶质量管理</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4281578" cy="6186309"/>
            </a:xfrm>
            <a:prstGeom prst="rect">
              <a:avLst/>
            </a:prstGeom>
            <a:noFill/>
          </p:spPr>
          <p:txBody>
            <a:bodyPr wrap="square">
              <a:spAutoFit/>
            </a:bodyPr>
            <a:lstStyle/>
            <a:p>
              <a:r>
                <a:rPr lang="en-US" altLang="zh-CN" sz="1200" dirty="0">
                  <a:solidFill>
                    <a:schemeClr val="accent1"/>
                  </a:solidFill>
                  <a:latin typeface="ui-monospace"/>
                </a:rPr>
                <a:t>ISO/IEC</a:t>
              </a:r>
              <a:r>
                <a:rPr lang="zh-CN" altLang="en-US" sz="1200" dirty="0">
                  <a:solidFill>
                    <a:schemeClr val="accent1"/>
                  </a:solidFill>
                  <a:latin typeface="ui-monospace"/>
                </a:rPr>
                <a:t> </a:t>
              </a:r>
              <a:r>
                <a:rPr lang="en-US" altLang="zh-CN" sz="1200" dirty="0">
                  <a:solidFill>
                    <a:schemeClr val="accent1"/>
                  </a:solidFill>
                  <a:latin typeface="ui-monospace"/>
                </a:rPr>
                <a:t>9126 </a:t>
              </a:r>
              <a:r>
                <a:rPr lang="zh-CN" altLang="en-US" sz="1200" dirty="0">
                  <a:solidFill>
                    <a:schemeClr val="accent1"/>
                  </a:solidFill>
                  <a:latin typeface="ui-monospace"/>
                </a:rPr>
                <a:t>软件质量模型</a:t>
              </a:r>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endParaRPr lang="en-US" altLang="zh-CN" sz="1200" dirty="0">
                <a:solidFill>
                  <a:schemeClr val="accent1"/>
                </a:solidFill>
                <a:latin typeface="ui-monospace"/>
              </a:endParaRPr>
            </a:p>
            <a:p>
              <a:r>
                <a:rPr lang="en-US" altLang="zh-CN" sz="1200" dirty="0">
                  <a:solidFill>
                    <a:schemeClr val="accent1"/>
                  </a:solidFill>
                  <a:latin typeface="ui-monospace"/>
                </a:rPr>
                <a:t>Mc Call </a:t>
              </a:r>
              <a:r>
                <a:rPr lang="zh-CN" altLang="en-US" sz="1200" dirty="0">
                  <a:solidFill>
                    <a:schemeClr val="accent1"/>
                  </a:solidFill>
                  <a:latin typeface="ui-monospace"/>
                </a:rPr>
                <a:t>软件质量模型</a:t>
              </a:r>
              <a:endParaRPr lang="en-US" altLang="zh-CN" sz="1200" dirty="0">
                <a:solidFill>
                  <a:schemeClr val="accent1"/>
                </a:solidFill>
                <a:latin typeface="ui-monospace"/>
              </a:endParaRPr>
            </a:p>
            <a:p>
              <a:r>
                <a:rPr lang="zh-CN" altLang="en-US" sz="1200" dirty="0">
                  <a:solidFill>
                    <a:schemeClr val="accent1"/>
                  </a:solidFill>
                  <a:latin typeface="ui-monospace"/>
                </a:rPr>
                <a:t>产品运行：正确性、可靠性、易使用性、效率、完整性</a:t>
              </a:r>
              <a:endParaRPr lang="en-US" altLang="zh-CN" sz="1200" dirty="0">
                <a:solidFill>
                  <a:schemeClr val="accent1"/>
                </a:solidFill>
                <a:latin typeface="ui-monospace"/>
              </a:endParaRPr>
            </a:p>
            <a:p>
              <a:r>
                <a:rPr lang="zh-CN" altLang="en-US" sz="1200" dirty="0">
                  <a:solidFill>
                    <a:schemeClr val="accent1"/>
                  </a:solidFill>
                  <a:latin typeface="ui-monospace"/>
                </a:rPr>
                <a:t>产品修正：可维护性、灵活性、可测试性</a:t>
              </a:r>
              <a:endParaRPr lang="en-US" altLang="zh-CN" sz="1200" dirty="0">
                <a:solidFill>
                  <a:schemeClr val="accent1"/>
                </a:solidFill>
                <a:latin typeface="ui-monospace"/>
              </a:endParaRPr>
            </a:p>
            <a:p>
              <a:r>
                <a:rPr lang="zh-CN" altLang="en-US" sz="1200" dirty="0">
                  <a:solidFill>
                    <a:schemeClr val="accent1"/>
                  </a:solidFill>
                  <a:latin typeface="ui-monospace"/>
                </a:rPr>
                <a:t>产品转移：可移植性、复用性、互用性</a:t>
              </a:r>
              <a:endParaRPr lang="en-US" altLang="zh-CN" sz="1200" dirty="0">
                <a:solidFill>
                  <a:schemeClr val="accent1"/>
                </a:solidFill>
                <a:latin typeface="ui-monospace"/>
              </a:endParaRPr>
            </a:p>
          </p:txBody>
        </p:sp>
      </p:grpSp>
      <p:grpSp>
        <p:nvGrpSpPr>
          <p:cNvPr id="33" name="Group 25">
            <a:extLst>
              <a:ext uri="{FF2B5EF4-FFF2-40B4-BE49-F238E27FC236}">
                <a16:creationId xmlns:a16="http://schemas.microsoft.com/office/drawing/2014/main" id="{B8FA9490-77B4-E4EA-AA14-98492AF3D1D7}"/>
              </a:ext>
            </a:extLst>
          </p:cNvPr>
          <p:cNvGrpSpPr/>
          <p:nvPr/>
        </p:nvGrpSpPr>
        <p:grpSpPr>
          <a:xfrm>
            <a:off x="7680687" y="71394"/>
            <a:ext cx="4386653" cy="1126259"/>
            <a:chOff x="7614613" y="5950488"/>
            <a:chExt cx="4386653" cy="1126259"/>
          </a:xfrm>
        </p:grpSpPr>
        <p:sp>
          <p:nvSpPr>
            <p:cNvPr id="34" name="Rectangle: Rounded Corners 35">
              <a:extLst>
                <a:ext uri="{FF2B5EF4-FFF2-40B4-BE49-F238E27FC236}">
                  <a16:creationId xmlns:a16="http://schemas.microsoft.com/office/drawing/2014/main" id="{9B0280EF-C067-9382-6455-DC4DFA9BABC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▶软件评审</a:t>
              </a:r>
              <a:endParaRPr lang="en-US" sz="1200" dirty="0">
                <a:solidFill>
                  <a:schemeClr val="bg1"/>
                </a:solidFill>
              </a:endParaRPr>
            </a:p>
          </p:txBody>
        </p:sp>
        <p:sp>
          <p:nvSpPr>
            <p:cNvPr id="35" name="TextBox 36">
              <a:extLst>
                <a:ext uri="{FF2B5EF4-FFF2-40B4-BE49-F238E27FC236}">
                  <a16:creationId xmlns:a16="http://schemas.microsoft.com/office/drawing/2014/main" id="{501076B1-418C-C120-5596-4155B0B6B970}"/>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必要条件：设计质量、程序质量</a:t>
              </a:r>
              <a:endParaRPr lang="en-US" altLang="zh-CN" sz="1200" dirty="0">
                <a:solidFill>
                  <a:schemeClr val="accent1"/>
                </a:solidFill>
                <a:latin typeface="ui-monospace"/>
              </a:endParaRPr>
            </a:p>
            <a:p>
              <a:r>
                <a:rPr lang="zh-CN" altLang="en-US" sz="1200" dirty="0">
                  <a:solidFill>
                    <a:schemeClr val="accent1"/>
                  </a:solidFill>
                  <a:latin typeface="ui-monospace"/>
                </a:rPr>
                <a:t>模块结构：控制流结构、数据流结构、模块结构与功能结构之间的对应关系</a:t>
              </a:r>
              <a:endParaRPr lang="en-US" altLang="zh-CN" sz="1200" dirty="0">
                <a:solidFill>
                  <a:schemeClr val="accent1"/>
                </a:solidFill>
                <a:latin typeface="ui-monospace"/>
              </a:endParaRPr>
            </a:p>
            <a:p>
              <a:r>
                <a:rPr lang="zh-CN" altLang="en-US" sz="1200" dirty="0">
                  <a:solidFill>
                    <a:schemeClr val="accent1"/>
                  </a:solidFill>
                  <a:latin typeface="ui-monospace"/>
                </a:rPr>
                <a:t>技术评审：揭露质量问题</a:t>
              </a:r>
              <a:endParaRPr lang="en-US" altLang="zh-CN" sz="1200" dirty="0">
                <a:solidFill>
                  <a:schemeClr val="accent1"/>
                </a:solidFill>
                <a:latin typeface="ui-monospace"/>
              </a:endParaRPr>
            </a:p>
          </p:txBody>
        </p:sp>
      </p:grpSp>
      <p:graphicFrame>
        <p:nvGraphicFramePr>
          <p:cNvPr id="4" name="Table 3">
            <a:extLst>
              <a:ext uri="{FF2B5EF4-FFF2-40B4-BE49-F238E27FC236}">
                <a16:creationId xmlns:a16="http://schemas.microsoft.com/office/drawing/2014/main" id="{9CF67C89-3773-6105-9DF2-8E84D8439002}"/>
              </a:ext>
            </a:extLst>
          </p:cNvPr>
          <p:cNvGraphicFramePr>
            <a:graphicFrameLocks noGrp="1"/>
          </p:cNvGraphicFramePr>
          <p:nvPr>
            <p:extLst>
              <p:ext uri="{D42A27DB-BD31-4B8C-83A1-F6EECF244321}">
                <p14:modId xmlns:p14="http://schemas.microsoft.com/office/powerpoint/2010/main" val="1211026312"/>
              </p:ext>
            </p:extLst>
          </p:nvPr>
        </p:nvGraphicFramePr>
        <p:xfrm>
          <a:off x="3150283" y="622460"/>
          <a:ext cx="4281575" cy="4800600"/>
        </p:xfrm>
        <a:graphic>
          <a:graphicData uri="http://schemas.openxmlformats.org/drawingml/2006/table">
            <a:tbl>
              <a:tblPr firstRow="1" bandRow="1">
                <a:tableStyleId>{5C22544A-7EE6-4342-B048-85BDC9FD1C3A}</a:tableStyleId>
              </a:tblPr>
              <a:tblGrid>
                <a:gridCol w="645862">
                  <a:extLst>
                    <a:ext uri="{9D8B030D-6E8A-4147-A177-3AD203B41FA5}">
                      <a16:colId xmlns:a16="http://schemas.microsoft.com/office/drawing/2014/main" val="4196207211"/>
                    </a:ext>
                  </a:extLst>
                </a:gridCol>
                <a:gridCol w="646546">
                  <a:extLst>
                    <a:ext uri="{9D8B030D-6E8A-4147-A177-3AD203B41FA5}">
                      <a16:colId xmlns:a16="http://schemas.microsoft.com/office/drawing/2014/main" val="2378697663"/>
                    </a:ext>
                  </a:extLst>
                </a:gridCol>
                <a:gridCol w="2989167">
                  <a:extLst>
                    <a:ext uri="{9D8B030D-6E8A-4147-A177-3AD203B41FA5}">
                      <a16:colId xmlns:a16="http://schemas.microsoft.com/office/drawing/2014/main" val="3523767036"/>
                    </a:ext>
                  </a:extLst>
                </a:gridCol>
              </a:tblGrid>
              <a:tr h="204220">
                <a:tc>
                  <a:txBody>
                    <a:bodyPr/>
                    <a:lstStyle/>
                    <a:p>
                      <a:pPr algn="ctr"/>
                      <a:r>
                        <a:rPr lang="zh-CN" altLang="en-US" sz="900" b="1" dirty="0">
                          <a:solidFill>
                            <a:schemeClr val="tx1"/>
                          </a:solidFill>
                        </a:rPr>
                        <a:t>功能性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适合性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准确性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8310648"/>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互用性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928253"/>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依从性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3337562"/>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安全性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6724297"/>
                  </a:ext>
                </a:extLst>
              </a:tr>
              <a:tr h="204220">
                <a:tc>
                  <a:txBody>
                    <a:bodyPr/>
                    <a:lstStyle/>
                    <a:p>
                      <a:pPr algn="ctr"/>
                      <a:r>
                        <a:rPr lang="zh-CN" altLang="en-US" sz="900" b="1" dirty="0">
                          <a:solidFill>
                            <a:schemeClr val="tx1"/>
                          </a:solidFill>
                        </a:rPr>
                        <a:t>可靠性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成熟性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成熟</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容错性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容错高</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1755462"/>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易恢复性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还可恢复</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887746"/>
                  </a:ext>
                </a:extLst>
              </a:tr>
              <a:tr h="204220">
                <a:tc>
                  <a:txBody>
                    <a:bodyPr/>
                    <a:lstStyle/>
                    <a:p>
                      <a:pPr algn="ctr"/>
                      <a:r>
                        <a:rPr lang="zh-CN" altLang="en-US" sz="900" b="1" dirty="0">
                          <a:solidFill>
                            <a:schemeClr val="tx1"/>
                          </a:solidFill>
                        </a:rPr>
                        <a:t>易使用性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易理解性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易懂</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易学性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易学</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6972556"/>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易操作性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易用</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8815948"/>
                  </a:ext>
                </a:extLst>
              </a:tr>
              <a:tr h="204220">
                <a:tc>
                  <a:txBody>
                    <a:bodyPr/>
                    <a:lstStyle/>
                    <a:p>
                      <a:pPr algn="ctr"/>
                      <a:r>
                        <a:rPr lang="zh-CN" altLang="en-US" sz="900" b="1" dirty="0">
                          <a:solidFill>
                            <a:schemeClr val="tx1"/>
                          </a:solidFill>
                          <a:sym typeface="Wingdings 2" panose="05020102010507070707" pitchFamily="18" charset="2"/>
                        </a:rPr>
                        <a:t> </a:t>
                      </a:r>
                      <a:r>
                        <a:rPr lang="zh-CN" altLang="en-US" sz="900" b="1" dirty="0">
                          <a:solidFill>
                            <a:schemeClr val="tx1"/>
                          </a:solidFill>
                        </a:rPr>
                        <a:t>效率</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时间特性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响应和处理时间、执行吞吐量</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9163596"/>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资源特性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1737075"/>
                  </a:ext>
                </a:extLst>
              </a:tr>
              <a:tr h="204220">
                <a:tc>
                  <a:txBody>
                    <a:bodyPr/>
                    <a:lstStyle/>
                    <a:p>
                      <a:pPr algn="ctr"/>
                      <a:r>
                        <a:rPr lang="zh-CN" altLang="en-US" sz="900" b="1" dirty="0">
                          <a:solidFill>
                            <a:schemeClr val="tx1"/>
                          </a:solidFill>
                        </a:rPr>
                        <a:t>可维护性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易分析性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分析原因</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9379376"/>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易改变性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可以修改</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0531371"/>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稳定性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改了也稳定</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8141793"/>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易测试性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改完可测试</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727775"/>
                  </a:ext>
                </a:extLst>
              </a:tr>
              <a:tr h="204220">
                <a:tc>
                  <a:txBody>
                    <a:bodyPr/>
                    <a:lstStyle/>
                    <a:p>
                      <a:pPr algn="ctr"/>
                      <a:r>
                        <a:rPr lang="zh-CN" altLang="en-US" sz="900" b="1" dirty="0">
                          <a:solidFill>
                            <a:schemeClr val="tx1"/>
                          </a:solidFill>
                        </a:rPr>
                        <a:t>可移植性</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适应性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可以用</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608652"/>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易安装性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好装</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2799462"/>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一致性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一样用</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2002792"/>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易替换性</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好换</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028775"/>
                  </a:ext>
                </a:extLst>
              </a:tr>
            </a:tbl>
          </a:graphicData>
        </a:graphic>
      </p:graphicFrame>
      <p:grpSp>
        <p:nvGrpSpPr>
          <p:cNvPr id="5" name="Group 25">
            <a:extLst>
              <a:ext uri="{FF2B5EF4-FFF2-40B4-BE49-F238E27FC236}">
                <a16:creationId xmlns:a16="http://schemas.microsoft.com/office/drawing/2014/main" id="{31C4063C-6B07-C9F0-1B81-B1688C83D63A}"/>
              </a:ext>
            </a:extLst>
          </p:cNvPr>
          <p:cNvGrpSpPr/>
          <p:nvPr/>
        </p:nvGrpSpPr>
        <p:grpSpPr>
          <a:xfrm>
            <a:off x="7680687" y="1218379"/>
            <a:ext cx="4386653" cy="1864922"/>
            <a:chOff x="7614613" y="5950488"/>
            <a:chExt cx="4386653" cy="1864922"/>
          </a:xfrm>
        </p:grpSpPr>
        <p:sp>
          <p:nvSpPr>
            <p:cNvPr id="8" name="Rectangle: Rounded Corners 35">
              <a:extLst>
                <a:ext uri="{FF2B5EF4-FFF2-40B4-BE49-F238E27FC236}">
                  <a16:creationId xmlns:a16="http://schemas.microsoft.com/office/drawing/2014/main" id="{E9ABE8D2-5FB5-F60F-3AC4-8B65569171A8}"/>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▶软件容错技术</a:t>
              </a:r>
              <a:endParaRPr lang="en-US" sz="1200" dirty="0">
                <a:solidFill>
                  <a:schemeClr val="bg1"/>
                </a:solidFill>
              </a:endParaRPr>
            </a:p>
          </p:txBody>
        </p:sp>
        <p:sp>
          <p:nvSpPr>
            <p:cNvPr id="18" name="TextBox 36">
              <a:extLst>
                <a:ext uri="{FF2B5EF4-FFF2-40B4-BE49-F238E27FC236}">
                  <a16:creationId xmlns:a16="http://schemas.microsoft.com/office/drawing/2014/main" id="{1B3AB229-156D-EB8E-E25F-78B6C8155E05}"/>
                </a:ext>
              </a:extLst>
            </p:cNvPr>
            <p:cNvSpPr txBox="1"/>
            <p:nvPr/>
          </p:nvSpPr>
          <p:spPr>
            <a:xfrm>
              <a:off x="7667294" y="6245750"/>
              <a:ext cx="4281578" cy="1569660"/>
            </a:xfrm>
            <a:prstGeom prst="rect">
              <a:avLst/>
            </a:prstGeom>
            <a:noFill/>
          </p:spPr>
          <p:txBody>
            <a:bodyPr wrap="square">
              <a:spAutoFit/>
            </a:bodyPr>
            <a:lstStyle/>
            <a:p>
              <a:r>
                <a:rPr lang="zh-CN" altLang="en-US" sz="1200" dirty="0">
                  <a:solidFill>
                    <a:schemeClr val="accent1"/>
                  </a:solidFill>
                  <a:latin typeface="ui-monospace"/>
                </a:rPr>
                <a:t>可屏蔽错误，可自动恢复，出错仍可运行，可容错</a:t>
              </a:r>
              <a:endParaRPr lang="en-US" altLang="zh-CN" sz="1200" dirty="0">
                <a:solidFill>
                  <a:schemeClr val="accent1"/>
                </a:solidFill>
                <a:latin typeface="ui-monospace"/>
              </a:endParaRPr>
            </a:p>
            <a:p>
              <a:r>
                <a:rPr lang="zh-CN" altLang="en-US" sz="1200" dirty="0">
                  <a:solidFill>
                    <a:schemeClr val="accent1"/>
                  </a:solidFill>
                  <a:latin typeface="ui-monospace"/>
                </a:rPr>
                <a:t>结构冗余：静态</a:t>
              </a:r>
              <a:r>
                <a:rPr lang="en-US" altLang="zh-CN" sz="1200" dirty="0">
                  <a:solidFill>
                    <a:schemeClr val="accent1"/>
                  </a:solidFill>
                  <a:latin typeface="ui-monospace"/>
                </a:rPr>
                <a:t>/</a:t>
              </a:r>
              <a:r>
                <a:rPr lang="zh-CN" altLang="en-US" sz="1200" dirty="0">
                  <a:solidFill>
                    <a:schemeClr val="accent1"/>
                  </a:solidFill>
                  <a:latin typeface="ui-monospace"/>
                </a:rPr>
                <a:t>动态</a:t>
              </a:r>
              <a:r>
                <a:rPr lang="en-US" altLang="zh-CN" sz="1200" dirty="0">
                  <a:solidFill>
                    <a:schemeClr val="accent1"/>
                  </a:solidFill>
                  <a:latin typeface="ui-monospace"/>
                </a:rPr>
                <a:t>/</a:t>
              </a:r>
              <a:r>
                <a:rPr lang="zh-CN" altLang="en-US" sz="1200" dirty="0">
                  <a:solidFill>
                    <a:schemeClr val="accent1"/>
                  </a:solidFill>
                  <a:latin typeface="ui-monospace"/>
                </a:rPr>
                <a:t>混合</a:t>
              </a:r>
              <a:endParaRPr lang="en-US" altLang="zh-CN" sz="1200" dirty="0">
                <a:solidFill>
                  <a:schemeClr val="accent1"/>
                </a:solidFill>
                <a:latin typeface="ui-monospace"/>
              </a:endParaRPr>
            </a:p>
            <a:p>
              <a:r>
                <a:rPr lang="zh-CN" altLang="en-US" sz="1200" dirty="0">
                  <a:solidFill>
                    <a:schemeClr val="accent1"/>
                  </a:solidFill>
                  <a:latin typeface="ui-monospace"/>
                </a:rPr>
                <a:t>信息冗余：多加信息。校验码</a:t>
              </a:r>
              <a:endParaRPr lang="en-US" altLang="zh-CN" sz="1200" dirty="0">
                <a:solidFill>
                  <a:schemeClr val="accent1"/>
                </a:solidFill>
                <a:latin typeface="ui-monospace"/>
              </a:endParaRPr>
            </a:p>
            <a:p>
              <a:r>
                <a:rPr lang="zh-CN" altLang="en-US" sz="1200" dirty="0">
                  <a:solidFill>
                    <a:schemeClr val="accent1"/>
                  </a:solidFill>
                  <a:latin typeface="ui-monospace"/>
                </a:rPr>
                <a:t>时间冗余：重复执行，程序回滚</a:t>
              </a:r>
              <a:endParaRPr lang="en-US" altLang="zh-CN" sz="1200" dirty="0">
                <a:solidFill>
                  <a:schemeClr val="accent1"/>
                </a:solidFill>
                <a:latin typeface="ui-monospace"/>
              </a:endParaRPr>
            </a:p>
            <a:p>
              <a:r>
                <a:rPr lang="zh-CN" altLang="en-US" sz="1200" dirty="0">
                  <a:solidFill>
                    <a:schemeClr val="accent1"/>
                  </a:solidFill>
                  <a:latin typeface="ui-monospace"/>
                </a:rPr>
                <a:t>冗余附加技术：屏蔽软件错误</a:t>
              </a:r>
              <a:endParaRPr lang="en-US" altLang="zh-CN" sz="1200" dirty="0">
                <a:solidFill>
                  <a:schemeClr val="accent1"/>
                </a:solidFill>
                <a:latin typeface="ui-monospace"/>
              </a:endParaRPr>
            </a:p>
            <a:p>
              <a:r>
                <a:rPr lang="en-US" altLang="zh-CN" sz="1200" dirty="0">
                  <a:solidFill>
                    <a:schemeClr val="accent1"/>
                  </a:solidFill>
                  <a:latin typeface="ui-monospace"/>
                </a:rPr>
                <a:t>-</a:t>
              </a:r>
              <a:r>
                <a:rPr lang="zh-CN" altLang="en-US" sz="1200" dirty="0">
                  <a:solidFill>
                    <a:schemeClr val="accent1"/>
                  </a:solidFill>
                  <a:latin typeface="ui-monospace"/>
                </a:rPr>
                <a:t>冗余备份程序的存储及调用</a:t>
              </a:r>
              <a:endParaRPr lang="en-US" altLang="zh-CN" sz="1200" dirty="0">
                <a:solidFill>
                  <a:schemeClr val="accent1"/>
                </a:solidFill>
                <a:latin typeface="ui-monospace"/>
              </a:endParaRPr>
            </a:p>
            <a:p>
              <a:r>
                <a:rPr lang="en-US" altLang="zh-CN" sz="1200" dirty="0">
                  <a:solidFill>
                    <a:schemeClr val="accent1"/>
                  </a:solidFill>
                  <a:latin typeface="ui-monospace"/>
                </a:rPr>
                <a:t>-</a:t>
              </a:r>
              <a:r>
                <a:rPr lang="zh-CN" altLang="en-US" sz="1200" dirty="0">
                  <a:solidFill>
                    <a:schemeClr val="accent1"/>
                  </a:solidFill>
                  <a:latin typeface="ui-monospace"/>
                </a:rPr>
                <a:t>实现错误检测和错误恢复的程序</a:t>
              </a:r>
              <a:endParaRPr lang="en-US" altLang="zh-CN" sz="1200" dirty="0">
                <a:solidFill>
                  <a:schemeClr val="accent1"/>
                </a:solidFill>
                <a:latin typeface="ui-monospace"/>
              </a:endParaRPr>
            </a:p>
            <a:p>
              <a:r>
                <a:rPr lang="en-US" altLang="zh-CN" sz="1200" dirty="0">
                  <a:solidFill>
                    <a:schemeClr val="accent1"/>
                  </a:solidFill>
                  <a:latin typeface="ui-monospace"/>
                </a:rPr>
                <a:t>-</a:t>
              </a:r>
              <a:r>
                <a:rPr lang="zh-CN" altLang="en-US" sz="1200" dirty="0">
                  <a:solidFill>
                    <a:schemeClr val="accent1"/>
                  </a:solidFill>
                  <a:latin typeface="ui-monospace"/>
                </a:rPr>
                <a:t>实现容错软件所需的固化程序</a:t>
              </a:r>
              <a:endParaRPr lang="en-US" altLang="zh-CN" sz="1200" dirty="0">
                <a:solidFill>
                  <a:schemeClr val="accent1"/>
                </a:solidFill>
                <a:latin typeface="ui-monospace"/>
              </a:endParaRPr>
            </a:p>
          </p:txBody>
        </p:sp>
      </p:grpSp>
      <p:grpSp>
        <p:nvGrpSpPr>
          <p:cNvPr id="22" name="Group 25">
            <a:extLst>
              <a:ext uri="{FF2B5EF4-FFF2-40B4-BE49-F238E27FC236}">
                <a16:creationId xmlns:a16="http://schemas.microsoft.com/office/drawing/2014/main" id="{2879AE75-2F4C-2CAA-6C63-609671C95057}"/>
              </a:ext>
            </a:extLst>
          </p:cNvPr>
          <p:cNvGrpSpPr/>
          <p:nvPr/>
        </p:nvGrpSpPr>
        <p:grpSpPr>
          <a:xfrm>
            <a:off x="7680687" y="3059704"/>
            <a:ext cx="4386653" cy="1126259"/>
            <a:chOff x="7614613" y="5950488"/>
            <a:chExt cx="4386653" cy="1126259"/>
          </a:xfrm>
        </p:grpSpPr>
        <p:sp>
          <p:nvSpPr>
            <p:cNvPr id="23" name="Rectangle: Rounded Corners 35">
              <a:extLst>
                <a:ext uri="{FF2B5EF4-FFF2-40B4-BE49-F238E27FC236}">
                  <a16:creationId xmlns:a16="http://schemas.microsoft.com/office/drawing/2014/main" id="{ADDCB0B9-D173-77BD-B08A-37BE473A4CEC}"/>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▶软件工具</a:t>
              </a:r>
              <a:endParaRPr lang="en-US" sz="1200" dirty="0">
                <a:solidFill>
                  <a:schemeClr val="bg1"/>
                </a:solidFill>
              </a:endParaRPr>
            </a:p>
          </p:txBody>
        </p:sp>
        <p:sp>
          <p:nvSpPr>
            <p:cNvPr id="38" name="TextBox 36">
              <a:extLst>
                <a:ext uri="{FF2B5EF4-FFF2-40B4-BE49-F238E27FC236}">
                  <a16:creationId xmlns:a16="http://schemas.microsoft.com/office/drawing/2014/main" id="{9E928C5C-4335-9A18-78EB-A5ECC0223890}"/>
                </a:ext>
              </a:extLst>
            </p:cNvPr>
            <p:cNvSpPr txBox="1"/>
            <p:nvPr/>
          </p:nvSpPr>
          <p:spPr>
            <a:xfrm>
              <a:off x="7667294" y="6245750"/>
              <a:ext cx="4281578" cy="830997"/>
            </a:xfrm>
            <a:prstGeom prst="rect">
              <a:avLst/>
            </a:prstGeom>
            <a:noFill/>
          </p:spPr>
          <p:txBody>
            <a:bodyPr wrap="square">
              <a:spAutoFit/>
            </a:bodyPr>
            <a:lstStyle/>
            <a:p>
              <a:r>
                <a:rPr lang="zh-CN" altLang="en-US" sz="1200" dirty="0">
                  <a:solidFill>
                    <a:schemeClr val="accent1"/>
                  </a:solidFill>
                  <a:latin typeface="ui-monospace"/>
                </a:rPr>
                <a:t>软件开发工具：需求分析工具、设计工具、编码与排错工具、测试工具</a:t>
              </a:r>
              <a:endParaRPr lang="en-US" altLang="zh-CN" sz="1200" dirty="0">
                <a:solidFill>
                  <a:schemeClr val="accent1"/>
                </a:solidFill>
                <a:latin typeface="ui-monospace"/>
              </a:endParaRPr>
            </a:p>
            <a:p>
              <a:r>
                <a:rPr lang="zh-CN" altLang="en-US" sz="1200" dirty="0">
                  <a:solidFill>
                    <a:schemeClr val="accent1"/>
                  </a:solidFill>
                  <a:latin typeface="ui-monospace"/>
                </a:rPr>
                <a:t>软件维护工具：版本控制工具、文档分析工具、开发信息库工具、</a:t>
              </a:r>
              <a:r>
                <a:rPr lang="zh-CN" altLang="en-US" sz="1200" b="1" dirty="0">
                  <a:solidFill>
                    <a:schemeClr val="accent1"/>
                  </a:solidFill>
                  <a:latin typeface="ui-monospace"/>
                </a:rPr>
                <a:t>逆向工程</a:t>
              </a:r>
              <a:r>
                <a:rPr lang="zh-CN" altLang="en-US" sz="1200" dirty="0">
                  <a:solidFill>
                    <a:schemeClr val="accent1"/>
                  </a:solidFill>
                  <a:latin typeface="ui-monospace"/>
                </a:rPr>
                <a:t>工具、再工程工具</a:t>
              </a:r>
              <a:endParaRPr lang="en-US" altLang="zh-CN" sz="1200" dirty="0">
                <a:solidFill>
                  <a:schemeClr val="accent1"/>
                </a:solidFill>
                <a:latin typeface="ui-monospace"/>
              </a:endParaRPr>
            </a:p>
          </p:txBody>
        </p:sp>
      </p:grpSp>
      <p:grpSp>
        <p:nvGrpSpPr>
          <p:cNvPr id="39" name="Group 25">
            <a:extLst>
              <a:ext uri="{FF2B5EF4-FFF2-40B4-BE49-F238E27FC236}">
                <a16:creationId xmlns:a16="http://schemas.microsoft.com/office/drawing/2014/main" id="{27A4A313-B740-E819-0014-98CF359E0BFB}"/>
              </a:ext>
            </a:extLst>
          </p:cNvPr>
          <p:cNvGrpSpPr/>
          <p:nvPr/>
        </p:nvGrpSpPr>
        <p:grpSpPr>
          <a:xfrm>
            <a:off x="7680687" y="4181994"/>
            <a:ext cx="4386653" cy="572261"/>
            <a:chOff x="7614613" y="5950488"/>
            <a:chExt cx="4386653" cy="572261"/>
          </a:xfrm>
        </p:grpSpPr>
        <p:sp>
          <p:nvSpPr>
            <p:cNvPr id="40" name="Rectangle: Rounded Corners 35">
              <a:extLst>
                <a:ext uri="{FF2B5EF4-FFF2-40B4-BE49-F238E27FC236}">
                  <a16:creationId xmlns:a16="http://schemas.microsoft.com/office/drawing/2014/main" id="{8C3DF90E-0619-E755-C29E-84DA435252F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▶软件调试</a:t>
              </a:r>
              <a:endParaRPr lang="en-US" sz="1200" dirty="0">
                <a:solidFill>
                  <a:schemeClr val="bg1"/>
                </a:solidFill>
              </a:endParaRPr>
            </a:p>
          </p:txBody>
        </p:sp>
        <p:sp>
          <p:nvSpPr>
            <p:cNvPr id="41" name="TextBox 36">
              <a:extLst>
                <a:ext uri="{FF2B5EF4-FFF2-40B4-BE49-F238E27FC236}">
                  <a16:creationId xmlns:a16="http://schemas.microsoft.com/office/drawing/2014/main" id="{42936D9C-5930-5BDB-6CBC-54B649BA6312}"/>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latin typeface="ui-monospace"/>
                </a:rPr>
                <a:t>试探法、回溯法、对分查找法、归纳法、演绎法</a:t>
              </a:r>
              <a:endParaRPr lang="en-US" altLang="zh-CN" sz="1200" dirty="0">
                <a:solidFill>
                  <a:schemeClr val="accent1"/>
                </a:solidFill>
                <a:latin typeface="ui-monospace"/>
              </a:endParaRPr>
            </a:p>
          </p:txBody>
        </p:sp>
      </p:grpSp>
    </p:spTree>
    <p:extLst>
      <p:ext uri="{BB962C8B-B14F-4D97-AF65-F5344CB8AC3E}">
        <p14:creationId xmlns:p14="http://schemas.microsoft.com/office/powerpoint/2010/main" val="41475734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267765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信息安全</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4386653" cy="2049588"/>
            <a:chOff x="7614613" y="5950488"/>
            <a:chExt cx="4386653" cy="2049588"/>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▶防火墙</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4281578" cy="1754326"/>
            </a:xfrm>
            <a:prstGeom prst="rect">
              <a:avLst/>
            </a:prstGeom>
            <a:noFill/>
          </p:spPr>
          <p:txBody>
            <a:bodyPr wrap="square">
              <a:spAutoFit/>
            </a:bodyPr>
            <a:lstStyle/>
            <a:p>
              <a:r>
                <a:rPr lang="zh-CN" altLang="en-US" sz="1200" dirty="0">
                  <a:solidFill>
                    <a:schemeClr val="accent1"/>
                  </a:solidFill>
                  <a:latin typeface="ui-monospace"/>
                </a:rPr>
                <a:t>内网、</a:t>
              </a:r>
              <a:r>
                <a:rPr lang="en-US" altLang="zh-CN" sz="1200" dirty="0">
                  <a:solidFill>
                    <a:schemeClr val="accent1"/>
                  </a:solidFill>
                  <a:latin typeface="ui-monospace"/>
                </a:rPr>
                <a:t>DMZ/</a:t>
              </a:r>
              <a:r>
                <a:rPr lang="zh-CN" altLang="en-US" sz="1200" dirty="0">
                  <a:solidFill>
                    <a:schemeClr val="accent1"/>
                  </a:solidFill>
                  <a:latin typeface="ui-monospace"/>
                </a:rPr>
                <a:t>隔离区</a:t>
              </a:r>
              <a:r>
                <a:rPr lang="en-US" altLang="zh-CN" sz="1200" dirty="0">
                  <a:solidFill>
                    <a:schemeClr val="accent1"/>
                  </a:solidFill>
                  <a:latin typeface="ui-monospace"/>
                </a:rPr>
                <a:t>/</a:t>
              </a:r>
              <a:r>
                <a:rPr lang="zh-CN" altLang="en-US" sz="1200" dirty="0">
                  <a:solidFill>
                    <a:schemeClr val="accent1"/>
                  </a:solidFill>
                  <a:latin typeface="ui-monospace"/>
                </a:rPr>
                <a:t>非军事化区</a:t>
              </a:r>
              <a:r>
                <a:rPr lang="en-US" altLang="zh-CN" sz="1200" dirty="0">
                  <a:solidFill>
                    <a:schemeClr val="accent1"/>
                  </a:solidFill>
                  <a:latin typeface="ui-monospace"/>
                </a:rPr>
                <a:t>-</a:t>
              </a:r>
              <a:r>
                <a:rPr lang="zh-CN" altLang="en-US" sz="1200" dirty="0">
                  <a:solidFill>
                    <a:schemeClr val="accent1"/>
                  </a:solidFill>
                  <a:latin typeface="ui-monospace"/>
                </a:rPr>
                <a:t>放置公用服务器、外网</a:t>
              </a:r>
              <a:endParaRPr lang="en-US" altLang="zh-CN" sz="1200" dirty="0">
                <a:solidFill>
                  <a:schemeClr val="accent1"/>
                </a:solidFill>
                <a:latin typeface="ui-monospace"/>
              </a:endParaRPr>
            </a:p>
            <a:p>
              <a:r>
                <a:rPr lang="zh-CN" altLang="en-US" sz="1200" dirty="0">
                  <a:solidFill>
                    <a:schemeClr val="accent1"/>
                  </a:solidFill>
                  <a:latin typeface="ui-monospace"/>
                </a:rPr>
                <a:t>发展阶段：包过滤、应用代理网关、状态检测技术</a:t>
              </a:r>
              <a:endParaRPr lang="en-US" altLang="zh-CN" sz="1200" dirty="0">
                <a:solidFill>
                  <a:schemeClr val="accent1"/>
                </a:solidFill>
                <a:latin typeface="ui-monospace"/>
              </a:endParaRPr>
            </a:p>
            <a:p>
              <a:r>
                <a:rPr lang="zh-CN" altLang="en-US" sz="1200" dirty="0">
                  <a:solidFill>
                    <a:schemeClr val="accent1"/>
                  </a:solidFill>
                  <a:latin typeface="ui-monospace"/>
                </a:rPr>
                <a:t>包过滤：处于</a:t>
              </a:r>
              <a:r>
                <a:rPr lang="zh-CN" altLang="en-US" sz="1200" b="1" dirty="0">
                  <a:solidFill>
                    <a:schemeClr val="accent1"/>
                  </a:solidFill>
                  <a:latin typeface="ui-monospace"/>
                </a:rPr>
                <a:t>网络层</a:t>
              </a:r>
              <a:r>
                <a:rPr lang="zh-CN" altLang="en-US" sz="1200" dirty="0">
                  <a:solidFill>
                    <a:schemeClr val="accent1"/>
                  </a:solidFill>
                  <a:latin typeface="ui-monospace"/>
                </a:rPr>
                <a:t>和数据链路层 </a:t>
              </a:r>
              <a:r>
                <a:rPr lang="en-US" altLang="zh-CN" sz="1200" dirty="0">
                  <a:solidFill>
                    <a:schemeClr val="accent1"/>
                  </a:solidFill>
                  <a:latin typeface="ui-monospace"/>
                </a:rPr>
                <a:t>TCP-IP</a:t>
              </a:r>
            </a:p>
            <a:p>
              <a:r>
                <a:rPr lang="zh-CN" altLang="en-US" sz="1200" dirty="0">
                  <a:solidFill>
                    <a:schemeClr val="accent1"/>
                  </a:solidFill>
                  <a:latin typeface="ui-monospace"/>
                </a:rPr>
                <a:t>优点：对用户完全透明，低水平控制</a:t>
              </a:r>
              <a:endParaRPr lang="en-US" altLang="zh-CN" sz="1200" dirty="0">
                <a:solidFill>
                  <a:schemeClr val="accent1"/>
                </a:solidFill>
                <a:latin typeface="ui-monospace"/>
              </a:endParaRPr>
            </a:p>
            <a:p>
              <a:r>
                <a:rPr lang="zh-CN" altLang="en-US" sz="1200" dirty="0">
                  <a:solidFill>
                    <a:schemeClr val="accent1"/>
                  </a:solidFill>
                  <a:latin typeface="ui-monospace"/>
                </a:rPr>
                <a:t>缺点：无法防范黑客攻击，不支持应用层协议</a:t>
              </a:r>
              <a:endParaRPr lang="en-US" altLang="zh-CN" sz="1200" dirty="0">
                <a:solidFill>
                  <a:schemeClr val="accent1"/>
                </a:solidFill>
                <a:latin typeface="ui-monospace"/>
              </a:endParaRPr>
            </a:p>
            <a:p>
              <a:r>
                <a:rPr lang="zh-CN" altLang="en-US" sz="1200" dirty="0">
                  <a:solidFill>
                    <a:schemeClr val="accent1"/>
                  </a:solidFill>
                  <a:latin typeface="ui-monospace"/>
                </a:rPr>
                <a:t>应用代理网关：经过应用代理软件转发</a:t>
              </a:r>
              <a:endParaRPr lang="en-US" altLang="zh-CN" sz="1200" dirty="0">
                <a:solidFill>
                  <a:schemeClr val="accent1"/>
                </a:solidFill>
                <a:latin typeface="ui-monospace"/>
              </a:endParaRPr>
            </a:p>
            <a:p>
              <a:r>
                <a:rPr lang="zh-CN" altLang="en-US" sz="1200" dirty="0">
                  <a:solidFill>
                    <a:schemeClr val="accent1"/>
                  </a:solidFill>
                  <a:latin typeface="ui-monospace"/>
                </a:rPr>
                <a:t>优点：可以检测</a:t>
              </a:r>
              <a:r>
                <a:rPr lang="zh-CN" altLang="en-US" sz="1200" b="1" dirty="0">
                  <a:solidFill>
                    <a:schemeClr val="accent1"/>
                  </a:solidFill>
                  <a:latin typeface="ui-monospace"/>
                </a:rPr>
                <a:t>应用层</a:t>
              </a:r>
              <a:r>
                <a:rPr lang="zh-CN" altLang="en-US" sz="1200" dirty="0">
                  <a:solidFill>
                    <a:schemeClr val="accent1"/>
                  </a:solidFill>
                  <a:latin typeface="ui-monospace"/>
                </a:rPr>
                <a:t>、网络层和传输层，检测能力强</a:t>
              </a:r>
              <a:endParaRPr lang="en-US" altLang="zh-CN" sz="1200" dirty="0">
                <a:solidFill>
                  <a:schemeClr val="accent1"/>
                </a:solidFill>
                <a:latin typeface="ui-monospace"/>
              </a:endParaRPr>
            </a:p>
            <a:p>
              <a:r>
                <a:rPr lang="zh-CN" altLang="en-US" sz="1200" dirty="0">
                  <a:solidFill>
                    <a:schemeClr val="accent1"/>
                  </a:solidFill>
                  <a:latin typeface="ui-monospace"/>
                </a:rPr>
                <a:t>缺点：处理速度慢</a:t>
              </a:r>
              <a:endParaRPr lang="en-US" altLang="zh-CN" sz="1200" dirty="0">
                <a:solidFill>
                  <a:schemeClr val="accent1"/>
                </a:solidFill>
                <a:latin typeface="ui-monospace"/>
              </a:endParaRPr>
            </a:p>
            <a:p>
              <a:r>
                <a:rPr lang="zh-CN" altLang="en-US" sz="1200" dirty="0">
                  <a:solidFill>
                    <a:schemeClr val="accent1"/>
                  </a:solidFill>
                  <a:latin typeface="ui-monospace"/>
                </a:rPr>
                <a:t>防火墙工作层次越高，工作效率越低，安全性越高</a:t>
              </a:r>
              <a:endParaRPr lang="en-US" altLang="zh-CN" sz="1200" dirty="0">
                <a:solidFill>
                  <a:schemeClr val="accent1"/>
                </a:solidFill>
                <a:latin typeface="ui-monospace"/>
              </a:endParaRPr>
            </a:p>
          </p:txBody>
        </p:sp>
      </p:grpSp>
      <p:grpSp>
        <p:nvGrpSpPr>
          <p:cNvPr id="33" name="Group 25">
            <a:extLst>
              <a:ext uri="{FF2B5EF4-FFF2-40B4-BE49-F238E27FC236}">
                <a16:creationId xmlns:a16="http://schemas.microsoft.com/office/drawing/2014/main" id="{B8FA9490-77B4-E4EA-AA14-98492AF3D1D7}"/>
              </a:ext>
            </a:extLst>
          </p:cNvPr>
          <p:cNvGrpSpPr/>
          <p:nvPr/>
        </p:nvGrpSpPr>
        <p:grpSpPr>
          <a:xfrm>
            <a:off x="7655287" y="71394"/>
            <a:ext cx="4386653" cy="4634912"/>
            <a:chOff x="7614613" y="5950488"/>
            <a:chExt cx="4386653" cy="4634912"/>
          </a:xfrm>
        </p:grpSpPr>
        <p:sp>
          <p:nvSpPr>
            <p:cNvPr id="34" name="Rectangle: Rounded Corners 35">
              <a:extLst>
                <a:ext uri="{FF2B5EF4-FFF2-40B4-BE49-F238E27FC236}">
                  <a16:creationId xmlns:a16="http://schemas.microsoft.com/office/drawing/2014/main" id="{9B0280EF-C067-9382-6455-DC4DFA9BABC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▶网络安全</a:t>
              </a:r>
              <a:endParaRPr lang="en-US" sz="1200" dirty="0">
                <a:solidFill>
                  <a:schemeClr val="bg1"/>
                </a:solidFill>
              </a:endParaRPr>
            </a:p>
          </p:txBody>
        </p:sp>
        <p:sp>
          <p:nvSpPr>
            <p:cNvPr id="35" name="TextBox 36">
              <a:extLst>
                <a:ext uri="{FF2B5EF4-FFF2-40B4-BE49-F238E27FC236}">
                  <a16:creationId xmlns:a16="http://schemas.microsoft.com/office/drawing/2014/main" id="{501076B1-418C-C120-5596-4155B0B6B970}"/>
                </a:ext>
              </a:extLst>
            </p:cNvPr>
            <p:cNvSpPr txBox="1"/>
            <p:nvPr/>
          </p:nvSpPr>
          <p:spPr>
            <a:xfrm>
              <a:off x="7667294" y="6245750"/>
              <a:ext cx="4281578" cy="4339650"/>
            </a:xfrm>
            <a:prstGeom prst="rect">
              <a:avLst/>
            </a:prstGeom>
            <a:noFill/>
          </p:spPr>
          <p:txBody>
            <a:bodyPr wrap="square">
              <a:spAutoFit/>
            </a:bodyPr>
            <a:lstStyle/>
            <a:p>
              <a:r>
                <a:rPr lang="en-US" altLang="zh-CN" sz="1200" dirty="0">
                  <a:solidFill>
                    <a:schemeClr val="accent1"/>
                  </a:solidFill>
                  <a:latin typeface="ui-monospace"/>
                </a:rPr>
                <a:t>SSL(</a:t>
              </a:r>
              <a:r>
                <a:rPr lang="zh-CN" altLang="en-US" sz="1200" dirty="0">
                  <a:solidFill>
                    <a:schemeClr val="accent1"/>
                  </a:solidFill>
                  <a:latin typeface="ui-monospace"/>
                </a:rPr>
                <a:t>安全套接层</a:t>
              </a:r>
              <a:r>
                <a:rPr lang="en-US" altLang="zh-CN" sz="1200" dirty="0">
                  <a:solidFill>
                    <a:schemeClr val="accent1"/>
                  </a:solidFill>
                  <a:latin typeface="ui-monospace"/>
                </a:rPr>
                <a:t>)</a:t>
              </a:r>
              <a:r>
                <a:rPr lang="zh-CN" altLang="en-US" sz="1200" dirty="0">
                  <a:solidFill>
                    <a:schemeClr val="accent1"/>
                  </a:solidFill>
                  <a:latin typeface="ui-monospace"/>
                </a:rPr>
                <a:t>：传输层安全协议。</a:t>
              </a:r>
              <a:r>
                <a:rPr lang="zh-CN" altLang="en-US" sz="1200" b="1" dirty="0">
                  <a:solidFill>
                    <a:schemeClr val="accent1"/>
                  </a:solidFill>
                  <a:latin typeface="ui-monospace"/>
                </a:rPr>
                <a:t>端口号</a:t>
              </a:r>
              <a:r>
                <a:rPr lang="en-US" altLang="zh-CN" sz="1200" b="1" dirty="0">
                  <a:solidFill>
                    <a:schemeClr val="accent1"/>
                  </a:solidFill>
                  <a:latin typeface="ui-monospace"/>
                </a:rPr>
                <a:t>443</a:t>
              </a:r>
            </a:p>
            <a:p>
              <a:r>
                <a:rPr lang="en-US" altLang="zh-CN" sz="1200" dirty="0">
                  <a:solidFill>
                    <a:schemeClr val="accent1"/>
                  </a:solidFill>
                  <a:latin typeface="ui-monospace"/>
                </a:rPr>
                <a:t>TLS(</a:t>
              </a:r>
              <a:r>
                <a:rPr lang="zh-CN" altLang="en-US" sz="1200" dirty="0">
                  <a:solidFill>
                    <a:schemeClr val="accent1"/>
                  </a:solidFill>
                  <a:latin typeface="ui-monospace"/>
                </a:rPr>
                <a:t>传输层安全协议</a:t>
              </a:r>
              <a:r>
                <a:rPr lang="en-US" altLang="zh-CN" sz="1200" dirty="0">
                  <a:solidFill>
                    <a:schemeClr val="accent1"/>
                  </a:solidFill>
                  <a:latin typeface="ui-monospace"/>
                </a:rPr>
                <a:t>)</a:t>
              </a:r>
              <a:r>
                <a:rPr lang="zh-CN" altLang="en-US" sz="1200" dirty="0">
                  <a:solidFill>
                    <a:schemeClr val="accent1"/>
                  </a:solidFill>
                  <a:latin typeface="ui-monospace"/>
                </a:rPr>
                <a:t>：是</a:t>
              </a:r>
              <a:r>
                <a:rPr lang="en-US" altLang="zh-CN" sz="1200" dirty="0">
                  <a:solidFill>
                    <a:schemeClr val="accent1"/>
                  </a:solidFill>
                  <a:latin typeface="ui-monospace"/>
                </a:rPr>
                <a:t>SSL3.0</a:t>
              </a:r>
              <a:r>
                <a:rPr lang="zh-CN" altLang="en-US" sz="1200" dirty="0">
                  <a:solidFill>
                    <a:schemeClr val="accent1"/>
                  </a:solidFill>
                  <a:latin typeface="ui-monospace"/>
                </a:rPr>
                <a:t>的后续版本</a:t>
              </a:r>
              <a:endParaRPr lang="en-US" altLang="zh-CN" sz="1200" dirty="0">
                <a:solidFill>
                  <a:schemeClr val="accent1"/>
                </a:solidFill>
                <a:latin typeface="ui-monospace"/>
              </a:endParaRPr>
            </a:p>
            <a:p>
              <a:r>
                <a:rPr lang="en-US" altLang="zh-CN" sz="1200" dirty="0">
                  <a:solidFill>
                    <a:schemeClr val="accent1"/>
                  </a:solidFill>
                  <a:latin typeface="ui-monospace"/>
                </a:rPr>
                <a:t>HTTPS</a:t>
              </a:r>
              <a:r>
                <a:rPr lang="zh-CN" altLang="en-US" sz="1200" dirty="0">
                  <a:solidFill>
                    <a:schemeClr val="accent1"/>
                  </a:solidFill>
                  <a:latin typeface="ui-monospace"/>
                </a:rPr>
                <a:t>：使用</a:t>
              </a:r>
              <a:r>
                <a:rPr lang="en-US" altLang="zh-CN" sz="1200" dirty="0">
                  <a:solidFill>
                    <a:schemeClr val="accent1"/>
                  </a:solidFill>
                  <a:latin typeface="ui-monospace"/>
                </a:rPr>
                <a:t>SSL</a:t>
              </a:r>
              <a:r>
                <a:rPr lang="zh-CN" altLang="en-US" sz="1200" dirty="0">
                  <a:solidFill>
                    <a:schemeClr val="accent1"/>
                  </a:solidFill>
                  <a:latin typeface="ui-monospace"/>
                </a:rPr>
                <a:t>加密算法的</a:t>
              </a:r>
              <a:r>
                <a:rPr lang="en-US" altLang="zh-CN" sz="1200" dirty="0">
                  <a:solidFill>
                    <a:schemeClr val="accent1"/>
                  </a:solidFill>
                  <a:latin typeface="ui-monospace"/>
                </a:rPr>
                <a:t>HTTP</a:t>
              </a:r>
            </a:p>
            <a:p>
              <a:r>
                <a:rPr lang="en-US" altLang="zh-CN" sz="1200" b="1" dirty="0">
                  <a:solidFill>
                    <a:schemeClr val="accent1"/>
                  </a:solidFill>
                  <a:latin typeface="ui-monospace"/>
                </a:rPr>
                <a:t>MIME</a:t>
              </a:r>
              <a:r>
                <a:rPr lang="en-US" altLang="zh-CN" sz="1200" dirty="0">
                  <a:solidFill>
                    <a:schemeClr val="accent1"/>
                  </a:solidFill>
                  <a:latin typeface="ui-monospace"/>
                </a:rPr>
                <a:t>(</a:t>
              </a:r>
              <a:r>
                <a:rPr lang="zh-CN" altLang="en-US" sz="1200" dirty="0">
                  <a:solidFill>
                    <a:schemeClr val="accent1"/>
                  </a:solidFill>
                  <a:latin typeface="ui-monospace"/>
                </a:rPr>
                <a:t>多用途互联网邮件扩展类型</a:t>
              </a:r>
              <a:r>
                <a:rPr lang="en-US" altLang="zh-CN" sz="1200" dirty="0">
                  <a:solidFill>
                    <a:schemeClr val="accent1"/>
                  </a:solidFill>
                  <a:latin typeface="ui-monospace"/>
                </a:rPr>
                <a:t>)</a:t>
              </a:r>
              <a:r>
                <a:rPr lang="zh-CN" altLang="en-US" sz="1200" dirty="0">
                  <a:solidFill>
                    <a:schemeClr val="accent1"/>
                  </a:solidFill>
                  <a:latin typeface="ui-monospace"/>
                </a:rPr>
                <a:t>：扩展电子邮件</a:t>
              </a:r>
              <a:r>
                <a:rPr lang="zh-CN" altLang="en-US" sz="1200" b="1" dirty="0">
                  <a:solidFill>
                    <a:schemeClr val="accent1"/>
                  </a:solidFill>
                  <a:latin typeface="ui-monospace"/>
                </a:rPr>
                <a:t>类型</a:t>
              </a:r>
              <a:endParaRPr lang="en-US" altLang="zh-CN" sz="1200" b="1" dirty="0">
                <a:solidFill>
                  <a:schemeClr val="accent1"/>
                </a:solidFill>
                <a:latin typeface="ui-monospace"/>
              </a:endParaRPr>
            </a:p>
            <a:p>
              <a:r>
                <a:rPr lang="en-US" altLang="zh-CN" sz="1200" dirty="0">
                  <a:solidFill>
                    <a:schemeClr val="accent1"/>
                  </a:solidFill>
                  <a:latin typeface="ui-monospace"/>
                </a:rPr>
                <a:t>PGP(</a:t>
              </a:r>
              <a:r>
                <a:rPr lang="zh-CN" altLang="en-US" sz="1200" dirty="0">
                  <a:solidFill>
                    <a:schemeClr val="accent1"/>
                  </a:solidFill>
                  <a:latin typeface="ui-monospace"/>
                </a:rPr>
                <a:t>优良保密协议</a:t>
              </a:r>
              <a:r>
                <a:rPr lang="en-US" altLang="zh-CN" sz="1200" dirty="0">
                  <a:solidFill>
                    <a:schemeClr val="accent1"/>
                  </a:solidFill>
                  <a:latin typeface="ui-monospace"/>
                </a:rPr>
                <a:t>)</a:t>
              </a:r>
              <a:r>
                <a:rPr lang="zh-CN" altLang="en-US" sz="1200" dirty="0">
                  <a:solidFill>
                    <a:schemeClr val="accent1"/>
                  </a:solidFill>
                  <a:latin typeface="ui-monospace"/>
                </a:rPr>
                <a:t>：基于</a:t>
              </a:r>
              <a:r>
                <a:rPr lang="en-US" altLang="zh-CN" sz="1200" dirty="0">
                  <a:solidFill>
                    <a:schemeClr val="accent1"/>
                  </a:solidFill>
                  <a:latin typeface="ui-monospace"/>
                </a:rPr>
                <a:t>RSA</a:t>
              </a:r>
              <a:r>
                <a:rPr lang="zh-CN" altLang="en-US" sz="1200" dirty="0">
                  <a:solidFill>
                    <a:schemeClr val="accent1"/>
                  </a:solidFill>
                  <a:latin typeface="ui-monospace"/>
                </a:rPr>
                <a:t>公钥加密体系的邮件加密软件</a:t>
              </a:r>
              <a:endParaRPr lang="en-US" altLang="zh-CN" sz="1200" dirty="0">
                <a:solidFill>
                  <a:schemeClr val="accent1"/>
                </a:solidFill>
                <a:latin typeface="ui-monospace"/>
              </a:endParaRPr>
            </a:p>
            <a:p>
              <a:r>
                <a:rPr lang="en-US" altLang="zh-CN" sz="1200" dirty="0">
                  <a:solidFill>
                    <a:schemeClr val="accent1"/>
                  </a:solidFill>
                  <a:latin typeface="ui-monospace"/>
                </a:rPr>
                <a:t>IPSec</a:t>
              </a:r>
              <a:r>
                <a:rPr lang="zh-CN" altLang="en-US" sz="1200" dirty="0">
                  <a:solidFill>
                    <a:schemeClr val="accent1"/>
                  </a:solidFill>
                  <a:latin typeface="ui-monospace"/>
                </a:rPr>
                <a:t>：加密</a:t>
              </a:r>
              <a:r>
                <a:rPr lang="en-US" altLang="zh-CN" sz="1200" dirty="0">
                  <a:solidFill>
                    <a:schemeClr val="accent1"/>
                  </a:solidFill>
                  <a:latin typeface="ui-monospace"/>
                </a:rPr>
                <a:t>IP</a:t>
              </a:r>
              <a:r>
                <a:rPr lang="zh-CN" altLang="en-US" sz="1200" dirty="0">
                  <a:solidFill>
                    <a:schemeClr val="accent1"/>
                  </a:solidFill>
                  <a:latin typeface="ui-monospace"/>
                </a:rPr>
                <a:t>数据报文</a:t>
              </a:r>
              <a:endParaRPr lang="en-US" altLang="zh-CN" sz="1200" dirty="0">
                <a:solidFill>
                  <a:schemeClr val="accent1"/>
                </a:solidFill>
                <a:latin typeface="ui-monospace"/>
              </a:endParaRPr>
            </a:p>
            <a:p>
              <a:r>
                <a:rPr lang="en-US" altLang="zh-CN" sz="1200" dirty="0">
                  <a:solidFill>
                    <a:schemeClr val="accent1"/>
                  </a:solidFill>
                  <a:latin typeface="ui-monospace"/>
                </a:rPr>
                <a:t>PP2P</a:t>
              </a:r>
              <a:r>
                <a:rPr lang="zh-CN" altLang="en-US" sz="1200" dirty="0">
                  <a:solidFill>
                    <a:schemeClr val="accent1"/>
                  </a:solidFill>
                  <a:latin typeface="ui-monospace"/>
                </a:rPr>
                <a:t>：加密链路层</a:t>
              </a:r>
              <a:endParaRPr lang="en-US" altLang="zh-CN" sz="1200" dirty="0">
                <a:solidFill>
                  <a:schemeClr val="accent1"/>
                </a:solidFill>
                <a:latin typeface="ui-monospace"/>
              </a:endParaRPr>
            </a:p>
            <a:p>
              <a:r>
                <a:rPr lang="en-US" altLang="zh-CN" sz="1200" dirty="0">
                  <a:solidFill>
                    <a:schemeClr val="accent1"/>
                  </a:solidFill>
                  <a:latin typeface="ui-monospace"/>
                </a:rPr>
                <a:t>IGMP</a:t>
              </a:r>
              <a:r>
                <a:rPr lang="zh-CN" altLang="en-US" sz="1200" dirty="0">
                  <a:solidFill>
                    <a:schemeClr val="accent1"/>
                  </a:solidFill>
                  <a:latin typeface="ui-monospace"/>
                </a:rPr>
                <a:t>：管理多播组成员关系的核心协议，因特网主管理协议</a:t>
              </a:r>
              <a:endParaRPr lang="en-US" altLang="zh-CN" sz="1200" dirty="0">
                <a:solidFill>
                  <a:schemeClr val="accent1"/>
                </a:solidFill>
                <a:latin typeface="ui-monospace"/>
              </a:endParaRPr>
            </a:p>
            <a:p>
              <a:r>
                <a:rPr lang="en-US" altLang="zh-CN" sz="1200" b="1" dirty="0">
                  <a:solidFill>
                    <a:schemeClr val="accent1"/>
                  </a:solidFill>
                  <a:latin typeface="ui-monospace"/>
                </a:rPr>
                <a:t>SSH</a:t>
              </a:r>
              <a:r>
                <a:rPr lang="zh-CN" altLang="en-US" sz="1200" b="1" dirty="0">
                  <a:solidFill>
                    <a:schemeClr val="accent1"/>
                  </a:solidFill>
                  <a:latin typeface="ui-monospace"/>
                </a:rPr>
                <a:t>：</a:t>
              </a:r>
              <a:r>
                <a:rPr lang="zh-CN" altLang="en-US" sz="1200" dirty="0">
                  <a:solidFill>
                    <a:schemeClr val="accent1"/>
                  </a:solidFill>
                  <a:latin typeface="ui-monospace"/>
                </a:rPr>
                <a:t>终端设备与远程站点建立安全连接的协议</a:t>
              </a:r>
              <a:endParaRPr lang="en-US" altLang="zh-CN" sz="1200" dirty="0">
                <a:solidFill>
                  <a:schemeClr val="accent1"/>
                </a:solidFill>
                <a:latin typeface="ui-monospace"/>
              </a:endParaRPr>
            </a:p>
            <a:p>
              <a:r>
                <a:rPr lang="en-US" altLang="zh-CN" sz="1200" dirty="0">
                  <a:solidFill>
                    <a:schemeClr val="accent1"/>
                  </a:solidFill>
                  <a:latin typeface="ui-monospace"/>
                </a:rPr>
                <a:t>Telnet</a:t>
              </a:r>
              <a:r>
                <a:rPr lang="zh-CN" altLang="en-US" sz="1200" dirty="0">
                  <a:solidFill>
                    <a:schemeClr val="accent1"/>
                  </a:solidFill>
                  <a:latin typeface="ui-monospace"/>
                </a:rPr>
                <a:t>：应用层网络协议，用于远程登录，不安全</a:t>
              </a:r>
              <a:endParaRPr lang="en-US" altLang="zh-CN" sz="1200" dirty="0">
                <a:solidFill>
                  <a:schemeClr val="accent1"/>
                </a:solidFill>
                <a:latin typeface="ui-monospace"/>
              </a:endParaRPr>
            </a:p>
            <a:p>
              <a:r>
                <a:rPr lang="en-US" altLang="zh-CN" sz="1200" dirty="0">
                  <a:solidFill>
                    <a:schemeClr val="accent1"/>
                  </a:solidFill>
                  <a:latin typeface="ui-monospace"/>
                </a:rPr>
                <a:t>RFB</a:t>
              </a:r>
              <a:r>
                <a:rPr lang="zh-CN" altLang="en-US" sz="1200" dirty="0">
                  <a:solidFill>
                    <a:schemeClr val="accent1"/>
                  </a:solidFill>
                  <a:latin typeface="ui-monospace"/>
                </a:rPr>
                <a:t>：远程登录图形化用户界面</a:t>
              </a:r>
              <a:endParaRPr lang="en-US" altLang="zh-CN" sz="1200" dirty="0">
                <a:solidFill>
                  <a:schemeClr val="accent1"/>
                </a:solidFill>
                <a:latin typeface="ui-monospace"/>
              </a:endParaRPr>
            </a:p>
            <a:p>
              <a:r>
                <a:rPr lang="en-US" altLang="zh-CN" sz="1200" dirty="0">
                  <a:solidFill>
                    <a:schemeClr val="accent1"/>
                  </a:solidFill>
                  <a:latin typeface="ui-monospace"/>
                </a:rPr>
                <a:t>Outlook Express</a:t>
              </a:r>
              <a:r>
                <a:rPr lang="zh-CN" altLang="en-US" sz="1200" dirty="0">
                  <a:solidFill>
                    <a:schemeClr val="accent1"/>
                  </a:solidFill>
                  <a:latin typeface="ui-monospace"/>
                </a:rPr>
                <a:t>：免费电子邮件客户端</a:t>
              </a:r>
              <a:endParaRPr lang="en-US" altLang="zh-CN" sz="1200" dirty="0">
                <a:solidFill>
                  <a:schemeClr val="accent1"/>
                </a:solidFill>
                <a:latin typeface="ui-monospace"/>
              </a:endParaRPr>
            </a:p>
            <a:p>
              <a:r>
                <a:rPr lang="en-US" altLang="zh-CN" sz="1200" dirty="0">
                  <a:solidFill>
                    <a:schemeClr val="accent1"/>
                  </a:solidFill>
                  <a:latin typeface="ui-monospace"/>
                </a:rPr>
                <a:t>ARP</a:t>
              </a:r>
              <a:r>
                <a:rPr lang="zh-CN" altLang="en-US" sz="1200" dirty="0">
                  <a:solidFill>
                    <a:schemeClr val="accent1"/>
                  </a:solidFill>
                  <a:latin typeface="ui-monospace"/>
                </a:rPr>
                <a:t>：地址解析协议</a:t>
              </a:r>
              <a:endParaRPr lang="en-US" altLang="zh-CN" sz="1200" dirty="0">
                <a:solidFill>
                  <a:schemeClr val="accent1"/>
                </a:solidFill>
                <a:latin typeface="ui-monospace"/>
              </a:endParaRPr>
            </a:p>
            <a:p>
              <a:r>
                <a:rPr lang="en-US" altLang="zh-CN" sz="1200" dirty="0">
                  <a:solidFill>
                    <a:schemeClr val="accent1"/>
                  </a:solidFill>
                  <a:latin typeface="ui-monospace"/>
                </a:rPr>
                <a:t>WEP</a:t>
              </a:r>
              <a:r>
                <a:rPr lang="zh-CN" altLang="en-US" sz="1200" dirty="0">
                  <a:solidFill>
                    <a:schemeClr val="accent1"/>
                  </a:solidFill>
                  <a:latin typeface="ui-monospace"/>
                </a:rPr>
                <a:t>：有线等效保密协议</a:t>
              </a:r>
              <a:endParaRPr lang="en-US" altLang="zh-CN" sz="1200" dirty="0">
                <a:solidFill>
                  <a:schemeClr val="accent1"/>
                </a:solidFill>
                <a:latin typeface="ui-monospace"/>
              </a:endParaRPr>
            </a:p>
            <a:p>
              <a:r>
                <a:rPr lang="en-US" altLang="zh-CN" sz="1200" dirty="0">
                  <a:solidFill>
                    <a:schemeClr val="accent1"/>
                  </a:solidFill>
                  <a:latin typeface="ui-monospace"/>
                </a:rPr>
                <a:t>TFTP</a:t>
              </a:r>
              <a:r>
                <a:rPr lang="zh-CN" altLang="en-US" sz="1200" dirty="0">
                  <a:solidFill>
                    <a:schemeClr val="accent1"/>
                  </a:solidFill>
                  <a:latin typeface="ui-monospace"/>
                </a:rPr>
                <a:t>：简单文件传输</a:t>
              </a:r>
              <a:endParaRPr lang="en-US" altLang="zh-CN" sz="1200" dirty="0">
                <a:solidFill>
                  <a:schemeClr val="accent1"/>
                </a:solidFill>
                <a:latin typeface="ui-monospace"/>
              </a:endParaRPr>
            </a:p>
            <a:p>
              <a:r>
                <a:rPr lang="zh-CN" altLang="en-US" sz="1200" dirty="0">
                  <a:solidFill>
                    <a:schemeClr val="accent1"/>
                  </a:solidFill>
                  <a:latin typeface="ui-monospace"/>
                </a:rPr>
                <a:t>内部网关协议：</a:t>
              </a:r>
              <a:r>
                <a:rPr lang="en-US" altLang="zh-CN" sz="1200" dirty="0">
                  <a:solidFill>
                    <a:schemeClr val="accent1"/>
                  </a:solidFill>
                  <a:latin typeface="ui-monospace"/>
                </a:rPr>
                <a:t>RIP/OSPF/IS-IS/IGRP/EIGRP</a:t>
              </a:r>
            </a:p>
            <a:p>
              <a:r>
                <a:rPr lang="zh-CN" altLang="en-US" sz="1200" dirty="0">
                  <a:solidFill>
                    <a:schemeClr val="accent1"/>
                  </a:solidFill>
                  <a:latin typeface="ui-monospace"/>
                </a:rPr>
                <a:t>外部网关协议：</a:t>
              </a:r>
              <a:r>
                <a:rPr lang="en-US" altLang="zh-CN" sz="1200" dirty="0">
                  <a:solidFill>
                    <a:schemeClr val="accent1"/>
                  </a:solidFill>
                  <a:latin typeface="ui-monospace"/>
                </a:rPr>
                <a:t>BGP</a:t>
              </a:r>
            </a:p>
            <a:p>
              <a:r>
                <a:rPr lang="en-US" altLang="zh-CN" sz="1200" dirty="0">
                  <a:solidFill>
                    <a:schemeClr val="accent1"/>
                  </a:solidFill>
                  <a:latin typeface="ui-monospace"/>
                </a:rPr>
                <a:t>UDP</a:t>
              </a:r>
              <a:r>
                <a:rPr lang="zh-CN" altLang="en-US" sz="1200" dirty="0">
                  <a:solidFill>
                    <a:schemeClr val="accent1"/>
                  </a:solidFill>
                  <a:latin typeface="ui-monospace"/>
                </a:rPr>
                <a:t>：不可靠无连接协议</a:t>
              </a:r>
              <a:endParaRPr lang="en-US" altLang="zh-CN" sz="1200" dirty="0">
                <a:solidFill>
                  <a:schemeClr val="accent1"/>
                </a:solidFill>
                <a:latin typeface="ui-monospace"/>
              </a:endParaRPr>
            </a:p>
            <a:p>
              <a:r>
                <a:rPr lang="zh-CN" altLang="en-US" sz="1200" dirty="0">
                  <a:solidFill>
                    <a:schemeClr val="accent1"/>
                  </a:solidFill>
                  <a:latin typeface="ui-monospace"/>
                </a:rPr>
                <a:t>数据库容灾：异地备用数据接管无法正常工作的数据库，确保服务正常运行和信息安全转移。属于系统安全和应用安全</a:t>
              </a:r>
              <a:endParaRPr lang="en-US" altLang="zh-CN" sz="1200" dirty="0">
                <a:solidFill>
                  <a:schemeClr val="accent1"/>
                </a:solidFill>
                <a:latin typeface="ui-monospace"/>
              </a:endParaRPr>
            </a:p>
            <a:p>
              <a:r>
                <a:rPr lang="zh-CN" altLang="en-US" sz="1200" dirty="0">
                  <a:solidFill>
                    <a:schemeClr val="accent1"/>
                  </a:solidFill>
                  <a:latin typeface="ui-monospace"/>
                </a:rPr>
                <a:t>信息安全：机密性</a:t>
              </a:r>
              <a:r>
                <a:rPr lang="en-US" altLang="zh-CN" sz="1200" dirty="0">
                  <a:solidFill>
                    <a:schemeClr val="accent1"/>
                  </a:solidFill>
                  <a:latin typeface="ui-monospace"/>
                </a:rPr>
                <a:t>(</a:t>
              </a:r>
              <a:r>
                <a:rPr lang="zh-CN" altLang="en-US" sz="1200" dirty="0">
                  <a:solidFill>
                    <a:schemeClr val="accent1"/>
                  </a:solidFill>
                  <a:latin typeface="ui-monospace"/>
                </a:rPr>
                <a:t>读</a:t>
              </a:r>
              <a:r>
                <a:rPr lang="en-US" altLang="zh-CN" sz="1200" dirty="0">
                  <a:solidFill>
                    <a:schemeClr val="accent1"/>
                  </a:solidFill>
                  <a:latin typeface="ui-monospace"/>
                </a:rPr>
                <a:t>)</a:t>
              </a:r>
              <a:r>
                <a:rPr lang="zh-CN" altLang="en-US" sz="1200" dirty="0">
                  <a:solidFill>
                    <a:schemeClr val="accent1"/>
                  </a:solidFill>
                  <a:latin typeface="ui-monospace"/>
                </a:rPr>
                <a:t>、完整性</a:t>
              </a:r>
              <a:r>
                <a:rPr lang="en-US" altLang="zh-CN" sz="1200" dirty="0">
                  <a:solidFill>
                    <a:schemeClr val="accent1"/>
                  </a:solidFill>
                  <a:latin typeface="ui-monospace"/>
                </a:rPr>
                <a:t>(</a:t>
              </a:r>
              <a:r>
                <a:rPr lang="zh-CN" altLang="en-US" sz="1200" dirty="0">
                  <a:solidFill>
                    <a:schemeClr val="accent1"/>
                  </a:solidFill>
                  <a:latin typeface="ui-monospace"/>
                </a:rPr>
                <a:t>改</a:t>
              </a:r>
              <a:r>
                <a:rPr lang="en-US" altLang="zh-CN" sz="1200" dirty="0">
                  <a:solidFill>
                    <a:schemeClr val="accent1"/>
                  </a:solidFill>
                  <a:latin typeface="ui-monospace"/>
                </a:rPr>
                <a:t>)</a:t>
              </a:r>
              <a:r>
                <a:rPr lang="zh-CN" altLang="en-US" sz="1200" dirty="0">
                  <a:solidFill>
                    <a:schemeClr val="accent1"/>
                  </a:solidFill>
                  <a:latin typeface="ui-monospace"/>
                </a:rPr>
                <a:t>、可用性、可控性、可审查性</a:t>
              </a:r>
              <a:endParaRPr lang="en-US" altLang="zh-CN" sz="1200" dirty="0">
                <a:solidFill>
                  <a:schemeClr val="accent1"/>
                </a:solidFill>
                <a:latin typeface="ui-monospace"/>
              </a:endParaRPr>
            </a:p>
            <a:p>
              <a:r>
                <a:rPr lang="zh-CN" altLang="en-US" sz="1200" dirty="0">
                  <a:solidFill>
                    <a:schemeClr val="accent1"/>
                  </a:solidFill>
                  <a:latin typeface="ui-monospace"/>
                </a:rPr>
                <a:t>公共端口号：</a:t>
              </a:r>
              <a:r>
                <a:rPr lang="en-US" altLang="zh-CN" sz="1200" dirty="0">
                  <a:solidFill>
                    <a:schemeClr val="accent1"/>
                  </a:solidFill>
                  <a:latin typeface="ui-monospace"/>
                </a:rPr>
                <a:t>0-1023</a:t>
              </a:r>
            </a:p>
          </p:txBody>
        </p:sp>
      </p:grpSp>
      <p:grpSp>
        <p:nvGrpSpPr>
          <p:cNvPr id="4" name="Group 25">
            <a:extLst>
              <a:ext uri="{FF2B5EF4-FFF2-40B4-BE49-F238E27FC236}">
                <a16:creationId xmlns:a16="http://schemas.microsoft.com/office/drawing/2014/main" id="{17009D34-A3C0-88CD-C311-E5A9457B4A61}"/>
              </a:ext>
            </a:extLst>
          </p:cNvPr>
          <p:cNvGrpSpPr/>
          <p:nvPr/>
        </p:nvGrpSpPr>
        <p:grpSpPr>
          <a:xfrm>
            <a:off x="3097830" y="2121567"/>
            <a:ext cx="4386653" cy="941593"/>
            <a:chOff x="7614613" y="5950488"/>
            <a:chExt cx="4386653" cy="941593"/>
          </a:xfrm>
        </p:grpSpPr>
        <p:sp>
          <p:nvSpPr>
            <p:cNvPr id="5" name="Rectangle: Rounded Corners 35">
              <a:extLst>
                <a:ext uri="{FF2B5EF4-FFF2-40B4-BE49-F238E27FC236}">
                  <a16:creationId xmlns:a16="http://schemas.microsoft.com/office/drawing/2014/main" id="{8D87B925-6CF0-459D-B7E7-3A8BAE12A3CF}"/>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▶病毒</a:t>
              </a:r>
              <a:endParaRPr lang="en-US" sz="1200" dirty="0">
                <a:solidFill>
                  <a:schemeClr val="bg1"/>
                </a:solidFill>
              </a:endParaRPr>
            </a:p>
          </p:txBody>
        </p:sp>
        <p:sp>
          <p:nvSpPr>
            <p:cNvPr id="8" name="TextBox 36">
              <a:extLst>
                <a:ext uri="{FF2B5EF4-FFF2-40B4-BE49-F238E27FC236}">
                  <a16:creationId xmlns:a16="http://schemas.microsoft.com/office/drawing/2014/main" id="{5D5F71AA-74E1-18E3-CC7B-0454EFC081CC}"/>
                </a:ext>
              </a:extLst>
            </p:cNvPr>
            <p:cNvSpPr txBox="1"/>
            <p:nvPr/>
          </p:nvSpPr>
          <p:spPr>
            <a:xfrm>
              <a:off x="7667294" y="6245750"/>
              <a:ext cx="4281578" cy="646331"/>
            </a:xfrm>
            <a:prstGeom prst="rect">
              <a:avLst/>
            </a:prstGeom>
            <a:noFill/>
          </p:spPr>
          <p:txBody>
            <a:bodyPr wrap="square">
              <a:spAutoFit/>
            </a:bodyPr>
            <a:lstStyle/>
            <a:p>
              <a:r>
                <a:rPr lang="zh-CN" altLang="en-US" sz="1200" dirty="0">
                  <a:solidFill>
                    <a:schemeClr val="accent1"/>
                  </a:solidFill>
                  <a:latin typeface="ui-monospace"/>
                </a:rPr>
                <a:t>特征：传播性、隐蔽性、感染性、潜伏性、触发性、破坏性</a:t>
              </a:r>
              <a:endParaRPr lang="en-US" altLang="zh-CN" sz="1200" dirty="0">
                <a:solidFill>
                  <a:schemeClr val="accent1"/>
                </a:solidFill>
                <a:latin typeface="ui-monospace"/>
              </a:endParaRPr>
            </a:p>
            <a:p>
              <a:r>
                <a:rPr lang="zh-CN" altLang="en-US" sz="1200" dirty="0">
                  <a:solidFill>
                    <a:schemeClr val="accent1"/>
                  </a:solidFill>
                  <a:latin typeface="ui-monospace"/>
                </a:rPr>
                <a:t>类型：蠕虫病毒、特洛伊木马、后门病毒、宏病毒</a:t>
              </a:r>
              <a:endParaRPr lang="en-US" altLang="zh-CN" sz="1200" dirty="0">
                <a:solidFill>
                  <a:schemeClr val="accent1"/>
                </a:solidFill>
                <a:latin typeface="ui-monospace"/>
              </a:endParaRPr>
            </a:p>
            <a:p>
              <a:r>
                <a:rPr lang="zh-CN" altLang="en-US" sz="1200" dirty="0">
                  <a:solidFill>
                    <a:schemeClr val="accent1"/>
                  </a:solidFill>
                  <a:latin typeface="ui-monospace"/>
                </a:rPr>
                <a:t>宏病毒：文本文档、电子表格等</a:t>
              </a:r>
              <a:endParaRPr lang="en-US" altLang="zh-CN" sz="1200" dirty="0">
                <a:solidFill>
                  <a:schemeClr val="accent1"/>
                </a:solidFill>
                <a:latin typeface="ui-monospace"/>
              </a:endParaRPr>
            </a:p>
          </p:txBody>
        </p:sp>
      </p:grpSp>
      <p:grpSp>
        <p:nvGrpSpPr>
          <p:cNvPr id="9" name="Group 25">
            <a:extLst>
              <a:ext uri="{FF2B5EF4-FFF2-40B4-BE49-F238E27FC236}">
                <a16:creationId xmlns:a16="http://schemas.microsoft.com/office/drawing/2014/main" id="{A9D77404-D8BE-2626-3192-F5C371C67BB6}"/>
              </a:ext>
            </a:extLst>
          </p:cNvPr>
          <p:cNvGrpSpPr/>
          <p:nvPr/>
        </p:nvGrpSpPr>
        <p:grpSpPr>
          <a:xfrm>
            <a:off x="3097830" y="3078532"/>
            <a:ext cx="4386653" cy="572261"/>
            <a:chOff x="7614613" y="5950488"/>
            <a:chExt cx="4386653" cy="572261"/>
          </a:xfrm>
        </p:grpSpPr>
        <p:sp>
          <p:nvSpPr>
            <p:cNvPr id="10" name="Rectangle: Rounded Corners 35">
              <a:extLst>
                <a:ext uri="{FF2B5EF4-FFF2-40B4-BE49-F238E27FC236}">
                  <a16:creationId xmlns:a16="http://schemas.microsoft.com/office/drawing/2014/main" id="{9D6372AB-96BE-99E5-6B75-5C3AAF82A142}"/>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▶网络攻击</a:t>
              </a:r>
              <a:endParaRPr lang="en-US" sz="1200" dirty="0">
                <a:solidFill>
                  <a:schemeClr val="bg1"/>
                </a:solidFill>
              </a:endParaRPr>
            </a:p>
          </p:txBody>
        </p:sp>
        <p:sp>
          <p:nvSpPr>
            <p:cNvPr id="11" name="TextBox 36">
              <a:extLst>
                <a:ext uri="{FF2B5EF4-FFF2-40B4-BE49-F238E27FC236}">
                  <a16:creationId xmlns:a16="http://schemas.microsoft.com/office/drawing/2014/main" id="{B4F1C771-C6BC-B75C-8295-FC27A6368961}"/>
                </a:ext>
              </a:extLst>
            </p:cNvPr>
            <p:cNvSpPr txBox="1"/>
            <p:nvPr/>
          </p:nvSpPr>
          <p:spPr>
            <a:xfrm>
              <a:off x="7667294" y="6245750"/>
              <a:ext cx="4281578" cy="276999"/>
            </a:xfrm>
            <a:prstGeom prst="rect">
              <a:avLst/>
            </a:prstGeom>
            <a:noFill/>
          </p:spPr>
          <p:txBody>
            <a:bodyPr wrap="square">
              <a:spAutoFit/>
            </a:bodyPr>
            <a:lstStyle/>
            <a:p>
              <a:endParaRPr lang="en-US" altLang="zh-CN" sz="1200" dirty="0">
                <a:solidFill>
                  <a:schemeClr val="accent1"/>
                </a:solidFill>
                <a:latin typeface="ui-monospace"/>
              </a:endParaRPr>
            </a:p>
          </p:txBody>
        </p:sp>
      </p:grpSp>
      <p:graphicFrame>
        <p:nvGraphicFramePr>
          <p:cNvPr id="12" name="Table 11">
            <a:extLst>
              <a:ext uri="{FF2B5EF4-FFF2-40B4-BE49-F238E27FC236}">
                <a16:creationId xmlns:a16="http://schemas.microsoft.com/office/drawing/2014/main" id="{78A57DE9-BBC7-BB3C-4475-DC67E9E05CD7}"/>
              </a:ext>
            </a:extLst>
          </p:cNvPr>
          <p:cNvGraphicFramePr>
            <a:graphicFrameLocks noGrp="1"/>
          </p:cNvGraphicFramePr>
          <p:nvPr>
            <p:extLst>
              <p:ext uri="{D42A27DB-BD31-4B8C-83A1-F6EECF244321}">
                <p14:modId xmlns:p14="http://schemas.microsoft.com/office/powerpoint/2010/main" val="3530067697"/>
              </p:ext>
            </p:extLst>
          </p:nvPr>
        </p:nvGraphicFramePr>
        <p:xfrm>
          <a:off x="3150283" y="3393366"/>
          <a:ext cx="4211098" cy="2286000"/>
        </p:xfrm>
        <a:graphic>
          <a:graphicData uri="http://schemas.openxmlformats.org/drawingml/2006/table">
            <a:tbl>
              <a:tblPr firstRow="1" bandRow="1">
                <a:tableStyleId>{5C22544A-7EE6-4342-B048-85BDC9FD1C3A}</a:tableStyleId>
              </a:tblPr>
              <a:tblGrid>
                <a:gridCol w="1089208">
                  <a:extLst>
                    <a:ext uri="{9D8B030D-6E8A-4147-A177-3AD203B41FA5}">
                      <a16:colId xmlns:a16="http://schemas.microsoft.com/office/drawing/2014/main" val="4196207211"/>
                    </a:ext>
                  </a:extLst>
                </a:gridCol>
                <a:gridCol w="3121890">
                  <a:extLst>
                    <a:ext uri="{9D8B030D-6E8A-4147-A177-3AD203B41FA5}">
                      <a16:colId xmlns:a16="http://schemas.microsoft.com/office/drawing/2014/main" val="3523767036"/>
                    </a:ext>
                  </a:extLst>
                </a:gridCol>
              </a:tblGrid>
              <a:tr h="204220">
                <a:tc>
                  <a:txBody>
                    <a:bodyPr/>
                    <a:lstStyle/>
                    <a:p>
                      <a:pPr algn="ctr"/>
                      <a:r>
                        <a:rPr lang="zh-CN" altLang="en-US" sz="900" b="1" dirty="0">
                          <a:solidFill>
                            <a:schemeClr val="tx1"/>
                          </a:solidFill>
                        </a:rPr>
                        <a:t>拒绝服务</a:t>
                      </a:r>
                      <a:r>
                        <a:rPr lang="en-US" altLang="zh-CN" sz="900" b="1" dirty="0">
                          <a:solidFill>
                            <a:schemeClr val="tx1"/>
                          </a:solidFill>
                        </a:rPr>
                        <a:t>Dos</a:t>
                      </a:r>
                      <a:r>
                        <a:rPr lang="zh-CN" altLang="en-US" sz="900" b="1" dirty="0">
                          <a:solidFill>
                            <a:schemeClr val="tx1"/>
                          </a:solidFill>
                        </a:rPr>
                        <a:t>攻击</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不断向计算机发送请求使得计算机或网络无法正常服务</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1" dirty="0">
                          <a:solidFill>
                            <a:schemeClr val="tx1"/>
                          </a:solidFill>
                        </a:rPr>
                        <a:t>重放攻击</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发送目的主机已接收过的报文，从而破坏认证的正确性</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8310648"/>
                  </a:ext>
                </a:extLst>
              </a:tr>
              <a:tr h="204220">
                <a:tc>
                  <a:txBody>
                    <a:bodyPr/>
                    <a:lstStyle/>
                    <a:p>
                      <a:pPr algn="ctr"/>
                      <a:r>
                        <a:rPr lang="zh-CN" altLang="en-US" sz="900" b="1" dirty="0">
                          <a:solidFill>
                            <a:schemeClr val="tx1"/>
                          </a:solidFill>
                        </a:rPr>
                        <a:t>口令入侵攻击</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928253"/>
                  </a:ext>
                </a:extLst>
              </a:tr>
              <a:tr h="204220">
                <a:tc>
                  <a:txBody>
                    <a:bodyPr/>
                    <a:lstStyle/>
                    <a:p>
                      <a:pPr algn="ctr"/>
                      <a:r>
                        <a:rPr lang="zh-CN" altLang="en-US" sz="900" b="1" dirty="0">
                          <a:solidFill>
                            <a:schemeClr val="tx1"/>
                          </a:solidFill>
                        </a:rPr>
                        <a:t>特洛伊木马</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内部发起连接，外部主机控制并盗取用户信息</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3337562"/>
                  </a:ext>
                </a:extLst>
              </a:tr>
              <a:tr h="204220">
                <a:tc>
                  <a:txBody>
                    <a:bodyPr/>
                    <a:lstStyle/>
                    <a:p>
                      <a:pPr algn="ctr"/>
                      <a:r>
                        <a:rPr lang="zh-CN" altLang="en-US" sz="900" b="1" dirty="0">
                          <a:solidFill>
                            <a:schemeClr val="tx1"/>
                          </a:solidFill>
                        </a:rPr>
                        <a:t>端口欺骗攻击</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6724297"/>
                  </a:ext>
                </a:extLst>
              </a:tr>
              <a:tr h="204220">
                <a:tc>
                  <a:txBody>
                    <a:bodyPr/>
                    <a:lstStyle/>
                    <a:p>
                      <a:pPr algn="ctr"/>
                      <a:r>
                        <a:rPr lang="zh-CN" altLang="en-US" sz="900" b="1" dirty="0">
                          <a:solidFill>
                            <a:schemeClr val="tx1"/>
                          </a:solidFill>
                        </a:rPr>
                        <a:t>网络监听</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r h="204220">
                <a:tc>
                  <a:txBody>
                    <a:bodyPr/>
                    <a:lstStyle/>
                    <a:p>
                      <a:pPr algn="ctr"/>
                      <a:r>
                        <a:rPr lang="en-US" sz="900" b="1" dirty="0">
                          <a:solidFill>
                            <a:schemeClr val="tx1"/>
                          </a:solidFill>
                        </a:rPr>
                        <a:t>IP</a:t>
                      </a:r>
                      <a:r>
                        <a:rPr lang="zh-CN" altLang="en-US" sz="900" b="1" dirty="0">
                          <a:solidFill>
                            <a:schemeClr val="tx1"/>
                          </a:solidFill>
                        </a:rPr>
                        <a:t>欺骗攻击</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1755462"/>
                  </a:ext>
                </a:extLst>
              </a:tr>
              <a:tr h="204220">
                <a:tc>
                  <a:txBody>
                    <a:bodyPr/>
                    <a:lstStyle/>
                    <a:p>
                      <a:pPr algn="ctr"/>
                      <a:r>
                        <a:rPr lang="en-US" sz="900" b="1" dirty="0">
                          <a:solidFill>
                            <a:schemeClr val="tx1"/>
                          </a:solidFill>
                        </a:rPr>
                        <a:t>SQL</a:t>
                      </a:r>
                      <a:r>
                        <a:rPr lang="zh-CN" altLang="en-US" sz="900" b="1" dirty="0">
                          <a:solidFill>
                            <a:schemeClr val="tx1"/>
                          </a:solidFill>
                        </a:rPr>
                        <a:t>注入攻击</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因程序未对用户输入数据的合法性进行判断，获取权限</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887746"/>
                  </a:ext>
                </a:extLst>
              </a:tr>
              <a:tr h="204220">
                <a:tc>
                  <a:txBody>
                    <a:bodyPr/>
                    <a:lstStyle/>
                    <a:p>
                      <a:pPr algn="ctr"/>
                      <a:r>
                        <a:rPr lang="zh-CN" altLang="en-US" sz="900" b="1" dirty="0">
                          <a:solidFill>
                            <a:schemeClr val="tx1"/>
                          </a:solidFill>
                        </a:rPr>
                        <a:t>入侵检测攻击</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专家系统、模型检测、简单匹配</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6970511"/>
                  </a:ext>
                </a:extLst>
              </a:tr>
              <a:tr h="204220">
                <a:tc>
                  <a:txBody>
                    <a:bodyPr/>
                    <a:lstStyle/>
                    <a:p>
                      <a:pPr algn="ctr"/>
                      <a:r>
                        <a:rPr lang="en-US" sz="900" b="1" dirty="0">
                          <a:solidFill>
                            <a:schemeClr val="tx1"/>
                          </a:solidFill>
                        </a:rPr>
                        <a:t>ARP</a:t>
                      </a:r>
                      <a:r>
                        <a:rPr lang="zh-CN" altLang="en-US" sz="900" b="1" dirty="0">
                          <a:solidFill>
                            <a:schemeClr val="tx1"/>
                          </a:solidFill>
                        </a:rPr>
                        <a:t>攻击</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通过伪造</a:t>
                      </a:r>
                      <a:r>
                        <a:rPr lang="en-US" altLang="zh-CN" sz="900" b="0" dirty="0">
                          <a:solidFill>
                            <a:schemeClr val="tx1"/>
                          </a:solidFill>
                        </a:rPr>
                        <a:t>IP</a:t>
                      </a:r>
                      <a:r>
                        <a:rPr lang="zh-CN" altLang="en-US" sz="900" b="0" dirty="0">
                          <a:solidFill>
                            <a:schemeClr val="tx1"/>
                          </a:solidFill>
                        </a:rPr>
                        <a:t>地址和</a:t>
                      </a:r>
                      <a:r>
                        <a:rPr lang="en-US" altLang="zh-CN" sz="900" b="0" dirty="0">
                          <a:solidFill>
                            <a:schemeClr val="tx1"/>
                          </a:solidFill>
                        </a:rPr>
                        <a:t>MAC</a:t>
                      </a:r>
                      <a:r>
                        <a:rPr lang="zh-CN" altLang="en-US" sz="900" b="0" dirty="0">
                          <a:solidFill>
                            <a:schemeClr val="tx1"/>
                          </a:solidFill>
                        </a:rPr>
                        <a:t>地址，使网络阻塞</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6972556"/>
                  </a:ext>
                </a:extLst>
              </a:tr>
            </a:tbl>
          </a:graphicData>
        </a:graphic>
      </p:graphicFrame>
    </p:spTree>
    <p:extLst>
      <p:ext uri="{BB962C8B-B14F-4D97-AF65-F5344CB8AC3E}">
        <p14:creationId xmlns:p14="http://schemas.microsoft.com/office/powerpoint/2010/main" val="3674775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267765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计算机网络</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0" name="Group 25">
            <a:extLst>
              <a:ext uri="{FF2B5EF4-FFF2-40B4-BE49-F238E27FC236}">
                <a16:creationId xmlns:a16="http://schemas.microsoft.com/office/drawing/2014/main" id="{77045F2A-B48A-32CA-07FC-D2C72E1BDA2E}"/>
              </a:ext>
            </a:extLst>
          </p:cNvPr>
          <p:cNvGrpSpPr/>
          <p:nvPr/>
        </p:nvGrpSpPr>
        <p:grpSpPr>
          <a:xfrm>
            <a:off x="3097887" y="61796"/>
            <a:ext cx="4386653" cy="572261"/>
            <a:chOff x="7614613" y="5950488"/>
            <a:chExt cx="4386653" cy="572261"/>
          </a:xfrm>
        </p:grpSpPr>
        <p:sp>
          <p:nvSpPr>
            <p:cNvPr id="31" name="Rectangle: Rounded Corners 35">
              <a:extLst>
                <a:ext uri="{FF2B5EF4-FFF2-40B4-BE49-F238E27FC236}">
                  <a16:creationId xmlns:a16="http://schemas.microsoft.com/office/drawing/2014/main" id="{1A4C9C95-4EFE-FA60-D0D9-5EAA7E59493A}"/>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a:t>
              </a:r>
              <a:r>
                <a:rPr lang="en-US" altLang="zh-CN" sz="1200" dirty="0">
                  <a:solidFill>
                    <a:schemeClr val="bg1"/>
                  </a:solidFill>
                  <a:latin typeface="ui-monospace"/>
                </a:rPr>
                <a:t>ISO/OSI RM</a:t>
              </a:r>
              <a:r>
                <a:rPr lang="zh-CN" altLang="en-US" sz="1200" dirty="0">
                  <a:solidFill>
                    <a:schemeClr val="bg1"/>
                  </a:solidFill>
                  <a:latin typeface="ui-monospace"/>
                </a:rPr>
                <a:t>七层模型</a:t>
              </a:r>
              <a:endParaRPr lang="en-US" sz="1200" dirty="0">
                <a:solidFill>
                  <a:schemeClr val="bg1"/>
                </a:solidFill>
              </a:endParaRPr>
            </a:p>
          </p:txBody>
        </p:sp>
        <p:sp>
          <p:nvSpPr>
            <p:cNvPr id="32" name="TextBox 36">
              <a:extLst>
                <a:ext uri="{FF2B5EF4-FFF2-40B4-BE49-F238E27FC236}">
                  <a16:creationId xmlns:a16="http://schemas.microsoft.com/office/drawing/2014/main" id="{F9A236A3-7411-C82C-6552-5CA92FACF3B2}"/>
                </a:ext>
              </a:extLst>
            </p:cNvPr>
            <p:cNvSpPr txBox="1"/>
            <p:nvPr/>
          </p:nvSpPr>
          <p:spPr>
            <a:xfrm>
              <a:off x="7667294" y="6245750"/>
              <a:ext cx="4281578" cy="276999"/>
            </a:xfrm>
            <a:prstGeom prst="rect">
              <a:avLst/>
            </a:prstGeom>
            <a:noFill/>
          </p:spPr>
          <p:txBody>
            <a:bodyPr wrap="square">
              <a:spAutoFit/>
            </a:bodyPr>
            <a:lstStyle/>
            <a:p>
              <a:endParaRPr lang="en-US" altLang="zh-CN" sz="1200" dirty="0">
                <a:solidFill>
                  <a:schemeClr val="accent1"/>
                </a:solidFill>
                <a:latin typeface="ui-monospace"/>
              </a:endParaRPr>
            </a:p>
          </p:txBody>
        </p:sp>
      </p:grpSp>
      <p:grpSp>
        <p:nvGrpSpPr>
          <p:cNvPr id="33" name="Group 25">
            <a:extLst>
              <a:ext uri="{FF2B5EF4-FFF2-40B4-BE49-F238E27FC236}">
                <a16:creationId xmlns:a16="http://schemas.microsoft.com/office/drawing/2014/main" id="{B8FA9490-77B4-E4EA-AA14-98492AF3D1D7}"/>
              </a:ext>
            </a:extLst>
          </p:cNvPr>
          <p:cNvGrpSpPr/>
          <p:nvPr/>
        </p:nvGrpSpPr>
        <p:grpSpPr>
          <a:xfrm>
            <a:off x="7655287" y="71394"/>
            <a:ext cx="4386653" cy="1680257"/>
            <a:chOff x="7614613" y="5950488"/>
            <a:chExt cx="4386653" cy="1680257"/>
          </a:xfrm>
        </p:grpSpPr>
        <p:sp>
          <p:nvSpPr>
            <p:cNvPr id="34" name="Rectangle: Rounded Corners 35">
              <a:extLst>
                <a:ext uri="{FF2B5EF4-FFF2-40B4-BE49-F238E27FC236}">
                  <a16:creationId xmlns:a16="http://schemas.microsoft.com/office/drawing/2014/main" id="{9B0280EF-C067-9382-6455-DC4DFA9BABC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▶传输层协议</a:t>
              </a:r>
              <a:endParaRPr lang="en-US" sz="1200" dirty="0">
                <a:solidFill>
                  <a:schemeClr val="bg1"/>
                </a:solidFill>
              </a:endParaRPr>
            </a:p>
          </p:txBody>
        </p:sp>
        <p:sp>
          <p:nvSpPr>
            <p:cNvPr id="35" name="TextBox 36">
              <a:extLst>
                <a:ext uri="{FF2B5EF4-FFF2-40B4-BE49-F238E27FC236}">
                  <a16:creationId xmlns:a16="http://schemas.microsoft.com/office/drawing/2014/main" id="{501076B1-418C-C120-5596-4155B0B6B970}"/>
                </a:ext>
              </a:extLst>
            </p:cNvPr>
            <p:cNvSpPr txBox="1"/>
            <p:nvPr/>
          </p:nvSpPr>
          <p:spPr>
            <a:xfrm>
              <a:off x="7667294" y="6245750"/>
              <a:ext cx="4281578" cy="1384995"/>
            </a:xfrm>
            <a:prstGeom prst="rect">
              <a:avLst/>
            </a:prstGeom>
            <a:noFill/>
          </p:spPr>
          <p:txBody>
            <a:bodyPr wrap="square">
              <a:spAutoFit/>
            </a:bodyPr>
            <a:lstStyle/>
            <a:p>
              <a:r>
                <a:rPr lang="zh-CN" altLang="en-US" sz="1200" dirty="0">
                  <a:solidFill>
                    <a:schemeClr val="accent1"/>
                  </a:solidFill>
                  <a:latin typeface="ui-monospace"/>
                </a:rPr>
                <a:t>都基于</a:t>
              </a:r>
              <a:r>
                <a:rPr lang="en-US" altLang="zh-CN" sz="1200" dirty="0">
                  <a:solidFill>
                    <a:schemeClr val="accent1"/>
                  </a:solidFill>
                  <a:latin typeface="ui-monospace"/>
                </a:rPr>
                <a:t>IP</a:t>
              </a:r>
              <a:r>
                <a:rPr lang="zh-CN" altLang="en-US" sz="1200" dirty="0">
                  <a:solidFill>
                    <a:schemeClr val="accent1"/>
                  </a:solidFill>
                  <a:latin typeface="ui-monospace"/>
                </a:rPr>
                <a:t>协议的传输层协议，可以</a:t>
              </a:r>
              <a:r>
                <a:rPr lang="zh-CN" altLang="en-US" sz="1200" b="1" dirty="0">
                  <a:solidFill>
                    <a:schemeClr val="accent1"/>
                  </a:solidFill>
                  <a:latin typeface="ui-monospace"/>
                </a:rPr>
                <a:t>端口寻址</a:t>
              </a:r>
              <a:endParaRPr lang="en-US" altLang="zh-CN" sz="1200" b="1" dirty="0">
                <a:solidFill>
                  <a:schemeClr val="accent1"/>
                </a:solidFill>
                <a:latin typeface="ui-monospace"/>
              </a:endParaRPr>
            </a:p>
            <a:p>
              <a:r>
                <a:rPr lang="en-US" altLang="zh-CN" sz="1200" dirty="0">
                  <a:solidFill>
                    <a:schemeClr val="accent1"/>
                  </a:solidFill>
                  <a:latin typeface="ui-monospace"/>
                </a:rPr>
                <a:t>TCP</a:t>
              </a:r>
              <a:r>
                <a:rPr lang="zh-CN" altLang="en-US" sz="1200" dirty="0">
                  <a:solidFill>
                    <a:schemeClr val="accent1"/>
                  </a:solidFill>
                  <a:latin typeface="ui-monospace"/>
                </a:rPr>
                <a:t>：可靠传输，</a:t>
              </a:r>
              <a:r>
                <a:rPr lang="zh-CN" altLang="en-US" sz="1200" b="1" dirty="0">
                  <a:solidFill>
                    <a:schemeClr val="accent1"/>
                  </a:solidFill>
                  <a:latin typeface="ui-monospace"/>
                </a:rPr>
                <a:t>连接管理</a:t>
              </a:r>
              <a:r>
                <a:rPr lang="zh-CN" altLang="en-US" sz="1200" dirty="0">
                  <a:solidFill>
                    <a:schemeClr val="accent1"/>
                  </a:solidFill>
                  <a:latin typeface="ui-monospace"/>
                </a:rPr>
                <a:t>，</a:t>
              </a:r>
              <a:r>
                <a:rPr lang="zh-CN" altLang="en-US" sz="1200" b="1" dirty="0">
                  <a:solidFill>
                    <a:schemeClr val="accent1"/>
                  </a:solidFill>
                  <a:latin typeface="ui-monospace"/>
                </a:rPr>
                <a:t>差错检验和重传</a:t>
              </a:r>
              <a:r>
                <a:rPr lang="zh-CN" altLang="en-US" sz="1200" dirty="0">
                  <a:solidFill>
                    <a:schemeClr val="accent1"/>
                  </a:solidFill>
                  <a:latin typeface="ui-monospace"/>
                </a:rPr>
                <a:t>，</a:t>
              </a:r>
              <a:r>
                <a:rPr lang="zh-CN" altLang="en-US" sz="1200" b="1" dirty="0">
                  <a:solidFill>
                    <a:schemeClr val="accent1"/>
                  </a:solidFill>
                  <a:latin typeface="ui-monospace"/>
                </a:rPr>
                <a:t>流量控制</a:t>
              </a:r>
              <a:r>
                <a:rPr lang="en-US" altLang="zh-CN" sz="1200" dirty="0">
                  <a:solidFill>
                    <a:schemeClr val="accent1"/>
                  </a:solidFill>
                  <a:latin typeface="ui-monospace"/>
                </a:rPr>
                <a:t>(</a:t>
              </a:r>
              <a:r>
                <a:rPr lang="zh-CN" altLang="en-US" sz="1200" dirty="0">
                  <a:solidFill>
                    <a:schemeClr val="accent1"/>
                  </a:solidFill>
                  <a:latin typeface="ui-monospace"/>
                </a:rPr>
                <a:t>可变大小的滑动窗口协议</a:t>
              </a:r>
              <a:r>
                <a:rPr lang="en-US" altLang="zh-CN" sz="1200" dirty="0">
                  <a:solidFill>
                    <a:schemeClr val="accent1"/>
                  </a:solidFill>
                  <a:latin typeface="ui-monospace"/>
                </a:rPr>
                <a:t>)</a:t>
              </a:r>
              <a:r>
                <a:rPr lang="zh-CN" altLang="en-US" sz="1200" dirty="0">
                  <a:solidFill>
                    <a:schemeClr val="accent1"/>
                  </a:solidFill>
                  <a:latin typeface="ui-monospace"/>
                </a:rPr>
                <a:t>，拥塞控制</a:t>
              </a:r>
              <a:endParaRPr lang="en-US" altLang="zh-CN" sz="1200" dirty="0">
                <a:solidFill>
                  <a:schemeClr val="accent1"/>
                </a:solidFill>
                <a:latin typeface="ui-monospace"/>
              </a:endParaRPr>
            </a:p>
            <a:p>
              <a:r>
                <a:rPr lang="zh-CN" altLang="en-US" sz="1200" dirty="0">
                  <a:solidFill>
                    <a:schemeClr val="accent1"/>
                  </a:solidFill>
                  <a:latin typeface="ui-monospace"/>
                </a:rPr>
                <a:t>三次握手：</a:t>
              </a:r>
              <a:r>
                <a:rPr lang="en-US" altLang="zh-CN" sz="1200" dirty="0">
                  <a:solidFill>
                    <a:schemeClr val="accent1"/>
                  </a:solidFill>
                  <a:latin typeface="ui-monospace"/>
                </a:rPr>
                <a:t>SYN&gt;SYN-ACK&gt;ACK</a:t>
              </a:r>
            </a:p>
            <a:p>
              <a:r>
                <a:rPr lang="en-US" altLang="zh-CN" sz="1200" dirty="0">
                  <a:solidFill>
                    <a:schemeClr val="accent1"/>
                  </a:solidFill>
                  <a:latin typeface="ui-monospace"/>
                </a:rPr>
                <a:t>UDP</a:t>
              </a:r>
              <a:r>
                <a:rPr lang="zh-CN" altLang="en-US" sz="1200" dirty="0">
                  <a:solidFill>
                    <a:schemeClr val="accent1"/>
                  </a:solidFill>
                  <a:latin typeface="ui-monospace"/>
                </a:rPr>
                <a:t>：无连接，不可靠，高效，开销小，适用于</a:t>
              </a:r>
              <a:r>
                <a:rPr lang="zh-CN" altLang="en-US" sz="1200" b="1" dirty="0">
                  <a:solidFill>
                    <a:schemeClr val="accent1"/>
                  </a:solidFill>
                  <a:latin typeface="ui-monospace"/>
                </a:rPr>
                <a:t>实时应用</a:t>
              </a:r>
              <a:r>
                <a:rPr lang="zh-CN" altLang="en-US" sz="1200" dirty="0">
                  <a:solidFill>
                    <a:schemeClr val="accent1"/>
                  </a:solidFill>
                  <a:latin typeface="ui-monospace"/>
                </a:rPr>
                <a:t>。包头简单，无流量控制</a:t>
              </a:r>
              <a:endParaRPr lang="en-US" altLang="zh-CN" sz="1200" dirty="0">
                <a:solidFill>
                  <a:schemeClr val="accent1"/>
                </a:solidFill>
                <a:latin typeface="ui-monospace"/>
              </a:endParaRPr>
            </a:p>
            <a:p>
              <a:r>
                <a:rPr lang="en-US" altLang="zh-CN" sz="1200" dirty="0">
                  <a:solidFill>
                    <a:schemeClr val="accent1"/>
                  </a:solidFill>
                  <a:latin typeface="ui-monospace"/>
                </a:rPr>
                <a:t>VoIP</a:t>
              </a:r>
              <a:r>
                <a:rPr lang="zh-CN" altLang="en-US" sz="1200" dirty="0">
                  <a:solidFill>
                    <a:schemeClr val="accent1"/>
                  </a:solidFill>
                  <a:latin typeface="ui-monospace"/>
                </a:rPr>
                <a:t>：视频通话，允许某种程度上的数据丢失</a:t>
              </a:r>
              <a:endParaRPr lang="en-US" altLang="zh-CN" sz="1200" dirty="0">
                <a:solidFill>
                  <a:schemeClr val="accent1"/>
                </a:solidFill>
                <a:latin typeface="ui-monospace"/>
              </a:endParaRPr>
            </a:p>
          </p:txBody>
        </p:sp>
      </p:grpSp>
      <p:graphicFrame>
        <p:nvGraphicFramePr>
          <p:cNvPr id="4" name="Table 3">
            <a:extLst>
              <a:ext uri="{FF2B5EF4-FFF2-40B4-BE49-F238E27FC236}">
                <a16:creationId xmlns:a16="http://schemas.microsoft.com/office/drawing/2014/main" id="{649A7376-C430-A8D6-1A70-E8BE4CC466E7}"/>
              </a:ext>
            </a:extLst>
          </p:cNvPr>
          <p:cNvGraphicFramePr>
            <a:graphicFrameLocks noGrp="1"/>
          </p:cNvGraphicFramePr>
          <p:nvPr>
            <p:extLst>
              <p:ext uri="{D42A27DB-BD31-4B8C-83A1-F6EECF244321}">
                <p14:modId xmlns:p14="http://schemas.microsoft.com/office/powerpoint/2010/main" val="1491162052"/>
              </p:ext>
            </p:extLst>
          </p:nvPr>
        </p:nvGraphicFramePr>
        <p:xfrm>
          <a:off x="3150283" y="2779857"/>
          <a:ext cx="4281575" cy="1600200"/>
        </p:xfrm>
        <a:graphic>
          <a:graphicData uri="http://schemas.openxmlformats.org/drawingml/2006/table">
            <a:tbl>
              <a:tblPr firstRow="1" bandRow="1">
                <a:tableStyleId>{5C22544A-7EE6-4342-B048-85BDC9FD1C3A}</a:tableStyleId>
              </a:tblPr>
              <a:tblGrid>
                <a:gridCol w="793644">
                  <a:extLst>
                    <a:ext uri="{9D8B030D-6E8A-4147-A177-3AD203B41FA5}">
                      <a16:colId xmlns:a16="http://schemas.microsoft.com/office/drawing/2014/main" val="4196207211"/>
                    </a:ext>
                  </a:extLst>
                </a:gridCol>
                <a:gridCol w="822037">
                  <a:extLst>
                    <a:ext uri="{9D8B030D-6E8A-4147-A177-3AD203B41FA5}">
                      <a16:colId xmlns:a16="http://schemas.microsoft.com/office/drawing/2014/main" val="2378697663"/>
                    </a:ext>
                  </a:extLst>
                </a:gridCol>
                <a:gridCol w="2665894">
                  <a:extLst>
                    <a:ext uri="{9D8B030D-6E8A-4147-A177-3AD203B41FA5}">
                      <a16:colId xmlns:a16="http://schemas.microsoft.com/office/drawing/2014/main" val="3523767036"/>
                    </a:ext>
                  </a:extLst>
                </a:gridCol>
              </a:tblGrid>
              <a:tr h="204220">
                <a:tc>
                  <a:txBody>
                    <a:bodyPr/>
                    <a:lstStyle/>
                    <a:p>
                      <a:pPr algn="ctr"/>
                      <a:r>
                        <a:rPr lang="zh-CN" altLang="en-US" sz="900" b="1" dirty="0">
                          <a:solidFill>
                            <a:schemeClr val="tx1"/>
                          </a:solidFill>
                        </a:rPr>
                        <a:t>应用层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网关</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7653472"/>
                  </a:ext>
                </a:extLst>
              </a:tr>
              <a:tr h="204220">
                <a:tc>
                  <a:txBody>
                    <a:bodyPr/>
                    <a:lstStyle/>
                    <a:p>
                      <a:pPr algn="ctr"/>
                      <a:r>
                        <a:rPr lang="zh-CN" altLang="en-US" sz="900" b="1" dirty="0">
                          <a:solidFill>
                            <a:schemeClr val="tx1"/>
                          </a:solidFill>
                        </a:rPr>
                        <a:t>网络层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路由器</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在不同网络之间路由数据包，分割广播域冲突域</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2092162"/>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三层交换机</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具备路由器的交换机</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2569932"/>
                  </a:ext>
                </a:extLst>
              </a:tr>
              <a:tr h="204220">
                <a:tc>
                  <a:txBody>
                    <a:bodyPr/>
                    <a:lstStyle/>
                    <a:p>
                      <a:pPr algn="ctr"/>
                      <a:r>
                        <a:rPr lang="zh-CN" altLang="en-US" sz="900" b="1" dirty="0">
                          <a:solidFill>
                            <a:schemeClr val="tx1"/>
                          </a:solidFill>
                        </a:rPr>
                        <a:t>数据链路层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网桥</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同一局域网交流</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376497"/>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交换机</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多端口网桥</a:t>
                      </a:r>
                      <a:r>
                        <a:rPr lang="zh-CN" altLang="en-US" sz="900" b="0" dirty="0">
                          <a:solidFill>
                            <a:schemeClr val="tx1"/>
                          </a:solidFill>
                        </a:rPr>
                        <a:t>，同一广播域</a:t>
                      </a:r>
                      <a:r>
                        <a:rPr lang="zh-CN" altLang="en-US" sz="900" b="1" dirty="0">
                          <a:solidFill>
                            <a:schemeClr val="tx1"/>
                          </a:solidFill>
                        </a:rPr>
                        <a:t>不同冲突域</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151331"/>
                  </a:ext>
                </a:extLst>
              </a:tr>
              <a:tr h="204220">
                <a:tc>
                  <a:txBody>
                    <a:bodyPr/>
                    <a:lstStyle/>
                    <a:p>
                      <a:pPr algn="ctr"/>
                      <a:r>
                        <a:rPr lang="zh-CN" altLang="en-US" sz="900" b="1" dirty="0">
                          <a:solidFill>
                            <a:schemeClr val="tx1"/>
                          </a:solidFill>
                        </a:rPr>
                        <a:t>物理层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中继器</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信号放大，延长传输距离，克服信号衰减和失真</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集线器</a:t>
                      </a:r>
                      <a:r>
                        <a:rPr lang="en-US" altLang="zh-CN" sz="900" b="1" dirty="0">
                          <a:solidFill>
                            <a:schemeClr val="tx1"/>
                          </a:solidFill>
                        </a:rPr>
                        <a:t>Hub</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多端口中继器</a:t>
                      </a:r>
                      <a:r>
                        <a:rPr lang="zh-CN" altLang="en-US" sz="900" b="0" dirty="0">
                          <a:solidFill>
                            <a:schemeClr val="tx1"/>
                          </a:solidFill>
                        </a:rPr>
                        <a:t>，所有端口在用同一冲突域</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8310648"/>
                  </a:ext>
                </a:extLst>
              </a:tr>
            </a:tbl>
          </a:graphicData>
        </a:graphic>
      </p:graphicFrame>
      <p:grpSp>
        <p:nvGrpSpPr>
          <p:cNvPr id="5" name="Group 25">
            <a:extLst>
              <a:ext uri="{FF2B5EF4-FFF2-40B4-BE49-F238E27FC236}">
                <a16:creationId xmlns:a16="http://schemas.microsoft.com/office/drawing/2014/main" id="{8415B106-B341-592D-7956-C606FCD46D60}"/>
              </a:ext>
            </a:extLst>
          </p:cNvPr>
          <p:cNvGrpSpPr/>
          <p:nvPr/>
        </p:nvGrpSpPr>
        <p:grpSpPr>
          <a:xfrm>
            <a:off x="3097743" y="2067993"/>
            <a:ext cx="4386653" cy="756927"/>
            <a:chOff x="7614613" y="5950488"/>
            <a:chExt cx="4386653" cy="756927"/>
          </a:xfrm>
        </p:grpSpPr>
        <p:sp>
          <p:nvSpPr>
            <p:cNvPr id="8" name="Rectangle: Rounded Corners 35">
              <a:extLst>
                <a:ext uri="{FF2B5EF4-FFF2-40B4-BE49-F238E27FC236}">
                  <a16:creationId xmlns:a16="http://schemas.microsoft.com/office/drawing/2014/main" id="{A901D932-7873-C609-7F29-5E3CF45AFF9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▶网络设备</a:t>
              </a:r>
              <a:endParaRPr lang="en-US" sz="1200" dirty="0">
                <a:solidFill>
                  <a:schemeClr val="bg1"/>
                </a:solidFill>
              </a:endParaRPr>
            </a:p>
          </p:txBody>
        </p:sp>
        <p:sp>
          <p:nvSpPr>
            <p:cNvPr id="9" name="TextBox 36">
              <a:extLst>
                <a:ext uri="{FF2B5EF4-FFF2-40B4-BE49-F238E27FC236}">
                  <a16:creationId xmlns:a16="http://schemas.microsoft.com/office/drawing/2014/main" id="{D465EF99-525B-E075-9FA2-B388B63B42DC}"/>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网卡：支持不同类型的连接</a:t>
              </a:r>
              <a:endParaRPr lang="en-US" altLang="zh-CN" sz="1200" dirty="0">
                <a:solidFill>
                  <a:schemeClr val="accent1"/>
                </a:solidFill>
                <a:latin typeface="ui-monospace"/>
              </a:endParaRPr>
            </a:p>
            <a:p>
              <a:r>
                <a:rPr lang="zh-CN" altLang="en-US" sz="1200" dirty="0">
                  <a:solidFill>
                    <a:schemeClr val="accent1"/>
                  </a:solidFill>
                  <a:latin typeface="ui-monospace"/>
                </a:rPr>
                <a:t>防火墙位于网络层和应用层</a:t>
              </a:r>
              <a:endParaRPr lang="en-US" altLang="zh-CN" sz="1200" dirty="0">
                <a:solidFill>
                  <a:schemeClr val="accent1"/>
                </a:solidFill>
                <a:latin typeface="ui-monospace"/>
              </a:endParaRPr>
            </a:p>
          </p:txBody>
        </p:sp>
      </p:grpSp>
      <p:graphicFrame>
        <p:nvGraphicFramePr>
          <p:cNvPr id="10" name="Table 9">
            <a:extLst>
              <a:ext uri="{FF2B5EF4-FFF2-40B4-BE49-F238E27FC236}">
                <a16:creationId xmlns:a16="http://schemas.microsoft.com/office/drawing/2014/main" id="{2E47A4A3-943B-693D-386A-991365A7FE99}"/>
              </a:ext>
            </a:extLst>
          </p:cNvPr>
          <p:cNvGraphicFramePr>
            <a:graphicFrameLocks noGrp="1"/>
          </p:cNvGraphicFramePr>
          <p:nvPr>
            <p:extLst>
              <p:ext uri="{D42A27DB-BD31-4B8C-83A1-F6EECF244321}">
                <p14:modId xmlns:p14="http://schemas.microsoft.com/office/powerpoint/2010/main" val="2236760892"/>
              </p:ext>
            </p:extLst>
          </p:nvPr>
        </p:nvGraphicFramePr>
        <p:xfrm>
          <a:off x="3150280" y="411123"/>
          <a:ext cx="4281573" cy="1600200"/>
        </p:xfrm>
        <a:graphic>
          <a:graphicData uri="http://schemas.openxmlformats.org/drawingml/2006/table">
            <a:tbl>
              <a:tblPr firstRow="1" bandRow="1">
                <a:tableStyleId>{5C22544A-7EE6-4342-B048-85BDC9FD1C3A}</a:tableStyleId>
              </a:tblPr>
              <a:tblGrid>
                <a:gridCol w="982225">
                  <a:extLst>
                    <a:ext uri="{9D8B030D-6E8A-4147-A177-3AD203B41FA5}">
                      <a16:colId xmlns:a16="http://schemas.microsoft.com/office/drawing/2014/main" val="4196207211"/>
                    </a:ext>
                  </a:extLst>
                </a:gridCol>
                <a:gridCol w="3299348">
                  <a:extLst>
                    <a:ext uri="{9D8B030D-6E8A-4147-A177-3AD203B41FA5}">
                      <a16:colId xmlns:a16="http://schemas.microsoft.com/office/drawing/2014/main" val="3523767036"/>
                    </a:ext>
                  </a:extLst>
                </a:gridCol>
              </a:tblGrid>
              <a:tr h="204220">
                <a:tc>
                  <a:txBody>
                    <a:bodyPr/>
                    <a:lstStyle/>
                    <a:p>
                      <a:pPr algn="ctr"/>
                      <a:r>
                        <a:rPr lang="zh-CN" altLang="en-US" sz="900" b="1" dirty="0">
                          <a:solidFill>
                            <a:schemeClr val="tx1"/>
                          </a:solidFill>
                        </a:rPr>
                        <a:t>应用层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实现具体的应用功能</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zh-CN" altLang="en-US" sz="900" b="1" dirty="0">
                          <a:solidFill>
                            <a:schemeClr val="tx1"/>
                          </a:solidFill>
                        </a:rPr>
                        <a:t>表示层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数据的格式与表达、加密、压缩</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8310648"/>
                  </a:ext>
                </a:extLst>
              </a:tr>
              <a:tr h="204220">
                <a:tc>
                  <a:txBody>
                    <a:bodyPr/>
                    <a:lstStyle/>
                    <a:p>
                      <a:pPr algn="ctr"/>
                      <a:r>
                        <a:rPr lang="zh-CN" altLang="en-US" sz="900" b="1" dirty="0">
                          <a:solidFill>
                            <a:schemeClr val="tx1"/>
                          </a:solidFill>
                        </a:rPr>
                        <a:t>会话层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建立、管理和终止会话</a:t>
                      </a:r>
                      <a:r>
                        <a:rPr lang="en-US" altLang="zh-CN" sz="900" b="0" dirty="0">
                          <a:solidFill>
                            <a:schemeClr val="tx1"/>
                          </a:solidFill>
                        </a:rPr>
                        <a:t>Session</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928253"/>
                  </a:ext>
                </a:extLst>
              </a:tr>
              <a:tr h="204220">
                <a:tc>
                  <a:txBody>
                    <a:bodyPr/>
                    <a:lstStyle/>
                    <a:p>
                      <a:pPr algn="ctr"/>
                      <a:r>
                        <a:rPr lang="zh-CN" altLang="en-US" sz="900" b="1" dirty="0">
                          <a:solidFill>
                            <a:schemeClr val="tx1"/>
                          </a:solidFill>
                        </a:rPr>
                        <a:t>传输层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端到端的连接，流量控制、拥塞控制</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3337562"/>
                  </a:ext>
                </a:extLst>
              </a:tr>
              <a:tr h="204220">
                <a:tc>
                  <a:txBody>
                    <a:bodyPr/>
                    <a:lstStyle/>
                    <a:p>
                      <a:pPr algn="ctr"/>
                      <a:r>
                        <a:rPr lang="zh-CN" altLang="en-US" sz="900" b="1" dirty="0">
                          <a:solidFill>
                            <a:schemeClr val="tx1"/>
                          </a:solidFill>
                        </a:rPr>
                        <a:t>网络层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分组传输，路由选择，逻辑寻址</a:t>
                      </a:r>
                      <a:r>
                        <a:rPr lang="en-US" altLang="zh-CN" sz="900" b="0" dirty="0">
                          <a:solidFill>
                            <a:schemeClr val="tx1"/>
                          </a:solidFill>
                        </a:rPr>
                        <a:t>(IP</a:t>
                      </a:r>
                      <a:r>
                        <a:rPr lang="zh-CN" altLang="en-US" sz="900" b="0" dirty="0">
                          <a:solidFill>
                            <a:schemeClr val="tx1"/>
                          </a:solidFill>
                        </a:rPr>
                        <a:t>地址</a:t>
                      </a:r>
                      <a:r>
                        <a:rPr lang="en-US" altLang="zh-CN" sz="900" b="0" dirty="0">
                          <a:solidFill>
                            <a:schemeClr val="tx1"/>
                          </a:solidFill>
                        </a:rPr>
                        <a:t>)</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6724297"/>
                  </a:ext>
                </a:extLst>
              </a:tr>
              <a:tr h="204220">
                <a:tc>
                  <a:txBody>
                    <a:bodyPr/>
                    <a:lstStyle/>
                    <a:p>
                      <a:pPr algn="ctr"/>
                      <a:r>
                        <a:rPr lang="zh-CN" altLang="en-US" sz="900" b="1" dirty="0">
                          <a:solidFill>
                            <a:schemeClr val="tx1"/>
                          </a:solidFill>
                        </a:rPr>
                        <a:t>数据链路层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将比特流封装为帧</a:t>
                      </a:r>
                      <a:r>
                        <a:rPr lang="en-US" altLang="zh-CN" sz="900" b="0" dirty="0">
                          <a:solidFill>
                            <a:schemeClr val="tx1"/>
                          </a:solidFill>
                        </a:rPr>
                        <a:t>Frame</a:t>
                      </a:r>
                      <a:r>
                        <a:rPr lang="zh-CN" altLang="en-US" sz="900" b="0" dirty="0">
                          <a:solidFill>
                            <a:schemeClr val="tx1"/>
                          </a:solidFill>
                        </a:rPr>
                        <a:t>，进行物理寻址</a:t>
                      </a:r>
                      <a:r>
                        <a:rPr lang="en-US" altLang="zh-CN" sz="900" b="0" dirty="0">
                          <a:solidFill>
                            <a:schemeClr val="tx1"/>
                          </a:solidFill>
                        </a:rPr>
                        <a:t>(MAC</a:t>
                      </a:r>
                      <a:r>
                        <a:rPr lang="zh-CN" altLang="en-US" sz="900" b="0" dirty="0">
                          <a:solidFill>
                            <a:schemeClr val="tx1"/>
                          </a:solidFill>
                        </a:rPr>
                        <a:t>地址</a:t>
                      </a:r>
                      <a:r>
                        <a:rPr lang="en-US" altLang="zh-CN" sz="900" b="0" dirty="0">
                          <a:solidFill>
                            <a:schemeClr val="tx1"/>
                          </a:solidFill>
                        </a:rPr>
                        <a:t>)</a:t>
                      </a:r>
                      <a:r>
                        <a:rPr lang="zh-CN" altLang="en-US" sz="900" b="0" dirty="0">
                          <a:solidFill>
                            <a:schemeClr val="tx1"/>
                          </a:solidFill>
                        </a:rPr>
                        <a:t>，</a:t>
                      </a:r>
                      <a:r>
                        <a:rPr lang="en-US" altLang="zh-CN" sz="900" b="0" dirty="0">
                          <a:solidFill>
                            <a:schemeClr val="tx1"/>
                          </a:solidFill>
                        </a:rPr>
                        <a:t>CRC</a:t>
                      </a:r>
                      <a:r>
                        <a:rPr lang="zh-CN" altLang="en-US" sz="900" b="0" dirty="0">
                          <a:solidFill>
                            <a:schemeClr val="tx1"/>
                          </a:solidFill>
                        </a:rPr>
                        <a:t>校验</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6800272"/>
                  </a:ext>
                </a:extLst>
              </a:tr>
              <a:tr h="204220">
                <a:tc>
                  <a:txBody>
                    <a:bodyPr/>
                    <a:lstStyle/>
                    <a:p>
                      <a:pPr algn="ctr"/>
                      <a:r>
                        <a:rPr lang="zh-CN" altLang="en-US" sz="900" b="1" dirty="0">
                          <a:solidFill>
                            <a:schemeClr val="tx1"/>
                          </a:solidFill>
                        </a:rPr>
                        <a:t>物理层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二进制传输比特流</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bl>
          </a:graphicData>
        </a:graphic>
      </p:graphicFrame>
      <p:grpSp>
        <p:nvGrpSpPr>
          <p:cNvPr id="11" name="Group 25">
            <a:extLst>
              <a:ext uri="{FF2B5EF4-FFF2-40B4-BE49-F238E27FC236}">
                <a16:creationId xmlns:a16="http://schemas.microsoft.com/office/drawing/2014/main" id="{DE265084-5E61-77CF-C073-7FF2E8165192}"/>
              </a:ext>
            </a:extLst>
          </p:cNvPr>
          <p:cNvGrpSpPr/>
          <p:nvPr/>
        </p:nvGrpSpPr>
        <p:grpSpPr>
          <a:xfrm>
            <a:off x="3097739" y="4414059"/>
            <a:ext cx="4386653" cy="572261"/>
            <a:chOff x="7614613" y="5950488"/>
            <a:chExt cx="4386653" cy="572261"/>
          </a:xfrm>
        </p:grpSpPr>
        <p:sp>
          <p:nvSpPr>
            <p:cNvPr id="12" name="Rectangle: Rounded Corners 35">
              <a:extLst>
                <a:ext uri="{FF2B5EF4-FFF2-40B4-BE49-F238E27FC236}">
                  <a16:creationId xmlns:a16="http://schemas.microsoft.com/office/drawing/2014/main" id="{CC83A4ED-D479-21B8-7761-5CC564B7E8D7}"/>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a:t>
              </a:r>
              <a:r>
                <a:rPr lang="en-US" altLang="zh-CN" sz="1200" dirty="0">
                  <a:solidFill>
                    <a:schemeClr val="bg1"/>
                  </a:solidFill>
                  <a:latin typeface="ui-monospace"/>
                </a:rPr>
                <a:t>TCP/IP</a:t>
              </a:r>
              <a:r>
                <a:rPr lang="zh-CN" altLang="en-US" sz="1200" dirty="0">
                  <a:solidFill>
                    <a:schemeClr val="bg1"/>
                  </a:solidFill>
                  <a:latin typeface="ui-monospace"/>
                </a:rPr>
                <a:t> 协议簇</a:t>
              </a:r>
              <a:endParaRPr lang="en-US" sz="1200" dirty="0">
                <a:solidFill>
                  <a:schemeClr val="bg1"/>
                </a:solidFill>
              </a:endParaRPr>
            </a:p>
          </p:txBody>
        </p:sp>
        <p:sp>
          <p:nvSpPr>
            <p:cNvPr id="13" name="TextBox 36">
              <a:extLst>
                <a:ext uri="{FF2B5EF4-FFF2-40B4-BE49-F238E27FC236}">
                  <a16:creationId xmlns:a16="http://schemas.microsoft.com/office/drawing/2014/main" id="{482DE9A3-F2BC-CE8F-6E1C-37FE1297A1E1}"/>
                </a:ext>
              </a:extLst>
            </p:cNvPr>
            <p:cNvSpPr txBox="1"/>
            <p:nvPr/>
          </p:nvSpPr>
          <p:spPr>
            <a:xfrm>
              <a:off x="7667294" y="6245750"/>
              <a:ext cx="4281578" cy="276999"/>
            </a:xfrm>
            <a:prstGeom prst="rect">
              <a:avLst/>
            </a:prstGeom>
            <a:noFill/>
          </p:spPr>
          <p:txBody>
            <a:bodyPr wrap="square">
              <a:spAutoFit/>
            </a:bodyPr>
            <a:lstStyle/>
            <a:p>
              <a:endParaRPr lang="en-US" altLang="zh-CN" sz="1200" dirty="0">
                <a:solidFill>
                  <a:schemeClr val="accent1"/>
                </a:solidFill>
                <a:latin typeface="ui-monospace"/>
              </a:endParaRPr>
            </a:p>
          </p:txBody>
        </p:sp>
      </p:grpSp>
      <p:graphicFrame>
        <p:nvGraphicFramePr>
          <p:cNvPr id="16" name="Table 15">
            <a:extLst>
              <a:ext uri="{FF2B5EF4-FFF2-40B4-BE49-F238E27FC236}">
                <a16:creationId xmlns:a16="http://schemas.microsoft.com/office/drawing/2014/main" id="{ACD89D30-F62F-CCC5-30C9-E82EAE2998C3}"/>
              </a:ext>
            </a:extLst>
          </p:cNvPr>
          <p:cNvGraphicFramePr>
            <a:graphicFrameLocks noGrp="1"/>
          </p:cNvGraphicFramePr>
          <p:nvPr>
            <p:extLst>
              <p:ext uri="{D42A27DB-BD31-4B8C-83A1-F6EECF244321}">
                <p14:modId xmlns:p14="http://schemas.microsoft.com/office/powerpoint/2010/main" val="1622917728"/>
              </p:ext>
            </p:extLst>
          </p:nvPr>
        </p:nvGraphicFramePr>
        <p:xfrm>
          <a:off x="3150281" y="4826627"/>
          <a:ext cx="4293667" cy="1990699"/>
        </p:xfrm>
        <a:graphic>
          <a:graphicData uri="http://schemas.openxmlformats.org/drawingml/2006/table">
            <a:tbl>
              <a:tblPr firstRow="1" bandRow="1">
                <a:tableStyleId>{5C22544A-7EE6-4342-B048-85BDC9FD1C3A}</a:tableStyleId>
              </a:tblPr>
              <a:tblGrid>
                <a:gridCol w="755538">
                  <a:extLst>
                    <a:ext uri="{9D8B030D-6E8A-4147-A177-3AD203B41FA5}">
                      <a16:colId xmlns:a16="http://schemas.microsoft.com/office/drawing/2014/main" val="4196207211"/>
                    </a:ext>
                  </a:extLst>
                </a:gridCol>
                <a:gridCol w="1099569">
                  <a:extLst>
                    <a:ext uri="{9D8B030D-6E8A-4147-A177-3AD203B41FA5}">
                      <a16:colId xmlns:a16="http://schemas.microsoft.com/office/drawing/2014/main" val="3523767036"/>
                    </a:ext>
                  </a:extLst>
                </a:gridCol>
                <a:gridCol w="504825">
                  <a:extLst>
                    <a:ext uri="{9D8B030D-6E8A-4147-A177-3AD203B41FA5}">
                      <a16:colId xmlns:a16="http://schemas.microsoft.com/office/drawing/2014/main" val="1507677122"/>
                    </a:ext>
                  </a:extLst>
                </a:gridCol>
                <a:gridCol w="1147649">
                  <a:extLst>
                    <a:ext uri="{9D8B030D-6E8A-4147-A177-3AD203B41FA5}">
                      <a16:colId xmlns:a16="http://schemas.microsoft.com/office/drawing/2014/main" val="1175307736"/>
                    </a:ext>
                  </a:extLst>
                </a:gridCol>
                <a:gridCol w="786086">
                  <a:extLst>
                    <a:ext uri="{9D8B030D-6E8A-4147-A177-3AD203B41FA5}">
                      <a16:colId xmlns:a16="http://schemas.microsoft.com/office/drawing/2014/main" val="920107603"/>
                    </a:ext>
                  </a:extLst>
                </a:gridCol>
              </a:tblGrid>
              <a:tr h="179746">
                <a:tc rowSpan="3">
                  <a:txBody>
                    <a:bodyPr/>
                    <a:lstStyle/>
                    <a:p>
                      <a:pPr algn="ctr"/>
                      <a:r>
                        <a:rPr lang="zh-CN" altLang="en-US" sz="900" b="1" dirty="0">
                          <a:solidFill>
                            <a:schemeClr val="tx1"/>
                          </a:solidFill>
                        </a:rPr>
                        <a:t>应用层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700" b="0" dirty="0">
                          <a:solidFill>
                            <a:schemeClr val="tx1"/>
                          </a:solidFill>
                        </a:rPr>
                        <a:t>POP3</a:t>
                      </a:r>
                      <a:r>
                        <a:rPr lang="zh-CN" altLang="en-US" sz="700" b="0" dirty="0">
                          <a:solidFill>
                            <a:schemeClr val="tx1"/>
                          </a:solidFill>
                        </a:rPr>
                        <a:t>邮件收取</a:t>
                      </a:r>
                      <a:r>
                        <a:rPr lang="en-US" sz="700" b="0" dirty="0">
                          <a:solidFill>
                            <a:schemeClr val="tx1"/>
                          </a:solidFill>
                        </a:rPr>
                        <a:t> </a:t>
                      </a:r>
                      <a:r>
                        <a:rPr lang="en-US" sz="700" b="0" dirty="0">
                          <a:solidFill>
                            <a:srgbClr val="FF0000"/>
                          </a:solidFill>
                        </a:rPr>
                        <a:t>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8">
                  <a:txBody>
                    <a:bodyPr/>
                    <a:lstStyle/>
                    <a:p>
                      <a:pPr algn="ctr"/>
                      <a:r>
                        <a:rPr lang="en-US" altLang="zh-CN" sz="900" b="0" kern="1200" dirty="0">
                          <a:solidFill>
                            <a:schemeClr val="tx1"/>
                          </a:solidFill>
                          <a:latin typeface="+mn-lt"/>
                          <a:ea typeface="+mn-ea"/>
                          <a:cs typeface="+mn-cs"/>
                        </a:rPr>
                        <a:t>NFS</a:t>
                      </a:r>
                    </a:p>
                    <a:p>
                      <a:pPr algn="ctr"/>
                      <a:r>
                        <a:rPr lang="zh-CN" altLang="en-US" sz="900" b="0" kern="1200" dirty="0">
                          <a:solidFill>
                            <a:schemeClr val="tx1"/>
                          </a:solidFill>
                          <a:latin typeface="+mn-lt"/>
                          <a:ea typeface="+mn-ea"/>
                          <a:cs typeface="+mn-cs"/>
                        </a:rPr>
                        <a:t>网络文件服务</a:t>
                      </a:r>
                      <a:r>
                        <a:rPr lang="en-US" altLang="zh-CN" sz="1050" b="0" dirty="0">
                          <a:solidFill>
                            <a:schemeClr val="tx1"/>
                          </a:solidFill>
                        </a:rPr>
                        <a:t> </a:t>
                      </a:r>
                      <a:endParaRPr lang="en-US"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marL="0" algn="ctr" defTabSz="914400" rtl="0" eaLnBrk="1" latinLnBrk="0" hangingPunct="1"/>
                      <a:r>
                        <a:rPr lang="en-US" sz="700" b="0" kern="1200" dirty="0">
                          <a:solidFill>
                            <a:schemeClr val="tx1"/>
                          </a:solidFill>
                          <a:latin typeface="+mn-lt"/>
                          <a:ea typeface="+mn-ea"/>
                          <a:cs typeface="+mn-cs"/>
                        </a:rPr>
                        <a:t>DHCP</a:t>
                      </a:r>
                      <a:r>
                        <a:rPr lang="zh-CN" altLang="en-US" sz="700" b="0" kern="1200" dirty="0">
                          <a:solidFill>
                            <a:schemeClr val="tx1"/>
                          </a:solidFill>
                          <a:latin typeface="+mn-lt"/>
                          <a:ea typeface="+mn-ea"/>
                          <a:cs typeface="+mn-cs"/>
                        </a:rPr>
                        <a:t>动态</a:t>
                      </a:r>
                      <a:r>
                        <a:rPr lang="en-US" altLang="zh-CN" sz="700" b="0" kern="1200" dirty="0">
                          <a:solidFill>
                            <a:schemeClr val="tx1"/>
                          </a:solidFill>
                          <a:latin typeface="+mn-lt"/>
                          <a:ea typeface="+mn-ea"/>
                          <a:cs typeface="+mn-cs"/>
                        </a:rPr>
                        <a:t>IP</a:t>
                      </a:r>
                      <a:r>
                        <a:rPr lang="zh-CN" altLang="en-US" sz="700" b="0" kern="1200" dirty="0">
                          <a:solidFill>
                            <a:schemeClr val="tx1"/>
                          </a:solidFill>
                          <a:latin typeface="+mn-lt"/>
                          <a:ea typeface="+mn-ea"/>
                          <a:cs typeface="+mn-cs"/>
                        </a:rPr>
                        <a:t>分配</a:t>
                      </a:r>
                      <a:r>
                        <a:rPr lang="en-US" sz="700" b="0" kern="1200" dirty="0">
                          <a:solidFill>
                            <a:schemeClr val="tx1"/>
                          </a:solidFill>
                          <a:latin typeface="+mn-lt"/>
                          <a:ea typeface="+mn-ea"/>
                          <a:cs typeface="+mn-cs"/>
                        </a:rPr>
                        <a:t> </a:t>
                      </a:r>
                      <a:r>
                        <a:rPr lang="en-US" sz="700" b="0" kern="1200" dirty="0">
                          <a:solidFill>
                            <a:srgbClr val="FF0000"/>
                          </a:solidFill>
                          <a:latin typeface="+mn-lt"/>
                          <a:ea typeface="+mn-ea"/>
                          <a:cs typeface="+mn-cs"/>
                        </a:rPr>
                        <a:t>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8">
                  <a:txBody>
                    <a:bodyPr/>
                    <a:lstStyle/>
                    <a:p>
                      <a:pPr algn="ctr"/>
                      <a:r>
                        <a:rPr lang="zh-CN" altLang="en-US" sz="900" b="1" dirty="0">
                          <a:solidFill>
                            <a:schemeClr val="tx1"/>
                          </a:solidFill>
                        </a:rPr>
                        <a:t>应用层</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0">
                <a:tc vMerge="1">
                  <a:txBody>
                    <a:bodyPr/>
                    <a:lstStyle/>
                    <a:p>
                      <a:endParaRPr lang="en-US"/>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0" dirty="0">
                          <a:solidFill>
                            <a:schemeClr val="tx1"/>
                          </a:solidFill>
                        </a:rPr>
                        <a:t>SMTP</a:t>
                      </a:r>
                      <a:r>
                        <a:rPr lang="zh-CN" altLang="en-US" sz="700" b="0" dirty="0">
                          <a:solidFill>
                            <a:schemeClr val="tx1"/>
                          </a:solidFill>
                        </a:rPr>
                        <a:t>邮件传输</a:t>
                      </a:r>
                      <a:r>
                        <a:rPr lang="en-US" altLang="zh-CN" sz="700" b="0" dirty="0">
                          <a:solidFill>
                            <a:schemeClr val="tx1"/>
                          </a:solidFill>
                        </a:rPr>
                        <a:t> </a:t>
                      </a:r>
                      <a:r>
                        <a:rPr lang="en-US" altLang="zh-CN" sz="700" b="0" dirty="0">
                          <a:solidFill>
                            <a:srgbClr val="FF0000"/>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8309306"/>
                  </a:ext>
                </a:extLst>
              </a:tr>
              <a:tr h="141579">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0" kern="1200" dirty="0">
                          <a:solidFill>
                            <a:schemeClr val="tx1"/>
                          </a:solidFill>
                          <a:latin typeface="+mn-lt"/>
                          <a:ea typeface="+mn-ea"/>
                          <a:cs typeface="+mn-cs"/>
                        </a:rPr>
                        <a:t>DNS</a:t>
                      </a:r>
                      <a:r>
                        <a:rPr lang="zh-CN" altLang="en-US" sz="700" b="0" kern="1200" dirty="0">
                          <a:solidFill>
                            <a:schemeClr val="tx1"/>
                          </a:solidFill>
                          <a:latin typeface="+mn-lt"/>
                          <a:ea typeface="+mn-ea"/>
                          <a:cs typeface="+mn-cs"/>
                        </a:rPr>
                        <a:t>域名解析过程</a:t>
                      </a:r>
                      <a:r>
                        <a:rPr lang="en-US" altLang="zh-CN" sz="700" b="0" kern="1200" dirty="0">
                          <a:solidFill>
                            <a:schemeClr val="tx1"/>
                          </a:solidFill>
                          <a:latin typeface="+mn-lt"/>
                          <a:ea typeface="+mn-ea"/>
                          <a:cs typeface="+mn-cs"/>
                        </a:rPr>
                        <a:t> </a:t>
                      </a:r>
                      <a:r>
                        <a:rPr lang="en-US" altLang="zh-CN" sz="700" b="0" kern="1200" dirty="0">
                          <a:solidFill>
                            <a:srgbClr val="FF0000"/>
                          </a:solidFill>
                          <a:latin typeface="+mn-lt"/>
                          <a:ea typeface="+mn-ea"/>
                          <a:cs typeface="+mn-cs"/>
                        </a:rPr>
                        <a:t>53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007866372"/>
                  </a:ext>
                </a:extLst>
              </a:tr>
              <a:tr h="0">
                <a:tc rowSpan="2">
                  <a:txBody>
                    <a:bodyPr/>
                    <a:lstStyle/>
                    <a:p>
                      <a:pPr algn="ctr"/>
                      <a:r>
                        <a:rPr lang="zh-CN" altLang="en-US" sz="900" b="1" dirty="0">
                          <a:solidFill>
                            <a:schemeClr val="tx1"/>
                          </a:solidFill>
                        </a:rPr>
                        <a:t>表示层</a:t>
                      </a:r>
                      <a:endParaRPr 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sz="700" b="0" dirty="0">
                          <a:solidFill>
                            <a:schemeClr val="tx1"/>
                          </a:solidFill>
                        </a:rPr>
                        <a:t>HTTP</a:t>
                      </a:r>
                      <a:r>
                        <a:rPr lang="zh-CN" altLang="en-US" sz="700" b="0" dirty="0">
                          <a:solidFill>
                            <a:schemeClr val="tx1"/>
                          </a:solidFill>
                        </a:rPr>
                        <a:t>网页传输</a:t>
                      </a:r>
                      <a:r>
                        <a:rPr lang="en-US" sz="700" b="0" dirty="0">
                          <a:solidFill>
                            <a:schemeClr val="tx1"/>
                          </a:solidFill>
                        </a:rPr>
                        <a:t> </a:t>
                      </a:r>
                      <a:r>
                        <a:rPr lang="en-US" sz="700" b="0" dirty="0">
                          <a:solidFill>
                            <a:srgbClr val="FF0000"/>
                          </a:solidFill>
                        </a:rPr>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en-US"/>
                    </a:p>
                  </a:txBody>
                  <a:tcPr>
                    <a:lnT w="12700" cap="flat" cmpd="sng" algn="ctr">
                      <a:solidFill>
                        <a:schemeClr val="tx1"/>
                      </a:solidFill>
                      <a:prstDash val="solid"/>
                      <a:round/>
                      <a:headEnd type="none" w="med" len="med"/>
                      <a:tailEnd type="none" w="med" len="med"/>
                    </a:lnT>
                  </a:tcPr>
                </a:tc>
                <a:tc vMerge="1">
                  <a:txBody>
                    <a:bodyPr/>
                    <a:lstStyle/>
                    <a:p>
                      <a:endParaRPr lang="en-US"/>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600438305"/>
                  </a:ext>
                </a:extLst>
              </a:tr>
              <a:tr h="198120">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algn="ctr" defTabSz="914400" rtl="0" eaLnBrk="1" latinLnBrk="0" hangingPunct="1"/>
                      <a:r>
                        <a:rPr lang="en-US" sz="700" b="0" kern="1200" dirty="0">
                          <a:solidFill>
                            <a:schemeClr val="tx1"/>
                          </a:solidFill>
                          <a:latin typeface="+mn-lt"/>
                          <a:ea typeface="+mn-ea"/>
                          <a:cs typeface="+mn-cs"/>
                        </a:rPr>
                        <a:t>SNMP</a:t>
                      </a:r>
                      <a:r>
                        <a:rPr lang="zh-CN" altLang="en-US" sz="700" b="0" kern="1200" dirty="0">
                          <a:solidFill>
                            <a:schemeClr val="tx1"/>
                          </a:solidFill>
                          <a:latin typeface="+mn-lt"/>
                          <a:ea typeface="+mn-ea"/>
                          <a:cs typeface="+mn-cs"/>
                        </a:rPr>
                        <a:t>简单网络管理</a:t>
                      </a:r>
                      <a:r>
                        <a:rPr lang="en-US" sz="700" b="0" kern="1200" dirty="0">
                          <a:solidFill>
                            <a:schemeClr val="tx1"/>
                          </a:solidFill>
                          <a:latin typeface="+mn-lt"/>
                          <a:ea typeface="+mn-ea"/>
                          <a:cs typeface="+mn-cs"/>
                        </a:rPr>
                        <a:t> </a:t>
                      </a:r>
                      <a:r>
                        <a:rPr lang="en-US" sz="700" b="0" kern="1200" dirty="0">
                          <a:solidFill>
                            <a:srgbClr val="FF0000"/>
                          </a:solidFill>
                          <a:latin typeface="+mn-lt"/>
                          <a:ea typeface="+mn-ea"/>
                          <a:cs typeface="+mn-cs"/>
                        </a:rPr>
                        <a:t>161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940091749"/>
                  </a:ext>
                </a:extLst>
              </a:tr>
              <a:tr h="98504">
                <a:tc rowSpan="3">
                  <a:txBody>
                    <a:bodyPr/>
                    <a:lstStyle/>
                    <a:p>
                      <a:pPr algn="ctr"/>
                      <a:r>
                        <a:rPr lang="zh-CN" altLang="en-US" sz="900" b="1" dirty="0">
                          <a:solidFill>
                            <a:schemeClr val="tx1"/>
                          </a:solidFill>
                        </a:rPr>
                        <a:t>会话层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sz="700" b="0" dirty="0">
                          <a:solidFill>
                            <a:schemeClr val="tx1"/>
                          </a:solidFill>
                        </a:rPr>
                        <a:t>T</a:t>
                      </a:r>
                      <a:r>
                        <a:rPr lang="en-US" altLang="zh-CN" sz="700" b="0" dirty="0">
                          <a:solidFill>
                            <a:schemeClr val="tx1"/>
                          </a:solidFill>
                        </a:rPr>
                        <a:t>elnet</a:t>
                      </a:r>
                      <a:r>
                        <a:rPr lang="zh-CN" altLang="en-US" sz="700" b="0" dirty="0">
                          <a:solidFill>
                            <a:schemeClr val="tx1"/>
                          </a:solidFill>
                        </a:rPr>
                        <a:t>远程登录</a:t>
                      </a:r>
                      <a:r>
                        <a:rPr lang="en-US" altLang="zh-CN" sz="700" b="0" dirty="0">
                          <a:solidFill>
                            <a:schemeClr val="tx1"/>
                          </a:solidFill>
                        </a:rPr>
                        <a:t> </a:t>
                      </a:r>
                      <a:r>
                        <a:rPr lang="en-US" altLang="zh-CN" sz="700" b="0" dirty="0">
                          <a:solidFill>
                            <a:srgbClr val="FF0000"/>
                          </a:solidFill>
                        </a:rPr>
                        <a:t>23</a:t>
                      </a:r>
                      <a:endParaRPr lang="en-US" sz="900" b="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vMerge="1">
                  <a:txBody>
                    <a:bodyPr/>
                    <a:lstStyle/>
                    <a:p>
                      <a:endParaRPr lang="en-US"/>
                    </a:p>
                  </a:txBody>
                  <a:tcPr>
                    <a:lnT w="12700" cap="flat" cmpd="sng" algn="ctr">
                      <a:solidFill>
                        <a:schemeClr val="tx1"/>
                      </a:solidFill>
                      <a:prstDash val="solid"/>
                      <a:round/>
                      <a:headEnd type="none" w="med" len="med"/>
                      <a:tailEnd type="none" w="med" len="med"/>
                    </a:lnT>
                  </a:tcPr>
                </a:tc>
                <a:tc vMerge="1">
                  <a:txBody>
                    <a:bodyPr/>
                    <a:lstStyle/>
                    <a:p>
                      <a:pPr algn="ctr"/>
                      <a:endParaRPr lang="en-US" sz="900" b="0" dirty="0">
                        <a:solidFill>
                          <a:schemeClr val="tx1"/>
                        </a:solidFill>
                      </a:endParaRP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928253"/>
                  </a:ext>
                </a:extLst>
              </a:tr>
              <a:tr h="0">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0" kern="1200" dirty="0">
                          <a:solidFill>
                            <a:schemeClr val="tx1"/>
                          </a:solidFill>
                          <a:latin typeface="+mn-lt"/>
                          <a:ea typeface="+mn-ea"/>
                          <a:cs typeface="+mn-cs"/>
                        </a:rPr>
                        <a:t>TFTP</a:t>
                      </a:r>
                      <a:r>
                        <a:rPr lang="zh-CN" altLang="en-US" sz="700" b="0" kern="1200" dirty="0">
                          <a:solidFill>
                            <a:schemeClr val="tx1"/>
                          </a:solidFill>
                          <a:latin typeface="+mn-lt"/>
                          <a:ea typeface="+mn-ea"/>
                          <a:cs typeface="+mn-cs"/>
                        </a:rPr>
                        <a:t>简单文件传输</a:t>
                      </a:r>
                      <a:r>
                        <a:rPr lang="en-US" altLang="zh-CN" sz="700" b="0" kern="1200" dirty="0">
                          <a:solidFill>
                            <a:schemeClr val="tx1"/>
                          </a:solidFill>
                          <a:latin typeface="+mn-lt"/>
                          <a:ea typeface="+mn-ea"/>
                          <a:cs typeface="+mn-cs"/>
                        </a:rPr>
                        <a:t> </a:t>
                      </a:r>
                      <a:r>
                        <a:rPr lang="en-US" altLang="zh-CN" sz="700" b="0" kern="1200" dirty="0">
                          <a:solidFill>
                            <a:srgbClr val="FF0000"/>
                          </a:solidFill>
                          <a:latin typeface="+mn-lt"/>
                          <a:ea typeface="+mn-ea"/>
                          <a:cs typeface="+mn-cs"/>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44576981"/>
                  </a:ext>
                </a:extLst>
              </a:tr>
              <a:tr h="0">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0" dirty="0">
                          <a:solidFill>
                            <a:schemeClr val="tx1"/>
                          </a:solidFill>
                        </a:rPr>
                        <a:t>FTP</a:t>
                      </a:r>
                      <a:r>
                        <a:rPr lang="zh-CN" altLang="en-US" sz="700" b="0" dirty="0">
                          <a:solidFill>
                            <a:schemeClr val="tx1"/>
                          </a:solidFill>
                        </a:rPr>
                        <a:t>文件传输</a:t>
                      </a:r>
                      <a:r>
                        <a:rPr lang="en-US" altLang="zh-CN" sz="700" b="0" dirty="0">
                          <a:solidFill>
                            <a:schemeClr val="tx1"/>
                          </a:solidFill>
                        </a:rPr>
                        <a:t> </a:t>
                      </a:r>
                      <a:r>
                        <a:rPr lang="en-US" altLang="zh-CN" sz="700" b="0" dirty="0">
                          <a:solidFill>
                            <a:srgbClr val="FF0000"/>
                          </a:solidFill>
                        </a:rPr>
                        <a:t>20/21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916446319"/>
                  </a:ext>
                </a:extLst>
              </a:tr>
              <a:tr h="205163">
                <a:tc>
                  <a:txBody>
                    <a:bodyPr/>
                    <a:lstStyle/>
                    <a:p>
                      <a:pPr algn="ctr"/>
                      <a:r>
                        <a:rPr lang="zh-CN" altLang="en-US" sz="900" b="1" dirty="0">
                          <a:solidFill>
                            <a:schemeClr val="tx1"/>
                          </a:solidFill>
                        </a:rPr>
                        <a:t>传输层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900" b="0" dirty="0">
                          <a:solidFill>
                            <a:schemeClr val="tx1"/>
                          </a:solidFill>
                        </a:rPr>
                        <a:t>TCP</a:t>
                      </a:r>
                      <a:r>
                        <a:rPr lang="zh-CN" altLang="en-US" sz="900" b="0" dirty="0">
                          <a:solidFill>
                            <a:schemeClr val="tx1"/>
                          </a:solidFill>
                        </a:rPr>
                        <a:t>传输控制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900" b="0" dirty="0">
                          <a:solidFill>
                            <a:schemeClr val="tx1"/>
                          </a:solidFill>
                        </a:rPr>
                        <a:t>UDP</a:t>
                      </a:r>
                      <a:r>
                        <a:rPr lang="zh-CN" altLang="en-US" sz="900" b="0" dirty="0">
                          <a:solidFill>
                            <a:schemeClr val="tx1"/>
                          </a:solidFill>
                        </a:rPr>
                        <a:t>用户数据报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1" dirty="0">
                          <a:solidFill>
                            <a:schemeClr val="tx1"/>
                          </a:solidFill>
                        </a:rPr>
                        <a:t>传输层</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3337562"/>
                  </a:ext>
                </a:extLst>
              </a:tr>
              <a:tr h="205163">
                <a:tc>
                  <a:txBody>
                    <a:bodyPr/>
                    <a:lstStyle/>
                    <a:p>
                      <a:pPr algn="ctr"/>
                      <a:r>
                        <a:rPr lang="zh-CN" altLang="en-US" sz="900" b="1" dirty="0">
                          <a:solidFill>
                            <a:schemeClr val="tx1"/>
                          </a:solidFill>
                        </a:rPr>
                        <a:t>网络层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r>
                        <a:rPr lang="en-US" sz="900" b="1" dirty="0">
                          <a:solidFill>
                            <a:schemeClr val="tx1"/>
                          </a:solidFill>
                        </a:rPr>
                        <a:t>IP</a:t>
                      </a:r>
                      <a:r>
                        <a:rPr lang="en-US" sz="900" b="0" dirty="0">
                          <a:solidFill>
                            <a:schemeClr val="tx1"/>
                          </a:solidFill>
                        </a:rPr>
                        <a:t> ICMP IGMP ARP RARP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tc>
                  <a:txBody>
                    <a:bodyPr/>
                    <a:lstStyle/>
                    <a:p>
                      <a:pPr algn="ctr"/>
                      <a:r>
                        <a:rPr lang="zh-CN" altLang="en-US" sz="900" b="1" dirty="0">
                          <a:solidFill>
                            <a:schemeClr val="tx1"/>
                          </a:solidFill>
                        </a:rPr>
                        <a:t>网际层</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6724297"/>
                  </a:ext>
                </a:extLst>
              </a:tr>
              <a:tr h="205163">
                <a:tc>
                  <a:txBody>
                    <a:bodyPr/>
                    <a:lstStyle/>
                    <a:p>
                      <a:pPr algn="ctr"/>
                      <a:r>
                        <a:rPr lang="zh-CN" altLang="en-US" sz="900" b="1" dirty="0">
                          <a:solidFill>
                            <a:schemeClr val="tx1"/>
                          </a:solidFill>
                        </a:rPr>
                        <a:t>数据链路层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gridSpan="3">
                  <a:txBody>
                    <a:bodyPr/>
                    <a:lstStyle/>
                    <a:p>
                      <a:pPr algn="ctr"/>
                      <a:r>
                        <a:rPr lang="en-US" sz="800" b="0" dirty="0">
                          <a:solidFill>
                            <a:schemeClr val="tx1"/>
                          </a:solidFill>
                        </a:rPr>
                        <a:t>E</a:t>
                      </a:r>
                      <a:r>
                        <a:rPr lang="en-US" altLang="zh-CN" sz="800" b="0" dirty="0">
                          <a:solidFill>
                            <a:schemeClr val="tx1"/>
                          </a:solidFill>
                        </a:rPr>
                        <a:t>thernet IEEE 802.3 </a:t>
                      </a:r>
                    </a:p>
                    <a:p>
                      <a:pPr algn="ctr"/>
                      <a:r>
                        <a:rPr lang="en-US" altLang="zh-CN" sz="800" b="0" dirty="0">
                          <a:solidFill>
                            <a:schemeClr val="tx1"/>
                          </a:solidFill>
                        </a:rPr>
                        <a:t>Token-Ring/IEEE 802.5</a:t>
                      </a:r>
                    </a:p>
                    <a:p>
                      <a:pPr algn="ctr"/>
                      <a:r>
                        <a:rPr lang="en-US" altLang="zh-CN" sz="800" b="0" dirty="0">
                          <a:solidFill>
                            <a:schemeClr val="tx1"/>
                          </a:solidFill>
                        </a:rPr>
                        <a:t>CSMA/CD FDDI </a:t>
                      </a:r>
                      <a:r>
                        <a:rPr lang="en-US" altLang="zh-CN" sz="800" b="0" dirty="0" err="1">
                          <a:solidFill>
                            <a:schemeClr val="tx1"/>
                          </a:solidFill>
                        </a:rPr>
                        <a:t>ARCnet</a:t>
                      </a:r>
                      <a:r>
                        <a:rPr lang="en-US" altLang="zh-CN" sz="800" b="0" dirty="0">
                          <a:solidFill>
                            <a:schemeClr val="tx1"/>
                          </a:solidFill>
                        </a:rPr>
                        <a:t> PPP/SLIP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endParaRPr lang="en-US"/>
                    </a:p>
                  </a:txBody>
                  <a:tcPr>
                    <a:lnL w="12700" cap="flat" cmpd="sng" algn="ctr">
                      <a:solidFill>
                        <a:schemeClr val="tx1"/>
                      </a:solidFill>
                      <a:prstDash val="solid"/>
                      <a:round/>
                      <a:headEnd type="none" w="med" len="med"/>
                      <a:tailEnd type="none" w="med" len="med"/>
                    </a:lnL>
                  </a:tcPr>
                </a:tc>
                <a:tc rowSpan="2" hMerge="1">
                  <a:txBody>
                    <a:bodyPr/>
                    <a:lstStyle/>
                    <a:p>
                      <a:endParaRPr lang="en-US"/>
                    </a:p>
                  </a:txBody>
                  <a:tcPr/>
                </a:tc>
                <a:tc>
                  <a:txBody>
                    <a:bodyPr/>
                    <a:lstStyle/>
                    <a:p>
                      <a:pPr algn="ctr"/>
                      <a:r>
                        <a:rPr lang="zh-CN" altLang="en-US" sz="900" b="1" dirty="0">
                          <a:solidFill>
                            <a:schemeClr val="tx1"/>
                          </a:solidFill>
                        </a:rPr>
                        <a:t>网络接口层</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6800272"/>
                  </a:ext>
                </a:extLst>
              </a:tr>
              <a:tr h="203214">
                <a:tc>
                  <a:txBody>
                    <a:bodyPr/>
                    <a:lstStyle/>
                    <a:p>
                      <a:pPr algn="ctr"/>
                      <a:r>
                        <a:rPr lang="zh-CN" altLang="en-US" sz="900" b="1" dirty="0">
                          <a:solidFill>
                            <a:schemeClr val="tx1"/>
                          </a:solidFill>
                        </a:rPr>
                        <a:t>物理层</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vMerge="1">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vMerge="1">
                  <a:txBody>
                    <a:bodyPr/>
                    <a:lstStyle/>
                    <a:p>
                      <a:endParaRPr lang="en-US"/>
                    </a:p>
                  </a:txBody>
                  <a:tcPr/>
                </a:tc>
                <a:tc hMerge="1" vMerge="1">
                  <a:txBody>
                    <a:bodyPr/>
                    <a:lstStyle/>
                    <a:p>
                      <a:endParaRPr lang="en-US" dirty="0"/>
                    </a:p>
                  </a:txBody>
                  <a:tcPr/>
                </a:tc>
                <a:tc>
                  <a:txBody>
                    <a:bodyPr/>
                    <a:lstStyle/>
                    <a:p>
                      <a:pPr algn="ctr"/>
                      <a:r>
                        <a:rPr lang="zh-CN" altLang="en-US" sz="900" b="1" dirty="0">
                          <a:solidFill>
                            <a:schemeClr val="tx1"/>
                          </a:solidFill>
                        </a:rPr>
                        <a:t>硬件层</a:t>
                      </a:r>
                      <a:endParaRPr lang="en-US" sz="9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1119187"/>
                  </a:ext>
                </a:extLst>
              </a:tr>
            </a:tbl>
          </a:graphicData>
        </a:graphic>
      </p:graphicFrame>
      <p:sp>
        <p:nvSpPr>
          <p:cNvPr id="17" name="TextBox 16">
            <a:extLst>
              <a:ext uri="{FF2B5EF4-FFF2-40B4-BE49-F238E27FC236}">
                <a16:creationId xmlns:a16="http://schemas.microsoft.com/office/drawing/2014/main" id="{39F1449A-70C4-39C9-B034-2F27528A8118}"/>
              </a:ext>
            </a:extLst>
          </p:cNvPr>
          <p:cNvSpPr txBox="1"/>
          <p:nvPr/>
        </p:nvSpPr>
        <p:spPr>
          <a:xfrm>
            <a:off x="3238697" y="4688938"/>
            <a:ext cx="590226" cy="184666"/>
          </a:xfrm>
          <a:prstGeom prst="rect">
            <a:avLst/>
          </a:prstGeom>
          <a:noFill/>
        </p:spPr>
        <p:txBody>
          <a:bodyPr wrap="none" rtlCol="0">
            <a:spAutoFit/>
          </a:bodyPr>
          <a:lstStyle/>
          <a:p>
            <a:r>
              <a:rPr lang="en-US" sz="600" b="1" dirty="0"/>
              <a:t>ISO/OSI</a:t>
            </a:r>
            <a:r>
              <a:rPr lang="zh-CN" altLang="en-US" sz="600" b="1" dirty="0"/>
              <a:t>模型</a:t>
            </a:r>
            <a:endParaRPr lang="en-US" sz="600" b="1" dirty="0"/>
          </a:p>
        </p:txBody>
      </p:sp>
      <p:sp>
        <p:nvSpPr>
          <p:cNvPr id="18" name="TextBox 17">
            <a:extLst>
              <a:ext uri="{FF2B5EF4-FFF2-40B4-BE49-F238E27FC236}">
                <a16:creationId xmlns:a16="http://schemas.microsoft.com/office/drawing/2014/main" id="{C62A6F4B-263A-A143-E85A-11B604C9B5A4}"/>
              </a:ext>
            </a:extLst>
          </p:cNvPr>
          <p:cNvSpPr txBox="1"/>
          <p:nvPr/>
        </p:nvSpPr>
        <p:spPr>
          <a:xfrm>
            <a:off x="6779435" y="4688938"/>
            <a:ext cx="554960" cy="184666"/>
          </a:xfrm>
          <a:prstGeom prst="rect">
            <a:avLst/>
          </a:prstGeom>
          <a:noFill/>
        </p:spPr>
        <p:txBody>
          <a:bodyPr wrap="none" rtlCol="0">
            <a:spAutoFit/>
          </a:bodyPr>
          <a:lstStyle/>
          <a:p>
            <a:r>
              <a:rPr lang="en-US" altLang="zh-CN" sz="600" b="1" dirty="0"/>
              <a:t>TCP/IP</a:t>
            </a:r>
            <a:r>
              <a:rPr lang="zh-CN" altLang="en-US" sz="600" b="1" dirty="0"/>
              <a:t>模型</a:t>
            </a:r>
            <a:endParaRPr lang="en-US" sz="600" b="1" dirty="0"/>
          </a:p>
        </p:txBody>
      </p:sp>
      <p:sp>
        <p:nvSpPr>
          <p:cNvPr id="19" name="TextBox 18">
            <a:extLst>
              <a:ext uri="{FF2B5EF4-FFF2-40B4-BE49-F238E27FC236}">
                <a16:creationId xmlns:a16="http://schemas.microsoft.com/office/drawing/2014/main" id="{84715B13-BDB6-AF92-7AB8-2C9E096BA0BF}"/>
              </a:ext>
            </a:extLst>
          </p:cNvPr>
          <p:cNvSpPr txBox="1"/>
          <p:nvPr/>
        </p:nvSpPr>
        <p:spPr>
          <a:xfrm>
            <a:off x="5031465" y="4690962"/>
            <a:ext cx="554960" cy="184666"/>
          </a:xfrm>
          <a:prstGeom prst="rect">
            <a:avLst/>
          </a:prstGeom>
          <a:noFill/>
        </p:spPr>
        <p:txBody>
          <a:bodyPr wrap="none" rtlCol="0">
            <a:spAutoFit/>
          </a:bodyPr>
          <a:lstStyle/>
          <a:p>
            <a:r>
              <a:rPr lang="en-US" altLang="zh-CN" sz="600" b="1" dirty="0"/>
              <a:t>TCP/IP</a:t>
            </a:r>
            <a:r>
              <a:rPr lang="zh-CN" altLang="en-US" sz="600" b="1" dirty="0"/>
              <a:t>协议</a:t>
            </a:r>
            <a:endParaRPr lang="en-US" sz="600" b="1" dirty="0"/>
          </a:p>
        </p:txBody>
      </p:sp>
      <p:grpSp>
        <p:nvGrpSpPr>
          <p:cNvPr id="21" name="Group 25">
            <a:extLst>
              <a:ext uri="{FF2B5EF4-FFF2-40B4-BE49-F238E27FC236}">
                <a16:creationId xmlns:a16="http://schemas.microsoft.com/office/drawing/2014/main" id="{A0A5BC88-2E31-8E26-48E0-F65AEF6DA589}"/>
              </a:ext>
            </a:extLst>
          </p:cNvPr>
          <p:cNvGrpSpPr/>
          <p:nvPr/>
        </p:nvGrpSpPr>
        <p:grpSpPr>
          <a:xfrm>
            <a:off x="7655287" y="1730126"/>
            <a:ext cx="4386653" cy="1310925"/>
            <a:chOff x="7614613" y="5950488"/>
            <a:chExt cx="4386653" cy="1310925"/>
          </a:xfrm>
        </p:grpSpPr>
        <p:sp>
          <p:nvSpPr>
            <p:cNvPr id="22" name="Rectangle: Rounded Corners 35">
              <a:extLst>
                <a:ext uri="{FF2B5EF4-FFF2-40B4-BE49-F238E27FC236}">
                  <a16:creationId xmlns:a16="http://schemas.microsoft.com/office/drawing/2014/main" id="{D897DE85-FB87-1E5D-13A0-FA534D70F02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▶网际层协议</a:t>
              </a:r>
              <a:endParaRPr lang="en-US" sz="1200" dirty="0">
                <a:solidFill>
                  <a:schemeClr val="bg1"/>
                </a:solidFill>
              </a:endParaRPr>
            </a:p>
          </p:txBody>
        </p:sp>
        <p:sp>
          <p:nvSpPr>
            <p:cNvPr id="23" name="TextBox 36">
              <a:extLst>
                <a:ext uri="{FF2B5EF4-FFF2-40B4-BE49-F238E27FC236}">
                  <a16:creationId xmlns:a16="http://schemas.microsoft.com/office/drawing/2014/main" id="{6F810659-0269-B951-3716-88005B0EE5A6}"/>
                </a:ext>
              </a:extLst>
            </p:cNvPr>
            <p:cNvSpPr txBox="1"/>
            <p:nvPr/>
          </p:nvSpPr>
          <p:spPr>
            <a:xfrm>
              <a:off x="7667294" y="6245750"/>
              <a:ext cx="4281578" cy="1015663"/>
            </a:xfrm>
            <a:prstGeom prst="rect">
              <a:avLst/>
            </a:prstGeom>
            <a:noFill/>
          </p:spPr>
          <p:txBody>
            <a:bodyPr wrap="square">
              <a:spAutoFit/>
            </a:bodyPr>
            <a:lstStyle/>
            <a:p>
              <a:r>
                <a:rPr lang="en-US" altLang="zh-CN" sz="1200" dirty="0">
                  <a:solidFill>
                    <a:schemeClr val="accent1"/>
                  </a:solidFill>
                  <a:latin typeface="ui-monospace"/>
                </a:rPr>
                <a:t>IP</a:t>
              </a:r>
              <a:r>
                <a:rPr lang="zh-CN" altLang="en-US" sz="1200" dirty="0">
                  <a:solidFill>
                    <a:schemeClr val="accent1"/>
                  </a:solidFill>
                  <a:latin typeface="ui-monospace"/>
                </a:rPr>
                <a:t>：逻辑寻址，路由选择，数据包分片于重组，</a:t>
              </a:r>
              <a:r>
                <a:rPr lang="en-US" altLang="zh-CN" sz="1200" dirty="0">
                  <a:solidFill>
                    <a:schemeClr val="accent1"/>
                  </a:solidFill>
                  <a:latin typeface="ui-monospace"/>
                </a:rPr>
                <a:t>IPv4/IPv6</a:t>
              </a:r>
            </a:p>
            <a:p>
              <a:r>
                <a:rPr lang="en-US" altLang="zh-CN" sz="1200" dirty="0">
                  <a:solidFill>
                    <a:schemeClr val="accent1"/>
                  </a:solidFill>
                  <a:latin typeface="ui-monospace"/>
                </a:rPr>
                <a:t>ICMP</a:t>
              </a:r>
              <a:r>
                <a:rPr lang="zh-CN" altLang="en-US" sz="1200" dirty="0">
                  <a:solidFill>
                    <a:schemeClr val="accent1"/>
                  </a:solidFill>
                  <a:latin typeface="ui-monospace"/>
                </a:rPr>
                <a:t>：网络诊断与错误报错</a:t>
              </a:r>
              <a:endParaRPr lang="en-US" altLang="zh-CN" sz="1200" dirty="0">
                <a:solidFill>
                  <a:schemeClr val="accent1"/>
                </a:solidFill>
                <a:latin typeface="ui-monospace"/>
              </a:endParaRPr>
            </a:p>
            <a:p>
              <a:r>
                <a:rPr lang="en-US" altLang="zh-CN" sz="1200" dirty="0">
                  <a:solidFill>
                    <a:schemeClr val="accent1"/>
                  </a:solidFill>
                  <a:latin typeface="ui-monospace"/>
                </a:rPr>
                <a:t>ARP</a:t>
              </a:r>
              <a:r>
                <a:rPr lang="zh-CN" altLang="en-US" sz="1200" dirty="0">
                  <a:solidFill>
                    <a:schemeClr val="accent1"/>
                  </a:solidFill>
                  <a:latin typeface="ui-monospace"/>
                </a:rPr>
                <a:t>：地址解析协议，</a:t>
              </a:r>
              <a:r>
                <a:rPr lang="en-US" altLang="zh-CN" sz="1200" dirty="0">
                  <a:solidFill>
                    <a:schemeClr val="accent1"/>
                  </a:solidFill>
                  <a:latin typeface="ui-monospace"/>
                </a:rPr>
                <a:t>IP</a:t>
              </a:r>
              <a:r>
                <a:rPr lang="zh-CN" altLang="en-US" sz="1200" dirty="0">
                  <a:solidFill>
                    <a:schemeClr val="accent1"/>
                  </a:solidFill>
                  <a:latin typeface="ui-monospace"/>
                </a:rPr>
                <a:t>转</a:t>
              </a:r>
              <a:r>
                <a:rPr lang="en-US" altLang="zh-CN" sz="1200" dirty="0">
                  <a:solidFill>
                    <a:schemeClr val="accent1"/>
                  </a:solidFill>
                  <a:latin typeface="ui-monospace"/>
                </a:rPr>
                <a:t>MAC</a:t>
              </a:r>
              <a:r>
                <a:rPr lang="zh-CN" altLang="en-US" sz="1200" dirty="0">
                  <a:solidFill>
                    <a:schemeClr val="accent1"/>
                  </a:solidFill>
                  <a:latin typeface="ui-monospace"/>
                </a:rPr>
                <a:t>，局域网通信，广播发送请求，单播应答响应</a:t>
              </a:r>
            </a:p>
            <a:p>
              <a:r>
                <a:rPr lang="en-US" altLang="zh-CN" sz="1200" dirty="0">
                  <a:solidFill>
                    <a:schemeClr val="accent1"/>
                  </a:solidFill>
                  <a:latin typeface="ui-monospace"/>
                </a:rPr>
                <a:t>RARP</a:t>
              </a:r>
              <a:r>
                <a:rPr lang="zh-CN" altLang="en-US" sz="1200" dirty="0">
                  <a:solidFill>
                    <a:schemeClr val="accent1"/>
                  </a:solidFill>
                  <a:latin typeface="ui-monospace"/>
                </a:rPr>
                <a:t>：反地址解析协议，</a:t>
              </a:r>
              <a:r>
                <a:rPr lang="en-US" altLang="zh-CN" sz="1200" dirty="0">
                  <a:solidFill>
                    <a:schemeClr val="accent1"/>
                  </a:solidFill>
                  <a:latin typeface="ui-monospace"/>
                </a:rPr>
                <a:t>MAC</a:t>
              </a:r>
              <a:r>
                <a:rPr lang="zh-CN" altLang="en-US" sz="1200" dirty="0">
                  <a:solidFill>
                    <a:schemeClr val="accent1"/>
                  </a:solidFill>
                  <a:latin typeface="ui-monospace"/>
                </a:rPr>
                <a:t>转</a:t>
              </a:r>
              <a:r>
                <a:rPr lang="en-US" altLang="zh-CN" sz="1200" dirty="0">
                  <a:solidFill>
                    <a:schemeClr val="accent1"/>
                  </a:solidFill>
                  <a:latin typeface="ui-monospace"/>
                </a:rPr>
                <a:t>IP</a:t>
              </a:r>
              <a:r>
                <a:rPr lang="zh-CN" altLang="en-US" sz="1200" dirty="0">
                  <a:solidFill>
                    <a:schemeClr val="accent1"/>
                  </a:solidFill>
                  <a:latin typeface="ui-monospace"/>
                </a:rPr>
                <a:t>，被</a:t>
              </a:r>
              <a:r>
                <a:rPr lang="en-US" altLang="zh-CN" sz="1200" dirty="0">
                  <a:solidFill>
                    <a:schemeClr val="accent1"/>
                  </a:solidFill>
                  <a:latin typeface="ui-monospace"/>
                </a:rPr>
                <a:t>DHCP</a:t>
              </a:r>
              <a:r>
                <a:rPr lang="zh-CN" altLang="en-US" sz="1200" dirty="0">
                  <a:solidFill>
                    <a:schemeClr val="accent1"/>
                  </a:solidFill>
                  <a:latin typeface="ui-monospace"/>
                </a:rPr>
                <a:t>取代</a:t>
              </a:r>
              <a:endParaRPr lang="en-US" altLang="zh-CN" sz="1200" dirty="0">
                <a:solidFill>
                  <a:schemeClr val="accent1"/>
                </a:solidFill>
                <a:latin typeface="ui-monospace"/>
              </a:endParaRPr>
            </a:p>
          </p:txBody>
        </p:sp>
      </p:grpSp>
      <p:grpSp>
        <p:nvGrpSpPr>
          <p:cNvPr id="27" name="Group 25">
            <a:extLst>
              <a:ext uri="{FF2B5EF4-FFF2-40B4-BE49-F238E27FC236}">
                <a16:creationId xmlns:a16="http://schemas.microsoft.com/office/drawing/2014/main" id="{4A785504-0DDE-D0A2-8F26-DA89FE46F621}"/>
              </a:ext>
            </a:extLst>
          </p:cNvPr>
          <p:cNvGrpSpPr/>
          <p:nvPr/>
        </p:nvGrpSpPr>
        <p:grpSpPr>
          <a:xfrm>
            <a:off x="7655287" y="3069132"/>
            <a:ext cx="4386653" cy="2049588"/>
            <a:chOff x="7614613" y="5950488"/>
            <a:chExt cx="4386653" cy="2049588"/>
          </a:xfrm>
        </p:grpSpPr>
        <p:sp>
          <p:nvSpPr>
            <p:cNvPr id="28" name="Rectangle: Rounded Corners 35">
              <a:extLst>
                <a:ext uri="{FF2B5EF4-FFF2-40B4-BE49-F238E27FC236}">
                  <a16:creationId xmlns:a16="http://schemas.microsoft.com/office/drawing/2014/main" id="{A9BFB159-66C2-768C-127B-7773EEC42C31}"/>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a:t>
              </a:r>
              <a:r>
                <a:rPr lang="en-US" altLang="zh-CN" sz="1200" dirty="0">
                  <a:solidFill>
                    <a:schemeClr val="bg1"/>
                  </a:solidFill>
                  <a:latin typeface="ui-monospace"/>
                </a:rPr>
                <a:t>IP</a:t>
              </a:r>
              <a:r>
                <a:rPr lang="zh-CN" altLang="en-US" sz="1200" dirty="0">
                  <a:solidFill>
                    <a:schemeClr val="bg1"/>
                  </a:solidFill>
                  <a:latin typeface="ui-monospace"/>
                </a:rPr>
                <a:t>地址</a:t>
              </a:r>
              <a:endParaRPr lang="en-US" sz="1200" dirty="0">
                <a:solidFill>
                  <a:schemeClr val="bg1"/>
                </a:solidFill>
              </a:endParaRPr>
            </a:p>
          </p:txBody>
        </p:sp>
        <mc:AlternateContent xmlns:mc="http://schemas.openxmlformats.org/markup-compatibility/2006" xmlns:a14="http://schemas.microsoft.com/office/drawing/2010/main">
          <mc:Choice Requires="a14">
            <p:sp>
              <p:nvSpPr>
                <p:cNvPr id="29" name="TextBox 36">
                  <a:extLst>
                    <a:ext uri="{FF2B5EF4-FFF2-40B4-BE49-F238E27FC236}">
                      <a16:creationId xmlns:a16="http://schemas.microsoft.com/office/drawing/2014/main" id="{05D309AB-6EE6-856F-6DBF-8CE1F67DEBBA}"/>
                    </a:ext>
                  </a:extLst>
                </p:cNvPr>
                <p:cNvSpPr txBox="1"/>
                <p:nvPr/>
              </p:nvSpPr>
              <p:spPr>
                <a:xfrm>
                  <a:off x="7667294" y="6245750"/>
                  <a:ext cx="4281578" cy="1754326"/>
                </a:xfrm>
                <a:prstGeom prst="rect">
                  <a:avLst/>
                </a:prstGeom>
                <a:noFill/>
              </p:spPr>
              <p:txBody>
                <a:bodyPr wrap="square">
                  <a:spAutoFit/>
                </a:bodyPr>
                <a:lstStyle/>
                <a:p>
                  <a:r>
                    <a:rPr lang="en-US" altLang="zh-CN" sz="1200" dirty="0">
                      <a:solidFill>
                        <a:schemeClr val="accent1"/>
                      </a:solidFill>
                      <a:latin typeface="ui-monospace"/>
                    </a:rPr>
                    <a:t>IP</a:t>
                  </a:r>
                  <a:r>
                    <a:rPr lang="zh-CN" altLang="en-US" sz="1200" dirty="0">
                      <a:solidFill>
                        <a:schemeClr val="accent1"/>
                      </a:solidFill>
                      <a:latin typeface="ui-monospace"/>
                    </a:rPr>
                    <a:t>：先转二进制 </a:t>
                  </a:r>
                  <a:r>
                    <a:rPr lang="en-US" altLang="zh-CN" sz="1200" dirty="0">
                      <a:solidFill>
                        <a:schemeClr val="accent1"/>
                      </a:solidFill>
                      <a:latin typeface="ui-monospace"/>
                    </a:rPr>
                    <a:t>129.102.4.11 </a:t>
                  </a:r>
                  <a:r>
                    <a:rPr lang="zh-CN" altLang="en-US" sz="1200" dirty="0">
                      <a:solidFill>
                        <a:schemeClr val="accent1"/>
                      </a:solidFill>
                      <a:latin typeface="ui-monospace"/>
                    </a:rPr>
                    <a:t>对应 </a:t>
                  </a:r>
                  <a:r>
                    <a:rPr lang="en-US" altLang="zh-CN" sz="1200" dirty="0">
                      <a:solidFill>
                        <a:schemeClr val="accent1"/>
                      </a:solidFill>
                      <a:latin typeface="ui-monospace"/>
                    </a:rPr>
                    <a:t>128 64 32 16 8 4 2 1</a:t>
                  </a:r>
                </a:p>
                <a:p>
                  <a:r>
                    <a:rPr lang="zh-CN" altLang="en-US" sz="1200" dirty="0">
                      <a:solidFill>
                        <a:schemeClr val="accent1"/>
                      </a:solidFill>
                      <a:latin typeface="ui-monospace"/>
                    </a:rPr>
                    <a:t>网络地址</a:t>
                  </a:r>
                  <a:r>
                    <a:rPr lang="en-US" altLang="zh-CN" sz="1200" dirty="0">
                      <a:solidFill>
                        <a:schemeClr val="accent1"/>
                      </a:solidFill>
                      <a:latin typeface="ui-monospace"/>
                    </a:rPr>
                    <a:t>+</a:t>
                  </a:r>
                  <a:r>
                    <a:rPr lang="zh-CN" altLang="en-US" sz="1200" dirty="0">
                      <a:solidFill>
                        <a:schemeClr val="accent1"/>
                      </a:solidFill>
                      <a:latin typeface="ui-monospace"/>
                    </a:rPr>
                    <a:t>主机地址</a:t>
                  </a:r>
                  <a:endParaRPr lang="en-US" altLang="zh-CN" sz="1200" dirty="0">
                    <a:solidFill>
                      <a:schemeClr val="accent1"/>
                    </a:solidFill>
                    <a:latin typeface="ui-monospace"/>
                  </a:endParaRPr>
                </a:p>
                <a:p>
                  <a:r>
                    <a:rPr lang="zh-CN" altLang="en-US" sz="1200" dirty="0">
                      <a:solidFill>
                        <a:schemeClr val="accent1"/>
                      </a:solidFill>
                      <a:latin typeface="ui-monospace"/>
                    </a:rPr>
                    <a:t>不包含全</a:t>
                  </a:r>
                  <a:r>
                    <a:rPr lang="en-US" altLang="zh-CN" sz="1200" dirty="0">
                      <a:solidFill>
                        <a:schemeClr val="accent1"/>
                      </a:solidFill>
                      <a:latin typeface="ui-monospace"/>
                    </a:rPr>
                    <a:t>0</a:t>
                  </a:r>
                  <a:r>
                    <a:rPr lang="zh-CN" altLang="en-US" sz="1200" dirty="0">
                      <a:solidFill>
                        <a:schemeClr val="accent1"/>
                      </a:solidFill>
                      <a:latin typeface="ui-monospace"/>
                    </a:rPr>
                    <a:t>和全</a:t>
                  </a:r>
                  <a:r>
                    <a:rPr lang="en-US" altLang="zh-CN" sz="1200" dirty="0">
                      <a:solidFill>
                        <a:schemeClr val="accent1"/>
                      </a:solidFill>
                      <a:latin typeface="ui-monospace"/>
                    </a:rPr>
                    <a:t>1</a:t>
                  </a:r>
                  <a:r>
                    <a:rPr lang="zh-CN" altLang="en-US" sz="1200" dirty="0">
                      <a:solidFill>
                        <a:schemeClr val="accent1"/>
                      </a:solidFill>
                      <a:latin typeface="ui-monospace"/>
                    </a:rPr>
                    <a:t>，能分配的主机个数要</a:t>
                  </a:r>
                  <a:r>
                    <a:rPr lang="en-US" altLang="zh-CN" sz="1200" dirty="0">
                      <a:solidFill>
                        <a:schemeClr val="accent1"/>
                      </a:solidFill>
                      <a:latin typeface="ui-monospace"/>
                    </a:rPr>
                    <a:t>-2</a:t>
                  </a:r>
                  <a:r>
                    <a:rPr lang="zh-CN" altLang="en-US" sz="1200" dirty="0">
                      <a:solidFill>
                        <a:schemeClr val="accent1"/>
                      </a:solidFill>
                      <a:latin typeface="ui-monospace"/>
                    </a:rPr>
                    <a:t>，全</a:t>
                  </a:r>
                  <a:r>
                    <a:rPr lang="en-US" altLang="zh-CN" sz="1200" dirty="0">
                      <a:solidFill>
                        <a:schemeClr val="accent1"/>
                      </a:solidFill>
                      <a:latin typeface="ui-monospace"/>
                    </a:rPr>
                    <a:t>0</a:t>
                  </a:r>
                  <a:r>
                    <a:rPr lang="zh-CN" altLang="en-US" sz="1200" dirty="0">
                      <a:solidFill>
                        <a:schemeClr val="accent1"/>
                      </a:solidFill>
                      <a:latin typeface="ui-monospace"/>
                    </a:rPr>
                    <a:t>的代表网络，全</a:t>
                  </a:r>
                  <a:r>
                    <a:rPr lang="en-US" altLang="zh-CN" sz="1200" dirty="0">
                      <a:solidFill>
                        <a:schemeClr val="accent1"/>
                      </a:solidFill>
                      <a:latin typeface="ui-monospace"/>
                    </a:rPr>
                    <a:t>1</a:t>
                  </a:r>
                  <a:r>
                    <a:rPr lang="zh-CN" altLang="en-US" sz="1200" dirty="0">
                      <a:solidFill>
                        <a:schemeClr val="accent1"/>
                      </a:solidFill>
                      <a:latin typeface="ui-monospace"/>
                    </a:rPr>
                    <a:t>的代表广播。默认网关</a:t>
                  </a:r>
                  <a:r>
                    <a:rPr lang="en-US" altLang="zh-CN" sz="1200" dirty="0">
                      <a:solidFill>
                        <a:schemeClr val="accent1"/>
                      </a:solidFill>
                      <a:latin typeface="ui-monospace"/>
                    </a:rPr>
                    <a:t>-1</a:t>
                  </a:r>
                </a:p>
                <a:p>
                  <a:r>
                    <a:rPr lang="zh-CN" altLang="en-US" sz="1200" dirty="0">
                      <a:solidFill>
                        <a:schemeClr val="accent1"/>
                      </a:solidFill>
                      <a:latin typeface="ui-monospace"/>
                    </a:rPr>
                    <a:t>子网掩码：</a:t>
                  </a:r>
                  <a:r>
                    <a:rPr lang="en-US" altLang="zh-CN" sz="1200" dirty="0">
                      <a:solidFill>
                        <a:schemeClr val="accent1"/>
                      </a:solidFill>
                      <a:latin typeface="ui-monospace"/>
                    </a:rPr>
                    <a:t>A/8</a:t>
                  </a:r>
                  <a:r>
                    <a:rPr lang="zh-CN" altLang="en-US" sz="1200" dirty="0">
                      <a:solidFill>
                        <a:schemeClr val="accent1"/>
                      </a:solidFill>
                      <a:latin typeface="ui-monospace"/>
                    </a:rPr>
                    <a:t>，</a:t>
                  </a:r>
                  <a:r>
                    <a:rPr lang="en-US" altLang="zh-CN" sz="1200" dirty="0">
                      <a:solidFill>
                        <a:schemeClr val="accent1"/>
                      </a:solidFill>
                      <a:latin typeface="ui-monospace"/>
                    </a:rPr>
                    <a:t>B/16</a:t>
                  </a:r>
                  <a:r>
                    <a:rPr lang="zh-CN" altLang="en-US" sz="1200" dirty="0">
                      <a:solidFill>
                        <a:schemeClr val="accent1"/>
                      </a:solidFill>
                      <a:latin typeface="ui-monospace"/>
                    </a:rPr>
                    <a:t>，</a:t>
                  </a:r>
                  <a:r>
                    <a:rPr lang="en-US" altLang="zh-CN" sz="1200" dirty="0">
                      <a:solidFill>
                        <a:schemeClr val="accent1"/>
                      </a:solidFill>
                      <a:latin typeface="ui-monospace"/>
                    </a:rPr>
                    <a:t>C/24</a:t>
                  </a:r>
                </a:p>
                <a:p>
                  <a:r>
                    <a:rPr lang="zh-CN" altLang="en-US" sz="1200" b="1" dirty="0">
                      <a:solidFill>
                        <a:schemeClr val="accent1"/>
                      </a:solidFill>
                      <a:latin typeface="ui-monospace"/>
                    </a:rPr>
                    <a:t>子网划分</a:t>
                  </a:r>
                  <a:r>
                    <a:rPr lang="zh-CN" altLang="en-US" sz="1200" dirty="0">
                      <a:solidFill>
                        <a:schemeClr val="accent1"/>
                      </a:solidFill>
                      <a:latin typeface="ui-monospace"/>
                    </a:rPr>
                    <a:t>：子网个数为</a:t>
                  </a:r>
                  <a:r>
                    <a:rPr lang="en-US" altLang="zh-CN" sz="1200" dirty="0">
                      <a:solidFill>
                        <a:schemeClr val="accent1"/>
                      </a:solidFill>
                      <a:latin typeface="ui-monospace"/>
                    </a:rPr>
                    <a:t>2</a:t>
                  </a:r>
                  <a:r>
                    <a:rPr lang="zh-CN" altLang="en-US" sz="1200" dirty="0">
                      <a:solidFill>
                        <a:schemeClr val="accent1"/>
                      </a:solidFill>
                      <a:latin typeface="ui-monospace"/>
                    </a:rPr>
                    <a:t>的位数次方，主机地址为</a:t>
                  </a:r>
                  <a:r>
                    <a:rPr lang="en-US" altLang="zh-CN" sz="1200" dirty="0">
                      <a:solidFill>
                        <a:schemeClr val="accent1"/>
                      </a:solidFill>
                      <a:latin typeface="ui-monospace"/>
                    </a:rPr>
                    <a:t>2</a:t>
                  </a:r>
                  <a:r>
                    <a:rPr lang="zh-CN" altLang="en-US" sz="1200" dirty="0">
                      <a:solidFill>
                        <a:schemeClr val="accent1"/>
                      </a:solidFill>
                      <a:latin typeface="ui-monospace"/>
                    </a:rPr>
                    <a:t>的剩余位数次方，或看是否在同一子网</a:t>
                  </a:r>
                  <a:endParaRPr lang="en-US" altLang="zh-CN" sz="1200" dirty="0">
                    <a:solidFill>
                      <a:schemeClr val="accent1"/>
                    </a:solidFill>
                    <a:latin typeface="ui-monospace"/>
                  </a:endParaRPr>
                </a:p>
                <a:p>
                  <a:r>
                    <a:rPr lang="en-US" altLang="zh-CN" sz="1200" dirty="0">
                      <a:solidFill>
                        <a:schemeClr val="accent1"/>
                      </a:solidFill>
                      <a:latin typeface="ui-monospace"/>
                    </a:rPr>
                    <a:t>IPv6</a:t>
                  </a:r>
                  <a:r>
                    <a:rPr lang="zh-CN" altLang="en-US" sz="1200" dirty="0">
                      <a:solidFill>
                        <a:schemeClr val="accent1"/>
                      </a:solidFill>
                      <a:latin typeface="ui-monospace"/>
                    </a:rPr>
                    <a:t>地址长度为</a:t>
                  </a:r>
                  <a:r>
                    <a:rPr lang="en-US" altLang="zh-CN" sz="1200" dirty="0">
                      <a:solidFill>
                        <a:schemeClr val="accent1"/>
                      </a:solidFill>
                      <a:latin typeface="ui-monospace"/>
                    </a:rPr>
                    <a:t>128</a:t>
                  </a:r>
                  <a:r>
                    <a:rPr lang="zh-CN" altLang="en-US" sz="1200" dirty="0">
                      <a:solidFill>
                        <a:schemeClr val="accent1"/>
                      </a:solidFill>
                      <a:latin typeface="ui-monospace"/>
                    </a:rPr>
                    <a:t>位，</a:t>
                  </a:r>
                  <a:r>
                    <a:rPr lang="en-US" altLang="zh-CN" sz="1200" dirty="0">
                      <a:solidFill>
                        <a:schemeClr val="accent1"/>
                      </a:solidFill>
                      <a:latin typeface="ui-monospace"/>
                    </a:rPr>
                    <a:t>IPv4</a:t>
                  </a:r>
                  <a:r>
                    <a:rPr lang="zh-CN" altLang="en-US" sz="1200" dirty="0">
                      <a:solidFill>
                        <a:schemeClr val="accent1"/>
                      </a:solidFill>
                      <a:latin typeface="ui-monospace"/>
                    </a:rPr>
                    <a:t>只有</a:t>
                  </a:r>
                  <a:r>
                    <a:rPr lang="en-US" altLang="zh-CN" sz="1200" dirty="0">
                      <a:solidFill>
                        <a:schemeClr val="accent1"/>
                      </a:solidFill>
                      <a:latin typeface="ui-monospace"/>
                    </a:rPr>
                    <a:t>32</a:t>
                  </a:r>
                  <a:r>
                    <a:rPr lang="zh-CN" altLang="en-US" sz="1200" dirty="0">
                      <a:solidFill>
                        <a:schemeClr val="accent1"/>
                      </a:solidFill>
                      <a:latin typeface="ui-monospace"/>
                    </a:rPr>
                    <a:t>位，地址增大了</a:t>
                  </a:r>
                  <a14:m>
                    <m:oMath xmlns:m="http://schemas.openxmlformats.org/officeDocument/2006/math">
                      <m:sSup>
                        <m:sSupPr>
                          <m:ctrlPr>
                            <a:rPr lang="en-US" altLang="zh-CN" sz="1200" i="1" smtClean="0">
                              <a:solidFill>
                                <a:schemeClr val="accent1"/>
                              </a:solidFill>
                              <a:latin typeface="Cambria Math" panose="02040503050406030204" pitchFamily="18" charset="0"/>
                            </a:rPr>
                          </m:ctrlPr>
                        </m:sSupPr>
                        <m:e>
                          <m:r>
                            <a:rPr lang="en-US" altLang="zh-CN" sz="1200" b="0" i="1" smtClean="0">
                              <a:solidFill>
                                <a:schemeClr val="accent1"/>
                              </a:solidFill>
                              <a:latin typeface="Cambria Math" panose="02040503050406030204" pitchFamily="18" charset="0"/>
                            </a:rPr>
                            <m:t>2</m:t>
                          </m:r>
                        </m:e>
                        <m:sup>
                          <m:r>
                            <a:rPr lang="en-US" altLang="zh-CN" sz="1200" b="0" i="1" smtClean="0">
                              <a:solidFill>
                                <a:schemeClr val="accent1"/>
                              </a:solidFill>
                              <a:latin typeface="Cambria Math" panose="02040503050406030204" pitchFamily="18" charset="0"/>
                            </a:rPr>
                            <m:t>96</m:t>
                          </m:r>
                        </m:sup>
                      </m:sSup>
                    </m:oMath>
                  </a14:m>
                  <a:r>
                    <a:rPr lang="zh-CN" altLang="en-US" sz="1200" dirty="0">
                      <a:solidFill>
                        <a:schemeClr val="accent1"/>
                      </a:solidFill>
                      <a:latin typeface="ui-monospace"/>
                    </a:rPr>
                    <a:t>倍</a:t>
                  </a:r>
                  <a:endParaRPr lang="en-US" altLang="zh-CN" sz="1200" dirty="0">
                    <a:solidFill>
                      <a:schemeClr val="accent1"/>
                    </a:solidFill>
                    <a:latin typeface="ui-monospace"/>
                  </a:endParaRPr>
                </a:p>
                <a:p>
                  <a:r>
                    <a:rPr lang="zh-CN" altLang="en-US" sz="1200" dirty="0">
                      <a:solidFill>
                        <a:schemeClr val="accent1"/>
                      </a:solidFill>
                      <a:latin typeface="ui-monospace"/>
                    </a:rPr>
                    <a:t>隧道技术</a:t>
                  </a:r>
                  <a:r>
                    <a:rPr lang="en-US" altLang="zh-CN" sz="1200" dirty="0">
                      <a:solidFill>
                        <a:schemeClr val="accent1"/>
                      </a:solidFill>
                      <a:latin typeface="ui-monospace"/>
                    </a:rPr>
                    <a:t>/</a:t>
                  </a:r>
                  <a:r>
                    <a:rPr lang="zh-CN" altLang="en-US" sz="1200" dirty="0">
                      <a:solidFill>
                        <a:schemeClr val="accent1"/>
                      </a:solidFill>
                      <a:latin typeface="ui-monospace"/>
                    </a:rPr>
                    <a:t>翻译技术</a:t>
                  </a:r>
                  <a:endParaRPr lang="en-US" altLang="zh-CN" sz="1200" dirty="0">
                    <a:solidFill>
                      <a:schemeClr val="accent1"/>
                    </a:solidFill>
                    <a:latin typeface="ui-monospace"/>
                  </a:endParaRPr>
                </a:p>
              </p:txBody>
            </p:sp>
          </mc:Choice>
          <mc:Fallback xmlns="">
            <p:sp>
              <p:nvSpPr>
                <p:cNvPr id="29" name="TextBox 36">
                  <a:extLst>
                    <a:ext uri="{FF2B5EF4-FFF2-40B4-BE49-F238E27FC236}">
                      <a16:creationId xmlns:a16="http://schemas.microsoft.com/office/drawing/2014/main" id="{05D309AB-6EE6-856F-6DBF-8CE1F67DEBBA}"/>
                    </a:ext>
                  </a:extLst>
                </p:cNvPr>
                <p:cNvSpPr txBox="1">
                  <a:spLocks noRot="1" noChangeAspect="1" noMove="1" noResize="1" noEditPoints="1" noAdjustHandles="1" noChangeArrowheads="1" noChangeShapeType="1" noTextEdit="1"/>
                </p:cNvSpPr>
                <p:nvPr/>
              </p:nvSpPr>
              <p:spPr>
                <a:xfrm>
                  <a:off x="7667294" y="6245750"/>
                  <a:ext cx="4281578" cy="1754326"/>
                </a:xfrm>
                <a:prstGeom prst="rect">
                  <a:avLst/>
                </a:prstGeom>
                <a:blipFill>
                  <a:blip r:embed="rId2"/>
                  <a:stretch>
                    <a:fillRect t="-347" b="-1736"/>
                  </a:stretch>
                </a:blipFill>
              </p:spPr>
              <p:txBody>
                <a:bodyPr/>
                <a:lstStyle/>
                <a:p>
                  <a:r>
                    <a:rPr lang="zh-CN" altLang="en-US">
                      <a:noFill/>
                    </a:rPr>
                    <a:t> </a:t>
                  </a:r>
                </a:p>
              </p:txBody>
            </p:sp>
          </mc:Fallback>
        </mc:AlternateContent>
      </p:grpSp>
      <p:grpSp>
        <p:nvGrpSpPr>
          <p:cNvPr id="44" name="Group 25">
            <a:extLst>
              <a:ext uri="{FF2B5EF4-FFF2-40B4-BE49-F238E27FC236}">
                <a16:creationId xmlns:a16="http://schemas.microsoft.com/office/drawing/2014/main" id="{EF6B1AB3-5510-9729-7C85-4FED0F680A25}"/>
              </a:ext>
            </a:extLst>
          </p:cNvPr>
          <p:cNvGrpSpPr/>
          <p:nvPr/>
        </p:nvGrpSpPr>
        <p:grpSpPr>
          <a:xfrm>
            <a:off x="7655287" y="5115877"/>
            <a:ext cx="4386653" cy="572261"/>
            <a:chOff x="7614613" y="5950488"/>
            <a:chExt cx="4386653" cy="572261"/>
          </a:xfrm>
        </p:grpSpPr>
        <p:sp>
          <p:nvSpPr>
            <p:cNvPr id="45" name="Rectangle: Rounded Corners 35">
              <a:extLst>
                <a:ext uri="{FF2B5EF4-FFF2-40B4-BE49-F238E27FC236}">
                  <a16:creationId xmlns:a16="http://schemas.microsoft.com/office/drawing/2014/main" id="{4ABEEE74-ECC8-76D2-EBD8-D4FAACA31CD1}"/>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▶路由</a:t>
              </a:r>
              <a:endParaRPr lang="en-US" sz="1200" dirty="0">
                <a:solidFill>
                  <a:schemeClr val="bg1"/>
                </a:solidFill>
              </a:endParaRPr>
            </a:p>
          </p:txBody>
        </p:sp>
        <p:sp>
          <p:nvSpPr>
            <p:cNvPr id="46" name="TextBox 36">
              <a:extLst>
                <a:ext uri="{FF2B5EF4-FFF2-40B4-BE49-F238E27FC236}">
                  <a16:creationId xmlns:a16="http://schemas.microsoft.com/office/drawing/2014/main" id="{06D6044D-BEFE-DA1C-C1A4-A0ABDF01F0ED}"/>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latin typeface="ui-monospace"/>
                </a:rPr>
                <a:t>管理距离：采用距离最小的</a:t>
              </a:r>
              <a:endParaRPr lang="en-US" altLang="zh-CN" sz="1200" dirty="0">
                <a:solidFill>
                  <a:schemeClr val="accent1"/>
                </a:solidFill>
                <a:latin typeface="ui-monospace"/>
              </a:endParaRPr>
            </a:p>
          </p:txBody>
        </p:sp>
      </p:grpSp>
      <p:graphicFrame>
        <p:nvGraphicFramePr>
          <p:cNvPr id="47" name="Table 9">
            <a:extLst>
              <a:ext uri="{FF2B5EF4-FFF2-40B4-BE49-F238E27FC236}">
                <a16:creationId xmlns:a16="http://schemas.microsoft.com/office/drawing/2014/main" id="{A842D596-A15D-54F5-42C4-6E5091CFF3CC}"/>
              </a:ext>
            </a:extLst>
          </p:cNvPr>
          <p:cNvGraphicFramePr>
            <a:graphicFrameLocks noGrp="1"/>
          </p:cNvGraphicFramePr>
          <p:nvPr>
            <p:extLst>
              <p:ext uri="{D42A27DB-BD31-4B8C-83A1-F6EECF244321}">
                <p14:modId xmlns:p14="http://schemas.microsoft.com/office/powerpoint/2010/main" val="3772498632"/>
              </p:ext>
            </p:extLst>
          </p:nvPr>
        </p:nvGraphicFramePr>
        <p:xfrm>
          <a:off x="7707826" y="5663018"/>
          <a:ext cx="4281573" cy="1143000"/>
        </p:xfrm>
        <a:graphic>
          <a:graphicData uri="http://schemas.openxmlformats.org/drawingml/2006/table">
            <a:tbl>
              <a:tblPr firstRow="1" bandRow="1">
                <a:tableStyleId>{5C22544A-7EE6-4342-B048-85BDC9FD1C3A}</a:tableStyleId>
              </a:tblPr>
              <a:tblGrid>
                <a:gridCol w="982225">
                  <a:extLst>
                    <a:ext uri="{9D8B030D-6E8A-4147-A177-3AD203B41FA5}">
                      <a16:colId xmlns:a16="http://schemas.microsoft.com/office/drawing/2014/main" val="4196207211"/>
                    </a:ext>
                  </a:extLst>
                </a:gridCol>
                <a:gridCol w="3299348">
                  <a:extLst>
                    <a:ext uri="{9D8B030D-6E8A-4147-A177-3AD203B41FA5}">
                      <a16:colId xmlns:a16="http://schemas.microsoft.com/office/drawing/2014/main" val="3523767036"/>
                    </a:ext>
                  </a:extLst>
                </a:gridCol>
              </a:tblGrid>
              <a:tr h="204220">
                <a:tc>
                  <a:txBody>
                    <a:bodyPr/>
                    <a:lstStyle/>
                    <a:p>
                      <a:pPr algn="ctr"/>
                      <a:r>
                        <a:rPr lang="en-US" altLang="zh-CN" sz="900" b="1" dirty="0">
                          <a:solidFill>
                            <a:schemeClr val="tx1"/>
                          </a:solidFill>
                        </a:rPr>
                        <a:t>2 </a:t>
                      </a:r>
                      <a:r>
                        <a:rPr lang="zh-CN" altLang="en-US" sz="900" b="1" dirty="0">
                          <a:solidFill>
                            <a:schemeClr val="tx1"/>
                          </a:solidFill>
                        </a:rPr>
                        <a:t>直连网络</a:t>
                      </a:r>
                      <a:r>
                        <a:rPr lang="en-US" altLang="zh-CN" sz="900" b="1" dirty="0">
                          <a:solidFill>
                            <a:schemeClr val="tx1"/>
                          </a:solidFill>
                        </a:rPr>
                        <a:t>ID</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705716"/>
                  </a:ext>
                </a:extLst>
              </a:tr>
              <a:tr h="204220">
                <a:tc>
                  <a:txBody>
                    <a:bodyPr/>
                    <a:lstStyle/>
                    <a:p>
                      <a:pPr algn="ctr"/>
                      <a:r>
                        <a:rPr lang="en-US" altLang="zh-CN" sz="900" b="1" dirty="0">
                          <a:solidFill>
                            <a:schemeClr val="tx1"/>
                          </a:solidFill>
                        </a:rPr>
                        <a:t>2 </a:t>
                      </a:r>
                      <a:r>
                        <a:rPr lang="zh-CN" altLang="en-US" sz="900" b="1" dirty="0">
                          <a:solidFill>
                            <a:schemeClr val="tx1"/>
                          </a:solidFill>
                        </a:rPr>
                        <a:t>远程网络</a:t>
                      </a:r>
                      <a:r>
                        <a:rPr lang="en-US" altLang="zh-CN" sz="900" b="1" dirty="0">
                          <a:solidFill>
                            <a:schemeClr val="tx1"/>
                          </a:solidFill>
                        </a:rPr>
                        <a:t>ID</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8310648"/>
                  </a:ext>
                </a:extLst>
              </a:tr>
              <a:tr h="204220">
                <a:tc>
                  <a:txBody>
                    <a:bodyPr/>
                    <a:lstStyle/>
                    <a:p>
                      <a:pPr algn="ctr"/>
                      <a:r>
                        <a:rPr lang="en-US" altLang="zh-CN" sz="900" b="1" dirty="0">
                          <a:solidFill>
                            <a:schemeClr val="tx1"/>
                          </a:solidFill>
                        </a:rPr>
                        <a:t>1 </a:t>
                      </a:r>
                      <a:r>
                        <a:rPr lang="zh-CN" altLang="en-US" sz="900" b="1" dirty="0">
                          <a:solidFill>
                            <a:schemeClr val="tx1"/>
                          </a:solidFill>
                        </a:rPr>
                        <a:t>主机路由</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子网掩码</a:t>
                      </a:r>
                      <a:r>
                        <a:rPr lang="en-US" altLang="zh-CN" sz="900" b="0" dirty="0">
                          <a:solidFill>
                            <a:schemeClr val="tx1"/>
                          </a:solidFill>
                        </a:rPr>
                        <a:t>255.255.255.255</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928253"/>
                  </a:ext>
                </a:extLst>
              </a:tr>
              <a:tr h="204220">
                <a:tc>
                  <a:txBody>
                    <a:bodyPr/>
                    <a:lstStyle/>
                    <a:p>
                      <a:pPr algn="ctr"/>
                      <a:r>
                        <a:rPr lang="en-US" altLang="zh-CN" sz="900" b="1" dirty="0">
                          <a:solidFill>
                            <a:schemeClr val="tx1"/>
                          </a:solidFill>
                        </a:rPr>
                        <a:t>3 </a:t>
                      </a:r>
                      <a:r>
                        <a:rPr lang="zh-CN" altLang="en-US" sz="900" b="1" dirty="0">
                          <a:solidFill>
                            <a:schemeClr val="tx1"/>
                          </a:solidFill>
                        </a:rPr>
                        <a:t>默认路由</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900" b="0" dirty="0">
                          <a:solidFill>
                            <a:schemeClr val="tx1"/>
                          </a:solidFill>
                        </a:rPr>
                        <a:t>目标网络和网络掩码都是</a:t>
                      </a:r>
                      <a:r>
                        <a:rPr lang="en-US" altLang="zh-CN" sz="900" b="0" dirty="0">
                          <a:solidFill>
                            <a:schemeClr val="tx1"/>
                          </a:solidFill>
                        </a:rPr>
                        <a:t>0.0.0.0</a:t>
                      </a:r>
                      <a:endParaRPr lang="zh-CN" alt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3337562"/>
                  </a:ext>
                </a:extLst>
              </a:tr>
              <a:tr h="204220">
                <a:tc>
                  <a:txBody>
                    <a:bodyPr/>
                    <a:lstStyle/>
                    <a:p>
                      <a:pPr algn="ctr"/>
                      <a:r>
                        <a:rPr lang="zh-CN" altLang="en-US" sz="900" b="1" dirty="0">
                          <a:solidFill>
                            <a:schemeClr val="tx1"/>
                          </a:solidFill>
                        </a:rPr>
                        <a:t>持久路由</a:t>
                      </a:r>
                      <a:endParaRPr lang="en-US" sz="9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900" b="0" dirty="0">
                          <a:solidFill>
                            <a:schemeClr val="tx1"/>
                          </a:solidFill>
                        </a:rPr>
                        <a:t>route add -p</a:t>
                      </a:r>
                      <a:endParaRPr lang="en-US" sz="9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6724297"/>
                  </a:ext>
                </a:extLst>
              </a:tr>
            </a:tbl>
          </a:graphicData>
        </a:graphic>
      </p:graphicFrame>
    </p:spTree>
    <p:extLst>
      <p:ext uri="{BB962C8B-B14F-4D97-AF65-F5344CB8AC3E}">
        <p14:creationId xmlns:p14="http://schemas.microsoft.com/office/powerpoint/2010/main" val="11928590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304BB-D924-BA9A-81F6-A2C7BA50D32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FC45A96-C08A-B35E-3730-58775551C385}"/>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07D1A588-4DC6-7059-73B7-43A50D5277F6}"/>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81AA91C-56E8-2D3C-E431-1220D8D886C9}"/>
              </a:ext>
            </a:extLst>
          </p:cNvPr>
          <p:cNvSpPr txBox="1"/>
          <p:nvPr/>
        </p:nvSpPr>
        <p:spPr>
          <a:xfrm>
            <a:off x="0" y="959472"/>
            <a:ext cx="2986206" cy="267765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计算机网络</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算法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890C93EB-47AB-719E-073A-7FE1967A0020}"/>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C24A97C3-EF4E-3FB9-13DC-AA5C750883FA}"/>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4" name="Group 25">
            <a:extLst>
              <a:ext uri="{FF2B5EF4-FFF2-40B4-BE49-F238E27FC236}">
                <a16:creationId xmlns:a16="http://schemas.microsoft.com/office/drawing/2014/main" id="{116747EF-D21C-7468-201E-4C4B31E78A68}"/>
              </a:ext>
            </a:extLst>
          </p:cNvPr>
          <p:cNvGrpSpPr/>
          <p:nvPr/>
        </p:nvGrpSpPr>
        <p:grpSpPr>
          <a:xfrm>
            <a:off x="3097886" y="1194991"/>
            <a:ext cx="4386653" cy="1310925"/>
            <a:chOff x="7614613" y="5950488"/>
            <a:chExt cx="4386653" cy="1310925"/>
          </a:xfrm>
        </p:grpSpPr>
        <p:sp>
          <p:nvSpPr>
            <p:cNvPr id="15" name="Rectangle: Rounded Corners 35">
              <a:extLst>
                <a:ext uri="{FF2B5EF4-FFF2-40B4-BE49-F238E27FC236}">
                  <a16:creationId xmlns:a16="http://schemas.microsoft.com/office/drawing/2014/main" id="{ADDC3ABE-8CA6-5D36-C807-541C4B2B149E}"/>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▶电子邮件服务</a:t>
              </a:r>
              <a:endParaRPr lang="en-US" sz="1200" dirty="0">
                <a:solidFill>
                  <a:schemeClr val="bg1"/>
                </a:solidFill>
              </a:endParaRPr>
            </a:p>
          </p:txBody>
        </p:sp>
        <p:sp>
          <p:nvSpPr>
            <p:cNvPr id="20" name="TextBox 36">
              <a:extLst>
                <a:ext uri="{FF2B5EF4-FFF2-40B4-BE49-F238E27FC236}">
                  <a16:creationId xmlns:a16="http://schemas.microsoft.com/office/drawing/2014/main" id="{99DB7045-9B4B-8EE6-DF7D-250E30FDE463}"/>
                </a:ext>
              </a:extLst>
            </p:cNvPr>
            <p:cNvSpPr txBox="1"/>
            <p:nvPr/>
          </p:nvSpPr>
          <p:spPr>
            <a:xfrm>
              <a:off x="7667294" y="6245750"/>
              <a:ext cx="4281578" cy="1015663"/>
            </a:xfrm>
            <a:prstGeom prst="rect">
              <a:avLst/>
            </a:prstGeom>
            <a:noFill/>
          </p:spPr>
          <p:txBody>
            <a:bodyPr wrap="square">
              <a:spAutoFit/>
            </a:bodyPr>
            <a:lstStyle/>
            <a:p>
              <a:r>
                <a:rPr lang="en-US" altLang="zh-CN" sz="1200" dirty="0">
                  <a:solidFill>
                    <a:schemeClr val="accent1"/>
                  </a:solidFill>
                  <a:latin typeface="ui-monospace"/>
                </a:rPr>
                <a:t>E-mail</a:t>
              </a:r>
              <a:r>
                <a:rPr lang="zh-CN" altLang="en-US" sz="1200" dirty="0">
                  <a:solidFill>
                    <a:schemeClr val="accent1"/>
                  </a:solidFill>
                  <a:latin typeface="ui-monospace"/>
                </a:rPr>
                <a:t>系统基于客户端</a:t>
              </a:r>
              <a:r>
                <a:rPr lang="en-US" altLang="zh-CN" sz="1200" dirty="0">
                  <a:solidFill>
                    <a:schemeClr val="accent1"/>
                  </a:solidFill>
                  <a:latin typeface="ui-monospace"/>
                </a:rPr>
                <a:t>/</a:t>
              </a:r>
              <a:r>
                <a:rPr lang="zh-CN" altLang="en-US" sz="1200" dirty="0">
                  <a:solidFill>
                    <a:schemeClr val="accent1"/>
                  </a:solidFill>
                  <a:latin typeface="ui-monospace"/>
                </a:rPr>
                <a:t>服务器</a:t>
              </a:r>
              <a:r>
                <a:rPr lang="en-US" altLang="zh-CN" sz="1200" dirty="0">
                  <a:solidFill>
                    <a:schemeClr val="accent1"/>
                  </a:solidFill>
                  <a:latin typeface="ui-monospace"/>
                </a:rPr>
                <a:t>(C/S)</a:t>
              </a:r>
              <a:r>
                <a:rPr lang="zh-CN" altLang="en-US" sz="1200" dirty="0">
                  <a:solidFill>
                    <a:schemeClr val="accent1"/>
                  </a:solidFill>
                  <a:latin typeface="ui-monospace"/>
                </a:rPr>
                <a:t>模式</a:t>
              </a:r>
              <a:endParaRPr lang="en-US" altLang="zh-CN" sz="1200" dirty="0">
                <a:solidFill>
                  <a:schemeClr val="accent1"/>
                </a:solidFill>
                <a:latin typeface="ui-monospace"/>
              </a:endParaRPr>
            </a:p>
            <a:p>
              <a:r>
                <a:rPr lang="en-US" altLang="zh-CN" sz="1200" dirty="0">
                  <a:solidFill>
                    <a:schemeClr val="accent1"/>
                  </a:solidFill>
                  <a:latin typeface="ui-monospace"/>
                </a:rPr>
                <a:t>SMTP</a:t>
              </a:r>
              <a:r>
                <a:rPr lang="zh-CN" altLang="en-US" sz="1200" dirty="0">
                  <a:solidFill>
                    <a:schemeClr val="accent1"/>
                  </a:solidFill>
                  <a:latin typeface="ui-monospace"/>
                </a:rPr>
                <a:t>：简单邮件传输协议，只能传输</a:t>
              </a:r>
              <a:r>
                <a:rPr lang="en-US" altLang="zh-CN" sz="1200" dirty="0">
                  <a:solidFill>
                    <a:schemeClr val="accent1"/>
                  </a:solidFill>
                  <a:latin typeface="ui-monospace"/>
                </a:rPr>
                <a:t>ASCII</a:t>
              </a:r>
              <a:r>
                <a:rPr lang="zh-CN" altLang="en-US" sz="1200" dirty="0">
                  <a:solidFill>
                    <a:schemeClr val="accent1"/>
                  </a:solidFill>
                  <a:latin typeface="ui-monospace"/>
                </a:rPr>
                <a:t>码文本和文字附件</a:t>
              </a:r>
              <a:endParaRPr lang="en-US" altLang="zh-CN" sz="1200" dirty="0">
                <a:solidFill>
                  <a:schemeClr val="accent1"/>
                </a:solidFill>
                <a:latin typeface="ui-monospace"/>
              </a:endParaRPr>
            </a:p>
            <a:p>
              <a:r>
                <a:rPr lang="en-US" altLang="zh-CN" sz="1200" dirty="0">
                  <a:solidFill>
                    <a:schemeClr val="accent1"/>
                  </a:solidFill>
                  <a:latin typeface="ui-monospace"/>
                </a:rPr>
                <a:t>+MIME</a:t>
              </a:r>
              <a:r>
                <a:rPr lang="zh-CN" altLang="en-US" sz="1200" dirty="0">
                  <a:solidFill>
                    <a:schemeClr val="accent1"/>
                  </a:solidFill>
                  <a:latin typeface="ui-monospace"/>
                </a:rPr>
                <a:t>：多用途</a:t>
              </a:r>
              <a:r>
                <a:rPr lang="en-US" altLang="zh-CN" sz="1200" dirty="0">
                  <a:solidFill>
                    <a:schemeClr val="accent1"/>
                  </a:solidFill>
                  <a:latin typeface="ui-monospace"/>
                </a:rPr>
                <a:t>Internet</a:t>
              </a:r>
              <a:r>
                <a:rPr lang="zh-CN" altLang="en-US" sz="1200" dirty="0">
                  <a:solidFill>
                    <a:schemeClr val="accent1"/>
                  </a:solidFill>
                  <a:latin typeface="ui-monospace"/>
                </a:rPr>
                <a:t>邮件扩充协议</a:t>
              </a:r>
              <a:endParaRPr lang="en-US" altLang="zh-CN" sz="1200" dirty="0">
                <a:solidFill>
                  <a:schemeClr val="accent1"/>
                </a:solidFill>
                <a:latin typeface="ui-monospace"/>
              </a:endParaRPr>
            </a:p>
            <a:p>
              <a:r>
                <a:rPr lang="en-US" altLang="zh-CN" sz="1200" dirty="0">
                  <a:solidFill>
                    <a:schemeClr val="accent1"/>
                  </a:solidFill>
                  <a:latin typeface="ui-monospace"/>
                </a:rPr>
                <a:t>+PEM</a:t>
              </a:r>
              <a:r>
                <a:rPr lang="zh-CN" altLang="en-US" sz="1200" dirty="0">
                  <a:solidFill>
                    <a:schemeClr val="accent1"/>
                  </a:solidFill>
                  <a:latin typeface="ui-monospace"/>
                </a:rPr>
                <a:t>：增强私密邮件保护协议</a:t>
              </a:r>
              <a:endParaRPr lang="en-US" altLang="zh-CN" sz="1200" dirty="0">
                <a:solidFill>
                  <a:schemeClr val="accent1"/>
                </a:solidFill>
                <a:latin typeface="ui-monospace"/>
              </a:endParaRPr>
            </a:p>
            <a:p>
              <a:r>
                <a:rPr lang="en-US" altLang="zh-CN" sz="1200" dirty="0">
                  <a:solidFill>
                    <a:schemeClr val="accent1"/>
                  </a:solidFill>
                  <a:latin typeface="ui-monospace"/>
                </a:rPr>
                <a:t>POP3</a:t>
              </a:r>
              <a:r>
                <a:rPr lang="zh-CN" altLang="en-US" sz="1200" dirty="0">
                  <a:solidFill>
                    <a:schemeClr val="accent1"/>
                  </a:solidFill>
                  <a:latin typeface="ui-monospace"/>
                </a:rPr>
                <a:t>：邮件收取协议</a:t>
              </a:r>
              <a:endParaRPr lang="en-US" altLang="zh-CN" sz="1200" dirty="0">
                <a:solidFill>
                  <a:schemeClr val="accent1"/>
                </a:solidFill>
                <a:latin typeface="ui-monospace"/>
              </a:endParaRPr>
            </a:p>
          </p:txBody>
        </p:sp>
      </p:grpSp>
      <p:grpSp>
        <p:nvGrpSpPr>
          <p:cNvPr id="24" name="Group 25">
            <a:extLst>
              <a:ext uri="{FF2B5EF4-FFF2-40B4-BE49-F238E27FC236}">
                <a16:creationId xmlns:a16="http://schemas.microsoft.com/office/drawing/2014/main" id="{8E3C5027-0F59-07A6-8826-528B113569E3}"/>
              </a:ext>
            </a:extLst>
          </p:cNvPr>
          <p:cNvGrpSpPr/>
          <p:nvPr/>
        </p:nvGrpSpPr>
        <p:grpSpPr>
          <a:xfrm>
            <a:off x="3097886" y="87100"/>
            <a:ext cx="4386653" cy="1126259"/>
            <a:chOff x="7614613" y="5950488"/>
            <a:chExt cx="4386653" cy="1126259"/>
          </a:xfrm>
        </p:grpSpPr>
        <p:sp>
          <p:nvSpPr>
            <p:cNvPr id="25" name="Rectangle: Rounded Corners 35">
              <a:extLst>
                <a:ext uri="{FF2B5EF4-FFF2-40B4-BE49-F238E27FC236}">
                  <a16:creationId xmlns:a16="http://schemas.microsoft.com/office/drawing/2014/main" id="{65C2ABCB-F00F-E22A-2229-81CDF94BEE9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▶应用层协议</a:t>
              </a:r>
              <a:endParaRPr lang="en-US" sz="1200" dirty="0">
                <a:solidFill>
                  <a:schemeClr val="bg1"/>
                </a:solidFill>
              </a:endParaRPr>
            </a:p>
          </p:txBody>
        </p:sp>
        <p:sp>
          <p:nvSpPr>
            <p:cNvPr id="26" name="TextBox 36">
              <a:extLst>
                <a:ext uri="{FF2B5EF4-FFF2-40B4-BE49-F238E27FC236}">
                  <a16:creationId xmlns:a16="http://schemas.microsoft.com/office/drawing/2014/main" id="{49FCCEF4-2EEC-4B65-963B-BC353D48101C}"/>
                </a:ext>
              </a:extLst>
            </p:cNvPr>
            <p:cNvSpPr txBox="1"/>
            <p:nvPr/>
          </p:nvSpPr>
          <p:spPr>
            <a:xfrm>
              <a:off x="7667294" y="6245750"/>
              <a:ext cx="4281578" cy="830997"/>
            </a:xfrm>
            <a:prstGeom prst="rect">
              <a:avLst/>
            </a:prstGeom>
            <a:noFill/>
          </p:spPr>
          <p:txBody>
            <a:bodyPr wrap="square">
              <a:spAutoFit/>
            </a:bodyPr>
            <a:lstStyle/>
            <a:p>
              <a:r>
                <a:rPr lang="en-US" altLang="zh-CN" sz="1200" dirty="0">
                  <a:solidFill>
                    <a:schemeClr val="accent1"/>
                  </a:solidFill>
                  <a:latin typeface="ui-monospace"/>
                </a:rPr>
                <a:t>DHCP</a:t>
              </a:r>
              <a:r>
                <a:rPr lang="zh-CN" altLang="en-US" sz="1200" dirty="0">
                  <a:solidFill>
                    <a:schemeClr val="accent1"/>
                  </a:solidFill>
                  <a:latin typeface="ui-monospace"/>
                </a:rPr>
                <a:t>：动态主机配置协议，集中管理</a:t>
              </a:r>
              <a:r>
                <a:rPr lang="en-US" altLang="zh-CN" sz="1200" dirty="0">
                  <a:solidFill>
                    <a:schemeClr val="accent1"/>
                  </a:solidFill>
                  <a:latin typeface="ui-monospace"/>
                </a:rPr>
                <a:t>/</a:t>
              </a:r>
              <a:r>
                <a:rPr lang="zh-CN" altLang="en-US" sz="1200" dirty="0">
                  <a:solidFill>
                    <a:schemeClr val="accent1"/>
                  </a:solidFill>
                  <a:latin typeface="ui-monospace"/>
                </a:rPr>
                <a:t>分配</a:t>
              </a:r>
              <a:r>
                <a:rPr lang="en-US" altLang="zh-CN" sz="1200" dirty="0">
                  <a:solidFill>
                    <a:schemeClr val="accent1"/>
                  </a:solidFill>
                  <a:latin typeface="ui-monospace"/>
                </a:rPr>
                <a:t>IP</a:t>
              </a:r>
              <a:r>
                <a:rPr lang="zh-CN" altLang="en-US" sz="1200" dirty="0">
                  <a:solidFill>
                    <a:schemeClr val="accent1"/>
                  </a:solidFill>
                  <a:latin typeface="ui-monospace"/>
                </a:rPr>
                <a:t>地址</a:t>
              </a:r>
              <a:endParaRPr lang="en-US" altLang="zh-CN" sz="1200" dirty="0">
                <a:solidFill>
                  <a:schemeClr val="accent1"/>
                </a:solidFill>
                <a:latin typeface="ui-monospace"/>
              </a:endParaRPr>
            </a:p>
            <a:p>
              <a:r>
                <a:rPr lang="zh-CN" altLang="en-US" sz="1200" dirty="0">
                  <a:solidFill>
                    <a:schemeClr val="accent1"/>
                  </a:solidFill>
                  <a:latin typeface="ui-monospace"/>
                </a:rPr>
                <a:t>客户端可从服务器获取本机</a:t>
              </a:r>
              <a:r>
                <a:rPr lang="en-US" altLang="zh-CN" sz="1200" dirty="0">
                  <a:solidFill>
                    <a:schemeClr val="accent1"/>
                  </a:solidFill>
                  <a:latin typeface="ui-monospace"/>
                </a:rPr>
                <a:t>IP</a:t>
              </a:r>
              <a:r>
                <a:rPr lang="zh-CN" altLang="en-US" sz="1200" dirty="0">
                  <a:solidFill>
                    <a:schemeClr val="accent1"/>
                  </a:solidFill>
                  <a:latin typeface="ui-monospace"/>
                </a:rPr>
                <a:t>地址、</a:t>
              </a:r>
              <a:r>
                <a:rPr lang="en-US" altLang="zh-CN" sz="1200" dirty="0">
                  <a:solidFill>
                    <a:schemeClr val="accent1"/>
                  </a:solidFill>
                  <a:latin typeface="ui-monospace"/>
                </a:rPr>
                <a:t>DNS</a:t>
              </a:r>
              <a:r>
                <a:rPr lang="zh-CN" altLang="en-US" sz="1200" dirty="0">
                  <a:solidFill>
                    <a:schemeClr val="accent1"/>
                  </a:solidFill>
                  <a:latin typeface="ui-monospace"/>
                </a:rPr>
                <a:t>服务器地址、</a:t>
              </a:r>
              <a:r>
                <a:rPr lang="en-US" altLang="zh-CN" sz="1200" dirty="0">
                  <a:solidFill>
                    <a:schemeClr val="accent1"/>
                  </a:solidFill>
                  <a:latin typeface="ui-monospace"/>
                </a:rPr>
                <a:t>DHCP</a:t>
              </a:r>
              <a:r>
                <a:rPr lang="zh-CN" altLang="en-US" sz="1200" dirty="0">
                  <a:solidFill>
                    <a:schemeClr val="accent1"/>
                  </a:solidFill>
                  <a:latin typeface="ui-monospace"/>
                </a:rPr>
                <a:t>服务器地址和默认网关地址</a:t>
              </a:r>
              <a:endParaRPr lang="en-US" altLang="zh-CN" sz="1200" dirty="0">
                <a:solidFill>
                  <a:schemeClr val="accent1"/>
                </a:solidFill>
                <a:latin typeface="ui-monospace"/>
              </a:endParaRPr>
            </a:p>
            <a:p>
              <a:r>
                <a:rPr lang="en-US" altLang="zh-CN" sz="1200" dirty="0">
                  <a:solidFill>
                    <a:schemeClr val="accent1"/>
                  </a:solidFill>
                  <a:latin typeface="ui-monospace"/>
                </a:rPr>
                <a:t>DHCP</a:t>
              </a:r>
              <a:r>
                <a:rPr lang="zh-CN" altLang="en-US" sz="1200" dirty="0">
                  <a:solidFill>
                    <a:schemeClr val="accent1"/>
                  </a:solidFill>
                  <a:latin typeface="ui-monospace"/>
                </a:rPr>
                <a:t>无效地址：</a:t>
              </a:r>
              <a:r>
                <a:rPr lang="en-US" altLang="zh-CN" sz="1200" dirty="0">
                  <a:solidFill>
                    <a:schemeClr val="accent1"/>
                  </a:solidFill>
                  <a:latin typeface="ui-monospace"/>
                </a:rPr>
                <a:t>169.254.x.x(Win)/0.0.0.0(Linux)</a:t>
              </a:r>
            </a:p>
          </p:txBody>
        </p:sp>
      </p:grpSp>
      <p:grpSp>
        <p:nvGrpSpPr>
          <p:cNvPr id="4" name="Group 25">
            <a:extLst>
              <a:ext uri="{FF2B5EF4-FFF2-40B4-BE49-F238E27FC236}">
                <a16:creationId xmlns:a16="http://schemas.microsoft.com/office/drawing/2014/main" id="{F775C971-CEDE-4484-6F61-319E4280D4DF}"/>
              </a:ext>
            </a:extLst>
          </p:cNvPr>
          <p:cNvGrpSpPr/>
          <p:nvPr/>
        </p:nvGrpSpPr>
        <p:grpSpPr>
          <a:xfrm>
            <a:off x="3097886" y="2493550"/>
            <a:ext cx="4386653" cy="2418920"/>
            <a:chOff x="7614613" y="5950488"/>
            <a:chExt cx="4386653" cy="2418920"/>
          </a:xfrm>
        </p:grpSpPr>
        <p:sp>
          <p:nvSpPr>
            <p:cNvPr id="5" name="Rectangle: Rounded Corners 35">
              <a:extLst>
                <a:ext uri="{FF2B5EF4-FFF2-40B4-BE49-F238E27FC236}">
                  <a16:creationId xmlns:a16="http://schemas.microsoft.com/office/drawing/2014/main" id="{1991BB85-292C-64D8-6B41-F4B7CCED141B}"/>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a:t>
              </a:r>
              <a:r>
                <a:rPr lang="en-US" altLang="zh-CN" sz="1200" dirty="0">
                  <a:solidFill>
                    <a:schemeClr val="bg1"/>
                  </a:solidFill>
                  <a:latin typeface="ui-monospace"/>
                </a:rPr>
                <a:t>Web</a:t>
              </a:r>
            </a:p>
          </p:txBody>
        </p:sp>
        <p:sp>
          <p:nvSpPr>
            <p:cNvPr id="8" name="TextBox 36">
              <a:extLst>
                <a:ext uri="{FF2B5EF4-FFF2-40B4-BE49-F238E27FC236}">
                  <a16:creationId xmlns:a16="http://schemas.microsoft.com/office/drawing/2014/main" id="{615162D0-9BFA-AAE1-199A-7CA9CF435BB6}"/>
                </a:ext>
              </a:extLst>
            </p:cNvPr>
            <p:cNvSpPr txBox="1"/>
            <p:nvPr/>
          </p:nvSpPr>
          <p:spPr>
            <a:xfrm>
              <a:off x="7667294" y="6245750"/>
              <a:ext cx="4281578" cy="2123658"/>
            </a:xfrm>
            <a:prstGeom prst="rect">
              <a:avLst/>
            </a:prstGeom>
            <a:noFill/>
          </p:spPr>
          <p:txBody>
            <a:bodyPr wrap="square">
              <a:spAutoFit/>
            </a:bodyPr>
            <a:lstStyle/>
            <a:p>
              <a:r>
                <a:rPr lang="en-US" altLang="zh-CN" sz="1200" dirty="0">
                  <a:solidFill>
                    <a:schemeClr val="accent1"/>
                  </a:solidFill>
                  <a:latin typeface="ui-monospace"/>
                </a:rPr>
                <a:t>HTTP</a:t>
              </a:r>
              <a:r>
                <a:rPr lang="zh-CN" altLang="en-US" sz="1200" dirty="0">
                  <a:solidFill>
                    <a:schemeClr val="accent1"/>
                  </a:solidFill>
                  <a:latin typeface="ui-monospace"/>
                </a:rPr>
                <a:t>状态码：</a:t>
              </a:r>
              <a:r>
                <a:rPr lang="en-US" altLang="zh-CN" sz="1200" dirty="0">
                  <a:solidFill>
                    <a:schemeClr val="accent1"/>
                  </a:solidFill>
                  <a:latin typeface="ui-monospace"/>
                </a:rPr>
                <a:t>200/404/500</a:t>
              </a:r>
            </a:p>
            <a:p>
              <a:r>
                <a:rPr lang="en-US" altLang="zh-CN" sz="1200" dirty="0">
                  <a:solidFill>
                    <a:schemeClr val="accent1"/>
                  </a:solidFill>
                  <a:latin typeface="ui-monospace"/>
                </a:rPr>
                <a:t>URL</a:t>
              </a:r>
              <a:r>
                <a:rPr lang="zh-CN" altLang="en-US" sz="1200" dirty="0">
                  <a:solidFill>
                    <a:schemeClr val="accent1"/>
                  </a:solidFill>
                  <a:latin typeface="ui-monospace"/>
                </a:rPr>
                <a:t>：协议名</a:t>
              </a:r>
              <a:r>
                <a:rPr lang="en-US" altLang="zh-CN" sz="1200" dirty="0">
                  <a:solidFill>
                    <a:schemeClr val="accent1"/>
                  </a:solidFill>
                  <a:latin typeface="ui-monospace"/>
                </a:rPr>
                <a:t>://</a:t>
              </a:r>
              <a:r>
                <a:rPr lang="zh-CN" altLang="en-US" sz="1200" dirty="0">
                  <a:solidFill>
                    <a:schemeClr val="accent1"/>
                  </a:solidFill>
                  <a:latin typeface="ui-monospace"/>
                </a:rPr>
                <a:t>主机名</a:t>
              </a:r>
              <a:r>
                <a:rPr lang="en-US" altLang="zh-CN" sz="1200" dirty="0">
                  <a:solidFill>
                    <a:schemeClr val="accent1"/>
                  </a:solidFill>
                  <a:latin typeface="ui-monospace"/>
                </a:rPr>
                <a:t>.</a:t>
              </a:r>
              <a:r>
                <a:rPr lang="zh-CN" altLang="en-US" sz="1200" dirty="0">
                  <a:solidFill>
                    <a:schemeClr val="accent1"/>
                  </a:solidFill>
                  <a:latin typeface="ui-monospace"/>
                </a:rPr>
                <a:t>域名</a:t>
              </a:r>
              <a:r>
                <a:rPr lang="en-US" altLang="zh-CN" sz="1200" dirty="0">
                  <a:solidFill>
                    <a:schemeClr val="accent1"/>
                  </a:solidFill>
                  <a:latin typeface="ui-monospace"/>
                </a:rPr>
                <a:t>.</a:t>
              </a:r>
              <a:r>
                <a:rPr lang="zh-CN" altLang="en-US" sz="1200" dirty="0">
                  <a:solidFill>
                    <a:schemeClr val="accent1"/>
                  </a:solidFill>
                  <a:latin typeface="ui-monospace"/>
                </a:rPr>
                <a:t>域名后缀</a:t>
              </a:r>
              <a:r>
                <a:rPr lang="en-US" altLang="zh-CN" sz="1200" dirty="0">
                  <a:solidFill>
                    <a:schemeClr val="accent1"/>
                  </a:solidFill>
                  <a:latin typeface="ui-monospace"/>
                </a:rPr>
                <a:t>.</a:t>
              </a:r>
              <a:r>
                <a:rPr lang="zh-CN" altLang="en-US" sz="1200" dirty="0">
                  <a:solidFill>
                    <a:schemeClr val="accent1"/>
                  </a:solidFill>
                  <a:latin typeface="ui-monospace"/>
                </a:rPr>
                <a:t>域名分类</a:t>
              </a:r>
              <a:r>
                <a:rPr lang="en-US" altLang="zh-CN" sz="1200" dirty="0">
                  <a:solidFill>
                    <a:schemeClr val="accent1"/>
                  </a:solidFill>
                  <a:latin typeface="ui-monospace"/>
                </a:rPr>
                <a:t>/</a:t>
              </a:r>
              <a:r>
                <a:rPr lang="zh-CN" altLang="en-US" sz="1200" dirty="0">
                  <a:solidFill>
                    <a:schemeClr val="accent1"/>
                  </a:solidFill>
                  <a:latin typeface="ui-monospace"/>
                </a:rPr>
                <a:t>目录</a:t>
              </a:r>
              <a:r>
                <a:rPr lang="en-US" altLang="zh-CN" sz="1200" dirty="0">
                  <a:solidFill>
                    <a:schemeClr val="accent1"/>
                  </a:solidFill>
                  <a:latin typeface="ui-monospace"/>
                </a:rPr>
                <a:t>/</a:t>
              </a:r>
              <a:r>
                <a:rPr lang="zh-CN" altLang="en-US" sz="1200" dirty="0">
                  <a:solidFill>
                    <a:schemeClr val="accent1"/>
                  </a:solidFill>
                  <a:latin typeface="ui-monospace"/>
                </a:rPr>
                <a:t>网页</a:t>
              </a:r>
              <a:endParaRPr lang="en-US" altLang="zh-CN" sz="1200" dirty="0">
                <a:solidFill>
                  <a:schemeClr val="accent1"/>
                </a:solidFill>
                <a:latin typeface="ui-monospace"/>
              </a:endParaRPr>
            </a:p>
            <a:p>
              <a:r>
                <a:rPr lang="zh-CN" altLang="en-US" sz="1200" dirty="0">
                  <a:solidFill>
                    <a:schemeClr val="accent1"/>
                  </a:solidFill>
                  <a:latin typeface="ui-monospace"/>
                </a:rPr>
                <a:t>组织模式：</a:t>
              </a:r>
              <a:r>
                <a:rPr lang="en-US" altLang="zh-CN" sz="1200" dirty="0">
                  <a:solidFill>
                    <a:schemeClr val="accent1"/>
                  </a:solidFill>
                  <a:latin typeface="ui-monospace"/>
                </a:rPr>
                <a:t>com/</a:t>
              </a:r>
              <a:r>
                <a:rPr lang="en-US" altLang="zh-CN" sz="1200" dirty="0" err="1">
                  <a:solidFill>
                    <a:schemeClr val="accent1"/>
                  </a:solidFill>
                  <a:latin typeface="ui-monospace"/>
                </a:rPr>
                <a:t>edu</a:t>
              </a:r>
              <a:r>
                <a:rPr lang="en-US" altLang="zh-CN" sz="1200" dirty="0">
                  <a:solidFill>
                    <a:schemeClr val="accent1"/>
                  </a:solidFill>
                  <a:latin typeface="ui-monospace"/>
                </a:rPr>
                <a:t>/net</a:t>
              </a:r>
            </a:p>
            <a:p>
              <a:r>
                <a:rPr lang="zh-CN" altLang="en-US" sz="1200" dirty="0">
                  <a:solidFill>
                    <a:schemeClr val="accent1"/>
                  </a:solidFill>
                  <a:latin typeface="ui-monospace"/>
                </a:rPr>
                <a:t>顶级域：</a:t>
              </a:r>
              <a:r>
                <a:rPr lang="en-US" altLang="zh-CN" sz="1200" dirty="0" err="1">
                  <a:solidFill>
                    <a:schemeClr val="accent1"/>
                  </a:solidFill>
                  <a:latin typeface="ui-monospace"/>
                </a:rPr>
                <a:t>cn</a:t>
              </a:r>
              <a:r>
                <a:rPr lang="en-US" altLang="zh-CN" sz="1200" dirty="0">
                  <a:solidFill>
                    <a:schemeClr val="accent1"/>
                  </a:solidFill>
                  <a:latin typeface="ui-monospace"/>
                </a:rPr>
                <a:t>/</a:t>
              </a:r>
              <a:r>
                <a:rPr lang="en-US" altLang="zh-CN" sz="1200" dirty="0" err="1">
                  <a:solidFill>
                    <a:schemeClr val="accent1"/>
                  </a:solidFill>
                  <a:latin typeface="ui-monospace"/>
                </a:rPr>
                <a:t>tw</a:t>
              </a:r>
              <a:r>
                <a:rPr lang="en-US" altLang="zh-CN" sz="1200" dirty="0">
                  <a:solidFill>
                    <a:schemeClr val="accent1"/>
                  </a:solidFill>
                  <a:latin typeface="ui-monospace"/>
                </a:rPr>
                <a:t>/</a:t>
              </a:r>
              <a:r>
                <a:rPr lang="en-US" altLang="zh-CN" sz="1200" dirty="0" err="1">
                  <a:solidFill>
                    <a:schemeClr val="accent1"/>
                  </a:solidFill>
                  <a:latin typeface="ui-monospace"/>
                </a:rPr>
                <a:t>uk</a:t>
              </a:r>
              <a:r>
                <a:rPr lang="en-US" altLang="zh-CN" sz="1200" dirty="0">
                  <a:solidFill>
                    <a:schemeClr val="accent1"/>
                  </a:solidFill>
                  <a:latin typeface="ui-monospace"/>
                </a:rPr>
                <a:t>/</a:t>
              </a:r>
              <a:r>
                <a:rPr lang="en-US" altLang="zh-CN" sz="1200" dirty="0" err="1">
                  <a:solidFill>
                    <a:schemeClr val="accent1"/>
                  </a:solidFill>
                  <a:latin typeface="ui-monospace"/>
                </a:rPr>
                <a:t>jp</a:t>
              </a:r>
              <a:endParaRPr lang="en-US" altLang="zh-CN" sz="1200" dirty="0">
                <a:solidFill>
                  <a:schemeClr val="accent1"/>
                </a:solidFill>
                <a:latin typeface="ui-monospace"/>
              </a:endParaRPr>
            </a:p>
            <a:p>
              <a:r>
                <a:rPr lang="zh-CN" altLang="en-US" sz="1200" dirty="0">
                  <a:solidFill>
                    <a:schemeClr val="accent1"/>
                  </a:solidFill>
                  <a:latin typeface="ui-monospace"/>
                </a:rPr>
                <a:t>浏览器输入地址：本地</a:t>
              </a:r>
              <a:r>
                <a:rPr lang="en-US" altLang="zh-CN" sz="1200" dirty="0">
                  <a:solidFill>
                    <a:schemeClr val="accent1"/>
                  </a:solidFill>
                  <a:latin typeface="ui-monospace"/>
                </a:rPr>
                <a:t>hosts</a:t>
              </a:r>
              <a:r>
                <a:rPr lang="zh-CN" altLang="en-US" sz="1200" dirty="0">
                  <a:solidFill>
                    <a:schemeClr val="accent1"/>
                  </a:solidFill>
                  <a:latin typeface="ui-monospace"/>
                </a:rPr>
                <a:t>文件</a:t>
              </a:r>
              <a:r>
                <a:rPr lang="en-US" altLang="zh-CN" sz="1200" dirty="0">
                  <a:solidFill>
                    <a:schemeClr val="accent1"/>
                  </a:solidFill>
                  <a:latin typeface="ui-monospace"/>
                </a:rPr>
                <a:t>&gt;</a:t>
              </a:r>
              <a:r>
                <a:rPr lang="zh-CN" altLang="en-US" sz="1200" dirty="0">
                  <a:solidFill>
                    <a:schemeClr val="accent1"/>
                  </a:solidFill>
                  <a:latin typeface="ui-monospace"/>
                </a:rPr>
                <a:t>本地</a:t>
              </a:r>
              <a:r>
                <a:rPr lang="en-US" altLang="zh-CN" sz="1200" dirty="0">
                  <a:solidFill>
                    <a:schemeClr val="accent1"/>
                  </a:solidFill>
                  <a:latin typeface="ui-monospace"/>
                </a:rPr>
                <a:t>DNS</a:t>
              </a:r>
              <a:r>
                <a:rPr lang="zh-CN" altLang="en-US" sz="1200" dirty="0">
                  <a:solidFill>
                    <a:schemeClr val="accent1"/>
                  </a:solidFill>
                  <a:latin typeface="ui-monospace"/>
                </a:rPr>
                <a:t>缓存</a:t>
              </a:r>
              <a:r>
                <a:rPr lang="en-US" altLang="zh-CN" sz="1200" dirty="0">
                  <a:solidFill>
                    <a:schemeClr val="accent1"/>
                  </a:solidFill>
                  <a:latin typeface="ui-monospace"/>
                </a:rPr>
                <a:t>&gt;</a:t>
              </a:r>
              <a:r>
                <a:rPr lang="zh-CN" altLang="en-US" sz="1200" dirty="0">
                  <a:solidFill>
                    <a:schemeClr val="accent1"/>
                  </a:solidFill>
                  <a:latin typeface="ui-monospace"/>
                </a:rPr>
                <a:t>本地</a:t>
              </a:r>
              <a:r>
                <a:rPr lang="en-US" altLang="zh-CN" sz="1200" dirty="0">
                  <a:solidFill>
                    <a:schemeClr val="accent1"/>
                  </a:solidFill>
                  <a:latin typeface="ui-monospace"/>
                </a:rPr>
                <a:t>DNS</a:t>
              </a:r>
              <a:r>
                <a:rPr lang="zh-CN" altLang="en-US" sz="1200" dirty="0">
                  <a:solidFill>
                    <a:schemeClr val="accent1"/>
                  </a:solidFill>
                  <a:latin typeface="ui-monospace"/>
                </a:rPr>
                <a:t>服务器</a:t>
              </a:r>
              <a:r>
                <a:rPr lang="en-US" altLang="zh-CN" sz="1200" dirty="0">
                  <a:solidFill>
                    <a:schemeClr val="accent1"/>
                  </a:solidFill>
                  <a:latin typeface="ui-monospace"/>
                </a:rPr>
                <a:t>&gt;</a:t>
              </a:r>
              <a:r>
                <a:rPr lang="zh-CN" altLang="en-US" sz="1200" dirty="0">
                  <a:solidFill>
                    <a:schemeClr val="accent1"/>
                  </a:solidFill>
                  <a:latin typeface="ui-monospace"/>
                </a:rPr>
                <a:t>根域名服务器</a:t>
              </a:r>
              <a:r>
                <a:rPr lang="en-US" altLang="zh-CN" sz="1200" dirty="0">
                  <a:solidFill>
                    <a:schemeClr val="accent1"/>
                  </a:solidFill>
                  <a:latin typeface="ui-monospace"/>
                </a:rPr>
                <a:t>&gt;</a:t>
              </a:r>
              <a:r>
                <a:rPr lang="zh-CN" altLang="en-US" sz="1200" dirty="0">
                  <a:solidFill>
                    <a:schemeClr val="accent1"/>
                  </a:solidFill>
                  <a:latin typeface="ui-monospace"/>
                </a:rPr>
                <a:t>顶级域名服务器</a:t>
              </a:r>
              <a:r>
                <a:rPr lang="en-US" altLang="zh-CN" sz="1200" dirty="0">
                  <a:solidFill>
                    <a:schemeClr val="accent1"/>
                  </a:solidFill>
                  <a:latin typeface="ui-monospace"/>
                </a:rPr>
                <a:t>&gt;</a:t>
              </a:r>
              <a:r>
                <a:rPr lang="zh-CN" altLang="en-US" sz="1200" dirty="0">
                  <a:solidFill>
                    <a:schemeClr val="accent1"/>
                  </a:solidFill>
                  <a:latin typeface="ui-monospace"/>
                </a:rPr>
                <a:t>权限域名服务器</a:t>
              </a:r>
              <a:endParaRPr lang="en-US" altLang="zh-CN" sz="1200" dirty="0">
                <a:solidFill>
                  <a:schemeClr val="accent1"/>
                </a:solidFill>
                <a:latin typeface="ui-monospace"/>
              </a:endParaRPr>
            </a:p>
            <a:p>
              <a:r>
                <a:rPr lang="zh-CN" altLang="en-US" sz="1200" dirty="0">
                  <a:solidFill>
                    <a:schemeClr val="accent1"/>
                  </a:solidFill>
                  <a:latin typeface="ui-monospace"/>
                </a:rPr>
                <a:t>主域名服务器：本地</a:t>
              </a:r>
              <a:r>
                <a:rPr lang="en-US" altLang="zh-CN" sz="1200" dirty="0">
                  <a:solidFill>
                    <a:schemeClr val="accent1"/>
                  </a:solidFill>
                  <a:latin typeface="ui-monospace"/>
                </a:rPr>
                <a:t>DNS</a:t>
              </a:r>
              <a:r>
                <a:rPr lang="zh-CN" altLang="en-US" sz="1200" dirty="0">
                  <a:solidFill>
                    <a:schemeClr val="accent1"/>
                  </a:solidFill>
                  <a:latin typeface="ui-monospace"/>
                </a:rPr>
                <a:t>缓存</a:t>
              </a:r>
              <a:r>
                <a:rPr lang="en-US" altLang="zh-CN" sz="1200" dirty="0">
                  <a:solidFill>
                    <a:schemeClr val="accent1"/>
                  </a:solidFill>
                  <a:latin typeface="ui-monospace"/>
                </a:rPr>
                <a:t>&gt;</a:t>
              </a:r>
              <a:r>
                <a:rPr lang="zh-CN" altLang="en-US" sz="1200" dirty="0">
                  <a:solidFill>
                    <a:schemeClr val="accent1"/>
                  </a:solidFill>
                  <a:latin typeface="ui-monospace"/>
                </a:rPr>
                <a:t>本地</a:t>
              </a:r>
              <a:r>
                <a:rPr lang="en-US" altLang="zh-CN" sz="1200" dirty="0">
                  <a:solidFill>
                    <a:schemeClr val="accent1"/>
                  </a:solidFill>
                  <a:latin typeface="ui-monospace"/>
                </a:rPr>
                <a:t>hosts</a:t>
              </a:r>
              <a:r>
                <a:rPr lang="zh-CN" altLang="en-US" sz="1200" dirty="0">
                  <a:solidFill>
                    <a:schemeClr val="accent1"/>
                  </a:solidFill>
                  <a:latin typeface="ui-monospace"/>
                </a:rPr>
                <a:t>文件</a:t>
              </a:r>
              <a:r>
                <a:rPr lang="en-US" altLang="zh-CN" sz="1200" dirty="0">
                  <a:solidFill>
                    <a:schemeClr val="accent1"/>
                  </a:solidFill>
                  <a:latin typeface="ui-monospace"/>
                </a:rPr>
                <a:t>&gt;</a:t>
              </a:r>
              <a:r>
                <a:rPr lang="zh-CN" altLang="en-US" sz="1200" dirty="0">
                  <a:solidFill>
                    <a:schemeClr val="accent1"/>
                  </a:solidFill>
                  <a:latin typeface="ui-monospace"/>
                </a:rPr>
                <a:t>本地数据库</a:t>
              </a:r>
              <a:r>
                <a:rPr lang="en-US" altLang="zh-CN" sz="1200" dirty="0">
                  <a:solidFill>
                    <a:schemeClr val="accent1"/>
                  </a:solidFill>
                  <a:latin typeface="ui-monospace"/>
                </a:rPr>
                <a:t>&gt;</a:t>
              </a:r>
              <a:r>
                <a:rPr lang="zh-CN" altLang="en-US" sz="1200" dirty="0">
                  <a:solidFill>
                    <a:schemeClr val="accent1"/>
                  </a:solidFill>
                  <a:latin typeface="ui-monospace"/>
                </a:rPr>
                <a:t>转发域服务器</a:t>
              </a:r>
              <a:endParaRPr lang="en-US" altLang="zh-CN" sz="1200" dirty="0">
                <a:solidFill>
                  <a:schemeClr val="accent1"/>
                </a:solidFill>
                <a:latin typeface="ui-monospace"/>
              </a:endParaRPr>
            </a:p>
            <a:p>
              <a:r>
                <a:rPr lang="zh-CN" altLang="en-US" sz="1200" dirty="0">
                  <a:solidFill>
                    <a:schemeClr val="accent1"/>
                  </a:solidFill>
                  <a:latin typeface="ui-monospace"/>
                </a:rPr>
                <a:t>输入网址</a:t>
              </a:r>
              <a:r>
                <a:rPr lang="en-US" altLang="zh-CN" sz="1200" dirty="0">
                  <a:solidFill>
                    <a:schemeClr val="accent1"/>
                  </a:solidFill>
                  <a:latin typeface="ui-monospace"/>
                </a:rPr>
                <a:t>&gt;URL</a:t>
              </a:r>
              <a:r>
                <a:rPr lang="zh-CN" altLang="en-US" sz="1200" dirty="0">
                  <a:solidFill>
                    <a:schemeClr val="accent1"/>
                  </a:solidFill>
                  <a:latin typeface="ui-monospace"/>
                </a:rPr>
                <a:t>解析</a:t>
              </a:r>
              <a:r>
                <a:rPr lang="en-US" altLang="zh-CN" sz="1200" dirty="0">
                  <a:solidFill>
                    <a:schemeClr val="accent1"/>
                  </a:solidFill>
                  <a:latin typeface="ui-monospace"/>
                </a:rPr>
                <a:t>&gt;</a:t>
              </a:r>
              <a:r>
                <a:rPr lang="zh-CN" altLang="en-US" sz="1200" dirty="0">
                  <a:solidFill>
                    <a:schemeClr val="accent1"/>
                  </a:solidFill>
                  <a:latin typeface="ui-monospace"/>
                </a:rPr>
                <a:t>检查缓存</a:t>
              </a:r>
              <a:r>
                <a:rPr lang="en-US" altLang="zh-CN" sz="1200" dirty="0">
                  <a:solidFill>
                    <a:schemeClr val="accent1"/>
                  </a:solidFill>
                  <a:latin typeface="ui-monospace"/>
                </a:rPr>
                <a:t>&gt;DNS</a:t>
              </a:r>
              <a:r>
                <a:rPr lang="zh-CN" altLang="en-US" sz="1200" dirty="0">
                  <a:solidFill>
                    <a:schemeClr val="accent1"/>
                  </a:solidFill>
                  <a:latin typeface="ui-monospace"/>
                </a:rPr>
                <a:t>查询，获取目标</a:t>
              </a:r>
              <a:r>
                <a:rPr lang="en-US" altLang="zh-CN" sz="1200" dirty="0">
                  <a:solidFill>
                    <a:schemeClr val="accent1"/>
                  </a:solidFill>
                  <a:latin typeface="ui-monospace"/>
                </a:rPr>
                <a:t>IP&gt; </a:t>
              </a:r>
              <a:r>
                <a:rPr lang="zh-CN" altLang="en-US" sz="1200" dirty="0">
                  <a:solidFill>
                    <a:schemeClr val="accent1"/>
                  </a:solidFill>
                  <a:latin typeface="ui-monospace"/>
                </a:rPr>
                <a:t>建立</a:t>
              </a:r>
              <a:r>
                <a:rPr lang="en-US" altLang="zh-CN" sz="1200" dirty="0">
                  <a:solidFill>
                    <a:schemeClr val="accent1"/>
                  </a:solidFill>
                  <a:latin typeface="ui-monospace"/>
                </a:rPr>
                <a:t>TCP</a:t>
              </a:r>
              <a:r>
                <a:rPr lang="zh-CN" altLang="en-US" sz="1200" dirty="0">
                  <a:solidFill>
                    <a:schemeClr val="accent1"/>
                  </a:solidFill>
                  <a:latin typeface="ui-monospace"/>
                </a:rPr>
                <a:t>连接三次握手</a:t>
              </a:r>
              <a:r>
                <a:rPr lang="en-US" altLang="zh-CN" sz="1200" dirty="0">
                  <a:solidFill>
                    <a:schemeClr val="accent1"/>
                  </a:solidFill>
                  <a:latin typeface="ui-monospace"/>
                </a:rPr>
                <a:t>&gt;TLS/SSL</a:t>
              </a:r>
              <a:r>
                <a:rPr lang="zh-CN" altLang="en-US" sz="1200" dirty="0">
                  <a:solidFill>
                    <a:schemeClr val="accent1"/>
                  </a:solidFill>
                  <a:latin typeface="ui-monospace"/>
                </a:rPr>
                <a:t>握手</a:t>
              </a:r>
              <a:r>
                <a:rPr lang="en-US" altLang="zh-CN" sz="1200" dirty="0">
                  <a:solidFill>
                    <a:schemeClr val="accent1"/>
                  </a:solidFill>
                  <a:latin typeface="ui-monospace"/>
                </a:rPr>
                <a:t>&gt;</a:t>
              </a:r>
              <a:r>
                <a:rPr lang="zh-CN" altLang="en-US" sz="1200" dirty="0">
                  <a:solidFill>
                    <a:schemeClr val="accent1"/>
                  </a:solidFill>
                  <a:latin typeface="ui-monospace"/>
                </a:rPr>
                <a:t>浏览器发送请求报文</a:t>
              </a:r>
              <a:r>
                <a:rPr lang="en-US" altLang="zh-CN" sz="1200" dirty="0">
                  <a:solidFill>
                    <a:schemeClr val="accent1"/>
                  </a:solidFill>
                  <a:latin typeface="ui-monospace"/>
                </a:rPr>
                <a:t>&gt;</a:t>
              </a:r>
              <a:r>
                <a:rPr lang="zh-CN" altLang="en-US" sz="1200" dirty="0">
                  <a:solidFill>
                    <a:schemeClr val="accent1"/>
                  </a:solidFill>
                  <a:latin typeface="ui-monospace"/>
                </a:rPr>
                <a:t>服务器处理请求，返回响应报文</a:t>
              </a:r>
              <a:r>
                <a:rPr lang="en-US" altLang="zh-CN" sz="1200" dirty="0">
                  <a:solidFill>
                    <a:schemeClr val="accent1"/>
                  </a:solidFill>
                  <a:latin typeface="ui-monospace"/>
                </a:rPr>
                <a:t>&gt;</a:t>
              </a:r>
              <a:r>
                <a:rPr lang="zh-CN" altLang="en-US" sz="1200" dirty="0">
                  <a:solidFill>
                    <a:schemeClr val="accent1"/>
                  </a:solidFill>
                  <a:latin typeface="ui-monospace"/>
                </a:rPr>
                <a:t>浏览器解析响应并渲染页面</a:t>
              </a:r>
              <a:r>
                <a:rPr lang="en-US" altLang="zh-CN" sz="1200" dirty="0">
                  <a:solidFill>
                    <a:schemeClr val="accent1"/>
                  </a:solidFill>
                  <a:latin typeface="ui-monospace"/>
                </a:rPr>
                <a:t>&gt;</a:t>
              </a:r>
              <a:r>
                <a:rPr lang="zh-CN" altLang="en-US" sz="1200" dirty="0">
                  <a:solidFill>
                    <a:schemeClr val="accent1"/>
                  </a:solidFill>
                  <a:latin typeface="ui-monospace"/>
                </a:rPr>
                <a:t>断开连接</a:t>
              </a:r>
              <a:endParaRPr lang="en-US" altLang="zh-CN" sz="1200" dirty="0">
                <a:solidFill>
                  <a:schemeClr val="accent1"/>
                </a:solidFill>
                <a:latin typeface="ui-monospace"/>
              </a:endParaRPr>
            </a:p>
          </p:txBody>
        </p:sp>
      </p:grpSp>
      <p:grpSp>
        <p:nvGrpSpPr>
          <p:cNvPr id="13" name="Group 25">
            <a:extLst>
              <a:ext uri="{FF2B5EF4-FFF2-40B4-BE49-F238E27FC236}">
                <a16:creationId xmlns:a16="http://schemas.microsoft.com/office/drawing/2014/main" id="{F59EF37D-DFE2-3BE5-7ACD-53753456C9BB}"/>
              </a:ext>
            </a:extLst>
          </p:cNvPr>
          <p:cNvGrpSpPr/>
          <p:nvPr/>
        </p:nvGrpSpPr>
        <p:grpSpPr>
          <a:xfrm>
            <a:off x="7723152" y="87100"/>
            <a:ext cx="4386653" cy="2972918"/>
            <a:chOff x="7614613" y="5950488"/>
            <a:chExt cx="4386653" cy="2972918"/>
          </a:xfrm>
        </p:grpSpPr>
        <p:sp>
          <p:nvSpPr>
            <p:cNvPr id="9" name="Rectangle: Rounded Corners 35">
              <a:extLst>
                <a:ext uri="{FF2B5EF4-FFF2-40B4-BE49-F238E27FC236}">
                  <a16:creationId xmlns:a16="http://schemas.microsoft.com/office/drawing/2014/main" id="{3DE458F3-510F-C4C4-C9DC-5FF1960BA1E1}"/>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a:t>
              </a:r>
              <a:r>
                <a:rPr lang="en-US" altLang="zh-CN" sz="1200" dirty="0">
                  <a:solidFill>
                    <a:schemeClr val="bg1"/>
                  </a:solidFill>
                  <a:latin typeface="ui-monospace"/>
                </a:rPr>
                <a:t>Windows</a:t>
              </a:r>
              <a:r>
                <a:rPr lang="zh-CN" altLang="en-US" sz="1200" dirty="0">
                  <a:solidFill>
                    <a:schemeClr val="bg1"/>
                  </a:solidFill>
                  <a:latin typeface="ui-monospace"/>
                </a:rPr>
                <a:t>命令</a:t>
              </a:r>
              <a:endParaRPr lang="en-US" sz="1200" dirty="0">
                <a:solidFill>
                  <a:schemeClr val="bg1"/>
                </a:solidFill>
              </a:endParaRPr>
            </a:p>
          </p:txBody>
        </p:sp>
        <p:sp>
          <p:nvSpPr>
            <p:cNvPr id="10" name="TextBox 36">
              <a:extLst>
                <a:ext uri="{FF2B5EF4-FFF2-40B4-BE49-F238E27FC236}">
                  <a16:creationId xmlns:a16="http://schemas.microsoft.com/office/drawing/2014/main" id="{6F658180-82C9-D4A1-AB4F-AA5CC880088F}"/>
                </a:ext>
              </a:extLst>
            </p:cNvPr>
            <p:cNvSpPr txBox="1"/>
            <p:nvPr/>
          </p:nvSpPr>
          <p:spPr>
            <a:xfrm>
              <a:off x="7667294" y="6245750"/>
              <a:ext cx="4281578" cy="2677656"/>
            </a:xfrm>
            <a:prstGeom prst="rect">
              <a:avLst/>
            </a:prstGeom>
            <a:noFill/>
          </p:spPr>
          <p:txBody>
            <a:bodyPr wrap="square">
              <a:spAutoFit/>
            </a:bodyPr>
            <a:lstStyle/>
            <a:p>
              <a:r>
                <a:rPr lang="en-US" altLang="zh-CN" sz="1200" dirty="0">
                  <a:solidFill>
                    <a:schemeClr val="accent1"/>
                  </a:solidFill>
                  <a:latin typeface="ui-monospace"/>
                </a:rPr>
                <a:t>ipconfig/release</a:t>
              </a:r>
              <a:r>
                <a:rPr lang="zh-CN" altLang="en-US" sz="1200" dirty="0">
                  <a:solidFill>
                    <a:schemeClr val="accent1"/>
                  </a:solidFill>
                  <a:latin typeface="ui-monospace"/>
                </a:rPr>
                <a:t>：释放</a:t>
              </a:r>
              <a:endParaRPr lang="en-US" altLang="zh-CN" sz="1200" dirty="0">
                <a:solidFill>
                  <a:schemeClr val="accent1"/>
                </a:solidFill>
                <a:latin typeface="ui-monospace"/>
              </a:endParaRPr>
            </a:p>
            <a:p>
              <a:r>
                <a:rPr lang="en-US" altLang="zh-CN" sz="1200" dirty="0">
                  <a:solidFill>
                    <a:schemeClr val="accent1"/>
                  </a:solidFill>
                  <a:latin typeface="ui-monospace"/>
                </a:rPr>
                <a:t>ipconfig/</a:t>
              </a:r>
              <a:r>
                <a:rPr lang="en-US" altLang="zh-CN" sz="1200" dirty="0" err="1">
                  <a:solidFill>
                    <a:schemeClr val="accent1"/>
                  </a:solidFill>
                  <a:latin typeface="ui-monospace"/>
                </a:rPr>
                <a:t>flushdns</a:t>
              </a:r>
              <a:r>
                <a:rPr lang="zh-CN" altLang="en-US" sz="1200" dirty="0">
                  <a:solidFill>
                    <a:schemeClr val="accent1"/>
                  </a:solidFill>
                  <a:latin typeface="ui-monospace"/>
                </a:rPr>
                <a:t>：清除</a:t>
              </a:r>
              <a:r>
                <a:rPr lang="en-US" altLang="zh-CN" sz="1200" dirty="0">
                  <a:solidFill>
                    <a:schemeClr val="accent1"/>
                  </a:solidFill>
                  <a:latin typeface="ui-monospace"/>
                </a:rPr>
                <a:t>/</a:t>
              </a:r>
              <a:r>
                <a:rPr lang="zh-CN" altLang="en-US" sz="1200" dirty="0">
                  <a:solidFill>
                    <a:schemeClr val="accent1"/>
                  </a:solidFill>
                  <a:latin typeface="ui-monospace"/>
                </a:rPr>
                <a:t>刷新本地</a:t>
              </a:r>
              <a:r>
                <a:rPr lang="en-US" altLang="zh-CN" sz="1200" dirty="0">
                  <a:solidFill>
                    <a:schemeClr val="accent1"/>
                  </a:solidFill>
                  <a:latin typeface="ui-monospace"/>
                </a:rPr>
                <a:t>DNS</a:t>
              </a:r>
              <a:r>
                <a:rPr lang="zh-CN" altLang="en-US" sz="1200" dirty="0">
                  <a:solidFill>
                    <a:schemeClr val="accent1"/>
                  </a:solidFill>
                  <a:latin typeface="ui-monospace"/>
                </a:rPr>
                <a:t>缓存</a:t>
              </a:r>
              <a:endParaRPr lang="en-US" altLang="zh-CN" sz="1200" dirty="0">
                <a:solidFill>
                  <a:schemeClr val="accent1"/>
                </a:solidFill>
                <a:latin typeface="ui-monospace"/>
              </a:endParaRPr>
            </a:p>
            <a:p>
              <a:r>
                <a:rPr lang="en-US" altLang="zh-CN" sz="1200" dirty="0">
                  <a:solidFill>
                    <a:schemeClr val="accent1"/>
                  </a:solidFill>
                  <a:latin typeface="ui-monospace"/>
                </a:rPr>
                <a:t>ipconfig/</a:t>
              </a:r>
              <a:r>
                <a:rPr lang="en-US" altLang="zh-CN" sz="1200" dirty="0" err="1">
                  <a:solidFill>
                    <a:schemeClr val="accent1"/>
                  </a:solidFill>
                  <a:latin typeface="ui-monospace"/>
                </a:rPr>
                <a:t>displaydns</a:t>
              </a:r>
              <a:r>
                <a:rPr lang="zh-CN" altLang="en-US" sz="1200" dirty="0">
                  <a:solidFill>
                    <a:schemeClr val="accent1"/>
                  </a:solidFill>
                  <a:latin typeface="ui-monospace"/>
                </a:rPr>
                <a:t>：显示本地</a:t>
              </a:r>
              <a:r>
                <a:rPr lang="en-US" altLang="zh-CN" sz="1200" dirty="0">
                  <a:solidFill>
                    <a:schemeClr val="accent1"/>
                  </a:solidFill>
                  <a:latin typeface="ui-monospace"/>
                </a:rPr>
                <a:t>DNS</a:t>
              </a:r>
            </a:p>
            <a:p>
              <a:r>
                <a:rPr lang="en-US" altLang="zh-CN" sz="1200" dirty="0">
                  <a:solidFill>
                    <a:schemeClr val="accent1"/>
                  </a:solidFill>
                  <a:latin typeface="ui-monospace"/>
                </a:rPr>
                <a:t>ipconfig/</a:t>
              </a:r>
              <a:r>
                <a:rPr lang="en-US" altLang="zh-CN" sz="1200" dirty="0" err="1">
                  <a:solidFill>
                    <a:schemeClr val="accent1"/>
                  </a:solidFill>
                  <a:latin typeface="ui-monospace"/>
                </a:rPr>
                <a:t>registerdns</a:t>
              </a:r>
              <a:r>
                <a:rPr lang="zh-CN" altLang="en-US" sz="1200" dirty="0">
                  <a:solidFill>
                    <a:schemeClr val="accent1"/>
                  </a:solidFill>
                  <a:latin typeface="ui-monospace"/>
                </a:rPr>
                <a:t>：注册</a:t>
              </a:r>
              <a:endParaRPr lang="en-US" altLang="zh-CN" sz="1200" dirty="0">
                <a:solidFill>
                  <a:schemeClr val="accent1"/>
                </a:solidFill>
                <a:latin typeface="ui-monospace"/>
              </a:endParaRPr>
            </a:p>
            <a:p>
              <a:r>
                <a:rPr lang="en-US" altLang="zh-CN" sz="1200" dirty="0">
                  <a:solidFill>
                    <a:schemeClr val="accent1"/>
                  </a:solidFill>
                  <a:latin typeface="ui-monospace"/>
                </a:rPr>
                <a:t>Ipconfig</a:t>
              </a:r>
              <a:r>
                <a:rPr lang="zh-CN" altLang="en-US" sz="1200" dirty="0">
                  <a:solidFill>
                    <a:schemeClr val="accent1"/>
                  </a:solidFill>
                  <a:latin typeface="ui-monospace"/>
                </a:rPr>
                <a:t>：显示网络适配器</a:t>
              </a:r>
              <a:endParaRPr lang="en-US" altLang="zh-CN" sz="1200" dirty="0">
                <a:solidFill>
                  <a:schemeClr val="accent1"/>
                </a:solidFill>
                <a:latin typeface="ui-monospace"/>
              </a:endParaRPr>
            </a:p>
            <a:p>
              <a:r>
                <a:rPr lang="en-US" altLang="zh-CN" sz="1200" dirty="0">
                  <a:solidFill>
                    <a:schemeClr val="accent1"/>
                  </a:solidFill>
                  <a:latin typeface="ui-monospace"/>
                </a:rPr>
                <a:t>ipconfig/all</a:t>
              </a:r>
              <a:r>
                <a:rPr lang="zh-CN" altLang="en-US" sz="1200" dirty="0">
                  <a:solidFill>
                    <a:schemeClr val="accent1"/>
                  </a:solidFill>
                  <a:latin typeface="ui-monospace"/>
                </a:rPr>
                <a:t>：显示</a:t>
              </a:r>
              <a:r>
                <a:rPr lang="en-US" altLang="zh-CN" sz="1200" dirty="0">
                  <a:solidFill>
                    <a:schemeClr val="accent1"/>
                  </a:solidFill>
                  <a:latin typeface="ui-monospace"/>
                </a:rPr>
                <a:t>TCP/IP</a:t>
              </a:r>
              <a:r>
                <a:rPr lang="zh-CN" altLang="en-US" sz="1200" dirty="0">
                  <a:solidFill>
                    <a:schemeClr val="accent1"/>
                  </a:solidFill>
                  <a:latin typeface="ui-monospace"/>
                </a:rPr>
                <a:t>配置信息，包括</a:t>
              </a:r>
              <a:r>
                <a:rPr lang="en-US" altLang="zh-CN" sz="1200" dirty="0">
                  <a:solidFill>
                    <a:schemeClr val="accent1"/>
                  </a:solidFill>
                  <a:latin typeface="ui-monospace"/>
                </a:rPr>
                <a:t>DHCP</a:t>
              </a:r>
            </a:p>
            <a:p>
              <a:r>
                <a:rPr lang="en-US" altLang="zh-CN" sz="1200" dirty="0">
                  <a:solidFill>
                    <a:schemeClr val="accent1"/>
                  </a:solidFill>
                  <a:latin typeface="ui-monospace"/>
                </a:rPr>
                <a:t>ipconfig/renew</a:t>
              </a:r>
              <a:r>
                <a:rPr lang="zh-CN" altLang="en-US" sz="1200" dirty="0">
                  <a:solidFill>
                    <a:schemeClr val="accent1"/>
                  </a:solidFill>
                  <a:latin typeface="ui-monospace"/>
                </a:rPr>
                <a:t>：重新申请</a:t>
              </a:r>
              <a:r>
                <a:rPr lang="en-US" altLang="zh-CN" sz="1200" dirty="0">
                  <a:solidFill>
                    <a:schemeClr val="accent1"/>
                  </a:solidFill>
                  <a:latin typeface="ui-monospace"/>
                </a:rPr>
                <a:t>IP</a:t>
              </a:r>
              <a:r>
                <a:rPr lang="zh-CN" altLang="en-US" sz="1200" dirty="0">
                  <a:solidFill>
                    <a:schemeClr val="accent1"/>
                  </a:solidFill>
                  <a:latin typeface="ui-monospace"/>
                </a:rPr>
                <a:t>地址</a:t>
              </a:r>
              <a:endParaRPr lang="en-US" altLang="zh-CN" sz="1200" dirty="0">
                <a:solidFill>
                  <a:schemeClr val="accent1"/>
                </a:solidFill>
                <a:latin typeface="ui-monospace"/>
              </a:endParaRPr>
            </a:p>
            <a:p>
              <a:r>
                <a:rPr lang="en-US" altLang="zh-CN" sz="1200" dirty="0">
                  <a:solidFill>
                    <a:schemeClr val="accent1"/>
                  </a:solidFill>
                  <a:latin typeface="ui-monospace"/>
                </a:rPr>
                <a:t>ping</a:t>
              </a:r>
              <a:r>
                <a:rPr lang="zh-CN" altLang="en-US" sz="1200" dirty="0">
                  <a:solidFill>
                    <a:schemeClr val="accent1"/>
                  </a:solidFill>
                  <a:latin typeface="ui-monospace"/>
                </a:rPr>
                <a:t>：</a:t>
              </a:r>
              <a:r>
                <a:rPr lang="en-US" altLang="zh-CN" sz="1200" dirty="0">
                  <a:solidFill>
                    <a:schemeClr val="accent1"/>
                  </a:solidFill>
                  <a:latin typeface="ui-monospace"/>
                </a:rPr>
                <a:t>127.0.0.1&gt;</a:t>
              </a:r>
              <a:r>
                <a:rPr lang="zh-CN" altLang="en-US" sz="1200" dirty="0">
                  <a:solidFill>
                    <a:schemeClr val="accent1"/>
                  </a:solidFill>
                  <a:latin typeface="ui-monospace"/>
                </a:rPr>
                <a:t>本机</a:t>
              </a:r>
              <a:r>
                <a:rPr lang="en-US" altLang="zh-CN" sz="1200" dirty="0">
                  <a:solidFill>
                    <a:schemeClr val="accent1"/>
                  </a:solidFill>
                  <a:latin typeface="ui-monospace"/>
                </a:rPr>
                <a:t>IP&gt;</a:t>
              </a:r>
              <a:r>
                <a:rPr lang="zh-CN" altLang="en-US" sz="1200" dirty="0">
                  <a:solidFill>
                    <a:schemeClr val="accent1"/>
                  </a:solidFill>
                  <a:latin typeface="ui-monospace"/>
                </a:rPr>
                <a:t>默认网关</a:t>
              </a:r>
              <a:r>
                <a:rPr lang="en-US" altLang="zh-CN" sz="1200" dirty="0">
                  <a:solidFill>
                    <a:schemeClr val="accent1"/>
                  </a:solidFill>
                  <a:latin typeface="ui-monospace"/>
                </a:rPr>
                <a:t>&gt;</a:t>
              </a:r>
              <a:r>
                <a:rPr lang="zh-CN" altLang="en-US" sz="1200" dirty="0">
                  <a:solidFill>
                    <a:schemeClr val="accent1"/>
                  </a:solidFill>
                  <a:latin typeface="ui-monospace"/>
                </a:rPr>
                <a:t>远程主机</a:t>
              </a:r>
              <a:endParaRPr lang="en-US" altLang="zh-CN" sz="1200" dirty="0">
                <a:solidFill>
                  <a:schemeClr val="accent1"/>
                </a:solidFill>
                <a:latin typeface="ui-monospace"/>
              </a:endParaRPr>
            </a:p>
            <a:p>
              <a:r>
                <a:rPr lang="en-US" altLang="zh-CN" sz="1200" dirty="0" err="1">
                  <a:solidFill>
                    <a:schemeClr val="accent1"/>
                  </a:solidFill>
                  <a:latin typeface="ui-monospace"/>
                </a:rPr>
                <a:t>msconfig</a:t>
              </a:r>
              <a:r>
                <a:rPr lang="zh-CN" altLang="en-US" sz="1200" dirty="0">
                  <a:solidFill>
                    <a:schemeClr val="accent1"/>
                  </a:solidFill>
                  <a:latin typeface="ui-monospace"/>
                </a:rPr>
                <a:t>：</a:t>
              </a:r>
              <a:r>
                <a:rPr lang="en-US" altLang="zh-CN" sz="1200" dirty="0">
                  <a:solidFill>
                    <a:schemeClr val="accent1"/>
                  </a:solidFill>
                  <a:latin typeface="ui-monospace"/>
                </a:rPr>
                <a:t>Win</a:t>
              </a:r>
              <a:r>
                <a:rPr lang="zh-CN" altLang="en-US" sz="1200" dirty="0">
                  <a:solidFill>
                    <a:schemeClr val="accent1"/>
                  </a:solidFill>
                  <a:latin typeface="ui-monospace"/>
                </a:rPr>
                <a:t>配置的应用程序</a:t>
              </a:r>
              <a:endParaRPr lang="en-US" altLang="zh-CN" sz="1200" dirty="0">
                <a:solidFill>
                  <a:schemeClr val="accent1"/>
                </a:solidFill>
                <a:latin typeface="ui-monospace"/>
              </a:endParaRPr>
            </a:p>
            <a:p>
              <a:r>
                <a:rPr lang="en-US" altLang="zh-CN" sz="1200" dirty="0" err="1">
                  <a:solidFill>
                    <a:schemeClr val="accent1"/>
                  </a:solidFill>
                  <a:latin typeface="ui-monospace"/>
                </a:rPr>
                <a:t>cmd</a:t>
              </a:r>
              <a:r>
                <a:rPr lang="zh-CN" altLang="en-US" sz="1200" dirty="0">
                  <a:solidFill>
                    <a:schemeClr val="accent1"/>
                  </a:solidFill>
                  <a:latin typeface="ui-monospace"/>
                </a:rPr>
                <a:t>：命令提示符</a:t>
              </a:r>
              <a:endParaRPr lang="en-US" altLang="zh-CN" sz="1200" dirty="0">
                <a:solidFill>
                  <a:schemeClr val="accent1"/>
                </a:solidFill>
                <a:latin typeface="ui-monospace"/>
              </a:endParaRPr>
            </a:p>
            <a:p>
              <a:r>
                <a:rPr lang="en-US" altLang="zh-CN" sz="1200" dirty="0" err="1">
                  <a:solidFill>
                    <a:schemeClr val="accent1"/>
                  </a:solidFill>
                  <a:latin typeface="ui-monospace"/>
                </a:rPr>
                <a:t>tracert</a:t>
              </a:r>
              <a:r>
                <a:rPr lang="zh-CN" altLang="en-US" sz="1200" dirty="0">
                  <a:solidFill>
                    <a:schemeClr val="accent1"/>
                  </a:solidFill>
                  <a:latin typeface="ui-monospace"/>
                </a:rPr>
                <a:t>：路由跟踪实用程序</a:t>
              </a:r>
              <a:endParaRPr lang="en-US" altLang="zh-CN" sz="1200" dirty="0">
                <a:solidFill>
                  <a:schemeClr val="accent1"/>
                </a:solidFill>
                <a:latin typeface="ui-monospace"/>
              </a:endParaRPr>
            </a:p>
            <a:p>
              <a:r>
                <a:rPr lang="en-US" altLang="zh-CN" sz="1200" dirty="0">
                  <a:solidFill>
                    <a:schemeClr val="accent1"/>
                  </a:solidFill>
                  <a:latin typeface="ui-monospace"/>
                </a:rPr>
                <a:t>traceroute</a:t>
              </a:r>
              <a:r>
                <a:rPr lang="zh-CN" altLang="en-US" sz="1200" dirty="0">
                  <a:solidFill>
                    <a:schemeClr val="accent1"/>
                  </a:solidFill>
                  <a:latin typeface="ui-monospace"/>
                </a:rPr>
                <a:t>：追踪数据包从源到目的地在</a:t>
              </a:r>
              <a:r>
                <a:rPr lang="en-US" altLang="zh-CN" sz="1200" dirty="0">
                  <a:solidFill>
                    <a:schemeClr val="accent1"/>
                  </a:solidFill>
                  <a:latin typeface="ui-monospace"/>
                </a:rPr>
                <a:t>IP</a:t>
              </a:r>
              <a:r>
                <a:rPr lang="zh-CN" altLang="en-US" sz="1200" dirty="0">
                  <a:solidFill>
                    <a:schemeClr val="accent1"/>
                  </a:solidFill>
                  <a:latin typeface="ui-monospace"/>
                </a:rPr>
                <a:t>网络上的路径</a:t>
              </a:r>
              <a:endParaRPr lang="en-US" altLang="zh-CN" sz="1200" dirty="0">
                <a:solidFill>
                  <a:schemeClr val="accent1"/>
                </a:solidFill>
                <a:latin typeface="ui-monospace"/>
              </a:endParaRPr>
            </a:p>
            <a:p>
              <a:r>
                <a:rPr lang="en-US" altLang="zh-CN" sz="1200" dirty="0">
                  <a:solidFill>
                    <a:schemeClr val="accent1"/>
                  </a:solidFill>
                  <a:latin typeface="ui-monospace"/>
                </a:rPr>
                <a:t>netstat</a:t>
              </a:r>
              <a:r>
                <a:rPr lang="zh-CN" altLang="en-US" sz="1200" dirty="0">
                  <a:solidFill>
                    <a:schemeClr val="accent1"/>
                  </a:solidFill>
                  <a:latin typeface="ui-monospace"/>
                </a:rPr>
                <a:t>：显示网络连接、路由表和网络接口信息</a:t>
              </a:r>
              <a:endParaRPr lang="en-US" altLang="zh-CN" sz="1200" dirty="0">
                <a:solidFill>
                  <a:schemeClr val="accent1"/>
                </a:solidFill>
                <a:latin typeface="ui-monospace"/>
              </a:endParaRPr>
            </a:p>
            <a:p>
              <a:r>
                <a:rPr lang="en-US" altLang="zh-CN" sz="1200" dirty="0" err="1">
                  <a:solidFill>
                    <a:schemeClr val="accent1"/>
                  </a:solidFill>
                  <a:latin typeface="ui-monospace"/>
                </a:rPr>
                <a:t>nslookup</a:t>
              </a:r>
              <a:r>
                <a:rPr lang="zh-CN" altLang="en-US" sz="1200" dirty="0">
                  <a:solidFill>
                    <a:schemeClr val="accent1"/>
                  </a:solidFill>
                  <a:latin typeface="ui-monospace"/>
                </a:rPr>
                <a:t>：域名查询</a:t>
              </a:r>
              <a:endParaRPr lang="en-US" altLang="zh-CN" sz="1200" dirty="0">
                <a:solidFill>
                  <a:schemeClr val="accent1"/>
                </a:solidFill>
                <a:latin typeface="ui-monospace"/>
              </a:endParaRPr>
            </a:p>
          </p:txBody>
        </p:sp>
      </p:grpSp>
      <p:grpSp>
        <p:nvGrpSpPr>
          <p:cNvPr id="38" name="Group 25">
            <a:extLst>
              <a:ext uri="{FF2B5EF4-FFF2-40B4-BE49-F238E27FC236}">
                <a16:creationId xmlns:a16="http://schemas.microsoft.com/office/drawing/2014/main" id="{27770829-9B5A-2503-89F3-CCCEE44B5CDB}"/>
              </a:ext>
            </a:extLst>
          </p:cNvPr>
          <p:cNvGrpSpPr/>
          <p:nvPr/>
        </p:nvGrpSpPr>
        <p:grpSpPr>
          <a:xfrm>
            <a:off x="3097885" y="4929588"/>
            <a:ext cx="4386653" cy="572261"/>
            <a:chOff x="7614613" y="5950488"/>
            <a:chExt cx="4386653" cy="572261"/>
          </a:xfrm>
        </p:grpSpPr>
        <p:sp>
          <p:nvSpPr>
            <p:cNvPr id="39" name="Rectangle: Rounded Corners 35">
              <a:extLst>
                <a:ext uri="{FF2B5EF4-FFF2-40B4-BE49-F238E27FC236}">
                  <a16:creationId xmlns:a16="http://schemas.microsoft.com/office/drawing/2014/main" id="{1830A1A5-164F-092B-FF9A-0A353F43CAA7}"/>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▶有线与无线网络</a:t>
              </a:r>
              <a:endParaRPr lang="en-US" sz="1200" dirty="0">
                <a:solidFill>
                  <a:schemeClr val="bg1"/>
                </a:solidFill>
              </a:endParaRPr>
            </a:p>
          </p:txBody>
        </p:sp>
        <p:sp>
          <p:nvSpPr>
            <p:cNvPr id="40" name="TextBox 36">
              <a:extLst>
                <a:ext uri="{FF2B5EF4-FFF2-40B4-BE49-F238E27FC236}">
                  <a16:creationId xmlns:a16="http://schemas.microsoft.com/office/drawing/2014/main" id="{BBDC1E15-9B10-F02C-2F8D-690B5E95F562}"/>
                </a:ext>
              </a:extLst>
            </p:cNvPr>
            <p:cNvSpPr txBox="1"/>
            <p:nvPr/>
          </p:nvSpPr>
          <p:spPr>
            <a:xfrm>
              <a:off x="7667294" y="6245750"/>
              <a:ext cx="4281578" cy="276999"/>
            </a:xfrm>
            <a:prstGeom prst="rect">
              <a:avLst/>
            </a:prstGeom>
            <a:noFill/>
          </p:spPr>
          <p:txBody>
            <a:bodyPr wrap="square">
              <a:spAutoFit/>
            </a:bodyPr>
            <a:lstStyle/>
            <a:p>
              <a:r>
                <a:rPr lang="zh-CN" altLang="en-US" sz="1200" dirty="0">
                  <a:solidFill>
                    <a:schemeClr val="accent1"/>
                  </a:solidFill>
                  <a:latin typeface="ui-monospace"/>
                </a:rPr>
                <a:t>蓝牙覆盖范围最小，通信距离最短</a:t>
              </a:r>
              <a:endParaRPr lang="en-US" altLang="zh-CN" sz="1200" dirty="0">
                <a:solidFill>
                  <a:schemeClr val="accent1"/>
                </a:solidFill>
                <a:latin typeface="ui-monospace"/>
              </a:endParaRPr>
            </a:p>
          </p:txBody>
        </p:sp>
      </p:grpSp>
      <p:grpSp>
        <p:nvGrpSpPr>
          <p:cNvPr id="17" name="Group 25">
            <a:extLst>
              <a:ext uri="{FF2B5EF4-FFF2-40B4-BE49-F238E27FC236}">
                <a16:creationId xmlns:a16="http://schemas.microsoft.com/office/drawing/2014/main" id="{AA08AB1C-2AFD-AA0E-00AB-60B69E1D6A97}"/>
              </a:ext>
            </a:extLst>
          </p:cNvPr>
          <p:cNvGrpSpPr/>
          <p:nvPr/>
        </p:nvGrpSpPr>
        <p:grpSpPr>
          <a:xfrm>
            <a:off x="7723152" y="3060018"/>
            <a:ext cx="4386653" cy="1310925"/>
            <a:chOff x="7614613" y="5950488"/>
            <a:chExt cx="4386653" cy="1310925"/>
          </a:xfrm>
        </p:grpSpPr>
        <p:sp>
          <p:nvSpPr>
            <p:cNvPr id="18" name="Rectangle: Rounded Corners 35">
              <a:extLst>
                <a:ext uri="{FF2B5EF4-FFF2-40B4-BE49-F238E27FC236}">
                  <a16:creationId xmlns:a16="http://schemas.microsoft.com/office/drawing/2014/main" id="{008518F7-20FD-B8BA-53C9-8C94C039B4C1}"/>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▶杂题</a:t>
              </a:r>
              <a:endParaRPr lang="en-US" sz="1200" dirty="0">
                <a:solidFill>
                  <a:schemeClr val="bg1"/>
                </a:solidFill>
              </a:endParaRPr>
            </a:p>
          </p:txBody>
        </p:sp>
        <p:sp>
          <p:nvSpPr>
            <p:cNvPr id="19" name="TextBox 36">
              <a:extLst>
                <a:ext uri="{FF2B5EF4-FFF2-40B4-BE49-F238E27FC236}">
                  <a16:creationId xmlns:a16="http://schemas.microsoft.com/office/drawing/2014/main" id="{A59982D8-5787-0EE9-2971-5A22000222FA}"/>
                </a:ext>
              </a:extLst>
            </p:cNvPr>
            <p:cNvSpPr txBox="1"/>
            <p:nvPr/>
          </p:nvSpPr>
          <p:spPr>
            <a:xfrm>
              <a:off x="7667294" y="6245750"/>
              <a:ext cx="4281578" cy="1015663"/>
            </a:xfrm>
            <a:prstGeom prst="rect">
              <a:avLst/>
            </a:prstGeom>
            <a:noFill/>
          </p:spPr>
          <p:txBody>
            <a:bodyPr wrap="square">
              <a:spAutoFit/>
            </a:bodyPr>
            <a:lstStyle/>
            <a:p>
              <a:r>
                <a:rPr lang="en-US" altLang="zh-CN" sz="1200" dirty="0">
                  <a:solidFill>
                    <a:schemeClr val="accent1"/>
                  </a:solidFill>
                  <a:latin typeface="ui-monospace"/>
                </a:rPr>
                <a:t>Linux</a:t>
              </a:r>
              <a:r>
                <a:rPr lang="zh-CN" altLang="en-US" sz="1200" dirty="0">
                  <a:solidFill>
                    <a:schemeClr val="accent1"/>
                  </a:solidFill>
                  <a:latin typeface="ui-monospace"/>
                </a:rPr>
                <a:t>根目录：</a:t>
              </a:r>
              <a:r>
                <a:rPr lang="en-US" altLang="zh-CN" sz="1200" dirty="0">
                  <a:solidFill>
                    <a:schemeClr val="accent1"/>
                  </a:solidFill>
                  <a:latin typeface="ui-monospace"/>
                </a:rPr>
                <a:t>/</a:t>
              </a:r>
            </a:p>
            <a:p>
              <a:r>
                <a:rPr lang="en-US" altLang="zh-CN" sz="1200" dirty="0" err="1">
                  <a:solidFill>
                    <a:schemeClr val="accent1"/>
                  </a:solidFill>
                  <a:latin typeface="ui-monospace"/>
                </a:rPr>
                <a:t>chmod</a:t>
              </a:r>
              <a:r>
                <a:rPr lang="zh-CN" altLang="en-US" sz="1200" dirty="0">
                  <a:solidFill>
                    <a:schemeClr val="accent1"/>
                  </a:solidFill>
                  <a:latin typeface="ui-monospace"/>
                </a:rPr>
                <a:t>：更新文件权限</a:t>
              </a:r>
              <a:endParaRPr lang="en-US" altLang="zh-CN" sz="1200" dirty="0">
                <a:solidFill>
                  <a:schemeClr val="accent1"/>
                </a:solidFill>
                <a:latin typeface="ui-monospace"/>
              </a:endParaRPr>
            </a:p>
            <a:p>
              <a:r>
                <a:rPr lang="zh-CN" altLang="en-US" sz="1200" dirty="0">
                  <a:solidFill>
                    <a:schemeClr val="accent1"/>
                  </a:solidFill>
                  <a:latin typeface="ui-monospace"/>
                </a:rPr>
                <a:t>帧中继：高速分组交换技术</a:t>
              </a:r>
              <a:endParaRPr lang="en-US" altLang="zh-CN" sz="1200" dirty="0">
                <a:solidFill>
                  <a:schemeClr val="accent1"/>
                </a:solidFill>
                <a:latin typeface="ui-monospace"/>
              </a:endParaRPr>
            </a:p>
            <a:p>
              <a:r>
                <a:rPr lang="en-US" altLang="zh-CN" sz="1200" dirty="0">
                  <a:solidFill>
                    <a:schemeClr val="accent1"/>
                  </a:solidFill>
                  <a:latin typeface="ui-monospace"/>
                </a:rPr>
                <a:t>VLAN</a:t>
              </a:r>
            </a:p>
            <a:p>
              <a:r>
                <a:rPr lang="zh-CN" altLang="en-US" sz="1200" dirty="0">
                  <a:solidFill>
                    <a:schemeClr val="accent1"/>
                  </a:solidFill>
                  <a:latin typeface="ui-monospace"/>
                </a:rPr>
                <a:t>层次化局域网模型：核心层、汇聚层、接入层</a:t>
              </a:r>
              <a:endParaRPr lang="en-US" altLang="zh-CN" sz="1200" dirty="0">
                <a:solidFill>
                  <a:schemeClr val="accent1"/>
                </a:solidFill>
                <a:latin typeface="ui-monospace"/>
              </a:endParaRPr>
            </a:p>
          </p:txBody>
        </p:sp>
      </p:grpSp>
    </p:spTree>
    <p:extLst>
      <p:ext uri="{BB962C8B-B14F-4D97-AF65-F5344CB8AC3E}">
        <p14:creationId xmlns:p14="http://schemas.microsoft.com/office/powerpoint/2010/main" val="41185361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2E4D-7BE7-9319-4E3C-62E023B6048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0E443A-3DCE-A1AA-FD66-DF28CCE1ED6B}"/>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8AD79892-B0B6-70A5-A575-37DEDFB436B7}"/>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B00D022-79DF-3222-A4E4-FDA1BB1DB6C1}"/>
              </a:ext>
            </a:extLst>
          </p:cNvPr>
          <p:cNvSpPr txBox="1"/>
          <p:nvPr/>
        </p:nvSpPr>
        <p:spPr>
          <a:xfrm>
            <a:off x="0" y="959472"/>
            <a:ext cx="2986206" cy="34163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算法</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回溯法</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分治法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动态规划</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贪心法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2C39A644-18F5-CDB8-9056-4174ACEE0F3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4BE92308-0796-F839-2FA8-C387A23A156B}"/>
              </a:ext>
            </a:extLst>
          </p:cNvPr>
          <p:cNvCxnSpPr>
            <a:cxnSpLocks/>
          </p:cNvCxnSpPr>
          <p:nvPr/>
        </p:nvCxnSpPr>
        <p:spPr>
          <a:xfrm>
            <a:off x="7596225" y="485775"/>
            <a:ext cx="0" cy="6344977"/>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4" name="Group 25">
            <a:extLst>
              <a:ext uri="{FF2B5EF4-FFF2-40B4-BE49-F238E27FC236}">
                <a16:creationId xmlns:a16="http://schemas.microsoft.com/office/drawing/2014/main" id="{8FB09C93-7C9F-3B80-D207-64B637C9AD7F}"/>
              </a:ext>
            </a:extLst>
          </p:cNvPr>
          <p:cNvGrpSpPr/>
          <p:nvPr/>
        </p:nvGrpSpPr>
        <p:grpSpPr>
          <a:xfrm>
            <a:off x="3097888" y="76666"/>
            <a:ext cx="4417338" cy="2049588"/>
            <a:chOff x="7614614" y="5950488"/>
            <a:chExt cx="4417338" cy="2049588"/>
          </a:xfrm>
        </p:grpSpPr>
        <p:sp>
          <p:nvSpPr>
            <p:cNvPr id="5" name="Rectangle: Rounded Corners 35">
              <a:extLst>
                <a:ext uri="{FF2B5EF4-FFF2-40B4-BE49-F238E27FC236}">
                  <a16:creationId xmlns:a16="http://schemas.microsoft.com/office/drawing/2014/main" id="{A468BFA2-45CB-C7B1-FF17-50B0B69F0D48}"/>
                </a:ext>
              </a:extLst>
            </p:cNvPr>
            <p:cNvSpPr/>
            <p:nvPr/>
          </p:nvSpPr>
          <p:spPr>
            <a:xfrm>
              <a:off x="7614614" y="5950488"/>
              <a:ext cx="4417338"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▶回溯法</a:t>
              </a:r>
            </a:p>
          </p:txBody>
        </p:sp>
        <p:sp>
          <p:nvSpPr>
            <p:cNvPr id="8" name="TextBox 36">
              <a:extLst>
                <a:ext uri="{FF2B5EF4-FFF2-40B4-BE49-F238E27FC236}">
                  <a16:creationId xmlns:a16="http://schemas.microsoft.com/office/drawing/2014/main" id="{90E72091-6F0C-20B2-C10B-38B6A957B609}"/>
                </a:ext>
              </a:extLst>
            </p:cNvPr>
            <p:cNvSpPr txBox="1"/>
            <p:nvPr/>
          </p:nvSpPr>
          <p:spPr>
            <a:xfrm>
              <a:off x="7667294" y="6245750"/>
              <a:ext cx="4281578" cy="1754326"/>
            </a:xfrm>
            <a:prstGeom prst="rect">
              <a:avLst/>
            </a:prstGeom>
            <a:noFill/>
          </p:spPr>
          <p:txBody>
            <a:bodyPr wrap="square">
              <a:spAutoFit/>
            </a:bodyPr>
            <a:lstStyle/>
            <a:p>
              <a:r>
                <a:rPr lang="zh-CN" altLang="en-US" sz="1200" dirty="0">
                  <a:solidFill>
                    <a:schemeClr val="accent1"/>
                  </a:solidFill>
                  <a:latin typeface="ui-monospace"/>
                </a:rPr>
                <a:t>从问题的一个初始解出发，逐步构造问题的解，当不能继续构造时，就进行回溯，返回上一层继续构造</a:t>
              </a:r>
              <a:endParaRPr lang="en-US" altLang="zh-CN" sz="1200" dirty="0">
                <a:solidFill>
                  <a:schemeClr val="accent1"/>
                </a:solidFill>
                <a:latin typeface="ui-monospace"/>
              </a:endParaRPr>
            </a:p>
            <a:p>
              <a:r>
                <a:rPr lang="en-US" altLang="zh-CN" sz="1200" b="1" dirty="0">
                  <a:solidFill>
                    <a:schemeClr val="accent1"/>
                  </a:solidFill>
                  <a:latin typeface="ui-monospace"/>
                </a:rPr>
                <a:t>N</a:t>
              </a:r>
              <a:r>
                <a:rPr lang="zh-CN" altLang="en-US" sz="1200" b="1" dirty="0">
                  <a:solidFill>
                    <a:schemeClr val="accent1"/>
                  </a:solidFill>
                  <a:latin typeface="ui-monospace"/>
                </a:rPr>
                <a:t>皇后问题</a:t>
              </a:r>
              <a:r>
                <a:rPr lang="zh-CN" altLang="en-US" sz="1200" dirty="0">
                  <a:solidFill>
                    <a:schemeClr val="accent1"/>
                  </a:solidFill>
                  <a:latin typeface="ui-monospace"/>
                </a:rPr>
                <a:t>：给定一个</a:t>
              </a:r>
              <a:r>
                <a:rPr lang="en-US" altLang="zh-CN" sz="1200" dirty="0">
                  <a:solidFill>
                    <a:schemeClr val="accent1"/>
                  </a:solidFill>
                  <a:latin typeface="ui-monospace"/>
                </a:rPr>
                <a:t>N*N(N=4)</a:t>
              </a:r>
              <a:r>
                <a:rPr lang="zh-CN" altLang="en-US" sz="1200" dirty="0">
                  <a:solidFill>
                    <a:schemeClr val="accent1"/>
                  </a:solidFill>
                  <a:latin typeface="ui-monospace"/>
                </a:rPr>
                <a:t>棋盘上摆放</a:t>
              </a:r>
              <a:r>
                <a:rPr lang="en-US" altLang="zh-CN" sz="1200" dirty="0">
                  <a:solidFill>
                    <a:schemeClr val="accent1"/>
                  </a:solidFill>
                  <a:latin typeface="ui-monospace"/>
                </a:rPr>
                <a:t>N</a:t>
              </a:r>
              <a:r>
                <a:rPr lang="zh-CN" altLang="en-US" sz="1200" dirty="0">
                  <a:solidFill>
                    <a:schemeClr val="accent1"/>
                  </a:solidFill>
                  <a:latin typeface="ui-monospace"/>
                </a:rPr>
                <a:t>个皇后，满足任意两个皇后不处于同一行、同一列、同一斜线上</a:t>
              </a:r>
              <a:endParaRPr lang="en-US" altLang="zh-CN" sz="1200" dirty="0">
                <a:solidFill>
                  <a:schemeClr val="accent1"/>
                </a:solidFill>
                <a:latin typeface="ui-monospace"/>
              </a:endParaRPr>
            </a:p>
            <a:p>
              <a:r>
                <a:rPr lang="en-US" altLang="zh-CN" sz="1200" dirty="0">
                  <a:solidFill>
                    <a:schemeClr val="accent1"/>
                  </a:solidFill>
                  <a:latin typeface="ui-monospace"/>
                </a:rPr>
                <a:t>1.</a:t>
              </a:r>
              <a:r>
                <a:rPr lang="zh-CN" altLang="en-US" sz="1200" dirty="0">
                  <a:solidFill>
                    <a:schemeClr val="accent1"/>
                  </a:solidFill>
                  <a:latin typeface="ui-monospace"/>
                </a:rPr>
                <a:t>逐行放置 </a:t>
              </a:r>
              <a:r>
                <a:rPr lang="en-US" altLang="zh-CN" sz="1200" dirty="0">
                  <a:solidFill>
                    <a:schemeClr val="accent1"/>
                  </a:solidFill>
                  <a:latin typeface="ui-monospace"/>
                </a:rPr>
                <a:t>2.</a:t>
              </a:r>
              <a:r>
                <a:rPr lang="zh-CN" altLang="en-US" sz="1200" dirty="0">
                  <a:solidFill>
                    <a:schemeClr val="accent1"/>
                  </a:solidFill>
                  <a:latin typeface="ui-monospace"/>
                </a:rPr>
                <a:t>合法性检查：是否同列或同斜线</a:t>
              </a:r>
              <a:r>
                <a:rPr lang="en-US" altLang="zh-CN" sz="1200" dirty="0">
                  <a:solidFill>
                    <a:schemeClr val="accent1"/>
                  </a:solidFill>
                  <a:latin typeface="ui-monospace"/>
                </a:rPr>
                <a:t>(</a:t>
              </a:r>
              <a:r>
                <a:rPr lang="zh-CN" altLang="en-US" sz="1200" dirty="0">
                  <a:solidFill>
                    <a:schemeClr val="accent1"/>
                  </a:solidFill>
                  <a:latin typeface="ui-monospace"/>
                </a:rPr>
                <a:t>插值的绝对值相等</a:t>
              </a:r>
              <a:r>
                <a:rPr lang="en-US" altLang="zh-CN" sz="1200" dirty="0">
                  <a:solidFill>
                    <a:schemeClr val="accent1"/>
                  </a:solidFill>
                  <a:latin typeface="ui-monospace"/>
                </a:rPr>
                <a:t>) 3.</a:t>
              </a:r>
              <a:r>
                <a:rPr lang="zh-CN" altLang="en-US" sz="1200" dirty="0">
                  <a:solidFill>
                    <a:schemeClr val="accent1"/>
                  </a:solidFill>
                  <a:latin typeface="ui-monospace"/>
                </a:rPr>
                <a:t>回溯：如果本行摆放失败，回溯上一行从新摆放</a:t>
              </a:r>
              <a:r>
                <a:rPr lang="en-US" altLang="zh-CN" sz="1200" dirty="0">
                  <a:solidFill>
                    <a:schemeClr val="accent1"/>
                  </a:solidFill>
                  <a:latin typeface="ui-monospace"/>
                </a:rPr>
                <a:t> 4.</a:t>
              </a:r>
              <a:r>
                <a:rPr lang="zh-CN" altLang="en-US" sz="1200" dirty="0">
                  <a:solidFill>
                    <a:schemeClr val="accent1"/>
                  </a:solidFill>
                  <a:latin typeface="ui-monospace"/>
                </a:rPr>
                <a:t>终止：成功放置</a:t>
              </a:r>
              <a:r>
                <a:rPr lang="en-US" altLang="zh-CN" sz="1200" dirty="0">
                  <a:solidFill>
                    <a:schemeClr val="accent1"/>
                  </a:solidFill>
                  <a:latin typeface="ui-monospace"/>
                </a:rPr>
                <a:t>n</a:t>
              </a:r>
              <a:r>
                <a:rPr lang="zh-CN" altLang="en-US" sz="1200" dirty="0">
                  <a:solidFill>
                    <a:schemeClr val="accent1"/>
                  </a:solidFill>
                  <a:latin typeface="ui-monospace"/>
                </a:rPr>
                <a:t>行</a:t>
              </a:r>
              <a:endParaRPr lang="en-US" altLang="zh-CN" sz="1200" dirty="0">
                <a:solidFill>
                  <a:schemeClr val="accent1"/>
                </a:solidFill>
                <a:latin typeface="ui-monospace"/>
              </a:endParaRPr>
            </a:p>
            <a:p>
              <a:r>
                <a:rPr lang="zh-CN" altLang="en-US" sz="1200" dirty="0">
                  <a:solidFill>
                    <a:schemeClr val="accent1"/>
                  </a:solidFill>
                  <a:latin typeface="ui-monospace"/>
                </a:rPr>
                <a:t>递归求解：</a:t>
              </a:r>
              <a:endParaRPr lang="en-US" altLang="zh-CN" sz="1200" dirty="0">
                <a:solidFill>
                  <a:schemeClr val="accent1"/>
                </a:solidFill>
                <a:latin typeface="ui-monospace"/>
              </a:endParaRPr>
            </a:p>
            <a:p>
              <a:endParaRPr lang="en-US" altLang="zh-CN" sz="1200" dirty="0">
                <a:solidFill>
                  <a:schemeClr val="accent1"/>
                </a:solidFill>
                <a:latin typeface="ui-monospace"/>
              </a:endParaRPr>
            </a:p>
          </p:txBody>
        </p:sp>
      </p:grpSp>
      <p:sp>
        <p:nvSpPr>
          <p:cNvPr id="21" name="Rectangle: Rounded Corners 20">
            <a:extLst>
              <a:ext uri="{FF2B5EF4-FFF2-40B4-BE49-F238E27FC236}">
                <a16:creationId xmlns:a16="http://schemas.microsoft.com/office/drawing/2014/main" id="{124A14C3-7291-1D74-8D14-F5FAB39E7B7F}"/>
              </a:ext>
            </a:extLst>
          </p:cNvPr>
          <p:cNvSpPr/>
          <p:nvPr/>
        </p:nvSpPr>
        <p:spPr>
          <a:xfrm>
            <a:off x="7760594" y="658234"/>
            <a:ext cx="4281571" cy="6094525"/>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US" sz="800" b="0" dirty="0">
                <a:solidFill>
                  <a:srgbClr val="569CD6"/>
                </a:solidFill>
                <a:effectLst/>
                <a:latin typeface="Consolas" panose="020B0609020204030204" pitchFamily="49" charset="0"/>
              </a:rPr>
              <a:t>const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solve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=&gt;</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const</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 = </a:t>
            </a:r>
            <a:r>
              <a:rPr lang="en-US" sz="800" b="0" dirty="0">
                <a:solidFill>
                  <a:srgbClr val="4EC9B0"/>
                </a:solidFill>
                <a:effectLst/>
                <a:latin typeface="Consolas" panose="020B0609020204030204" pitchFamily="49" charset="0"/>
              </a:rPr>
              <a:t>Array</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fill</a:t>
            </a:r>
            <a:r>
              <a:rPr lang="en-US" sz="800" b="0" dirty="0">
                <a:solidFill>
                  <a:srgbClr val="D4D4D4"/>
                </a:solidFill>
                <a:effectLst/>
                <a:latin typeface="Consolas" panose="020B0609020204030204" pitchFamily="49" charset="0"/>
              </a:rPr>
              <a:t>(</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const</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answer: any[]</a:t>
            </a:r>
            <a:r>
              <a:rPr lang="en-US" sz="800" b="0" dirty="0">
                <a:solidFill>
                  <a:srgbClr val="D4D4D4"/>
                </a:solidFill>
                <a:effectLst/>
                <a:latin typeface="Consolas" panose="020B0609020204030204" pitchFamily="49" charset="0"/>
              </a:rPr>
              <a:t> = []</a:t>
            </a:r>
          </a:p>
          <a:p>
            <a:pPr>
              <a:lnSpc>
                <a:spcPts val="1425"/>
              </a:lnSpc>
              <a:buNone/>
            </a:pP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function</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check</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检查 同一列 或 同一斜线</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let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Math</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abs</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Math</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abs</a:t>
            </a:r>
            <a:r>
              <a:rPr lang="en-US" sz="800" b="0" dirty="0">
                <a:solidFill>
                  <a:srgbClr val="D4D4D4"/>
                </a:solidFill>
                <a:effectLst/>
                <a:latin typeface="Consolas" panose="020B0609020204030204" pitchFamily="49" charset="0"/>
              </a:rPr>
              <a:t>(</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false</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true</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let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正在摆放的皇后</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while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&gt;=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回溯到第</a:t>
            </a:r>
            <a:r>
              <a:rPr lang="en-US" altLang="zh-CN" sz="800" b="0" dirty="0">
                <a:solidFill>
                  <a:srgbClr val="6A9955"/>
                </a:solidFill>
                <a:effectLst/>
                <a:latin typeface="Consolas" panose="020B0609020204030204" pitchFamily="49" charset="0"/>
              </a:rPr>
              <a:t>0</a:t>
            </a:r>
            <a:r>
              <a:rPr lang="zh-CN" altLang="en-US" sz="800" b="0" dirty="0">
                <a:solidFill>
                  <a:srgbClr val="6A9955"/>
                </a:solidFill>
                <a:effectLst/>
                <a:latin typeface="Consolas" panose="020B0609020204030204" pitchFamily="49" charset="0"/>
              </a:rPr>
              <a:t>个皇后时表示已没有解</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首先将皇后放置到第一个位置</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while</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N</a:t>
            </a:r>
            <a:r>
              <a:rPr lang="en-US" sz="800" b="0" dirty="0">
                <a:solidFill>
                  <a:srgbClr val="D4D4D4"/>
                </a:solidFill>
                <a:effectLst/>
                <a:latin typeface="Consolas" panose="020B0609020204030204" pitchFamily="49" charset="0"/>
              </a:rPr>
              <a:t> &amp;&amp; !</a:t>
            </a:r>
            <a:r>
              <a:rPr lang="en-US" sz="800" b="0" dirty="0">
                <a:solidFill>
                  <a:srgbClr val="DCDCAA"/>
                </a:solidFill>
                <a:effectLst/>
                <a:latin typeface="Consolas" panose="020B0609020204030204" pitchFamily="49" charset="0"/>
              </a:rPr>
              <a:t>check</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在界限内摆放位置不对</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放置到后一个位置</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p>
          <a:p>
            <a:pPr>
              <a:lnSpc>
                <a:spcPts val="1425"/>
              </a:lnSpc>
              <a:buNone/>
            </a:pPr>
            <a:r>
              <a:rPr lang="en-US" altLang="zh-CN"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N</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t>
            </a:r>
            <a:r>
              <a:rPr lang="en-US" sz="800" b="0" dirty="0">
                <a:solidFill>
                  <a:srgbClr val="D4D4D4"/>
                </a:solidFill>
                <a:effectLst/>
                <a:latin typeface="Consolas" panose="020B0609020204030204" pitchFamily="49" charset="0"/>
              </a:rPr>
              <a:t>) {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当前皇后位置已确定</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err="1">
                <a:solidFill>
                  <a:srgbClr val="4FC1FF"/>
                </a:solidFill>
                <a:effectLst/>
                <a:latin typeface="Consolas" panose="020B0609020204030204" pitchFamily="49" charset="0"/>
              </a:rPr>
              <a:t>anwser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push</a:t>
            </a:r>
            <a:r>
              <a:rPr lang="en-US" sz="800" b="0" dirty="0">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q</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filter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=&gt;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记录结果</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else</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j</a:t>
            </a:r>
            <a:r>
              <a:rPr lang="en-US" sz="800" b="0" dirty="0" err="1">
                <a:solidFill>
                  <a:srgbClr val="D4D4D4"/>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继续下一个皇后</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p>
          <a:p>
            <a:pPr>
              <a:lnSpc>
                <a:spcPts val="1425"/>
              </a:lnSpc>
              <a:buNone/>
            </a:pPr>
            <a:r>
              <a:rPr lang="en-US" altLang="zh-CN"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else</a:t>
            </a:r>
            <a:r>
              <a:rPr lang="en-US" sz="800" b="0" dirty="0">
                <a:solidFill>
                  <a:srgbClr val="D4D4D4"/>
                </a:solidFill>
                <a:effectLst/>
                <a:latin typeface="Consolas" panose="020B0609020204030204" pitchFamily="49" charset="0"/>
              </a:rPr>
              <a:t> {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超出界限</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清除当前皇后的位置</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返回上一个皇后</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p>
          <a:p>
            <a:pPr>
              <a:lnSpc>
                <a:spcPts val="1425"/>
              </a:lnSpc>
              <a:buNone/>
            </a:pPr>
            <a:r>
              <a:rPr lang="en-US" altLang="zh-CN" sz="800" b="0" dirty="0">
                <a:solidFill>
                  <a:srgbClr val="D4D4D4"/>
                </a:solidFill>
                <a:effectLst/>
                <a:latin typeface="Consolas" panose="020B0609020204030204" pitchFamily="49" charset="0"/>
              </a:rPr>
              <a:t>  }</a:t>
            </a:r>
          </a:p>
          <a:p>
            <a:pPr>
              <a:lnSpc>
                <a:spcPts val="1425"/>
              </a:lnSpc>
              <a:buNone/>
            </a:pPr>
            <a:r>
              <a:rPr lang="en-US" altLang="zh-CN" sz="800" b="0" dirty="0">
                <a:solidFill>
                  <a:srgbClr val="D4D4D4"/>
                </a:solidFill>
                <a:effectLst/>
                <a:latin typeface="Consolas" panose="020B0609020204030204" pitchFamily="49" charset="0"/>
              </a:rPr>
              <a:t>  </a:t>
            </a:r>
            <a:r>
              <a:rPr lang="en-US" altLang="zh-CN"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输出结果</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console</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log</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'Result: '</a:t>
            </a:r>
            <a:r>
              <a:rPr lang="en-US" sz="800" b="0" dirty="0">
                <a:solidFill>
                  <a:srgbClr val="D4D4D4"/>
                </a:solidFill>
                <a:effectLst/>
                <a:latin typeface="Consolas" panose="020B0609020204030204" pitchFamily="49" charset="0"/>
              </a:rPr>
              <a:t>, </a:t>
            </a:r>
            <a:r>
              <a:rPr lang="en-US" sz="800" b="0" dirty="0" err="1">
                <a:solidFill>
                  <a:srgbClr val="4FC1FF"/>
                </a:solidFill>
                <a:effectLst/>
                <a:latin typeface="Consolas" panose="020B0609020204030204" pitchFamily="49" charset="0"/>
              </a:rPr>
              <a:t>anwser</a:t>
            </a:r>
            <a:r>
              <a:rPr lang="en-US" sz="800" b="0" dirty="0">
                <a:solidFill>
                  <a:srgbClr val="D4D4D4"/>
                </a:solidFill>
                <a:effectLst/>
                <a:latin typeface="Consolas" panose="020B0609020204030204" pitchFamily="49" charset="0"/>
              </a:rPr>
              <a:t>)</a:t>
            </a:r>
          </a:p>
          <a:p>
            <a:pPr>
              <a:lnSpc>
                <a:spcPts val="1425"/>
              </a:lnSpc>
            </a:pPr>
            <a:r>
              <a:rPr lang="en-US" sz="800" b="0" dirty="0">
                <a:solidFill>
                  <a:srgbClr val="D4D4D4"/>
                </a:solidFill>
                <a:effectLst/>
                <a:latin typeface="Consolas" panose="020B0609020204030204" pitchFamily="49" charset="0"/>
              </a:rPr>
              <a:t>}</a:t>
            </a:r>
          </a:p>
        </p:txBody>
      </p:sp>
      <p:sp>
        <p:nvSpPr>
          <p:cNvPr id="22" name="TextBox 36">
            <a:extLst>
              <a:ext uri="{FF2B5EF4-FFF2-40B4-BE49-F238E27FC236}">
                <a16:creationId xmlns:a16="http://schemas.microsoft.com/office/drawing/2014/main" id="{06A844BB-ABC9-4C6F-5473-D59D534D6C86}"/>
              </a:ext>
            </a:extLst>
          </p:cNvPr>
          <p:cNvSpPr txBox="1"/>
          <p:nvPr/>
        </p:nvSpPr>
        <p:spPr>
          <a:xfrm>
            <a:off x="7760590" y="382511"/>
            <a:ext cx="4281578" cy="276999"/>
          </a:xfrm>
          <a:prstGeom prst="rect">
            <a:avLst/>
          </a:prstGeom>
          <a:noFill/>
        </p:spPr>
        <p:txBody>
          <a:bodyPr wrap="square">
            <a:spAutoFit/>
          </a:bodyPr>
          <a:lstStyle/>
          <a:p>
            <a:r>
              <a:rPr lang="zh-CN" altLang="en-US" sz="1200" dirty="0">
                <a:solidFill>
                  <a:schemeClr val="accent1"/>
                </a:solidFill>
                <a:latin typeface="ui-monospace"/>
              </a:rPr>
              <a:t>循环求解：</a:t>
            </a:r>
            <a:endParaRPr lang="en-US" altLang="zh-CN" sz="1200" dirty="0">
              <a:solidFill>
                <a:schemeClr val="accent1"/>
              </a:solidFill>
              <a:latin typeface="ui-monospace"/>
            </a:endParaRPr>
          </a:p>
        </p:txBody>
      </p:sp>
      <p:sp>
        <p:nvSpPr>
          <p:cNvPr id="24" name="Rectangle: Rounded Corners 23">
            <a:extLst>
              <a:ext uri="{FF2B5EF4-FFF2-40B4-BE49-F238E27FC236}">
                <a16:creationId xmlns:a16="http://schemas.microsoft.com/office/drawing/2014/main" id="{B681E518-D6EE-2013-C8BF-5837E8FC4DDE}"/>
              </a:ext>
            </a:extLst>
          </p:cNvPr>
          <p:cNvSpPr/>
          <p:nvPr/>
        </p:nvSpPr>
        <p:spPr>
          <a:xfrm>
            <a:off x="3150429" y="1904999"/>
            <a:ext cx="4281571" cy="4885859"/>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US" sz="800" b="0" dirty="0">
                <a:solidFill>
                  <a:srgbClr val="569CD6"/>
                </a:solidFill>
                <a:effectLst/>
                <a:latin typeface="Consolas" panose="020B0609020204030204" pitchFamily="49" charset="0"/>
              </a:rPr>
              <a:t>const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solve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=&gt;</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const</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 = </a:t>
            </a:r>
            <a:r>
              <a:rPr lang="en-US" sz="800" b="0" dirty="0">
                <a:solidFill>
                  <a:srgbClr val="4EC9B0"/>
                </a:solidFill>
                <a:effectLst/>
                <a:latin typeface="Consolas" panose="020B0609020204030204" pitchFamily="49" charset="0"/>
              </a:rPr>
              <a:t>Array</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fill</a:t>
            </a:r>
            <a:r>
              <a:rPr lang="en-US" sz="800" b="0" dirty="0">
                <a:solidFill>
                  <a:srgbClr val="D4D4D4"/>
                </a:solidFill>
                <a:effectLst/>
                <a:latin typeface="Consolas" panose="020B0609020204030204" pitchFamily="49" charset="0"/>
              </a:rPr>
              <a:t>(</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const</a:t>
            </a:r>
            <a:r>
              <a:rPr lang="en-US" sz="800" b="0" dirty="0">
                <a:solidFill>
                  <a:srgbClr val="D4D4D4"/>
                </a:solidFill>
                <a:effectLst/>
                <a:latin typeface="Consolas" panose="020B0609020204030204" pitchFamily="49" charset="0"/>
              </a:rPr>
              <a:t> </a:t>
            </a:r>
            <a:r>
              <a:rPr lang="en-US" sz="800" b="0" dirty="0" err="1">
                <a:solidFill>
                  <a:srgbClr val="4FC1FF"/>
                </a:solidFill>
                <a:effectLst/>
                <a:latin typeface="Consolas" panose="020B0609020204030204" pitchFamily="49" charset="0"/>
              </a:rPr>
              <a:t>anwser</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any</a:t>
            </a:r>
            <a:r>
              <a:rPr lang="en-US" sz="800" b="0" dirty="0">
                <a:solidFill>
                  <a:srgbClr val="D4D4D4"/>
                </a:solidFill>
                <a:effectLst/>
                <a:latin typeface="Consolas" panose="020B0609020204030204" pitchFamily="49" charset="0"/>
              </a:rPr>
              <a:t>[] =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function</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check</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检查 同一列 或 同一斜线</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let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Math</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abs</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Math</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abs</a:t>
            </a:r>
            <a:r>
              <a:rPr lang="en-US" sz="800" b="0" dirty="0">
                <a:solidFill>
                  <a:srgbClr val="D4D4D4"/>
                </a:solidFill>
                <a:effectLst/>
                <a:latin typeface="Consolas" panose="020B0609020204030204" pitchFamily="49" charset="0"/>
              </a:rPr>
              <a:t>(</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false</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true</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function</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putPos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let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依次摆放位置</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check</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当前皇后已确定位置</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a:t>
            </a:r>
            <a:r>
              <a:rPr lang="en-US" sz="800" b="0" dirty="0">
                <a:solidFill>
                  <a:srgbClr val="D4D4D4"/>
                </a:solidFill>
                <a:effectLst/>
                <a:latin typeface="Consolas" panose="020B0609020204030204" pitchFamily="49" charset="0"/>
              </a:rPr>
              <a:t>) {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最后一位皇后位置已确定</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err="1">
                <a:solidFill>
                  <a:srgbClr val="4FC1FF"/>
                </a:solidFill>
                <a:effectLst/>
                <a:latin typeface="Consolas" panose="020B0609020204030204" pitchFamily="49" charset="0"/>
              </a:rPr>
              <a:t>anwser</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push</a:t>
            </a:r>
            <a:r>
              <a:rPr lang="en-US" sz="800" b="0" dirty="0">
                <a:solidFill>
                  <a:srgbClr val="D4D4D4"/>
                </a:solidFill>
                <a:effectLst/>
                <a:latin typeface="Consolas" panose="020B0609020204030204" pitchFamily="49" charset="0"/>
              </a:rPr>
              <a:t>(</a:t>
            </a:r>
            <a:r>
              <a:rPr lang="en-US" sz="800" b="0" dirty="0" err="1">
                <a:solidFill>
                  <a:srgbClr val="4FC1FF"/>
                </a:solidFill>
                <a:effectLst/>
                <a:latin typeface="Consolas" panose="020B0609020204030204" pitchFamily="49" charset="0"/>
              </a:rPr>
              <a:t>q</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filter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=&gt;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记录结果</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else</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putPos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摆放下一个皇后</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p>
          <a:p>
            <a:pPr>
              <a:lnSpc>
                <a:spcPts val="1425"/>
              </a:lnSpc>
              <a:buNone/>
            </a:pPr>
            <a:r>
              <a:rPr lang="en-US" altLang="zh-CN" sz="800" b="0" dirty="0">
                <a:solidFill>
                  <a:srgbClr val="D4D4D4"/>
                </a:solidFill>
                <a:effectLst/>
                <a:latin typeface="Consolas" panose="020B0609020204030204" pitchFamily="49" charset="0"/>
              </a:rPr>
              <a:t>      }</a:t>
            </a:r>
          </a:p>
          <a:p>
            <a:pPr>
              <a:lnSpc>
                <a:spcPts val="1425"/>
              </a:lnSpc>
              <a:buNone/>
            </a:pPr>
            <a:r>
              <a:rPr lang="en-US" altLang="zh-CN" sz="800" b="0" dirty="0">
                <a:solidFill>
                  <a:srgbClr val="D4D4D4"/>
                </a:solidFill>
                <a:effectLst/>
                <a:latin typeface="Consolas" panose="020B0609020204030204" pitchFamily="49" charset="0"/>
              </a:rPr>
              <a:t>    }</a:t>
            </a:r>
          </a:p>
          <a:p>
            <a:pPr>
              <a:lnSpc>
                <a:spcPts val="1425"/>
              </a:lnSpc>
              <a:buNone/>
            </a:pPr>
            <a:r>
              <a:rPr lang="en-US" altLang="zh-CN" sz="800" b="0" dirty="0">
                <a:solidFill>
                  <a:srgbClr val="D4D4D4"/>
                </a:solidFill>
                <a:effectLst/>
                <a:latin typeface="Consolas" panose="020B0609020204030204" pitchFamily="49" charset="0"/>
              </a:rPr>
              <a:t>  }</a:t>
            </a:r>
            <a:br>
              <a:rPr lang="en-US" altLang="zh-CN" sz="800" b="0" dirty="0">
                <a:solidFill>
                  <a:srgbClr val="D4D4D4"/>
                </a:solidFill>
                <a:effectLst/>
                <a:latin typeface="Consolas" panose="020B0609020204030204" pitchFamily="49" charset="0"/>
              </a:rPr>
            </a:br>
            <a:r>
              <a:rPr lang="en-US" altLang="zh-CN"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putPos</a:t>
            </a:r>
            <a:r>
              <a:rPr lang="en-US" sz="800" b="0" dirty="0">
                <a:solidFill>
                  <a:srgbClr val="D4D4D4"/>
                </a:solidFill>
                <a:effectLst/>
                <a:latin typeface="Consolas" panose="020B0609020204030204" pitchFamily="49" charset="0"/>
              </a:rPr>
              <a:t>(</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输出结果</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console</a:t>
            </a:r>
            <a:r>
              <a:rPr lang="en-US" sz="800" b="0" dirty="0">
                <a:solidFill>
                  <a:srgbClr val="D4D4D4"/>
                </a:solidFill>
                <a:effectLst/>
                <a:latin typeface="Consolas" panose="020B0609020204030204" pitchFamily="49" charset="0"/>
              </a:rPr>
              <a:t>.</a:t>
            </a:r>
            <a:r>
              <a:rPr lang="en-US" sz="800" b="0" dirty="0">
                <a:solidFill>
                  <a:srgbClr val="DCDCAA"/>
                </a:solidFill>
                <a:effectLst/>
                <a:latin typeface="Consolas" panose="020B0609020204030204" pitchFamily="49" charset="0"/>
              </a:rPr>
              <a:t>log</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'Result: '</a:t>
            </a:r>
            <a:r>
              <a:rPr lang="en-US" sz="800" b="0" dirty="0">
                <a:solidFill>
                  <a:srgbClr val="D4D4D4"/>
                </a:solidFill>
                <a:effectLst/>
                <a:latin typeface="Consolas" panose="020B0609020204030204" pitchFamily="49" charset="0"/>
              </a:rPr>
              <a:t>, </a:t>
            </a:r>
            <a:r>
              <a:rPr lang="en-US" sz="800" b="0" dirty="0" err="1">
                <a:solidFill>
                  <a:srgbClr val="4FC1FF"/>
                </a:solidFill>
                <a:effectLst/>
                <a:latin typeface="Consolas" panose="020B0609020204030204" pitchFamily="49" charset="0"/>
              </a:rPr>
              <a:t>anwser</a:t>
            </a:r>
            <a:r>
              <a:rPr lang="en-US" sz="800" b="0" dirty="0">
                <a:solidFill>
                  <a:srgbClr val="D4D4D4"/>
                </a:solidFill>
                <a:effectLst/>
                <a:latin typeface="Consolas" panose="020B0609020204030204" pitchFamily="49" charset="0"/>
              </a:rPr>
              <a:t>)</a:t>
            </a:r>
          </a:p>
          <a:p>
            <a:pPr>
              <a:lnSpc>
                <a:spcPts val="1425"/>
              </a:lnSpc>
            </a:pPr>
            <a:r>
              <a:rPr lang="en-US" sz="8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828020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886F3-6B8C-9D88-9C8C-7ECD2405FEF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1191D08-4226-CD36-A412-E4E7B3874CDF}"/>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6B67F8AA-2C24-A857-D6C7-6AAB5F74D58A}"/>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A9CDA6D-308E-A084-F19D-4C6CB3E88B34}"/>
              </a:ext>
            </a:extLst>
          </p:cNvPr>
          <p:cNvSpPr txBox="1"/>
          <p:nvPr/>
        </p:nvSpPr>
        <p:spPr>
          <a:xfrm>
            <a:off x="0" y="959472"/>
            <a:ext cx="2986206" cy="34163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算法</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回溯法</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分治法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动态规划</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贪心法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00D0AC60-4819-2124-611F-A37DD5B9E4AA}"/>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577E6F79-4419-43E2-785C-527BEB49C36B}"/>
              </a:ext>
            </a:extLst>
          </p:cNvPr>
          <p:cNvCxnSpPr>
            <a:cxnSpLocks/>
          </p:cNvCxnSpPr>
          <p:nvPr/>
        </p:nvCxnSpPr>
        <p:spPr>
          <a:xfrm>
            <a:off x="7596225" y="76200"/>
            <a:ext cx="0" cy="6754552"/>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Rectangle: Rounded Corners 23">
            <a:extLst>
              <a:ext uri="{FF2B5EF4-FFF2-40B4-BE49-F238E27FC236}">
                <a16:creationId xmlns:a16="http://schemas.microsoft.com/office/drawing/2014/main" id="{DEDF4A97-49E8-2500-B0CA-8E2960C00E1F}"/>
              </a:ext>
            </a:extLst>
          </p:cNvPr>
          <p:cNvSpPr/>
          <p:nvPr/>
        </p:nvSpPr>
        <p:spPr>
          <a:xfrm>
            <a:off x="7770054" y="123824"/>
            <a:ext cx="4281571" cy="656272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US" sz="800" b="0" dirty="0">
                <a:solidFill>
                  <a:srgbClr val="C586C0"/>
                </a:solidFill>
                <a:effectLst/>
                <a:latin typeface="Consolas" panose="020B0609020204030204" pitchFamily="49" charset="0"/>
              </a:rPr>
              <a:t>#define</a:t>
            </a:r>
            <a:r>
              <a:rPr lang="en-US" sz="800" b="0" dirty="0">
                <a:solidFill>
                  <a:srgbClr val="569CD6"/>
                </a:solidFill>
                <a:effectLst/>
                <a:latin typeface="Consolas" panose="020B0609020204030204" pitchFamily="49" charset="0"/>
              </a:rPr>
              <a:t> N </a:t>
            </a:r>
            <a:r>
              <a:rPr lang="en-US" sz="800" b="0" dirty="0">
                <a:solidFill>
                  <a:srgbClr val="B5CEA8"/>
                </a:solidFill>
                <a:effectLst/>
                <a:latin typeface="Consolas" panose="020B0609020204030204" pitchFamily="49" charset="0"/>
              </a:rPr>
              <a:t>4</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answer</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check</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DCDCAA"/>
                </a:solidFill>
                <a:effectLst/>
                <a:latin typeface="Consolas" panose="020B0609020204030204" pitchFamily="49" charset="0"/>
              </a:rPr>
              <a:t>abs</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DCDCAA"/>
                </a:solidFill>
                <a:effectLst/>
                <a:latin typeface="Consolas" panose="020B0609020204030204" pitchFamily="49" charset="0"/>
              </a:rPr>
              <a:t>abs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569CD6"/>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queen</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check</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answer</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answer</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printf</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a:solidFill>
                  <a:srgbClr val="9CDCFE"/>
                </a:solidFill>
                <a:effectLst/>
                <a:latin typeface="Consolas" panose="020B0609020204030204" pitchFamily="49" charset="0"/>
              </a:rPr>
              <a:t>%d</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printf</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a:solidFill>
                  <a:srgbClr val="D7BA7D"/>
                </a:solidFill>
                <a:effectLst/>
                <a:latin typeface="Consolas" panose="020B0609020204030204" pitchFamily="49" charset="0"/>
              </a:rPr>
              <a:t>\n</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else</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queen</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pPr>
            <a:r>
              <a:rPr lang="en-US" sz="800" b="0" dirty="0">
                <a:solidFill>
                  <a:srgbClr val="D4D4D4"/>
                </a:solidFill>
                <a:effectLst/>
                <a:latin typeface="Consolas" panose="020B0609020204030204" pitchFamily="49" charset="0"/>
              </a:rPr>
              <a:t>}</a:t>
            </a:r>
          </a:p>
        </p:txBody>
      </p:sp>
      <p:sp>
        <p:nvSpPr>
          <p:cNvPr id="10" name="Rectangle: Rounded Corners 9">
            <a:extLst>
              <a:ext uri="{FF2B5EF4-FFF2-40B4-BE49-F238E27FC236}">
                <a16:creationId xmlns:a16="http://schemas.microsoft.com/office/drawing/2014/main" id="{13358BE4-29B6-E412-16A5-2DEAA3F506BC}"/>
              </a:ext>
            </a:extLst>
          </p:cNvPr>
          <p:cNvSpPr/>
          <p:nvPr/>
        </p:nvSpPr>
        <p:spPr>
          <a:xfrm>
            <a:off x="3160034" y="153911"/>
            <a:ext cx="4281571" cy="656272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US" sz="800" b="0" dirty="0">
                <a:solidFill>
                  <a:srgbClr val="C586C0"/>
                </a:solidFill>
                <a:effectLst/>
                <a:latin typeface="Consolas" panose="020B0609020204030204" pitchFamily="49" charset="0"/>
              </a:rPr>
              <a:t>#define</a:t>
            </a:r>
            <a:r>
              <a:rPr lang="en-US" sz="800" b="0" dirty="0">
                <a:solidFill>
                  <a:srgbClr val="569CD6"/>
                </a:solidFill>
                <a:effectLst/>
                <a:latin typeface="Consolas" panose="020B0609020204030204" pitchFamily="49" charset="0"/>
              </a:rPr>
              <a:t> N </a:t>
            </a:r>
            <a:r>
              <a:rPr lang="en-US" sz="800" b="0" dirty="0">
                <a:solidFill>
                  <a:srgbClr val="B5CEA8"/>
                </a:solidFill>
                <a:effectLst/>
                <a:latin typeface="Consolas" panose="020B0609020204030204" pitchFamily="49" charset="0"/>
              </a:rPr>
              <a:t>4</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check</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DCDCAA"/>
                </a:solidFill>
                <a:effectLst/>
                <a:latin typeface="Consolas" panose="020B0609020204030204" pitchFamily="49" charset="0"/>
              </a:rPr>
              <a:t>abs</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DCDCAA"/>
                </a:solidFill>
                <a:effectLst/>
                <a:latin typeface="Consolas" panose="020B0609020204030204" pitchFamily="49" charset="0"/>
              </a:rPr>
              <a:t>abs</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569CD6"/>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queen</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answer</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while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&gt;=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while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&lt;= </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 &amp;&amp; !</a:t>
            </a:r>
            <a:r>
              <a:rPr lang="en-US" sz="800" b="0" dirty="0">
                <a:solidFill>
                  <a:srgbClr val="DCDCAA"/>
                </a:solidFill>
                <a:effectLst/>
                <a:latin typeface="Consolas" panose="020B0609020204030204" pitchFamily="49" charset="0"/>
              </a:rPr>
              <a:t>check</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queen</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pPr>
            <a:r>
              <a:rPr lang="en-US" sz="8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41308833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3808F-1A60-AB97-4981-2564DED58D4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598D508-5549-0E50-2CFC-80DE7E976E30}"/>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5C058185-3DBF-849B-0C6D-82DA649285F2}"/>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AAC2A4A-4608-97EF-DE56-922A4D63F234}"/>
              </a:ext>
            </a:extLst>
          </p:cNvPr>
          <p:cNvSpPr txBox="1"/>
          <p:nvPr/>
        </p:nvSpPr>
        <p:spPr>
          <a:xfrm>
            <a:off x="0" y="959472"/>
            <a:ext cx="2986206" cy="34163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算法</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回溯法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分治法</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动态规划</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贪心法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A1836619-CE37-D0F5-E802-5019D0D8A3CB}"/>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BCAEBC65-58D2-A8CE-FEF1-93FF636F7034}"/>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4" name="Group 25">
            <a:extLst>
              <a:ext uri="{FF2B5EF4-FFF2-40B4-BE49-F238E27FC236}">
                <a16:creationId xmlns:a16="http://schemas.microsoft.com/office/drawing/2014/main" id="{DC9B0B3A-2C41-26FA-AF5D-7AB3CE6D522F}"/>
              </a:ext>
            </a:extLst>
          </p:cNvPr>
          <p:cNvGrpSpPr/>
          <p:nvPr/>
        </p:nvGrpSpPr>
        <p:grpSpPr>
          <a:xfrm>
            <a:off x="3097887" y="76666"/>
            <a:ext cx="4386653" cy="756927"/>
            <a:chOff x="7614613" y="5950488"/>
            <a:chExt cx="4386653" cy="756927"/>
          </a:xfrm>
        </p:grpSpPr>
        <p:sp>
          <p:nvSpPr>
            <p:cNvPr id="5" name="Rectangle: Rounded Corners 35">
              <a:extLst>
                <a:ext uri="{FF2B5EF4-FFF2-40B4-BE49-F238E27FC236}">
                  <a16:creationId xmlns:a16="http://schemas.microsoft.com/office/drawing/2014/main" id="{D9210D36-17A8-9D4A-3357-096AEDB49B39}"/>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▶分治法</a:t>
              </a:r>
            </a:p>
          </p:txBody>
        </p:sp>
        <p:sp>
          <p:nvSpPr>
            <p:cNvPr id="8" name="TextBox 36">
              <a:extLst>
                <a:ext uri="{FF2B5EF4-FFF2-40B4-BE49-F238E27FC236}">
                  <a16:creationId xmlns:a16="http://schemas.microsoft.com/office/drawing/2014/main" id="{D08AB32F-91DD-4F5C-35DC-CCF1B24374B5}"/>
                </a:ext>
              </a:extLst>
            </p:cNvPr>
            <p:cNvSpPr txBox="1"/>
            <p:nvPr/>
          </p:nvSpPr>
          <p:spPr>
            <a:xfrm>
              <a:off x="7667294" y="6245750"/>
              <a:ext cx="4281578" cy="461665"/>
            </a:xfrm>
            <a:prstGeom prst="rect">
              <a:avLst/>
            </a:prstGeom>
            <a:noFill/>
          </p:spPr>
          <p:txBody>
            <a:bodyPr wrap="square">
              <a:spAutoFit/>
            </a:bodyPr>
            <a:lstStyle/>
            <a:p>
              <a:r>
                <a:rPr lang="zh-CN" altLang="en-US" sz="1200" dirty="0">
                  <a:solidFill>
                    <a:schemeClr val="accent1"/>
                  </a:solidFill>
                  <a:latin typeface="ui-monospace"/>
                </a:rPr>
                <a:t>递归：边界条件、递归模式</a:t>
              </a:r>
              <a:endParaRPr lang="en-US" altLang="zh-CN" sz="1200" dirty="0">
                <a:solidFill>
                  <a:schemeClr val="accent1"/>
                </a:solidFill>
                <a:latin typeface="ui-monospace"/>
              </a:endParaRPr>
            </a:p>
            <a:p>
              <a:r>
                <a:rPr lang="zh-CN" altLang="en-US" sz="1200" dirty="0">
                  <a:solidFill>
                    <a:schemeClr val="accent1"/>
                  </a:solidFill>
                  <a:latin typeface="ui-monospace"/>
                </a:rPr>
                <a:t>阶乘：</a:t>
              </a:r>
              <a:endParaRPr lang="en-US" altLang="zh-CN" sz="1200" dirty="0">
                <a:solidFill>
                  <a:schemeClr val="accent1"/>
                </a:solidFill>
                <a:latin typeface="ui-monospace"/>
              </a:endParaRPr>
            </a:p>
          </p:txBody>
        </p:sp>
      </p:grpSp>
      <p:sp>
        <p:nvSpPr>
          <p:cNvPr id="9" name="Rectangle: Rounded Corners 8">
            <a:extLst>
              <a:ext uri="{FF2B5EF4-FFF2-40B4-BE49-F238E27FC236}">
                <a16:creationId xmlns:a16="http://schemas.microsoft.com/office/drawing/2014/main" id="{DE4B6E9D-7013-D8AF-C90E-02720766CC2C}"/>
              </a:ext>
            </a:extLst>
          </p:cNvPr>
          <p:cNvSpPr/>
          <p:nvPr/>
        </p:nvSpPr>
        <p:spPr>
          <a:xfrm>
            <a:off x="3150429" y="781049"/>
            <a:ext cx="4281571" cy="742951"/>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US" sz="800" b="0" dirty="0">
                <a:solidFill>
                  <a:srgbClr val="569CD6"/>
                </a:solidFill>
                <a:effectLst/>
                <a:latin typeface="Consolas" panose="020B0609020204030204" pitchFamily="49" charset="0"/>
              </a:rPr>
              <a:t>const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solve</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num</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=&gt;</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num</a:t>
            </a:r>
            <a:r>
              <a:rPr lang="en-US" sz="800" b="0" dirty="0">
                <a:solidFill>
                  <a:srgbClr val="D4D4D4"/>
                </a:solidFill>
                <a:effectLst/>
                <a:latin typeface="Consolas" panose="020B0609020204030204" pitchFamily="49" charset="0"/>
              </a:rPr>
              <a:t> &gt;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num</a:t>
            </a:r>
            <a:r>
              <a:rPr lang="en-US" sz="800" b="0" dirty="0">
                <a:solidFill>
                  <a:srgbClr val="D4D4D4"/>
                </a:solidFill>
                <a:effectLst/>
                <a:latin typeface="Consolas" panose="020B0609020204030204" pitchFamily="49" charset="0"/>
              </a:rPr>
              <a:t> * </a:t>
            </a:r>
            <a:r>
              <a:rPr lang="en-US" sz="800" b="0" dirty="0">
                <a:solidFill>
                  <a:srgbClr val="DCDCAA"/>
                </a:solidFill>
                <a:effectLst/>
                <a:latin typeface="Consolas" panose="020B0609020204030204" pitchFamily="49" charset="0"/>
              </a:rPr>
              <a:t>solve</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num</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1</a:t>
            </a:r>
            <a:endParaRPr lang="en-US" sz="800" b="0" dirty="0">
              <a:solidFill>
                <a:srgbClr val="D4D4D4"/>
              </a:solidFill>
              <a:effectLst/>
              <a:latin typeface="Consolas" panose="020B0609020204030204" pitchFamily="49" charset="0"/>
            </a:endParaRPr>
          </a:p>
          <a:p>
            <a:pPr>
              <a:lnSpc>
                <a:spcPts val="1425"/>
              </a:lnSpc>
            </a:pPr>
            <a:r>
              <a:rPr lang="en-US" sz="800" b="0" dirty="0">
                <a:solidFill>
                  <a:srgbClr val="D4D4D4"/>
                </a:solidFill>
                <a:effectLst/>
                <a:latin typeface="Consolas" panose="020B0609020204030204" pitchFamily="49" charset="0"/>
              </a:rPr>
              <a:t>}</a:t>
            </a:r>
          </a:p>
        </p:txBody>
      </p:sp>
      <p:sp>
        <p:nvSpPr>
          <p:cNvPr id="10" name="TextBox 36">
            <a:extLst>
              <a:ext uri="{FF2B5EF4-FFF2-40B4-BE49-F238E27FC236}">
                <a16:creationId xmlns:a16="http://schemas.microsoft.com/office/drawing/2014/main" id="{E3D1FF84-3A10-37A4-3787-9CE928884373}"/>
              </a:ext>
            </a:extLst>
          </p:cNvPr>
          <p:cNvSpPr txBox="1"/>
          <p:nvPr/>
        </p:nvSpPr>
        <p:spPr>
          <a:xfrm>
            <a:off x="3150285" y="1533978"/>
            <a:ext cx="4281578" cy="2123658"/>
          </a:xfrm>
          <a:prstGeom prst="rect">
            <a:avLst/>
          </a:prstGeom>
          <a:noFill/>
        </p:spPr>
        <p:txBody>
          <a:bodyPr wrap="square">
            <a:spAutoFit/>
          </a:bodyPr>
          <a:lstStyle/>
          <a:p>
            <a:r>
              <a:rPr lang="zh-CN" altLang="en-US" sz="1200" dirty="0">
                <a:solidFill>
                  <a:schemeClr val="accent1"/>
                </a:solidFill>
                <a:latin typeface="ui-monospace"/>
              </a:rPr>
              <a:t>将问题分解成互不重叠的子问题，对子问题进行求解再合并成原问题的解</a:t>
            </a:r>
            <a:endParaRPr lang="en-US" altLang="zh-CN" sz="1200" dirty="0">
              <a:solidFill>
                <a:schemeClr val="accent1"/>
              </a:solidFill>
              <a:latin typeface="ui-monospace"/>
            </a:endParaRPr>
          </a:p>
          <a:p>
            <a:r>
              <a:rPr lang="zh-CN" altLang="en-US" sz="1200" dirty="0">
                <a:solidFill>
                  <a:schemeClr val="accent1"/>
                </a:solidFill>
                <a:latin typeface="ui-monospace"/>
              </a:rPr>
              <a:t>归并排序：</a:t>
            </a:r>
            <a:endParaRPr lang="en-US" altLang="zh-CN" sz="1200" dirty="0">
              <a:solidFill>
                <a:schemeClr val="accent1"/>
              </a:solidFill>
              <a:latin typeface="ui-monospace"/>
            </a:endParaRPr>
          </a:p>
          <a:p>
            <a:r>
              <a:rPr lang="zh-CN" altLang="en-US" sz="1200" dirty="0">
                <a:solidFill>
                  <a:schemeClr val="accent1"/>
                </a:solidFill>
                <a:latin typeface="ui-monospace"/>
              </a:rPr>
              <a:t>分解：将</a:t>
            </a:r>
            <a:r>
              <a:rPr lang="en-US" altLang="zh-CN" sz="1200" dirty="0">
                <a:solidFill>
                  <a:schemeClr val="accent1"/>
                </a:solidFill>
                <a:latin typeface="ui-monospace"/>
              </a:rPr>
              <a:t>n</a:t>
            </a:r>
            <a:r>
              <a:rPr lang="zh-CN" altLang="en-US" sz="1200" dirty="0">
                <a:solidFill>
                  <a:schemeClr val="accent1"/>
                </a:solidFill>
                <a:latin typeface="ui-monospace"/>
              </a:rPr>
              <a:t>个元素分成</a:t>
            </a:r>
            <a:r>
              <a:rPr lang="en-US" altLang="zh-CN" sz="1200" dirty="0">
                <a:solidFill>
                  <a:schemeClr val="accent1"/>
                </a:solidFill>
                <a:latin typeface="ui-monospace"/>
              </a:rPr>
              <a:t>n/2</a:t>
            </a:r>
            <a:r>
              <a:rPr lang="zh-CN" altLang="en-US" sz="1200" dirty="0">
                <a:solidFill>
                  <a:schemeClr val="accent1"/>
                </a:solidFill>
                <a:latin typeface="ui-monospace"/>
              </a:rPr>
              <a:t>个子序列</a:t>
            </a:r>
            <a:endParaRPr lang="en-US" altLang="zh-CN" sz="1200" dirty="0">
              <a:solidFill>
                <a:schemeClr val="accent1"/>
              </a:solidFill>
              <a:latin typeface="ui-monospace"/>
            </a:endParaRPr>
          </a:p>
          <a:p>
            <a:r>
              <a:rPr lang="zh-CN" altLang="en-US" sz="1200" dirty="0">
                <a:solidFill>
                  <a:schemeClr val="accent1"/>
                </a:solidFill>
                <a:latin typeface="ui-monospace"/>
              </a:rPr>
              <a:t>求解：对两个子序列递归排序</a:t>
            </a:r>
            <a:endParaRPr lang="en-US" altLang="zh-CN" sz="1200" dirty="0">
              <a:solidFill>
                <a:schemeClr val="accent1"/>
              </a:solidFill>
              <a:latin typeface="ui-monospace"/>
            </a:endParaRPr>
          </a:p>
          <a:p>
            <a:r>
              <a:rPr lang="zh-CN" altLang="en-US" sz="1200" dirty="0">
                <a:solidFill>
                  <a:schemeClr val="accent1"/>
                </a:solidFill>
                <a:latin typeface="ui-monospace"/>
              </a:rPr>
              <a:t>合并：合并两个子序列并排序</a:t>
            </a:r>
            <a:endParaRPr lang="en-US" altLang="zh-CN" sz="1200" dirty="0">
              <a:solidFill>
                <a:schemeClr val="accent1"/>
              </a:solidFill>
              <a:latin typeface="ui-monospace"/>
            </a:endParaRPr>
          </a:p>
          <a:p>
            <a:r>
              <a:rPr lang="zh-CN" altLang="en-US" sz="1200" dirty="0">
                <a:solidFill>
                  <a:schemeClr val="accent1"/>
                </a:solidFill>
                <a:latin typeface="ui-monospace"/>
              </a:rPr>
              <a:t>最大子段和问题：</a:t>
            </a:r>
            <a:endParaRPr lang="en-US" altLang="zh-CN" sz="1200" dirty="0">
              <a:solidFill>
                <a:schemeClr val="accent1"/>
              </a:solidFill>
              <a:latin typeface="ui-monospace"/>
            </a:endParaRPr>
          </a:p>
          <a:p>
            <a:r>
              <a:rPr lang="zh-CN" altLang="en-US" sz="1200" dirty="0">
                <a:solidFill>
                  <a:schemeClr val="accent1"/>
                </a:solidFill>
                <a:latin typeface="ui-monospace"/>
              </a:rPr>
              <a:t>分成子段后三种情况</a:t>
            </a:r>
            <a:endParaRPr lang="en-US" altLang="zh-CN" sz="1200" dirty="0">
              <a:solidFill>
                <a:schemeClr val="accent1"/>
              </a:solidFill>
              <a:latin typeface="ui-monospace"/>
            </a:endParaRPr>
          </a:p>
          <a:p>
            <a:r>
              <a:rPr lang="en-US" altLang="zh-CN" sz="1200" dirty="0">
                <a:solidFill>
                  <a:schemeClr val="accent1"/>
                </a:solidFill>
                <a:latin typeface="ui-monospace"/>
              </a:rPr>
              <a:t>1.</a:t>
            </a:r>
            <a:r>
              <a:rPr lang="zh-CN" altLang="en-US" sz="1200" dirty="0">
                <a:solidFill>
                  <a:schemeClr val="accent1"/>
                </a:solidFill>
                <a:latin typeface="ui-monospace"/>
              </a:rPr>
              <a:t>和左子段的最大子段和相同</a:t>
            </a:r>
            <a:endParaRPr lang="en-US" altLang="zh-CN" sz="1200" dirty="0">
              <a:solidFill>
                <a:schemeClr val="accent1"/>
              </a:solidFill>
              <a:latin typeface="ui-monospace"/>
            </a:endParaRPr>
          </a:p>
          <a:p>
            <a:r>
              <a:rPr lang="en-US" altLang="zh-CN" sz="1200" dirty="0">
                <a:solidFill>
                  <a:schemeClr val="accent1"/>
                </a:solidFill>
                <a:latin typeface="ui-monospace"/>
              </a:rPr>
              <a:t>2.</a:t>
            </a:r>
            <a:r>
              <a:rPr lang="zh-CN" altLang="en-US" sz="1200" dirty="0">
                <a:solidFill>
                  <a:schemeClr val="accent1"/>
                </a:solidFill>
                <a:latin typeface="ui-monospace"/>
              </a:rPr>
              <a:t>和右子段的最大子段和相同</a:t>
            </a:r>
            <a:endParaRPr lang="en-US" altLang="zh-CN" sz="1200" dirty="0">
              <a:solidFill>
                <a:schemeClr val="accent1"/>
              </a:solidFill>
              <a:latin typeface="ui-monospace"/>
            </a:endParaRPr>
          </a:p>
          <a:p>
            <a:r>
              <a:rPr lang="en-US" altLang="zh-CN" sz="1200" dirty="0">
                <a:solidFill>
                  <a:schemeClr val="accent1"/>
                </a:solidFill>
                <a:latin typeface="ui-monospace"/>
              </a:rPr>
              <a:t>3.</a:t>
            </a:r>
            <a:r>
              <a:rPr lang="zh-CN" altLang="en-US" sz="1200" dirty="0">
                <a:solidFill>
                  <a:schemeClr val="accent1"/>
                </a:solidFill>
                <a:latin typeface="ui-monospace"/>
              </a:rPr>
              <a:t>跨区时为 左子段的右边界最大值</a:t>
            </a:r>
            <a:r>
              <a:rPr lang="en-US" altLang="zh-CN" sz="1200" dirty="0">
                <a:solidFill>
                  <a:schemeClr val="accent1"/>
                </a:solidFill>
                <a:latin typeface="ui-monospace"/>
              </a:rPr>
              <a:t>+</a:t>
            </a:r>
            <a:r>
              <a:rPr lang="zh-CN" altLang="en-US" sz="1200" dirty="0">
                <a:solidFill>
                  <a:schemeClr val="accent1"/>
                </a:solidFill>
                <a:latin typeface="ui-monospace"/>
              </a:rPr>
              <a:t>右子段的左边界最大值</a:t>
            </a:r>
            <a:endParaRPr lang="en-US" altLang="zh-CN" sz="1200" dirty="0">
              <a:solidFill>
                <a:schemeClr val="accent1"/>
              </a:solidFill>
              <a:latin typeface="ui-monospace"/>
            </a:endParaRPr>
          </a:p>
        </p:txBody>
      </p:sp>
      <p:sp>
        <p:nvSpPr>
          <p:cNvPr id="15" name="Rectangle: Rounded Corners 14">
            <a:extLst>
              <a:ext uri="{FF2B5EF4-FFF2-40B4-BE49-F238E27FC236}">
                <a16:creationId xmlns:a16="http://schemas.microsoft.com/office/drawing/2014/main" id="{5660616F-E133-6595-3582-6686FDB95747}"/>
              </a:ext>
            </a:extLst>
          </p:cNvPr>
          <p:cNvSpPr/>
          <p:nvPr/>
        </p:nvSpPr>
        <p:spPr>
          <a:xfrm>
            <a:off x="7760311" y="126807"/>
            <a:ext cx="4281571" cy="6629361"/>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US" sz="800" b="0" dirty="0">
                <a:solidFill>
                  <a:srgbClr val="569CD6"/>
                </a:solidFill>
                <a:effectLst/>
                <a:latin typeface="Consolas" panose="020B0609020204030204" pitchFamily="49" charset="0"/>
              </a:rPr>
              <a:t>const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solve</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arr</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=&gt;</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const</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temp</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 </a:t>
            </a:r>
            <a:r>
              <a:rPr lang="en-US" sz="800" b="0" dirty="0">
                <a:solidFill>
                  <a:srgbClr val="569CD6"/>
                </a:solidFill>
                <a:effectLst/>
                <a:latin typeface="Consolas" panose="020B0609020204030204" pitchFamily="49" charset="0"/>
              </a:rPr>
              <a:t>new</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Array</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arr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length</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function</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split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&gt;=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中点</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const</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mid</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Math</a:t>
            </a:r>
            <a:r>
              <a:rPr lang="en-US" sz="800" b="0" dirty="0" err="1">
                <a:solidFill>
                  <a:srgbClr val="D4D4D4"/>
                </a:solidFill>
                <a:effectLst/>
                <a:latin typeface="Consolas" panose="020B0609020204030204" pitchFamily="49" charset="0"/>
              </a:rPr>
              <a:t>.</a:t>
            </a:r>
            <a:r>
              <a:rPr lang="en-US" sz="800" b="0" dirty="0" err="1">
                <a:solidFill>
                  <a:srgbClr val="DCDCAA"/>
                </a:solidFill>
                <a:effectLst/>
                <a:latin typeface="Consolas" panose="020B0609020204030204" pitchFamily="49" charset="0"/>
              </a:rPr>
              <a:t>floor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2</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split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mid</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split</a:t>
            </a:r>
            <a:r>
              <a:rPr lang="en-US" sz="800" b="0" dirty="0">
                <a:solidFill>
                  <a:srgbClr val="D4D4D4"/>
                </a:solidFill>
                <a:effectLst/>
                <a:latin typeface="Consolas" panose="020B0609020204030204" pitchFamily="49" charset="0"/>
              </a:rPr>
              <a:t>(</a:t>
            </a:r>
            <a:r>
              <a:rPr lang="en-US" sz="800" b="0" dirty="0">
                <a:solidFill>
                  <a:srgbClr val="4FC1FF"/>
                </a:solidFill>
                <a:effectLst/>
                <a:latin typeface="Consolas" panose="020B0609020204030204" pitchFamily="49" charset="0"/>
              </a:rPr>
              <a:t>mid</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merge</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mid</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function</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merge</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mid</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 </a:t>
            </a:r>
            <a:r>
              <a:rPr lang="en-US" sz="800" b="0" dirty="0">
                <a:solidFill>
                  <a:srgbClr val="4EC9B0"/>
                </a:solidFill>
                <a:effectLst/>
                <a:latin typeface="Consolas" panose="020B0609020204030204" pitchFamily="49" charset="0"/>
              </a:rPr>
              <a:t>number</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en-US" sz="800" b="0" dirty="0" err="1">
                <a:solidFill>
                  <a:srgbClr val="6A9955"/>
                </a:solidFill>
                <a:effectLst/>
                <a:latin typeface="Consolas" panose="020B0609020204030204" pitchFamily="49" charset="0"/>
              </a:rPr>
              <a:t>i</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指向左半部分的起点，</a:t>
            </a:r>
            <a:r>
              <a:rPr lang="en-US" sz="800" b="0" dirty="0">
                <a:solidFill>
                  <a:srgbClr val="6A9955"/>
                </a:solidFill>
                <a:effectLst/>
                <a:latin typeface="Consolas" panose="020B0609020204030204" pitchFamily="49" charset="0"/>
              </a:rPr>
              <a:t>j </a:t>
            </a:r>
            <a:r>
              <a:rPr lang="zh-CN" altLang="en-US" sz="800" b="0" dirty="0">
                <a:solidFill>
                  <a:srgbClr val="6A9955"/>
                </a:solidFill>
                <a:effectLst/>
                <a:latin typeface="Consolas" panose="020B0609020204030204" pitchFamily="49" charset="0"/>
              </a:rPr>
              <a:t>指向右半部分的起点</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let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mid</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k </a:t>
            </a:r>
            <a:r>
              <a:rPr lang="zh-CN" altLang="en-US" sz="800" b="0" dirty="0">
                <a:solidFill>
                  <a:srgbClr val="6A9955"/>
                </a:solidFill>
                <a:effectLst/>
                <a:latin typeface="Consolas" panose="020B0609020204030204" pitchFamily="49" charset="0"/>
              </a:rPr>
              <a:t>指向临时缓冲区的当前写入位置（从 </a:t>
            </a:r>
            <a:r>
              <a:rPr lang="en-US" altLang="zh-CN" sz="800" b="0" dirty="0">
                <a:solidFill>
                  <a:srgbClr val="6A9955"/>
                </a:solidFill>
                <a:effectLst/>
                <a:latin typeface="Consolas" panose="020B0609020204030204" pitchFamily="49" charset="0"/>
              </a:rPr>
              <a:t>0 </a:t>
            </a:r>
            <a:r>
              <a:rPr lang="zh-CN" altLang="en-US" sz="800" b="0" dirty="0">
                <a:solidFill>
                  <a:srgbClr val="6A9955"/>
                </a:solidFill>
                <a:effectLst/>
                <a:latin typeface="Consolas" panose="020B0609020204030204" pitchFamily="49" charset="0"/>
              </a:rPr>
              <a:t>开始）</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let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k</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同步扫描两边，把更小（或相等时取左边，保证稳定）的元素放入 </a:t>
            </a:r>
            <a:r>
              <a:rPr lang="en-US" sz="800" b="0" dirty="0">
                <a:solidFill>
                  <a:srgbClr val="6A9955"/>
                </a:solidFill>
                <a:effectLst/>
                <a:latin typeface="Consolas" panose="020B0609020204030204" pitchFamily="49" charset="0"/>
              </a:rPr>
              <a:t>temp</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while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mid</a:t>
            </a:r>
            <a:r>
              <a:rPr lang="en-US" sz="800" b="0" dirty="0">
                <a:solidFill>
                  <a:srgbClr val="D4D4D4"/>
                </a:solidFill>
                <a:effectLst/>
                <a:latin typeface="Consolas" panose="020B0609020204030204" pitchFamily="49" charset="0"/>
              </a:rPr>
              <a:t> &amp;&amp;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使用 </a:t>
            </a:r>
            <a:r>
              <a:rPr lang="en-US" altLang="zh-CN" sz="800" b="0" dirty="0">
                <a:solidFill>
                  <a:srgbClr val="6A9955"/>
                </a:solidFill>
                <a:effectLst/>
                <a:latin typeface="Consolas" panose="020B0609020204030204" pitchFamily="49" charset="0"/>
              </a:rPr>
              <a:t>&lt;=</a:t>
            </a:r>
            <a:r>
              <a:rPr lang="zh-CN" altLang="en-US" sz="800" b="0" dirty="0">
                <a:solidFill>
                  <a:srgbClr val="6A9955"/>
                </a:solidFill>
                <a:effectLst/>
                <a:latin typeface="Consolas" panose="020B0609020204030204" pitchFamily="49" charset="0"/>
              </a:rPr>
              <a:t>：相等时优先取左边，保持相对顺序 </a:t>
            </a:r>
            <a:r>
              <a:rPr lang="en-US" altLang="zh-CN" sz="800" b="0" dirty="0">
                <a:solidFill>
                  <a:srgbClr val="6A9955"/>
                </a:solidFill>
                <a:effectLst/>
                <a:latin typeface="Consolas" panose="020B0609020204030204" pitchFamily="49" charset="0"/>
              </a:rPr>
              <a:t>=&gt; </a:t>
            </a:r>
            <a:r>
              <a:rPr lang="zh-CN" altLang="en-US" sz="800" b="0" dirty="0">
                <a:solidFill>
                  <a:srgbClr val="6A9955"/>
                </a:solidFill>
                <a:effectLst/>
                <a:latin typeface="Consolas" panose="020B0609020204030204" pitchFamily="49" charset="0"/>
              </a:rPr>
              <a:t>稳定排序</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arr</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err="1">
                <a:solidFill>
                  <a:srgbClr val="9CDCFE"/>
                </a:solidFill>
                <a:effectLst/>
                <a:latin typeface="Consolas" panose="020B0609020204030204" pitchFamily="49" charset="0"/>
              </a:rPr>
              <a:t>arr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temp</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k</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arr</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 </a:t>
            </a:r>
            <a:r>
              <a:rPr lang="en-US" sz="800" b="0" dirty="0">
                <a:solidFill>
                  <a:srgbClr val="C586C0"/>
                </a:solidFill>
                <a:effectLst/>
                <a:latin typeface="Consolas" panose="020B0609020204030204" pitchFamily="49" charset="0"/>
              </a:rPr>
              <a:t>else</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temp</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k</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arr</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j</a:t>
            </a:r>
            <a:r>
              <a:rPr lang="en-US" sz="800" b="0" dirty="0" err="1">
                <a:solidFill>
                  <a:srgbClr val="D4D4D4"/>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将左半剩余元素拷贝到 </a:t>
            </a:r>
            <a:r>
              <a:rPr lang="en-US" sz="800" b="0" dirty="0">
                <a:solidFill>
                  <a:srgbClr val="6A9955"/>
                </a:solidFill>
                <a:effectLst/>
                <a:latin typeface="Consolas" panose="020B0609020204030204" pitchFamily="49" charset="0"/>
              </a:rPr>
              <a:t>temp</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while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mid</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temp</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k</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arr</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将右半剩余元素拷贝到 </a:t>
            </a:r>
            <a:r>
              <a:rPr lang="en-US" sz="800" b="0" dirty="0">
                <a:solidFill>
                  <a:srgbClr val="6A9955"/>
                </a:solidFill>
                <a:effectLst/>
                <a:latin typeface="Consolas" panose="020B0609020204030204" pitchFamily="49" charset="0"/>
              </a:rPr>
              <a:t>temp</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while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 </a:t>
            </a:r>
            <a:r>
              <a:rPr lang="en-US" sz="800" b="0" dirty="0">
                <a:solidFill>
                  <a:srgbClr val="4FC1FF"/>
                </a:solidFill>
                <a:effectLst/>
                <a:latin typeface="Consolas" panose="020B0609020204030204" pitchFamily="49" charset="0"/>
              </a:rPr>
              <a:t>temp</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k</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arr</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j</a:t>
            </a:r>
            <a:r>
              <a:rPr lang="en-US" sz="800" b="0" dirty="0" err="1">
                <a:solidFill>
                  <a:srgbClr val="D4D4D4"/>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将 </a:t>
            </a:r>
            <a:r>
              <a:rPr lang="en-US" sz="800" b="0" dirty="0">
                <a:solidFill>
                  <a:srgbClr val="6A9955"/>
                </a:solidFill>
                <a:effectLst/>
                <a:latin typeface="Consolas" panose="020B0609020204030204" pitchFamily="49" charset="0"/>
              </a:rPr>
              <a:t>temp </a:t>
            </a:r>
            <a:r>
              <a:rPr lang="zh-CN" altLang="en-US" sz="800" b="0" dirty="0">
                <a:solidFill>
                  <a:srgbClr val="6A9955"/>
                </a:solidFill>
                <a:effectLst/>
                <a:latin typeface="Consolas" panose="020B0609020204030204" pitchFamily="49" charset="0"/>
              </a:rPr>
              <a:t>中合并好的有序结果写回原数组对应区间</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let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t</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t</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k</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t</a:t>
            </a: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t</a:t>
            </a:r>
            <a:r>
              <a:rPr lang="en-US" sz="800" b="0" dirty="0">
                <a:solidFill>
                  <a:srgbClr val="D4D4D4"/>
                </a:solidFill>
                <a:effectLst/>
                <a:latin typeface="Consolas" panose="020B0609020204030204" pitchFamily="49" charset="0"/>
              </a:rPr>
              <a:t>] = </a:t>
            </a:r>
            <a:r>
              <a:rPr lang="en-US" sz="800" b="0" dirty="0">
                <a:solidFill>
                  <a:srgbClr val="4FC1FF"/>
                </a:solidFill>
                <a:effectLst/>
                <a:latin typeface="Consolas" panose="020B0609020204030204" pitchFamily="49" charset="0"/>
              </a:rPr>
              <a:t>temp</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length</a:t>
            </a:r>
            <a:r>
              <a:rPr lang="en-US" sz="800" b="0" dirty="0">
                <a:solidFill>
                  <a:srgbClr val="D4D4D4"/>
                </a:solidFill>
                <a:effectLst/>
                <a:latin typeface="Consolas" panose="020B0609020204030204" pitchFamily="49" charset="0"/>
              </a:rPr>
              <a:t> &lt;=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arr</a:t>
            </a:r>
            <a:r>
              <a:rPr lang="en-US" sz="800" b="0" dirty="0">
                <a:solidFill>
                  <a:srgbClr val="D4D4D4"/>
                </a:solidFill>
                <a:effectLst/>
                <a:latin typeface="Consolas" panose="020B0609020204030204" pitchFamily="49" charset="0"/>
              </a:rPr>
              <a:t>;</a:t>
            </a: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split</a:t>
            </a:r>
            <a:r>
              <a:rPr lang="en-US" sz="800" b="0" dirty="0">
                <a:solidFill>
                  <a:srgbClr val="D4D4D4"/>
                </a:solidFill>
                <a:effectLst/>
                <a:latin typeface="Consolas" panose="020B0609020204030204" pitchFamily="49" charset="0"/>
              </a:rPr>
              <a:t>(</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arr</a:t>
            </a:r>
            <a:r>
              <a:rPr lang="en-US" sz="800" b="0" dirty="0" err="1">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length</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arr</a:t>
            </a:r>
            <a:endParaRPr lang="en-US" sz="800" b="0" dirty="0">
              <a:solidFill>
                <a:srgbClr val="D4D4D4"/>
              </a:solidFill>
              <a:effectLst/>
              <a:latin typeface="Consolas" panose="020B0609020204030204" pitchFamily="49" charset="0"/>
            </a:endParaRPr>
          </a:p>
          <a:p>
            <a:pPr>
              <a:lnSpc>
                <a:spcPts val="1425"/>
              </a:lnSpc>
            </a:pPr>
            <a:r>
              <a:rPr lang="en-US" sz="8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7582249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0766E-BEDF-0091-393F-A5489EBD76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59C38F3-4E21-D659-9DC4-A9500B359B36}"/>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6A2D360B-8035-BFA1-7F1B-B701F46A8C23}"/>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24731A8-7DDC-2C38-58E6-70FC117BF0BF}"/>
              </a:ext>
            </a:extLst>
          </p:cNvPr>
          <p:cNvSpPr txBox="1"/>
          <p:nvPr/>
        </p:nvSpPr>
        <p:spPr>
          <a:xfrm>
            <a:off x="0" y="959472"/>
            <a:ext cx="2986206" cy="34163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算法</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回溯法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分治法</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动态规划</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贪心法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32A95869-F2FE-1B9B-B59C-60B7DC10898D}"/>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6755E092-6C95-95C8-3608-89F1292EBFB4}"/>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 name="Rectangle: Rounded Corners 10">
            <a:extLst>
              <a:ext uri="{FF2B5EF4-FFF2-40B4-BE49-F238E27FC236}">
                <a16:creationId xmlns:a16="http://schemas.microsoft.com/office/drawing/2014/main" id="{F70D0ABF-91AF-6D47-405C-3479172368BD}"/>
              </a:ext>
            </a:extLst>
          </p:cNvPr>
          <p:cNvSpPr/>
          <p:nvPr/>
        </p:nvSpPr>
        <p:spPr>
          <a:xfrm>
            <a:off x="3134118" y="104812"/>
            <a:ext cx="4281571" cy="6629361"/>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US" sz="800" b="0" dirty="0">
                <a:solidFill>
                  <a:srgbClr val="C586C0"/>
                </a:solidFill>
                <a:effectLst/>
                <a:latin typeface="Consolas" panose="020B0609020204030204" pitchFamily="49" charset="0"/>
              </a:rPr>
              <a:t>#include</a:t>
            </a:r>
            <a:r>
              <a:rPr lang="en-US" sz="800" b="0" dirty="0">
                <a:solidFill>
                  <a:srgbClr val="569CD6"/>
                </a:solidFill>
                <a:effectLst/>
                <a:latin typeface="Consolas" panose="020B0609020204030204" pitchFamily="49" charset="0"/>
              </a:rPr>
              <a:t> </a:t>
            </a:r>
            <a:r>
              <a:rPr lang="en-US" sz="800" b="0" dirty="0">
                <a:solidFill>
                  <a:srgbClr val="CE9178"/>
                </a:solidFill>
                <a:effectLst/>
                <a:latin typeface="Consolas" panose="020B0609020204030204" pitchFamily="49" charset="0"/>
              </a:rPr>
              <a:t>&lt;</a:t>
            </a:r>
            <a:r>
              <a:rPr lang="en-US" sz="800" b="0" dirty="0" err="1">
                <a:solidFill>
                  <a:srgbClr val="CE9178"/>
                </a:solidFill>
                <a:effectLst/>
                <a:latin typeface="Consolas" panose="020B0609020204030204" pitchFamily="49" charset="0"/>
              </a:rPr>
              <a:t>climits</a:t>
            </a:r>
            <a:r>
              <a:rPr lang="en-US" sz="800" b="0" dirty="0">
                <a:solidFill>
                  <a:srgbClr val="CE9178"/>
                </a:solidFill>
                <a:effectLst/>
                <a:latin typeface="Consolas" panose="020B0609020204030204" pitchFamily="49" charset="0"/>
              </a:rPr>
              <a:t>&gt;</a:t>
            </a:r>
            <a:br>
              <a:rPr lang="en-US" sz="800" b="0" dirty="0">
                <a:solidFill>
                  <a:srgbClr val="D4D4D4"/>
                </a:solidFill>
                <a:effectLst/>
                <a:latin typeface="Consolas" panose="020B0609020204030204" pitchFamily="49" charset="0"/>
              </a:rPr>
            </a:br>
            <a:r>
              <a:rPr lang="en-US" sz="800" b="0" dirty="0">
                <a:solidFill>
                  <a:srgbClr val="569CD6"/>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MergeSort</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a:t>
            </a:r>
            <a:r>
              <a:rPr lang="en-US" sz="800" b="0" dirty="0">
                <a:solidFill>
                  <a:srgbClr val="569CD6"/>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r</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p</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2</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MergeSort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MergeSort</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Merge</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569CD6"/>
                </a:solidFill>
                <a:effectLst/>
                <a:latin typeface="Consolas" panose="020B0609020204030204" pitchFamily="49" charset="0"/>
              </a:rPr>
              <a:t>void</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Merge</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a:t>
            </a:r>
            <a:r>
              <a:rPr lang="en-US" sz="800" b="0" dirty="0">
                <a:solidFill>
                  <a:srgbClr val="569CD6"/>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p</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n1</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p</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n2</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左右长度</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k</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a:t>
            </a:r>
            <a:r>
              <a:rPr lang="en-US" sz="800" b="0" dirty="0">
                <a:solidFill>
                  <a:srgbClr val="D4D4D4"/>
                </a:solidFill>
                <a:effectLst/>
                <a:latin typeface="Consolas" panose="020B0609020204030204" pitchFamily="49" charset="0"/>
              </a:rPr>
              <a:t>[</a:t>
            </a:r>
            <a:r>
              <a:rPr lang="en-US" sz="800" b="0" dirty="0">
                <a:solidFill>
                  <a:srgbClr val="B5CEA8"/>
                </a:solidFill>
                <a:effectLst/>
                <a:latin typeface="Consolas" panose="020B0609020204030204" pitchFamily="49" charset="0"/>
              </a:rPr>
              <a:t>50</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a:t>
            </a:r>
            <a:r>
              <a:rPr lang="en-US" sz="800" b="0" dirty="0">
                <a:solidFill>
                  <a:srgbClr val="D4D4D4"/>
                </a:solidFill>
                <a:effectLst/>
                <a:latin typeface="Consolas" panose="020B0609020204030204" pitchFamily="49" charset="0"/>
              </a:rPr>
              <a:t>[</a:t>
            </a:r>
            <a:r>
              <a:rPr lang="en-US" sz="800" b="0" dirty="0">
                <a:solidFill>
                  <a:srgbClr val="B5CEA8"/>
                </a:solidFill>
                <a:effectLst/>
                <a:latin typeface="Consolas" panose="020B0609020204030204" pitchFamily="49" charset="0"/>
              </a:rPr>
              <a:t>50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n1</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放入左数组</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p</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n2</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j</a:t>
            </a:r>
            <a:r>
              <a:rPr lang="en-US" sz="800" b="0" dirty="0" err="1">
                <a:solidFill>
                  <a:srgbClr val="D4D4D4"/>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放入右数组</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q</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n1</a:t>
            </a:r>
            <a:r>
              <a:rPr lang="en-US" sz="800" b="0" dirty="0">
                <a:solidFill>
                  <a:srgbClr val="D4D4D4"/>
                </a:solidFill>
                <a:effectLst/>
                <a:latin typeface="Consolas" panose="020B0609020204030204" pitchFamily="49" charset="0"/>
              </a:rPr>
              <a:t>] = </a:t>
            </a:r>
            <a:r>
              <a:rPr lang="en-US" sz="800" b="0" dirty="0">
                <a:solidFill>
                  <a:srgbClr val="569CD6"/>
                </a:solidFill>
                <a:effectLst/>
                <a:latin typeface="Consolas" panose="020B0609020204030204" pitchFamily="49" charset="0"/>
              </a:rPr>
              <a:t>INT_MAX</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n2</a:t>
            </a:r>
            <a:r>
              <a:rPr lang="en-US" sz="800" b="0" dirty="0">
                <a:solidFill>
                  <a:srgbClr val="D4D4D4"/>
                </a:solidFill>
                <a:effectLst/>
                <a:latin typeface="Consolas" panose="020B0609020204030204" pitchFamily="49" charset="0"/>
              </a:rPr>
              <a:t>] = </a:t>
            </a:r>
            <a:r>
              <a:rPr lang="en-US" sz="800" b="0" dirty="0">
                <a:solidFill>
                  <a:srgbClr val="569CD6"/>
                </a:solidFill>
                <a:effectLst/>
                <a:latin typeface="Consolas" panose="020B0609020204030204" pitchFamily="49" charset="0"/>
              </a:rPr>
              <a:t>INT_MAX</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将数组的边界值赋值为最大值</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k</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p</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k</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r</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k</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往原数组依次放数</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p>
          <a:p>
            <a:pPr>
              <a:lnSpc>
                <a:spcPts val="1425"/>
              </a:lnSpc>
              <a:buNone/>
            </a:pPr>
            <a:r>
              <a:rPr lang="en-US" altLang="zh-CN"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左边小</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p>
          <a:p>
            <a:pPr>
              <a:lnSpc>
                <a:spcPts val="1425"/>
              </a:lnSpc>
              <a:buNone/>
            </a:pPr>
            <a:r>
              <a:rPr lang="en-US" altLang="zh-CN"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k</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L</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else</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右边小</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p>
          <a:p>
            <a:pPr>
              <a:lnSpc>
                <a:spcPts val="1425"/>
              </a:lnSpc>
              <a:buNone/>
            </a:pPr>
            <a:r>
              <a:rPr lang="en-US" altLang="zh-CN"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k</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j</a:t>
            </a:r>
            <a:r>
              <a:rPr lang="en-US" sz="800" b="0" dirty="0" err="1">
                <a:solidFill>
                  <a:srgbClr val="D4D4D4"/>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pPr>
            <a:r>
              <a:rPr lang="en-US" sz="800" b="0" dirty="0">
                <a:solidFill>
                  <a:srgbClr val="D4D4D4"/>
                </a:solidFill>
                <a:effectLst/>
                <a:latin typeface="Consolas" panose="020B0609020204030204" pitchFamily="49" charset="0"/>
              </a:rPr>
              <a:t>}</a:t>
            </a:r>
          </a:p>
        </p:txBody>
      </p:sp>
      <p:sp>
        <p:nvSpPr>
          <p:cNvPr id="13" name="Rectangle: Rounded Corners 12">
            <a:extLst>
              <a:ext uri="{FF2B5EF4-FFF2-40B4-BE49-F238E27FC236}">
                <a16:creationId xmlns:a16="http://schemas.microsoft.com/office/drawing/2014/main" id="{039D5CA5-2111-5075-F58C-4F75A3993002}"/>
              </a:ext>
            </a:extLst>
          </p:cNvPr>
          <p:cNvSpPr/>
          <p:nvPr/>
        </p:nvSpPr>
        <p:spPr>
          <a:xfrm>
            <a:off x="7753662" y="104811"/>
            <a:ext cx="4281571" cy="6629361"/>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MaxSubSum</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Array</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sum</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Array</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&gt;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sum</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Array</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else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sum</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else</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center</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2</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leftsum</a:t>
            </a:r>
            <a:r>
              <a:rPr lang="en-US" sz="800" b="0" dirty="0">
                <a:solidFill>
                  <a:srgbClr val="D4D4D4"/>
                </a:solidFill>
                <a:effectLst/>
                <a:latin typeface="Consolas" panose="020B0609020204030204" pitchFamily="49" charset="0"/>
              </a:rPr>
              <a:t> = </a:t>
            </a:r>
            <a:r>
              <a:rPr lang="en-US" sz="800" b="0" dirty="0" err="1">
                <a:solidFill>
                  <a:srgbClr val="DCDCAA"/>
                </a:solidFill>
                <a:effectLst/>
                <a:latin typeface="Consolas" panose="020B0609020204030204" pitchFamily="49" charset="0"/>
              </a:rPr>
              <a:t>MaxSubSum</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Array</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center</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rightsum</a:t>
            </a:r>
            <a:r>
              <a:rPr lang="en-US" sz="800" b="0" dirty="0">
                <a:solidFill>
                  <a:srgbClr val="D4D4D4"/>
                </a:solidFill>
                <a:effectLst/>
                <a:latin typeface="Consolas" panose="020B0609020204030204" pitchFamily="49" charset="0"/>
              </a:rPr>
              <a:t> = </a:t>
            </a:r>
            <a:r>
              <a:rPr lang="en-US" sz="800" b="0" dirty="0" err="1">
                <a:solidFill>
                  <a:srgbClr val="DCDCAA"/>
                </a:solidFill>
                <a:effectLst/>
                <a:latin typeface="Consolas" panose="020B0609020204030204" pitchFamily="49" charset="0"/>
              </a:rPr>
              <a:t>MaxSubSum</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Array</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center</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跨区时</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s1</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lefts</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center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&gt;=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lefts</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lefts</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Array</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lefts</a:t>
            </a:r>
            <a:r>
              <a:rPr lang="en-US" sz="800" b="0" dirty="0">
                <a:solidFill>
                  <a:srgbClr val="D4D4D4"/>
                </a:solidFill>
                <a:effectLst/>
                <a:latin typeface="Consolas" panose="020B0609020204030204" pitchFamily="49" charset="0"/>
              </a:rPr>
              <a:t> &gt; </a:t>
            </a:r>
            <a:r>
              <a:rPr lang="en-US" sz="800" b="0" dirty="0">
                <a:solidFill>
                  <a:srgbClr val="9CDCFE"/>
                </a:solidFill>
                <a:effectLst/>
                <a:latin typeface="Consolas" panose="020B0609020204030204" pitchFamily="49" charset="0"/>
              </a:rPr>
              <a:t>s1</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s1</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lefts</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s2</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rights</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center</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rights</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rights</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Array</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rights</a:t>
            </a:r>
            <a:r>
              <a:rPr lang="en-US" sz="800" b="0" dirty="0">
                <a:solidFill>
                  <a:srgbClr val="D4D4D4"/>
                </a:solidFill>
                <a:effectLst/>
                <a:latin typeface="Consolas" panose="020B0609020204030204" pitchFamily="49" charset="0"/>
              </a:rPr>
              <a:t> &gt; </a:t>
            </a:r>
            <a:r>
              <a:rPr lang="en-US" sz="800" b="0" dirty="0">
                <a:solidFill>
                  <a:srgbClr val="9CDCFE"/>
                </a:solidFill>
                <a:effectLst/>
                <a:latin typeface="Consolas" panose="020B0609020204030204" pitchFamily="49" charset="0"/>
              </a:rPr>
              <a:t>s2</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s2</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rights</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sum</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s1</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s2</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求最大值</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sum</a:t>
            </a:r>
            <a:r>
              <a:rPr lang="en-US" sz="800" b="0" dirty="0">
                <a:solidFill>
                  <a:srgbClr val="D4D4D4"/>
                </a:solidFill>
                <a:effectLst/>
                <a:latin typeface="Consolas" panose="020B0609020204030204" pitchFamily="49" charset="0"/>
              </a:rPr>
              <a:t> &lt; </a:t>
            </a:r>
            <a:r>
              <a:rPr lang="en-US" sz="800" b="0" dirty="0" err="1">
                <a:solidFill>
                  <a:srgbClr val="9CDCFE"/>
                </a:solidFill>
                <a:effectLst/>
                <a:latin typeface="Consolas" panose="020B0609020204030204" pitchFamily="49" charset="0"/>
              </a:rPr>
              <a:t>leftsum</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sum</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leftsum</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sum</a:t>
            </a:r>
            <a:r>
              <a:rPr lang="en-US" sz="800" b="0" dirty="0">
                <a:solidFill>
                  <a:srgbClr val="D4D4D4"/>
                </a:solidFill>
                <a:effectLst/>
                <a:latin typeface="Consolas" panose="020B0609020204030204" pitchFamily="49" charset="0"/>
              </a:rPr>
              <a:t> &lt; </a:t>
            </a:r>
            <a:r>
              <a:rPr lang="en-US" sz="800" b="0" dirty="0" err="1">
                <a:solidFill>
                  <a:srgbClr val="9CDCFE"/>
                </a:solidFill>
                <a:effectLst/>
                <a:latin typeface="Consolas" panose="020B0609020204030204" pitchFamily="49" charset="0"/>
              </a:rPr>
              <a:t>rightsum</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sum</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rightsum</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sum</a:t>
            </a:r>
            <a:r>
              <a:rPr lang="en-US" sz="800" b="0" dirty="0">
                <a:solidFill>
                  <a:srgbClr val="D4D4D4"/>
                </a:solidFill>
                <a:effectLst/>
                <a:latin typeface="Consolas" panose="020B0609020204030204" pitchFamily="49" charset="0"/>
              </a:rPr>
              <a:t>;</a:t>
            </a:r>
          </a:p>
          <a:p>
            <a:pPr>
              <a:lnSpc>
                <a:spcPts val="1425"/>
              </a:lnSpc>
            </a:pPr>
            <a:r>
              <a:rPr lang="en-US" sz="8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0719405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DEC79-4FF3-82D4-6DE2-FBE7F7D51FD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A4172B8-0326-250A-CCE7-FBA48FD66F91}"/>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BE88E044-5751-6DCE-5185-CA489F35A438}"/>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7CE47E7-A0FE-C7D2-99DF-5BA5A89698AD}"/>
              </a:ext>
            </a:extLst>
          </p:cNvPr>
          <p:cNvSpPr txBox="1"/>
          <p:nvPr/>
        </p:nvSpPr>
        <p:spPr>
          <a:xfrm>
            <a:off x="0" y="959472"/>
            <a:ext cx="2986206" cy="34163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算法</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回溯法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分治法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动态规划</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贪心法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44687A75-752F-CC05-ED62-5D2292ED1FBF}"/>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53C3F960-125C-5CCD-88A1-9068C064FD0C}"/>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4" name="Group 25">
            <a:extLst>
              <a:ext uri="{FF2B5EF4-FFF2-40B4-BE49-F238E27FC236}">
                <a16:creationId xmlns:a16="http://schemas.microsoft.com/office/drawing/2014/main" id="{B90416C4-C786-8A1E-5A18-D10C55E948F2}"/>
              </a:ext>
            </a:extLst>
          </p:cNvPr>
          <p:cNvGrpSpPr/>
          <p:nvPr/>
        </p:nvGrpSpPr>
        <p:grpSpPr>
          <a:xfrm>
            <a:off x="3097887" y="76666"/>
            <a:ext cx="4386653" cy="6850903"/>
            <a:chOff x="7614613" y="5950488"/>
            <a:chExt cx="4386653" cy="6850903"/>
          </a:xfrm>
        </p:grpSpPr>
        <p:sp>
          <p:nvSpPr>
            <p:cNvPr id="5" name="Rectangle: Rounded Corners 35">
              <a:extLst>
                <a:ext uri="{FF2B5EF4-FFF2-40B4-BE49-F238E27FC236}">
                  <a16:creationId xmlns:a16="http://schemas.microsoft.com/office/drawing/2014/main" id="{B52FE3DC-9684-4A8F-3E70-595E20D6DFB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▶动态规划</a:t>
              </a:r>
            </a:p>
          </p:txBody>
        </p:sp>
        <mc:AlternateContent xmlns:mc="http://schemas.openxmlformats.org/markup-compatibility/2006" xmlns:a14="http://schemas.microsoft.com/office/drawing/2010/main">
          <mc:Choice Requires="a14">
            <p:sp>
              <p:nvSpPr>
                <p:cNvPr id="8" name="TextBox 36">
                  <a:extLst>
                    <a:ext uri="{FF2B5EF4-FFF2-40B4-BE49-F238E27FC236}">
                      <a16:creationId xmlns:a16="http://schemas.microsoft.com/office/drawing/2014/main" id="{34626145-7AEE-55B6-A78C-9797B608488A}"/>
                    </a:ext>
                  </a:extLst>
                </p:cNvPr>
                <p:cNvSpPr txBox="1"/>
                <p:nvPr/>
              </p:nvSpPr>
              <p:spPr>
                <a:xfrm>
                  <a:off x="7667294" y="6245750"/>
                  <a:ext cx="4281578" cy="6555641"/>
                </a:xfrm>
                <a:prstGeom prst="rect">
                  <a:avLst/>
                </a:prstGeom>
                <a:noFill/>
              </p:spPr>
              <p:txBody>
                <a:bodyPr wrap="square">
                  <a:spAutoFit/>
                </a:bodyPr>
                <a:lstStyle/>
                <a:p>
                  <a:r>
                    <a:rPr lang="zh-CN" altLang="en-US" sz="1200" dirty="0">
                      <a:solidFill>
                        <a:schemeClr val="accent1"/>
                      </a:solidFill>
                      <a:latin typeface="ui-monospace"/>
                    </a:rPr>
                    <a:t>通过解决并不相互独立的不全都相同的子问题找到问题的最优解，然后将子问题的解合并起来得到原问题的最优解。通常用于求解具有</a:t>
                  </a:r>
                  <a:r>
                    <a:rPr lang="zh-CN" altLang="en-US" sz="1200" b="1" dirty="0">
                      <a:solidFill>
                        <a:schemeClr val="accent1"/>
                      </a:solidFill>
                      <a:latin typeface="ui-monospace"/>
                    </a:rPr>
                    <a:t>重叠子问题</a:t>
                  </a:r>
                  <a:r>
                    <a:rPr lang="zh-CN" altLang="en-US" sz="1200" dirty="0">
                      <a:solidFill>
                        <a:schemeClr val="accent1"/>
                      </a:solidFill>
                      <a:latin typeface="ui-monospace"/>
                    </a:rPr>
                    <a:t>和</a:t>
                  </a:r>
                  <a:r>
                    <a:rPr lang="zh-CN" altLang="en-US" sz="1200" b="1" dirty="0">
                      <a:solidFill>
                        <a:schemeClr val="accent1"/>
                      </a:solidFill>
                      <a:latin typeface="ui-monospace"/>
                    </a:rPr>
                    <a:t>最优子结构</a:t>
                  </a:r>
                  <a:r>
                    <a:rPr lang="zh-CN" altLang="en-US" sz="1200" dirty="0">
                      <a:solidFill>
                        <a:schemeClr val="accent1"/>
                      </a:solidFill>
                      <a:latin typeface="ui-monospace"/>
                    </a:rPr>
                    <a:t>性质的问题。</a:t>
                  </a:r>
                  <a:endParaRPr lang="en-US" altLang="zh-CN" sz="1200" dirty="0">
                    <a:solidFill>
                      <a:schemeClr val="accent1"/>
                    </a:solidFill>
                    <a:latin typeface="ui-monospace"/>
                  </a:endParaRPr>
                </a:p>
                <a:p>
                  <a:r>
                    <a:rPr lang="en-US" altLang="zh-CN" sz="1200" dirty="0">
                      <a:solidFill>
                        <a:schemeClr val="accent1"/>
                      </a:solidFill>
                      <a:latin typeface="ui-monospace"/>
                    </a:rPr>
                    <a:t>1.</a:t>
                  </a:r>
                  <a:r>
                    <a:rPr lang="zh-CN" altLang="en-US" sz="1200" dirty="0">
                      <a:solidFill>
                        <a:schemeClr val="accent1"/>
                      </a:solidFill>
                      <a:latin typeface="ui-monospace"/>
                    </a:rPr>
                    <a:t>找出最优解的性质</a:t>
                  </a:r>
                  <a:endParaRPr lang="en-US" altLang="zh-CN" sz="1200" dirty="0">
                    <a:solidFill>
                      <a:schemeClr val="accent1"/>
                    </a:solidFill>
                    <a:latin typeface="ui-monospace"/>
                  </a:endParaRPr>
                </a:p>
                <a:p>
                  <a:r>
                    <a:rPr lang="en-US" altLang="zh-CN" sz="1200" dirty="0">
                      <a:solidFill>
                        <a:schemeClr val="accent1"/>
                      </a:solidFill>
                      <a:latin typeface="ui-monospace"/>
                    </a:rPr>
                    <a:t>2.</a:t>
                  </a:r>
                  <a:r>
                    <a:rPr lang="zh-CN" altLang="en-US" sz="1200" dirty="0">
                      <a:solidFill>
                        <a:schemeClr val="accent1"/>
                      </a:solidFill>
                      <a:latin typeface="ui-monospace"/>
                    </a:rPr>
                    <a:t>递归地定义最优解的值</a:t>
                  </a:r>
                  <a:endParaRPr lang="en-US" altLang="zh-CN" sz="1200" dirty="0">
                    <a:solidFill>
                      <a:schemeClr val="accent1"/>
                    </a:solidFill>
                    <a:latin typeface="ui-monospace"/>
                  </a:endParaRPr>
                </a:p>
                <a:p>
                  <a:r>
                    <a:rPr lang="en-US" altLang="zh-CN" sz="1200" dirty="0">
                      <a:solidFill>
                        <a:schemeClr val="accent1"/>
                      </a:solidFill>
                      <a:latin typeface="ui-monospace"/>
                    </a:rPr>
                    <a:t>3.</a:t>
                  </a:r>
                  <a:r>
                    <a:rPr lang="zh-CN" altLang="en-US" sz="1200" dirty="0">
                      <a:solidFill>
                        <a:schemeClr val="accent1"/>
                      </a:solidFill>
                      <a:latin typeface="ui-monospace"/>
                    </a:rPr>
                    <a:t>自底向上计算出最优值</a:t>
                  </a:r>
                  <a:endParaRPr lang="en-US" altLang="zh-CN" sz="1200" dirty="0">
                    <a:solidFill>
                      <a:schemeClr val="accent1"/>
                    </a:solidFill>
                    <a:latin typeface="ui-monospace"/>
                  </a:endParaRPr>
                </a:p>
                <a:p>
                  <a:r>
                    <a:rPr lang="en-US" altLang="zh-CN" sz="1200" dirty="0">
                      <a:solidFill>
                        <a:schemeClr val="accent1"/>
                      </a:solidFill>
                      <a:latin typeface="ui-monospace"/>
                    </a:rPr>
                    <a:t>4.</a:t>
                  </a:r>
                  <a:r>
                    <a:rPr lang="zh-CN" altLang="en-US" sz="1200" dirty="0">
                      <a:solidFill>
                        <a:schemeClr val="accent1"/>
                      </a:solidFill>
                      <a:latin typeface="ui-monospace"/>
                    </a:rPr>
                    <a:t>构造最优解</a:t>
                  </a:r>
                  <a:endParaRPr lang="en-US" altLang="zh-CN" sz="1200" dirty="0">
                    <a:solidFill>
                      <a:schemeClr val="accent1"/>
                    </a:solidFill>
                    <a:latin typeface="ui-monospace"/>
                  </a:endParaRPr>
                </a:p>
                <a:p>
                  <a:r>
                    <a:rPr lang="en-US" altLang="zh-CN" sz="1200" b="1" dirty="0">
                      <a:solidFill>
                        <a:schemeClr val="accent1"/>
                      </a:solidFill>
                      <a:latin typeface="ui-monospace"/>
                    </a:rPr>
                    <a:t>0-1</a:t>
                  </a:r>
                  <a:r>
                    <a:rPr lang="zh-CN" altLang="en-US" sz="1200" b="1" dirty="0">
                      <a:solidFill>
                        <a:schemeClr val="accent1"/>
                      </a:solidFill>
                      <a:latin typeface="ui-monospace"/>
                    </a:rPr>
                    <a:t>背包问题</a:t>
                  </a:r>
                  <a:r>
                    <a:rPr lang="zh-CN" altLang="en-US" sz="1200" dirty="0">
                      <a:solidFill>
                        <a:schemeClr val="accent1"/>
                      </a:solidFill>
                      <a:latin typeface="ui-monospace"/>
                    </a:rPr>
                    <a:t>：给定</a:t>
                  </a:r>
                  <a:r>
                    <a:rPr lang="en-US" altLang="zh-CN" sz="1200" dirty="0">
                      <a:solidFill>
                        <a:schemeClr val="accent1"/>
                      </a:solidFill>
                      <a:latin typeface="ui-monospace"/>
                    </a:rPr>
                    <a:t>N</a:t>
                  </a:r>
                  <a:r>
                    <a:rPr lang="zh-CN" altLang="en-US" sz="1200" dirty="0">
                      <a:solidFill>
                        <a:schemeClr val="accent1"/>
                      </a:solidFill>
                      <a:latin typeface="ui-monospace"/>
                    </a:rPr>
                    <a:t>个物品，第</a:t>
                  </a:r>
                  <a:r>
                    <a:rPr lang="en-US" altLang="zh-CN" sz="1200" dirty="0" err="1">
                      <a:solidFill>
                        <a:schemeClr val="accent1"/>
                      </a:solidFill>
                      <a:latin typeface="ui-monospace"/>
                    </a:rPr>
                    <a:t>i</a:t>
                  </a:r>
                  <a:r>
                    <a:rPr lang="zh-CN" altLang="en-US" sz="1200" dirty="0">
                      <a:solidFill>
                        <a:schemeClr val="accent1"/>
                      </a:solidFill>
                      <a:latin typeface="ui-monospace"/>
                    </a:rPr>
                    <a:t>个物品的重量</a:t>
                  </a:r>
                  <a14:m>
                    <m:oMath xmlns:m="http://schemas.openxmlformats.org/officeDocument/2006/math">
                      <m:sSub>
                        <m:sSubPr>
                          <m:ctrlPr>
                            <a:rPr lang="en-US" altLang="zh-CN" sz="1200" i="1" smtClean="0">
                              <a:solidFill>
                                <a:schemeClr val="accent1"/>
                              </a:solidFill>
                              <a:latin typeface="Cambria Math" panose="02040503050406030204" pitchFamily="18" charset="0"/>
                            </a:rPr>
                          </m:ctrlPr>
                        </m:sSubPr>
                        <m:e>
                          <m:r>
                            <m:rPr>
                              <m:sty m:val="p"/>
                            </m:rPr>
                            <a:rPr lang="en-US" altLang="zh-CN" sz="1200" i="1">
                              <a:solidFill>
                                <a:schemeClr val="accent1"/>
                              </a:solidFill>
                              <a:latin typeface="Cambria Math" panose="02040503050406030204" pitchFamily="18" charset="0"/>
                            </a:rPr>
                            <m:t>w</m:t>
                          </m:r>
                        </m:e>
                        <m:sub>
                          <m:r>
                            <a:rPr lang="en-US" altLang="zh-CN" sz="1200" b="0" i="1" smtClean="0">
                              <a:solidFill>
                                <a:schemeClr val="accent1"/>
                              </a:solidFill>
                              <a:latin typeface="Cambria Math" panose="02040503050406030204" pitchFamily="18" charset="0"/>
                            </a:rPr>
                            <m:t>𝑖</m:t>
                          </m:r>
                        </m:sub>
                      </m:sSub>
                    </m:oMath>
                  </a14:m>
                  <a:r>
                    <a:rPr lang="zh-CN" altLang="en-US" sz="1200" dirty="0">
                      <a:solidFill>
                        <a:schemeClr val="accent1"/>
                      </a:solidFill>
                      <a:latin typeface="ui-monospace"/>
                    </a:rPr>
                    <a:t>，价值</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a:rPr lang="en-US" altLang="zh-CN" sz="1200" b="0" i="1" smtClean="0">
                              <a:solidFill>
                                <a:schemeClr val="accent1"/>
                              </a:solidFill>
                              <a:latin typeface="Cambria Math" panose="02040503050406030204" pitchFamily="18" charset="0"/>
                            </a:rPr>
                            <m:t>𝑣</m:t>
                          </m:r>
                        </m:e>
                        <m:sub>
                          <m:r>
                            <a:rPr lang="en-US" altLang="zh-CN" sz="1200" i="1">
                              <a:solidFill>
                                <a:schemeClr val="accent1"/>
                              </a:solidFill>
                              <a:latin typeface="Cambria Math" panose="02040503050406030204" pitchFamily="18" charset="0"/>
                            </a:rPr>
                            <m:t>𝑖</m:t>
                          </m:r>
                        </m:sub>
                      </m:sSub>
                      <m:r>
                        <a:rPr lang="en-US" altLang="zh-CN" sz="1200" i="1">
                          <a:solidFill>
                            <a:schemeClr val="accent1"/>
                          </a:solidFill>
                          <a:latin typeface="Cambria Math" panose="02040503050406030204" pitchFamily="18" charset="0"/>
                        </a:rPr>
                        <m:t> </m:t>
                      </m:r>
                    </m:oMath>
                  </a14:m>
                  <a:r>
                    <a:rPr lang="zh-CN" altLang="en-US" sz="1200" dirty="0">
                      <a:solidFill>
                        <a:schemeClr val="accent1"/>
                      </a:solidFill>
                      <a:latin typeface="ui-monospace"/>
                    </a:rPr>
                    <a:t>，放入容量为</a:t>
                  </a:r>
                  <a:r>
                    <a:rPr lang="en-US" altLang="zh-CN" sz="1200" dirty="0">
                      <a:solidFill>
                        <a:schemeClr val="accent1"/>
                      </a:solidFill>
                      <a:latin typeface="ui-monospace"/>
                    </a:rPr>
                    <a:t>W</a:t>
                  </a:r>
                  <a:r>
                    <a:rPr lang="zh-CN" altLang="en-US" sz="1200" dirty="0">
                      <a:solidFill>
                        <a:schemeClr val="accent1"/>
                      </a:solidFill>
                      <a:latin typeface="ui-monospace"/>
                    </a:rPr>
                    <a:t>的背包，怎么保证装入物品的总价值最大</a:t>
                  </a:r>
                  <a:endParaRPr lang="en-US" altLang="zh-CN" sz="1200" dirty="0">
                    <a:solidFill>
                      <a:schemeClr val="accent1"/>
                    </a:solidFill>
                    <a:latin typeface="ui-monospace"/>
                  </a:endParaRPr>
                </a:p>
                <a:p>
                  <a:r>
                    <a:rPr lang="zh-CN" altLang="en-US" sz="1200" dirty="0">
                      <a:solidFill>
                        <a:schemeClr val="accent1"/>
                      </a:solidFill>
                      <a:latin typeface="ui-monospace"/>
                    </a:rPr>
                    <a:t>二维步骤：</a:t>
                  </a:r>
                  <a:endParaRPr lang="en-US" altLang="zh-CN" sz="1200" dirty="0">
                    <a:solidFill>
                      <a:schemeClr val="accent1"/>
                    </a:solidFill>
                    <a:latin typeface="ui-monospace"/>
                  </a:endParaRPr>
                </a:p>
                <a:p>
                  <a:r>
                    <a:rPr lang="en-US" altLang="zh-CN" sz="1200" dirty="0">
                      <a:solidFill>
                        <a:schemeClr val="accent1"/>
                      </a:solidFill>
                      <a:latin typeface="ui-monospace"/>
                    </a:rPr>
                    <a:t>1.</a:t>
                  </a:r>
                  <a:r>
                    <a:rPr lang="zh-CN" altLang="en-US" sz="1200" dirty="0">
                      <a:solidFill>
                        <a:schemeClr val="accent1"/>
                      </a:solidFill>
                      <a:latin typeface="ui-monospace"/>
                    </a:rPr>
                    <a:t>确定</a:t>
                  </a:r>
                  <a:r>
                    <a:rPr lang="en-US" altLang="zh-CN" sz="1200" dirty="0" err="1">
                      <a:solidFill>
                        <a:schemeClr val="accent1"/>
                      </a:solidFill>
                      <a:latin typeface="ui-monospace"/>
                    </a:rPr>
                    <a:t>dp</a:t>
                  </a:r>
                  <a:r>
                    <a:rPr lang="zh-CN" altLang="en-US" sz="1200" dirty="0">
                      <a:solidFill>
                        <a:schemeClr val="accent1"/>
                      </a:solidFill>
                      <a:latin typeface="ui-monospace"/>
                    </a:rPr>
                    <a:t>数组和下标含义</a:t>
                  </a:r>
                  <a:endParaRPr lang="en-US" altLang="zh-CN" sz="1200" dirty="0">
                    <a:solidFill>
                      <a:schemeClr val="accent1"/>
                    </a:solidFill>
                    <a:latin typeface="ui-monospace"/>
                  </a:endParaRPr>
                </a:p>
                <a:p>
                  <a:r>
                    <a:rPr lang="en-US" altLang="zh-CN" sz="1200" dirty="0" err="1">
                      <a:solidFill>
                        <a:schemeClr val="accent1"/>
                      </a:solidFill>
                      <a:latin typeface="ui-monospace"/>
                    </a:rPr>
                    <a:t>dp</a:t>
                  </a:r>
                  <a:r>
                    <a:rPr lang="en-US" altLang="zh-CN" sz="1200" dirty="0">
                      <a:solidFill>
                        <a:schemeClr val="accent1"/>
                      </a:solidFill>
                      <a:latin typeface="ui-monospace"/>
                    </a:rPr>
                    <a:t>[</a:t>
                  </a:r>
                  <a:r>
                    <a:rPr lang="en-US" altLang="zh-CN" sz="1200" dirty="0" err="1">
                      <a:solidFill>
                        <a:schemeClr val="accent1"/>
                      </a:solidFill>
                      <a:latin typeface="ui-monospace"/>
                    </a:rPr>
                    <a:t>i</a:t>
                  </a:r>
                  <a:r>
                    <a:rPr lang="en-US" altLang="zh-CN" sz="1200" dirty="0">
                      <a:solidFill>
                        <a:schemeClr val="accent1"/>
                      </a:solidFill>
                      <a:latin typeface="ui-monospace"/>
                    </a:rPr>
                    <a:t>][j] </a:t>
                  </a:r>
                  <a:r>
                    <a:rPr lang="zh-CN" altLang="en-US" sz="1200" dirty="0">
                      <a:solidFill>
                        <a:schemeClr val="accent1"/>
                      </a:solidFill>
                      <a:latin typeface="ui-monospace"/>
                    </a:rPr>
                    <a:t>表示从下标 </a:t>
                  </a:r>
                  <a:r>
                    <a:rPr lang="en-US" altLang="zh-CN" sz="1200" dirty="0">
                      <a:solidFill>
                        <a:schemeClr val="accent1"/>
                      </a:solidFill>
                      <a:latin typeface="ui-monospace"/>
                    </a:rPr>
                    <a:t>[1,i] </a:t>
                  </a:r>
                  <a:r>
                    <a:rPr lang="zh-CN" altLang="en-US" sz="1200" dirty="0">
                      <a:solidFill>
                        <a:schemeClr val="accent1"/>
                      </a:solidFill>
                      <a:latin typeface="ui-monospace"/>
                    </a:rPr>
                    <a:t>中任意选取物品放入容量为 </a:t>
                  </a:r>
                  <a:r>
                    <a:rPr lang="en-US" altLang="zh-CN" sz="1200" dirty="0">
                      <a:solidFill>
                        <a:schemeClr val="accent1"/>
                      </a:solidFill>
                      <a:latin typeface="ui-monospace"/>
                    </a:rPr>
                    <a:t>j</a:t>
                  </a:r>
                  <a:r>
                    <a:rPr lang="zh-CN" altLang="en-US" sz="1200" dirty="0">
                      <a:solidFill>
                        <a:schemeClr val="accent1"/>
                      </a:solidFill>
                      <a:latin typeface="ui-monospace"/>
                    </a:rPr>
                    <a:t>的背包时的最大价值</a:t>
                  </a:r>
                  <a:endParaRPr lang="en-US" altLang="zh-CN" sz="1200" dirty="0">
                    <a:solidFill>
                      <a:schemeClr val="accent1"/>
                    </a:solidFill>
                    <a:latin typeface="ui-monospace"/>
                  </a:endParaRPr>
                </a:p>
                <a:p>
                  <a:r>
                    <a:rPr lang="en-US" altLang="zh-CN" sz="1200" dirty="0">
                      <a:solidFill>
                        <a:schemeClr val="accent1"/>
                      </a:solidFill>
                      <a:latin typeface="ui-monospace"/>
                    </a:rPr>
                    <a:t>2.</a:t>
                  </a:r>
                  <a:r>
                    <a:rPr lang="zh-CN" altLang="en-US" sz="1200" dirty="0">
                      <a:solidFill>
                        <a:schemeClr val="accent1"/>
                      </a:solidFill>
                      <a:latin typeface="ui-monospace"/>
                    </a:rPr>
                    <a:t>确定递推公式</a:t>
                  </a:r>
                  <a:endParaRPr lang="en-US" altLang="zh-CN" sz="1200" dirty="0">
                    <a:solidFill>
                      <a:schemeClr val="accent1"/>
                    </a:solidFill>
                    <a:latin typeface="ui-monospace"/>
                  </a:endParaRPr>
                </a:p>
                <a:p>
                  <a:r>
                    <a:rPr lang="en-US" altLang="zh-CN" sz="1200" dirty="0">
                      <a:solidFill>
                        <a:schemeClr val="accent1"/>
                      </a:solidFill>
                      <a:latin typeface="ui-monospace"/>
                    </a:rPr>
                    <a:t>case1</a:t>
                  </a:r>
                  <a:r>
                    <a:rPr lang="zh-CN" altLang="en-US" sz="1200" dirty="0">
                      <a:solidFill>
                        <a:schemeClr val="accent1"/>
                      </a:solidFill>
                      <a:latin typeface="ui-monospace"/>
                    </a:rPr>
                    <a:t>：</a:t>
                  </a:r>
                  <a:r>
                    <a:rPr lang="zh-CN" altLang="en-US" sz="1200" b="1" dirty="0">
                      <a:solidFill>
                        <a:schemeClr val="accent1"/>
                      </a:solidFill>
                      <a:latin typeface="ui-monospace"/>
                    </a:rPr>
                    <a:t>确定不放物品 </a:t>
                  </a:r>
                  <a:r>
                    <a:rPr lang="en-US" altLang="zh-CN" sz="1200" b="1" dirty="0" err="1">
                      <a:solidFill>
                        <a:schemeClr val="accent1"/>
                      </a:solidFill>
                      <a:latin typeface="ui-monospace"/>
                    </a:rPr>
                    <a:t>i</a:t>
                  </a:r>
                  <a:r>
                    <a:rPr lang="en-US" altLang="zh-CN" sz="1200" b="1" dirty="0">
                      <a:solidFill>
                        <a:schemeClr val="accent1"/>
                      </a:solidFill>
                      <a:latin typeface="ui-monospace"/>
                    </a:rPr>
                    <a:t> </a:t>
                  </a:r>
                  <a:r>
                    <a:rPr lang="zh-CN" altLang="en-US" sz="1200" b="1" dirty="0">
                      <a:solidFill>
                        <a:schemeClr val="accent1"/>
                      </a:solidFill>
                      <a:latin typeface="ui-monospace"/>
                    </a:rPr>
                    <a:t>时</a:t>
                  </a:r>
                  <a:r>
                    <a:rPr lang="zh-CN" altLang="en-US" sz="1200" dirty="0">
                      <a:solidFill>
                        <a:schemeClr val="accent1"/>
                      </a:solidFill>
                      <a:latin typeface="ui-monospace"/>
                    </a:rPr>
                    <a:t>，公式可推此时最大价值为 </a:t>
                  </a:r>
                  <a:r>
                    <a:rPr lang="en-US" altLang="zh-CN" sz="1200" dirty="0" err="1">
                      <a:solidFill>
                        <a:schemeClr val="accent1"/>
                      </a:solidFill>
                      <a:latin typeface="ui-monospace"/>
                    </a:rPr>
                    <a:t>dp</a:t>
                  </a:r>
                  <a:r>
                    <a:rPr lang="en-US" altLang="zh-CN" sz="1200" dirty="0">
                      <a:solidFill>
                        <a:schemeClr val="accent1"/>
                      </a:solidFill>
                      <a:latin typeface="ui-monospace"/>
                    </a:rPr>
                    <a:t>[i-1][j]</a:t>
                  </a:r>
                </a:p>
                <a:p>
                  <a:r>
                    <a:rPr lang="en-US" altLang="zh-CN" sz="1200" dirty="0">
                      <a:solidFill>
                        <a:schemeClr val="accent1"/>
                      </a:solidFill>
                      <a:latin typeface="ui-monospace"/>
                    </a:rPr>
                    <a:t>case2</a:t>
                  </a:r>
                  <a:r>
                    <a:rPr lang="zh-CN" altLang="en-US" sz="1200" dirty="0">
                      <a:solidFill>
                        <a:schemeClr val="accent1"/>
                      </a:solidFill>
                      <a:latin typeface="ui-monospace"/>
                    </a:rPr>
                    <a:t>：</a:t>
                  </a:r>
                  <a:r>
                    <a:rPr lang="zh-CN" altLang="en-US" sz="1200" b="1" dirty="0">
                      <a:solidFill>
                        <a:schemeClr val="accent1"/>
                      </a:solidFill>
                      <a:latin typeface="ui-monospace"/>
                    </a:rPr>
                    <a:t>确定放入物品 </a:t>
                  </a:r>
                  <a:r>
                    <a:rPr lang="en-US" altLang="zh-CN" sz="1200" b="1" dirty="0" err="1">
                      <a:solidFill>
                        <a:schemeClr val="accent1"/>
                      </a:solidFill>
                      <a:latin typeface="ui-monospace"/>
                    </a:rPr>
                    <a:t>i</a:t>
                  </a:r>
                  <a:r>
                    <a:rPr lang="en-US" altLang="zh-CN" sz="1200" b="1" dirty="0">
                      <a:solidFill>
                        <a:schemeClr val="accent1"/>
                      </a:solidFill>
                      <a:latin typeface="ui-monospace"/>
                    </a:rPr>
                    <a:t> </a:t>
                  </a:r>
                  <a:r>
                    <a:rPr lang="zh-CN" altLang="en-US" sz="1200" b="1" dirty="0">
                      <a:solidFill>
                        <a:schemeClr val="accent1"/>
                      </a:solidFill>
                      <a:latin typeface="ui-monospace"/>
                    </a:rPr>
                    <a:t>时</a:t>
                  </a:r>
                  <a:r>
                    <a:rPr lang="zh-CN" altLang="en-US" sz="1200" dirty="0">
                      <a:solidFill>
                        <a:schemeClr val="accent1"/>
                      </a:solidFill>
                      <a:latin typeface="ui-monospace"/>
                    </a:rPr>
                    <a:t>，前提条件是背包容量</a:t>
                  </a:r>
                  <a:r>
                    <a:rPr lang="en-US" altLang="zh-CN" sz="1200" dirty="0">
                      <a:solidFill>
                        <a:schemeClr val="accent1"/>
                      </a:solidFill>
                      <a:latin typeface="ui-monospace"/>
                    </a:rPr>
                    <a:t>W</a:t>
                  </a:r>
                  <a:r>
                    <a:rPr lang="zh-CN" altLang="en-US" sz="1200" dirty="0">
                      <a:solidFill>
                        <a:schemeClr val="accent1"/>
                      </a:solidFill>
                      <a:latin typeface="ui-monospace"/>
                    </a:rPr>
                    <a:t>大于</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m:rPr>
                              <m:sty m:val="p"/>
                            </m:rPr>
                            <a:rPr lang="en-US" altLang="zh-CN" sz="1200" i="1">
                              <a:solidFill>
                                <a:schemeClr val="accent1"/>
                              </a:solidFill>
                              <a:latin typeface="Cambria Math" panose="02040503050406030204" pitchFamily="18" charset="0"/>
                            </a:rPr>
                            <m:t>w</m:t>
                          </m:r>
                        </m:e>
                        <m:sub>
                          <m:r>
                            <a:rPr lang="en-US" altLang="zh-CN" sz="1200" i="1">
                              <a:solidFill>
                                <a:schemeClr val="accent1"/>
                              </a:solidFill>
                              <a:latin typeface="Cambria Math" panose="02040503050406030204" pitchFamily="18" charset="0"/>
                            </a:rPr>
                            <m:t>𝑖</m:t>
                          </m:r>
                        </m:sub>
                      </m:sSub>
                    </m:oMath>
                  </a14:m>
                  <a:r>
                    <a:rPr lang="zh-CN" altLang="en-US" sz="1200" dirty="0">
                      <a:solidFill>
                        <a:schemeClr val="accent1"/>
                      </a:solidFill>
                      <a:latin typeface="ui-monospace"/>
                    </a:rPr>
                    <a:t>，剩余背包容量为 </a:t>
                  </a:r>
                  <a:r>
                    <a:rPr lang="en-US" altLang="zh-CN" sz="1200" dirty="0">
                      <a:solidFill>
                        <a:schemeClr val="accent1"/>
                      </a:solidFill>
                      <a:latin typeface="ui-monospace"/>
                    </a:rPr>
                    <a:t>j-</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m:rPr>
                              <m:sty m:val="p"/>
                            </m:rPr>
                            <a:rPr lang="en-US" altLang="zh-CN" sz="1200" i="1">
                              <a:solidFill>
                                <a:schemeClr val="accent1"/>
                              </a:solidFill>
                              <a:latin typeface="Cambria Math" panose="02040503050406030204" pitchFamily="18" charset="0"/>
                            </a:rPr>
                            <m:t>w</m:t>
                          </m:r>
                        </m:e>
                        <m:sub>
                          <m:r>
                            <a:rPr lang="en-US" altLang="zh-CN" sz="1200" i="1">
                              <a:solidFill>
                                <a:schemeClr val="accent1"/>
                              </a:solidFill>
                              <a:latin typeface="Cambria Math" panose="02040503050406030204" pitchFamily="18" charset="0"/>
                            </a:rPr>
                            <m:t>𝑖</m:t>
                          </m:r>
                        </m:sub>
                      </m:sSub>
                    </m:oMath>
                  </a14:m>
                  <a:r>
                    <a:rPr lang="zh-CN" altLang="en-US" sz="1200" dirty="0">
                      <a:solidFill>
                        <a:schemeClr val="accent1"/>
                      </a:solidFill>
                      <a:latin typeface="ui-monospace"/>
                    </a:rPr>
                    <a:t>，则问题转换为求 从下标 </a:t>
                  </a:r>
                  <a:r>
                    <a:rPr lang="en-US" altLang="zh-CN" sz="1200" dirty="0">
                      <a:solidFill>
                        <a:schemeClr val="accent1"/>
                      </a:solidFill>
                      <a:latin typeface="ui-monospace"/>
                    </a:rPr>
                    <a:t>[1,i-1]</a:t>
                  </a:r>
                  <a:r>
                    <a:rPr lang="zh-CN" altLang="en-US" sz="1200" dirty="0">
                      <a:solidFill>
                        <a:schemeClr val="accent1"/>
                      </a:solidFill>
                      <a:latin typeface="ui-monospace"/>
                    </a:rPr>
                    <a:t>中任意选取物品放入容量为 </a:t>
                  </a:r>
                  <a:r>
                    <a:rPr lang="en-US" altLang="zh-CN" sz="1200" dirty="0">
                      <a:solidFill>
                        <a:schemeClr val="accent1"/>
                      </a:solidFill>
                      <a:latin typeface="ui-monospace"/>
                    </a:rPr>
                    <a:t>j-</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m:rPr>
                              <m:sty m:val="p"/>
                            </m:rPr>
                            <a:rPr lang="en-US" altLang="zh-CN" sz="1200" i="1">
                              <a:solidFill>
                                <a:schemeClr val="accent1"/>
                              </a:solidFill>
                              <a:latin typeface="Cambria Math" panose="02040503050406030204" pitchFamily="18" charset="0"/>
                            </a:rPr>
                            <m:t>w</m:t>
                          </m:r>
                        </m:e>
                        <m:sub>
                          <m:r>
                            <a:rPr lang="en-US" altLang="zh-CN" sz="1200" i="1">
                              <a:solidFill>
                                <a:schemeClr val="accent1"/>
                              </a:solidFill>
                              <a:latin typeface="Cambria Math" panose="02040503050406030204" pitchFamily="18" charset="0"/>
                            </a:rPr>
                            <m:t>𝑖</m:t>
                          </m:r>
                        </m:sub>
                      </m:sSub>
                    </m:oMath>
                  </a14:m>
                  <a:r>
                    <a:rPr lang="en-US" altLang="zh-CN" sz="1200" dirty="0">
                      <a:solidFill>
                        <a:schemeClr val="accent1"/>
                      </a:solidFill>
                      <a:latin typeface="ui-monospace"/>
                    </a:rPr>
                    <a:t> </a:t>
                  </a:r>
                  <a:r>
                    <a:rPr lang="zh-CN" altLang="en-US" sz="1200" dirty="0">
                      <a:solidFill>
                        <a:schemeClr val="accent1"/>
                      </a:solidFill>
                      <a:latin typeface="ui-monospace"/>
                    </a:rPr>
                    <a:t>的背包时的最大价值，即 </a:t>
                  </a:r>
                  <a:r>
                    <a:rPr lang="en-US" altLang="zh-CN" sz="1200" dirty="0" err="1">
                      <a:solidFill>
                        <a:schemeClr val="accent1"/>
                      </a:solidFill>
                      <a:latin typeface="ui-monospace"/>
                    </a:rPr>
                    <a:t>dp</a:t>
                  </a:r>
                  <a:r>
                    <a:rPr lang="en-US" altLang="zh-CN" sz="1200" dirty="0">
                      <a:solidFill>
                        <a:schemeClr val="accent1"/>
                      </a:solidFill>
                      <a:latin typeface="ui-monospace"/>
                    </a:rPr>
                    <a:t>[i-1][j-</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m:rPr>
                              <m:sty m:val="p"/>
                            </m:rPr>
                            <a:rPr lang="en-US" altLang="zh-CN" sz="1200" i="1">
                              <a:solidFill>
                                <a:schemeClr val="accent1"/>
                              </a:solidFill>
                              <a:latin typeface="Cambria Math" panose="02040503050406030204" pitchFamily="18" charset="0"/>
                            </a:rPr>
                            <m:t>w</m:t>
                          </m:r>
                        </m:e>
                        <m:sub>
                          <m:r>
                            <a:rPr lang="en-US" altLang="zh-CN" sz="1200" i="1">
                              <a:solidFill>
                                <a:schemeClr val="accent1"/>
                              </a:solidFill>
                              <a:latin typeface="Cambria Math" panose="02040503050406030204" pitchFamily="18" charset="0"/>
                            </a:rPr>
                            <m:t>𝑖</m:t>
                          </m:r>
                        </m:sub>
                      </m:sSub>
                    </m:oMath>
                  </a14:m>
                  <a:r>
                    <a:rPr lang="en-US" altLang="zh-CN" sz="1200" dirty="0">
                      <a:solidFill>
                        <a:schemeClr val="accent1"/>
                      </a:solidFill>
                      <a:latin typeface="ui-monospace"/>
                    </a:rPr>
                    <a:t>]</a:t>
                  </a:r>
                  <a:r>
                    <a:rPr lang="zh-CN" altLang="en-US" sz="1200" dirty="0">
                      <a:solidFill>
                        <a:schemeClr val="accent1"/>
                      </a:solidFill>
                      <a:latin typeface="ui-monospace"/>
                    </a:rPr>
                    <a:t>，则此时最大价值为 </a:t>
                  </a:r>
                  <a:r>
                    <a:rPr lang="en-US" altLang="zh-CN" sz="1200" dirty="0">
                      <a:solidFill>
                        <a:schemeClr val="accent1"/>
                      </a:solidFill>
                      <a:latin typeface="ui-monospace"/>
                    </a:rPr>
                    <a:t>dp[i-1][j-</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m:rPr>
                              <m:sty m:val="p"/>
                            </m:rPr>
                            <a:rPr lang="en-US" altLang="zh-CN" sz="1200" i="1">
                              <a:solidFill>
                                <a:schemeClr val="accent1"/>
                              </a:solidFill>
                              <a:latin typeface="Cambria Math" panose="02040503050406030204" pitchFamily="18" charset="0"/>
                            </a:rPr>
                            <m:t>w</m:t>
                          </m:r>
                        </m:e>
                        <m:sub>
                          <m:r>
                            <a:rPr lang="en-US" altLang="zh-CN" sz="1200" i="1">
                              <a:solidFill>
                                <a:schemeClr val="accent1"/>
                              </a:solidFill>
                              <a:latin typeface="Cambria Math" panose="02040503050406030204" pitchFamily="18" charset="0"/>
                            </a:rPr>
                            <m:t>𝑖</m:t>
                          </m:r>
                        </m:sub>
                      </m:sSub>
                    </m:oMath>
                  </a14:m>
                  <a:r>
                    <a:rPr lang="en-US" altLang="zh-CN" sz="1200" dirty="0">
                      <a:solidFill>
                        <a:schemeClr val="accent1"/>
                      </a:solidFill>
                      <a:latin typeface="ui-monospace"/>
                    </a:rPr>
                    <a:t>] +</a:t>
                  </a:r>
                  <a:r>
                    <a:rPr lang="en-US" altLang="zh-CN" sz="1200" dirty="0">
                      <a:solidFill>
                        <a:schemeClr val="accent1"/>
                      </a:solidFill>
                    </a:rPr>
                    <a:t> </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a:rPr lang="en-US" altLang="zh-CN" sz="1200" i="1">
                              <a:solidFill>
                                <a:schemeClr val="accent1"/>
                              </a:solidFill>
                              <a:latin typeface="Cambria Math" panose="02040503050406030204" pitchFamily="18" charset="0"/>
                            </a:rPr>
                            <m:t>𝑣</m:t>
                          </m:r>
                        </m:e>
                        <m:sub>
                          <m:r>
                            <a:rPr lang="en-US" altLang="zh-CN" sz="1200" i="1">
                              <a:solidFill>
                                <a:schemeClr val="accent1"/>
                              </a:solidFill>
                              <a:latin typeface="Cambria Math" panose="02040503050406030204" pitchFamily="18" charset="0"/>
                            </a:rPr>
                            <m:t>𝑖</m:t>
                          </m:r>
                        </m:sub>
                      </m:sSub>
                    </m:oMath>
                  </a14:m>
                  <a:endParaRPr lang="en-US" altLang="zh-CN" sz="1200" dirty="0">
                    <a:solidFill>
                      <a:schemeClr val="accent1"/>
                    </a:solidFill>
                    <a:latin typeface="ui-monospace"/>
                  </a:endParaRPr>
                </a:p>
                <a:p>
                  <a:r>
                    <a:rPr lang="zh-CN" altLang="en-US" sz="1200" dirty="0">
                      <a:solidFill>
                        <a:schemeClr val="accent1"/>
                      </a:solidFill>
                      <a:latin typeface="ui-monospace"/>
                    </a:rPr>
                    <a:t>所以状态转移方程为</a:t>
                  </a:r>
                  <a:endParaRPr lang="en-US" altLang="zh-CN" sz="1200" dirty="0">
                    <a:solidFill>
                      <a:schemeClr val="accent1"/>
                    </a:solidFill>
                    <a:latin typeface="ui-monospace"/>
                  </a:endParaRPr>
                </a:p>
                <a:p>
                  <a:r>
                    <a:rPr lang="en-US" altLang="zh-CN" sz="1200" dirty="0" err="1">
                      <a:solidFill>
                        <a:schemeClr val="accent1"/>
                      </a:solidFill>
                      <a:latin typeface="ui-monospace"/>
                    </a:rPr>
                    <a:t>dp</a:t>
                  </a:r>
                  <a:r>
                    <a:rPr lang="en-US" altLang="zh-CN" sz="1200" dirty="0">
                      <a:solidFill>
                        <a:schemeClr val="accent1"/>
                      </a:solidFill>
                      <a:latin typeface="ui-monospace"/>
                    </a:rPr>
                    <a:t>[</a:t>
                  </a:r>
                  <a:r>
                    <a:rPr lang="en-US" altLang="zh-CN" sz="1200" dirty="0" err="1">
                      <a:solidFill>
                        <a:schemeClr val="accent1"/>
                      </a:solidFill>
                      <a:latin typeface="ui-monospace"/>
                    </a:rPr>
                    <a:t>i</a:t>
                  </a:r>
                  <a:r>
                    <a:rPr lang="en-US" altLang="zh-CN" sz="1200" dirty="0">
                      <a:solidFill>
                        <a:schemeClr val="accent1"/>
                      </a:solidFill>
                      <a:latin typeface="ui-monospace"/>
                    </a:rPr>
                    <a:t>][j] = max(</a:t>
                  </a:r>
                  <a:r>
                    <a:rPr lang="en-US" altLang="zh-CN" sz="1200" dirty="0" err="1">
                      <a:solidFill>
                        <a:schemeClr val="accent1"/>
                      </a:solidFill>
                      <a:latin typeface="ui-monospace"/>
                    </a:rPr>
                    <a:t>dp</a:t>
                  </a:r>
                  <a:r>
                    <a:rPr lang="en-US" altLang="zh-CN" sz="1200" dirty="0">
                      <a:solidFill>
                        <a:schemeClr val="accent1"/>
                      </a:solidFill>
                      <a:latin typeface="ui-monospace"/>
                    </a:rPr>
                    <a:t>[i-1][j], dp[i-1][j-</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m:rPr>
                              <m:sty m:val="p"/>
                            </m:rPr>
                            <a:rPr lang="en-US" altLang="zh-CN" sz="1200" i="1">
                              <a:solidFill>
                                <a:schemeClr val="accent1"/>
                              </a:solidFill>
                              <a:latin typeface="Cambria Math" panose="02040503050406030204" pitchFamily="18" charset="0"/>
                            </a:rPr>
                            <m:t>w</m:t>
                          </m:r>
                        </m:e>
                        <m:sub>
                          <m:r>
                            <a:rPr lang="en-US" altLang="zh-CN" sz="1200" i="1">
                              <a:solidFill>
                                <a:schemeClr val="accent1"/>
                              </a:solidFill>
                              <a:latin typeface="Cambria Math" panose="02040503050406030204" pitchFamily="18" charset="0"/>
                            </a:rPr>
                            <m:t>𝑖</m:t>
                          </m:r>
                        </m:sub>
                      </m:sSub>
                    </m:oMath>
                  </a14:m>
                  <a:r>
                    <a:rPr lang="en-US" altLang="zh-CN" sz="1200" dirty="0">
                      <a:solidFill>
                        <a:schemeClr val="accent1"/>
                      </a:solidFill>
                      <a:latin typeface="ui-monospace"/>
                    </a:rPr>
                    <a:t>] +</a:t>
                  </a:r>
                  <a:r>
                    <a:rPr lang="en-US" altLang="zh-CN" sz="1200" dirty="0">
                      <a:solidFill>
                        <a:schemeClr val="accent1"/>
                      </a:solidFill>
                    </a:rPr>
                    <a:t> </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a:rPr lang="en-US" altLang="zh-CN" sz="1200" i="1">
                              <a:solidFill>
                                <a:schemeClr val="accent1"/>
                              </a:solidFill>
                              <a:latin typeface="Cambria Math" panose="02040503050406030204" pitchFamily="18" charset="0"/>
                            </a:rPr>
                            <m:t>𝑣</m:t>
                          </m:r>
                        </m:e>
                        <m:sub>
                          <m:r>
                            <a:rPr lang="en-US" altLang="zh-CN" sz="1200" i="1">
                              <a:solidFill>
                                <a:schemeClr val="accent1"/>
                              </a:solidFill>
                              <a:latin typeface="Cambria Math" panose="02040503050406030204" pitchFamily="18" charset="0"/>
                            </a:rPr>
                            <m:t>𝑖</m:t>
                          </m:r>
                        </m:sub>
                      </m:sSub>
                    </m:oMath>
                  </a14:m>
                  <a:r>
                    <a:rPr lang="en-US" altLang="zh-CN" sz="1200" dirty="0">
                      <a:solidFill>
                        <a:schemeClr val="accent1"/>
                      </a:solidFill>
                      <a:latin typeface="ui-monospace"/>
                    </a:rPr>
                    <a:t>)</a:t>
                  </a:r>
                </a:p>
                <a:p>
                  <a:r>
                    <a:rPr lang="en-US" altLang="zh-CN" sz="1200" dirty="0">
                      <a:solidFill>
                        <a:schemeClr val="accent1"/>
                      </a:solidFill>
                      <a:latin typeface="ui-monospace"/>
                    </a:rPr>
                    <a:t>3.dp</a:t>
                  </a:r>
                  <a:r>
                    <a:rPr lang="zh-CN" altLang="en-US" sz="1200" dirty="0">
                      <a:solidFill>
                        <a:schemeClr val="accent1"/>
                      </a:solidFill>
                      <a:latin typeface="ui-monospace"/>
                    </a:rPr>
                    <a:t>数组初始化</a:t>
                  </a:r>
                  <a:endParaRPr lang="en-US" altLang="zh-CN" sz="1200" dirty="0">
                    <a:solidFill>
                      <a:schemeClr val="accent1"/>
                    </a:solidFill>
                    <a:latin typeface="ui-monospace"/>
                  </a:endParaRPr>
                </a:p>
                <a:p>
                  <a:r>
                    <a:rPr lang="en-US" altLang="zh-CN" sz="1200" dirty="0" err="1">
                      <a:solidFill>
                        <a:schemeClr val="accent1"/>
                      </a:solidFill>
                      <a:latin typeface="ui-monospace"/>
                    </a:rPr>
                    <a:t>dp</a:t>
                  </a:r>
                  <a:r>
                    <a:rPr lang="en-US" altLang="zh-CN" sz="1200" dirty="0">
                      <a:solidFill>
                        <a:schemeClr val="accent1"/>
                      </a:solidFill>
                      <a:latin typeface="ui-monospace"/>
                    </a:rPr>
                    <a:t>[0][j] </a:t>
                  </a:r>
                  <a:r>
                    <a:rPr lang="zh-CN" altLang="en-US" sz="1200" dirty="0">
                      <a:solidFill>
                        <a:schemeClr val="accent1"/>
                      </a:solidFill>
                      <a:latin typeface="ui-monospace"/>
                    </a:rPr>
                    <a:t>使用各个容量的背包放入编号</a:t>
                  </a:r>
                  <a:r>
                    <a:rPr lang="en-US" altLang="zh-CN" sz="1200" dirty="0">
                      <a:solidFill>
                        <a:schemeClr val="accent1"/>
                      </a:solidFill>
                      <a:latin typeface="ui-monospace"/>
                    </a:rPr>
                    <a:t>0</a:t>
                  </a:r>
                  <a:r>
                    <a:rPr lang="zh-CN" altLang="en-US" sz="1200" dirty="0">
                      <a:solidFill>
                        <a:schemeClr val="accent1"/>
                      </a:solidFill>
                      <a:latin typeface="ui-monospace"/>
                    </a:rPr>
                    <a:t>物品的最大价值</a:t>
                  </a:r>
                  <a:endParaRPr lang="en-US" altLang="zh-CN" sz="1200" dirty="0">
                    <a:solidFill>
                      <a:schemeClr val="accent1"/>
                    </a:solidFill>
                    <a:latin typeface="ui-monospace"/>
                  </a:endParaRPr>
                </a:p>
                <a:p>
                  <a:r>
                    <a:rPr lang="en-US" altLang="zh-CN" sz="1200" dirty="0" err="1">
                      <a:solidFill>
                        <a:schemeClr val="accent1"/>
                      </a:solidFill>
                      <a:latin typeface="ui-monospace"/>
                    </a:rPr>
                    <a:t>dp</a:t>
                  </a:r>
                  <a:r>
                    <a:rPr lang="en-US" altLang="zh-CN" sz="1200" dirty="0">
                      <a:solidFill>
                        <a:schemeClr val="accent1"/>
                      </a:solidFill>
                      <a:latin typeface="ui-monospace"/>
                    </a:rPr>
                    <a:t>[</a:t>
                  </a:r>
                  <a:r>
                    <a:rPr lang="en-US" altLang="zh-CN" sz="1200" dirty="0" err="1">
                      <a:solidFill>
                        <a:schemeClr val="accent1"/>
                      </a:solidFill>
                      <a:latin typeface="ui-monospace"/>
                    </a:rPr>
                    <a:t>i</a:t>
                  </a:r>
                  <a:r>
                    <a:rPr lang="en-US" altLang="zh-CN" sz="1200" dirty="0">
                      <a:solidFill>
                        <a:schemeClr val="accent1"/>
                      </a:solidFill>
                      <a:latin typeface="ui-monospace"/>
                    </a:rPr>
                    <a:t>][0] </a:t>
                  </a:r>
                  <a:r>
                    <a:rPr lang="zh-CN" altLang="en-US" sz="1200" dirty="0">
                      <a:solidFill>
                        <a:schemeClr val="accent1"/>
                      </a:solidFill>
                      <a:latin typeface="ui-monospace"/>
                    </a:rPr>
                    <a:t>背包容量为</a:t>
                  </a:r>
                  <a:r>
                    <a:rPr lang="en-US" altLang="zh-CN" sz="1200" dirty="0">
                      <a:solidFill>
                        <a:schemeClr val="accent1"/>
                      </a:solidFill>
                      <a:latin typeface="ui-monospace"/>
                    </a:rPr>
                    <a:t>0</a:t>
                  </a:r>
                  <a:r>
                    <a:rPr lang="zh-CN" altLang="en-US" sz="1200" dirty="0">
                      <a:solidFill>
                        <a:schemeClr val="accent1"/>
                      </a:solidFill>
                      <a:latin typeface="ui-monospace"/>
                    </a:rPr>
                    <a:t>是存放各个物品的最大价值</a:t>
                  </a:r>
                  <a:endParaRPr lang="en-US" altLang="zh-CN" sz="1200" dirty="0">
                    <a:solidFill>
                      <a:schemeClr val="accent1"/>
                    </a:solidFill>
                    <a:latin typeface="ui-monospace"/>
                  </a:endParaRPr>
                </a:p>
                <a:p>
                  <a:r>
                    <a:rPr lang="en-US" altLang="zh-CN" sz="1200" dirty="0">
                      <a:solidFill>
                        <a:schemeClr val="accent1"/>
                      </a:solidFill>
                      <a:latin typeface="ui-monospace"/>
                    </a:rPr>
                    <a:t>4.</a:t>
                  </a:r>
                  <a:r>
                    <a:rPr lang="zh-CN" altLang="en-US" sz="1200" dirty="0">
                      <a:solidFill>
                        <a:schemeClr val="accent1"/>
                      </a:solidFill>
                      <a:latin typeface="ui-monospace"/>
                    </a:rPr>
                    <a:t>确定遍历顺序</a:t>
                  </a:r>
                  <a:endParaRPr lang="en-US" altLang="zh-CN" sz="1200" dirty="0">
                    <a:solidFill>
                      <a:schemeClr val="accent1"/>
                    </a:solidFill>
                    <a:latin typeface="ui-monospace"/>
                  </a:endParaRPr>
                </a:p>
                <a:p>
                  <a:r>
                    <a:rPr lang="zh-CN" altLang="en-US" sz="1200" dirty="0">
                      <a:solidFill>
                        <a:schemeClr val="accent1"/>
                      </a:solidFill>
                      <a:latin typeface="ui-monospace"/>
                    </a:rPr>
                    <a:t>物品和背包重量</a:t>
                  </a:r>
                  <a:endParaRPr lang="en-US" altLang="zh-CN" sz="1200" dirty="0">
                    <a:solidFill>
                      <a:schemeClr val="accent1"/>
                    </a:solidFill>
                    <a:latin typeface="ui-monospace"/>
                  </a:endParaRPr>
                </a:p>
                <a:p>
                  <a:r>
                    <a:rPr lang="zh-CN" altLang="en-US" sz="1200" dirty="0">
                      <a:solidFill>
                        <a:schemeClr val="accent1"/>
                      </a:solidFill>
                      <a:latin typeface="ui-monospace"/>
                    </a:rPr>
                    <a:t>时间复杂度：</a:t>
                  </a:r>
                  <a:r>
                    <a:rPr lang="en-US" altLang="zh-CN" sz="1200" dirty="0">
                      <a:solidFill>
                        <a:schemeClr val="accent1"/>
                      </a:solidFill>
                      <a:latin typeface="ui-monospace"/>
                    </a:rPr>
                    <a:t>O(NW)</a:t>
                  </a:r>
                </a:p>
                <a:p>
                  <a:r>
                    <a:rPr lang="zh-CN" altLang="en-US" sz="1200" dirty="0">
                      <a:solidFill>
                        <a:schemeClr val="accent1"/>
                      </a:solidFill>
                      <a:latin typeface="ui-monospace"/>
                    </a:rPr>
                    <a:t>空间复杂度：</a:t>
                  </a:r>
                  <a:r>
                    <a:rPr lang="en-US" altLang="zh-CN" sz="1200" dirty="0">
                      <a:solidFill>
                        <a:schemeClr val="accent1"/>
                      </a:solidFill>
                      <a:latin typeface="ui-monospace"/>
                    </a:rPr>
                    <a:t>O(NW)</a:t>
                  </a:r>
                </a:p>
                <a:p>
                  <a:r>
                    <a:rPr lang="zh-CN" altLang="en-US" sz="1200" b="1" dirty="0">
                      <a:solidFill>
                        <a:schemeClr val="accent1"/>
                      </a:solidFill>
                      <a:latin typeface="ui-monospace"/>
                    </a:rPr>
                    <a:t>矩阵连乘</a:t>
                  </a:r>
                  <a:r>
                    <a:rPr lang="zh-CN" altLang="en-US" sz="1200" dirty="0">
                      <a:solidFill>
                        <a:schemeClr val="accent1"/>
                      </a:solidFill>
                      <a:latin typeface="ui-monospace"/>
                    </a:rPr>
                    <a:t>：</a:t>
                  </a:r>
                  <a:r>
                    <a:rPr lang="en-US" altLang="zh-CN" sz="1200" dirty="0">
                      <a:solidFill>
                        <a:schemeClr val="accent1"/>
                      </a:solidFill>
                      <a:latin typeface="ui-monospace"/>
                    </a:rPr>
                    <a:t>M1(m*n) M2(n*p) </a:t>
                  </a:r>
                </a:p>
                <a:p>
                  <a:r>
                    <a:rPr lang="zh-CN" altLang="en-US" sz="1200" dirty="0">
                      <a:solidFill>
                        <a:schemeClr val="accent1"/>
                      </a:solidFill>
                      <a:latin typeface="ui-monospace"/>
                    </a:rPr>
                    <a:t>计算</a:t>
                  </a:r>
                  <a:r>
                    <a:rPr lang="en-US" altLang="zh-CN" sz="1200" dirty="0">
                      <a:solidFill>
                        <a:schemeClr val="accent1"/>
                      </a:solidFill>
                      <a:latin typeface="ui-monospace"/>
                    </a:rPr>
                    <a:t>m*n*p</a:t>
                  </a:r>
                  <a:r>
                    <a:rPr lang="zh-CN" altLang="en-US" sz="1200" dirty="0">
                      <a:solidFill>
                        <a:schemeClr val="accent1"/>
                      </a:solidFill>
                      <a:latin typeface="ui-monospace"/>
                    </a:rPr>
                    <a:t>次 新矩阵</a:t>
                  </a:r>
                  <a:r>
                    <a:rPr lang="en-US" altLang="zh-CN" sz="1200" dirty="0">
                      <a:solidFill>
                        <a:schemeClr val="accent1"/>
                      </a:solidFill>
                      <a:latin typeface="ui-monospace"/>
                    </a:rPr>
                    <a:t>m*p</a:t>
                  </a:r>
                </a:p>
                <a:p>
                  <a:r>
                    <a:rPr lang="zh-CN" altLang="en-US" sz="1200" dirty="0">
                      <a:solidFill>
                        <a:schemeClr val="accent1"/>
                      </a:solidFill>
                      <a:latin typeface="ui-monospace"/>
                    </a:rPr>
                    <a:t>时间复杂度：</a:t>
                  </a:r>
                  <a:r>
                    <a:rPr lang="en-US" altLang="zh-CN" sz="1200" dirty="0">
                      <a:solidFill>
                        <a:schemeClr val="accent1"/>
                      </a:solidFill>
                      <a:latin typeface="ui-monospace"/>
                    </a:rPr>
                    <a:t>O(</a:t>
                  </a:r>
                  <a14:m>
                    <m:oMath xmlns:m="http://schemas.openxmlformats.org/officeDocument/2006/math">
                      <m:sSup>
                        <m:sSupPr>
                          <m:ctrlPr>
                            <a:rPr lang="en-US" altLang="zh-CN" sz="1200" i="1">
                              <a:solidFill>
                                <a:schemeClr val="accent1"/>
                              </a:solidFill>
                              <a:latin typeface="Cambria Math" panose="02040503050406030204" pitchFamily="18" charset="0"/>
                            </a:rPr>
                          </m:ctrlPr>
                        </m:sSupPr>
                        <m:e>
                          <m:r>
                            <m:rPr>
                              <m:sty m:val="p"/>
                            </m:rPr>
                            <a:rPr lang="en-US" altLang="zh-CN" sz="1200" i="1">
                              <a:solidFill>
                                <a:schemeClr val="accent1"/>
                              </a:solidFill>
                              <a:latin typeface="Cambria Math" panose="02040503050406030204" pitchFamily="18" charset="0"/>
                            </a:rPr>
                            <m:t>n</m:t>
                          </m:r>
                        </m:e>
                        <m:sup>
                          <m:r>
                            <a:rPr lang="en-US" altLang="zh-CN" sz="1200" i="1">
                              <a:solidFill>
                                <a:schemeClr val="accent1"/>
                              </a:solidFill>
                              <a:latin typeface="Cambria Math" panose="02040503050406030204" pitchFamily="18" charset="0"/>
                            </a:rPr>
                            <m:t>3</m:t>
                          </m:r>
                        </m:sup>
                      </m:sSup>
                    </m:oMath>
                  </a14:m>
                  <a:r>
                    <a:rPr lang="en-US" altLang="zh-CN" sz="1200" dirty="0">
                      <a:solidFill>
                        <a:schemeClr val="accent1"/>
                      </a:solidFill>
                      <a:latin typeface="ui-monospace"/>
                    </a:rPr>
                    <a:t>)</a:t>
                  </a:r>
                </a:p>
                <a:p>
                  <a:r>
                    <a:rPr lang="zh-CN" altLang="en-US" sz="1200" dirty="0">
                      <a:solidFill>
                        <a:schemeClr val="accent1"/>
                      </a:solidFill>
                      <a:latin typeface="ui-monospace"/>
                    </a:rPr>
                    <a:t>空间复杂度：</a:t>
                  </a:r>
                  <a:r>
                    <a:rPr lang="en-US" altLang="zh-CN" sz="1200" dirty="0">
                      <a:solidFill>
                        <a:schemeClr val="accent1"/>
                      </a:solidFill>
                      <a:latin typeface="ui-monospace"/>
                    </a:rPr>
                    <a:t>O(</a:t>
                  </a:r>
                  <a14:m>
                    <m:oMath xmlns:m="http://schemas.openxmlformats.org/officeDocument/2006/math">
                      <m:sSup>
                        <m:sSupPr>
                          <m:ctrlPr>
                            <a:rPr lang="en-US" altLang="zh-CN" sz="1200" i="1">
                              <a:solidFill>
                                <a:schemeClr val="accent1"/>
                              </a:solidFill>
                              <a:latin typeface="Cambria Math" panose="02040503050406030204" pitchFamily="18" charset="0"/>
                            </a:rPr>
                          </m:ctrlPr>
                        </m:sSupPr>
                        <m:e>
                          <m:r>
                            <m:rPr>
                              <m:sty m:val="p"/>
                            </m:rPr>
                            <a:rPr lang="en-US" altLang="zh-CN" sz="1200" i="1">
                              <a:solidFill>
                                <a:schemeClr val="accent1"/>
                              </a:solidFill>
                              <a:latin typeface="Cambria Math" panose="02040503050406030204" pitchFamily="18" charset="0"/>
                            </a:rPr>
                            <m:t>n</m:t>
                          </m:r>
                        </m:e>
                        <m:sup>
                          <m:r>
                            <a:rPr lang="en-US" altLang="zh-CN" sz="1200" i="1">
                              <a:solidFill>
                                <a:schemeClr val="accent1"/>
                              </a:solidFill>
                              <a:latin typeface="Cambria Math" panose="02040503050406030204" pitchFamily="18" charset="0"/>
                            </a:rPr>
                            <m:t>2</m:t>
                          </m:r>
                        </m:sup>
                      </m:sSup>
                    </m:oMath>
                  </a14:m>
                  <a:r>
                    <a:rPr lang="en-US" altLang="zh-CN" sz="1200" dirty="0">
                      <a:solidFill>
                        <a:schemeClr val="accent1"/>
                      </a:solidFill>
                      <a:latin typeface="ui-monospace"/>
                    </a:rPr>
                    <a:t>)</a:t>
                  </a:r>
                </a:p>
                <a:p>
                  <a:r>
                    <a:rPr lang="zh-CN" altLang="en-US" sz="1200" dirty="0">
                      <a:solidFill>
                        <a:schemeClr val="accent1"/>
                      </a:solidFill>
                      <a:latin typeface="ui-monospace"/>
                    </a:rPr>
                    <a:t>最优计算次数</a:t>
                  </a:r>
                  <a:endParaRPr lang="en-US" altLang="zh-CN" sz="1200" dirty="0">
                    <a:solidFill>
                      <a:schemeClr val="accent1"/>
                    </a:solidFill>
                    <a:latin typeface="ui-monospace"/>
                  </a:endParaRPr>
                </a:p>
                <a:p>
                  <a:r>
                    <a:rPr lang="zh-CN" altLang="en-US" sz="1200" b="1" dirty="0">
                      <a:solidFill>
                        <a:schemeClr val="accent1"/>
                      </a:solidFill>
                      <a:latin typeface="ui-monospace"/>
                    </a:rPr>
                    <a:t>最长公共子串</a:t>
                  </a:r>
                  <a:r>
                    <a:rPr lang="zh-CN" altLang="en-US" sz="1200" dirty="0">
                      <a:solidFill>
                        <a:schemeClr val="accent1"/>
                      </a:solidFill>
                      <a:latin typeface="ui-monospace"/>
                    </a:rPr>
                    <a:t>：字串个数</a:t>
                  </a:r>
                  <a14:m>
                    <m:oMath xmlns:m="http://schemas.openxmlformats.org/officeDocument/2006/math">
                      <m:sSup>
                        <m:sSupPr>
                          <m:ctrlPr>
                            <a:rPr lang="en-US" altLang="zh-CN" sz="1200" i="1">
                              <a:solidFill>
                                <a:schemeClr val="accent1"/>
                              </a:solidFill>
                              <a:latin typeface="Cambria Math" panose="02040503050406030204" pitchFamily="18" charset="0"/>
                            </a:rPr>
                          </m:ctrlPr>
                        </m:sSupPr>
                        <m:e>
                          <m:r>
                            <a:rPr lang="en-US" altLang="zh-CN" sz="1200" b="0" i="1" smtClean="0">
                              <a:solidFill>
                                <a:schemeClr val="accent1"/>
                              </a:solidFill>
                              <a:latin typeface="Cambria Math" panose="02040503050406030204" pitchFamily="18" charset="0"/>
                            </a:rPr>
                            <m:t>2</m:t>
                          </m:r>
                        </m:e>
                        <m:sup>
                          <m:r>
                            <m:rPr>
                              <m:sty m:val="p"/>
                            </m:rPr>
                            <a:rPr lang="en-US" altLang="zh-CN" sz="1200" i="1">
                              <a:solidFill>
                                <a:schemeClr val="accent1"/>
                              </a:solidFill>
                              <a:latin typeface="Cambria Math" panose="02040503050406030204" pitchFamily="18" charset="0"/>
                            </a:rPr>
                            <m:t>n</m:t>
                          </m:r>
                        </m:sup>
                      </m:sSup>
                    </m:oMath>
                  </a14:m>
                  <a:endParaRPr lang="en-US" altLang="zh-CN" sz="1200" dirty="0">
                    <a:solidFill>
                      <a:schemeClr val="accent1"/>
                    </a:solidFill>
                    <a:latin typeface="ui-monospace"/>
                  </a:endParaRPr>
                </a:p>
                <a:p>
                  <a:r>
                    <a:rPr lang="zh-CN" altLang="en-US" sz="1200" dirty="0">
                      <a:solidFill>
                        <a:schemeClr val="accent1"/>
                      </a:solidFill>
                      <a:latin typeface="ui-monospace"/>
                    </a:rPr>
                    <a:t>路线选择</a:t>
                  </a:r>
                  <a:endParaRPr lang="en-US" altLang="zh-CN" sz="1200" dirty="0">
                    <a:solidFill>
                      <a:schemeClr val="accent1"/>
                    </a:solidFill>
                    <a:latin typeface="ui-monospace"/>
                  </a:endParaRPr>
                </a:p>
              </p:txBody>
            </p:sp>
          </mc:Choice>
          <mc:Fallback xmlns="">
            <p:sp>
              <p:nvSpPr>
                <p:cNvPr id="8" name="TextBox 36">
                  <a:extLst>
                    <a:ext uri="{FF2B5EF4-FFF2-40B4-BE49-F238E27FC236}">
                      <a16:creationId xmlns:a16="http://schemas.microsoft.com/office/drawing/2014/main" id="{34626145-7AEE-55B6-A78C-9797B608488A}"/>
                    </a:ext>
                  </a:extLst>
                </p:cNvPr>
                <p:cNvSpPr txBox="1">
                  <a:spLocks noRot="1" noChangeAspect="1" noMove="1" noResize="1" noEditPoints="1" noAdjustHandles="1" noChangeArrowheads="1" noChangeShapeType="1" noTextEdit="1"/>
                </p:cNvSpPr>
                <p:nvPr/>
              </p:nvSpPr>
              <p:spPr>
                <a:xfrm>
                  <a:off x="7667294" y="6245750"/>
                  <a:ext cx="4281578" cy="6555641"/>
                </a:xfrm>
                <a:prstGeom prst="rect">
                  <a:avLst/>
                </a:prstGeom>
                <a:blipFill>
                  <a:blip r:embed="rId2"/>
                  <a:stretch>
                    <a:fillRect l="-142" r="-3419"/>
                  </a:stretch>
                </a:blipFill>
              </p:spPr>
              <p:txBody>
                <a:bodyPr/>
                <a:lstStyle/>
                <a:p>
                  <a:r>
                    <a:rPr lang="en-US">
                      <a:noFill/>
                    </a:rPr>
                    <a:t> </a:t>
                  </a:r>
                </a:p>
              </p:txBody>
            </p:sp>
          </mc:Fallback>
        </mc:AlternateContent>
      </p:grpSp>
      <p:pic>
        <p:nvPicPr>
          <p:cNvPr id="15" name="Picture 14">
            <a:extLst>
              <a:ext uri="{FF2B5EF4-FFF2-40B4-BE49-F238E27FC236}">
                <a16:creationId xmlns:a16="http://schemas.microsoft.com/office/drawing/2014/main" id="{B7159D30-6AF1-727B-31E0-CF223409B1A4}"/>
              </a:ext>
            </a:extLst>
          </p:cNvPr>
          <p:cNvPicPr>
            <a:picLocks noChangeAspect="1"/>
          </p:cNvPicPr>
          <p:nvPr/>
        </p:nvPicPr>
        <p:blipFill>
          <a:blip r:embed="rId3"/>
          <a:stretch>
            <a:fillRect/>
          </a:stretch>
        </p:blipFill>
        <p:spPr>
          <a:xfrm>
            <a:off x="5969000" y="1022972"/>
            <a:ext cx="1355704" cy="679542"/>
          </a:xfrm>
          <a:prstGeom prst="rect">
            <a:avLst/>
          </a:prstGeom>
        </p:spPr>
      </p:pic>
      <p:pic>
        <p:nvPicPr>
          <p:cNvPr id="16" name="Picture 15">
            <a:extLst>
              <a:ext uri="{FF2B5EF4-FFF2-40B4-BE49-F238E27FC236}">
                <a16:creationId xmlns:a16="http://schemas.microsoft.com/office/drawing/2014/main" id="{3E3BA7AA-5129-C765-C551-59A8B513E922}"/>
              </a:ext>
            </a:extLst>
          </p:cNvPr>
          <p:cNvPicPr>
            <a:picLocks noChangeAspect="1"/>
          </p:cNvPicPr>
          <p:nvPr/>
        </p:nvPicPr>
        <p:blipFill>
          <a:blip r:embed="rId4"/>
          <a:stretch>
            <a:fillRect/>
          </a:stretch>
        </p:blipFill>
        <p:spPr>
          <a:xfrm>
            <a:off x="5321236" y="4857750"/>
            <a:ext cx="2163304" cy="1953952"/>
          </a:xfrm>
          <a:prstGeom prst="rect">
            <a:avLst/>
          </a:prstGeom>
        </p:spPr>
      </p:pic>
      <p:pic>
        <p:nvPicPr>
          <p:cNvPr id="38" name="Picture 37">
            <a:extLst>
              <a:ext uri="{FF2B5EF4-FFF2-40B4-BE49-F238E27FC236}">
                <a16:creationId xmlns:a16="http://schemas.microsoft.com/office/drawing/2014/main" id="{452459D8-5958-7B74-C610-D70B8CAB4040}"/>
              </a:ext>
            </a:extLst>
          </p:cNvPr>
          <p:cNvPicPr>
            <a:picLocks noChangeAspect="1"/>
          </p:cNvPicPr>
          <p:nvPr/>
        </p:nvPicPr>
        <p:blipFill>
          <a:blip r:embed="rId5"/>
          <a:stretch>
            <a:fillRect/>
          </a:stretch>
        </p:blipFill>
        <p:spPr>
          <a:xfrm>
            <a:off x="6338894" y="3779238"/>
            <a:ext cx="1145646" cy="647354"/>
          </a:xfrm>
          <a:prstGeom prst="rect">
            <a:avLst/>
          </a:prstGeom>
        </p:spPr>
      </p:pic>
      <p:sp>
        <p:nvSpPr>
          <p:cNvPr id="17" name="Rectangle: Rounded Corners 16">
            <a:extLst>
              <a:ext uri="{FF2B5EF4-FFF2-40B4-BE49-F238E27FC236}">
                <a16:creationId xmlns:a16="http://schemas.microsoft.com/office/drawing/2014/main" id="{93C71703-1944-8B29-876D-E5DDC0A44562}"/>
              </a:ext>
            </a:extLst>
          </p:cNvPr>
          <p:cNvSpPr/>
          <p:nvPr/>
        </p:nvSpPr>
        <p:spPr>
          <a:xfrm>
            <a:off x="7753662" y="371929"/>
            <a:ext cx="4281571" cy="6362244"/>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US" sz="800" b="0" dirty="0">
                <a:solidFill>
                  <a:srgbClr val="C586C0"/>
                </a:solidFill>
                <a:effectLst/>
                <a:latin typeface="Consolas" panose="020B0609020204030204" pitchFamily="49" charset="0"/>
              </a:rPr>
              <a:t>#define</a:t>
            </a:r>
            <a:r>
              <a:rPr lang="en-US" sz="800" b="0" dirty="0">
                <a:solidFill>
                  <a:srgbClr val="569CD6"/>
                </a:solidFill>
                <a:effectLst/>
                <a:latin typeface="Consolas" panose="020B0609020204030204" pitchFamily="49" charset="0"/>
              </a:rPr>
              <a:t> N </a:t>
            </a:r>
            <a:r>
              <a:rPr lang="en-US" sz="800" b="0" dirty="0">
                <a:solidFill>
                  <a:srgbClr val="B5CEA8"/>
                </a:solidFill>
                <a:effectLst/>
                <a:latin typeface="Consolas" panose="020B0609020204030204" pitchFamily="49" charset="0"/>
              </a:rPr>
              <a:t>4</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C586C0"/>
                </a:solidFill>
                <a:effectLst/>
                <a:latin typeface="Consolas" panose="020B0609020204030204" pitchFamily="49" charset="0"/>
              </a:rPr>
              <a:t>#define</a:t>
            </a:r>
            <a:r>
              <a:rPr lang="en-US" sz="800" b="0" dirty="0">
                <a:solidFill>
                  <a:srgbClr val="569CD6"/>
                </a:solidFill>
                <a:effectLst/>
                <a:latin typeface="Consolas" panose="020B0609020204030204" pitchFamily="49" charset="0"/>
              </a:rPr>
              <a:t> W </a:t>
            </a:r>
            <a:r>
              <a:rPr lang="en-US" sz="800" b="0" dirty="0">
                <a:solidFill>
                  <a:srgbClr val="B5CEA8"/>
                </a:solidFill>
                <a:effectLst/>
                <a:latin typeface="Consolas" panose="020B0609020204030204" pitchFamily="49" charset="0"/>
              </a:rPr>
              <a:t>5</a:t>
            </a:r>
            <a:endParaRPr lang="en-US" sz="800" b="0" dirty="0">
              <a:solidFill>
                <a:srgbClr val="D4D4D4"/>
              </a:solidFill>
              <a:effectLst/>
              <a:latin typeface="Consolas" panose="020B0609020204030204" pitchFamily="49" charset="0"/>
            </a:endParaRPr>
          </a:p>
          <a:p>
            <a:pPr>
              <a:lnSpc>
                <a:spcPts val="1425"/>
              </a:lnSpc>
              <a:buNone/>
            </a:pPr>
            <a:br>
              <a:rPr lang="en-US" sz="800" b="0" dirty="0">
                <a:solidFill>
                  <a:srgbClr val="D4D4D4"/>
                </a:solidFill>
                <a:effectLst/>
                <a:latin typeface="Consolas" panose="020B0609020204030204" pitchFamily="49" charset="0"/>
              </a:rPr>
            </a:b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a:t>
            </a:r>
            <a:r>
              <a:rPr lang="en-US" sz="800" b="0" dirty="0">
                <a:solidFill>
                  <a:srgbClr val="569CD6"/>
                </a:solidFill>
                <a:effectLst/>
                <a:latin typeface="Consolas" panose="020B0609020204030204" pitchFamily="49" charset="0"/>
              </a:rPr>
              <a:t>[]</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2</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4</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5</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6</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物品价值</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w</a:t>
            </a:r>
            <a:r>
              <a:rPr lang="en-US" sz="800" b="0" dirty="0">
                <a:solidFill>
                  <a:srgbClr val="569CD6"/>
                </a:solidFill>
                <a:effectLst/>
                <a:latin typeface="Consolas" panose="020B0609020204030204" pitchFamily="49" charset="0"/>
              </a:rPr>
              <a:t>[]</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2</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3</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4</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物品重量</a:t>
            </a:r>
            <a:endParaRPr lang="zh-CN" altLang="en-US" sz="800" b="0" dirty="0">
              <a:solidFill>
                <a:srgbClr val="D4D4D4"/>
              </a:solidFill>
              <a:effectLst/>
              <a:latin typeface="Consolas" panose="020B0609020204030204" pitchFamily="49" charset="0"/>
            </a:endParaRPr>
          </a:p>
          <a:p>
            <a:pPr>
              <a:lnSpc>
                <a:spcPts val="1425"/>
              </a:lnSpc>
              <a:buNone/>
            </a:pPr>
            <a:br>
              <a:rPr lang="zh-CN" altLang="en-US" sz="800" b="0" dirty="0">
                <a:solidFill>
                  <a:srgbClr val="D4D4D4"/>
                </a:solidFill>
                <a:effectLst/>
                <a:latin typeface="Consolas" panose="020B0609020204030204" pitchFamily="49" charset="0"/>
              </a:rPr>
            </a:br>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W</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 {};</a:t>
            </a:r>
          </a:p>
          <a:p>
            <a:pPr>
              <a:lnSpc>
                <a:spcPts val="1425"/>
              </a:lnSpc>
              <a:buNone/>
            </a:pP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&lt; </a:t>
            </a:r>
            <a:r>
              <a:rPr lang="en-US" sz="800" b="0" dirty="0">
                <a:solidFill>
                  <a:srgbClr val="569CD6"/>
                </a:solidFill>
                <a:effectLst/>
                <a:latin typeface="Consolas" panose="020B0609020204030204" pitchFamily="49" charset="0"/>
              </a:rPr>
              <a:t>W</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j</a:t>
            </a:r>
            <a:r>
              <a:rPr lang="en-US" sz="800" b="0" dirty="0" err="1">
                <a:solidFill>
                  <a:srgbClr val="D4D4D4"/>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&gt;= </a:t>
            </a:r>
            <a:r>
              <a:rPr lang="en-US" sz="800" b="0" dirty="0">
                <a:solidFill>
                  <a:srgbClr val="9CDCFE"/>
                </a:solidFill>
                <a:effectLst/>
                <a:latin typeface="Consolas" panose="020B0609020204030204" pitchFamily="49" charset="0"/>
              </a:rPr>
              <a:t>w</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物品</a:t>
            </a:r>
            <a:r>
              <a:rPr lang="en-US" sz="800" b="0" dirty="0" err="1">
                <a:solidFill>
                  <a:srgbClr val="6A9955"/>
                </a:solidFill>
                <a:effectLst/>
                <a:latin typeface="Consolas" panose="020B0609020204030204" pitchFamily="49" charset="0"/>
              </a:rPr>
              <a:t>i</a:t>
            </a:r>
            <a:r>
              <a:rPr lang="zh-CN" altLang="en-US" sz="800" b="0" dirty="0">
                <a:solidFill>
                  <a:srgbClr val="6A9955"/>
                </a:solidFill>
                <a:effectLst/>
                <a:latin typeface="Consolas" panose="020B0609020204030204" pitchFamily="49" charset="0"/>
              </a:rPr>
              <a:t>可选</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p>
          <a:p>
            <a:pPr>
              <a:lnSpc>
                <a:spcPts val="1425"/>
              </a:lnSpc>
              <a:buNone/>
            </a:pPr>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DCDCAA"/>
                </a:solidFill>
                <a:effectLst/>
                <a:latin typeface="Consolas" panose="020B0609020204030204" pitchFamily="49" charset="0"/>
              </a:rPr>
              <a:t>max</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w</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v</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else</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不选物品</a:t>
            </a:r>
            <a:r>
              <a:rPr lang="en-US" sz="800" b="0" dirty="0" err="1">
                <a:solidFill>
                  <a:srgbClr val="6A9955"/>
                </a:solidFill>
                <a:effectLst/>
                <a:latin typeface="Consolas" panose="020B0609020204030204" pitchFamily="49" charset="0"/>
              </a:rPr>
              <a:t>i</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printf</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a:solidFill>
                  <a:srgbClr val="9CDCFE"/>
                </a:solidFill>
                <a:effectLst/>
                <a:latin typeface="Consolas" panose="020B0609020204030204" pitchFamily="49" charset="0"/>
              </a:rPr>
              <a:t>%d</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W</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br>
              <a:rPr lang="en-US" sz="800" b="0" dirty="0">
                <a:solidFill>
                  <a:srgbClr val="D4D4D4"/>
                </a:solidFill>
                <a:effectLst/>
                <a:latin typeface="Consolas" panose="020B0609020204030204" pitchFamily="49" charset="0"/>
              </a:rPr>
            </a:b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max</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b</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&gt; </a:t>
            </a:r>
            <a:r>
              <a:rPr lang="en-US" sz="800" b="0" dirty="0">
                <a:solidFill>
                  <a:srgbClr val="9CDCFE"/>
                </a:solidFill>
                <a:effectLst/>
                <a:latin typeface="Consolas" panose="020B0609020204030204" pitchFamily="49" charset="0"/>
              </a:rPr>
              <a:t>b</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b</a:t>
            </a:r>
            <a:r>
              <a:rPr lang="en-US" sz="800" b="0" dirty="0">
                <a:solidFill>
                  <a:srgbClr val="D4D4D4"/>
                </a:solidFill>
                <a:effectLst/>
                <a:latin typeface="Consolas" panose="020B0609020204030204" pitchFamily="49" charset="0"/>
              </a:rPr>
              <a:t>;</a:t>
            </a:r>
          </a:p>
          <a:p>
            <a:pPr>
              <a:lnSpc>
                <a:spcPts val="1425"/>
              </a:lnSpc>
            </a:pPr>
            <a:r>
              <a:rPr lang="en-US" sz="8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1766675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A8301-5E27-B9D5-9803-7E27E8F1558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96368CF-F45A-FF0E-62A3-127687506929}"/>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CA47719D-62E6-168F-9CB3-5FC98A3BAB9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ADD1A0B-D658-E1AD-720F-57A43D281EC2}"/>
              </a:ext>
            </a:extLst>
          </p:cNvPr>
          <p:cNvSpPr txBox="1"/>
          <p:nvPr/>
        </p:nvSpPr>
        <p:spPr>
          <a:xfrm>
            <a:off x="0" y="959472"/>
            <a:ext cx="2986206" cy="34163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算法</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回溯法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分治法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动态规划</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贪心法</a:t>
            </a:r>
            <a:endParaRPr lang="en-US" altLang="zh-CN" sz="1200"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3228671A-E876-37F6-9854-E6D67BB79ACA}"/>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561190A3-4244-EA44-510B-9809F6D0DA5D}"/>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4" name="Group 25">
            <a:extLst>
              <a:ext uri="{FF2B5EF4-FFF2-40B4-BE49-F238E27FC236}">
                <a16:creationId xmlns:a16="http://schemas.microsoft.com/office/drawing/2014/main" id="{3F63CD63-7694-F25B-090D-6C76AE6C81B5}"/>
              </a:ext>
            </a:extLst>
          </p:cNvPr>
          <p:cNvGrpSpPr/>
          <p:nvPr/>
        </p:nvGrpSpPr>
        <p:grpSpPr>
          <a:xfrm>
            <a:off x="3097887" y="76666"/>
            <a:ext cx="4386653" cy="3342250"/>
            <a:chOff x="7614613" y="5950488"/>
            <a:chExt cx="4386653" cy="3342250"/>
          </a:xfrm>
        </p:grpSpPr>
        <p:sp>
          <p:nvSpPr>
            <p:cNvPr id="5" name="Rectangle: Rounded Corners 35">
              <a:extLst>
                <a:ext uri="{FF2B5EF4-FFF2-40B4-BE49-F238E27FC236}">
                  <a16:creationId xmlns:a16="http://schemas.microsoft.com/office/drawing/2014/main" id="{6B0AF8DA-6D8D-2B98-883F-9931436DA1C4}"/>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▶动态规划</a:t>
              </a:r>
            </a:p>
          </p:txBody>
        </p:sp>
        <mc:AlternateContent xmlns:mc="http://schemas.openxmlformats.org/markup-compatibility/2006" xmlns:a14="http://schemas.microsoft.com/office/drawing/2010/main">
          <mc:Choice Requires="a14">
            <p:sp>
              <p:nvSpPr>
                <p:cNvPr id="8" name="TextBox 36">
                  <a:extLst>
                    <a:ext uri="{FF2B5EF4-FFF2-40B4-BE49-F238E27FC236}">
                      <a16:creationId xmlns:a16="http://schemas.microsoft.com/office/drawing/2014/main" id="{3F43C78A-37C1-6A3E-CDA9-42F36D092CD5}"/>
                    </a:ext>
                  </a:extLst>
                </p:cNvPr>
                <p:cNvSpPr txBox="1"/>
                <p:nvPr/>
              </p:nvSpPr>
              <p:spPr>
                <a:xfrm>
                  <a:off x="7667294" y="6245750"/>
                  <a:ext cx="4281578" cy="3046988"/>
                </a:xfrm>
                <a:prstGeom prst="rect">
                  <a:avLst/>
                </a:prstGeom>
                <a:noFill/>
              </p:spPr>
              <p:txBody>
                <a:bodyPr wrap="square">
                  <a:spAutoFit/>
                </a:bodyPr>
                <a:lstStyle/>
                <a:p>
                  <a:r>
                    <a:rPr lang="zh-CN" altLang="en-US" sz="1200" dirty="0">
                      <a:solidFill>
                        <a:schemeClr val="accent1"/>
                      </a:solidFill>
                      <a:latin typeface="ui-monospace"/>
                    </a:rPr>
                    <a:t>一维步骤：</a:t>
                  </a:r>
                  <a:endParaRPr lang="en-US" altLang="zh-CN" sz="1200" dirty="0">
                    <a:solidFill>
                      <a:schemeClr val="accent1"/>
                    </a:solidFill>
                    <a:latin typeface="ui-monospace"/>
                  </a:endParaRPr>
                </a:p>
                <a:p>
                  <a:r>
                    <a:rPr lang="en-US" altLang="zh-CN" sz="1200" dirty="0">
                      <a:solidFill>
                        <a:schemeClr val="accent1"/>
                      </a:solidFill>
                      <a:latin typeface="ui-monospace"/>
                    </a:rPr>
                    <a:t>1.</a:t>
                  </a:r>
                  <a:r>
                    <a:rPr lang="zh-CN" altLang="en-US" sz="1200" dirty="0">
                      <a:solidFill>
                        <a:schemeClr val="accent1"/>
                      </a:solidFill>
                      <a:latin typeface="ui-monospace"/>
                    </a:rPr>
                    <a:t>确定</a:t>
                  </a:r>
                  <a:r>
                    <a:rPr lang="en-US" altLang="zh-CN" sz="1200" dirty="0" err="1">
                      <a:solidFill>
                        <a:schemeClr val="accent1"/>
                      </a:solidFill>
                      <a:latin typeface="ui-monospace"/>
                    </a:rPr>
                    <a:t>dp</a:t>
                  </a:r>
                  <a:r>
                    <a:rPr lang="zh-CN" altLang="en-US" sz="1200" dirty="0">
                      <a:solidFill>
                        <a:schemeClr val="accent1"/>
                      </a:solidFill>
                      <a:latin typeface="ui-monospace"/>
                    </a:rPr>
                    <a:t>数组和下标含义</a:t>
                  </a:r>
                  <a:endParaRPr lang="en-US" altLang="zh-CN" sz="1200" dirty="0">
                    <a:solidFill>
                      <a:schemeClr val="accent1"/>
                    </a:solidFill>
                    <a:latin typeface="ui-monospace"/>
                  </a:endParaRPr>
                </a:p>
                <a:p>
                  <a:r>
                    <a:rPr lang="en-US" altLang="zh-CN" sz="1200" dirty="0" err="1">
                      <a:solidFill>
                        <a:schemeClr val="accent1"/>
                      </a:solidFill>
                      <a:latin typeface="ui-monospace"/>
                    </a:rPr>
                    <a:t>dp</a:t>
                  </a:r>
                  <a:r>
                    <a:rPr lang="en-US" altLang="zh-CN" sz="1200" dirty="0">
                      <a:solidFill>
                        <a:schemeClr val="accent1"/>
                      </a:solidFill>
                      <a:latin typeface="ui-monospace"/>
                    </a:rPr>
                    <a:t>[j] </a:t>
                  </a:r>
                  <a:r>
                    <a:rPr lang="zh-CN" altLang="en-US" sz="1200" dirty="0">
                      <a:solidFill>
                        <a:schemeClr val="accent1"/>
                      </a:solidFill>
                      <a:latin typeface="ui-monospace"/>
                    </a:rPr>
                    <a:t>表示容量为 </a:t>
                  </a:r>
                  <a:r>
                    <a:rPr lang="en-US" altLang="zh-CN" sz="1200" dirty="0">
                      <a:solidFill>
                        <a:schemeClr val="accent1"/>
                      </a:solidFill>
                      <a:latin typeface="ui-monospace"/>
                    </a:rPr>
                    <a:t>j</a:t>
                  </a:r>
                  <a:r>
                    <a:rPr lang="zh-CN" altLang="en-US" sz="1200" dirty="0">
                      <a:solidFill>
                        <a:schemeClr val="accent1"/>
                      </a:solidFill>
                      <a:latin typeface="ui-monospace"/>
                    </a:rPr>
                    <a:t>的背包时的最大价值</a:t>
                  </a:r>
                  <a:endParaRPr lang="en-US" altLang="zh-CN" sz="1200" dirty="0">
                    <a:solidFill>
                      <a:schemeClr val="accent1"/>
                    </a:solidFill>
                    <a:latin typeface="ui-monospace"/>
                  </a:endParaRPr>
                </a:p>
                <a:p>
                  <a:r>
                    <a:rPr lang="en-US" altLang="zh-CN" sz="1200" dirty="0">
                      <a:solidFill>
                        <a:schemeClr val="accent1"/>
                      </a:solidFill>
                      <a:latin typeface="ui-monospace"/>
                    </a:rPr>
                    <a:t>2.</a:t>
                  </a:r>
                  <a:r>
                    <a:rPr lang="zh-CN" altLang="en-US" sz="1200" dirty="0">
                      <a:solidFill>
                        <a:schemeClr val="accent1"/>
                      </a:solidFill>
                      <a:latin typeface="ui-monospace"/>
                    </a:rPr>
                    <a:t>确定递推公式</a:t>
                  </a:r>
                  <a:endParaRPr lang="en-US" altLang="zh-CN" sz="1200" dirty="0">
                    <a:solidFill>
                      <a:schemeClr val="accent1"/>
                    </a:solidFill>
                    <a:latin typeface="ui-monospace"/>
                  </a:endParaRPr>
                </a:p>
                <a:p>
                  <a:r>
                    <a:rPr lang="en-US" altLang="zh-CN" sz="1200" dirty="0">
                      <a:solidFill>
                        <a:schemeClr val="accent1"/>
                      </a:solidFill>
                      <a:latin typeface="ui-monospace"/>
                    </a:rPr>
                    <a:t>case1</a:t>
                  </a:r>
                  <a:r>
                    <a:rPr lang="zh-CN" altLang="en-US" sz="1200" dirty="0">
                      <a:solidFill>
                        <a:schemeClr val="accent1"/>
                      </a:solidFill>
                      <a:latin typeface="ui-monospace"/>
                    </a:rPr>
                    <a:t>：</a:t>
                  </a:r>
                  <a:r>
                    <a:rPr lang="zh-CN" altLang="en-US" sz="1200" b="1" dirty="0">
                      <a:solidFill>
                        <a:schemeClr val="accent1"/>
                      </a:solidFill>
                      <a:latin typeface="ui-monospace"/>
                    </a:rPr>
                    <a:t>确定不放物品 </a:t>
                  </a:r>
                  <a:r>
                    <a:rPr lang="en-US" altLang="zh-CN" sz="1200" b="1" dirty="0" err="1">
                      <a:solidFill>
                        <a:schemeClr val="accent1"/>
                      </a:solidFill>
                      <a:latin typeface="ui-monospace"/>
                    </a:rPr>
                    <a:t>i</a:t>
                  </a:r>
                  <a:r>
                    <a:rPr lang="en-US" altLang="zh-CN" sz="1200" b="1" dirty="0">
                      <a:solidFill>
                        <a:schemeClr val="accent1"/>
                      </a:solidFill>
                      <a:latin typeface="ui-monospace"/>
                    </a:rPr>
                    <a:t> </a:t>
                  </a:r>
                  <a:r>
                    <a:rPr lang="zh-CN" altLang="en-US" sz="1200" b="1" dirty="0">
                      <a:solidFill>
                        <a:schemeClr val="accent1"/>
                      </a:solidFill>
                      <a:latin typeface="ui-monospace"/>
                    </a:rPr>
                    <a:t>时</a:t>
                  </a:r>
                  <a:r>
                    <a:rPr lang="zh-CN" altLang="en-US" sz="1200" dirty="0">
                      <a:solidFill>
                        <a:schemeClr val="accent1"/>
                      </a:solidFill>
                      <a:latin typeface="ui-monospace"/>
                    </a:rPr>
                    <a:t>，公式可推此时最大价值为 </a:t>
                  </a:r>
                  <a:r>
                    <a:rPr lang="en-US" altLang="zh-CN" sz="1200" dirty="0" err="1">
                      <a:solidFill>
                        <a:schemeClr val="accent1"/>
                      </a:solidFill>
                      <a:latin typeface="ui-monospace"/>
                    </a:rPr>
                    <a:t>dp</a:t>
                  </a:r>
                  <a:r>
                    <a:rPr lang="en-US" altLang="zh-CN" sz="1200" dirty="0">
                      <a:solidFill>
                        <a:schemeClr val="accent1"/>
                      </a:solidFill>
                      <a:latin typeface="ui-monospace"/>
                    </a:rPr>
                    <a:t>[i-1][j]</a:t>
                  </a:r>
                </a:p>
                <a:p>
                  <a:r>
                    <a:rPr lang="en-US" altLang="zh-CN" sz="1200" dirty="0">
                      <a:solidFill>
                        <a:schemeClr val="accent1"/>
                      </a:solidFill>
                      <a:latin typeface="ui-monospace"/>
                    </a:rPr>
                    <a:t>case2</a:t>
                  </a:r>
                  <a:r>
                    <a:rPr lang="zh-CN" altLang="en-US" sz="1200" dirty="0">
                      <a:solidFill>
                        <a:schemeClr val="accent1"/>
                      </a:solidFill>
                      <a:latin typeface="ui-monospace"/>
                    </a:rPr>
                    <a:t>：</a:t>
                  </a:r>
                  <a:r>
                    <a:rPr lang="zh-CN" altLang="en-US" sz="1200" b="1" dirty="0">
                      <a:solidFill>
                        <a:schemeClr val="accent1"/>
                      </a:solidFill>
                      <a:latin typeface="ui-monospace"/>
                    </a:rPr>
                    <a:t>确定放入物品 </a:t>
                  </a:r>
                  <a:r>
                    <a:rPr lang="en-US" altLang="zh-CN" sz="1200" b="1" dirty="0" err="1">
                      <a:solidFill>
                        <a:schemeClr val="accent1"/>
                      </a:solidFill>
                      <a:latin typeface="ui-monospace"/>
                    </a:rPr>
                    <a:t>i</a:t>
                  </a:r>
                  <a:r>
                    <a:rPr lang="en-US" altLang="zh-CN" sz="1200" b="1" dirty="0">
                      <a:solidFill>
                        <a:schemeClr val="accent1"/>
                      </a:solidFill>
                      <a:latin typeface="ui-monospace"/>
                    </a:rPr>
                    <a:t> </a:t>
                  </a:r>
                  <a:r>
                    <a:rPr lang="zh-CN" altLang="en-US" sz="1200" b="1" dirty="0">
                      <a:solidFill>
                        <a:schemeClr val="accent1"/>
                      </a:solidFill>
                      <a:latin typeface="ui-monospace"/>
                    </a:rPr>
                    <a:t>时</a:t>
                  </a:r>
                  <a:r>
                    <a:rPr lang="zh-CN" altLang="en-US" sz="1200" dirty="0">
                      <a:solidFill>
                        <a:schemeClr val="accent1"/>
                      </a:solidFill>
                      <a:latin typeface="ui-monospace"/>
                    </a:rPr>
                    <a:t>，前提条件是背包容量</a:t>
                  </a:r>
                  <a:r>
                    <a:rPr lang="en-US" altLang="zh-CN" sz="1200" dirty="0">
                      <a:solidFill>
                        <a:schemeClr val="accent1"/>
                      </a:solidFill>
                      <a:latin typeface="ui-monospace"/>
                    </a:rPr>
                    <a:t>W</a:t>
                  </a:r>
                  <a:r>
                    <a:rPr lang="zh-CN" altLang="en-US" sz="1200" dirty="0">
                      <a:solidFill>
                        <a:schemeClr val="accent1"/>
                      </a:solidFill>
                      <a:latin typeface="ui-monospace"/>
                    </a:rPr>
                    <a:t>大于</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m:rPr>
                              <m:sty m:val="p"/>
                            </m:rPr>
                            <a:rPr lang="en-US" altLang="zh-CN" sz="1200" i="1">
                              <a:solidFill>
                                <a:schemeClr val="accent1"/>
                              </a:solidFill>
                              <a:latin typeface="Cambria Math" panose="02040503050406030204" pitchFamily="18" charset="0"/>
                            </a:rPr>
                            <m:t>w</m:t>
                          </m:r>
                        </m:e>
                        <m:sub>
                          <m:r>
                            <a:rPr lang="en-US" altLang="zh-CN" sz="1200" i="1">
                              <a:solidFill>
                                <a:schemeClr val="accent1"/>
                              </a:solidFill>
                              <a:latin typeface="Cambria Math" panose="02040503050406030204" pitchFamily="18" charset="0"/>
                            </a:rPr>
                            <m:t>𝑖</m:t>
                          </m:r>
                        </m:sub>
                      </m:sSub>
                    </m:oMath>
                  </a14:m>
                  <a:r>
                    <a:rPr lang="zh-CN" altLang="en-US" sz="1200" dirty="0">
                      <a:solidFill>
                        <a:schemeClr val="accent1"/>
                      </a:solidFill>
                      <a:latin typeface="ui-monospace"/>
                    </a:rPr>
                    <a:t>，剩余背包容量为 </a:t>
                  </a:r>
                  <a:r>
                    <a:rPr lang="en-US" altLang="zh-CN" sz="1200" dirty="0">
                      <a:solidFill>
                        <a:schemeClr val="accent1"/>
                      </a:solidFill>
                      <a:latin typeface="ui-monospace"/>
                    </a:rPr>
                    <a:t>j-</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m:rPr>
                              <m:sty m:val="p"/>
                            </m:rPr>
                            <a:rPr lang="en-US" altLang="zh-CN" sz="1200" i="1">
                              <a:solidFill>
                                <a:schemeClr val="accent1"/>
                              </a:solidFill>
                              <a:latin typeface="Cambria Math" panose="02040503050406030204" pitchFamily="18" charset="0"/>
                            </a:rPr>
                            <m:t>w</m:t>
                          </m:r>
                        </m:e>
                        <m:sub>
                          <m:r>
                            <a:rPr lang="en-US" altLang="zh-CN" sz="1200" i="1">
                              <a:solidFill>
                                <a:schemeClr val="accent1"/>
                              </a:solidFill>
                              <a:latin typeface="Cambria Math" panose="02040503050406030204" pitchFamily="18" charset="0"/>
                            </a:rPr>
                            <m:t>𝑖</m:t>
                          </m:r>
                        </m:sub>
                      </m:sSub>
                    </m:oMath>
                  </a14:m>
                  <a:r>
                    <a:rPr lang="zh-CN" altLang="en-US" sz="1200" dirty="0">
                      <a:solidFill>
                        <a:schemeClr val="accent1"/>
                      </a:solidFill>
                      <a:latin typeface="ui-monospace"/>
                    </a:rPr>
                    <a:t>，则问题转换为求 从下标 </a:t>
                  </a:r>
                  <a:r>
                    <a:rPr lang="en-US" altLang="zh-CN" sz="1200" dirty="0">
                      <a:solidFill>
                        <a:schemeClr val="accent1"/>
                      </a:solidFill>
                      <a:latin typeface="ui-monospace"/>
                    </a:rPr>
                    <a:t>[1,i-1]</a:t>
                  </a:r>
                  <a:r>
                    <a:rPr lang="zh-CN" altLang="en-US" sz="1200" dirty="0">
                      <a:solidFill>
                        <a:schemeClr val="accent1"/>
                      </a:solidFill>
                      <a:latin typeface="ui-monospace"/>
                    </a:rPr>
                    <a:t>中任意选取物品放入容量为 </a:t>
                  </a:r>
                  <a:r>
                    <a:rPr lang="en-US" altLang="zh-CN" sz="1200" dirty="0">
                      <a:solidFill>
                        <a:schemeClr val="accent1"/>
                      </a:solidFill>
                      <a:latin typeface="ui-monospace"/>
                    </a:rPr>
                    <a:t>j-</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m:rPr>
                              <m:sty m:val="p"/>
                            </m:rPr>
                            <a:rPr lang="en-US" altLang="zh-CN" sz="1200" i="1">
                              <a:solidFill>
                                <a:schemeClr val="accent1"/>
                              </a:solidFill>
                              <a:latin typeface="Cambria Math" panose="02040503050406030204" pitchFamily="18" charset="0"/>
                            </a:rPr>
                            <m:t>w</m:t>
                          </m:r>
                        </m:e>
                        <m:sub>
                          <m:r>
                            <a:rPr lang="en-US" altLang="zh-CN" sz="1200" i="1">
                              <a:solidFill>
                                <a:schemeClr val="accent1"/>
                              </a:solidFill>
                              <a:latin typeface="Cambria Math" panose="02040503050406030204" pitchFamily="18" charset="0"/>
                            </a:rPr>
                            <m:t>𝑖</m:t>
                          </m:r>
                        </m:sub>
                      </m:sSub>
                    </m:oMath>
                  </a14:m>
                  <a:r>
                    <a:rPr lang="en-US" altLang="zh-CN" sz="1200" dirty="0">
                      <a:solidFill>
                        <a:schemeClr val="accent1"/>
                      </a:solidFill>
                      <a:latin typeface="ui-monospace"/>
                    </a:rPr>
                    <a:t> </a:t>
                  </a:r>
                  <a:r>
                    <a:rPr lang="zh-CN" altLang="en-US" sz="1200" dirty="0">
                      <a:solidFill>
                        <a:schemeClr val="accent1"/>
                      </a:solidFill>
                      <a:latin typeface="ui-monospace"/>
                    </a:rPr>
                    <a:t>的背包时的最大价值，即 </a:t>
                  </a:r>
                  <a:r>
                    <a:rPr lang="en-US" altLang="zh-CN" sz="1200" dirty="0" err="1">
                      <a:solidFill>
                        <a:schemeClr val="accent1"/>
                      </a:solidFill>
                      <a:latin typeface="ui-monospace"/>
                    </a:rPr>
                    <a:t>dp</a:t>
                  </a:r>
                  <a:r>
                    <a:rPr lang="en-US" altLang="zh-CN" sz="1200" dirty="0">
                      <a:solidFill>
                        <a:schemeClr val="accent1"/>
                      </a:solidFill>
                      <a:latin typeface="ui-monospace"/>
                    </a:rPr>
                    <a:t>[i-1][j-</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m:rPr>
                              <m:sty m:val="p"/>
                            </m:rPr>
                            <a:rPr lang="en-US" altLang="zh-CN" sz="1200" i="1">
                              <a:solidFill>
                                <a:schemeClr val="accent1"/>
                              </a:solidFill>
                              <a:latin typeface="Cambria Math" panose="02040503050406030204" pitchFamily="18" charset="0"/>
                            </a:rPr>
                            <m:t>w</m:t>
                          </m:r>
                        </m:e>
                        <m:sub>
                          <m:r>
                            <a:rPr lang="en-US" altLang="zh-CN" sz="1200" i="1">
                              <a:solidFill>
                                <a:schemeClr val="accent1"/>
                              </a:solidFill>
                              <a:latin typeface="Cambria Math" panose="02040503050406030204" pitchFamily="18" charset="0"/>
                            </a:rPr>
                            <m:t>𝑖</m:t>
                          </m:r>
                        </m:sub>
                      </m:sSub>
                    </m:oMath>
                  </a14:m>
                  <a:r>
                    <a:rPr lang="en-US" altLang="zh-CN" sz="1200" dirty="0">
                      <a:solidFill>
                        <a:schemeClr val="accent1"/>
                      </a:solidFill>
                      <a:latin typeface="ui-monospace"/>
                    </a:rPr>
                    <a:t>]</a:t>
                  </a:r>
                  <a:r>
                    <a:rPr lang="zh-CN" altLang="en-US" sz="1200" dirty="0">
                      <a:solidFill>
                        <a:schemeClr val="accent1"/>
                      </a:solidFill>
                      <a:latin typeface="ui-monospace"/>
                    </a:rPr>
                    <a:t>，则此时最大价值为 </a:t>
                  </a:r>
                  <a:r>
                    <a:rPr lang="en-US" altLang="zh-CN" sz="1200" dirty="0">
                      <a:solidFill>
                        <a:schemeClr val="accent1"/>
                      </a:solidFill>
                      <a:latin typeface="ui-monospace"/>
                    </a:rPr>
                    <a:t>dp[i-1][j-</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m:rPr>
                              <m:sty m:val="p"/>
                            </m:rPr>
                            <a:rPr lang="en-US" altLang="zh-CN" sz="1200" i="1">
                              <a:solidFill>
                                <a:schemeClr val="accent1"/>
                              </a:solidFill>
                              <a:latin typeface="Cambria Math" panose="02040503050406030204" pitchFamily="18" charset="0"/>
                            </a:rPr>
                            <m:t>w</m:t>
                          </m:r>
                        </m:e>
                        <m:sub>
                          <m:r>
                            <a:rPr lang="en-US" altLang="zh-CN" sz="1200" i="1">
                              <a:solidFill>
                                <a:schemeClr val="accent1"/>
                              </a:solidFill>
                              <a:latin typeface="Cambria Math" panose="02040503050406030204" pitchFamily="18" charset="0"/>
                            </a:rPr>
                            <m:t>𝑖</m:t>
                          </m:r>
                        </m:sub>
                      </m:sSub>
                    </m:oMath>
                  </a14:m>
                  <a:r>
                    <a:rPr lang="en-US" altLang="zh-CN" sz="1200" dirty="0">
                      <a:solidFill>
                        <a:schemeClr val="accent1"/>
                      </a:solidFill>
                      <a:latin typeface="ui-monospace"/>
                    </a:rPr>
                    <a:t>] +</a:t>
                  </a:r>
                  <a:r>
                    <a:rPr lang="en-US" altLang="zh-CN" sz="1200" dirty="0">
                      <a:solidFill>
                        <a:schemeClr val="accent1"/>
                      </a:solidFill>
                    </a:rPr>
                    <a:t> </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a:rPr lang="en-US" altLang="zh-CN" sz="1200" i="1">
                              <a:solidFill>
                                <a:schemeClr val="accent1"/>
                              </a:solidFill>
                              <a:latin typeface="Cambria Math" panose="02040503050406030204" pitchFamily="18" charset="0"/>
                            </a:rPr>
                            <m:t>𝑣</m:t>
                          </m:r>
                        </m:e>
                        <m:sub>
                          <m:r>
                            <a:rPr lang="en-US" altLang="zh-CN" sz="1200" i="1">
                              <a:solidFill>
                                <a:schemeClr val="accent1"/>
                              </a:solidFill>
                              <a:latin typeface="Cambria Math" panose="02040503050406030204" pitchFamily="18" charset="0"/>
                            </a:rPr>
                            <m:t>𝑖</m:t>
                          </m:r>
                        </m:sub>
                      </m:sSub>
                    </m:oMath>
                  </a14:m>
                  <a:endParaRPr lang="en-US" altLang="zh-CN" sz="1200" dirty="0">
                    <a:solidFill>
                      <a:schemeClr val="accent1"/>
                    </a:solidFill>
                    <a:latin typeface="ui-monospace"/>
                  </a:endParaRPr>
                </a:p>
                <a:p>
                  <a:r>
                    <a:rPr lang="zh-CN" altLang="en-US" sz="1200" dirty="0">
                      <a:solidFill>
                        <a:schemeClr val="accent1"/>
                      </a:solidFill>
                      <a:latin typeface="ui-monospace"/>
                    </a:rPr>
                    <a:t>所以状态转移方程为</a:t>
                  </a:r>
                  <a:endParaRPr lang="en-US" altLang="zh-CN" sz="1200" dirty="0">
                    <a:solidFill>
                      <a:schemeClr val="accent1"/>
                    </a:solidFill>
                    <a:latin typeface="ui-monospace"/>
                  </a:endParaRPr>
                </a:p>
                <a:p>
                  <a:r>
                    <a:rPr lang="en-US" altLang="zh-CN" sz="1200" dirty="0" err="1">
                      <a:solidFill>
                        <a:schemeClr val="accent1"/>
                      </a:solidFill>
                      <a:latin typeface="ui-monospace"/>
                    </a:rPr>
                    <a:t>dp</a:t>
                  </a:r>
                  <a:r>
                    <a:rPr lang="en-US" altLang="zh-CN" sz="1200" dirty="0">
                      <a:solidFill>
                        <a:schemeClr val="accent1"/>
                      </a:solidFill>
                      <a:latin typeface="ui-monospace"/>
                    </a:rPr>
                    <a:t>[</a:t>
                  </a:r>
                  <a:r>
                    <a:rPr lang="en-US" altLang="zh-CN" sz="1200" dirty="0" err="1">
                      <a:solidFill>
                        <a:schemeClr val="accent1"/>
                      </a:solidFill>
                      <a:latin typeface="ui-monospace"/>
                    </a:rPr>
                    <a:t>i</a:t>
                  </a:r>
                  <a:r>
                    <a:rPr lang="en-US" altLang="zh-CN" sz="1200" dirty="0">
                      <a:solidFill>
                        <a:schemeClr val="accent1"/>
                      </a:solidFill>
                      <a:latin typeface="ui-monospace"/>
                    </a:rPr>
                    <a:t>][j] = max(</a:t>
                  </a:r>
                  <a:r>
                    <a:rPr lang="en-US" altLang="zh-CN" sz="1200" dirty="0" err="1">
                      <a:solidFill>
                        <a:schemeClr val="accent1"/>
                      </a:solidFill>
                      <a:latin typeface="ui-monospace"/>
                    </a:rPr>
                    <a:t>dp</a:t>
                  </a:r>
                  <a:r>
                    <a:rPr lang="en-US" altLang="zh-CN" sz="1200" dirty="0">
                      <a:solidFill>
                        <a:schemeClr val="accent1"/>
                      </a:solidFill>
                      <a:latin typeface="ui-monospace"/>
                    </a:rPr>
                    <a:t>[i-1][j], dp[i-1][j-</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m:rPr>
                              <m:sty m:val="p"/>
                            </m:rPr>
                            <a:rPr lang="en-US" altLang="zh-CN" sz="1200" i="1">
                              <a:solidFill>
                                <a:schemeClr val="accent1"/>
                              </a:solidFill>
                              <a:latin typeface="Cambria Math" panose="02040503050406030204" pitchFamily="18" charset="0"/>
                            </a:rPr>
                            <m:t>w</m:t>
                          </m:r>
                        </m:e>
                        <m:sub>
                          <m:r>
                            <a:rPr lang="en-US" altLang="zh-CN" sz="1200" i="1">
                              <a:solidFill>
                                <a:schemeClr val="accent1"/>
                              </a:solidFill>
                              <a:latin typeface="Cambria Math" panose="02040503050406030204" pitchFamily="18" charset="0"/>
                            </a:rPr>
                            <m:t>𝑖</m:t>
                          </m:r>
                        </m:sub>
                      </m:sSub>
                    </m:oMath>
                  </a14:m>
                  <a:r>
                    <a:rPr lang="en-US" altLang="zh-CN" sz="1200" dirty="0">
                      <a:solidFill>
                        <a:schemeClr val="accent1"/>
                      </a:solidFill>
                      <a:latin typeface="ui-monospace"/>
                    </a:rPr>
                    <a:t>] +</a:t>
                  </a:r>
                  <a:r>
                    <a:rPr lang="en-US" altLang="zh-CN" sz="1200" dirty="0">
                      <a:solidFill>
                        <a:schemeClr val="accent1"/>
                      </a:solidFill>
                    </a:rPr>
                    <a:t> </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a:rPr lang="en-US" altLang="zh-CN" sz="1200" i="1">
                              <a:solidFill>
                                <a:schemeClr val="accent1"/>
                              </a:solidFill>
                              <a:latin typeface="Cambria Math" panose="02040503050406030204" pitchFamily="18" charset="0"/>
                            </a:rPr>
                            <m:t>𝑣</m:t>
                          </m:r>
                        </m:e>
                        <m:sub>
                          <m:r>
                            <a:rPr lang="en-US" altLang="zh-CN" sz="1200" i="1">
                              <a:solidFill>
                                <a:schemeClr val="accent1"/>
                              </a:solidFill>
                              <a:latin typeface="Cambria Math" panose="02040503050406030204" pitchFamily="18" charset="0"/>
                            </a:rPr>
                            <m:t>𝑖</m:t>
                          </m:r>
                        </m:sub>
                      </m:sSub>
                    </m:oMath>
                  </a14:m>
                  <a:r>
                    <a:rPr lang="en-US" altLang="zh-CN" sz="1200" dirty="0">
                      <a:solidFill>
                        <a:schemeClr val="accent1"/>
                      </a:solidFill>
                      <a:latin typeface="ui-monospace"/>
                    </a:rPr>
                    <a:t>)</a:t>
                  </a:r>
                </a:p>
                <a:p>
                  <a:r>
                    <a:rPr lang="en-US" altLang="zh-CN" sz="1200" dirty="0">
                      <a:solidFill>
                        <a:schemeClr val="accent1"/>
                      </a:solidFill>
                      <a:latin typeface="ui-monospace"/>
                    </a:rPr>
                    <a:t>3.dp</a:t>
                  </a:r>
                  <a:r>
                    <a:rPr lang="zh-CN" altLang="en-US" sz="1200" dirty="0">
                      <a:solidFill>
                        <a:schemeClr val="accent1"/>
                      </a:solidFill>
                      <a:latin typeface="ui-monospace"/>
                    </a:rPr>
                    <a:t>数组初始化</a:t>
                  </a:r>
                  <a:endParaRPr lang="en-US" altLang="zh-CN" sz="1200" dirty="0">
                    <a:solidFill>
                      <a:schemeClr val="accent1"/>
                    </a:solidFill>
                    <a:latin typeface="ui-monospace"/>
                  </a:endParaRPr>
                </a:p>
                <a:p>
                  <a:r>
                    <a:rPr lang="en-US" altLang="zh-CN" sz="1200" dirty="0" err="1">
                      <a:solidFill>
                        <a:schemeClr val="accent1"/>
                      </a:solidFill>
                      <a:latin typeface="ui-monospace"/>
                    </a:rPr>
                    <a:t>dp</a:t>
                  </a:r>
                  <a:r>
                    <a:rPr lang="en-US" altLang="zh-CN" sz="1200" dirty="0">
                      <a:solidFill>
                        <a:schemeClr val="accent1"/>
                      </a:solidFill>
                      <a:latin typeface="ui-monospace"/>
                    </a:rPr>
                    <a:t>[0][j] </a:t>
                  </a:r>
                  <a:r>
                    <a:rPr lang="zh-CN" altLang="en-US" sz="1200" dirty="0">
                      <a:solidFill>
                        <a:schemeClr val="accent1"/>
                      </a:solidFill>
                      <a:latin typeface="ui-monospace"/>
                    </a:rPr>
                    <a:t>使用各个容量的背包放入编号</a:t>
                  </a:r>
                  <a:r>
                    <a:rPr lang="en-US" altLang="zh-CN" sz="1200" dirty="0">
                      <a:solidFill>
                        <a:schemeClr val="accent1"/>
                      </a:solidFill>
                      <a:latin typeface="ui-monospace"/>
                    </a:rPr>
                    <a:t>0</a:t>
                  </a:r>
                  <a:r>
                    <a:rPr lang="zh-CN" altLang="en-US" sz="1200" dirty="0">
                      <a:solidFill>
                        <a:schemeClr val="accent1"/>
                      </a:solidFill>
                      <a:latin typeface="ui-monospace"/>
                    </a:rPr>
                    <a:t>物品的最大价值</a:t>
                  </a:r>
                  <a:endParaRPr lang="en-US" altLang="zh-CN" sz="1200" dirty="0">
                    <a:solidFill>
                      <a:schemeClr val="accent1"/>
                    </a:solidFill>
                    <a:latin typeface="ui-monospace"/>
                  </a:endParaRPr>
                </a:p>
                <a:p>
                  <a:r>
                    <a:rPr lang="en-US" altLang="zh-CN" sz="1200" dirty="0" err="1">
                      <a:solidFill>
                        <a:schemeClr val="accent1"/>
                      </a:solidFill>
                      <a:latin typeface="ui-monospace"/>
                    </a:rPr>
                    <a:t>dp</a:t>
                  </a:r>
                  <a:r>
                    <a:rPr lang="en-US" altLang="zh-CN" sz="1200" dirty="0">
                      <a:solidFill>
                        <a:schemeClr val="accent1"/>
                      </a:solidFill>
                      <a:latin typeface="ui-monospace"/>
                    </a:rPr>
                    <a:t>[</a:t>
                  </a:r>
                  <a:r>
                    <a:rPr lang="en-US" altLang="zh-CN" sz="1200" dirty="0" err="1">
                      <a:solidFill>
                        <a:schemeClr val="accent1"/>
                      </a:solidFill>
                      <a:latin typeface="ui-monospace"/>
                    </a:rPr>
                    <a:t>i</a:t>
                  </a:r>
                  <a:r>
                    <a:rPr lang="en-US" altLang="zh-CN" sz="1200" dirty="0">
                      <a:solidFill>
                        <a:schemeClr val="accent1"/>
                      </a:solidFill>
                      <a:latin typeface="ui-monospace"/>
                    </a:rPr>
                    <a:t>][0] </a:t>
                  </a:r>
                  <a:r>
                    <a:rPr lang="zh-CN" altLang="en-US" sz="1200" dirty="0">
                      <a:solidFill>
                        <a:schemeClr val="accent1"/>
                      </a:solidFill>
                      <a:latin typeface="ui-monospace"/>
                    </a:rPr>
                    <a:t>背包容量为</a:t>
                  </a:r>
                  <a:r>
                    <a:rPr lang="en-US" altLang="zh-CN" sz="1200" dirty="0">
                      <a:solidFill>
                        <a:schemeClr val="accent1"/>
                      </a:solidFill>
                      <a:latin typeface="ui-monospace"/>
                    </a:rPr>
                    <a:t>0</a:t>
                  </a:r>
                  <a:r>
                    <a:rPr lang="zh-CN" altLang="en-US" sz="1200" dirty="0">
                      <a:solidFill>
                        <a:schemeClr val="accent1"/>
                      </a:solidFill>
                      <a:latin typeface="ui-monospace"/>
                    </a:rPr>
                    <a:t>是存放各个物品的最大价值</a:t>
                  </a:r>
                  <a:endParaRPr lang="en-US" altLang="zh-CN" sz="1200" dirty="0">
                    <a:solidFill>
                      <a:schemeClr val="accent1"/>
                    </a:solidFill>
                    <a:latin typeface="ui-monospace"/>
                  </a:endParaRPr>
                </a:p>
                <a:p>
                  <a:r>
                    <a:rPr lang="en-US" altLang="zh-CN" sz="1200" dirty="0">
                      <a:solidFill>
                        <a:schemeClr val="accent1"/>
                      </a:solidFill>
                      <a:latin typeface="ui-monospace"/>
                    </a:rPr>
                    <a:t>4.</a:t>
                  </a:r>
                  <a:r>
                    <a:rPr lang="zh-CN" altLang="en-US" sz="1200" dirty="0">
                      <a:solidFill>
                        <a:schemeClr val="accent1"/>
                      </a:solidFill>
                      <a:latin typeface="ui-monospace"/>
                    </a:rPr>
                    <a:t>确定遍历顺序</a:t>
                  </a:r>
                  <a:endParaRPr lang="en-US" altLang="zh-CN" sz="1200" dirty="0">
                    <a:solidFill>
                      <a:schemeClr val="accent1"/>
                    </a:solidFill>
                    <a:latin typeface="ui-monospace"/>
                  </a:endParaRPr>
                </a:p>
                <a:p>
                  <a:r>
                    <a:rPr lang="zh-CN" altLang="en-US" sz="1200" dirty="0">
                      <a:solidFill>
                        <a:schemeClr val="accent1"/>
                      </a:solidFill>
                      <a:latin typeface="ui-monospace"/>
                    </a:rPr>
                    <a:t>物品和背包重量</a:t>
                  </a:r>
                  <a:endParaRPr lang="en-US" altLang="zh-CN" sz="1200" dirty="0">
                    <a:solidFill>
                      <a:schemeClr val="accent1"/>
                    </a:solidFill>
                    <a:latin typeface="ui-monospace"/>
                  </a:endParaRPr>
                </a:p>
              </p:txBody>
            </p:sp>
          </mc:Choice>
          <mc:Fallback xmlns="">
            <p:sp>
              <p:nvSpPr>
                <p:cNvPr id="8" name="TextBox 36">
                  <a:extLst>
                    <a:ext uri="{FF2B5EF4-FFF2-40B4-BE49-F238E27FC236}">
                      <a16:creationId xmlns:a16="http://schemas.microsoft.com/office/drawing/2014/main" id="{3F43C78A-37C1-6A3E-CDA9-42F36D092CD5}"/>
                    </a:ext>
                  </a:extLst>
                </p:cNvPr>
                <p:cNvSpPr txBox="1">
                  <a:spLocks noRot="1" noChangeAspect="1" noMove="1" noResize="1" noEditPoints="1" noAdjustHandles="1" noChangeArrowheads="1" noChangeShapeType="1" noTextEdit="1"/>
                </p:cNvSpPr>
                <p:nvPr/>
              </p:nvSpPr>
              <p:spPr>
                <a:xfrm>
                  <a:off x="7667294" y="6245750"/>
                  <a:ext cx="4281578" cy="3046988"/>
                </a:xfrm>
                <a:prstGeom prst="rect">
                  <a:avLst/>
                </a:prstGeom>
                <a:blipFill>
                  <a:blip r:embed="rId2"/>
                  <a:stretch>
                    <a:fillRect l="-142" r="-3419" b="-600"/>
                  </a:stretch>
                </a:blipFill>
              </p:spPr>
              <p:txBody>
                <a:bodyPr/>
                <a:lstStyle/>
                <a:p>
                  <a:r>
                    <a:rPr lang="en-US">
                      <a:noFill/>
                    </a:rPr>
                    <a:t> </a:t>
                  </a:r>
                </a:p>
              </p:txBody>
            </p:sp>
          </mc:Fallback>
        </mc:AlternateContent>
      </p:grpSp>
      <p:sp>
        <p:nvSpPr>
          <p:cNvPr id="17" name="Rectangle: Rounded Corners 16">
            <a:extLst>
              <a:ext uri="{FF2B5EF4-FFF2-40B4-BE49-F238E27FC236}">
                <a16:creationId xmlns:a16="http://schemas.microsoft.com/office/drawing/2014/main" id="{368ECD62-81D5-126C-ACBF-440CB0A0029C}"/>
              </a:ext>
            </a:extLst>
          </p:cNvPr>
          <p:cNvSpPr/>
          <p:nvPr/>
        </p:nvSpPr>
        <p:spPr>
          <a:xfrm>
            <a:off x="7753662" y="371929"/>
            <a:ext cx="4281571" cy="6362244"/>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US" sz="800" b="0" dirty="0">
                <a:solidFill>
                  <a:srgbClr val="C586C0"/>
                </a:solidFill>
                <a:effectLst/>
                <a:latin typeface="Consolas" panose="020B0609020204030204" pitchFamily="49" charset="0"/>
              </a:rPr>
              <a:t>#define</a:t>
            </a:r>
            <a:r>
              <a:rPr lang="en-US" sz="800" b="0" dirty="0">
                <a:solidFill>
                  <a:srgbClr val="569CD6"/>
                </a:solidFill>
                <a:effectLst/>
                <a:latin typeface="Consolas" panose="020B0609020204030204" pitchFamily="49" charset="0"/>
              </a:rPr>
              <a:t> N </a:t>
            </a:r>
            <a:r>
              <a:rPr lang="en-US" sz="800" b="0" dirty="0">
                <a:solidFill>
                  <a:srgbClr val="B5CEA8"/>
                </a:solidFill>
                <a:effectLst/>
                <a:latin typeface="Consolas" panose="020B0609020204030204" pitchFamily="49" charset="0"/>
              </a:rPr>
              <a:t>4</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C586C0"/>
                </a:solidFill>
                <a:effectLst/>
                <a:latin typeface="Consolas" panose="020B0609020204030204" pitchFamily="49" charset="0"/>
              </a:rPr>
              <a:t>#define</a:t>
            </a:r>
            <a:r>
              <a:rPr lang="en-US" sz="800" b="0" dirty="0">
                <a:solidFill>
                  <a:srgbClr val="569CD6"/>
                </a:solidFill>
                <a:effectLst/>
                <a:latin typeface="Consolas" panose="020B0609020204030204" pitchFamily="49" charset="0"/>
              </a:rPr>
              <a:t> W </a:t>
            </a:r>
            <a:r>
              <a:rPr lang="en-US" sz="800" b="0" dirty="0">
                <a:solidFill>
                  <a:srgbClr val="B5CEA8"/>
                </a:solidFill>
                <a:effectLst/>
                <a:latin typeface="Consolas" panose="020B0609020204030204" pitchFamily="49" charset="0"/>
              </a:rPr>
              <a:t>5</a:t>
            </a:r>
            <a:endParaRPr lang="en-US" sz="800" b="0" dirty="0">
              <a:solidFill>
                <a:srgbClr val="D4D4D4"/>
              </a:solidFill>
              <a:effectLst/>
              <a:latin typeface="Consolas" panose="020B0609020204030204" pitchFamily="49" charset="0"/>
            </a:endParaRPr>
          </a:p>
          <a:p>
            <a:pPr>
              <a:lnSpc>
                <a:spcPts val="1425"/>
              </a:lnSpc>
              <a:buNone/>
            </a:pPr>
            <a:br>
              <a:rPr lang="en-US" sz="800" b="0" dirty="0">
                <a:solidFill>
                  <a:srgbClr val="D4D4D4"/>
                </a:solidFill>
                <a:effectLst/>
                <a:latin typeface="Consolas" panose="020B0609020204030204" pitchFamily="49" charset="0"/>
              </a:rPr>
            </a:b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main</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a:t>
            </a:r>
            <a:r>
              <a:rPr lang="en-US" sz="800" b="0" dirty="0">
                <a:solidFill>
                  <a:srgbClr val="569CD6"/>
                </a:solidFill>
                <a:effectLst/>
                <a:latin typeface="Consolas" panose="020B0609020204030204" pitchFamily="49" charset="0"/>
              </a:rPr>
              <a:t>[]</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2</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4</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5</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6</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物品价值</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w</a:t>
            </a:r>
            <a:r>
              <a:rPr lang="en-US" sz="800" b="0" dirty="0">
                <a:solidFill>
                  <a:srgbClr val="569CD6"/>
                </a:solidFill>
                <a:effectLst/>
                <a:latin typeface="Consolas" panose="020B0609020204030204" pitchFamily="49" charset="0"/>
              </a:rPr>
              <a:t>[]</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2</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3</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4</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物品重量</a:t>
            </a:r>
            <a:endParaRPr lang="zh-CN" altLang="en-US" sz="800" b="0" dirty="0">
              <a:solidFill>
                <a:srgbClr val="D4D4D4"/>
              </a:solidFill>
              <a:effectLst/>
              <a:latin typeface="Consolas" panose="020B0609020204030204" pitchFamily="49" charset="0"/>
            </a:endParaRPr>
          </a:p>
          <a:p>
            <a:pPr>
              <a:lnSpc>
                <a:spcPts val="1425"/>
              </a:lnSpc>
              <a:buNone/>
            </a:pPr>
            <a:br>
              <a:rPr lang="zh-CN" altLang="en-US" sz="800" b="0" dirty="0">
                <a:solidFill>
                  <a:srgbClr val="D4D4D4"/>
                </a:solidFill>
                <a:effectLst/>
                <a:latin typeface="Consolas" panose="020B0609020204030204" pitchFamily="49" charset="0"/>
              </a:rPr>
            </a:br>
            <a:r>
              <a:rPr lang="zh-CN" alt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W</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 = {};</a:t>
            </a:r>
          </a:p>
          <a:p>
            <a:pPr>
              <a:lnSpc>
                <a:spcPts val="1425"/>
              </a:lnSpc>
              <a:buNone/>
            </a:pP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&lt; </a:t>
            </a:r>
            <a:r>
              <a:rPr lang="en-US" sz="800" b="0" dirty="0">
                <a:solidFill>
                  <a:srgbClr val="569CD6"/>
                </a:solidFill>
                <a:effectLst/>
                <a:latin typeface="Consolas" panose="020B0609020204030204" pitchFamily="49" charset="0"/>
              </a:rPr>
              <a:t>W</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j</a:t>
            </a:r>
            <a:r>
              <a:rPr lang="en-US" sz="800" b="0" dirty="0" err="1">
                <a:solidFill>
                  <a:srgbClr val="D4D4D4"/>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&gt;= </a:t>
            </a:r>
            <a:r>
              <a:rPr lang="en-US" sz="800" b="0" dirty="0">
                <a:solidFill>
                  <a:srgbClr val="9CDCFE"/>
                </a:solidFill>
                <a:effectLst/>
                <a:latin typeface="Consolas" panose="020B0609020204030204" pitchFamily="49" charset="0"/>
              </a:rPr>
              <a:t>w</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物品</a:t>
            </a:r>
            <a:r>
              <a:rPr lang="en-US" sz="800" b="0" dirty="0" err="1">
                <a:solidFill>
                  <a:srgbClr val="6A9955"/>
                </a:solidFill>
                <a:effectLst/>
                <a:latin typeface="Consolas" panose="020B0609020204030204" pitchFamily="49" charset="0"/>
              </a:rPr>
              <a:t>i</a:t>
            </a:r>
            <a:r>
              <a:rPr lang="zh-CN" altLang="en-US" sz="800" b="0" dirty="0">
                <a:solidFill>
                  <a:srgbClr val="6A9955"/>
                </a:solidFill>
                <a:effectLst/>
                <a:latin typeface="Consolas" panose="020B0609020204030204" pitchFamily="49" charset="0"/>
              </a:rPr>
              <a:t>可选</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altLang="zh-CN" sz="800" b="0" dirty="0">
                <a:solidFill>
                  <a:srgbClr val="D4D4D4"/>
                </a:solidFill>
                <a:effectLst/>
                <a:latin typeface="Consolas" panose="020B0609020204030204" pitchFamily="49" charset="0"/>
              </a:rPr>
              <a:t>{</a:t>
            </a:r>
          </a:p>
          <a:p>
            <a:pPr>
              <a:lnSpc>
                <a:spcPts val="1425"/>
              </a:lnSpc>
              <a:buNone/>
            </a:pPr>
            <a:r>
              <a:rPr lang="en-US" altLang="zh-CN"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DCDCAA"/>
                </a:solidFill>
                <a:effectLst/>
                <a:latin typeface="Consolas" panose="020B0609020204030204" pitchFamily="49" charset="0"/>
              </a:rPr>
              <a:t>max</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w</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v</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else</a:t>
            </a:r>
            <a:r>
              <a:rPr lang="en-US" sz="800" b="0" dirty="0">
                <a:solidFill>
                  <a:srgbClr val="6A9955"/>
                </a:solidFill>
                <a:effectLst/>
                <a:latin typeface="Consolas" panose="020B0609020204030204" pitchFamily="49" charset="0"/>
              </a:rPr>
              <a:t> // </a:t>
            </a:r>
            <a:r>
              <a:rPr lang="zh-CN" altLang="en-US" sz="800" b="0" dirty="0">
                <a:solidFill>
                  <a:srgbClr val="6A9955"/>
                </a:solidFill>
                <a:effectLst/>
                <a:latin typeface="Consolas" panose="020B0609020204030204" pitchFamily="49" charset="0"/>
              </a:rPr>
              <a:t>不选物品</a:t>
            </a:r>
            <a:r>
              <a:rPr lang="en-US" sz="800" b="0" dirty="0" err="1">
                <a:solidFill>
                  <a:srgbClr val="6A9955"/>
                </a:solidFill>
                <a:effectLst/>
                <a:latin typeface="Consolas" panose="020B0609020204030204" pitchFamily="49" charset="0"/>
              </a:rPr>
              <a:t>i</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1</a:t>
            </a:r>
            <a:r>
              <a:rPr lang="en-US" sz="800" b="0" dirty="0">
                <a:solidFill>
                  <a:srgbClr val="D4D4D4"/>
                </a:solidFill>
                <a:effectLst/>
                <a:latin typeface="Consolas" panose="020B0609020204030204" pitchFamily="49" charset="0"/>
              </a:rPr>
              <a:t>][</a:t>
            </a:r>
            <a:r>
              <a:rPr lang="en-US" sz="800" b="0" dirty="0">
                <a:solidFill>
                  <a:srgbClr val="9CDCFE"/>
                </a:solidFill>
                <a:effectLst/>
                <a:latin typeface="Consolas" panose="020B0609020204030204" pitchFamily="49" charset="0"/>
              </a:rPr>
              <a:t>j</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printf</a:t>
            </a:r>
            <a:r>
              <a:rPr lang="en-US" sz="800" b="0" dirty="0">
                <a:solidFill>
                  <a:srgbClr val="D4D4D4"/>
                </a:solidFill>
                <a:effectLst/>
                <a:latin typeface="Consolas" panose="020B0609020204030204" pitchFamily="49" charset="0"/>
              </a:rPr>
              <a:t>(</a:t>
            </a:r>
            <a:r>
              <a:rPr lang="en-US" sz="800" b="0" dirty="0">
                <a:solidFill>
                  <a:srgbClr val="CE9178"/>
                </a:solidFill>
                <a:effectLst/>
                <a:latin typeface="Consolas" panose="020B0609020204030204" pitchFamily="49" charset="0"/>
              </a:rPr>
              <a:t>"</a:t>
            </a:r>
            <a:r>
              <a:rPr lang="en-US" sz="800" b="0" dirty="0">
                <a:solidFill>
                  <a:srgbClr val="9CDCFE"/>
                </a:solidFill>
                <a:effectLst/>
                <a:latin typeface="Consolas" panose="020B0609020204030204" pitchFamily="49" charset="0"/>
              </a:rPr>
              <a:t>%d</a:t>
            </a:r>
            <a:r>
              <a:rPr lang="en-US" sz="800" b="0" dirty="0">
                <a:solidFill>
                  <a:srgbClr val="CE9178"/>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dp</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W</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br>
              <a:rPr lang="en-US" sz="800" b="0" dirty="0">
                <a:solidFill>
                  <a:srgbClr val="D4D4D4"/>
                </a:solidFill>
                <a:effectLst/>
                <a:latin typeface="Consolas" panose="020B0609020204030204" pitchFamily="49" charset="0"/>
              </a:rPr>
            </a:b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max</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b</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&gt; </a:t>
            </a:r>
            <a:r>
              <a:rPr lang="en-US" sz="800" b="0" dirty="0">
                <a:solidFill>
                  <a:srgbClr val="9CDCFE"/>
                </a:solidFill>
                <a:effectLst/>
                <a:latin typeface="Consolas" panose="020B0609020204030204" pitchFamily="49" charset="0"/>
              </a:rPr>
              <a:t>b</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a</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b</a:t>
            </a:r>
            <a:r>
              <a:rPr lang="en-US" sz="800" b="0" dirty="0">
                <a:solidFill>
                  <a:srgbClr val="D4D4D4"/>
                </a:solidFill>
                <a:effectLst/>
                <a:latin typeface="Consolas" panose="020B0609020204030204" pitchFamily="49" charset="0"/>
              </a:rPr>
              <a:t>;</a:t>
            </a:r>
          </a:p>
          <a:p>
            <a:pPr>
              <a:lnSpc>
                <a:spcPts val="1425"/>
              </a:lnSpc>
            </a:pPr>
            <a:r>
              <a:rPr lang="en-US" sz="8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29226902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320B0-B081-269E-F694-B52548C2D41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15915C4-47A5-5C58-ABCB-9D7BC65C4F63}"/>
              </a:ext>
            </a:extLst>
          </p:cNvPr>
          <p:cNvSpPr/>
          <p:nvPr/>
        </p:nvSpPr>
        <p:spPr>
          <a:xfrm>
            <a:off x="0" y="0"/>
            <a:ext cx="2986206" cy="6858000"/>
          </a:xfrm>
          <a:prstGeom prst="rect">
            <a:avLst/>
          </a:prstGeom>
          <a:solidFill>
            <a:srgbClr val="DA78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highlight>
                <a:srgbClr val="000080"/>
              </a:highlight>
              <a:latin typeface="Arial" panose="020B0604020202020204" pitchFamily="34" charset="0"/>
            </a:endParaRPr>
          </a:p>
        </p:txBody>
      </p:sp>
      <p:sp>
        <p:nvSpPr>
          <p:cNvPr id="1052" name="Rectangle: Rounded Corners 1051">
            <a:extLst>
              <a:ext uri="{FF2B5EF4-FFF2-40B4-BE49-F238E27FC236}">
                <a16:creationId xmlns:a16="http://schemas.microsoft.com/office/drawing/2014/main" id="{BF187DDD-9008-F656-6869-2C053F9D62E8}"/>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ACF7E36-82F9-D3BF-F10F-97BD63595E8F}"/>
              </a:ext>
            </a:extLst>
          </p:cNvPr>
          <p:cNvSpPr txBox="1"/>
          <p:nvPr/>
        </p:nvSpPr>
        <p:spPr>
          <a:xfrm>
            <a:off x="0" y="959472"/>
            <a:ext cx="2986206" cy="341632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计算机系统 </a:t>
            </a:r>
            <a:r>
              <a:rPr lang="en-US" altLang="zh-CN" sz="1200" dirty="0">
                <a:latin typeface="Arial" panose="020B0604020202020204" pitchFamily="34" charset="0"/>
                <a:ea typeface="Punctuation SC"/>
              </a:rPr>
              <a:t>(3-7)</a:t>
            </a:r>
          </a:p>
          <a:p>
            <a:pPr eaLnBrk="0" fontAlgn="base" hangingPunct="0">
              <a:spcBef>
                <a:spcPct val="0"/>
              </a:spcBef>
              <a:spcAft>
                <a:spcPct val="0"/>
              </a:spcAft>
              <a:defRPr/>
            </a:pPr>
            <a:r>
              <a:rPr lang="zh-CN" altLang="en-US" sz="1200" dirty="0">
                <a:latin typeface="Arial" panose="020B0604020202020204" pitchFamily="34" charset="0"/>
                <a:ea typeface="Punctuation SC"/>
              </a:rPr>
              <a:t>程序设计语言 </a:t>
            </a:r>
            <a:r>
              <a:rPr lang="en-US" altLang="zh-CN" sz="1200" dirty="0">
                <a:latin typeface="Arial" panose="020B0604020202020204" pitchFamily="34" charset="0"/>
                <a:ea typeface="Punctuation SC"/>
              </a:rPr>
              <a:t>(</a:t>
            </a:r>
            <a:r>
              <a:rPr lang="en-US" altLang="zh-CN" sz="1200" dirty="0">
                <a:solidFill>
                  <a:srgbClr val="000000"/>
                </a:solidFill>
                <a:latin typeface="pingfang SC"/>
                <a:ea typeface="Punctuation SC"/>
              </a:rPr>
              <a:t>3</a:t>
            </a:r>
            <a:r>
              <a:rPr lang="en-US" sz="1200" i="0" dirty="0">
                <a:solidFill>
                  <a:srgbClr val="000000"/>
                </a:solidFill>
                <a:effectLst/>
                <a:latin typeface="pingfang SC"/>
              </a:rPr>
              <a:t>-6</a:t>
            </a:r>
            <a:r>
              <a:rPr lang="en-US" altLang="zh-CN" sz="1200" dirty="0">
                <a:latin typeface="Arial" panose="020B0604020202020204" pitchFamily="34" charset="0"/>
                <a:ea typeface="Punctuation SC"/>
              </a:rPr>
              <a:t>)</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数据结构</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知识产权</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数据库</a:t>
            </a:r>
            <a:r>
              <a:rPr lang="en-US" altLang="zh-CN" sz="1200" dirty="0">
                <a:latin typeface="Arial" panose="020B0604020202020204" pitchFamily="34" charset="0"/>
                <a:ea typeface="Punctuation SC"/>
              </a:rPr>
              <a:t>(6+15)</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面向对象</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UML</a:t>
            </a: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设计模式</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操作系统</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结构化开发</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软件工程</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信息安全</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dirty="0">
                <a:latin typeface="Arial" panose="020B0604020202020204" pitchFamily="34" charset="0"/>
                <a:ea typeface="Punctuation SC"/>
              </a:rPr>
              <a:t>计算机网络</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1200" b="1" dirty="0">
                <a:latin typeface="Arial" panose="020B0604020202020204" pitchFamily="34" charset="0"/>
                <a:ea typeface="Punctuation SC"/>
              </a:rPr>
              <a:t>算法</a:t>
            </a:r>
            <a:endParaRPr lang="en-US" altLang="zh-CN" sz="1200" b="1"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回溯法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分治法</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dirty="0">
                <a:latin typeface="Arial" panose="020B0604020202020204" pitchFamily="34" charset="0"/>
                <a:ea typeface="Punctuation SC"/>
              </a:rPr>
              <a:t>-</a:t>
            </a:r>
            <a:r>
              <a:rPr lang="zh-CN" altLang="en-US" sz="1200" dirty="0">
                <a:latin typeface="Arial" panose="020B0604020202020204" pitchFamily="34" charset="0"/>
                <a:ea typeface="Punctuation SC"/>
              </a:rPr>
              <a:t>动态规划</a:t>
            </a:r>
            <a:endParaRPr lang="en-US" altLang="zh-CN" sz="1200" dirty="0">
              <a:latin typeface="Arial" panose="020B0604020202020204" pitchFamily="34" charset="0"/>
              <a:ea typeface="Punctuation SC"/>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1200" b="1" dirty="0">
                <a:latin typeface="Arial" panose="020B0604020202020204" pitchFamily="34" charset="0"/>
                <a:ea typeface="Punctuation SC"/>
              </a:rPr>
              <a:t>-</a:t>
            </a:r>
            <a:r>
              <a:rPr lang="zh-CN" altLang="en-US" sz="1200" b="1" dirty="0">
                <a:latin typeface="Arial" panose="020B0604020202020204" pitchFamily="34" charset="0"/>
                <a:ea typeface="Punctuation SC"/>
              </a:rPr>
              <a:t>贪心法</a:t>
            </a:r>
            <a:endParaRPr lang="en-US" altLang="zh-CN" sz="1200" b="1" dirty="0">
              <a:latin typeface="Arial" panose="020B0604020202020204" pitchFamily="34" charset="0"/>
              <a:ea typeface="Punctuation SC"/>
            </a:endParaRPr>
          </a:p>
        </p:txBody>
      </p:sp>
      <p:sp>
        <p:nvSpPr>
          <p:cNvPr id="6" name="TextBox 5">
            <a:extLst>
              <a:ext uri="{FF2B5EF4-FFF2-40B4-BE49-F238E27FC236}">
                <a16:creationId xmlns:a16="http://schemas.microsoft.com/office/drawing/2014/main" id="{6C090645-02B5-C23D-5099-CBD72A0C47F3}"/>
              </a:ext>
            </a:extLst>
          </p:cNvPr>
          <p:cNvSpPr txBox="1"/>
          <p:nvPr/>
        </p:nvSpPr>
        <p:spPr>
          <a:xfrm>
            <a:off x="11473" y="218648"/>
            <a:ext cx="1980029" cy="523220"/>
          </a:xfrm>
          <a:prstGeom prst="rect">
            <a:avLst/>
          </a:prstGeom>
          <a:noFill/>
        </p:spPr>
        <p:txBody>
          <a:bodyPr wrap="none" rtlCol="0">
            <a:spAutoFit/>
          </a:bodyPr>
          <a:lstStyle/>
          <a:p>
            <a:r>
              <a:rPr lang="zh-CN" altLang="en-US" sz="2800" b="1" dirty="0">
                <a:solidFill>
                  <a:prstClr val="black"/>
                </a:solidFill>
                <a:latin typeface="Arial" panose="020B0604020202020204" pitchFamily="34" charset="0"/>
                <a:ea typeface="等线" panose="02010600030101010101" pitchFamily="2" charset="-122"/>
              </a:rPr>
              <a:t>软件设计师</a:t>
            </a:r>
            <a:endParaRPr lang="en-US" dirty="0"/>
          </a:p>
        </p:txBody>
      </p:sp>
      <p:cxnSp>
        <p:nvCxnSpPr>
          <p:cNvPr id="7" name="Straight Connector 6">
            <a:extLst>
              <a:ext uri="{FF2B5EF4-FFF2-40B4-BE49-F238E27FC236}">
                <a16:creationId xmlns:a16="http://schemas.microsoft.com/office/drawing/2014/main" id="{B634D7B6-083F-553F-B500-94A237138DA2}"/>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4" name="Group 25">
            <a:extLst>
              <a:ext uri="{FF2B5EF4-FFF2-40B4-BE49-F238E27FC236}">
                <a16:creationId xmlns:a16="http://schemas.microsoft.com/office/drawing/2014/main" id="{16B7B47B-D3D3-3826-EC7C-98ADDBE46701}"/>
              </a:ext>
            </a:extLst>
          </p:cNvPr>
          <p:cNvGrpSpPr/>
          <p:nvPr/>
        </p:nvGrpSpPr>
        <p:grpSpPr>
          <a:xfrm>
            <a:off x="3097887" y="76666"/>
            <a:ext cx="4386653" cy="1495591"/>
            <a:chOff x="7614613" y="5950488"/>
            <a:chExt cx="4386653" cy="1495591"/>
          </a:xfrm>
        </p:grpSpPr>
        <p:sp>
          <p:nvSpPr>
            <p:cNvPr id="5" name="Rectangle: Rounded Corners 35">
              <a:extLst>
                <a:ext uri="{FF2B5EF4-FFF2-40B4-BE49-F238E27FC236}">
                  <a16:creationId xmlns:a16="http://schemas.microsoft.com/office/drawing/2014/main" id="{70290870-1DE3-6C36-20D6-04640FD451B7}"/>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▶贪心法</a:t>
              </a:r>
            </a:p>
          </p:txBody>
        </p:sp>
        <p:sp>
          <p:nvSpPr>
            <p:cNvPr id="8" name="TextBox 36">
              <a:extLst>
                <a:ext uri="{FF2B5EF4-FFF2-40B4-BE49-F238E27FC236}">
                  <a16:creationId xmlns:a16="http://schemas.microsoft.com/office/drawing/2014/main" id="{4A5DE1D7-31CC-E1FD-514D-CE82B487E6F8}"/>
                </a:ext>
              </a:extLst>
            </p:cNvPr>
            <p:cNvSpPr txBox="1"/>
            <p:nvPr/>
          </p:nvSpPr>
          <p:spPr>
            <a:xfrm>
              <a:off x="7667294" y="6245750"/>
              <a:ext cx="4281578" cy="1200329"/>
            </a:xfrm>
            <a:prstGeom prst="rect">
              <a:avLst/>
            </a:prstGeom>
            <a:noFill/>
          </p:spPr>
          <p:txBody>
            <a:bodyPr wrap="square">
              <a:spAutoFit/>
            </a:bodyPr>
            <a:lstStyle/>
            <a:p>
              <a:r>
                <a:rPr lang="zh-CN" altLang="en-US" sz="1200" dirty="0">
                  <a:solidFill>
                    <a:schemeClr val="accent1"/>
                  </a:solidFill>
                  <a:latin typeface="ui-monospace"/>
                </a:rPr>
                <a:t>通常适用于具有贪心选择性质的问题，即每一步都选择局部最优解能够得到全局近似最优解。解决具有最优子结构和贪心选择性质的问题</a:t>
              </a:r>
              <a:endParaRPr lang="en-US" altLang="zh-CN" sz="1200" dirty="0">
                <a:solidFill>
                  <a:schemeClr val="accent1"/>
                </a:solidFill>
                <a:latin typeface="ui-monospace"/>
              </a:endParaRPr>
            </a:p>
            <a:p>
              <a:r>
                <a:rPr lang="zh-CN" altLang="en-US" sz="1200" b="1" dirty="0">
                  <a:solidFill>
                    <a:schemeClr val="accent1"/>
                  </a:solidFill>
                  <a:latin typeface="ui-monospace"/>
                </a:rPr>
                <a:t>部分背包</a:t>
              </a:r>
              <a:r>
                <a:rPr lang="zh-CN" altLang="en-US" sz="1200" dirty="0">
                  <a:solidFill>
                    <a:schemeClr val="accent1"/>
                  </a:solidFill>
                  <a:latin typeface="ui-monospace"/>
                </a:rPr>
                <a:t>问题：物品可以部分放入背包</a:t>
              </a:r>
              <a:endParaRPr lang="en-US" altLang="zh-CN" sz="1200" dirty="0">
                <a:solidFill>
                  <a:schemeClr val="accent1"/>
                </a:solidFill>
                <a:latin typeface="ui-monospace"/>
              </a:endParaRPr>
            </a:p>
            <a:p>
              <a:r>
                <a:rPr lang="zh-CN" altLang="en-US" sz="1200" dirty="0">
                  <a:solidFill>
                    <a:schemeClr val="accent1"/>
                  </a:solidFill>
                  <a:latin typeface="ui-monospace"/>
                </a:rPr>
                <a:t>按最大 单位重量价值 先归并排序</a:t>
              </a:r>
              <a:r>
                <a:rPr lang="en-US" altLang="zh-CN" sz="1200" dirty="0">
                  <a:solidFill>
                    <a:schemeClr val="accent1"/>
                  </a:solidFill>
                  <a:latin typeface="ui-monospace"/>
                </a:rPr>
                <a:t>O(</a:t>
              </a:r>
              <a:r>
                <a:rPr lang="en-US" altLang="zh-CN" sz="1200" dirty="0" err="1">
                  <a:solidFill>
                    <a:schemeClr val="accent1"/>
                  </a:solidFill>
                  <a:latin typeface="ui-monospace"/>
                </a:rPr>
                <a:t>nlgn</a:t>
              </a:r>
              <a:r>
                <a:rPr lang="en-US" altLang="zh-CN" sz="1200" dirty="0">
                  <a:solidFill>
                    <a:schemeClr val="accent1"/>
                  </a:solidFill>
                  <a:latin typeface="ui-monospace"/>
                </a:rPr>
                <a:t>)</a:t>
              </a:r>
              <a:r>
                <a:rPr lang="zh-CN" altLang="en-US" sz="1200" dirty="0">
                  <a:solidFill>
                    <a:schemeClr val="accent1"/>
                  </a:solidFill>
                  <a:latin typeface="ui-monospace"/>
                </a:rPr>
                <a:t>，再依次放入</a:t>
              </a:r>
              <a:endParaRPr lang="en-US" altLang="zh-CN" sz="1200" dirty="0">
                <a:solidFill>
                  <a:schemeClr val="accent1"/>
                </a:solidFill>
                <a:latin typeface="ui-monospace"/>
              </a:endParaRPr>
            </a:p>
            <a:p>
              <a:r>
                <a:rPr lang="zh-CN" altLang="en-US" sz="1200" dirty="0">
                  <a:solidFill>
                    <a:schemeClr val="accent1"/>
                  </a:solidFill>
                  <a:latin typeface="ui-monospace"/>
                </a:rPr>
                <a:t>时间复杂度：</a:t>
              </a:r>
              <a:r>
                <a:rPr lang="en-US" altLang="zh-CN" sz="1200" dirty="0">
                  <a:solidFill>
                    <a:schemeClr val="accent1"/>
                  </a:solidFill>
                  <a:latin typeface="ui-monospace"/>
                </a:rPr>
                <a:t>O(</a:t>
              </a:r>
              <a:r>
                <a:rPr lang="en-US" altLang="zh-CN" sz="1200" dirty="0" err="1">
                  <a:solidFill>
                    <a:schemeClr val="accent1"/>
                  </a:solidFill>
                  <a:latin typeface="ui-monospace"/>
                </a:rPr>
                <a:t>nlgn</a:t>
              </a:r>
              <a:r>
                <a:rPr lang="en-US" altLang="zh-CN" sz="1200" dirty="0">
                  <a:solidFill>
                    <a:schemeClr val="accent1"/>
                  </a:solidFill>
                  <a:latin typeface="ui-monospace"/>
                </a:rPr>
                <a:t>)</a:t>
              </a:r>
            </a:p>
          </p:txBody>
        </p:sp>
      </p:grpSp>
      <p:sp>
        <p:nvSpPr>
          <p:cNvPr id="9" name="Rectangle: Rounded Corners 8">
            <a:extLst>
              <a:ext uri="{FF2B5EF4-FFF2-40B4-BE49-F238E27FC236}">
                <a16:creationId xmlns:a16="http://schemas.microsoft.com/office/drawing/2014/main" id="{9B1D3BB2-480E-5E5A-D185-37409B13BEA3}"/>
              </a:ext>
            </a:extLst>
          </p:cNvPr>
          <p:cNvSpPr/>
          <p:nvPr/>
        </p:nvSpPr>
        <p:spPr>
          <a:xfrm>
            <a:off x="7753662" y="371928"/>
            <a:ext cx="4281571" cy="6362244"/>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US" sz="800" dirty="0">
                <a:solidFill>
                  <a:srgbClr val="569CD6"/>
                </a:solidFill>
                <a:latin typeface="Consolas" panose="020B0609020204030204" pitchFamily="49" charset="0"/>
              </a:rPr>
              <a:t>double</a:t>
            </a:r>
            <a:r>
              <a:rPr lang="en-US" sz="800" dirty="0">
                <a:solidFill>
                  <a:srgbClr val="D4D4D4"/>
                </a:solidFill>
                <a:latin typeface="Consolas" panose="020B0609020204030204" pitchFamily="49" charset="0"/>
              </a:rPr>
              <a:t> </a:t>
            </a:r>
            <a:r>
              <a:rPr lang="en-US" sz="800" dirty="0" err="1">
                <a:solidFill>
                  <a:srgbClr val="9CDCFE"/>
                </a:solidFill>
                <a:latin typeface="Consolas" panose="020B0609020204030204" pitchFamily="49" charset="0"/>
              </a:rPr>
              <a:t>v_temp</a:t>
            </a:r>
            <a:r>
              <a:rPr lang="en-US" sz="800" dirty="0">
                <a:solidFill>
                  <a:srgbClr val="D4D4D4"/>
                </a:solidFill>
                <a:latin typeface="Consolas" panose="020B0609020204030204" pitchFamily="49" charset="0"/>
              </a:rPr>
              <a:t>[</a:t>
            </a:r>
            <a:r>
              <a:rPr lang="en-US" sz="800" dirty="0">
                <a:solidFill>
                  <a:srgbClr val="569CD6"/>
                </a:solidFill>
                <a:latin typeface="Consolas" panose="020B0609020204030204" pitchFamily="49" charset="0"/>
              </a:rPr>
              <a:t>N</a:t>
            </a:r>
            <a:r>
              <a:rPr lang="en-US" sz="800" dirty="0">
                <a:solidFill>
                  <a:srgbClr val="D4D4D4"/>
                </a:solidFill>
                <a:latin typeface="Consolas" panose="020B0609020204030204" pitchFamily="49" charset="0"/>
              </a:rPr>
              <a:t> + </a:t>
            </a:r>
            <a:r>
              <a:rPr lang="en-US" sz="800" dirty="0">
                <a:solidFill>
                  <a:srgbClr val="B5CEA8"/>
                </a:solidFill>
                <a:latin typeface="Consolas" panose="020B0609020204030204" pitchFamily="49" charset="0"/>
              </a:rPr>
              <a:t>1</a:t>
            </a:r>
            <a:r>
              <a:rPr lang="en-US" sz="800" dirty="0">
                <a:solidFill>
                  <a:srgbClr val="D4D4D4"/>
                </a:solidFill>
                <a:latin typeface="Consolas" panose="020B0609020204030204" pitchFamily="49" charset="0"/>
              </a:rPr>
              <a:t>];</a:t>
            </a:r>
          </a:p>
          <a:p>
            <a:pPr>
              <a:lnSpc>
                <a:spcPts val="1425"/>
              </a:lnSpc>
              <a:buNone/>
            </a:pPr>
            <a:r>
              <a:rPr lang="en-US" sz="800" dirty="0">
                <a:solidFill>
                  <a:srgbClr val="569CD6"/>
                </a:solidFill>
                <a:latin typeface="Consolas" panose="020B0609020204030204" pitchFamily="49" charset="0"/>
              </a:rPr>
              <a:t>double</a:t>
            </a:r>
            <a:r>
              <a:rPr lang="en-US" sz="800" dirty="0">
                <a:solidFill>
                  <a:srgbClr val="D4D4D4"/>
                </a:solidFill>
                <a:latin typeface="Consolas" panose="020B0609020204030204" pitchFamily="49" charset="0"/>
              </a:rPr>
              <a:t> </a:t>
            </a:r>
            <a:r>
              <a:rPr lang="en-US" sz="800" dirty="0" err="1">
                <a:solidFill>
                  <a:srgbClr val="9CDCFE"/>
                </a:solidFill>
                <a:latin typeface="Consolas" panose="020B0609020204030204" pitchFamily="49" charset="0"/>
              </a:rPr>
              <a:t>w_temp</a:t>
            </a:r>
            <a:r>
              <a:rPr lang="en-US" sz="800" dirty="0">
                <a:solidFill>
                  <a:srgbClr val="D4D4D4"/>
                </a:solidFill>
                <a:latin typeface="Consolas" panose="020B0609020204030204" pitchFamily="49" charset="0"/>
              </a:rPr>
              <a:t>[</a:t>
            </a:r>
            <a:r>
              <a:rPr lang="en-US" sz="800" dirty="0">
                <a:solidFill>
                  <a:srgbClr val="569CD6"/>
                </a:solidFill>
                <a:latin typeface="Consolas" panose="020B0609020204030204" pitchFamily="49" charset="0"/>
              </a:rPr>
              <a:t>N</a:t>
            </a:r>
            <a:r>
              <a:rPr lang="en-US" sz="800" dirty="0">
                <a:solidFill>
                  <a:srgbClr val="D4D4D4"/>
                </a:solidFill>
                <a:latin typeface="Consolas" panose="020B0609020204030204" pitchFamily="49" charset="0"/>
              </a:rPr>
              <a:t> + </a:t>
            </a:r>
            <a:r>
              <a:rPr lang="en-US" sz="800" dirty="0">
                <a:solidFill>
                  <a:srgbClr val="B5CEA8"/>
                </a:solidFill>
                <a:latin typeface="Consolas" panose="020B0609020204030204" pitchFamily="49" charset="0"/>
              </a:rPr>
              <a:t>1</a:t>
            </a:r>
            <a:r>
              <a:rPr lang="en-US" sz="800" dirty="0">
                <a:solidFill>
                  <a:srgbClr val="D4D4D4"/>
                </a:solidFill>
                <a:latin typeface="Consolas" panose="020B0609020204030204" pitchFamily="49" charset="0"/>
              </a:rPr>
              <a:t>];</a:t>
            </a:r>
          </a:p>
          <a:p>
            <a:pPr>
              <a:lnSpc>
                <a:spcPts val="1425"/>
              </a:lnSpc>
              <a:buNone/>
            </a:pPr>
            <a:r>
              <a:rPr lang="en-US" sz="800" dirty="0">
                <a:solidFill>
                  <a:srgbClr val="569CD6"/>
                </a:solidFill>
                <a:latin typeface="Consolas" panose="020B0609020204030204" pitchFamily="49" charset="0"/>
              </a:rPr>
              <a:t>double</a:t>
            </a:r>
            <a:r>
              <a:rPr lang="en-US" sz="800" dirty="0">
                <a:solidFill>
                  <a:srgbClr val="D4D4D4"/>
                </a:solidFill>
                <a:latin typeface="Consolas" panose="020B0609020204030204" pitchFamily="49" charset="0"/>
              </a:rPr>
              <a:t> </a:t>
            </a:r>
            <a:r>
              <a:rPr lang="en-US" sz="800" dirty="0" err="1">
                <a:solidFill>
                  <a:srgbClr val="9CDCFE"/>
                </a:solidFill>
                <a:latin typeface="Consolas" panose="020B0609020204030204" pitchFamily="49" charset="0"/>
              </a:rPr>
              <a:t>vw_temp</a:t>
            </a:r>
            <a:r>
              <a:rPr lang="en-US" sz="800" dirty="0">
                <a:solidFill>
                  <a:srgbClr val="D4D4D4"/>
                </a:solidFill>
                <a:latin typeface="Consolas" panose="020B0609020204030204" pitchFamily="49" charset="0"/>
              </a:rPr>
              <a:t>[</a:t>
            </a:r>
            <a:r>
              <a:rPr lang="en-US" sz="800" dirty="0">
                <a:solidFill>
                  <a:srgbClr val="569CD6"/>
                </a:solidFill>
                <a:latin typeface="Consolas" panose="020B0609020204030204" pitchFamily="49" charset="0"/>
              </a:rPr>
              <a:t>N</a:t>
            </a:r>
            <a:r>
              <a:rPr lang="en-US" sz="800" dirty="0">
                <a:solidFill>
                  <a:srgbClr val="D4D4D4"/>
                </a:solidFill>
                <a:latin typeface="Consolas" panose="020B0609020204030204" pitchFamily="49" charset="0"/>
              </a:rPr>
              <a:t> + </a:t>
            </a:r>
            <a:r>
              <a:rPr lang="en-US" sz="800" dirty="0">
                <a:solidFill>
                  <a:srgbClr val="B5CEA8"/>
                </a:solidFill>
                <a:latin typeface="Consolas" panose="020B0609020204030204" pitchFamily="49" charset="0"/>
              </a:rPr>
              <a:t>1</a:t>
            </a:r>
            <a:r>
              <a:rPr lang="en-US" sz="800" dirty="0">
                <a:solidFill>
                  <a:srgbClr val="D4D4D4"/>
                </a:solidFill>
                <a:latin typeface="Consolas" panose="020B0609020204030204" pitchFamily="49" charset="0"/>
              </a:rPr>
              <a:t>];</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569CD6"/>
                </a:solidFill>
                <a:effectLst/>
                <a:latin typeface="Consolas" panose="020B0609020204030204" pitchFamily="49" charset="0"/>
              </a:rPr>
              <a:t>double</a:t>
            </a:r>
            <a:r>
              <a:rPr lang="en-US" sz="800" b="0" dirty="0">
                <a:solidFill>
                  <a:srgbClr val="D4D4D4"/>
                </a:solidFill>
                <a:effectLst/>
                <a:latin typeface="Consolas" panose="020B0609020204030204" pitchFamily="49" charset="0"/>
              </a:rPr>
              <a:t> </a:t>
            </a:r>
            <a:r>
              <a:rPr lang="en-US" sz="800" b="0" dirty="0">
                <a:solidFill>
                  <a:srgbClr val="DCDCAA"/>
                </a:solidFill>
                <a:effectLst/>
                <a:latin typeface="Consolas" panose="020B0609020204030204" pitchFamily="49" charset="0"/>
              </a:rPr>
              <a:t>merge</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double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arr</a:t>
            </a:r>
            <a:r>
              <a:rPr lang="en-US" sz="800" b="0" dirty="0">
                <a:solidFill>
                  <a:srgbClr val="569CD6"/>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left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right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归并排序方法</a:t>
            </a:r>
            <a:endParaRPr lang="zh-CN" altLang="en-US" sz="800" b="0" dirty="0">
              <a:solidFill>
                <a:srgbClr val="D4D4D4"/>
              </a:solidFill>
              <a:effectLst/>
              <a:latin typeface="Consolas" panose="020B0609020204030204" pitchFamily="49" charset="0"/>
            </a:endParaRPr>
          </a:p>
          <a:p>
            <a:pPr>
              <a:lnSpc>
                <a:spcPts val="1425"/>
              </a:lnSpc>
              <a:buNone/>
            </a:pPr>
            <a:r>
              <a:rPr lang="en-US" altLang="zh-CN" sz="800" b="0" dirty="0">
                <a:solidFill>
                  <a:srgbClr val="D4D4D4"/>
                </a:solidFill>
                <a:effectLst/>
                <a:latin typeface="Consolas" panose="020B0609020204030204" pitchFamily="49" charset="0"/>
              </a:rPr>
              <a:t>}</a:t>
            </a:r>
          </a:p>
          <a:p>
            <a:pPr>
              <a:lnSpc>
                <a:spcPts val="1425"/>
              </a:lnSpc>
              <a:buNone/>
            </a:pPr>
            <a:br>
              <a:rPr lang="en-US" altLang="zh-CN" sz="800" b="0" dirty="0">
                <a:solidFill>
                  <a:srgbClr val="D4D4D4"/>
                </a:solidFill>
                <a:effectLst/>
                <a:latin typeface="Consolas" panose="020B0609020204030204" pitchFamily="49" charset="0"/>
              </a:rPr>
            </a:br>
            <a:r>
              <a:rPr lang="en-US" sz="800" b="0" dirty="0">
                <a:solidFill>
                  <a:srgbClr val="569CD6"/>
                </a:solidFill>
                <a:effectLst/>
                <a:latin typeface="Consolas" panose="020B0609020204030204" pitchFamily="49" charset="0"/>
              </a:rPr>
              <a:t>double</a:t>
            </a:r>
            <a:r>
              <a:rPr lang="en-US" sz="800" b="0" dirty="0">
                <a:solidFill>
                  <a:srgbClr val="D4D4D4"/>
                </a:solidFill>
                <a:effectLst/>
                <a:latin typeface="Consolas" panose="020B0609020204030204" pitchFamily="49" charset="0"/>
              </a:rPr>
              <a:t> </a:t>
            </a:r>
            <a:r>
              <a:rPr lang="en-US" sz="800" b="0" dirty="0" err="1">
                <a:solidFill>
                  <a:srgbClr val="DCDCAA"/>
                </a:solidFill>
                <a:effectLst/>
                <a:latin typeface="Consolas" panose="020B0609020204030204" pitchFamily="49" charset="0"/>
              </a:rPr>
              <a:t>maxValue</a:t>
            </a:r>
            <a:r>
              <a:rPr lang="en-US" sz="800" b="0" dirty="0">
                <a:solidFill>
                  <a:srgbClr val="D4D4D4"/>
                </a:solidFill>
                <a:effectLst/>
                <a:latin typeface="Consolas" panose="020B0609020204030204" pitchFamily="49" charset="0"/>
              </a:rPr>
              <a:t>(</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v</a:t>
            </a:r>
            <a:r>
              <a:rPr lang="en-US" sz="800" b="0" dirty="0">
                <a:solidFill>
                  <a:srgbClr val="569CD6"/>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w</a:t>
            </a:r>
            <a:r>
              <a:rPr lang="en-US" sz="800" b="0" dirty="0">
                <a:solidFill>
                  <a:srgbClr val="569CD6"/>
                </a:solidFill>
                <a:effectLst/>
                <a:latin typeface="Consolas" panose="020B0609020204030204" pitchFamily="49" charset="0"/>
              </a:rPr>
              <a:t>[]</a:t>
            </a: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double</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vw</a:t>
            </a:r>
            <a:r>
              <a:rPr lang="en-US" sz="800" b="0" dirty="0">
                <a:solidFill>
                  <a:srgbClr val="569CD6"/>
                </a:solidFill>
                <a:effectLst/>
                <a:latin typeface="Consolas" panose="020B0609020204030204" pitchFamily="49" charset="0"/>
              </a:rPr>
              <a:t>[]</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double</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result</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0.0</a:t>
            </a:r>
            <a:r>
              <a:rPr lang="en-US" sz="800" b="0" dirty="0">
                <a:solidFill>
                  <a:srgbClr val="D4D4D4"/>
                </a:solidFill>
                <a:effectLst/>
                <a:latin typeface="Consolas" panose="020B0609020204030204" pitchFamily="49" charset="0"/>
              </a:rPr>
              <a:t>;</a:t>
            </a:r>
          </a:p>
          <a:p>
            <a:pPr>
              <a:lnSpc>
                <a:spcPts val="1425"/>
              </a:lnSpc>
              <a:buNone/>
            </a:pPr>
            <a:br>
              <a:rPr lang="en-US" sz="800" b="0" dirty="0">
                <a:solidFill>
                  <a:srgbClr val="D4D4D4"/>
                </a:solidFill>
                <a:effectLst/>
                <a:latin typeface="Consolas" panose="020B0609020204030204" pitchFamily="49" charset="0"/>
              </a:rPr>
            </a:b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W_temp</a:t>
            </a:r>
            <a:r>
              <a:rPr lang="en-US" sz="800" b="0" dirty="0">
                <a:solidFill>
                  <a:srgbClr val="D4D4D4"/>
                </a:solidFill>
                <a:effectLst/>
                <a:latin typeface="Consolas" panose="020B0609020204030204" pitchFamily="49" charset="0"/>
              </a:rPr>
              <a:t> = </a:t>
            </a:r>
            <a:r>
              <a:rPr lang="en-US" sz="800" b="0" dirty="0">
                <a:solidFill>
                  <a:srgbClr val="569CD6"/>
                </a:solidFill>
                <a:effectLst/>
                <a:latin typeface="Consolas" panose="020B0609020204030204" pitchFamily="49" charset="0"/>
              </a:rPr>
              <a:t>W</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569CD6"/>
                </a:solidFill>
                <a:effectLst/>
                <a:latin typeface="Consolas" panose="020B0609020204030204" pitchFamily="49" charset="0"/>
              </a:rPr>
              <a:t>int</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物品作为整体放入</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for</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W_temp</a:t>
            </a:r>
            <a:r>
              <a:rPr lang="en-US" sz="800" b="0" dirty="0">
                <a:solidFill>
                  <a:srgbClr val="D4D4D4"/>
                </a:solidFill>
                <a:effectLst/>
                <a:latin typeface="Consolas" panose="020B0609020204030204" pitchFamily="49" charset="0"/>
              </a:rPr>
              <a:t> &gt;= </a:t>
            </a:r>
            <a:r>
              <a:rPr lang="en-US" sz="800" b="0" dirty="0">
                <a:solidFill>
                  <a:srgbClr val="9CDCFE"/>
                </a:solidFill>
                <a:effectLst/>
                <a:latin typeface="Consolas" panose="020B0609020204030204" pitchFamily="49" charset="0"/>
              </a:rPr>
              <a:t>w</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result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result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v</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W_temp</a:t>
            </a:r>
            <a:r>
              <a:rPr lang="en-US" sz="800" b="0" dirty="0">
                <a:solidFill>
                  <a:srgbClr val="D4D4D4"/>
                </a:solidFill>
                <a:effectLst/>
                <a:latin typeface="Consolas" panose="020B0609020204030204" pitchFamily="49" charset="0"/>
              </a:rPr>
              <a:t> = </a:t>
            </a:r>
            <a:r>
              <a:rPr lang="en-US" sz="800" b="0" dirty="0" err="1">
                <a:solidFill>
                  <a:srgbClr val="9CDCFE"/>
                </a:solidFill>
                <a:effectLst/>
                <a:latin typeface="Consolas" panose="020B0609020204030204" pitchFamily="49" charset="0"/>
              </a:rPr>
              <a:t>W_temp</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w</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else</a:t>
            </a: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break</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6A9955"/>
                </a:solidFill>
                <a:effectLst/>
                <a:latin typeface="Consolas" panose="020B0609020204030204" pitchFamily="49" charset="0"/>
              </a:rPr>
              <a:t>// </a:t>
            </a:r>
            <a:r>
              <a:rPr lang="zh-CN" altLang="en-US" sz="800" b="0" dirty="0">
                <a:solidFill>
                  <a:srgbClr val="6A9955"/>
                </a:solidFill>
                <a:effectLst/>
                <a:latin typeface="Consolas" panose="020B0609020204030204" pitchFamily="49" charset="0"/>
              </a:rPr>
              <a:t>剩余容量</a:t>
            </a:r>
            <a:endParaRPr lang="zh-CN" altLang="en-US" sz="800" b="0" dirty="0">
              <a:solidFill>
                <a:srgbClr val="D4D4D4"/>
              </a:solidFill>
              <a:effectLst/>
              <a:latin typeface="Consolas" panose="020B0609020204030204" pitchFamily="49" charset="0"/>
            </a:endParaRPr>
          </a:p>
          <a:p>
            <a:pPr>
              <a:lnSpc>
                <a:spcPts val="1425"/>
              </a:lnSpc>
              <a:buNone/>
            </a:pPr>
            <a:r>
              <a:rPr lang="zh-CN" alt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if</a:t>
            </a:r>
            <a:r>
              <a:rPr lang="en-US" sz="800" b="0" dirty="0">
                <a:solidFill>
                  <a:srgbClr val="D4D4D4"/>
                </a:solidFill>
                <a:effectLst/>
                <a:latin typeface="Consolas" panose="020B0609020204030204" pitchFamily="49" charset="0"/>
              </a:rPr>
              <a:t> (</a:t>
            </a:r>
            <a:r>
              <a:rPr lang="en-US" sz="800" b="0" dirty="0" err="1">
                <a:solidFill>
                  <a:srgbClr val="9CDCFE"/>
                </a:solidFill>
                <a:effectLst/>
                <a:latin typeface="Consolas" panose="020B0609020204030204" pitchFamily="49" charset="0"/>
              </a:rPr>
              <a:t>W_temp</a:t>
            </a:r>
            <a:r>
              <a:rPr lang="en-US" sz="800" b="0" dirty="0">
                <a:solidFill>
                  <a:srgbClr val="D4D4D4"/>
                </a:solidFill>
                <a:effectLst/>
                <a:latin typeface="Consolas" panose="020B0609020204030204" pitchFamily="49" charset="0"/>
              </a:rPr>
              <a:t> &gt; </a:t>
            </a:r>
            <a:r>
              <a:rPr lang="en-US" sz="800" b="0" dirty="0">
                <a:solidFill>
                  <a:srgbClr val="B5CEA8"/>
                </a:solidFill>
                <a:effectLst/>
                <a:latin typeface="Consolas" panose="020B0609020204030204" pitchFamily="49" charset="0"/>
              </a:rPr>
              <a:t>0</a:t>
            </a:r>
            <a:r>
              <a:rPr lang="en-US" sz="800" b="0" dirty="0">
                <a:solidFill>
                  <a:srgbClr val="D4D4D4"/>
                </a:solidFill>
                <a:effectLst/>
                <a:latin typeface="Consolas" panose="020B0609020204030204" pitchFamily="49" charset="0"/>
              </a:rPr>
              <a:t> &amp;&amp; </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&lt;= </a:t>
            </a:r>
            <a:r>
              <a:rPr lang="en-US" sz="800" b="0" dirty="0">
                <a:solidFill>
                  <a:srgbClr val="569CD6"/>
                </a:solidFill>
                <a:effectLst/>
                <a:latin typeface="Consolas" panose="020B0609020204030204" pitchFamily="49" charset="0"/>
              </a:rPr>
              <a:t>N</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result</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result</a:t>
            </a:r>
            <a:r>
              <a:rPr lang="en-US" sz="800" b="0" dirty="0">
                <a:solidFill>
                  <a:srgbClr val="D4D4D4"/>
                </a:solidFill>
                <a:effectLst/>
                <a:latin typeface="Consolas" panose="020B0609020204030204" pitchFamily="49" charset="0"/>
              </a:rPr>
              <a:t> + (</a:t>
            </a:r>
            <a:r>
              <a:rPr lang="en-US" sz="800" b="0" dirty="0">
                <a:solidFill>
                  <a:srgbClr val="569CD6"/>
                </a:solidFill>
                <a:effectLst/>
                <a:latin typeface="Consolas" panose="020B0609020204030204" pitchFamily="49" charset="0"/>
              </a:rPr>
              <a:t>double</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W_temp</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w</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 * </a:t>
            </a:r>
            <a:r>
              <a:rPr lang="en-US" sz="800" b="0" dirty="0">
                <a:solidFill>
                  <a:srgbClr val="9CDCFE"/>
                </a:solidFill>
                <a:effectLst/>
                <a:latin typeface="Consolas" panose="020B0609020204030204" pitchFamily="49" charset="0"/>
              </a:rPr>
              <a:t>v</a:t>
            </a:r>
            <a:r>
              <a:rPr lang="en-US" sz="800" b="0" dirty="0">
                <a:solidFill>
                  <a:srgbClr val="D4D4D4"/>
                </a:solidFill>
                <a:effectLst/>
                <a:latin typeface="Consolas" panose="020B0609020204030204" pitchFamily="49" charset="0"/>
              </a:rPr>
              <a:t>[</a:t>
            </a:r>
            <a:r>
              <a:rPr lang="en-US" sz="800" b="0" dirty="0" err="1">
                <a:solidFill>
                  <a:srgbClr val="9CDCFE"/>
                </a:solidFill>
                <a:effectLst/>
                <a:latin typeface="Consolas" panose="020B0609020204030204" pitchFamily="49" charset="0"/>
              </a:rPr>
              <a:t>i</a:t>
            </a:r>
            <a:r>
              <a:rPr lang="en-US" sz="800" b="0" dirty="0">
                <a:solidFill>
                  <a:srgbClr val="D4D4D4"/>
                </a:solidFill>
                <a:effectLst/>
                <a:latin typeface="Consolas" panose="020B0609020204030204" pitchFamily="49" charset="0"/>
              </a:rPr>
              <a:t>];</a:t>
            </a:r>
          </a:p>
          <a:p>
            <a:pPr>
              <a:lnSpc>
                <a:spcPts val="1425"/>
              </a:lnSpc>
              <a:buNone/>
            </a:pPr>
            <a:r>
              <a:rPr lang="en-US" sz="800" b="0" dirty="0">
                <a:solidFill>
                  <a:srgbClr val="D4D4D4"/>
                </a:solidFill>
                <a:effectLst/>
                <a:latin typeface="Consolas" panose="020B0609020204030204" pitchFamily="49" charset="0"/>
              </a:rPr>
              <a:t>    }</a:t>
            </a:r>
          </a:p>
          <a:p>
            <a:pPr>
              <a:lnSpc>
                <a:spcPts val="1425"/>
              </a:lnSpc>
              <a:buNone/>
            </a:pPr>
            <a:endParaRPr lang="en-US" sz="800" b="0" dirty="0">
              <a:solidFill>
                <a:srgbClr val="D4D4D4"/>
              </a:solidFill>
              <a:effectLst/>
              <a:latin typeface="Consolas" panose="020B0609020204030204" pitchFamily="49" charset="0"/>
            </a:endParaRPr>
          </a:p>
          <a:p>
            <a:pPr>
              <a:lnSpc>
                <a:spcPts val="1425"/>
              </a:lnSpc>
              <a:buNone/>
            </a:pPr>
            <a:r>
              <a:rPr lang="en-US" sz="800" b="0" dirty="0">
                <a:solidFill>
                  <a:srgbClr val="D4D4D4"/>
                </a:solidFill>
                <a:effectLst/>
                <a:latin typeface="Consolas" panose="020B0609020204030204" pitchFamily="49" charset="0"/>
              </a:rPr>
              <a:t>    </a:t>
            </a:r>
            <a:r>
              <a:rPr lang="en-US" sz="800" b="0" dirty="0">
                <a:solidFill>
                  <a:srgbClr val="C586C0"/>
                </a:solidFill>
                <a:effectLst/>
                <a:latin typeface="Consolas" panose="020B0609020204030204" pitchFamily="49" charset="0"/>
              </a:rPr>
              <a:t>return</a:t>
            </a:r>
            <a:r>
              <a:rPr lang="en-US" sz="800" b="0" dirty="0">
                <a:solidFill>
                  <a:srgbClr val="D4D4D4"/>
                </a:solidFill>
                <a:effectLst/>
                <a:latin typeface="Consolas" panose="020B0609020204030204" pitchFamily="49" charset="0"/>
              </a:rPr>
              <a:t> </a:t>
            </a:r>
            <a:r>
              <a:rPr lang="en-US" sz="800" b="0" dirty="0">
                <a:solidFill>
                  <a:srgbClr val="9CDCFE"/>
                </a:solidFill>
                <a:effectLst/>
                <a:latin typeface="Consolas" panose="020B0609020204030204" pitchFamily="49" charset="0"/>
              </a:rPr>
              <a:t>result</a:t>
            </a:r>
            <a:r>
              <a:rPr lang="en-US" sz="800" b="0" dirty="0">
                <a:solidFill>
                  <a:srgbClr val="D4D4D4"/>
                </a:solidFill>
                <a:effectLst/>
                <a:latin typeface="Consolas" panose="020B0609020204030204" pitchFamily="49" charset="0"/>
              </a:rPr>
              <a:t>;</a:t>
            </a:r>
          </a:p>
          <a:p>
            <a:pPr>
              <a:lnSpc>
                <a:spcPts val="1425"/>
              </a:lnSpc>
            </a:pPr>
            <a:r>
              <a:rPr lang="en-US" sz="800" b="0" dirty="0">
                <a:solidFill>
                  <a:srgbClr val="D4D4D4"/>
                </a:solidFill>
                <a:effectLst/>
                <a:latin typeface="Consolas" panose="020B0609020204030204" pitchFamily="49" charset="0"/>
              </a:rPr>
              <a:t>}</a:t>
            </a:r>
          </a:p>
        </p:txBody>
      </p:sp>
      <p:sp>
        <p:nvSpPr>
          <p:cNvPr id="10" name="Rectangle: Rounded Corners 9">
            <a:extLst>
              <a:ext uri="{FF2B5EF4-FFF2-40B4-BE49-F238E27FC236}">
                <a16:creationId xmlns:a16="http://schemas.microsoft.com/office/drawing/2014/main" id="{5B6E65D4-C9B1-2520-FC61-ED96C7A72677}"/>
              </a:ext>
            </a:extLst>
          </p:cNvPr>
          <p:cNvSpPr/>
          <p:nvPr/>
        </p:nvSpPr>
        <p:spPr>
          <a:xfrm>
            <a:off x="3157218" y="1552984"/>
            <a:ext cx="4281571" cy="4104866"/>
          </a:xfrm>
          <a:prstGeom prst="roundRect">
            <a:avLst>
              <a:gd name="adj" fmla="val 141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1425"/>
              </a:lnSpc>
              <a:buNone/>
            </a:pPr>
            <a:r>
              <a:rPr lang="en-US" sz="800" dirty="0">
                <a:solidFill>
                  <a:srgbClr val="C586C0"/>
                </a:solidFill>
                <a:latin typeface="Consolas" panose="020B0609020204030204" pitchFamily="49" charset="0"/>
              </a:rPr>
              <a:t>#define</a:t>
            </a:r>
            <a:r>
              <a:rPr lang="en-US" sz="800" dirty="0">
                <a:solidFill>
                  <a:srgbClr val="569CD6"/>
                </a:solidFill>
                <a:latin typeface="Consolas" panose="020B0609020204030204" pitchFamily="49" charset="0"/>
              </a:rPr>
              <a:t> N </a:t>
            </a:r>
            <a:r>
              <a:rPr lang="en-US" sz="800" dirty="0">
                <a:solidFill>
                  <a:srgbClr val="B5CEA8"/>
                </a:solidFill>
                <a:latin typeface="Consolas" panose="020B0609020204030204" pitchFamily="49" charset="0"/>
              </a:rPr>
              <a:t>5</a:t>
            </a:r>
            <a:endParaRPr lang="en-US" sz="800" dirty="0">
              <a:solidFill>
                <a:srgbClr val="D4D4D4"/>
              </a:solidFill>
              <a:latin typeface="Consolas" panose="020B0609020204030204" pitchFamily="49" charset="0"/>
            </a:endParaRPr>
          </a:p>
          <a:p>
            <a:pPr>
              <a:lnSpc>
                <a:spcPts val="1425"/>
              </a:lnSpc>
              <a:buNone/>
            </a:pPr>
            <a:r>
              <a:rPr lang="en-US" sz="800" dirty="0">
                <a:solidFill>
                  <a:srgbClr val="C586C0"/>
                </a:solidFill>
                <a:latin typeface="Consolas" panose="020B0609020204030204" pitchFamily="49" charset="0"/>
              </a:rPr>
              <a:t>#define</a:t>
            </a:r>
            <a:r>
              <a:rPr lang="en-US" sz="800" dirty="0">
                <a:solidFill>
                  <a:srgbClr val="569CD6"/>
                </a:solidFill>
                <a:latin typeface="Consolas" panose="020B0609020204030204" pitchFamily="49" charset="0"/>
              </a:rPr>
              <a:t> W </a:t>
            </a:r>
            <a:r>
              <a:rPr lang="en-US" sz="800" dirty="0">
                <a:solidFill>
                  <a:srgbClr val="B5CEA8"/>
                </a:solidFill>
                <a:latin typeface="Consolas" panose="020B0609020204030204" pitchFamily="49" charset="0"/>
              </a:rPr>
              <a:t>100</a:t>
            </a:r>
            <a:endParaRPr lang="en-US" sz="800" dirty="0">
              <a:solidFill>
                <a:srgbClr val="D4D4D4"/>
              </a:solidFill>
              <a:latin typeface="Consolas" panose="020B0609020204030204" pitchFamily="49" charset="0"/>
            </a:endParaRPr>
          </a:p>
          <a:p>
            <a:pPr>
              <a:lnSpc>
                <a:spcPts val="1425"/>
              </a:lnSpc>
              <a:buNone/>
            </a:pPr>
            <a:br>
              <a:rPr lang="en-US" sz="800" dirty="0">
                <a:solidFill>
                  <a:srgbClr val="D4D4D4"/>
                </a:solidFill>
                <a:latin typeface="Consolas" panose="020B0609020204030204" pitchFamily="49" charset="0"/>
              </a:rPr>
            </a:br>
            <a:r>
              <a:rPr lang="en-US" sz="800" dirty="0">
                <a:solidFill>
                  <a:srgbClr val="569CD6"/>
                </a:solidFill>
                <a:latin typeface="Consolas" panose="020B0609020204030204" pitchFamily="49" charset="0"/>
              </a:rPr>
              <a:t>int</a:t>
            </a:r>
            <a:r>
              <a:rPr lang="en-US" sz="800" dirty="0">
                <a:solidFill>
                  <a:srgbClr val="D4D4D4"/>
                </a:solidFill>
                <a:latin typeface="Consolas" panose="020B0609020204030204" pitchFamily="49" charset="0"/>
              </a:rPr>
              <a:t> </a:t>
            </a:r>
            <a:r>
              <a:rPr lang="en-US" sz="800" dirty="0">
                <a:solidFill>
                  <a:srgbClr val="DCDCAA"/>
                </a:solidFill>
                <a:latin typeface="Consolas" panose="020B0609020204030204" pitchFamily="49" charset="0"/>
              </a:rPr>
              <a:t>max</a:t>
            </a:r>
            <a:r>
              <a:rPr lang="en-US" sz="800" dirty="0">
                <a:solidFill>
                  <a:srgbClr val="D4D4D4"/>
                </a:solidFill>
                <a:latin typeface="Consolas" panose="020B0609020204030204" pitchFamily="49" charset="0"/>
              </a:rPr>
              <a:t>(</a:t>
            </a:r>
            <a:r>
              <a:rPr lang="en-US" sz="800" dirty="0">
                <a:solidFill>
                  <a:srgbClr val="569CD6"/>
                </a:solidFill>
                <a:latin typeface="Consolas" panose="020B0609020204030204" pitchFamily="49" charset="0"/>
              </a:rPr>
              <a:t>int</a:t>
            </a:r>
            <a:r>
              <a:rPr lang="en-US" sz="800" dirty="0">
                <a:solidFill>
                  <a:srgbClr val="D4D4D4"/>
                </a:solidFill>
                <a:latin typeface="Consolas" panose="020B0609020204030204" pitchFamily="49" charset="0"/>
              </a:rPr>
              <a:t> </a:t>
            </a:r>
            <a:r>
              <a:rPr lang="en-US" sz="800" dirty="0">
                <a:solidFill>
                  <a:srgbClr val="9CDCFE"/>
                </a:solidFill>
                <a:latin typeface="Consolas" panose="020B0609020204030204" pitchFamily="49" charset="0"/>
              </a:rPr>
              <a:t>a</a:t>
            </a:r>
            <a:r>
              <a:rPr lang="en-US" sz="800" dirty="0">
                <a:solidFill>
                  <a:srgbClr val="D4D4D4"/>
                </a:solidFill>
                <a:latin typeface="Consolas" panose="020B0609020204030204" pitchFamily="49" charset="0"/>
              </a:rPr>
              <a:t>, </a:t>
            </a:r>
            <a:r>
              <a:rPr lang="en-US" sz="800" dirty="0">
                <a:solidFill>
                  <a:srgbClr val="569CD6"/>
                </a:solidFill>
                <a:latin typeface="Consolas" panose="020B0609020204030204" pitchFamily="49" charset="0"/>
              </a:rPr>
              <a:t>int</a:t>
            </a:r>
            <a:r>
              <a:rPr lang="en-US" sz="800" dirty="0">
                <a:solidFill>
                  <a:srgbClr val="D4D4D4"/>
                </a:solidFill>
                <a:latin typeface="Consolas" panose="020B0609020204030204" pitchFamily="49" charset="0"/>
              </a:rPr>
              <a:t> </a:t>
            </a:r>
            <a:r>
              <a:rPr lang="en-US" sz="800" dirty="0">
                <a:solidFill>
                  <a:srgbClr val="9CDCFE"/>
                </a:solidFill>
                <a:latin typeface="Consolas" panose="020B0609020204030204" pitchFamily="49" charset="0"/>
              </a:rPr>
              <a:t>b</a:t>
            </a:r>
            <a:r>
              <a:rPr lang="en-US" sz="800" dirty="0">
                <a:solidFill>
                  <a:srgbClr val="D4D4D4"/>
                </a:solidFill>
                <a:latin typeface="Consolas" panose="020B0609020204030204" pitchFamily="49" charset="0"/>
              </a:rPr>
              <a:t>)</a:t>
            </a:r>
          </a:p>
          <a:p>
            <a:pPr>
              <a:lnSpc>
                <a:spcPts val="1425"/>
              </a:lnSpc>
              <a:buNone/>
            </a:pPr>
            <a:r>
              <a:rPr lang="en-US" sz="800" dirty="0">
                <a:solidFill>
                  <a:srgbClr val="D4D4D4"/>
                </a:solidFill>
                <a:latin typeface="Consolas" panose="020B0609020204030204" pitchFamily="49" charset="0"/>
              </a:rPr>
              <a:t>{</a:t>
            </a:r>
          </a:p>
          <a:p>
            <a:pPr>
              <a:lnSpc>
                <a:spcPts val="1425"/>
              </a:lnSpc>
              <a:buNone/>
            </a:pPr>
            <a:r>
              <a:rPr lang="en-US" sz="800" dirty="0">
                <a:solidFill>
                  <a:srgbClr val="D4D4D4"/>
                </a:solidFill>
                <a:latin typeface="Consolas" panose="020B0609020204030204" pitchFamily="49" charset="0"/>
              </a:rPr>
              <a:t>    </a:t>
            </a:r>
            <a:r>
              <a:rPr lang="en-US" sz="800" dirty="0">
                <a:solidFill>
                  <a:srgbClr val="569CD6"/>
                </a:solidFill>
                <a:latin typeface="Consolas" panose="020B0609020204030204" pitchFamily="49" charset="0"/>
              </a:rPr>
              <a:t>int</a:t>
            </a:r>
            <a:r>
              <a:rPr lang="en-US" sz="800" dirty="0">
                <a:solidFill>
                  <a:srgbClr val="D4D4D4"/>
                </a:solidFill>
                <a:latin typeface="Consolas" panose="020B0609020204030204" pitchFamily="49" charset="0"/>
              </a:rPr>
              <a:t> </a:t>
            </a:r>
            <a:r>
              <a:rPr lang="en-US" sz="800" dirty="0">
                <a:solidFill>
                  <a:srgbClr val="9CDCFE"/>
                </a:solidFill>
                <a:latin typeface="Consolas" panose="020B0609020204030204" pitchFamily="49" charset="0"/>
              </a:rPr>
              <a:t>v</a:t>
            </a:r>
            <a:r>
              <a:rPr lang="en-US" sz="800" dirty="0">
                <a:solidFill>
                  <a:srgbClr val="569CD6"/>
                </a:solidFill>
                <a:latin typeface="Consolas" panose="020B0609020204030204" pitchFamily="49" charset="0"/>
              </a:rPr>
              <a:t>[]</a:t>
            </a:r>
            <a:r>
              <a:rPr lang="en-US" sz="800" dirty="0">
                <a:solidFill>
                  <a:srgbClr val="D4D4D4"/>
                </a:solidFill>
                <a:latin typeface="Consolas" panose="020B0609020204030204" pitchFamily="49" charset="0"/>
              </a:rPr>
              <a:t> = {</a:t>
            </a:r>
            <a:r>
              <a:rPr lang="en-US" sz="800" dirty="0">
                <a:solidFill>
                  <a:srgbClr val="B5CEA8"/>
                </a:solidFill>
                <a:latin typeface="Consolas" panose="020B0609020204030204" pitchFamily="49" charset="0"/>
              </a:rPr>
              <a:t>0</a:t>
            </a:r>
            <a:r>
              <a:rPr lang="en-US" sz="800" dirty="0">
                <a:solidFill>
                  <a:srgbClr val="D4D4D4"/>
                </a:solidFill>
                <a:latin typeface="Consolas" panose="020B0609020204030204" pitchFamily="49" charset="0"/>
              </a:rPr>
              <a:t>, </a:t>
            </a:r>
            <a:r>
              <a:rPr lang="en-US" sz="800" dirty="0">
                <a:solidFill>
                  <a:srgbClr val="B5CEA8"/>
                </a:solidFill>
                <a:latin typeface="Consolas" panose="020B0609020204030204" pitchFamily="49" charset="0"/>
              </a:rPr>
              <a:t>65</a:t>
            </a:r>
            <a:r>
              <a:rPr lang="en-US" sz="800" dirty="0">
                <a:solidFill>
                  <a:srgbClr val="D4D4D4"/>
                </a:solidFill>
                <a:latin typeface="Consolas" panose="020B0609020204030204" pitchFamily="49" charset="0"/>
              </a:rPr>
              <a:t>, </a:t>
            </a:r>
            <a:r>
              <a:rPr lang="en-US" sz="800" dirty="0">
                <a:solidFill>
                  <a:srgbClr val="B5CEA8"/>
                </a:solidFill>
                <a:latin typeface="Consolas" panose="020B0609020204030204" pitchFamily="49" charset="0"/>
              </a:rPr>
              <a:t>20</a:t>
            </a:r>
            <a:r>
              <a:rPr lang="en-US" sz="800" dirty="0">
                <a:solidFill>
                  <a:srgbClr val="D4D4D4"/>
                </a:solidFill>
                <a:latin typeface="Consolas" panose="020B0609020204030204" pitchFamily="49" charset="0"/>
              </a:rPr>
              <a:t>, </a:t>
            </a:r>
            <a:r>
              <a:rPr lang="en-US" sz="800" dirty="0">
                <a:solidFill>
                  <a:srgbClr val="B5CEA8"/>
                </a:solidFill>
                <a:latin typeface="Consolas" panose="020B0609020204030204" pitchFamily="49" charset="0"/>
              </a:rPr>
              <a:t>30</a:t>
            </a:r>
            <a:r>
              <a:rPr lang="en-US" sz="800" dirty="0">
                <a:solidFill>
                  <a:srgbClr val="D4D4D4"/>
                </a:solidFill>
                <a:latin typeface="Consolas" panose="020B0609020204030204" pitchFamily="49" charset="0"/>
              </a:rPr>
              <a:t>, </a:t>
            </a:r>
            <a:r>
              <a:rPr lang="en-US" sz="800" dirty="0">
                <a:solidFill>
                  <a:srgbClr val="B5CEA8"/>
                </a:solidFill>
                <a:latin typeface="Consolas" panose="020B0609020204030204" pitchFamily="49" charset="0"/>
              </a:rPr>
              <a:t>60</a:t>
            </a:r>
            <a:r>
              <a:rPr lang="en-US" sz="800" dirty="0">
                <a:solidFill>
                  <a:srgbClr val="D4D4D4"/>
                </a:solidFill>
                <a:latin typeface="Consolas" panose="020B0609020204030204" pitchFamily="49" charset="0"/>
              </a:rPr>
              <a:t>, </a:t>
            </a:r>
            <a:r>
              <a:rPr lang="en-US" sz="800" dirty="0">
                <a:solidFill>
                  <a:srgbClr val="B5CEA8"/>
                </a:solidFill>
                <a:latin typeface="Consolas" panose="020B0609020204030204" pitchFamily="49" charset="0"/>
              </a:rPr>
              <a:t>40</a:t>
            </a:r>
            <a:r>
              <a:rPr lang="en-US" sz="800" dirty="0">
                <a:solidFill>
                  <a:srgbClr val="D4D4D4"/>
                </a:solidFill>
                <a:latin typeface="Consolas" panose="020B0609020204030204" pitchFamily="49" charset="0"/>
              </a:rPr>
              <a:t>};</a:t>
            </a:r>
          </a:p>
          <a:p>
            <a:pPr>
              <a:lnSpc>
                <a:spcPts val="1425"/>
              </a:lnSpc>
              <a:buNone/>
            </a:pPr>
            <a:r>
              <a:rPr lang="en-US" sz="800" dirty="0">
                <a:solidFill>
                  <a:srgbClr val="D4D4D4"/>
                </a:solidFill>
                <a:latin typeface="Consolas" panose="020B0609020204030204" pitchFamily="49" charset="0"/>
              </a:rPr>
              <a:t>    </a:t>
            </a:r>
            <a:r>
              <a:rPr lang="en-US" sz="800" dirty="0">
                <a:solidFill>
                  <a:srgbClr val="569CD6"/>
                </a:solidFill>
                <a:latin typeface="Consolas" panose="020B0609020204030204" pitchFamily="49" charset="0"/>
              </a:rPr>
              <a:t>int</a:t>
            </a:r>
            <a:r>
              <a:rPr lang="en-US" sz="800" dirty="0">
                <a:solidFill>
                  <a:srgbClr val="D4D4D4"/>
                </a:solidFill>
                <a:latin typeface="Consolas" panose="020B0609020204030204" pitchFamily="49" charset="0"/>
              </a:rPr>
              <a:t> </a:t>
            </a:r>
            <a:r>
              <a:rPr lang="en-US" sz="800" dirty="0">
                <a:solidFill>
                  <a:srgbClr val="9CDCFE"/>
                </a:solidFill>
                <a:latin typeface="Consolas" panose="020B0609020204030204" pitchFamily="49" charset="0"/>
              </a:rPr>
              <a:t>w</a:t>
            </a:r>
            <a:r>
              <a:rPr lang="en-US" sz="800" dirty="0">
                <a:solidFill>
                  <a:srgbClr val="569CD6"/>
                </a:solidFill>
                <a:latin typeface="Consolas" panose="020B0609020204030204" pitchFamily="49" charset="0"/>
              </a:rPr>
              <a:t>[]</a:t>
            </a:r>
            <a:r>
              <a:rPr lang="en-US" sz="800" dirty="0">
                <a:solidFill>
                  <a:srgbClr val="D4D4D4"/>
                </a:solidFill>
                <a:latin typeface="Consolas" panose="020B0609020204030204" pitchFamily="49" charset="0"/>
              </a:rPr>
              <a:t> = {</a:t>
            </a:r>
            <a:r>
              <a:rPr lang="en-US" sz="800" dirty="0">
                <a:solidFill>
                  <a:srgbClr val="B5CEA8"/>
                </a:solidFill>
                <a:latin typeface="Consolas" panose="020B0609020204030204" pitchFamily="49" charset="0"/>
              </a:rPr>
              <a:t>0</a:t>
            </a:r>
            <a:r>
              <a:rPr lang="en-US" sz="800" dirty="0">
                <a:solidFill>
                  <a:srgbClr val="D4D4D4"/>
                </a:solidFill>
                <a:latin typeface="Consolas" panose="020B0609020204030204" pitchFamily="49" charset="0"/>
              </a:rPr>
              <a:t>, </a:t>
            </a:r>
            <a:r>
              <a:rPr lang="en-US" sz="800" dirty="0">
                <a:solidFill>
                  <a:srgbClr val="B5CEA8"/>
                </a:solidFill>
                <a:latin typeface="Consolas" panose="020B0609020204030204" pitchFamily="49" charset="0"/>
              </a:rPr>
              <a:t>30</a:t>
            </a:r>
            <a:r>
              <a:rPr lang="en-US" sz="800" dirty="0">
                <a:solidFill>
                  <a:srgbClr val="D4D4D4"/>
                </a:solidFill>
                <a:latin typeface="Consolas" panose="020B0609020204030204" pitchFamily="49" charset="0"/>
              </a:rPr>
              <a:t>, </a:t>
            </a:r>
            <a:r>
              <a:rPr lang="en-US" sz="800" dirty="0">
                <a:solidFill>
                  <a:srgbClr val="B5CEA8"/>
                </a:solidFill>
                <a:latin typeface="Consolas" panose="020B0609020204030204" pitchFamily="49" charset="0"/>
              </a:rPr>
              <a:t>10</a:t>
            </a:r>
            <a:r>
              <a:rPr lang="en-US" sz="800" dirty="0">
                <a:solidFill>
                  <a:srgbClr val="D4D4D4"/>
                </a:solidFill>
                <a:latin typeface="Consolas" panose="020B0609020204030204" pitchFamily="49" charset="0"/>
              </a:rPr>
              <a:t>, </a:t>
            </a:r>
            <a:r>
              <a:rPr lang="en-US" sz="800" dirty="0">
                <a:solidFill>
                  <a:srgbClr val="B5CEA8"/>
                </a:solidFill>
                <a:latin typeface="Consolas" panose="020B0609020204030204" pitchFamily="49" charset="0"/>
              </a:rPr>
              <a:t>20</a:t>
            </a:r>
            <a:r>
              <a:rPr lang="en-US" sz="800" dirty="0">
                <a:solidFill>
                  <a:srgbClr val="D4D4D4"/>
                </a:solidFill>
                <a:latin typeface="Consolas" panose="020B0609020204030204" pitchFamily="49" charset="0"/>
              </a:rPr>
              <a:t>, </a:t>
            </a:r>
            <a:r>
              <a:rPr lang="en-US" sz="800" dirty="0">
                <a:solidFill>
                  <a:srgbClr val="B5CEA8"/>
                </a:solidFill>
                <a:latin typeface="Consolas" panose="020B0609020204030204" pitchFamily="49" charset="0"/>
              </a:rPr>
              <a:t>50</a:t>
            </a:r>
            <a:r>
              <a:rPr lang="en-US" sz="800" dirty="0">
                <a:solidFill>
                  <a:srgbClr val="D4D4D4"/>
                </a:solidFill>
                <a:latin typeface="Consolas" panose="020B0609020204030204" pitchFamily="49" charset="0"/>
              </a:rPr>
              <a:t>, </a:t>
            </a:r>
            <a:r>
              <a:rPr lang="en-US" sz="800" dirty="0">
                <a:solidFill>
                  <a:srgbClr val="B5CEA8"/>
                </a:solidFill>
                <a:latin typeface="Consolas" panose="020B0609020204030204" pitchFamily="49" charset="0"/>
              </a:rPr>
              <a:t>40</a:t>
            </a:r>
            <a:r>
              <a:rPr lang="en-US" sz="800" dirty="0">
                <a:solidFill>
                  <a:srgbClr val="D4D4D4"/>
                </a:solidFill>
                <a:latin typeface="Consolas" panose="020B0609020204030204" pitchFamily="49" charset="0"/>
              </a:rPr>
              <a:t>};</a:t>
            </a:r>
          </a:p>
          <a:p>
            <a:pPr>
              <a:lnSpc>
                <a:spcPts val="1425"/>
              </a:lnSpc>
              <a:buNone/>
            </a:pPr>
            <a:r>
              <a:rPr lang="en-US" sz="800" dirty="0">
                <a:solidFill>
                  <a:srgbClr val="D4D4D4"/>
                </a:solidFill>
                <a:latin typeface="Consolas" panose="020B0609020204030204" pitchFamily="49" charset="0"/>
              </a:rPr>
              <a:t>    </a:t>
            </a:r>
            <a:r>
              <a:rPr lang="en-US" sz="800" dirty="0">
                <a:solidFill>
                  <a:srgbClr val="569CD6"/>
                </a:solidFill>
                <a:latin typeface="Consolas" panose="020B0609020204030204" pitchFamily="49" charset="0"/>
              </a:rPr>
              <a:t>double</a:t>
            </a:r>
            <a:r>
              <a:rPr lang="en-US" sz="800" dirty="0">
                <a:solidFill>
                  <a:srgbClr val="D4D4D4"/>
                </a:solidFill>
                <a:latin typeface="Consolas" panose="020B0609020204030204" pitchFamily="49" charset="0"/>
              </a:rPr>
              <a:t> </a:t>
            </a:r>
            <a:r>
              <a:rPr lang="en-US" sz="800" dirty="0" err="1">
                <a:solidFill>
                  <a:srgbClr val="9CDCFE"/>
                </a:solidFill>
                <a:latin typeface="Consolas" panose="020B0609020204030204" pitchFamily="49" charset="0"/>
              </a:rPr>
              <a:t>vw</a:t>
            </a:r>
            <a:r>
              <a:rPr lang="en-US" sz="800" dirty="0">
                <a:solidFill>
                  <a:srgbClr val="D4D4D4"/>
                </a:solidFill>
                <a:latin typeface="Consolas" panose="020B0609020204030204" pitchFamily="49" charset="0"/>
              </a:rPr>
              <a:t>[</a:t>
            </a:r>
            <a:r>
              <a:rPr lang="en-US" sz="800" dirty="0">
                <a:solidFill>
                  <a:srgbClr val="569CD6"/>
                </a:solidFill>
                <a:latin typeface="Consolas" panose="020B0609020204030204" pitchFamily="49" charset="0"/>
              </a:rPr>
              <a:t>N</a:t>
            </a:r>
            <a:r>
              <a:rPr lang="en-US" sz="800" dirty="0">
                <a:solidFill>
                  <a:srgbClr val="D4D4D4"/>
                </a:solidFill>
                <a:latin typeface="Consolas" panose="020B0609020204030204" pitchFamily="49" charset="0"/>
              </a:rPr>
              <a:t> + </a:t>
            </a:r>
            <a:r>
              <a:rPr lang="en-US" sz="800" dirty="0">
                <a:solidFill>
                  <a:srgbClr val="B5CEA8"/>
                </a:solidFill>
                <a:latin typeface="Consolas" panose="020B0609020204030204" pitchFamily="49" charset="0"/>
              </a:rPr>
              <a:t>1</a:t>
            </a:r>
            <a:r>
              <a:rPr lang="en-US" sz="800" dirty="0">
                <a:solidFill>
                  <a:srgbClr val="D4D4D4"/>
                </a:solidFill>
                <a:latin typeface="Consolas" panose="020B0609020204030204" pitchFamily="49" charset="0"/>
              </a:rPr>
              <a:t>];</a:t>
            </a:r>
            <a:r>
              <a:rPr lang="en-US" sz="800" dirty="0">
                <a:solidFill>
                  <a:srgbClr val="6A9955"/>
                </a:solidFill>
                <a:latin typeface="Consolas" panose="020B0609020204030204" pitchFamily="49" charset="0"/>
              </a:rPr>
              <a:t> // </a:t>
            </a:r>
            <a:r>
              <a:rPr lang="zh-CN" altLang="en-US" sz="800" dirty="0">
                <a:solidFill>
                  <a:srgbClr val="6A9955"/>
                </a:solidFill>
                <a:latin typeface="Consolas" panose="020B0609020204030204" pitchFamily="49" charset="0"/>
              </a:rPr>
              <a:t>物品单位价值</a:t>
            </a:r>
            <a:endParaRPr lang="en-US" altLang="zh-CN" sz="800" dirty="0">
              <a:solidFill>
                <a:srgbClr val="6A9955"/>
              </a:solidFill>
              <a:latin typeface="Consolas" panose="020B0609020204030204" pitchFamily="49" charset="0"/>
            </a:endParaRPr>
          </a:p>
          <a:p>
            <a:pPr>
              <a:lnSpc>
                <a:spcPts val="1425"/>
              </a:lnSpc>
              <a:buNone/>
            </a:pPr>
            <a:br>
              <a:rPr lang="zh-CN" altLang="en-US" sz="800" dirty="0">
                <a:solidFill>
                  <a:srgbClr val="D4D4D4"/>
                </a:solidFill>
                <a:latin typeface="Consolas" panose="020B0609020204030204" pitchFamily="49" charset="0"/>
              </a:rPr>
            </a:br>
            <a:r>
              <a:rPr lang="zh-CN" altLang="en-US" sz="800" dirty="0">
                <a:solidFill>
                  <a:srgbClr val="D4D4D4"/>
                </a:solidFill>
                <a:latin typeface="Consolas" panose="020B0609020204030204" pitchFamily="49" charset="0"/>
              </a:rPr>
              <a:t>    </a:t>
            </a:r>
            <a:r>
              <a:rPr lang="en-US" altLang="zh-CN" sz="800" dirty="0">
                <a:solidFill>
                  <a:srgbClr val="6A9955"/>
                </a:solidFill>
                <a:latin typeface="Consolas" panose="020B0609020204030204" pitchFamily="49" charset="0"/>
              </a:rPr>
              <a:t>// </a:t>
            </a:r>
            <a:r>
              <a:rPr lang="zh-CN" altLang="en-US" sz="800" dirty="0">
                <a:solidFill>
                  <a:srgbClr val="6A9955"/>
                </a:solidFill>
                <a:latin typeface="Consolas" panose="020B0609020204030204" pitchFamily="49" charset="0"/>
              </a:rPr>
              <a:t>计算单位价值</a:t>
            </a:r>
            <a:endParaRPr lang="zh-CN" altLang="en-US" sz="800" dirty="0">
              <a:solidFill>
                <a:srgbClr val="D4D4D4"/>
              </a:solidFill>
              <a:latin typeface="Consolas" panose="020B0609020204030204" pitchFamily="49" charset="0"/>
            </a:endParaRPr>
          </a:p>
          <a:p>
            <a:pPr>
              <a:lnSpc>
                <a:spcPts val="1425"/>
              </a:lnSpc>
              <a:buNone/>
            </a:pPr>
            <a:r>
              <a:rPr lang="zh-CN" altLang="en-US" sz="800" dirty="0">
                <a:solidFill>
                  <a:srgbClr val="D4D4D4"/>
                </a:solidFill>
                <a:latin typeface="Consolas" panose="020B0609020204030204" pitchFamily="49" charset="0"/>
              </a:rPr>
              <a:t>    </a:t>
            </a:r>
            <a:r>
              <a:rPr lang="en-US" sz="800" dirty="0">
                <a:solidFill>
                  <a:srgbClr val="569CD6"/>
                </a:solidFill>
                <a:latin typeface="Consolas" panose="020B0609020204030204" pitchFamily="49" charset="0"/>
              </a:rPr>
              <a:t>int</a:t>
            </a:r>
            <a:r>
              <a:rPr lang="en-US" sz="800" dirty="0">
                <a:solidFill>
                  <a:srgbClr val="D4D4D4"/>
                </a:solidFill>
                <a:latin typeface="Consolas" panose="020B0609020204030204" pitchFamily="49" charset="0"/>
              </a:rPr>
              <a:t> </a:t>
            </a:r>
            <a:r>
              <a:rPr lang="en-US" sz="800" dirty="0" err="1">
                <a:solidFill>
                  <a:srgbClr val="9CDCFE"/>
                </a:solidFill>
                <a:latin typeface="Consolas" panose="020B0609020204030204" pitchFamily="49" charset="0"/>
              </a:rPr>
              <a:t>i</a:t>
            </a:r>
            <a:r>
              <a:rPr lang="en-US" sz="800" dirty="0">
                <a:solidFill>
                  <a:srgbClr val="D4D4D4"/>
                </a:solidFill>
                <a:latin typeface="Consolas" panose="020B0609020204030204" pitchFamily="49" charset="0"/>
              </a:rPr>
              <a:t>;</a:t>
            </a:r>
          </a:p>
          <a:p>
            <a:pPr>
              <a:lnSpc>
                <a:spcPts val="1425"/>
              </a:lnSpc>
              <a:buNone/>
            </a:pPr>
            <a:r>
              <a:rPr lang="en-US" sz="800" dirty="0">
                <a:solidFill>
                  <a:srgbClr val="D4D4D4"/>
                </a:solidFill>
                <a:latin typeface="Consolas" panose="020B0609020204030204" pitchFamily="49" charset="0"/>
              </a:rPr>
              <a:t>    </a:t>
            </a:r>
            <a:r>
              <a:rPr lang="en-US" sz="800" dirty="0">
                <a:solidFill>
                  <a:srgbClr val="C586C0"/>
                </a:solidFill>
                <a:latin typeface="Consolas" panose="020B0609020204030204" pitchFamily="49" charset="0"/>
              </a:rPr>
              <a:t>for</a:t>
            </a:r>
            <a:r>
              <a:rPr lang="en-US" sz="800" dirty="0">
                <a:solidFill>
                  <a:srgbClr val="D4D4D4"/>
                </a:solidFill>
                <a:latin typeface="Consolas" panose="020B0609020204030204" pitchFamily="49" charset="0"/>
              </a:rPr>
              <a:t> (</a:t>
            </a:r>
            <a:r>
              <a:rPr lang="en-US" sz="800" dirty="0" err="1">
                <a:solidFill>
                  <a:srgbClr val="9CDCFE"/>
                </a:solidFill>
                <a:latin typeface="Consolas" panose="020B0609020204030204" pitchFamily="49" charset="0"/>
              </a:rPr>
              <a:t>i</a:t>
            </a:r>
            <a:r>
              <a:rPr lang="en-US" sz="800" dirty="0">
                <a:solidFill>
                  <a:srgbClr val="D4D4D4"/>
                </a:solidFill>
                <a:latin typeface="Consolas" panose="020B0609020204030204" pitchFamily="49" charset="0"/>
              </a:rPr>
              <a:t> = </a:t>
            </a:r>
            <a:r>
              <a:rPr lang="en-US" sz="800" dirty="0">
                <a:solidFill>
                  <a:srgbClr val="B5CEA8"/>
                </a:solidFill>
                <a:latin typeface="Consolas" panose="020B0609020204030204" pitchFamily="49" charset="0"/>
              </a:rPr>
              <a:t>0</a:t>
            </a:r>
            <a:r>
              <a:rPr lang="en-US" sz="800" dirty="0">
                <a:solidFill>
                  <a:srgbClr val="D4D4D4"/>
                </a:solidFill>
                <a:latin typeface="Consolas" panose="020B0609020204030204" pitchFamily="49" charset="0"/>
              </a:rPr>
              <a:t>; </a:t>
            </a:r>
            <a:r>
              <a:rPr lang="en-US" sz="800" dirty="0" err="1">
                <a:solidFill>
                  <a:srgbClr val="9CDCFE"/>
                </a:solidFill>
                <a:latin typeface="Consolas" panose="020B0609020204030204" pitchFamily="49" charset="0"/>
              </a:rPr>
              <a:t>i</a:t>
            </a:r>
            <a:r>
              <a:rPr lang="en-US" sz="800" dirty="0">
                <a:solidFill>
                  <a:srgbClr val="D4D4D4"/>
                </a:solidFill>
                <a:latin typeface="Consolas" panose="020B0609020204030204" pitchFamily="49" charset="0"/>
              </a:rPr>
              <a:t> &lt;= </a:t>
            </a:r>
            <a:r>
              <a:rPr lang="en-US" sz="800" dirty="0">
                <a:solidFill>
                  <a:srgbClr val="569CD6"/>
                </a:solidFill>
                <a:latin typeface="Consolas" panose="020B0609020204030204" pitchFamily="49" charset="0"/>
              </a:rPr>
              <a:t>N</a:t>
            </a:r>
            <a:r>
              <a:rPr lang="en-US" sz="800" dirty="0">
                <a:solidFill>
                  <a:srgbClr val="D4D4D4"/>
                </a:solidFill>
                <a:latin typeface="Consolas" panose="020B0609020204030204" pitchFamily="49" charset="0"/>
              </a:rPr>
              <a:t>; </a:t>
            </a:r>
            <a:r>
              <a:rPr lang="en-US" sz="800" dirty="0" err="1">
                <a:solidFill>
                  <a:srgbClr val="9CDCFE"/>
                </a:solidFill>
                <a:latin typeface="Consolas" panose="020B0609020204030204" pitchFamily="49" charset="0"/>
              </a:rPr>
              <a:t>i</a:t>
            </a:r>
            <a:r>
              <a:rPr lang="en-US" sz="800" dirty="0">
                <a:solidFill>
                  <a:srgbClr val="D4D4D4"/>
                </a:solidFill>
                <a:latin typeface="Consolas" panose="020B0609020204030204" pitchFamily="49" charset="0"/>
              </a:rPr>
              <a:t>++)</a:t>
            </a:r>
          </a:p>
          <a:p>
            <a:pPr>
              <a:lnSpc>
                <a:spcPts val="1425"/>
              </a:lnSpc>
              <a:buNone/>
            </a:pPr>
            <a:r>
              <a:rPr lang="en-US" sz="800" dirty="0">
                <a:solidFill>
                  <a:srgbClr val="D4D4D4"/>
                </a:solidFill>
                <a:latin typeface="Consolas" panose="020B0609020204030204" pitchFamily="49" charset="0"/>
              </a:rPr>
              <a:t>        </a:t>
            </a:r>
            <a:r>
              <a:rPr lang="en-US" sz="800" dirty="0" err="1">
                <a:solidFill>
                  <a:srgbClr val="9CDCFE"/>
                </a:solidFill>
                <a:latin typeface="Consolas" panose="020B0609020204030204" pitchFamily="49" charset="0"/>
              </a:rPr>
              <a:t>vw</a:t>
            </a:r>
            <a:r>
              <a:rPr lang="en-US" sz="800" dirty="0">
                <a:solidFill>
                  <a:srgbClr val="D4D4D4"/>
                </a:solidFill>
                <a:latin typeface="Consolas" panose="020B0609020204030204" pitchFamily="49" charset="0"/>
              </a:rPr>
              <a:t>[</a:t>
            </a:r>
            <a:r>
              <a:rPr lang="en-US" sz="800" dirty="0" err="1">
                <a:solidFill>
                  <a:srgbClr val="9CDCFE"/>
                </a:solidFill>
                <a:latin typeface="Consolas" panose="020B0609020204030204" pitchFamily="49" charset="0"/>
              </a:rPr>
              <a:t>i</a:t>
            </a:r>
            <a:r>
              <a:rPr lang="en-US" sz="800" dirty="0">
                <a:solidFill>
                  <a:srgbClr val="D4D4D4"/>
                </a:solidFill>
                <a:latin typeface="Consolas" panose="020B0609020204030204" pitchFamily="49" charset="0"/>
              </a:rPr>
              <a:t>] = (</a:t>
            </a:r>
            <a:r>
              <a:rPr lang="en-US" sz="800" dirty="0">
                <a:solidFill>
                  <a:srgbClr val="569CD6"/>
                </a:solidFill>
                <a:latin typeface="Consolas" panose="020B0609020204030204" pitchFamily="49" charset="0"/>
              </a:rPr>
              <a:t>double</a:t>
            </a:r>
            <a:r>
              <a:rPr lang="en-US" sz="800" dirty="0">
                <a:solidFill>
                  <a:srgbClr val="D4D4D4"/>
                </a:solidFill>
                <a:latin typeface="Consolas" panose="020B0609020204030204" pitchFamily="49" charset="0"/>
              </a:rPr>
              <a:t>)</a:t>
            </a:r>
            <a:r>
              <a:rPr lang="en-US" sz="800" dirty="0">
                <a:solidFill>
                  <a:srgbClr val="9CDCFE"/>
                </a:solidFill>
                <a:latin typeface="Consolas" panose="020B0609020204030204" pitchFamily="49" charset="0"/>
              </a:rPr>
              <a:t>v</a:t>
            </a:r>
            <a:r>
              <a:rPr lang="en-US" sz="800" dirty="0">
                <a:solidFill>
                  <a:srgbClr val="D4D4D4"/>
                </a:solidFill>
                <a:latin typeface="Consolas" panose="020B0609020204030204" pitchFamily="49" charset="0"/>
              </a:rPr>
              <a:t>[</a:t>
            </a:r>
            <a:r>
              <a:rPr lang="en-US" sz="800" dirty="0" err="1">
                <a:solidFill>
                  <a:srgbClr val="9CDCFE"/>
                </a:solidFill>
                <a:latin typeface="Consolas" panose="020B0609020204030204" pitchFamily="49" charset="0"/>
              </a:rPr>
              <a:t>i</a:t>
            </a:r>
            <a:r>
              <a:rPr lang="en-US" sz="800" dirty="0">
                <a:solidFill>
                  <a:srgbClr val="D4D4D4"/>
                </a:solidFill>
                <a:latin typeface="Consolas" panose="020B0609020204030204" pitchFamily="49" charset="0"/>
              </a:rPr>
              <a:t>] / </a:t>
            </a:r>
            <a:r>
              <a:rPr lang="en-US" sz="800" dirty="0">
                <a:solidFill>
                  <a:srgbClr val="9CDCFE"/>
                </a:solidFill>
                <a:latin typeface="Consolas" panose="020B0609020204030204" pitchFamily="49" charset="0"/>
              </a:rPr>
              <a:t>w</a:t>
            </a:r>
            <a:r>
              <a:rPr lang="en-US" sz="800" dirty="0">
                <a:solidFill>
                  <a:srgbClr val="D4D4D4"/>
                </a:solidFill>
                <a:latin typeface="Consolas" panose="020B0609020204030204" pitchFamily="49" charset="0"/>
              </a:rPr>
              <a:t>[</a:t>
            </a:r>
            <a:r>
              <a:rPr lang="en-US" sz="800" dirty="0" err="1">
                <a:solidFill>
                  <a:srgbClr val="9CDCFE"/>
                </a:solidFill>
                <a:latin typeface="Consolas" panose="020B0609020204030204" pitchFamily="49" charset="0"/>
              </a:rPr>
              <a:t>i</a:t>
            </a:r>
            <a:r>
              <a:rPr lang="en-US" sz="800" dirty="0">
                <a:solidFill>
                  <a:srgbClr val="D4D4D4"/>
                </a:solidFill>
                <a:latin typeface="Consolas" panose="020B0609020204030204" pitchFamily="49" charset="0"/>
              </a:rPr>
              <a:t>];</a:t>
            </a:r>
          </a:p>
          <a:p>
            <a:pPr>
              <a:lnSpc>
                <a:spcPts val="1425"/>
              </a:lnSpc>
              <a:buNone/>
            </a:pPr>
            <a:br>
              <a:rPr lang="en-US" sz="800" dirty="0">
                <a:solidFill>
                  <a:srgbClr val="D4D4D4"/>
                </a:solidFill>
                <a:latin typeface="Consolas" panose="020B0609020204030204" pitchFamily="49" charset="0"/>
              </a:rPr>
            </a:br>
            <a:r>
              <a:rPr lang="en-US" sz="800" dirty="0">
                <a:solidFill>
                  <a:srgbClr val="D4D4D4"/>
                </a:solidFill>
                <a:latin typeface="Consolas" panose="020B0609020204030204" pitchFamily="49" charset="0"/>
              </a:rPr>
              <a:t>    </a:t>
            </a:r>
            <a:r>
              <a:rPr lang="en-US" sz="800" dirty="0">
                <a:solidFill>
                  <a:srgbClr val="6A9955"/>
                </a:solidFill>
                <a:latin typeface="Consolas" panose="020B0609020204030204" pitchFamily="49" charset="0"/>
              </a:rPr>
              <a:t>// </a:t>
            </a:r>
            <a:r>
              <a:rPr lang="zh-CN" altLang="en-US" sz="800" dirty="0">
                <a:solidFill>
                  <a:srgbClr val="6A9955"/>
                </a:solidFill>
                <a:latin typeface="Consolas" panose="020B0609020204030204" pitchFamily="49" charset="0"/>
              </a:rPr>
              <a:t>归并排序，从大到小</a:t>
            </a:r>
            <a:endParaRPr lang="zh-CN" altLang="en-US" sz="800" dirty="0">
              <a:solidFill>
                <a:srgbClr val="D4D4D4"/>
              </a:solidFill>
              <a:latin typeface="Consolas" panose="020B0609020204030204" pitchFamily="49" charset="0"/>
            </a:endParaRPr>
          </a:p>
          <a:p>
            <a:pPr>
              <a:lnSpc>
                <a:spcPts val="1425"/>
              </a:lnSpc>
              <a:buNone/>
            </a:pPr>
            <a:r>
              <a:rPr lang="zh-CN" altLang="en-US" sz="800" dirty="0">
                <a:solidFill>
                  <a:srgbClr val="D4D4D4"/>
                </a:solidFill>
                <a:latin typeface="Consolas" panose="020B0609020204030204" pitchFamily="49" charset="0"/>
              </a:rPr>
              <a:t>    </a:t>
            </a:r>
            <a:r>
              <a:rPr lang="en-US" sz="800" dirty="0">
                <a:solidFill>
                  <a:srgbClr val="DCDCAA"/>
                </a:solidFill>
                <a:latin typeface="Consolas" panose="020B0609020204030204" pitchFamily="49" charset="0"/>
              </a:rPr>
              <a:t>merge</a:t>
            </a:r>
            <a:r>
              <a:rPr lang="en-US" sz="800" dirty="0">
                <a:solidFill>
                  <a:srgbClr val="D4D4D4"/>
                </a:solidFill>
                <a:latin typeface="Consolas" panose="020B0609020204030204" pitchFamily="49" charset="0"/>
              </a:rPr>
              <a:t>(</a:t>
            </a:r>
            <a:r>
              <a:rPr lang="en-US" sz="800" dirty="0" err="1">
                <a:solidFill>
                  <a:srgbClr val="9CDCFE"/>
                </a:solidFill>
                <a:latin typeface="Consolas" panose="020B0609020204030204" pitchFamily="49" charset="0"/>
              </a:rPr>
              <a:t>vw</a:t>
            </a:r>
            <a:r>
              <a:rPr lang="en-US" sz="800" dirty="0">
                <a:solidFill>
                  <a:srgbClr val="D4D4D4"/>
                </a:solidFill>
                <a:latin typeface="Consolas" panose="020B0609020204030204" pitchFamily="49" charset="0"/>
              </a:rPr>
              <a:t>, </a:t>
            </a:r>
            <a:r>
              <a:rPr lang="en-US" sz="800" dirty="0">
                <a:solidFill>
                  <a:srgbClr val="B5CEA8"/>
                </a:solidFill>
                <a:latin typeface="Consolas" panose="020B0609020204030204" pitchFamily="49" charset="0"/>
              </a:rPr>
              <a:t>0</a:t>
            </a:r>
            <a:r>
              <a:rPr lang="en-US" sz="800" dirty="0">
                <a:solidFill>
                  <a:srgbClr val="D4D4D4"/>
                </a:solidFill>
                <a:latin typeface="Consolas" panose="020B0609020204030204" pitchFamily="49" charset="0"/>
              </a:rPr>
              <a:t>, </a:t>
            </a:r>
            <a:r>
              <a:rPr lang="en-US" sz="800" dirty="0">
                <a:solidFill>
                  <a:srgbClr val="569CD6"/>
                </a:solidFill>
                <a:latin typeface="Consolas" panose="020B0609020204030204" pitchFamily="49" charset="0"/>
              </a:rPr>
              <a:t>N</a:t>
            </a:r>
            <a:r>
              <a:rPr lang="en-US" sz="800" dirty="0">
                <a:solidFill>
                  <a:srgbClr val="D4D4D4"/>
                </a:solidFill>
                <a:latin typeface="Consolas" panose="020B0609020204030204" pitchFamily="49" charset="0"/>
              </a:rPr>
              <a:t>);</a:t>
            </a:r>
          </a:p>
          <a:p>
            <a:pPr>
              <a:lnSpc>
                <a:spcPts val="1425"/>
              </a:lnSpc>
              <a:buNone/>
            </a:pPr>
            <a:br>
              <a:rPr lang="en-US" sz="800" dirty="0">
                <a:solidFill>
                  <a:srgbClr val="D4D4D4"/>
                </a:solidFill>
                <a:latin typeface="Consolas" panose="020B0609020204030204" pitchFamily="49" charset="0"/>
              </a:rPr>
            </a:br>
            <a:r>
              <a:rPr lang="en-US" sz="800" dirty="0">
                <a:solidFill>
                  <a:srgbClr val="D4D4D4"/>
                </a:solidFill>
                <a:latin typeface="Consolas" panose="020B0609020204030204" pitchFamily="49" charset="0"/>
              </a:rPr>
              <a:t>    </a:t>
            </a:r>
            <a:r>
              <a:rPr lang="en-US" sz="800" dirty="0">
                <a:solidFill>
                  <a:srgbClr val="6A9955"/>
                </a:solidFill>
                <a:latin typeface="Consolas" panose="020B0609020204030204" pitchFamily="49" charset="0"/>
              </a:rPr>
              <a:t>// </a:t>
            </a:r>
            <a:r>
              <a:rPr lang="zh-CN" altLang="en-US" sz="800" dirty="0">
                <a:solidFill>
                  <a:srgbClr val="6A9955"/>
                </a:solidFill>
                <a:latin typeface="Consolas" panose="020B0609020204030204" pitchFamily="49" charset="0"/>
              </a:rPr>
              <a:t>依次放入物品</a:t>
            </a:r>
            <a:endParaRPr lang="zh-CN" altLang="en-US" sz="800" dirty="0">
              <a:solidFill>
                <a:srgbClr val="D4D4D4"/>
              </a:solidFill>
              <a:latin typeface="Consolas" panose="020B0609020204030204" pitchFamily="49" charset="0"/>
            </a:endParaRPr>
          </a:p>
          <a:p>
            <a:pPr>
              <a:lnSpc>
                <a:spcPts val="1425"/>
              </a:lnSpc>
              <a:buNone/>
            </a:pPr>
            <a:r>
              <a:rPr lang="zh-CN" altLang="en-US" sz="800" dirty="0">
                <a:solidFill>
                  <a:srgbClr val="D4D4D4"/>
                </a:solidFill>
                <a:latin typeface="Consolas" panose="020B0609020204030204" pitchFamily="49" charset="0"/>
              </a:rPr>
              <a:t>    </a:t>
            </a:r>
            <a:r>
              <a:rPr lang="en-US" sz="800" dirty="0" err="1">
                <a:solidFill>
                  <a:srgbClr val="DCDCAA"/>
                </a:solidFill>
                <a:latin typeface="Consolas" panose="020B0609020204030204" pitchFamily="49" charset="0"/>
              </a:rPr>
              <a:t>maxValue</a:t>
            </a:r>
            <a:r>
              <a:rPr lang="en-US" sz="800" dirty="0">
                <a:solidFill>
                  <a:srgbClr val="D4D4D4"/>
                </a:solidFill>
                <a:latin typeface="Consolas" panose="020B0609020204030204" pitchFamily="49" charset="0"/>
              </a:rPr>
              <a:t>(</a:t>
            </a:r>
            <a:r>
              <a:rPr lang="en-US" sz="800" dirty="0" err="1">
                <a:solidFill>
                  <a:srgbClr val="9CDCFE"/>
                </a:solidFill>
                <a:latin typeface="Consolas" panose="020B0609020204030204" pitchFamily="49" charset="0"/>
              </a:rPr>
              <a:t>v_temp</a:t>
            </a:r>
            <a:r>
              <a:rPr lang="en-US" sz="800" dirty="0">
                <a:solidFill>
                  <a:srgbClr val="D4D4D4"/>
                </a:solidFill>
                <a:latin typeface="Consolas" panose="020B0609020204030204" pitchFamily="49" charset="0"/>
              </a:rPr>
              <a:t>, </a:t>
            </a:r>
            <a:r>
              <a:rPr lang="en-US" sz="800" dirty="0" err="1">
                <a:solidFill>
                  <a:srgbClr val="9CDCFE"/>
                </a:solidFill>
                <a:latin typeface="Consolas" panose="020B0609020204030204" pitchFamily="49" charset="0"/>
              </a:rPr>
              <a:t>w_temp</a:t>
            </a:r>
            <a:r>
              <a:rPr lang="en-US" sz="800" dirty="0">
                <a:solidFill>
                  <a:srgbClr val="D4D4D4"/>
                </a:solidFill>
                <a:latin typeface="Consolas" panose="020B0609020204030204" pitchFamily="49" charset="0"/>
              </a:rPr>
              <a:t>, </a:t>
            </a:r>
            <a:r>
              <a:rPr lang="en-US" sz="800" dirty="0" err="1">
                <a:solidFill>
                  <a:srgbClr val="9CDCFE"/>
                </a:solidFill>
                <a:latin typeface="Consolas" panose="020B0609020204030204" pitchFamily="49" charset="0"/>
              </a:rPr>
              <a:t>vw_temp</a:t>
            </a:r>
            <a:r>
              <a:rPr lang="en-US" sz="800" dirty="0">
                <a:solidFill>
                  <a:srgbClr val="D4D4D4"/>
                </a:solidFill>
                <a:latin typeface="Consolas" panose="020B0609020204030204" pitchFamily="49" charset="0"/>
              </a:rPr>
              <a:t>);</a:t>
            </a:r>
          </a:p>
          <a:p>
            <a:pPr>
              <a:lnSpc>
                <a:spcPts val="1425"/>
              </a:lnSpc>
              <a:buNone/>
            </a:pPr>
            <a:br>
              <a:rPr lang="en-US" sz="800" dirty="0">
                <a:solidFill>
                  <a:srgbClr val="D4D4D4"/>
                </a:solidFill>
                <a:latin typeface="Consolas" panose="020B0609020204030204" pitchFamily="49" charset="0"/>
              </a:rPr>
            </a:br>
            <a:r>
              <a:rPr lang="en-US" sz="800" dirty="0">
                <a:solidFill>
                  <a:srgbClr val="D4D4D4"/>
                </a:solidFill>
                <a:latin typeface="Consolas" panose="020B0609020204030204" pitchFamily="49" charset="0"/>
              </a:rPr>
              <a:t>    </a:t>
            </a:r>
            <a:r>
              <a:rPr lang="en-US" sz="800" dirty="0">
                <a:solidFill>
                  <a:srgbClr val="C586C0"/>
                </a:solidFill>
                <a:latin typeface="Consolas" panose="020B0609020204030204" pitchFamily="49" charset="0"/>
              </a:rPr>
              <a:t>return</a:t>
            </a:r>
            <a:r>
              <a:rPr lang="en-US" sz="800" dirty="0">
                <a:solidFill>
                  <a:srgbClr val="D4D4D4"/>
                </a:solidFill>
                <a:latin typeface="Consolas" panose="020B0609020204030204" pitchFamily="49" charset="0"/>
              </a:rPr>
              <a:t> </a:t>
            </a:r>
            <a:r>
              <a:rPr lang="en-US" sz="800" dirty="0">
                <a:solidFill>
                  <a:srgbClr val="9CDCFE"/>
                </a:solidFill>
                <a:latin typeface="Consolas" panose="020B0609020204030204" pitchFamily="49" charset="0"/>
              </a:rPr>
              <a:t>0</a:t>
            </a:r>
            <a:r>
              <a:rPr lang="en-US" sz="800" dirty="0">
                <a:solidFill>
                  <a:srgbClr val="D4D4D4"/>
                </a:solidFill>
                <a:latin typeface="Consolas" panose="020B0609020204030204" pitchFamily="49" charset="0"/>
              </a:rPr>
              <a:t>;</a:t>
            </a:r>
          </a:p>
          <a:p>
            <a:pPr>
              <a:lnSpc>
                <a:spcPts val="1425"/>
              </a:lnSpc>
              <a:buNone/>
            </a:pPr>
            <a:r>
              <a:rPr lang="en-US" sz="800" dirty="0">
                <a:solidFill>
                  <a:srgbClr val="D4D4D4"/>
                </a:solidFill>
                <a:latin typeface="Consolas" panose="020B0609020204030204" pitchFamily="49" charset="0"/>
              </a:rPr>
              <a:t>}</a:t>
            </a:r>
            <a:endParaRPr lang="en-US" sz="800" b="0" dirty="0">
              <a:solidFill>
                <a:srgbClr val="D4D4D4"/>
              </a:solidFill>
              <a:effectLst/>
              <a:latin typeface="Consolas" panose="020B0609020204030204" pitchFamily="49" charset="0"/>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B558DB2-DF0C-D2C0-DB6B-DD63A2E0746D}"/>
                  </a:ext>
                </a:extLst>
              </p:cNvPr>
              <p:cNvSpPr txBox="1"/>
              <p:nvPr/>
            </p:nvSpPr>
            <p:spPr>
              <a:xfrm>
                <a:off x="3157218" y="5629447"/>
                <a:ext cx="4274928" cy="121520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活动选择：场地</a:t>
                </a:r>
                <a:r>
                  <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P</a:t>
                </a:r>
                <a:r>
                  <a:rPr kumimoji="0" lang="zh-CN" altLang="en-US"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的个数</a:t>
                </a:r>
                <a:r>
                  <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m</a:t>
                </a:r>
                <a:r>
                  <a:rPr kumimoji="0" lang="zh-CN" altLang="en-US"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，活动</a:t>
                </a:r>
                <a:r>
                  <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a</a:t>
                </a:r>
                <a:r>
                  <a:rPr kumimoji="0" lang="zh-CN" altLang="en-US"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的个数</a:t>
                </a:r>
                <a:r>
                  <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n</a:t>
                </a:r>
                <a:r>
                  <a:rPr kumimoji="0" lang="zh-CN" altLang="en-US"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，活动之间不可同时在同一场地举行，求所需最少场地数。</a:t>
                </a:r>
                <a:endPar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1</a:t>
                </a:r>
                <a:r>
                  <a:rPr lang="en-US" altLang="zh-CN" sz="1200" dirty="0">
                    <a:solidFill>
                      <a:srgbClr val="4472C4"/>
                    </a:solidFill>
                    <a:latin typeface="ui-monospace"/>
                    <a:ea typeface="等线" panose="02010600030101010101" pitchFamily="2" charset="-122"/>
                  </a:rPr>
                  <a:t>.</a:t>
                </a:r>
                <a:r>
                  <a:rPr kumimoji="0" lang="zh-CN" altLang="en-US"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按活动的开始时间对</a:t>
                </a:r>
                <a:r>
                  <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a</a:t>
                </a:r>
                <a:r>
                  <a:rPr kumimoji="0" lang="zh-CN" altLang="en-US"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进行快速排序</a:t>
                </a:r>
                <a:endPar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endParaRPr>
              </a:p>
              <a:p>
                <a:pPr lvl="0">
                  <a:defRPr/>
                </a:pPr>
                <a:r>
                  <a:rPr lang="en-US" altLang="zh-CN" sz="1200" dirty="0">
                    <a:solidFill>
                      <a:srgbClr val="4472C4"/>
                    </a:solidFill>
                    <a:latin typeface="ui-monospace"/>
                    <a:ea typeface="等线" panose="02010600030101010101" pitchFamily="2" charset="-122"/>
                  </a:rPr>
                  <a:t>2.</a:t>
                </a:r>
                <a:r>
                  <a:rPr lang="zh-CN" altLang="en-US" sz="1200" dirty="0">
                    <a:solidFill>
                      <a:srgbClr val="4472C4"/>
                    </a:solidFill>
                    <a:latin typeface="ui-monospace"/>
                    <a:ea typeface="等线" panose="02010600030101010101" pitchFamily="2" charset="-122"/>
                  </a:rPr>
                  <a:t>将活动</a:t>
                </a:r>
                <a14:m>
                  <m:oMath xmlns:m="http://schemas.openxmlformats.org/officeDocument/2006/math">
                    <m:sSub>
                      <m:sSubPr>
                        <m:ctrlPr>
                          <a:rPr lang="en-US" altLang="zh-CN" sz="1200" i="1" smtClean="0">
                            <a:solidFill>
                              <a:srgbClr val="4472C4"/>
                            </a:solidFill>
                            <a:latin typeface="Cambria Math" panose="02040503050406030204" pitchFamily="18" charset="0"/>
                            <a:ea typeface="等线" panose="02010600030101010101" pitchFamily="2" charset="-122"/>
                          </a:rPr>
                        </m:ctrlPr>
                      </m:sSubPr>
                      <m:e>
                        <m:r>
                          <a:rPr lang="en-US" altLang="zh-CN" sz="1200" b="0" i="1" smtClean="0">
                            <a:solidFill>
                              <a:srgbClr val="4472C4"/>
                            </a:solidFill>
                            <a:latin typeface="Cambria Math" panose="02040503050406030204" pitchFamily="18" charset="0"/>
                            <a:ea typeface="等线" panose="02010600030101010101" pitchFamily="2" charset="-122"/>
                          </a:rPr>
                          <m:t>𝑎</m:t>
                        </m:r>
                      </m:e>
                      <m:sub>
                        <m:r>
                          <m:rPr>
                            <m:sty m:val="p"/>
                          </m:rPr>
                          <a:rPr lang="en-US" altLang="zh-CN" sz="1200" i="1">
                            <a:solidFill>
                              <a:srgbClr val="4472C4"/>
                            </a:solidFill>
                            <a:latin typeface="Cambria Math" panose="02040503050406030204" pitchFamily="18" charset="0"/>
                            <a:ea typeface="等线" panose="02010600030101010101" pitchFamily="2" charset="-122"/>
                          </a:rPr>
                          <m:t>i</m:t>
                        </m:r>
                      </m:sub>
                    </m:sSub>
                  </m:oMath>
                </a14:m>
                <a:r>
                  <a:rPr lang="zh-CN" altLang="en-US" sz="1200" dirty="0">
                    <a:solidFill>
                      <a:srgbClr val="4472C4"/>
                    </a:solidFill>
                    <a:latin typeface="ui-monospace"/>
                    <a:ea typeface="等线" panose="02010600030101010101" pitchFamily="2" charset="-122"/>
                  </a:rPr>
                  <a:t>的开始时间与场地</a:t>
                </a:r>
                <a14:m>
                  <m:oMath xmlns:m="http://schemas.openxmlformats.org/officeDocument/2006/math">
                    <m:sSub>
                      <m:sSubPr>
                        <m:ctrlPr>
                          <a:rPr lang="en-US" altLang="zh-CN" sz="1200" i="1">
                            <a:solidFill>
                              <a:srgbClr val="4472C4"/>
                            </a:solidFill>
                            <a:latin typeface="Cambria Math" panose="02040503050406030204" pitchFamily="18" charset="0"/>
                          </a:rPr>
                        </m:ctrlPr>
                      </m:sSubPr>
                      <m:e>
                        <m:r>
                          <a:rPr lang="en-US" altLang="zh-CN" sz="1200" b="0" i="1" smtClean="0">
                            <a:solidFill>
                              <a:srgbClr val="4472C4"/>
                            </a:solidFill>
                            <a:latin typeface="Cambria Math" panose="02040503050406030204" pitchFamily="18" charset="0"/>
                          </a:rPr>
                          <m:t>𝑃</m:t>
                        </m:r>
                      </m:e>
                      <m:sub>
                        <m:r>
                          <a:rPr lang="en-US" altLang="zh-CN" sz="1200" b="0" i="1" smtClean="0">
                            <a:solidFill>
                              <a:srgbClr val="4472C4"/>
                            </a:solidFill>
                            <a:latin typeface="Cambria Math" panose="02040503050406030204" pitchFamily="18" charset="0"/>
                          </a:rPr>
                          <m:t>𝑗</m:t>
                        </m:r>
                      </m:sub>
                    </m:sSub>
                    <m:r>
                      <a:rPr lang="zh-CN" altLang="en-US" sz="1200" i="1">
                        <a:solidFill>
                          <a:srgbClr val="4472C4"/>
                        </a:solidFill>
                        <a:latin typeface="Cambria Math" panose="02040503050406030204" pitchFamily="18" charset="0"/>
                      </a:rPr>
                      <m:t>的</m:t>
                    </m:r>
                  </m:oMath>
                </a14:m>
                <a:r>
                  <a:rPr kumimoji="0" lang="zh-CN" altLang="en-US"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rPr>
                  <a:t>最后一个活动的结束时间比较，如果不冲突则放入，如果冲突则考虑下一场地或新场地</a:t>
                </a:r>
                <a:endPar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endParaRPr>
              </a:p>
              <a:p>
                <a:pPr lvl="0">
                  <a:defRPr/>
                </a:pPr>
                <a:r>
                  <a:rPr lang="zh-CN" altLang="en-US" sz="1200" dirty="0">
                    <a:solidFill>
                      <a:srgbClr val="4472C4"/>
                    </a:solidFill>
                    <a:latin typeface="ui-monospace"/>
                    <a:ea typeface="等线" panose="02010600030101010101" pitchFamily="2" charset="-122"/>
                  </a:rPr>
                  <a:t>时间复杂度</a:t>
                </a:r>
                <a:endParaRPr kumimoji="0" lang="en-US" altLang="zh-CN" sz="1200" b="0" i="0" u="none" strike="noStrike" kern="1200" cap="none" spc="0" normalizeH="0" baseline="0" noProof="0" dirty="0">
                  <a:ln>
                    <a:noFill/>
                  </a:ln>
                  <a:solidFill>
                    <a:srgbClr val="4472C4"/>
                  </a:solidFill>
                  <a:effectLst/>
                  <a:uLnTx/>
                  <a:uFillTx/>
                  <a:latin typeface="ui-monospace"/>
                  <a:ea typeface="等线" panose="02010600030101010101" pitchFamily="2" charset="-122"/>
                  <a:cs typeface="+mn-cs"/>
                </a:endParaRPr>
              </a:p>
            </p:txBody>
          </p:sp>
        </mc:Choice>
        <mc:Fallback xmlns="">
          <p:sp>
            <p:nvSpPr>
              <p:cNvPr id="14" name="TextBox 13">
                <a:extLst>
                  <a:ext uri="{FF2B5EF4-FFF2-40B4-BE49-F238E27FC236}">
                    <a16:creationId xmlns:a16="http://schemas.microsoft.com/office/drawing/2014/main" id="{0B558DB2-DF0C-D2C0-DB6B-DD63A2E0746D}"/>
                  </a:ext>
                </a:extLst>
              </p:cNvPr>
              <p:cNvSpPr txBox="1">
                <a:spLocks noRot="1" noChangeAspect="1" noMove="1" noResize="1" noEditPoints="1" noAdjustHandles="1" noChangeArrowheads="1" noChangeShapeType="1" noTextEdit="1"/>
              </p:cNvSpPr>
              <p:nvPr/>
            </p:nvSpPr>
            <p:spPr>
              <a:xfrm>
                <a:off x="3157218" y="5629447"/>
                <a:ext cx="4274928" cy="1215204"/>
              </a:xfrm>
              <a:prstGeom prst="rect">
                <a:avLst/>
              </a:prstGeom>
              <a:blipFill>
                <a:blip r:embed="rId2"/>
                <a:stretch>
                  <a:fillRect l="-143" b="-3000"/>
                </a:stretch>
              </a:blipFill>
            </p:spPr>
            <p:txBody>
              <a:bodyPr/>
              <a:lstStyle/>
              <a:p>
                <a:r>
                  <a:rPr lang="en-US">
                    <a:noFill/>
                  </a:rPr>
                  <a:t> </a:t>
                </a:r>
              </a:p>
            </p:txBody>
          </p:sp>
        </mc:Fallback>
      </mc:AlternateContent>
    </p:spTree>
    <p:extLst>
      <p:ext uri="{BB962C8B-B14F-4D97-AF65-F5344CB8AC3E}">
        <p14:creationId xmlns:p14="http://schemas.microsoft.com/office/powerpoint/2010/main" val="2919063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2040EB-432B-07FC-795F-35A9E6DB34A0}"/>
              </a:ext>
            </a:extLst>
          </p:cNvPr>
          <p:cNvSpPr/>
          <p:nvPr/>
        </p:nvSpPr>
        <p:spPr>
          <a:xfrm>
            <a:off x="0" y="0"/>
            <a:ext cx="2986206" cy="6858000"/>
          </a:xfrm>
          <a:prstGeom prst="rect">
            <a:avLst/>
          </a:prstGeom>
          <a:solidFill>
            <a:srgbClr val="44BD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Arial" panose="020B0604020202020204" pitchFamily="34" charset="0"/>
              </a:rPr>
              <a:t> </a:t>
            </a:r>
            <a:r>
              <a:rPr kumimoji="0" lang="zh-CN" altLang="en-US" sz="2800" b="0" i="0" u="none" strike="noStrike" cap="none" normalizeH="0" baseline="0" dirty="0">
                <a:ln>
                  <a:noFill/>
                </a:ln>
                <a:solidFill>
                  <a:schemeClr val="tx1"/>
                </a:solidFill>
                <a:effectLst/>
                <a:latin typeface="Arial" panose="020B0604020202020204" pitchFamily="34" charset="0"/>
              </a:rPr>
              <a:t> </a:t>
            </a:r>
            <a:endParaRPr kumimoji="0" lang="en-US" altLang="zh-CN"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a:ln>
                <a:noFill/>
              </a:ln>
              <a:solidFill>
                <a:schemeClr val="tx1"/>
              </a:solidFill>
              <a:effectLst/>
              <a:latin typeface="Arial" panose="020B0604020202020204" pitchFamily="34" charset="0"/>
            </a:endParaRPr>
          </a:p>
        </p:txBody>
      </p:sp>
      <p:grpSp>
        <p:nvGrpSpPr>
          <p:cNvPr id="33" name="Group 32">
            <a:extLst>
              <a:ext uri="{FF2B5EF4-FFF2-40B4-BE49-F238E27FC236}">
                <a16:creationId xmlns:a16="http://schemas.microsoft.com/office/drawing/2014/main" id="{B669CF29-58BB-DB19-E1A0-5A9E43620F75}"/>
              </a:ext>
            </a:extLst>
          </p:cNvPr>
          <p:cNvGrpSpPr/>
          <p:nvPr/>
        </p:nvGrpSpPr>
        <p:grpSpPr>
          <a:xfrm>
            <a:off x="7679921" y="149450"/>
            <a:ext cx="4386653" cy="572261"/>
            <a:chOff x="7614613" y="5950488"/>
            <a:chExt cx="4386653" cy="572261"/>
          </a:xfrm>
        </p:grpSpPr>
        <p:sp>
          <p:nvSpPr>
            <p:cNvPr id="34" name="Rectangle: Rounded Corners 33">
              <a:extLst>
                <a:ext uri="{FF2B5EF4-FFF2-40B4-BE49-F238E27FC236}">
                  <a16:creationId xmlns:a16="http://schemas.microsoft.com/office/drawing/2014/main" id="{96BAD8AD-3198-E06A-3088-04BB09BD5983}"/>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▶响应式变量</a:t>
              </a:r>
              <a:endParaRPr lang="en-US" altLang="zh-CN" sz="1200" dirty="0">
                <a:solidFill>
                  <a:schemeClr val="bg1"/>
                </a:solidFill>
                <a:latin typeface="ui-monospace"/>
              </a:endParaRPr>
            </a:p>
          </p:txBody>
        </p:sp>
        <p:sp>
          <p:nvSpPr>
            <p:cNvPr id="35" name="TextBox 34">
              <a:extLst>
                <a:ext uri="{FF2B5EF4-FFF2-40B4-BE49-F238E27FC236}">
                  <a16:creationId xmlns:a16="http://schemas.microsoft.com/office/drawing/2014/main" id="{441AD841-B020-834F-3FCE-AAA92E0E965B}"/>
                </a:ext>
              </a:extLst>
            </p:cNvPr>
            <p:cNvSpPr txBox="1"/>
            <p:nvPr/>
          </p:nvSpPr>
          <p:spPr>
            <a:xfrm>
              <a:off x="7667294" y="6245750"/>
              <a:ext cx="4281578" cy="276999"/>
            </a:xfrm>
            <a:prstGeom prst="rect">
              <a:avLst/>
            </a:prstGeom>
            <a:noFill/>
          </p:spPr>
          <p:txBody>
            <a:bodyPr wrap="square">
              <a:spAutoFit/>
            </a:bodyPr>
            <a:lstStyle/>
            <a:p>
              <a:r>
                <a:rPr lang="en-US" sz="1200" dirty="0">
                  <a:solidFill>
                    <a:srgbClr val="44BD86"/>
                  </a:solidFill>
                  <a:latin typeface="ui-monospace"/>
                </a:rPr>
                <a:t>ref(0) / reactive({…}) / </a:t>
              </a:r>
              <a:r>
                <a:rPr lang="en-US" sz="1200" dirty="0" err="1">
                  <a:solidFill>
                    <a:srgbClr val="44BD86"/>
                  </a:solidFill>
                  <a:latin typeface="ui-monospace"/>
                </a:rPr>
                <a:t>toRef</a:t>
              </a:r>
              <a:r>
                <a:rPr lang="en-US" sz="1200" dirty="0">
                  <a:solidFill>
                    <a:srgbClr val="44BD86"/>
                  </a:solidFill>
                  <a:latin typeface="ui-monospace"/>
                </a:rPr>
                <a:t>()</a:t>
              </a:r>
            </a:p>
          </p:txBody>
        </p:sp>
      </p:grpSp>
      <p:grpSp>
        <p:nvGrpSpPr>
          <p:cNvPr id="52" name="Group 51">
            <a:extLst>
              <a:ext uri="{FF2B5EF4-FFF2-40B4-BE49-F238E27FC236}">
                <a16:creationId xmlns:a16="http://schemas.microsoft.com/office/drawing/2014/main" id="{7F44DE50-9377-2A2B-7C24-6B3A24D4135D}"/>
              </a:ext>
            </a:extLst>
          </p:cNvPr>
          <p:cNvGrpSpPr/>
          <p:nvPr/>
        </p:nvGrpSpPr>
        <p:grpSpPr>
          <a:xfrm>
            <a:off x="3106164" y="151546"/>
            <a:ext cx="4386653" cy="572261"/>
            <a:chOff x="7614613" y="5950488"/>
            <a:chExt cx="4386653" cy="572261"/>
          </a:xfrm>
        </p:grpSpPr>
        <p:sp>
          <p:nvSpPr>
            <p:cNvPr id="53" name="Rectangle: Rounded Corners 52">
              <a:extLst>
                <a:ext uri="{FF2B5EF4-FFF2-40B4-BE49-F238E27FC236}">
                  <a16:creationId xmlns:a16="http://schemas.microsoft.com/office/drawing/2014/main" id="{0E2D2E61-7153-9F4D-6CA9-4391CC561302}"/>
                </a:ext>
              </a:extLst>
            </p:cNvPr>
            <p:cNvSpPr/>
            <p:nvPr/>
          </p:nvSpPr>
          <p:spPr>
            <a:xfrm>
              <a:off x="7614613" y="5950488"/>
              <a:ext cx="4386653" cy="285959"/>
            </a:xfrm>
            <a:prstGeom prst="roundRect">
              <a:avLst>
                <a:gd name="adj" fmla="val 1601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ui-monospace"/>
                </a:rPr>
                <a:t>▶项目结构</a:t>
              </a:r>
              <a:endParaRPr lang="en-US" sz="1200" dirty="0">
                <a:solidFill>
                  <a:schemeClr val="bg1"/>
                </a:solidFill>
              </a:endParaRPr>
            </a:p>
          </p:txBody>
        </p:sp>
        <p:sp>
          <p:nvSpPr>
            <p:cNvPr id="54" name="TextBox 53">
              <a:extLst>
                <a:ext uri="{FF2B5EF4-FFF2-40B4-BE49-F238E27FC236}">
                  <a16:creationId xmlns:a16="http://schemas.microsoft.com/office/drawing/2014/main" id="{ABF720B2-9684-6EC8-A231-DAD96B70A1B7}"/>
                </a:ext>
              </a:extLst>
            </p:cNvPr>
            <p:cNvSpPr txBox="1"/>
            <p:nvPr/>
          </p:nvSpPr>
          <p:spPr>
            <a:xfrm>
              <a:off x="7667294" y="6245750"/>
              <a:ext cx="4281578" cy="276999"/>
            </a:xfrm>
            <a:prstGeom prst="rect">
              <a:avLst/>
            </a:prstGeom>
            <a:noFill/>
          </p:spPr>
          <p:txBody>
            <a:bodyPr wrap="square">
              <a:spAutoFit/>
            </a:bodyPr>
            <a:lstStyle/>
            <a:p>
              <a:r>
                <a:rPr lang="en-US" sz="1200" dirty="0" err="1">
                  <a:solidFill>
                    <a:srgbClr val="44BD86"/>
                  </a:solidFill>
                  <a:latin typeface="ui-monospace"/>
                </a:rPr>
                <a:t>vue</a:t>
              </a:r>
              <a:r>
                <a:rPr lang="en-US" sz="1200" dirty="0">
                  <a:solidFill>
                    <a:srgbClr val="44BD86"/>
                  </a:solidFill>
                  <a:latin typeface="ui-monospace"/>
                </a:rPr>
                <a:t>-template</a:t>
              </a:r>
              <a:endParaRPr lang="en-US" sz="1200" dirty="0">
                <a:solidFill>
                  <a:srgbClr val="44BD86"/>
                </a:solidFill>
              </a:endParaRPr>
            </a:p>
          </p:txBody>
        </p:sp>
      </p:grpSp>
      <p:sp>
        <p:nvSpPr>
          <p:cNvPr id="1052" name="Rectangle: Rounded Corners 1051">
            <a:extLst>
              <a:ext uri="{FF2B5EF4-FFF2-40B4-BE49-F238E27FC236}">
                <a16:creationId xmlns:a16="http://schemas.microsoft.com/office/drawing/2014/main" id="{2F17CD35-FA66-0249-D2CA-F24E730EE464}"/>
              </a:ext>
            </a:extLst>
          </p:cNvPr>
          <p:cNvSpPr/>
          <p:nvPr/>
        </p:nvSpPr>
        <p:spPr>
          <a:xfrm>
            <a:off x="2065296" y="153911"/>
            <a:ext cx="652694" cy="65269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D1CA20DA-8D81-F06A-D641-4E2FC7DE3B3F}"/>
              </a:ext>
            </a:extLst>
          </p:cNvPr>
          <p:cNvCxnSpPr/>
          <p:nvPr/>
        </p:nvCxnSpPr>
        <p:spPr>
          <a:xfrm>
            <a:off x="7596225" y="69657"/>
            <a:ext cx="0" cy="6761095"/>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TextBox 1">
            <a:extLst>
              <a:ext uri="{FF2B5EF4-FFF2-40B4-BE49-F238E27FC236}">
                <a16:creationId xmlns:a16="http://schemas.microsoft.com/office/drawing/2014/main" id="{6B65F82D-4649-CF2A-2F13-069905BDACE4}"/>
              </a:ext>
            </a:extLst>
          </p:cNvPr>
          <p:cNvSpPr txBox="1"/>
          <p:nvPr/>
        </p:nvSpPr>
        <p:spPr>
          <a:xfrm>
            <a:off x="0" y="959472"/>
            <a:ext cx="2986206" cy="3385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xxx</a:t>
            </a:r>
            <a:endParaRPr kumimoji="0" lang="en-US" altLang="zh-CN" sz="1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p:txBody>
      </p:sp>
      <p:sp>
        <p:nvSpPr>
          <p:cNvPr id="6" name="TextBox 5">
            <a:extLst>
              <a:ext uri="{FF2B5EF4-FFF2-40B4-BE49-F238E27FC236}">
                <a16:creationId xmlns:a16="http://schemas.microsoft.com/office/drawing/2014/main" id="{8FF4A962-7A86-6FB0-C3A1-FE038F493808}"/>
              </a:ext>
            </a:extLst>
          </p:cNvPr>
          <p:cNvSpPr txBox="1"/>
          <p:nvPr/>
        </p:nvSpPr>
        <p:spPr>
          <a:xfrm>
            <a:off x="11473" y="218648"/>
            <a:ext cx="901209" cy="523220"/>
          </a:xfrm>
          <a:prstGeom prst="rect">
            <a:avLst/>
          </a:prstGeom>
          <a:noFill/>
        </p:spPr>
        <p:txBody>
          <a:bodyPr wrap="none" rtlCol="0">
            <a:spAutoFit/>
          </a:bodyPr>
          <a:lstStyle/>
          <a:p>
            <a:r>
              <a:rPr kumimoji="0" lang="en-US" altLang="zh-CN" sz="28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XXX</a:t>
            </a:r>
            <a:endParaRPr lang="en-US" dirty="0"/>
          </a:p>
        </p:txBody>
      </p:sp>
    </p:spTree>
    <p:extLst>
      <p:ext uri="{BB962C8B-B14F-4D97-AF65-F5344CB8AC3E}">
        <p14:creationId xmlns:p14="http://schemas.microsoft.com/office/powerpoint/2010/main" val="34218763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3F84411-4A57-530C-568F-583FBEC0A6FC}"/>
              </a:ext>
            </a:extLst>
          </p:cNvPr>
          <p:cNvGraphicFramePr>
            <a:graphicFrameLocks noGrp="1"/>
          </p:cNvGraphicFramePr>
          <p:nvPr>
            <p:extLst>
              <p:ext uri="{D42A27DB-BD31-4B8C-83A1-F6EECF244321}">
                <p14:modId xmlns:p14="http://schemas.microsoft.com/office/powerpoint/2010/main" val="3287016768"/>
              </p:ext>
            </p:extLst>
          </p:nvPr>
        </p:nvGraphicFramePr>
        <p:xfrm>
          <a:off x="717550" y="1162896"/>
          <a:ext cx="2476502" cy="2194560"/>
        </p:xfrm>
        <a:graphic>
          <a:graphicData uri="http://schemas.openxmlformats.org/drawingml/2006/table">
            <a:tbl>
              <a:tblPr firstRow="1" bandRow="1">
                <a:tableStyleId>{5C22544A-7EE6-4342-B048-85BDC9FD1C3A}</a:tableStyleId>
              </a:tblPr>
              <a:tblGrid>
                <a:gridCol w="353786">
                  <a:extLst>
                    <a:ext uri="{9D8B030D-6E8A-4147-A177-3AD203B41FA5}">
                      <a16:colId xmlns:a16="http://schemas.microsoft.com/office/drawing/2014/main" val="343845071"/>
                    </a:ext>
                  </a:extLst>
                </a:gridCol>
                <a:gridCol w="353786">
                  <a:extLst>
                    <a:ext uri="{9D8B030D-6E8A-4147-A177-3AD203B41FA5}">
                      <a16:colId xmlns:a16="http://schemas.microsoft.com/office/drawing/2014/main" val="4249104218"/>
                    </a:ext>
                  </a:extLst>
                </a:gridCol>
                <a:gridCol w="353786">
                  <a:extLst>
                    <a:ext uri="{9D8B030D-6E8A-4147-A177-3AD203B41FA5}">
                      <a16:colId xmlns:a16="http://schemas.microsoft.com/office/drawing/2014/main" val="3705421293"/>
                    </a:ext>
                  </a:extLst>
                </a:gridCol>
                <a:gridCol w="353786">
                  <a:extLst>
                    <a:ext uri="{9D8B030D-6E8A-4147-A177-3AD203B41FA5}">
                      <a16:colId xmlns:a16="http://schemas.microsoft.com/office/drawing/2014/main" val="685611759"/>
                    </a:ext>
                  </a:extLst>
                </a:gridCol>
                <a:gridCol w="353786">
                  <a:extLst>
                    <a:ext uri="{9D8B030D-6E8A-4147-A177-3AD203B41FA5}">
                      <a16:colId xmlns:a16="http://schemas.microsoft.com/office/drawing/2014/main" val="87139161"/>
                    </a:ext>
                  </a:extLst>
                </a:gridCol>
                <a:gridCol w="353786">
                  <a:extLst>
                    <a:ext uri="{9D8B030D-6E8A-4147-A177-3AD203B41FA5}">
                      <a16:colId xmlns:a16="http://schemas.microsoft.com/office/drawing/2014/main" val="890275186"/>
                    </a:ext>
                  </a:extLst>
                </a:gridCol>
                <a:gridCol w="353786">
                  <a:extLst>
                    <a:ext uri="{9D8B030D-6E8A-4147-A177-3AD203B41FA5}">
                      <a16:colId xmlns:a16="http://schemas.microsoft.com/office/drawing/2014/main" val="1406777248"/>
                    </a:ext>
                  </a:extLst>
                </a:gridCol>
              </a:tblGrid>
              <a:tr h="299226">
                <a:tc>
                  <a:txBody>
                    <a:bodyPr/>
                    <a:lstStyle/>
                    <a:p>
                      <a:pPr algn="ctr"/>
                      <a:endParaRPr lang="en-US"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7428888"/>
                  </a:ext>
                </a:extLst>
              </a:tr>
              <a:tr h="299226">
                <a:tc>
                  <a:txBody>
                    <a:bodyPr/>
                    <a:lstStyle/>
                    <a:p>
                      <a:pPr algn="ctr"/>
                      <a:r>
                        <a:rPr lang="en-US" dirty="0">
                          <a:solidFill>
                            <a:schemeClr val="tx1"/>
                          </a:solidFill>
                        </a:rPr>
                        <a:t>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64898316"/>
                  </a:ext>
                </a:extLst>
              </a:tr>
              <a:tr h="299226">
                <a:tc>
                  <a:txBody>
                    <a:bodyPr/>
                    <a:lstStyle/>
                    <a:p>
                      <a:pPr algn="ctr"/>
                      <a:r>
                        <a:rPr lang="en-US" dirty="0">
                          <a:solidFill>
                            <a:schemeClr val="tx1"/>
                          </a:solidFill>
                        </a:rPr>
                        <a:t>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2438374"/>
                  </a:ext>
                </a:extLst>
              </a:tr>
              <a:tr h="299226">
                <a:tc>
                  <a:txBody>
                    <a:bodyPr/>
                    <a:lstStyle/>
                    <a:p>
                      <a:pPr algn="ctr"/>
                      <a:r>
                        <a:rPr lang="en-US" dirty="0">
                          <a:solidFill>
                            <a:schemeClr val="tx1"/>
                          </a:solidFill>
                        </a:rPr>
                        <a:t>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02902012"/>
                  </a:ext>
                </a:extLst>
              </a:tr>
              <a:tr h="299226">
                <a:tc>
                  <a:txBody>
                    <a:bodyPr/>
                    <a:lstStyle/>
                    <a:p>
                      <a:pPr algn="ctr"/>
                      <a:r>
                        <a:rPr lang="en-US" dirty="0">
                          <a:solidFill>
                            <a:schemeClr val="tx1"/>
                          </a:solidFill>
                        </a:rPr>
                        <a:t>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6699270"/>
                  </a:ext>
                </a:extLst>
              </a:tr>
              <a:tr h="299226">
                <a:tc>
                  <a:txBody>
                    <a:bodyPr/>
                    <a:lstStyle/>
                    <a:p>
                      <a:pPr algn="ctr"/>
                      <a:r>
                        <a:rPr lang="en-US" dirty="0">
                          <a:solidFill>
                            <a:schemeClr val="tx1"/>
                          </a:solidFill>
                        </a:rPr>
                        <a:t>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47302346"/>
                  </a:ext>
                </a:extLst>
              </a:tr>
            </a:tbl>
          </a:graphicData>
        </a:graphic>
      </p:graphicFrame>
      <p:pic>
        <p:nvPicPr>
          <p:cNvPr id="4" name="Picture 3">
            <a:extLst>
              <a:ext uri="{FF2B5EF4-FFF2-40B4-BE49-F238E27FC236}">
                <a16:creationId xmlns:a16="http://schemas.microsoft.com/office/drawing/2014/main" id="{F850B777-5DE1-E058-4361-8F2ABB4EBD29}"/>
              </a:ext>
            </a:extLst>
          </p:cNvPr>
          <p:cNvPicPr>
            <a:picLocks noChangeAspect="1"/>
          </p:cNvPicPr>
          <p:nvPr/>
        </p:nvPicPr>
        <p:blipFill>
          <a:blip r:embed="rId2"/>
          <a:stretch>
            <a:fillRect/>
          </a:stretch>
        </p:blipFill>
        <p:spPr>
          <a:xfrm>
            <a:off x="3702050" y="540372"/>
            <a:ext cx="1355704" cy="679542"/>
          </a:xfrm>
          <a:prstGeom prst="rect">
            <a:avLst/>
          </a:prstGeom>
        </p:spPr>
      </p:pic>
      <p:sp>
        <p:nvSpPr>
          <p:cNvPr id="6" name="TextBox 5">
            <a:extLst>
              <a:ext uri="{FF2B5EF4-FFF2-40B4-BE49-F238E27FC236}">
                <a16:creationId xmlns:a16="http://schemas.microsoft.com/office/drawing/2014/main" id="{BAC04638-9C68-A0CA-637E-386283C7BE05}"/>
              </a:ext>
            </a:extLst>
          </p:cNvPr>
          <p:cNvSpPr txBox="1"/>
          <p:nvPr/>
        </p:nvSpPr>
        <p:spPr>
          <a:xfrm>
            <a:off x="760418" y="1088023"/>
            <a:ext cx="466725" cy="338554"/>
          </a:xfrm>
          <a:prstGeom prst="rect">
            <a:avLst/>
          </a:prstGeom>
          <a:noFill/>
        </p:spPr>
        <p:txBody>
          <a:bodyPr wrap="square">
            <a:spAutoFit/>
          </a:bodyPr>
          <a:lstStyle/>
          <a:p>
            <a:pPr algn="ctr"/>
            <a:r>
              <a:rPr lang="en-US" altLang="zh-CN" sz="1600" b="1" dirty="0">
                <a:solidFill>
                  <a:schemeClr val="tx1"/>
                </a:solidFill>
              </a:rPr>
              <a:t>j</a:t>
            </a:r>
            <a:endParaRPr lang="en-US" sz="1600" b="1" dirty="0">
              <a:solidFill>
                <a:schemeClr val="tx1"/>
              </a:solidFill>
            </a:endParaRPr>
          </a:p>
        </p:txBody>
      </p:sp>
      <p:sp>
        <p:nvSpPr>
          <p:cNvPr id="7" name="TextBox 6">
            <a:extLst>
              <a:ext uri="{FF2B5EF4-FFF2-40B4-BE49-F238E27FC236}">
                <a16:creationId xmlns:a16="http://schemas.microsoft.com/office/drawing/2014/main" id="{7779A2EC-26BD-D427-5299-72BD10D11D7C}"/>
              </a:ext>
            </a:extLst>
          </p:cNvPr>
          <p:cNvSpPr txBox="1"/>
          <p:nvPr/>
        </p:nvSpPr>
        <p:spPr>
          <a:xfrm>
            <a:off x="569119" y="1244444"/>
            <a:ext cx="466725" cy="338554"/>
          </a:xfrm>
          <a:prstGeom prst="rect">
            <a:avLst/>
          </a:prstGeom>
          <a:noFill/>
        </p:spPr>
        <p:txBody>
          <a:bodyPr wrap="square">
            <a:spAutoFit/>
          </a:bodyPr>
          <a:lstStyle/>
          <a:p>
            <a:pPr algn="ctr"/>
            <a:r>
              <a:rPr lang="en-US" altLang="zh-CN" sz="1600" b="1" dirty="0" err="1">
                <a:solidFill>
                  <a:schemeClr val="tx1"/>
                </a:solidFill>
              </a:rPr>
              <a:t>i</a:t>
            </a:r>
            <a:endParaRPr lang="en-US" sz="1600" b="1" dirty="0">
              <a:solidFill>
                <a:schemeClr val="tx1"/>
              </a:solidFill>
            </a:endParaRPr>
          </a:p>
        </p:txBody>
      </p:sp>
      <p:cxnSp>
        <p:nvCxnSpPr>
          <p:cNvPr id="9" name="Straight Connector 8">
            <a:extLst>
              <a:ext uri="{FF2B5EF4-FFF2-40B4-BE49-F238E27FC236}">
                <a16:creationId xmlns:a16="http://schemas.microsoft.com/office/drawing/2014/main" id="{E4C8E56F-83D9-8687-9EEE-7FDA071680EC}"/>
              </a:ext>
            </a:extLst>
          </p:cNvPr>
          <p:cNvCxnSpPr/>
          <p:nvPr/>
        </p:nvCxnSpPr>
        <p:spPr>
          <a:xfrm flipH="1" flipV="1">
            <a:off x="746128" y="1219913"/>
            <a:ext cx="320679" cy="304087"/>
          </a:xfrm>
          <a:prstGeom prst="line">
            <a:avLst/>
          </a:prstGeom>
        </p:spPr>
        <p:style>
          <a:lnRef idx="1">
            <a:schemeClr val="dk1"/>
          </a:lnRef>
          <a:fillRef idx="0">
            <a:schemeClr val="dk1"/>
          </a:fillRef>
          <a:effectRef idx="0">
            <a:schemeClr val="dk1"/>
          </a:effectRef>
          <a:fontRef idx="minor">
            <a:schemeClr val="tx1"/>
          </a:fontRef>
        </p:style>
      </p:cxnSp>
      <p:sp>
        <p:nvSpPr>
          <p:cNvPr id="10" name="Rectangle: Rounded Corners 9">
            <a:extLst>
              <a:ext uri="{FF2B5EF4-FFF2-40B4-BE49-F238E27FC236}">
                <a16:creationId xmlns:a16="http://schemas.microsoft.com/office/drawing/2014/main" id="{8676900D-2398-0EF6-D183-65769459829D}"/>
              </a:ext>
            </a:extLst>
          </p:cNvPr>
          <p:cNvSpPr/>
          <p:nvPr/>
        </p:nvSpPr>
        <p:spPr>
          <a:xfrm>
            <a:off x="3294059" y="2487935"/>
            <a:ext cx="1591467" cy="869521"/>
          </a:xfrm>
          <a:prstGeom prst="roundRect">
            <a:avLst>
              <a:gd name="adj" fmla="val 1149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ABD6B6B-C74D-A605-90DB-17801FCE43C5}"/>
              </a:ext>
            </a:extLst>
          </p:cNvPr>
          <p:cNvSpPr txBox="1"/>
          <p:nvPr/>
        </p:nvSpPr>
        <p:spPr>
          <a:xfrm>
            <a:off x="3294059" y="2507409"/>
            <a:ext cx="1591467" cy="830997"/>
          </a:xfrm>
          <a:prstGeom prst="rect">
            <a:avLst/>
          </a:prstGeom>
          <a:noFill/>
        </p:spPr>
        <p:txBody>
          <a:bodyPr wrap="square">
            <a:spAutoFit/>
          </a:bodyPr>
          <a:lstStyle/>
          <a:p>
            <a:r>
              <a:rPr lang="en-US" sz="1600" dirty="0" err="1"/>
              <a:t>dp</a:t>
            </a:r>
            <a:r>
              <a:rPr lang="en-US" sz="1600" dirty="0"/>
              <a:t>[2-1][4]=2</a:t>
            </a:r>
          </a:p>
          <a:p>
            <a:r>
              <a:rPr lang="en-US" sz="1600" dirty="0" err="1">
                <a:solidFill>
                  <a:schemeClr val="tx1"/>
                </a:solidFill>
              </a:rPr>
              <a:t>dp</a:t>
            </a:r>
            <a:r>
              <a:rPr lang="en-US" sz="1600" dirty="0">
                <a:solidFill>
                  <a:schemeClr val="tx1"/>
                </a:solidFill>
              </a:rPr>
              <a:t>[2-1][4-2]+4=6</a:t>
            </a:r>
          </a:p>
          <a:p>
            <a:r>
              <a:rPr lang="zh-CN" altLang="en-US" sz="1600" dirty="0"/>
              <a:t>则 </a:t>
            </a:r>
            <a:r>
              <a:rPr lang="en-US" altLang="zh-CN" sz="1600" dirty="0" err="1"/>
              <a:t>dp</a:t>
            </a:r>
            <a:r>
              <a:rPr lang="en-US" altLang="zh-CN" sz="1600" dirty="0"/>
              <a:t>[2][4]=6</a:t>
            </a:r>
            <a:endParaRPr lang="en-US" sz="1600" dirty="0">
              <a:solidFill>
                <a:schemeClr val="tx1"/>
              </a:solidFill>
            </a:endParaRPr>
          </a:p>
        </p:txBody>
      </p:sp>
      <p:sp>
        <p:nvSpPr>
          <p:cNvPr id="12" name="Oval 11">
            <a:extLst>
              <a:ext uri="{FF2B5EF4-FFF2-40B4-BE49-F238E27FC236}">
                <a16:creationId xmlns:a16="http://schemas.microsoft.com/office/drawing/2014/main" id="{0DF16D37-AAB4-5B7C-FDBE-39FF122D07F2}"/>
              </a:ext>
            </a:extLst>
          </p:cNvPr>
          <p:cNvSpPr/>
          <p:nvPr/>
        </p:nvSpPr>
        <p:spPr>
          <a:xfrm>
            <a:off x="2520950" y="2305050"/>
            <a:ext cx="279400" cy="2794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8BCD4DC-F9F5-ED64-6E05-A6BD6BCE1E28}"/>
              </a:ext>
            </a:extLst>
          </p:cNvPr>
          <p:cNvSpPr/>
          <p:nvPr/>
        </p:nvSpPr>
        <p:spPr>
          <a:xfrm>
            <a:off x="2520951" y="1936149"/>
            <a:ext cx="279400" cy="279400"/>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21C5F0E-363D-94DF-D204-922E4ADA6584}"/>
              </a:ext>
            </a:extLst>
          </p:cNvPr>
          <p:cNvSpPr/>
          <p:nvPr/>
        </p:nvSpPr>
        <p:spPr>
          <a:xfrm>
            <a:off x="1816101" y="1936149"/>
            <a:ext cx="279400" cy="279400"/>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28999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0" name="Connector: Elbow 59">
            <a:extLst>
              <a:ext uri="{FF2B5EF4-FFF2-40B4-BE49-F238E27FC236}">
                <a16:creationId xmlns:a16="http://schemas.microsoft.com/office/drawing/2014/main" id="{1E7084B4-0815-C180-1C53-9F299BADDDF7}"/>
              </a:ext>
            </a:extLst>
          </p:cNvPr>
          <p:cNvCxnSpPr>
            <a:cxnSpLocks/>
            <a:endCxn id="3" idx="3"/>
          </p:cNvCxnSpPr>
          <p:nvPr/>
        </p:nvCxnSpPr>
        <p:spPr>
          <a:xfrm rot="16200000" flipV="1">
            <a:off x="11782733" y="910000"/>
            <a:ext cx="364073" cy="168295"/>
          </a:xfrm>
          <a:prstGeom prst="bentConnector2">
            <a:avLst/>
          </a:prstGeom>
        </p:spPr>
        <p:style>
          <a:lnRef idx="1">
            <a:schemeClr val="dk1"/>
          </a:lnRef>
          <a:fillRef idx="0">
            <a:schemeClr val="dk1"/>
          </a:fillRef>
          <a:effectRef idx="0">
            <a:schemeClr val="dk1"/>
          </a:effectRef>
          <a:fontRef idx="minor">
            <a:schemeClr val="tx1"/>
          </a:fontRef>
        </p:style>
      </p:cxnSp>
      <p:sp>
        <p:nvSpPr>
          <p:cNvPr id="2270" name="Oval 2269">
            <a:extLst>
              <a:ext uri="{FF2B5EF4-FFF2-40B4-BE49-F238E27FC236}">
                <a16:creationId xmlns:a16="http://schemas.microsoft.com/office/drawing/2014/main" id="{074B435E-8009-630F-9058-E35503B6E028}"/>
              </a:ext>
            </a:extLst>
          </p:cNvPr>
          <p:cNvSpPr/>
          <p:nvPr/>
        </p:nvSpPr>
        <p:spPr>
          <a:xfrm>
            <a:off x="501731" y="75403"/>
            <a:ext cx="329834" cy="3298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36000" bIns="0" rtlCol="0" anchor="ctr"/>
          <a:lstStyle/>
          <a:p>
            <a:pPr algn="ctr"/>
            <a:r>
              <a:rPr lang="en-US" sz="1200" dirty="0">
                <a:solidFill>
                  <a:schemeClr val="tx1"/>
                </a:solidFill>
              </a:rPr>
              <a:t>23</a:t>
            </a:r>
          </a:p>
        </p:txBody>
      </p:sp>
      <p:sp>
        <p:nvSpPr>
          <p:cNvPr id="2271" name="Oval 2270">
            <a:extLst>
              <a:ext uri="{FF2B5EF4-FFF2-40B4-BE49-F238E27FC236}">
                <a16:creationId xmlns:a16="http://schemas.microsoft.com/office/drawing/2014/main" id="{5733A4F8-D3FE-E6DA-63F1-8710929E9586}"/>
              </a:ext>
            </a:extLst>
          </p:cNvPr>
          <p:cNvSpPr/>
          <p:nvPr/>
        </p:nvSpPr>
        <p:spPr>
          <a:xfrm>
            <a:off x="57187" y="530709"/>
            <a:ext cx="329834" cy="3298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36000" bIns="0" rtlCol="0" anchor="ctr"/>
          <a:lstStyle/>
          <a:p>
            <a:pPr algn="ctr"/>
            <a:r>
              <a:rPr lang="en-US" sz="1200" dirty="0">
                <a:solidFill>
                  <a:schemeClr val="tx1"/>
                </a:solidFill>
              </a:rPr>
              <a:t>17</a:t>
            </a:r>
          </a:p>
        </p:txBody>
      </p:sp>
      <p:sp>
        <p:nvSpPr>
          <p:cNvPr id="2273" name="Oval 2272">
            <a:extLst>
              <a:ext uri="{FF2B5EF4-FFF2-40B4-BE49-F238E27FC236}">
                <a16:creationId xmlns:a16="http://schemas.microsoft.com/office/drawing/2014/main" id="{B6E95958-0780-FA06-1EBD-D198676DC095}"/>
              </a:ext>
            </a:extLst>
          </p:cNvPr>
          <p:cNvSpPr/>
          <p:nvPr/>
        </p:nvSpPr>
        <p:spPr>
          <a:xfrm>
            <a:off x="290239" y="1015247"/>
            <a:ext cx="329834" cy="3298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36000" bIns="0" rtlCol="0" anchor="ctr"/>
          <a:lstStyle/>
          <a:p>
            <a:pPr algn="ctr"/>
            <a:r>
              <a:rPr lang="en-US" sz="1200" dirty="0">
                <a:solidFill>
                  <a:schemeClr val="tx1"/>
                </a:solidFill>
              </a:rPr>
              <a:t>19</a:t>
            </a:r>
          </a:p>
        </p:txBody>
      </p:sp>
      <p:cxnSp>
        <p:nvCxnSpPr>
          <p:cNvPr id="2275" name="Straight Arrow Connector 2274">
            <a:extLst>
              <a:ext uri="{FF2B5EF4-FFF2-40B4-BE49-F238E27FC236}">
                <a16:creationId xmlns:a16="http://schemas.microsoft.com/office/drawing/2014/main" id="{C231F927-03E7-B54F-652B-B7BDDC210094}"/>
              </a:ext>
            </a:extLst>
          </p:cNvPr>
          <p:cNvCxnSpPr>
            <a:cxnSpLocks/>
            <a:stCxn id="2271" idx="5"/>
            <a:endCxn id="2273" idx="0"/>
          </p:cNvCxnSpPr>
          <p:nvPr/>
        </p:nvCxnSpPr>
        <p:spPr>
          <a:xfrm>
            <a:off x="338718" y="812240"/>
            <a:ext cx="116438" cy="2030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79" name="Straight Arrow Connector 2278">
            <a:extLst>
              <a:ext uri="{FF2B5EF4-FFF2-40B4-BE49-F238E27FC236}">
                <a16:creationId xmlns:a16="http://schemas.microsoft.com/office/drawing/2014/main" id="{8F3F2932-67D6-44CA-DEF1-017F219036B4}"/>
              </a:ext>
            </a:extLst>
          </p:cNvPr>
          <p:cNvCxnSpPr>
            <a:cxnSpLocks/>
            <a:stCxn id="2270" idx="3"/>
            <a:endCxn id="2271" idx="0"/>
          </p:cNvCxnSpPr>
          <p:nvPr/>
        </p:nvCxnSpPr>
        <p:spPr>
          <a:xfrm flipH="1">
            <a:off x="222104" y="356934"/>
            <a:ext cx="327930" cy="1737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82" name="Oval 2281">
            <a:extLst>
              <a:ext uri="{FF2B5EF4-FFF2-40B4-BE49-F238E27FC236}">
                <a16:creationId xmlns:a16="http://schemas.microsoft.com/office/drawing/2014/main" id="{7FE3DC50-F46B-A74E-CD2C-809AD4EDB887}"/>
              </a:ext>
            </a:extLst>
          </p:cNvPr>
          <p:cNvSpPr/>
          <p:nvPr/>
        </p:nvSpPr>
        <p:spPr>
          <a:xfrm>
            <a:off x="933487" y="531927"/>
            <a:ext cx="329834" cy="3298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36000" bIns="0" rtlCol="0" anchor="ctr"/>
          <a:lstStyle/>
          <a:p>
            <a:pPr algn="ctr"/>
            <a:r>
              <a:rPr lang="en-US" sz="1200" dirty="0">
                <a:solidFill>
                  <a:schemeClr val="tx1"/>
                </a:solidFill>
              </a:rPr>
              <a:t>31</a:t>
            </a:r>
          </a:p>
        </p:txBody>
      </p:sp>
      <p:cxnSp>
        <p:nvCxnSpPr>
          <p:cNvPr id="2283" name="Straight Arrow Connector 2282">
            <a:extLst>
              <a:ext uri="{FF2B5EF4-FFF2-40B4-BE49-F238E27FC236}">
                <a16:creationId xmlns:a16="http://schemas.microsoft.com/office/drawing/2014/main" id="{431D2EED-EE68-8FAE-9E70-6A50061D51DE}"/>
              </a:ext>
            </a:extLst>
          </p:cNvPr>
          <p:cNvCxnSpPr>
            <a:cxnSpLocks/>
            <a:stCxn id="2270" idx="5"/>
            <a:endCxn id="2282" idx="0"/>
          </p:cNvCxnSpPr>
          <p:nvPr/>
        </p:nvCxnSpPr>
        <p:spPr>
          <a:xfrm>
            <a:off x="783262" y="356934"/>
            <a:ext cx="315142" cy="1749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15" name="Oval 2114">
            <a:extLst>
              <a:ext uri="{FF2B5EF4-FFF2-40B4-BE49-F238E27FC236}">
                <a16:creationId xmlns:a16="http://schemas.microsoft.com/office/drawing/2014/main" id="{53412DC7-E807-C1DD-C907-A3E739A5102D}"/>
              </a:ext>
            </a:extLst>
          </p:cNvPr>
          <p:cNvSpPr/>
          <p:nvPr/>
        </p:nvSpPr>
        <p:spPr>
          <a:xfrm>
            <a:off x="710871" y="1015759"/>
            <a:ext cx="329834" cy="3298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36000" bIns="0" rtlCol="0" anchor="ctr"/>
          <a:lstStyle/>
          <a:p>
            <a:pPr algn="ctr"/>
            <a:r>
              <a:rPr lang="en-US" sz="1200" dirty="0">
                <a:solidFill>
                  <a:schemeClr val="tx1"/>
                </a:solidFill>
              </a:rPr>
              <a:t>27</a:t>
            </a:r>
          </a:p>
        </p:txBody>
      </p:sp>
      <p:sp>
        <p:nvSpPr>
          <p:cNvPr id="2116" name="Oval 2115">
            <a:extLst>
              <a:ext uri="{FF2B5EF4-FFF2-40B4-BE49-F238E27FC236}">
                <a16:creationId xmlns:a16="http://schemas.microsoft.com/office/drawing/2014/main" id="{41CF5BB0-0A0A-9C78-E7C0-9492EF56A4DD}"/>
              </a:ext>
            </a:extLst>
          </p:cNvPr>
          <p:cNvSpPr/>
          <p:nvPr/>
        </p:nvSpPr>
        <p:spPr>
          <a:xfrm>
            <a:off x="488804" y="1539634"/>
            <a:ext cx="329834" cy="3298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36000" bIns="0" rtlCol="0" anchor="ctr"/>
          <a:lstStyle/>
          <a:p>
            <a:pPr algn="ctr"/>
            <a:r>
              <a:rPr lang="en-US" sz="1200" dirty="0">
                <a:solidFill>
                  <a:schemeClr val="tx1"/>
                </a:solidFill>
              </a:rPr>
              <a:t>21</a:t>
            </a:r>
          </a:p>
        </p:txBody>
      </p:sp>
      <p:sp>
        <p:nvSpPr>
          <p:cNvPr id="2117" name="Oval 2116">
            <a:extLst>
              <a:ext uri="{FF2B5EF4-FFF2-40B4-BE49-F238E27FC236}">
                <a16:creationId xmlns:a16="http://schemas.microsoft.com/office/drawing/2014/main" id="{3295415E-EEFD-CA81-072E-BCBA88472BA5}"/>
              </a:ext>
            </a:extLst>
          </p:cNvPr>
          <p:cNvSpPr/>
          <p:nvPr/>
        </p:nvSpPr>
        <p:spPr>
          <a:xfrm>
            <a:off x="1237707" y="1018934"/>
            <a:ext cx="329834" cy="32983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36000" bIns="0" rtlCol="0" anchor="ctr"/>
          <a:lstStyle/>
          <a:p>
            <a:pPr algn="ctr"/>
            <a:r>
              <a:rPr lang="en-US" sz="1200" dirty="0">
                <a:solidFill>
                  <a:schemeClr val="tx1"/>
                </a:solidFill>
              </a:rPr>
              <a:t>35</a:t>
            </a:r>
          </a:p>
        </p:txBody>
      </p:sp>
      <p:cxnSp>
        <p:nvCxnSpPr>
          <p:cNvPr id="2119" name="Straight Arrow Connector 2118">
            <a:extLst>
              <a:ext uri="{FF2B5EF4-FFF2-40B4-BE49-F238E27FC236}">
                <a16:creationId xmlns:a16="http://schemas.microsoft.com/office/drawing/2014/main" id="{1EC9C191-86E1-BA46-47D2-B94018AF03E1}"/>
              </a:ext>
            </a:extLst>
          </p:cNvPr>
          <p:cNvCxnSpPr>
            <a:cxnSpLocks/>
            <a:stCxn id="2282" idx="3"/>
            <a:endCxn id="2115" idx="0"/>
          </p:cNvCxnSpPr>
          <p:nvPr/>
        </p:nvCxnSpPr>
        <p:spPr>
          <a:xfrm flipH="1">
            <a:off x="875788" y="813458"/>
            <a:ext cx="106002" cy="2023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2" name="Straight Arrow Connector 2121">
            <a:extLst>
              <a:ext uri="{FF2B5EF4-FFF2-40B4-BE49-F238E27FC236}">
                <a16:creationId xmlns:a16="http://schemas.microsoft.com/office/drawing/2014/main" id="{3ECDC806-E821-3428-81EE-C2AFED53BF59}"/>
              </a:ext>
            </a:extLst>
          </p:cNvPr>
          <p:cNvCxnSpPr>
            <a:cxnSpLocks/>
            <a:stCxn id="2282" idx="5"/>
            <a:endCxn id="2117" idx="0"/>
          </p:cNvCxnSpPr>
          <p:nvPr/>
        </p:nvCxnSpPr>
        <p:spPr>
          <a:xfrm>
            <a:off x="1215018" y="813458"/>
            <a:ext cx="187606" cy="2054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5" name="Straight Arrow Connector 2124">
            <a:extLst>
              <a:ext uri="{FF2B5EF4-FFF2-40B4-BE49-F238E27FC236}">
                <a16:creationId xmlns:a16="http://schemas.microsoft.com/office/drawing/2014/main" id="{AA0DA716-2537-ED98-317C-174DF9400D85}"/>
              </a:ext>
            </a:extLst>
          </p:cNvPr>
          <p:cNvCxnSpPr>
            <a:cxnSpLocks/>
            <a:stCxn id="2273" idx="5"/>
            <a:endCxn id="2116" idx="0"/>
          </p:cNvCxnSpPr>
          <p:nvPr/>
        </p:nvCxnSpPr>
        <p:spPr>
          <a:xfrm>
            <a:off x="571770" y="1296778"/>
            <a:ext cx="81951" cy="2428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327" name="Group 2326">
            <a:extLst>
              <a:ext uri="{FF2B5EF4-FFF2-40B4-BE49-F238E27FC236}">
                <a16:creationId xmlns:a16="http://schemas.microsoft.com/office/drawing/2014/main" id="{C6E6C305-BDD8-EC54-8A87-A6F5ABFA45DB}"/>
              </a:ext>
            </a:extLst>
          </p:cNvPr>
          <p:cNvGrpSpPr/>
          <p:nvPr/>
        </p:nvGrpSpPr>
        <p:grpSpPr>
          <a:xfrm>
            <a:off x="5381223" y="124666"/>
            <a:ext cx="1316343" cy="449345"/>
            <a:chOff x="626757" y="3130041"/>
            <a:chExt cx="1316343" cy="449345"/>
          </a:xfrm>
        </p:grpSpPr>
        <p:sp>
          <p:nvSpPr>
            <p:cNvPr id="2299" name="Rectangle: Rounded Corners 2298">
              <a:extLst>
                <a:ext uri="{FF2B5EF4-FFF2-40B4-BE49-F238E27FC236}">
                  <a16:creationId xmlns:a16="http://schemas.microsoft.com/office/drawing/2014/main" id="{DFD650DF-79E9-E76D-F66E-330377783D5D}"/>
                </a:ext>
              </a:extLst>
            </p:cNvPr>
            <p:cNvSpPr/>
            <p:nvPr/>
          </p:nvSpPr>
          <p:spPr>
            <a:xfrm>
              <a:off x="626759" y="3130041"/>
              <a:ext cx="1311579" cy="449345"/>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02" name="Straight Connector 2301">
              <a:extLst>
                <a:ext uri="{FF2B5EF4-FFF2-40B4-BE49-F238E27FC236}">
                  <a16:creationId xmlns:a16="http://schemas.microsoft.com/office/drawing/2014/main" id="{47012A7A-3BAE-7FED-5D39-8059A317DBF8}"/>
                </a:ext>
              </a:extLst>
            </p:cNvPr>
            <p:cNvCxnSpPr>
              <a:cxnSpLocks/>
            </p:cNvCxnSpPr>
            <p:nvPr/>
          </p:nvCxnSpPr>
          <p:spPr>
            <a:xfrm>
              <a:off x="626759" y="3262639"/>
              <a:ext cx="1313960" cy="0"/>
            </a:xfrm>
            <a:prstGeom prst="line">
              <a:avLst/>
            </a:prstGeom>
          </p:spPr>
          <p:style>
            <a:lnRef idx="1">
              <a:schemeClr val="dk1"/>
            </a:lnRef>
            <a:fillRef idx="0">
              <a:schemeClr val="dk1"/>
            </a:fillRef>
            <a:effectRef idx="0">
              <a:schemeClr val="dk1"/>
            </a:effectRef>
            <a:fontRef idx="minor">
              <a:schemeClr val="tx1"/>
            </a:fontRef>
          </p:style>
        </p:cxnSp>
        <p:sp>
          <p:nvSpPr>
            <p:cNvPr id="2303" name="TextBox 2302">
              <a:extLst>
                <a:ext uri="{FF2B5EF4-FFF2-40B4-BE49-F238E27FC236}">
                  <a16:creationId xmlns:a16="http://schemas.microsoft.com/office/drawing/2014/main" id="{E936EC26-4CD0-19CB-06C8-637710CD13DC}"/>
                </a:ext>
              </a:extLst>
            </p:cNvPr>
            <p:cNvSpPr txBox="1"/>
            <p:nvPr/>
          </p:nvSpPr>
          <p:spPr>
            <a:xfrm>
              <a:off x="1016890" y="3145855"/>
              <a:ext cx="644407" cy="107722"/>
            </a:xfrm>
            <a:prstGeom prst="rect">
              <a:avLst/>
            </a:prstGeom>
            <a:noFill/>
          </p:spPr>
          <p:txBody>
            <a:bodyPr wrap="none" lIns="0" tIns="0" rIns="0" bIns="0" rtlCol="0">
              <a:spAutoFit/>
            </a:bodyPr>
            <a:lstStyle>
              <a:defPPr>
                <a:defRPr lang="en-US"/>
              </a:defPPr>
              <a:lvl1pPr algn="ctr">
                <a:defRPr sz="700" b="1"/>
              </a:lvl1pPr>
            </a:lstStyle>
            <a:p>
              <a:r>
                <a:rPr lang="en-US" i="1" dirty="0" err="1"/>
                <a:t>O</a:t>
              </a:r>
              <a:r>
                <a:rPr lang="en-US" altLang="zh-CN" i="1" dirty="0" err="1"/>
                <a:t>peratingSystem</a:t>
              </a:r>
              <a:endParaRPr lang="en-US" i="1" dirty="0"/>
            </a:p>
          </p:txBody>
        </p:sp>
        <p:sp>
          <p:nvSpPr>
            <p:cNvPr id="2305" name="TextBox 2304">
              <a:extLst>
                <a:ext uri="{FF2B5EF4-FFF2-40B4-BE49-F238E27FC236}">
                  <a16:creationId xmlns:a16="http://schemas.microsoft.com/office/drawing/2014/main" id="{E2A21D0B-B969-C75A-B40D-54452F01F8B5}"/>
                </a:ext>
              </a:extLst>
            </p:cNvPr>
            <p:cNvSpPr txBox="1"/>
            <p:nvPr/>
          </p:nvSpPr>
          <p:spPr>
            <a:xfrm>
              <a:off x="653070" y="3266094"/>
              <a:ext cx="925117"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err="1"/>
                <a:t>videoFile</a:t>
              </a:r>
              <a:r>
                <a:rPr lang="en-US" altLang="zh-CN" dirty="0"/>
                <a:t>: </a:t>
              </a:r>
              <a:r>
                <a:rPr lang="en-US" altLang="zh-CN" dirty="0" err="1"/>
                <a:t>VideoFile</a:t>
              </a:r>
              <a:endParaRPr lang="en-US" dirty="0"/>
            </a:p>
          </p:txBody>
        </p:sp>
        <p:cxnSp>
          <p:nvCxnSpPr>
            <p:cNvPr id="2309" name="Straight Connector 2308">
              <a:extLst>
                <a:ext uri="{FF2B5EF4-FFF2-40B4-BE49-F238E27FC236}">
                  <a16:creationId xmlns:a16="http://schemas.microsoft.com/office/drawing/2014/main" id="{0627E9C3-AA47-2FA8-91A3-0B2B29CD12C1}"/>
                </a:ext>
              </a:extLst>
            </p:cNvPr>
            <p:cNvCxnSpPr>
              <a:cxnSpLocks/>
            </p:cNvCxnSpPr>
            <p:nvPr/>
          </p:nvCxnSpPr>
          <p:spPr>
            <a:xfrm>
              <a:off x="626757" y="3362650"/>
              <a:ext cx="1316343" cy="0"/>
            </a:xfrm>
            <a:prstGeom prst="line">
              <a:avLst/>
            </a:prstGeom>
          </p:spPr>
          <p:style>
            <a:lnRef idx="1">
              <a:schemeClr val="dk1"/>
            </a:lnRef>
            <a:fillRef idx="0">
              <a:schemeClr val="dk1"/>
            </a:fillRef>
            <a:effectRef idx="0">
              <a:schemeClr val="dk1"/>
            </a:effectRef>
            <a:fontRef idx="minor">
              <a:schemeClr val="tx1"/>
            </a:fontRef>
          </p:style>
        </p:cxnSp>
        <p:sp>
          <p:nvSpPr>
            <p:cNvPr id="2310" name="TextBox 2309">
              <a:extLst>
                <a:ext uri="{FF2B5EF4-FFF2-40B4-BE49-F238E27FC236}">
                  <a16:creationId xmlns:a16="http://schemas.microsoft.com/office/drawing/2014/main" id="{6B215AD4-14F0-F63C-4080-0D37C436BCC3}"/>
                </a:ext>
              </a:extLst>
            </p:cNvPr>
            <p:cNvSpPr txBox="1"/>
            <p:nvPr/>
          </p:nvSpPr>
          <p:spPr>
            <a:xfrm>
              <a:off x="653263" y="3379666"/>
              <a:ext cx="1255125"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OperatingSystem</a:t>
              </a:r>
              <a:r>
                <a:rPr lang="en-US" dirty="0"/>
                <a:t>(</a:t>
              </a:r>
              <a:r>
                <a:rPr lang="en-US" dirty="0" err="1"/>
                <a:t>VideoFile</a:t>
              </a:r>
              <a:r>
                <a:rPr lang="en-US" dirty="0"/>
                <a:t> </a:t>
              </a:r>
              <a:r>
                <a:rPr lang="en-US" dirty="0" err="1"/>
                <a:t>videoFile</a:t>
              </a:r>
              <a:r>
                <a:rPr lang="en-US" dirty="0"/>
                <a:t>)</a:t>
              </a:r>
            </a:p>
            <a:p>
              <a:r>
                <a:rPr lang="en-US" dirty="0"/>
                <a:t>+ play(String </a:t>
              </a:r>
              <a:r>
                <a:rPr lang="en-US" dirty="0" err="1"/>
                <a:t>fileName</a:t>
              </a:r>
              <a:r>
                <a:rPr lang="en-US" dirty="0"/>
                <a:t>): void</a:t>
              </a:r>
            </a:p>
          </p:txBody>
        </p:sp>
      </p:grpSp>
      <p:grpSp>
        <p:nvGrpSpPr>
          <p:cNvPr id="2328" name="Group 2327">
            <a:extLst>
              <a:ext uri="{FF2B5EF4-FFF2-40B4-BE49-F238E27FC236}">
                <a16:creationId xmlns:a16="http://schemas.microsoft.com/office/drawing/2014/main" id="{2964DD51-1D57-9282-AFDE-4E7CAD7A2D53}"/>
              </a:ext>
            </a:extLst>
          </p:cNvPr>
          <p:cNvGrpSpPr/>
          <p:nvPr/>
        </p:nvGrpSpPr>
        <p:grpSpPr>
          <a:xfrm>
            <a:off x="7123472" y="225154"/>
            <a:ext cx="1313960" cy="247016"/>
            <a:chOff x="2129530" y="3156651"/>
            <a:chExt cx="1313960" cy="247016"/>
          </a:xfrm>
        </p:grpSpPr>
        <p:sp>
          <p:nvSpPr>
            <p:cNvPr id="2315" name="Rectangle: Rounded Corners 2314">
              <a:extLst>
                <a:ext uri="{FF2B5EF4-FFF2-40B4-BE49-F238E27FC236}">
                  <a16:creationId xmlns:a16="http://schemas.microsoft.com/office/drawing/2014/main" id="{F1CBFCEF-43BF-CB9E-97AE-35956C137460}"/>
                </a:ext>
              </a:extLst>
            </p:cNvPr>
            <p:cNvSpPr/>
            <p:nvPr/>
          </p:nvSpPr>
          <p:spPr>
            <a:xfrm>
              <a:off x="2129530" y="3156651"/>
              <a:ext cx="1311579" cy="24701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17" name="Straight Connector 2316">
              <a:extLst>
                <a:ext uri="{FF2B5EF4-FFF2-40B4-BE49-F238E27FC236}">
                  <a16:creationId xmlns:a16="http://schemas.microsoft.com/office/drawing/2014/main" id="{15D07672-B33A-A5B4-F84F-63C90DF3C4DD}"/>
                </a:ext>
              </a:extLst>
            </p:cNvPr>
            <p:cNvCxnSpPr>
              <a:cxnSpLocks/>
            </p:cNvCxnSpPr>
            <p:nvPr/>
          </p:nvCxnSpPr>
          <p:spPr>
            <a:xfrm>
              <a:off x="2129530" y="3289248"/>
              <a:ext cx="1313960" cy="0"/>
            </a:xfrm>
            <a:prstGeom prst="line">
              <a:avLst/>
            </a:prstGeom>
          </p:spPr>
          <p:style>
            <a:lnRef idx="1">
              <a:schemeClr val="dk1"/>
            </a:lnRef>
            <a:fillRef idx="0">
              <a:schemeClr val="dk1"/>
            </a:fillRef>
            <a:effectRef idx="0">
              <a:schemeClr val="dk1"/>
            </a:effectRef>
            <a:fontRef idx="minor">
              <a:schemeClr val="tx1"/>
            </a:fontRef>
          </p:style>
        </p:cxnSp>
        <p:sp>
          <p:nvSpPr>
            <p:cNvPr id="2320" name="TextBox 2319">
              <a:extLst>
                <a:ext uri="{FF2B5EF4-FFF2-40B4-BE49-F238E27FC236}">
                  <a16:creationId xmlns:a16="http://schemas.microsoft.com/office/drawing/2014/main" id="{28F88127-7F97-8AD0-F2AF-52DDCBF1C658}"/>
                </a:ext>
              </a:extLst>
            </p:cNvPr>
            <p:cNvSpPr txBox="1"/>
            <p:nvPr/>
          </p:nvSpPr>
          <p:spPr>
            <a:xfrm>
              <a:off x="2601264" y="3161680"/>
              <a:ext cx="347852" cy="107722"/>
            </a:xfrm>
            <a:prstGeom prst="rect">
              <a:avLst/>
            </a:prstGeom>
            <a:noFill/>
          </p:spPr>
          <p:txBody>
            <a:bodyPr wrap="none" lIns="0" tIns="0" rIns="0" bIns="0" rtlCol="0">
              <a:spAutoFit/>
            </a:bodyPr>
            <a:lstStyle/>
            <a:p>
              <a:pPr algn="ctr"/>
              <a:r>
                <a:rPr lang="en-US" sz="700" b="1" dirty="0" err="1"/>
                <a:t>VideoFile</a:t>
              </a:r>
              <a:endParaRPr lang="en-US" sz="700" b="1" dirty="0"/>
            </a:p>
          </p:txBody>
        </p:sp>
        <p:sp>
          <p:nvSpPr>
            <p:cNvPr id="2326" name="TextBox 2325">
              <a:extLst>
                <a:ext uri="{FF2B5EF4-FFF2-40B4-BE49-F238E27FC236}">
                  <a16:creationId xmlns:a16="http://schemas.microsoft.com/office/drawing/2014/main" id="{120218F5-96FE-F26F-23BD-F1BD9F63D6C4}"/>
                </a:ext>
              </a:extLst>
            </p:cNvPr>
            <p:cNvSpPr txBox="1"/>
            <p:nvPr/>
          </p:nvSpPr>
          <p:spPr>
            <a:xfrm>
              <a:off x="2152418" y="3297650"/>
              <a:ext cx="1073476" cy="92333"/>
            </a:xfrm>
            <a:prstGeom prst="rect">
              <a:avLst/>
            </a:prstGeom>
            <a:noFill/>
          </p:spPr>
          <p:txBody>
            <a:bodyPr wrap="square" lIns="0" tIns="0" rIns="0" bIns="0" rtlCol="0">
              <a:spAutoFit/>
            </a:bodyPr>
            <a:lstStyle>
              <a:defPPr>
                <a:defRPr lang="en-US"/>
              </a:defPPr>
              <a:lvl1pPr>
                <a:defRPr sz="600"/>
              </a:lvl1pPr>
            </a:lstStyle>
            <a:p>
              <a:r>
                <a:rPr lang="en-US" dirty="0"/>
                <a:t>+ decode(String </a:t>
              </a:r>
              <a:r>
                <a:rPr lang="en-US" dirty="0" err="1"/>
                <a:t>fileName</a:t>
              </a:r>
              <a:r>
                <a:rPr lang="en-US" dirty="0"/>
                <a:t>): void</a:t>
              </a:r>
            </a:p>
          </p:txBody>
        </p:sp>
      </p:grpSp>
      <p:grpSp>
        <p:nvGrpSpPr>
          <p:cNvPr id="2517" name="Group 2516">
            <a:extLst>
              <a:ext uri="{FF2B5EF4-FFF2-40B4-BE49-F238E27FC236}">
                <a16:creationId xmlns:a16="http://schemas.microsoft.com/office/drawing/2014/main" id="{B4FFFD83-88FA-67C6-47C3-798DF652B759}"/>
              </a:ext>
            </a:extLst>
          </p:cNvPr>
          <p:cNvGrpSpPr/>
          <p:nvPr/>
        </p:nvGrpSpPr>
        <p:grpSpPr>
          <a:xfrm>
            <a:off x="4884854" y="855743"/>
            <a:ext cx="1130605" cy="449345"/>
            <a:chOff x="327072" y="6179589"/>
            <a:chExt cx="1130605" cy="449345"/>
          </a:xfrm>
        </p:grpSpPr>
        <p:sp>
          <p:nvSpPr>
            <p:cNvPr id="2335" name="Rectangle: Rounded Corners 2334">
              <a:extLst>
                <a:ext uri="{FF2B5EF4-FFF2-40B4-BE49-F238E27FC236}">
                  <a16:creationId xmlns:a16="http://schemas.microsoft.com/office/drawing/2014/main" id="{A0126DA6-E481-4D5F-DA66-E575514450DF}"/>
                </a:ext>
              </a:extLst>
            </p:cNvPr>
            <p:cNvSpPr/>
            <p:nvPr/>
          </p:nvSpPr>
          <p:spPr>
            <a:xfrm>
              <a:off x="327072" y="6179589"/>
              <a:ext cx="1125843" cy="449345"/>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36" name="Straight Connector 2335">
              <a:extLst>
                <a:ext uri="{FF2B5EF4-FFF2-40B4-BE49-F238E27FC236}">
                  <a16:creationId xmlns:a16="http://schemas.microsoft.com/office/drawing/2014/main" id="{D91BA928-592A-4210-6CD1-8D706DD4E6A0}"/>
                </a:ext>
              </a:extLst>
            </p:cNvPr>
            <p:cNvCxnSpPr>
              <a:cxnSpLocks/>
            </p:cNvCxnSpPr>
            <p:nvPr/>
          </p:nvCxnSpPr>
          <p:spPr>
            <a:xfrm>
              <a:off x="327072" y="6312187"/>
              <a:ext cx="1128224" cy="0"/>
            </a:xfrm>
            <a:prstGeom prst="line">
              <a:avLst/>
            </a:prstGeom>
          </p:spPr>
          <p:style>
            <a:lnRef idx="1">
              <a:schemeClr val="dk1"/>
            </a:lnRef>
            <a:fillRef idx="0">
              <a:schemeClr val="dk1"/>
            </a:fillRef>
            <a:effectRef idx="0">
              <a:schemeClr val="dk1"/>
            </a:effectRef>
            <a:fontRef idx="minor">
              <a:schemeClr val="tx1"/>
            </a:fontRef>
          </p:style>
        </p:cxnSp>
        <p:sp>
          <p:nvSpPr>
            <p:cNvPr id="2338" name="TextBox 2337">
              <a:extLst>
                <a:ext uri="{FF2B5EF4-FFF2-40B4-BE49-F238E27FC236}">
                  <a16:creationId xmlns:a16="http://schemas.microsoft.com/office/drawing/2014/main" id="{CFD47183-3979-D563-720F-4439E7FC2030}"/>
                </a:ext>
              </a:extLst>
            </p:cNvPr>
            <p:cNvSpPr txBox="1"/>
            <p:nvPr/>
          </p:nvSpPr>
          <p:spPr>
            <a:xfrm>
              <a:off x="615223" y="6193814"/>
              <a:ext cx="553223" cy="107722"/>
            </a:xfrm>
            <a:prstGeom prst="rect">
              <a:avLst/>
            </a:prstGeom>
            <a:noFill/>
          </p:spPr>
          <p:txBody>
            <a:bodyPr wrap="square" lIns="0" tIns="0" rIns="0" bIns="0" rtlCol="0">
              <a:spAutoFit/>
            </a:bodyPr>
            <a:lstStyle>
              <a:defPPr>
                <a:defRPr lang="en-US"/>
              </a:defPPr>
              <a:lvl1pPr algn="ctr">
                <a:defRPr sz="700" b="1"/>
              </a:lvl1pPr>
            </a:lstStyle>
            <a:p>
              <a:r>
                <a:rPr lang="en-US" dirty="0"/>
                <a:t>Windows</a:t>
              </a:r>
            </a:p>
          </p:txBody>
        </p:sp>
        <p:cxnSp>
          <p:nvCxnSpPr>
            <p:cNvPr id="2343" name="Straight Connector 2342">
              <a:extLst>
                <a:ext uri="{FF2B5EF4-FFF2-40B4-BE49-F238E27FC236}">
                  <a16:creationId xmlns:a16="http://schemas.microsoft.com/office/drawing/2014/main" id="{29847309-6239-E744-7ACB-79DC09414907}"/>
                </a:ext>
              </a:extLst>
            </p:cNvPr>
            <p:cNvCxnSpPr>
              <a:cxnSpLocks/>
            </p:cNvCxnSpPr>
            <p:nvPr/>
          </p:nvCxnSpPr>
          <p:spPr>
            <a:xfrm>
              <a:off x="330247" y="6412198"/>
              <a:ext cx="1127430" cy="0"/>
            </a:xfrm>
            <a:prstGeom prst="line">
              <a:avLst/>
            </a:prstGeom>
          </p:spPr>
          <p:style>
            <a:lnRef idx="1">
              <a:schemeClr val="dk1"/>
            </a:lnRef>
            <a:fillRef idx="0">
              <a:schemeClr val="dk1"/>
            </a:fillRef>
            <a:effectRef idx="0">
              <a:schemeClr val="dk1"/>
            </a:effectRef>
            <a:fontRef idx="minor">
              <a:schemeClr val="tx1"/>
            </a:fontRef>
          </p:style>
        </p:cxnSp>
        <p:sp>
          <p:nvSpPr>
            <p:cNvPr id="2344" name="TextBox 2343">
              <a:extLst>
                <a:ext uri="{FF2B5EF4-FFF2-40B4-BE49-F238E27FC236}">
                  <a16:creationId xmlns:a16="http://schemas.microsoft.com/office/drawing/2014/main" id="{63A84FCF-FAA2-0C63-4A5B-2B719E779CD8}"/>
                </a:ext>
              </a:extLst>
            </p:cNvPr>
            <p:cNvSpPr txBox="1"/>
            <p:nvPr/>
          </p:nvSpPr>
          <p:spPr>
            <a:xfrm>
              <a:off x="351991" y="6426834"/>
              <a:ext cx="1086331" cy="184666"/>
            </a:xfrm>
            <a:prstGeom prst="rect">
              <a:avLst/>
            </a:prstGeom>
            <a:noFill/>
          </p:spPr>
          <p:txBody>
            <a:bodyPr wrap="square" lIns="0" tIns="0" rIns="0" bIns="0" rtlCol="0">
              <a:spAutoFit/>
            </a:bodyPr>
            <a:lstStyle>
              <a:defPPr>
                <a:defRPr lang="en-US"/>
              </a:defPPr>
              <a:lvl1pPr>
                <a:defRPr sz="600"/>
              </a:lvl1pPr>
            </a:lstStyle>
            <a:p>
              <a:r>
                <a:rPr lang="en-US" dirty="0"/>
                <a:t>+ Windows(</a:t>
              </a:r>
              <a:r>
                <a:rPr lang="en-US" dirty="0" err="1"/>
                <a:t>VideoFile</a:t>
              </a:r>
              <a:r>
                <a:rPr lang="en-US" dirty="0"/>
                <a:t> </a:t>
              </a:r>
              <a:r>
                <a:rPr lang="en-US" dirty="0" err="1"/>
                <a:t>videoFile</a:t>
              </a:r>
              <a:r>
                <a:rPr lang="en-US" dirty="0"/>
                <a:t>)</a:t>
              </a:r>
            </a:p>
            <a:p>
              <a:r>
                <a:rPr lang="en-US" dirty="0"/>
                <a:t>+ play(String </a:t>
              </a:r>
              <a:r>
                <a:rPr lang="en-US" dirty="0" err="1"/>
                <a:t>fileName</a:t>
              </a:r>
              <a:r>
                <a:rPr lang="en-US" dirty="0"/>
                <a:t>): void</a:t>
              </a:r>
            </a:p>
          </p:txBody>
        </p:sp>
      </p:grpSp>
      <p:grpSp>
        <p:nvGrpSpPr>
          <p:cNvPr id="2346" name="Group 2345">
            <a:extLst>
              <a:ext uri="{FF2B5EF4-FFF2-40B4-BE49-F238E27FC236}">
                <a16:creationId xmlns:a16="http://schemas.microsoft.com/office/drawing/2014/main" id="{FB6FD671-BF56-24F3-89BF-2CB6619630E9}"/>
              </a:ext>
            </a:extLst>
          </p:cNvPr>
          <p:cNvGrpSpPr/>
          <p:nvPr/>
        </p:nvGrpSpPr>
        <p:grpSpPr>
          <a:xfrm>
            <a:off x="6036179" y="855743"/>
            <a:ext cx="1064825" cy="449345"/>
            <a:chOff x="586396" y="3130041"/>
            <a:chExt cx="1064825" cy="449345"/>
          </a:xfrm>
        </p:grpSpPr>
        <p:sp>
          <p:nvSpPr>
            <p:cNvPr id="2347" name="Rectangle: Rounded Corners 2346">
              <a:extLst>
                <a:ext uri="{FF2B5EF4-FFF2-40B4-BE49-F238E27FC236}">
                  <a16:creationId xmlns:a16="http://schemas.microsoft.com/office/drawing/2014/main" id="{7C5AF808-46AB-6C1F-2A92-14D6CDAA8032}"/>
                </a:ext>
              </a:extLst>
            </p:cNvPr>
            <p:cNvSpPr/>
            <p:nvPr/>
          </p:nvSpPr>
          <p:spPr>
            <a:xfrm>
              <a:off x="626760" y="3130041"/>
              <a:ext cx="954612" cy="449345"/>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49" name="Straight Connector 2348">
              <a:extLst>
                <a:ext uri="{FF2B5EF4-FFF2-40B4-BE49-F238E27FC236}">
                  <a16:creationId xmlns:a16="http://schemas.microsoft.com/office/drawing/2014/main" id="{F77A5482-6B83-91A8-8447-D4BBAD268A1B}"/>
                </a:ext>
              </a:extLst>
            </p:cNvPr>
            <p:cNvCxnSpPr>
              <a:cxnSpLocks/>
            </p:cNvCxnSpPr>
            <p:nvPr/>
          </p:nvCxnSpPr>
          <p:spPr>
            <a:xfrm>
              <a:off x="626759" y="3262639"/>
              <a:ext cx="954612" cy="0"/>
            </a:xfrm>
            <a:prstGeom prst="line">
              <a:avLst/>
            </a:prstGeom>
          </p:spPr>
          <p:style>
            <a:lnRef idx="1">
              <a:schemeClr val="dk1"/>
            </a:lnRef>
            <a:fillRef idx="0">
              <a:schemeClr val="dk1"/>
            </a:fillRef>
            <a:effectRef idx="0">
              <a:schemeClr val="dk1"/>
            </a:effectRef>
            <a:fontRef idx="minor">
              <a:schemeClr val="tx1"/>
            </a:fontRef>
          </p:style>
        </p:cxnSp>
        <p:sp>
          <p:nvSpPr>
            <p:cNvPr id="2350" name="TextBox 2349">
              <a:extLst>
                <a:ext uri="{FF2B5EF4-FFF2-40B4-BE49-F238E27FC236}">
                  <a16:creationId xmlns:a16="http://schemas.microsoft.com/office/drawing/2014/main" id="{0047A09A-CF91-896D-23BE-1C4381B03EA9}"/>
                </a:ext>
              </a:extLst>
            </p:cNvPr>
            <p:cNvSpPr txBox="1"/>
            <p:nvPr/>
          </p:nvSpPr>
          <p:spPr>
            <a:xfrm>
              <a:off x="896371" y="3147833"/>
              <a:ext cx="380806" cy="107722"/>
            </a:xfrm>
            <a:prstGeom prst="rect">
              <a:avLst/>
            </a:prstGeom>
            <a:noFill/>
          </p:spPr>
          <p:txBody>
            <a:bodyPr wrap="square" lIns="0" tIns="0" rIns="0" bIns="0" rtlCol="0">
              <a:spAutoFit/>
            </a:bodyPr>
            <a:lstStyle>
              <a:defPPr>
                <a:defRPr lang="en-US"/>
              </a:defPPr>
              <a:lvl1pPr algn="ctr">
                <a:defRPr sz="700" b="1"/>
              </a:lvl1pPr>
            </a:lstStyle>
            <a:p>
              <a:r>
                <a:rPr lang="en-US" dirty="0"/>
                <a:t>Mac</a:t>
              </a:r>
            </a:p>
          </p:txBody>
        </p:sp>
        <p:sp>
          <p:nvSpPr>
            <p:cNvPr id="2352" name="TextBox 2351">
              <a:extLst>
                <a:ext uri="{FF2B5EF4-FFF2-40B4-BE49-F238E27FC236}">
                  <a16:creationId xmlns:a16="http://schemas.microsoft.com/office/drawing/2014/main" id="{6430BE23-0065-32CF-B30A-7DECD004BE1E}"/>
                </a:ext>
              </a:extLst>
            </p:cNvPr>
            <p:cNvSpPr txBox="1"/>
            <p:nvPr/>
          </p:nvSpPr>
          <p:spPr>
            <a:xfrm>
              <a:off x="586396" y="3221644"/>
              <a:ext cx="184731" cy="184666"/>
            </a:xfrm>
            <a:prstGeom prst="rect">
              <a:avLst/>
            </a:prstGeom>
            <a:noFill/>
          </p:spPr>
          <p:txBody>
            <a:bodyPr wrap="none" rtlCol="0">
              <a:spAutoFit/>
            </a:bodyPr>
            <a:lstStyle/>
            <a:p>
              <a:endParaRPr lang="en-US" sz="600" dirty="0"/>
            </a:p>
          </p:txBody>
        </p:sp>
        <p:cxnSp>
          <p:nvCxnSpPr>
            <p:cNvPr id="2353" name="Straight Connector 2352">
              <a:extLst>
                <a:ext uri="{FF2B5EF4-FFF2-40B4-BE49-F238E27FC236}">
                  <a16:creationId xmlns:a16="http://schemas.microsoft.com/office/drawing/2014/main" id="{FB7C97E4-6D72-70C7-E9EA-652E02E85176}"/>
                </a:ext>
              </a:extLst>
            </p:cNvPr>
            <p:cNvCxnSpPr>
              <a:cxnSpLocks/>
            </p:cNvCxnSpPr>
            <p:nvPr/>
          </p:nvCxnSpPr>
          <p:spPr>
            <a:xfrm>
              <a:off x="626757" y="3362650"/>
              <a:ext cx="960964" cy="0"/>
            </a:xfrm>
            <a:prstGeom prst="line">
              <a:avLst/>
            </a:prstGeom>
          </p:spPr>
          <p:style>
            <a:lnRef idx="1">
              <a:schemeClr val="dk1"/>
            </a:lnRef>
            <a:fillRef idx="0">
              <a:schemeClr val="dk1"/>
            </a:fillRef>
            <a:effectRef idx="0">
              <a:schemeClr val="dk1"/>
            </a:effectRef>
            <a:fontRef idx="minor">
              <a:schemeClr val="tx1"/>
            </a:fontRef>
          </p:style>
        </p:cxnSp>
        <p:sp>
          <p:nvSpPr>
            <p:cNvPr id="2354" name="TextBox 2353">
              <a:extLst>
                <a:ext uri="{FF2B5EF4-FFF2-40B4-BE49-F238E27FC236}">
                  <a16:creationId xmlns:a16="http://schemas.microsoft.com/office/drawing/2014/main" id="{5B3341E6-7498-FE78-58BE-15632E1B1646}"/>
                </a:ext>
              </a:extLst>
            </p:cNvPr>
            <p:cNvSpPr txBox="1"/>
            <p:nvPr/>
          </p:nvSpPr>
          <p:spPr>
            <a:xfrm>
              <a:off x="659800" y="3380461"/>
              <a:ext cx="991421" cy="184666"/>
            </a:xfrm>
            <a:prstGeom prst="rect">
              <a:avLst/>
            </a:prstGeom>
            <a:noFill/>
          </p:spPr>
          <p:txBody>
            <a:bodyPr wrap="square" lIns="0" tIns="0" rIns="0" bIns="0" rtlCol="0">
              <a:spAutoFit/>
            </a:bodyPr>
            <a:lstStyle>
              <a:defPPr>
                <a:defRPr lang="en-US"/>
              </a:defPPr>
              <a:lvl1pPr>
                <a:defRPr sz="600"/>
              </a:lvl1pPr>
            </a:lstStyle>
            <a:p>
              <a:r>
                <a:rPr lang="en-US" dirty="0"/>
                <a:t>+ Mac(</a:t>
              </a:r>
              <a:r>
                <a:rPr lang="en-US" dirty="0" err="1"/>
                <a:t>VideoFile</a:t>
              </a:r>
              <a:r>
                <a:rPr lang="en-US" dirty="0"/>
                <a:t> </a:t>
              </a:r>
              <a:r>
                <a:rPr lang="en-US" dirty="0" err="1"/>
                <a:t>videoFile</a:t>
              </a:r>
              <a:r>
                <a:rPr lang="en-US" dirty="0"/>
                <a:t>)</a:t>
              </a:r>
            </a:p>
            <a:p>
              <a:r>
                <a:rPr lang="en-US" dirty="0"/>
                <a:t>+ play(String </a:t>
              </a:r>
              <a:r>
                <a:rPr lang="en-US" dirty="0" err="1"/>
                <a:t>fileName</a:t>
              </a:r>
              <a:r>
                <a:rPr lang="en-US" dirty="0"/>
                <a:t>): void</a:t>
              </a:r>
            </a:p>
          </p:txBody>
        </p:sp>
      </p:grpSp>
      <p:grpSp>
        <p:nvGrpSpPr>
          <p:cNvPr id="2355" name="Group 2354">
            <a:extLst>
              <a:ext uri="{FF2B5EF4-FFF2-40B4-BE49-F238E27FC236}">
                <a16:creationId xmlns:a16="http://schemas.microsoft.com/office/drawing/2014/main" id="{C03C5F53-3C39-1918-25AD-CBFEED247C5D}"/>
              </a:ext>
            </a:extLst>
          </p:cNvPr>
          <p:cNvGrpSpPr/>
          <p:nvPr/>
        </p:nvGrpSpPr>
        <p:grpSpPr>
          <a:xfrm>
            <a:off x="7365679" y="652121"/>
            <a:ext cx="1062475" cy="247016"/>
            <a:chOff x="2129530" y="3156651"/>
            <a:chExt cx="1062475" cy="247016"/>
          </a:xfrm>
        </p:grpSpPr>
        <p:sp>
          <p:nvSpPr>
            <p:cNvPr id="2357" name="Rectangle: Rounded Corners 2356">
              <a:extLst>
                <a:ext uri="{FF2B5EF4-FFF2-40B4-BE49-F238E27FC236}">
                  <a16:creationId xmlns:a16="http://schemas.microsoft.com/office/drawing/2014/main" id="{E6B74A24-72E9-0A09-30B1-C49FEAAD2256}"/>
                </a:ext>
              </a:extLst>
            </p:cNvPr>
            <p:cNvSpPr/>
            <p:nvPr/>
          </p:nvSpPr>
          <p:spPr>
            <a:xfrm>
              <a:off x="2129530" y="3156651"/>
              <a:ext cx="1062475" cy="24701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58" name="Straight Connector 2357">
              <a:extLst>
                <a:ext uri="{FF2B5EF4-FFF2-40B4-BE49-F238E27FC236}">
                  <a16:creationId xmlns:a16="http://schemas.microsoft.com/office/drawing/2014/main" id="{6FF2D220-FD0C-BCC8-6FCF-914F38098F99}"/>
                </a:ext>
              </a:extLst>
            </p:cNvPr>
            <p:cNvCxnSpPr>
              <a:cxnSpLocks/>
            </p:cNvCxnSpPr>
            <p:nvPr/>
          </p:nvCxnSpPr>
          <p:spPr>
            <a:xfrm>
              <a:off x="2129530" y="3289248"/>
              <a:ext cx="1059300" cy="0"/>
            </a:xfrm>
            <a:prstGeom prst="line">
              <a:avLst/>
            </a:prstGeom>
          </p:spPr>
          <p:style>
            <a:lnRef idx="1">
              <a:schemeClr val="dk1"/>
            </a:lnRef>
            <a:fillRef idx="0">
              <a:schemeClr val="dk1"/>
            </a:fillRef>
            <a:effectRef idx="0">
              <a:schemeClr val="dk1"/>
            </a:effectRef>
            <a:fontRef idx="minor">
              <a:schemeClr val="tx1"/>
            </a:fontRef>
          </p:style>
        </p:cxnSp>
        <p:sp>
          <p:nvSpPr>
            <p:cNvPr id="2360" name="TextBox 2359">
              <a:extLst>
                <a:ext uri="{FF2B5EF4-FFF2-40B4-BE49-F238E27FC236}">
                  <a16:creationId xmlns:a16="http://schemas.microsoft.com/office/drawing/2014/main" id="{9C2F8ACD-799B-D748-2DC1-3FCF01C903E2}"/>
                </a:ext>
              </a:extLst>
            </p:cNvPr>
            <p:cNvSpPr txBox="1"/>
            <p:nvPr/>
          </p:nvSpPr>
          <p:spPr>
            <a:xfrm>
              <a:off x="2393003" y="3164842"/>
              <a:ext cx="469373" cy="107722"/>
            </a:xfrm>
            <a:prstGeom prst="rect">
              <a:avLst/>
            </a:prstGeom>
            <a:noFill/>
          </p:spPr>
          <p:txBody>
            <a:bodyPr wrap="square" lIns="0" tIns="0" rIns="0" bIns="0" rtlCol="0">
              <a:spAutoFit/>
            </a:bodyPr>
            <a:lstStyle>
              <a:defPPr>
                <a:defRPr lang="en-US"/>
              </a:defPPr>
              <a:lvl1pPr algn="ctr">
                <a:defRPr sz="700" b="1"/>
              </a:lvl1pPr>
            </a:lstStyle>
            <a:p>
              <a:r>
                <a:rPr lang="en-US" dirty="0" err="1"/>
                <a:t>AVIFile</a:t>
              </a:r>
              <a:endParaRPr lang="en-US" dirty="0"/>
            </a:p>
          </p:txBody>
        </p:sp>
        <p:sp>
          <p:nvSpPr>
            <p:cNvPr id="2361" name="TextBox 2360">
              <a:extLst>
                <a:ext uri="{FF2B5EF4-FFF2-40B4-BE49-F238E27FC236}">
                  <a16:creationId xmlns:a16="http://schemas.microsoft.com/office/drawing/2014/main" id="{363DE885-A39D-EB75-6EB6-DB4FD2C10CD6}"/>
                </a:ext>
              </a:extLst>
            </p:cNvPr>
            <p:cNvSpPr txBox="1"/>
            <p:nvPr/>
          </p:nvSpPr>
          <p:spPr>
            <a:xfrm>
              <a:off x="2167915" y="3305121"/>
              <a:ext cx="1008215" cy="92333"/>
            </a:xfrm>
            <a:prstGeom prst="rect">
              <a:avLst/>
            </a:prstGeom>
            <a:noFill/>
          </p:spPr>
          <p:txBody>
            <a:bodyPr wrap="square" lIns="0" tIns="0" rIns="0" bIns="0" rtlCol="0">
              <a:spAutoFit/>
            </a:bodyPr>
            <a:lstStyle>
              <a:defPPr>
                <a:defRPr lang="en-US"/>
              </a:defPPr>
              <a:lvl1pPr>
                <a:defRPr sz="600"/>
              </a:lvl1pPr>
            </a:lstStyle>
            <a:p>
              <a:r>
                <a:rPr lang="en-US" dirty="0"/>
                <a:t>+ decode(String </a:t>
              </a:r>
              <a:r>
                <a:rPr lang="en-US" dirty="0" err="1"/>
                <a:t>fileName</a:t>
              </a:r>
              <a:r>
                <a:rPr lang="en-US" dirty="0"/>
                <a:t>): void</a:t>
              </a:r>
            </a:p>
          </p:txBody>
        </p:sp>
      </p:grpSp>
      <p:grpSp>
        <p:nvGrpSpPr>
          <p:cNvPr id="2362" name="Group 2361">
            <a:extLst>
              <a:ext uri="{FF2B5EF4-FFF2-40B4-BE49-F238E27FC236}">
                <a16:creationId xmlns:a16="http://schemas.microsoft.com/office/drawing/2014/main" id="{C3D95AF2-2163-537C-80D3-1D263229106A}"/>
              </a:ext>
            </a:extLst>
          </p:cNvPr>
          <p:cNvGrpSpPr/>
          <p:nvPr/>
        </p:nvGrpSpPr>
        <p:grpSpPr>
          <a:xfrm>
            <a:off x="7368514" y="1063379"/>
            <a:ext cx="1075515" cy="247016"/>
            <a:chOff x="2129530" y="3156651"/>
            <a:chExt cx="1075515" cy="247016"/>
          </a:xfrm>
        </p:grpSpPr>
        <p:sp>
          <p:nvSpPr>
            <p:cNvPr id="2363" name="Rectangle: Rounded Corners 2362">
              <a:extLst>
                <a:ext uri="{FF2B5EF4-FFF2-40B4-BE49-F238E27FC236}">
                  <a16:creationId xmlns:a16="http://schemas.microsoft.com/office/drawing/2014/main" id="{479F7191-7AB3-01FF-A3B6-A877895F7CDC}"/>
                </a:ext>
              </a:extLst>
            </p:cNvPr>
            <p:cNvSpPr/>
            <p:nvPr/>
          </p:nvSpPr>
          <p:spPr>
            <a:xfrm>
              <a:off x="2129530" y="3156651"/>
              <a:ext cx="1069165" cy="24701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64" name="Straight Connector 2363">
              <a:extLst>
                <a:ext uri="{FF2B5EF4-FFF2-40B4-BE49-F238E27FC236}">
                  <a16:creationId xmlns:a16="http://schemas.microsoft.com/office/drawing/2014/main" id="{5EFE2F03-F5FE-1FE3-2E32-0ABD87E2AD15}"/>
                </a:ext>
              </a:extLst>
            </p:cNvPr>
            <p:cNvCxnSpPr>
              <a:cxnSpLocks/>
            </p:cNvCxnSpPr>
            <p:nvPr/>
          </p:nvCxnSpPr>
          <p:spPr>
            <a:xfrm>
              <a:off x="2129530" y="3289248"/>
              <a:ext cx="1075515" cy="0"/>
            </a:xfrm>
            <a:prstGeom prst="line">
              <a:avLst/>
            </a:prstGeom>
          </p:spPr>
          <p:style>
            <a:lnRef idx="1">
              <a:schemeClr val="dk1"/>
            </a:lnRef>
            <a:fillRef idx="0">
              <a:schemeClr val="dk1"/>
            </a:fillRef>
            <a:effectRef idx="0">
              <a:schemeClr val="dk1"/>
            </a:effectRef>
            <a:fontRef idx="minor">
              <a:schemeClr val="tx1"/>
            </a:fontRef>
          </p:style>
        </p:cxnSp>
        <p:sp>
          <p:nvSpPr>
            <p:cNvPr id="2365" name="TextBox 2364">
              <a:extLst>
                <a:ext uri="{FF2B5EF4-FFF2-40B4-BE49-F238E27FC236}">
                  <a16:creationId xmlns:a16="http://schemas.microsoft.com/office/drawing/2014/main" id="{B1677106-1FFA-4FC1-FB67-19F2BAFE9D06}"/>
                </a:ext>
              </a:extLst>
            </p:cNvPr>
            <p:cNvSpPr txBox="1"/>
            <p:nvPr/>
          </p:nvSpPr>
          <p:spPr>
            <a:xfrm>
              <a:off x="2366829" y="3167463"/>
              <a:ext cx="549291" cy="107722"/>
            </a:xfrm>
            <a:prstGeom prst="rect">
              <a:avLst/>
            </a:prstGeom>
            <a:noFill/>
          </p:spPr>
          <p:txBody>
            <a:bodyPr wrap="square" lIns="0" tIns="0" rIns="0" bIns="0" rtlCol="0">
              <a:spAutoFit/>
            </a:bodyPr>
            <a:lstStyle>
              <a:defPPr>
                <a:defRPr lang="en-US"/>
              </a:defPPr>
              <a:lvl1pPr algn="ctr">
                <a:defRPr sz="700" b="1"/>
              </a:lvl1pPr>
            </a:lstStyle>
            <a:p>
              <a:r>
                <a:rPr lang="en-US" dirty="0" err="1"/>
                <a:t>RMVBFile</a:t>
              </a:r>
              <a:endParaRPr lang="en-US" dirty="0"/>
            </a:p>
          </p:txBody>
        </p:sp>
        <p:sp>
          <p:nvSpPr>
            <p:cNvPr id="2367" name="TextBox 2366">
              <a:extLst>
                <a:ext uri="{FF2B5EF4-FFF2-40B4-BE49-F238E27FC236}">
                  <a16:creationId xmlns:a16="http://schemas.microsoft.com/office/drawing/2014/main" id="{27013AD4-3B8B-CABC-45A2-ED73B9ABF651}"/>
                </a:ext>
              </a:extLst>
            </p:cNvPr>
            <p:cNvSpPr txBox="1"/>
            <p:nvPr/>
          </p:nvSpPr>
          <p:spPr>
            <a:xfrm>
              <a:off x="2158222" y="3293908"/>
              <a:ext cx="1015074" cy="92333"/>
            </a:xfrm>
            <a:prstGeom prst="rect">
              <a:avLst/>
            </a:prstGeom>
            <a:noFill/>
          </p:spPr>
          <p:txBody>
            <a:bodyPr wrap="square" lIns="0" tIns="0" rIns="0" bIns="0" rtlCol="0">
              <a:spAutoFit/>
            </a:bodyPr>
            <a:lstStyle>
              <a:defPPr>
                <a:defRPr lang="en-US"/>
              </a:defPPr>
              <a:lvl1pPr>
                <a:defRPr sz="600"/>
              </a:lvl1pPr>
            </a:lstStyle>
            <a:p>
              <a:r>
                <a:rPr lang="en-US" dirty="0"/>
                <a:t>+ decode(String </a:t>
              </a:r>
              <a:r>
                <a:rPr lang="en-US" dirty="0" err="1"/>
                <a:t>fileName</a:t>
              </a:r>
              <a:r>
                <a:rPr lang="en-US" dirty="0"/>
                <a:t>): void</a:t>
              </a:r>
            </a:p>
          </p:txBody>
        </p:sp>
      </p:grpSp>
      <p:cxnSp>
        <p:nvCxnSpPr>
          <p:cNvPr id="2513" name="Connector: Elbow 2512">
            <a:extLst>
              <a:ext uri="{FF2B5EF4-FFF2-40B4-BE49-F238E27FC236}">
                <a16:creationId xmlns:a16="http://schemas.microsoft.com/office/drawing/2014/main" id="{85771E72-1C4D-683B-E49E-A0E0EA23E02A}"/>
              </a:ext>
            </a:extLst>
          </p:cNvPr>
          <p:cNvCxnSpPr>
            <a:cxnSpLocks/>
            <a:stCxn id="2335" idx="0"/>
            <a:endCxn id="2299" idx="2"/>
          </p:cNvCxnSpPr>
          <p:nvPr/>
        </p:nvCxnSpPr>
        <p:spPr>
          <a:xfrm rot="5400000" flipH="1" flipV="1">
            <a:off x="5601529" y="420258"/>
            <a:ext cx="281732" cy="589239"/>
          </a:xfrm>
          <a:prstGeom prst="bentConnector3">
            <a:avLst/>
          </a:prstGeom>
        </p:spPr>
        <p:style>
          <a:lnRef idx="1">
            <a:schemeClr val="dk1"/>
          </a:lnRef>
          <a:fillRef idx="0">
            <a:schemeClr val="dk1"/>
          </a:fillRef>
          <a:effectRef idx="0">
            <a:schemeClr val="dk1"/>
          </a:effectRef>
          <a:fontRef idx="minor">
            <a:schemeClr val="tx1"/>
          </a:fontRef>
        </p:style>
      </p:cxnSp>
      <p:cxnSp>
        <p:nvCxnSpPr>
          <p:cNvPr id="2514" name="Connector: Elbow 2513">
            <a:extLst>
              <a:ext uri="{FF2B5EF4-FFF2-40B4-BE49-F238E27FC236}">
                <a16:creationId xmlns:a16="http://schemas.microsoft.com/office/drawing/2014/main" id="{ABB925C8-13F0-03C0-79A3-6ADAD4121C2D}"/>
              </a:ext>
            </a:extLst>
          </p:cNvPr>
          <p:cNvCxnSpPr>
            <a:cxnSpLocks/>
            <a:stCxn id="2347" idx="0"/>
            <a:endCxn id="2299" idx="2"/>
          </p:cNvCxnSpPr>
          <p:nvPr/>
        </p:nvCxnSpPr>
        <p:spPr>
          <a:xfrm rot="16200000" flipV="1">
            <a:off x="6154566" y="456460"/>
            <a:ext cx="281732" cy="516834"/>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2519" name="Straight Connector 2518">
            <a:extLst>
              <a:ext uri="{FF2B5EF4-FFF2-40B4-BE49-F238E27FC236}">
                <a16:creationId xmlns:a16="http://schemas.microsoft.com/office/drawing/2014/main" id="{3F1099E7-417D-4FF6-6D91-381DCBFC3DC8}"/>
              </a:ext>
            </a:extLst>
          </p:cNvPr>
          <p:cNvCxnSpPr>
            <a:cxnSpLocks/>
            <a:stCxn id="2299" idx="3"/>
            <a:endCxn id="2315" idx="1"/>
          </p:cNvCxnSpPr>
          <p:nvPr/>
        </p:nvCxnSpPr>
        <p:spPr>
          <a:xfrm flipV="1">
            <a:off x="6692804" y="348662"/>
            <a:ext cx="430668" cy="677"/>
          </a:xfrm>
          <a:prstGeom prst="line">
            <a:avLst/>
          </a:prstGeom>
        </p:spPr>
        <p:style>
          <a:lnRef idx="1">
            <a:schemeClr val="dk1"/>
          </a:lnRef>
          <a:fillRef idx="0">
            <a:schemeClr val="dk1"/>
          </a:fillRef>
          <a:effectRef idx="0">
            <a:schemeClr val="dk1"/>
          </a:effectRef>
          <a:fontRef idx="minor">
            <a:schemeClr val="tx1"/>
          </a:fontRef>
        </p:style>
      </p:cxnSp>
      <p:cxnSp>
        <p:nvCxnSpPr>
          <p:cNvPr id="2524" name="Connector: Elbow 2523">
            <a:extLst>
              <a:ext uri="{FF2B5EF4-FFF2-40B4-BE49-F238E27FC236}">
                <a16:creationId xmlns:a16="http://schemas.microsoft.com/office/drawing/2014/main" id="{E175DE7F-C34E-979F-9342-102A1012F224}"/>
              </a:ext>
            </a:extLst>
          </p:cNvPr>
          <p:cNvCxnSpPr>
            <a:cxnSpLocks/>
            <a:endCxn id="2357" idx="1"/>
          </p:cNvCxnSpPr>
          <p:nvPr/>
        </p:nvCxnSpPr>
        <p:spPr>
          <a:xfrm rot="16200000" flipH="1">
            <a:off x="7126012" y="535962"/>
            <a:ext cx="298750" cy="180584"/>
          </a:xfrm>
          <a:prstGeom prst="bentConnector2">
            <a:avLst/>
          </a:prstGeom>
          <a:ln>
            <a:prstDash val="dash"/>
          </a:ln>
        </p:spPr>
        <p:style>
          <a:lnRef idx="1">
            <a:schemeClr val="dk1"/>
          </a:lnRef>
          <a:fillRef idx="0">
            <a:schemeClr val="dk1"/>
          </a:fillRef>
          <a:effectRef idx="0">
            <a:schemeClr val="dk1"/>
          </a:effectRef>
          <a:fontRef idx="minor">
            <a:schemeClr val="tx1"/>
          </a:fontRef>
        </p:style>
      </p:cxnSp>
      <p:cxnSp>
        <p:nvCxnSpPr>
          <p:cNvPr id="2527" name="Connector: Elbow 2526">
            <a:extLst>
              <a:ext uri="{FF2B5EF4-FFF2-40B4-BE49-F238E27FC236}">
                <a16:creationId xmlns:a16="http://schemas.microsoft.com/office/drawing/2014/main" id="{4FF59D8C-71E8-3A32-2FC8-CE18FC0AF673}"/>
              </a:ext>
            </a:extLst>
          </p:cNvPr>
          <p:cNvCxnSpPr>
            <a:cxnSpLocks/>
            <a:endCxn id="2363" idx="1"/>
          </p:cNvCxnSpPr>
          <p:nvPr/>
        </p:nvCxnSpPr>
        <p:spPr>
          <a:xfrm rot="16200000" flipH="1">
            <a:off x="7071175" y="889548"/>
            <a:ext cx="411258" cy="183420"/>
          </a:xfrm>
          <a:prstGeom prst="bentConnector2">
            <a:avLst/>
          </a:prstGeom>
          <a:ln>
            <a:prstDash val="dash"/>
          </a:ln>
        </p:spPr>
        <p:style>
          <a:lnRef idx="1">
            <a:schemeClr val="dk1"/>
          </a:lnRef>
          <a:fillRef idx="0">
            <a:schemeClr val="dk1"/>
          </a:fillRef>
          <a:effectRef idx="0">
            <a:schemeClr val="dk1"/>
          </a:effectRef>
          <a:fontRef idx="minor">
            <a:schemeClr val="tx1"/>
          </a:fontRef>
        </p:style>
      </p:cxnSp>
      <p:sp>
        <p:nvSpPr>
          <p:cNvPr id="2536" name="Isosceles Triangle 2535">
            <a:extLst>
              <a:ext uri="{FF2B5EF4-FFF2-40B4-BE49-F238E27FC236}">
                <a16:creationId xmlns:a16="http://schemas.microsoft.com/office/drawing/2014/main" id="{4EB1C5EE-20A8-96B2-9363-DFFC666D2D29}"/>
              </a:ext>
            </a:extLst>
          </p:cNvPr>
          <p:cNvSpPr/>
          <p:nvPr/>
        </p:nvSpPr>
        <p:spPr>
          <a:xfrm>
            <a:off x="6014676" y="586949"/>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7" name="Diamond 2536">
            <a:extLst>
              <a:ext uri="{FF2B5EF4-FFF2-40B4-BE49-F238E27FC236}">
                <a16:creationId xmlns:a16="http://schemas.microsoft.com/office/drawing/2014/main" id="{C03CF83F-E514-A2B1-2965-18BF477BBB11}"/>
              </a:ext>
            </a:extLst>
          </p:cNvPr>
          <p:cNvSpPr/>
          <p:nvPr/>
        </p:nvSpPr>
        <p:spPr>
          <a:xfrm>
            <a:off x="6703757" y="325802"/>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8" name="Isosceles Triangle 2537">
            <a:extLst>
              <a:ext uri="{FF2B5EF4-FFF2-40B4-BE49-F238E27FC236}">
                <a16:creationId xmlns:a16="http://schemas.microsoft.com/office/drawing/2014/main" id="{D451B9A3-4244-0AB5-DE9F-BC596C38B90B}"/>
              </a:ext>
            </a:extLst>
          </p:cNvPr>
          <p:cNvSpPr/>
          <p:nvPr/>
        </p:nvSpPr>
        <p:spPr>
          <a:xfrm>
            <a:off x="7162235" y="476877"/>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777F4017-7FFE-632E-A8FC-2ED6044BA75F}"/>
              </a:ext>
            </a:extLst>
          </p:cNvPr>
          <p:cNvGrpSpPr/>
          <p:nvPr/>
        </p:nvGrpSpPr>
        <p:grpSpPr>
          <a:xfrm>
            <a:off x="11079298" y="538279"/>
            <a:ext cx="806517" cy="547663"/>
            <a:chOff x="626757" y="3130041"/>
            <a:chExt cx="806517" cy="547663"/>
          </a:xfrm>
        </p:grpSpPr>
        <p:sp>
          <p:nvSpPr>
            <p:cNvPr id="3" name="Rectangle: Rounded Corners 2">
              <a:extLst>
                <a:ext uri="{FF2B5EF4-FFF2-40B4-BE49-F238E27FC236}">
                  <a16:creationId xmlns:a16="http://schemas.microsoft.com/office/drawing/2014/main" id="{268003F7-E850-67F4-2EB1-7CE44582C7F1}"/>
                </a:ext>
              </a:extLst>
            </p:cNvPr>
            <p:cNvSpPr/>
            <p:nvPr/>
          </p:nvSpPr>
          <p:spPr>
            <a:xfrm>
              <a:off x="626759" y="3130041"/>
              <a:ext cx="801321" cy="547663"/>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9C99BD8A-0849-1F39-3331-AFF84BF70906}"/>
                </a:ext>
              </a:extLst>
            </p:cNvPr>
            <p:cNvCxnSpPr>
              <a:cxnSpLocks/>
            </p:cNvCxnSpPr>
            <p:nvPr/>
          </p:nvCxnSpPr>
          <p:spPr>
            <a:xfrm>
              <a:off x="626759" y="3262639"/>
              <a:ext cx="801752" cy="0"/>
            </a:xfrm>
            <a:prstGeom prst="line">
              <a:avLst/>
            </a:prstGeom>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C73B5B0F-BBB6-4EB0-3A49-D7F094CF787D}"/>
                </a:ext>
              </a:extLst>
            </p:cNvPr>
            <p:cNvSpPr txBox="1"/>
            <p:nvPr/>
          </p:nvSpPr>
          <p:spPr>
            <a:xfrm>
              <a:off x="664315" y="3151109"/>
              <a:ext cx="736099" cy="92333"/>
            </a:xfrm>
            <a:prstGeom prst="rect">
              <a:avLst/>
            </a:prstGeom>
            <a:noFill/>
          </p:spPr>
          <p:txBody>
            <a:bodyPr wrap="none" lIns="0" tIns="0" rIns="0" bIns="0" rtlCol="0">
              <a:spAutoFit/>
            </a:bodyPr>
            <a:lstStyle>
              <a:defPPr>
                <a:defRPr lang="en-US"/>
              </a:defPPr>
              <a:lvl1pPr algn="ctr">
                <a:defRPr sz="700" b="1"/>
              </a:lvl1pPr>
            </a:lstStyle>
            <a:p>
              <a:r>
                <a:rPr lang="en-US" i="1" dirty="0" err="1"/>
                <a:t>MenuComponent</a:t>
              </a:r>
              <a:endParaRPr lang="en-US" i="1" dirty="0"/>
            </a:p>
          </p:txBody>
        </p:sp>
        <p:sp>
          <p:nvSpPr>
            <p:cNvPr id="6" name="TextBox 5">
              <a:extLst>
                <a:ext uri="{FF2B5EF4-FFF2-40B4-BE49-F238E27FC236}">
                  <a16:creationId xmlns:a16="http://schemas.microsoft.com/office/drawing/2014/main" id="{16CF6D48-B33B-48A9-1B8C-44DEB6BBA323}"/>
                </a:ext>
              </a:extLst>
            </p:cNvPr>
            <p:cNvSpPr txBox="1"/>
            <p:nvPr/>
          </p:nvSpPr>
          <p:spPr>
            <a:xfrm>
              <a:off x="657950" y="3276104"/>
              <a:ext cx="666741"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name: String</a:t>
              </a:r>
            </a:p>
            <a:p>
              <a:r>
                <a:rPr lang="en-US" dirty="0"/>
                <a:t># level: int</a:t>
              </a:r>
            </a:p>
          </p:txBody>
        </p:sp>
        <p:cxnSp>
          <p:nvCxnSpPr>
            <p:cNvPr id="7" name="Straight Connector 6">
              <a:extLst>
                <a:ext uri="{FF2B5EF4-FFF2-40B4-BE49-F238E27FC236}">
                  <a16:creationId xmlns:a16="http://schemas.microsoft.com/office/drawing/2014/main" id="{843D0FB0-DCDA-1CF0-F1A0-2672E8867FAD}"/>
                </a:ext>
              </a:extLst>
            </p:cNvPr>
            <p:cNvCxnSpPr>
              <a:cxnSpLocks/>
            </p:cNvCxnSpPr>
            <p:nvPr/>
          </p:nvCxnSpPr>
          <p:spPr>
            <a:xfrm>
              <a:off x="626757" y="3460284"/>
              <a:ext cx="806517" cy="0"/>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194FF5F4-4CF1-5CDC-5E8B-62350E718B5C}"/>
                </a:ext>
              </a:extLst>
            </p:cNvPr>
            <p:cNvSpPr txBox="1"/>
            <p:nvPr/>
          </p:nvSpPr>
          <p:spPr>
            <a:xfrm>
              <a:off x="653196" y="3471997"/>
              <a:ext cx="752025"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getName</a:t>
              </a:r>
              <a:r>
                <a:rPr lang="en-US" dirty="0"/>
                <a:t>(): String</a:t>
              </a:r>
            </a:p>
            <a:p>
              <a:r>
                <a:rPr lang="en-US" dirty="0"/>
                <a:t>+ print(): void</a:t>
              </a:r>
            </a:p>
          </p:txBody>
        </p:sp>
      </p:grpSp>
      <p:grpSp>
        <p:nvGrpSpPr>
          <p:cNvPr id="11" name="Group 10">
            <a:extLst>
              <a:ext uri="{FF2B5EF4-FFF2-40B4-BE49-F238E27FC236}">
                <a16:creationId xmlns:a16="http://schemas.microsoft.com/office/drawing/2014/main" id="{F7EE3312-D2C5-872E-E62B-0A29342C31C0}"/>
              </a:ext>
            </a:extLst>
          </p:cNvPr>
          <p:cNvGrpSpPr/>
          <p:nvPr/>
        </p:nvGrpSpPr>
        <p:grpSpPr>
          <a:xfrm>
            <a:off x="11285938" y="1174073"/>
            <a:ext cx="839024" cy="708549"/>
            <a:chOff x="626757" y="3130041"/>
            <a:chExt cx="839024" cy="708549"/>
          </a:xfrm>
        </p:grpSpPr>
        <p:sp>
          <p:nvSpPr>
            <p:cNvPr id="12" name="Rectangle: Rounded Corners 11">
              <a:extLst>
                <a:ext uri="{FF2B5EF4-FFF2-40B4-BE49-F238E27FC236}">
                  <a16:creationId xmlns:a16="http://schemas.microsoft.com/office/drawing/2014/main" id="{6E7E5C91-87AF-CFE0-2989-3467466821F2}"/>
                </a:ext>
              </a:extLst>
            </p:cNvPr>
            <p:cNvSpPr/>
            <p:nvPr/>
          </p:nvSpPr>
          <p:spPr>
            <a:xfrm>
              <a:off x="626759" y="3130041"/>
              <a:ext cx="835681" cy="708549"/>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40476BC-7CEE-041A-29C9-5FAA6F535F5C}"/>
                </a:ext>
              </a:extLst>
            </p:cNvPr>
            <p:cNvCxnSpPr>
              <a:cxnSpLocks/>
            </p:cNvCxnSpPr>
            <p:nvPr/>
          </p:nvCxnSpPr>
          <p:spPr>
            <a:xfrm>
              <a:off x="626759" y="3262639"/>
              <a:ext cx="835681" cy="0"/>
            </a:xfrm>
            <a:prstGeom prst="line">
              <a:avLst/>
            </a:prstGeom>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469C6DA9-80BE-6513-C649-C379EFEF3FC2}"/>
                </a:ext>
              </a:extLst>
            </p:cNvPr>
            <p:cNvSpPr txBox="1"/>
            <p:nvPr/>
          </p:nvSpPr>
          <p:spPr>
            <a:xfrm>
              <a:off x="844636" y="3149824"/>
              <a:ext cx="369012" cy="92333"/>
            </a:xfrm>
            <a:prstGeom prst="rect">
              <a:avLst/>
            </a:prstGeom>
            <a:noFill/>
          </p:spPr>
          <p:txBody>
            <a:bodyPr wrap="none" lIns="0" tIns="0" rIns="0" bIns="0" rtlCol="0">
              <a:spAutoFit/>
            </a:bodyPr>
            <a:lstStyle>
              <a:defPPr>
                <a:defRPr lang="en-US"/>
              </a:defPPr>
              <a:lvl1pPr algn="ctr">
                <a:defRPr sz="700" b="1"/>
              </a:lvl1pPr>
            </a:lstStyle>
            <a:p>
              <a:r>
                <a:rPr lang="en-US" dirty="0"/>
                <a:t>Menu</a:t>
              </a:r>
            </a:p>
          </p:txBody>
        </p:sp>
        <p:sp>
          <p:nvSpPr>
            <p:cNvPr id="15" name="TextBox 14">
              <a:extLst>
                <a:ext uri="{FF2B5EF4-FFF2-40B4-BE49-F238E27FC236}">
                  <a16:creationId xmlns:a16="http://schemas.microsoft.com/office/drawing/2014/main" id="{E6EC64F0-E310-CC52-299D-F4D5370A51ED}"/>
                </a:ext>
              </a:extLst>
            </p:cNvPr>
            <p:cNvSpPr txBox="1"/>
            <p:nvPr/>
          </p:nvSpPr>
          <p:spPr>
            <a:xfrm>
              <a:off x="660247" y="3262594"/>
              <a:ext cx="764953"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menuList</a:t>
              </a:r>
              <a:r>
                <a:rPr lang="en-US" altLang="zh-CN" dirty="0"/>
                <a:t>: List&lt;&gt; </a:t>
              </a:r>
            </a:p>
          </p:txBody>
        </p:sp>
        <p:cxnSp>
          <p:nvCxnSpPr>
            <p:cNvPr id="16" name="Straight Connector 15">
              <a:extLst>
                <a:ext uri="{FF2B5EF4-FFF2-40B4-BE49-F238E27FC236}">
                  <a16:creationId xmlns:a16="http://schemas.microsoft.com/office/drawing/2014/main" id="{BD96DC05-D716-EBD5-218D-282D068F7520}"/>
                </a:ext>
              </a:extLst>
            </p:cNvPr>
            <p:cNvCxnSpPr>
              <a:cxnSpLocks/>
            </p:cNvCxnSpPr>
            <p:nvPr/>
          </p:nvCxnSpPr>
          <p:spPr>
            <a:xfrm>
              <a:off x="626757" y="3357891"/>
              <a:ext cx="839024" cy="0"/>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587264F6-5223-AC07-DDFF-0D8E5DA19B1C}"/>
                </a:ext>
              </a:extLst>
            </p:cNvPr>
            <p:cNvSpPr txBox="1"/>
            <p:nvPr/>
          </p:nvSpPr>
          <p:spPr>
            <a:xfrm>
              <a:off x="656596" y="3367218"/>
              <a:ext cx="778228" cy="461665"/>
            </a:xfrm>
            <a:prstGeom prst="rect">
              <a:avLst/>
            </a:prstGeom>
            <a:noFill/>
          </p:spPr>
          <p:txBody>
            <a:bodyPr wrap="square" lIns="0" tIns="0" rIns="0" bIns="0" rtlCol="0">
              <a:spAutoFit/>
            </a:bodyPr>
            <a:lstStyle>
              <a:defPPr>
                <a:defRPr lang="en-US"/>
              </a:defPPr>
              <a:lvl1pPr>
                <a:defRPr sz="600"/>
              </a:lvl1pPr>
            </a:lstStyle>
            <a:p>
              <a:r>
                <a:rPr lang="en-US" dirty="0"/>
                <a:t>+ Menu(</a:t>
              </a:r>
              <a:r>
                <a:rPr lang="en-US" dirty="0" err="1"/>
                <a:t>name,level</a:t>
              </a:r>
              <a:r>
                <a:rPr lang="en-US" dirty="0"/>
                <a:t>)</a:t>
              </a:r>
            </a:p>
            <a:p>
              <a:r>
                <a:rPr lang="en-US" dirty="0"/>
                <a:t>+ add()</a:t>
              </a:r>
            </a:p>
            <a:p>
              <a:r>
                <a:rPr lang="en-US" dirty="0"/>
                <a:t>+ remove()</a:t>
              </a:r>
            </a:p>
            <a:p>
              <a:r>
                <a:rPr lang="en-US" dirty="0"/>
                <a:t>+ </a:t>
              </a:r>
              <a:r>
                <a:rPr lang="en-US" dirty="0" err="1"/>
                <a:t>getChild</a:t>
              </a:r>
              <a:r>
                <a:rPr lang="en-US" dirty="0"/>
                <a:t>()</a:t>
              </a:r>
            </a:p>
            <a:p>
              <a:r>
                <a:rPr lang="en-US" dirty="0"/>
                <a:t>+ print(): void</a:t>
              </a:r>
            </a:p>
          </p:txBody>
        </p:sp>
      </p:grpSp>
      <p:grpSp>
        <p:nvGrpSpPr>
          <p:cNvPr id="18" name="Group 17">
            <a:extLst>
              <a:ext uri="{FF2B5EF4-FFF2-40B4-BE49-F238E27FC236}">
                <a16:creationId xmlns:a16="http://schemas.microsoft.com/office/drawing/2014/main" id="{A7B9AE28-0CBD-A3C8-C23F-935CEC1D69A7}"/>
              </a:ext>
            </a:extLst>
          </p:cNvPr>
          <p:cNvGrpSpPr/>
          <p:nvPr/>
        </p:nvGrpSpPr>
        <p:grpSpPr>
          <a:xfrm>
            <a:off x="11285938" y="1947981"/>
            <a:ext cx="848549" cy="415655"/>
            <a:chOff x="626757" y="3130041"/>
            <a:chExt cx="848549" cy="415655"/>
          </a:xfrm>
        </p:grpSpPr>
        <p:sp>
          <p:nvSpPr>
            <p:cNvPr id="24" name="TextBox 23">
              <a:extLst>
                <a:ext uri="{FF2B5EF4-FFF2-40B4-BE49-F238E27FC236}">
                  <a16:creationId xmlns:a16="http://schemas.microsoft.com/office/drawing/2014/main" id="{2D694C49-2349-CD61-5330-28AA159D2BF9}"/>
                </a:ext>
              </a:extLst>
            </p:cNvPr>
            <p:cNvSpPr txBox="1"/>
            <p:nvPr/>
          </p:nvSpPr>
          <p:spPr>
            <a:xfrm>
              <a:off x="651687" y="3356835"/>
              <a:ext cx="796468"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MenuItem</a:t>
              </a:r>
              <a:r>
                <a:rPr lang="en-US" dirty="0"/>
                <a:t>(</a:t>
              </a:r>
              <a:r>
                <a:rPr lang="en-US" dirty="0" err="1"/>
                <a:t>name,level</a:t>
              </a:r>
              <a:r>
                <a:rPr lang="en-US" dirty="0"/>
                <a:t>)</a:t>
              </a:r>
            </a:p>
            <a:p>
              <a:r>
                <a:rPr lang="en-US" dirty="0"/>
                <a:t>+ print(): void</a:t>
              </a:r>
            </a:p>
          </p:txBody>
        </p:sp>
        <p:sp>
          <p:nvSpPr>
            <p:cNvPr id="19" name="Rectangle: Rounded Corners 18">
              <a:extLst>
                <a:ext uri="{FF2B5EF4-FFF2-40B4-BE49-F238E27FC236}">
                  <a16:creationId xmlns:a16="http://schemas.microsoft.com/office/drawing/2014/main" id="{36BB7C4E-4664-6869-694B-FAFAB17CC596}"/>
                </a:ext>
              </a:extLst>
            </p:cNvPr>
            <p:cNvSpPr/>
            <p:nvPr/>
          </p:nvSpPr>
          <p:spPr>
            <a:xfrm>
              <a:off x="626759" y="3130041"/>
              <a:ext cx="846634" cy="415655"/>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0269BDB4-5E27-F33E-EB8E-2E91D462401B}"/>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0A3877F2-85CA-7520-85FD-C676BF04DC29}"/>
                </a:ext>
              </a:extLst>
            </p:cNvPr>
            <p:cNvSpPr txBox="1"/>
            <p:nvPr/>
          </p:nvSpPr>
          <p:spPr>
            <a:xfrm>
              <a:off x="787696" y="3149825"/>
              <a:ext cx="513282" cy="92333"/>
            </a:xfrm>
            <a:prstGeom prst="rect">
              <a:avLst/>
            </a:prstGeom>
            <a:noFill/>
          </p:spPr>
          <p:txBody>
            <a:bodyPr wrap="none" lIns="0" tIns="0" rIns="0" bIns="0" rtlCol="0">
              <a:spAutoFit/>
            </a:bodyPr>
            <a:lstStyle>
              <a:defPPr>
                <a:defRPr lang="en-US"/>
              </a:defPPr>
              <a:lvl1pPr algn="ctr">
                <a:defRPr sz="700" b="1"/>
              </a:lvl1pPr>
            </a:lstStyle>
            <a:p>
              <a:r>
                <a:rPr lang="en-US" dirty="0" err="1"/>
                <a:t>MenuItem</a:t>
              </a:r>
              <a:endParaRPr lang="en-US" dirty="0"/>
            </a:p>
          </p:txBody>
        </p:sp>
        <p:cxnSp>
          <p:nvCxnSpPr>
            <p:cNvPr id="23" name="Straight Connector 22">
              <a:extLst>
                <a:ext uri="{FF2B5EF4-FFF2-40B4-BE49-F238E27FC236}">
                  <a16:creationId xmlns:a16="http://schemas.microsoft.com/office/drawing/2014/main" id="{E9BA4780-5DCA-FBEB-39F5-C9E0CB430FC5}"/>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cxnSp>
        <p:nvCxnSpPr>
          <p:cNvPr id="31" name="Connector: Elbow 30">
            <a:extLst>
              <a:ext uri="{FF2B5EF4-FFF2-40B4-BE49-F238E27FC236}">
                <a16:creationId xmlns:a16="http://schemas.microsoft.com/office/drawing/2014/main" id="{2A57B118-6069-40CC-8CA0-A898CFC5258C}"/>
              </a:ext>
            </a:extLst>
          </p:cNvPr>
          <p:cNvCxnSpPr>
            <a:cxnSpLocks/>
            <a:stCxn id="12" idx="1"/>
          </p:cNvCxnSpPr>
          <p:nvPr/>
        </p:nvCxnSpPr>
        <p:spPr>
          <a:xfrm rot="10800000">
            <a:off x="11139548" y="1084904"/>
            <a:ext cx="146393" cy="443445"/>
          </a:xfrm>
          <a:prstGeom prst="bentConnector2">
            <a:avLst/>
          </a:prstGeom>
        </p:spPr>
        <p:style>
          <a:lnRef idx="1">
            <a:schemeClr val="dk1"/>
          </a:lnRef>
          <a:fillRef idx="0">
            <a:schemeClr val="dk1"/>
          </a:fillRef>
          <a:effectRef idx="0">
            <a:schemeClr val="dk1"/>
          </a:effectRef>
          <a:fontRef idx="minor">
            <a:schemeClr val="tx1"/>
          </a:fontRef>
        </p:style>
      </p:cxnSp>
      <p:cxnSp>
        <p:nvCxnSpPr>
          <p:cNvPr id="44" name="Connector: Elbow 43">
            <a:extLst>
              <a:ext uri="{FF2B5EF4-FFF2-40B4-BE49-F238E27FC236}">
                <a16:creationId xmlns:a16="http://schemas.microsoft.com/office/drawing/2014/main" id="{2244F499-DC43-FB79-86A5-93B20E45EDB8}"/>
              </a:ext>
            </a:extLst>
          </p:cNvPr>
          <p:cNvCxnSpPr>
            <a:cxnSpLocks/>
            <a:stCxn id="19" idx="1"/>
          </p:cNvCxnSpPr>
          <p:nvPr/>
        </p:nvCxnSpPr>
        <p:spPr>
          <a:xfrm rot="10800000">
            <a:off x="11139548" y="1528349"/>
            <a:ext cx="146393" cy="627460"/>
          </a:xfrm>
          <a:prstGeom prst="bentConnector2">
            <a:avLst/>
          </a:prstGeom>
        </p:spPr>
        <p:style>
          <a:lnRef idx="1">
            <a:schemeClr val="dk1"/>
          </a:lnRef>
          <a:fillRef idx="0">
            <a:schemeClr val="dk1"/>
          </a:fillRef>
          <a:effectRef idx="0">
            <a:schemeClr val="dk1"/>
          </a:effectRef>
          <a:fontRef idx="minor">
            <a:schemeClr val="tx1"/>
          </a:fontRef>
        </p:style>
      </p:cxnSp>
      <p:sp>
        <p:nvSpPr>
          <p:cNvPr id="51" name="Isosceles Triangle 50">
            <a:extLst>
              <a:ext uri="{FF2B5EF4-FFF2-40B4-BE49-F238E27FC236}">
                <a16:creationId xmlns:a16="http://schemas.microsoft.com/office/drawing/2014/main" id="{30940FA2-F9FB-6CD2-53C5-BCEB3FDE86A5}"/>
              </a:ext>
            </a:extLst>
          </p:cNvPr>
          <p:cNvSpPr/>
          <p:nvPr/>
        </p:nvSpPr>
        <p:spPr>
          <a:xfrm>
            <a:off x="11116856" y="1091102"/>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Diamond 58">
            <a:extLst>
              <a:ext uri="{FF2B5EF4-FFF2-40B4-BE49-F238E27FC236}">
                <a16:creationId xmlns:a16="http://schemas.microsoft.com/office/drawing/2014/main" id="{64EBDAE6-C264-ECF7-B50A-8947141F57A2}"/>
              </a:ext>
            </a:extLst>
          </p:cNvPr>
          <p:cNvSpPr/>
          <p:nvPr/>
        </p:nvSpPr>
        <p:spPr>
          <a:xfrm rot="16200000">
            <a:off x="12005875" y="1091101"/>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66" name="Group 2265">
            <a:extLst>
              <a:ext uri="{FF2B5EF4-FFF2-40B4-BE49-F238E27FC236}">
                <a16:creationId xmlns:a16="http://schemas.microsoft.com/office/drawing/2014/main" id="{17414120-5FB7-1637-BF16-A4A2FAC8962A}"/>
              </a:ext>
            </a:extLst>
          </p:cNvPr>
          <p:cNvGrpSpPr/>
          <p:nvPr/>
        </p:nvGrpSpPr>
        <p:grpSpPr>
          <a:xfrm>
            <a:off x="2835804" y="649673"/>
            <a:ext cx="848549" cy="327891"/>
            <a:chOff x="626757" y="3130041"/>
            <a:chExt cx="848549" cy="327891"/>
          </a:xfrm>
        </p:grpSpPr>
        <p:sp>
          <p:nvSpPr>
            <p:cNvPr id="2267" name="TextBox 2266">
              <a:extLst>
                <a:ext uri="{FF2B5EF4-FFF2-40B4-BE49-F238E27FC236}">
                  <a16:creationId xmlns:a16="http://schemas.microsoft.com/office/drawing/2014/main" id="{D7391CCC-6DF3-2962-41D7-9D5FE904F8B8}"/>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readSD</a:t>
              </a:r>
              <a:r>
                <a:rPr lang="en-US" dirty="0"/>
                <a:t>(</a:t>
              </a:r>
              <a:r>
                <a:rPr lang="en-US" dirty="0" err="1"/>
                <a:t>sdCard</a:t>
              </a:r>
              <a:r>
                <a:rPr lang="en-US" dirty="0"/>
                <a:t>): String</a:t>
              </a:r>
            </a:p>
          </p:txBody>
        </p:sp>
        <p:sp>
          <p:nvSpPr>
            <p:cNvPr id="2268" name="Rectangle: Rounded Corners 2267">
              <a:extLst>
                <a:ext uri="{FF2B5EF4-FFF2-40B4-BE49-F238E27FC236}">
                  <a16:creationId xmlns:a16="http://schemas.microsoft.com/office/drawing/2014/main" id="{CB0E0E43-33DF-F74F-C8CF-85DE4627AA06}"/>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69" name="Straight Connector 2268">
              <a:extLst>
                <a:ext uri="{FF2B5EF4-FFF2-40B4-BE49-F238E27FC236}">
                  <a16:creationId xmlns:a16="http://schemas.microsoft.com/office/drawing/2014/main" id="{F8056326-07E2-2708-291F-F5DC2C5CB69A}"/>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272" name="TextBox 2271">
              <a:extLst>
                <a:ext uri="{FF2B5EF4-FFF2-40B4-BE49-F238E27FC236}">
                  <a16:creationId xmlns:a16="http://schemas.microsoft.com/office/drawing/2014/main" id="{137133F7-2395-3130-CD98-9E9502C2135E}"/>
                </a:ext>
              </a:extLst>
            </p:cNvPr>
            <p:cNvSpPr txBox="1"/>
            <p:nvPr/>
          </p:nvSpPr>
          <p:spPr>
            <a:xfrm>
              <a:off x="775867" y="3150046"/>
              <a:ext cx="557040" cy="92333"/>
            </a:xfrm>
            <a:prstGeom prst="rect">
              <a:avLst/>
            </a:prstGeom>
            <a:noFill/>
          </p:spPr>
          <p:txBody>
            <a:bodyPr wrap="none" lIns="0" tIns="0" rIns="0" bIns="0" rtlCol="0">
              <a:spAutoFit/>
            </a:bodyPr>
            <a:lstStyle>
              <a:defPPr>
                <a:defRPr lang="en-US"/>
              </a:defPPr>
              <a:lvl1pPr algn="ctr">
                <a:defRPr sz="700" b="1"/>
              </a:lvl1pPr>
            </a:lstStyle>
            <a:p>
              <a:r>
                <a:rPr lang="en-US" dirty="0"/>
                <a:t>C</a:t>
              </a:r>
              <a:r>
                <a:rPr lang="en-US" altLang="zh-CN" dirty="0"/>
                <a:t>omputer</a:t>
              </a:r>
              <a:endParaRPr lang="en-US" dirty="0"/>
            </a:p>
          </p:txBody>
        </p:sp>
        <p:cxnSp>
          <p:nvCxnSpPr>
            <p:cNvPr id="2274" name="Straight Connector 2273">
              <a:extLst>
                <a:ext uri="{FF2B5EF4-FFF2-40B4-BE49-F238E27FC236}">
                  <a16:creationId xmlns:a16="http://schemas.microsoft.com/office/drawing/2014/main" id="{DE38F891-8E93-5812-49B5-A52E3BE58F8E}"/>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grpSp>
        <p:nvGrpSpPr>
          <p:cNvPr id="2276" name="Group 2275">
            <a:extLst>
              <a:ext uri="{FF2B5EF4-FFF2-40B4-BE49-F238E27FC236}">
                <a16:creationId xmlns:a16="http://schemas.microsoft.com/office/drawing/2014/main" id="{FA7E04C4-361A-58B3-8F62-3C52AD676C72}"/>
              </a:ext>
            </a:extLst>
          </p:cNvPr>
          <p:cNvGrpSpPr/>
          <p:nvPr/>
        </p:nvGrpSpPr>
        <p:grpSpPr>
          <a:xfrm>
            <a:off x="2836069" y="1134266"/>
            <a:ext cx="848547" cy="327891"/>
            <a:chOff x="626759" y="3130041"/>
            <a:chExt cx="848547" cy="327891"/>
          </a:xfrm>
        </p:grpSpPr>
        <p:sp>
          <p:nvSpPr>
            <p:cNvPr id="2277" name="TextBox 2276">
              <a:extLst>
                <a:ext uri="{FF2B5EF4-FFF2-40B4-BE49-F238E27FC236}">
                  <a16:creationId xmlns:a16="http://schemas.microsoft.com/office/drawing/2014/main" id="{8719CFF1-1554-534C-F2AA-996E87D12FAB}"/>
                </a:ext>
              </a:extLst>
            </p:cNvPr>
            <p:cNvSpPr txBox="1"/>
            <p:nvPr/>
          </p:nvSpPr>
          <p:spPr>
            <a:xfrm>
              <a:off x="658026" y="3264571"/>
              <a:ext cx="623025"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readSD</a:t>
              </a:r>
              <a:r>
                <a:rPr lang="en-US" dirty="0"/>
                <a:t>(): String</a:t>
              </a:r>
            </a:p>
            <a:p>
              <a:r>
                <a:rPr lang="en-US" dirty="0"/>
                <a:t>+ </a:t>
              </a:r>
              <a:r>
                <a:rPr lang="en-US" dirty="0" err="1"/>
                <a:t>writeSD</a:t>
              </a:r>
              <a:r>
                <a:rPr lang="en-US" dirty="0"/>
                <a:t>(): void</a:t>
              </a:r>
            </a:p>
          </p:txBody>
        </p:sp>
        <p:sp>
          <p:nvSpPr>
            <p:cNvPr id="2278" name="Rectangle: Rounded Corners 2277">
              <a:extLst>
                <a:ext uri="{FF2B5EF4-FFF2-40B4-BE49-F238E27FC236}">
                  <a16:creationId xmlns:a16="http://schemas.microsoft.com/office/drawing/2014/main" id="{3180A6D1-A25D-A81D-CB49-FDD00FDE38F8}"/>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80" name="Straight Connector 2279">
              <a:extLst>
                <a:ext uri="{FF2B5EF4-FFF2-40B4-BE49-F238E27FC236}">
                  <a16:creationId xmlns:a16="http://schemas.microsoft.com/office/drawing/2014/main" id="{98C4629B-4C7A-8A60-08E4-979C49409A5A}"/>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281" name="TextBox 2280">
              <a:extLst>
                <a:ext uri="{FF2B5EF4-FFF2-40B4-BE49-F238E27FC236}">
                  <a16:creationId xmlns:a16="http://schemas.microsoft.com/office/drawing/2014/main" id="{75749FA0-CE1E-E18C-2E75-C5D2405B5EE2}"/>
                </a:ext>
              </a:extLst>
            </p:cNvPr>
            <p:cNvSpPr txBox="1"/>
            <p:nvPr/>
          </p:nvSpPr>
          <p:spPr>
            <a:xfrm>
              <a:off x="681475" y="3152205"/>
              <a:ext cx="755152" cy="92333"/>
            </a:xfrm>
            <a:prstGeom prst="rect">
              <a:avLst/>
            </a:prstGeom>
            <a:noFill/>
          </p:spPr>
          <p:txBody>
            <a:bodyPr wrap="none" lIns="0" tIns="0" rIns="0" bIns="0" rtlCol="0">
              <a:spAutoFit/>
            </a:bodyPr>
            <a:lstStyle>
              <a:defPPr>
                <a:defRPr lang="en-US"/>
              </a:defPPr>
              <a:lvl1pPr algn="ctr">
                <a:defRPr sz="700" b="1"/>
              </a:lvl1pPr>
            </a:lstStyle>
            <a:p>
              <a:r>
                <a:rPr lang="en-US" dirty="0"/>
                <a:t>&lt;interface&gt;</a:t>
              </a:r>
              <a:r>
                <a:rPr lang="en-US" dirty="0" err="1"/>
                <a:t>SDCard</a:t>
              </a:r>
              <a:endParaRPr lang="en-US" dirty="0"/>
            </a:p>
          </p:txBody>
        </p:sp>
      </p:grpSp>
      <p:grpSp>
        <p:nvGrpSpPr>
          <p:cNvPr id="2285" name="Group 2284">
            <a:extLst>
              <a:ext uri="{FF2B5EF4-FFF2-40B4-BE49-F238E27FC236}">
                <a16:creationId xmlns:a16="http://schemas.microsoft.com/office/drawing/2014/main" id="{13E2C491-797A-8125-B815-3D9FF47923C7}"/>
              </a:ext>
            </a:extLst>
          </p:cNvPr>
          <p:cNvGrpSpPr/>
          <p:nvPr/>
        </p:nvGrpSpPr>
        <p:grpSpPr>
          <a:xfrm>
            <a:off x="3907629" y="1087389"/>
            <a:ext cx="848549" cy="420574"/>
            <a:chOff x="626757" y="3130041"/>
            <a:chExt cx="848549" cy="420574"/>
          </a:xfrm>
        </p:grpSpPr>
        <p:sp>
          <p:nvSpPr>
            <p:cNvPr id="2286" name="TextBox 2285">
              <a:extLst>
                <a:ext uri="{FF2B5EF4-FFF2-40B4-BE49-F238E27FC236}">
                  <a16:creationId xmlns:a16="http://schemas.microsoft.com/office/drawing/2014/main" id="{786D0F19-40F6-8142-22B7-D25C1EDAE5BE}"/>
                </a:ext>
              </a:extLst>
            </p:cNvPr>
            <p:cNvSpPr txBox="1"/>
            <p:nvPr/>
          </p:nvSpPr>
          <p:spPr>
            <a:xfrm>
              <a:off x="650087" y="3358232"/>
              <a:ext cx="794477"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readSD</a:t>
              </a:r>
              <a:r>
                <a:rPr lang="en-US" dirty="0"/>
                <a:t>(): String</a:t>
              </a:r>
            </a:p>
            <a:p>
              <a:r>
                <a:rPr lang="en-US" dirty="0"/>
                <a:t>+ </a:t>
              </a:r>
              <a:r>
                <a:rPr lang="en-US" dirty="0" err="1"/>
                <a:t>writeSD</a:t>
              </a:r>
              <a:r>
                <a:rPr lang="en-US" dirty="0"/>
                <a:t>(): void</a:t>
              </a:r>
            </a:p>
          </p:txBody>
        </p:sp>
        <p:sp>
          <p:nvSpPr>
            <p:cNvPr id="2287" name="Rectangle: Rounded Corners 2286">
              <a:extLst>
                <a:ext uri="{FF2B5EF4-FFF2-40B4-BE49-F238E27FC236}">
                  <a16:creationId xmlns:a16="http://schemas.microsoft.com/office/drawing/2014/main" id="{C036B153-4CCB-A002-0A14-FBAABC805EDD}"/>
                </a:ext>
              </a:extLst>
            </p:cNvPr>
            <p:cNvSpPr/>
            <p:nvPr/>
          </p:nvSpPr>
          <p:spPr>
            <a:xfrm>
              <a:off x="626759" y="3130041"/>
              <a:ext cx="846634" cy="420574"/>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88" name="Straight Connector 2287">
              <a:extLst>
                <a:ext uri="{FF2B5EF4-FFF2-40B4-BE49-F238E27FC236}">
                  <a16:creationId xmlns:a16="http://schemas.microsoft.com/office/drawing/2014/main" id="{34AF0722-61C7-BAE5-5E72-F4A1B4AB9426}"/>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289" name="TextBox 2288">
              <a:extLst>
                <a:ext uri="{FF2B5EF4-FFF2-40B4-BE49-F238E27FC236}">
                  <a16:creationId xmlns:a16="http://schemas.microsoft.com/office/drawing/2014/main" id="{61FC736B-F252-9D44-E812-8BA36E6C50F3}"/>
                </a:ext>
              </a:extLst>
            </p:cNvPr>
            <p:cNvSpPr txBox="1"/>
            <p:nvPr/>
          </p:nvSpPr>
          <p:spPr>
            <a:xfrm>
              <a:off x="731232" y="3152205"/>
              <a:ext cx="630781" cy="92333"/>
            </a:xfrm>
            <a:prstGeom prst="rect">
              <a:avLst/>
            </a:prstGeom>
            <a:noFill/>
          </p:spPr>
          <p:txBody>
            <a:bodyPr wrap="none" lIns="0" tIns="0" rIns="0" bIns="0" rtlCol="0">
              <a:spAutoFit/>
            </a:bodyPr>
            <a:lstStyle>
              <a:defPPr>
                <a:defRPr lang="en-US"/>
              </a:defPPr>
              <a:lvl1pPr algn="ctr">
                <a:defRPr sz="700" b="1"/>
              </a:lvl1pPr>
            </a:lstStyle>
            <a:p>
              <a:r>
                <a:rPr lang="en-US" dirty="0" err="1"/>
                <a:t>SDCardImp</a:t>
              </a:r>
              <a:r>
                <a:rPr lang="en-US" altLang="zh-CN" dirty="0" err="1"/>
                <a:t>l</a:t>
              </a:r>
              <a:endParaRPr lang="en-US" dirty="0"/>
            </a:p>
          </p:txBody>
        </p:sp>
        <p:cxnSp>
          <p:nvCxnSpPr>
            <p:cNvPr id="2290" name="Straight Connector 2289">
              <a:extLst>
                <a:ext uri="{FF2B5EF4-FFF2-40B4-BE49-F238E27FC236}">
                  <a16:creationId xmlns:a16="http://schemas.microsoft.com/office/drawing/2014/main" id="{DF39C93C-623B-3E7C-B8D6-BCEDA0AF873B}"/>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grpSp>
        <p:nvGrpSpPr>
          <p:cNvPr id="2291" name="Group 2290">
            <a:extLst>
              <a:ext uri="{FF2B5EF4-FFF2-40B4-BE49-F238E27FC236}">
                <a16:creationId xmlns:a16="http://schemas.microsoft.com/office/drawing/2014/main" id="{FCCEDE6D-00F7-C3D3-9F08-25FB7EFC9D30}"/>
              </a:ext>
            </a:extLst>
          </p:cNvPr>
          <p:cNvGrpSpPr/>
          <p:nvPr/>
        </p:nvGrpSpPr>
        <p:grpSpPr>
          <a:xfrm>
            <a:off x="3899453" y="1714024"/>
            <a:ext cx="848547" cy="327891"/>
            <a:chOff x="626759" y="3130041"/>
            <a:chExt cx="848547" cy="327891"/>
          </a:xfrm>
        </p:grpSpPr>
        <p:sp>
          <p:nvSpPr>
            <p:cNvPr id="2292" name="TextBox 2291">
              <a:extLst>
                <a:ext uri="{FF2B5EF4-FFF2-40B4-BE49-F238E27FC236}">
                  <a16:creationId xmlns:a16="http://schemas.microsoft.com/office/drawing/2014/main" id="{977181FB-811D-A5FC-112C-5FC80527026C}"/>
                </a:ext>
              </a:extLst>
            </p:cNvPr>
            <p:cNvSpPr txBox="1"/>
            <p:nvPr/>
          </p:nvSpPr>
          <p:spPr>
            <a:xfrm>
              <a:off x="657404" y="3270128"/>
              <a:ext cx="785813" cy="184666"/>
            </a:xfrm>
            <a:prstGeom prst="rect">
              <a:avLst/>
            </a:prstGeom>
            <a:noFill/>
          </p:spPr>
          <p:txBody>
            <a:bodyPr wrap="square" lIns="0" tIns="0" rIns="0" bIns="0" rtlCol="0">
              <a:spAutoFit/>
            </a:bodyPr>
            <a:lstStyle/>
            <a:p>
              <a:r>
                <a:rPr lang="en-US" sz="600" dirty="0"/>
                <a:t>+ </a:t>
              </a:r>
              <a:r>
                <a:rPr lang="en-US" sz="600" dirty="0" err="1"/>
                <a:t>readTF</a:t>
              </a:r>
              <a:r>
                <a:rPr lang="en-US" sz="600" dirty="0"/>
                <a:t>(): String</a:t>
              </a:r>
            </a:p>
            <a:p>
              <a:r>
                <a:rPr lang="en-US" sz="600" dirty="0"/>
                <a:t>+ </a:t>
              </a:r>
              <a:r>
                <a:rPr lang="en-US" sz="600" dirty="0" err="1"/>
                <a:t>writeTF</a:t>
              </a:r>
              <a:r>
                <a:rPr lang="en-US" sz="600" dirty="0"/>
                <a:t>(): void</a:t>
              </a:r>
            </a:p>
          </p:txBody>
        </p:sp>
        <p:sp>
          <p:nvSpPr>
            <p:cNvPr id="2293" name="Rectangle: Rounded Corners 2292">
              <a:extLst>
                <a:ext uri="{FF2B5EF4-FFF2-40B4-BE49-F238E27FC236}">
                  <a16:creationId xmlns:a16="http://schemas.microsoft.com/office/drawing/2014/main" id="{92BF1137-F5FB-3C6E-DF2D-4FE25DF0D01D}"/>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94" name="Straight Connector 2293">
              <a:extLst>
                <a:ext uri="{FF2B5EF4-FFF2-40B4-BE49-F238E27FC236}">
                  <a16:creationId xmlns:a16="http://schemas.microsoft.com/office/drawing/2014/main" id="{A8C471EE-A6C7-6A75-D32C-C8F62904D29D}"/>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295" name="TextBox 2294">
              <a:extLst>
                <a:ext uri="{FF2B5EF4-FFF2-40B4-BE49-F238E27FC236}">
                  <a16:creationId xmlns:a16="http://schemas.microsoft.com/office/drawing/2014/main" id="{4F537F4D-4094-4CB3-E25E-E778A3381D4B}"/>
                </a:ext>
              </a:extLst>
            </p:cNvPr>
            <p:cNvSpPr txBox="1"/>
            <p:nvPr/>
          </p:nvSpPr>
          <p:spPr>
            <a:xfrm>
              <a:off x="640736" y="3145064"/>
              <a:ext cx="819149" cy="107722"/>
            </a:xfrm>
            <a:prstGeom prst="rect">
              <a:avLst/>
            </a:prstGeom>
            <a:noFill/>
          </p:spPr>
          <p:txBody>
            <a:bodyPr wrap="none" lIns="0" tIns="0" rIns="0" bIns="0" rtlCol="0">
              <a:spAutoFit/>
            </a:bodyPr>
            <a:lstStyle>
              <a:defPPr>
                <a:defRPr lang="en-US"/>
              </a:defPPr>
              <a:lvl1pPr algn="ctr">
                <a:defRPr sz="700" b="1"/>
              </a:lvl1pPr>
            </a:lstStyle>
            <a:p>
              <a:r>
                <a:rPr lang="en-US" dirty="0"/>
                <a:t>&lt;interface&gt;</a:t>
              </a:r>
              <a:r>
                <a:rPr lang="en-US" dirty="0" err="1"/>
                <a:t>TFCard</a:t>
              </a:r>
              <a:endParaRPr lang="en-US" dirty="0"/>
            </a:p>
          </p:txBody>
        </p:sp>
      </p:grpSp>
      <p:grpSp>
        <p:nvGrpSpPr>
          <p:cNvPr id="2296" name="Group 2295">
            <a:extLst>
              <a:ext uri="{FF2B5EF4-FFF2-40B4-BE49-F238E27FC236}">
                <a16:creationId xmlns:a16="http://schemas.microsoft.com/office/drawing/2014/main" id="{F32AEACA-5A30-F598-3D14-A1657C82569F}"/>
              </a:ext>
            </a:extLst>
          </p:cNvPr>
          <p:cNvGrpSpPr/>
          <p:nvPr/>
        </p:nvGrpSpPr>
        <p:grpSpPr>
          <a:xfrm>
            <a:off x="2836067" y="1667435"/>
            <a:ext cx="848549" cy="420574"/>
            <a:chOff x="626757" y="3130041"/>
            <a:chExt cx="848549" cy="420574"/>
          </a:xfrm>
        </p:grpSpPr>
        <p:sp>
          <p:nvSpPr>
            <p:cNvPr id="2297" name="TextBox 2296">
              <a:extLst>
                <a:ext uri="{FF2B5EF4-FFF2-40B4-BE49-F238E27FC236}">
                  <a16:creationId xmlns:a16="http://schemas.microsoft.com/office/drawing/2014/main" id="{8B47B2D1-846F-82AC-C388-D242702A4E8C}"/>
                </a:ext>
              </a:extLst>
            </p:cNvPr>
            <p:cNvSpPr txBox="1"/>
            <p:nvPr/>
          </p:nvSpPr>
          <p:spPr>
            <a:xfrm>
              <a:off x="654850" y="3361407"/>
              <a:ext cx="724878"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readTF</a:t>
              </a:r>
              <a:r>
                <a:rPr lang="en-US" dirty="0"/>
                <a:t>(): String</a:t>
              </a:r>
            </a:p>
            <a:p>
              <a:r>
                <a:rPr lang="en-US" dirty="0"/>
                <a:t>+ </a:t>
              </a:r>
              <a:r>
                <a:rPr lang="en-US" dirty="0" err="1"/>
                <a:t>writeTF</a:t>
              </a:r>
              <a:r>
                <a:rPr lang="en-US" dirty="0"/>
                <a:t>(): void</a:t>
              </a:r>
            </a:p>
          </p:txBody>
        </p:sp>
        <p:sp>
          <p:nvSpPr>
            <p:cNvPr id="2298" name="Rectangle: Rounded Corners 2297">
              <a:extLst>
                <a:ext uri="{FF2B5EF4-FFF2-40B4-BE49-F238E27FC236}">
                  <a16:creationId xmlns:a16="http://schemas.microsoft.com/office/drawing/2014/main" id="{EB3A15CA-DB26-F8EF-CEBE-55BE2A5F1AA2}"/>
                </a:ext>
              </a:extLst>
            </p:cNvPr>
            <p:cNvSpPr/>
            <p:nvPr/>
          </p:nvSpPr>
          <p:spPr>
            <a:xfrm>
              <a:off x="626759" y="3130041"/>
              <a:ext cx="846634" cy="420574"/>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00" name="Straight Connector 2299">
              <a:extLst>
                <a:ext uri="{FF2B5EF4-FFF2-40B4-BE49-F238E27FC236}">
                  <a16:creationId xmlns:a16="http://schemas.microsoft.com/office/drawing/2014/main" id="{ABC921CE-93C7-B154-A31E-81AA36769C14}"/>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301" name="TextBox 2300">
              <a:extLst>
                <a:ext uri="{FF2B5EF4-FFF2-40B4-BE49-F238E27FC236}">
                  <a16:creationId xmlns:a16="http://schemas.microsoft.com/office/drawing/2014/main" id="{C40CB55F-1E73-D3E2-6C79-6968F7578263}"/>
                </a:ext>
              </a:extLst>
            </p:cNvPr>
            <p:cNvSpPr txBox="1"/>
            <p:nvPr/>
          </p:nvSpPr>
          <p:spPr>
            <a:xfrm>
              <a:off x="818756" y="3145855"/>
              <a:ext cx="416782" cy="107722"/>
            </a:xfrm>
            <a:prstGeom prst="rect">
              <a:avLst/>
            </a:prstGeom>
            <a:noFill/>
          </p:spPr>
          <p:txBody>
            <a:bodyPr wrap="none" lIns="0" tIns="0" rIns="0" bIns="0" rtlCol="0">
              <a:spAutoFit/>
            </a:bodyPr>
            <a:lstStyle>
              <a:defPPr>
                <a:defRPr lang="en-US"/>
              </a:defPPr>
              <a:lvl1pPr algn="ctr">
                <a:defRPr sz="700" b="1"/>
              </a:lvl1pPr>
            </a:lstStyle>
            <a:p>
              <a:r>
                <a:rPr lang="en-US" dirty="0" err="1"/>
                <a:t>TFCardImpl</a:t>
              </a:r>
              <a:endParaRPr lang="en-US" dirty="0"/>
            </a:p>
          </p:txBody>
        </p:sp>
        <p:cxnSp>
          <p:nvCxnSpPr>
            <p:cNvPr id="2304" name="Straight Connector 2303">
              <a:extLst>
                <a:ext uri="{FF2B5EF4-FFF2-40B4-BE49-F238E27FC236}">
                  <a16:creationId xmlns:a16="http://schemas.microsoft.com/office/drawing/2014/main" id="{6FDCDC65-2F20-602D-9875-7464F79AA9B3}"/>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grpSp>
        <p:nvGrpSpPr>
          <p:cNvPr id="2306" name="Group 2305">
            <a:extLst>
              <a:ext uri="{FF2B5EF4-FFF2-40B4-BE49-F238E27FC236}">
                <a16:creationId xmlns:a16="http://schemas.microsoft.com/office/drawing/2014/main" id="{4F783D36-0DF0-5EF3-4F70-4C6CF301CE08}"/>
              </a:ext>
            </a:extLst>
          </p:cNvPr>
          <p:cNvGrpSpPr/>
          <p:nvPr/>
        </p:nvGrpSpPr>
        <p:grpSpPr>
          <a:xfrm>
            <a:off x="1752336" y="1377964"/>
            <a:ext cx="848549" cy="420574"/>
            <a:chOff x="626757" y="3130041"/>
            <a:chExt cx="848549" cy="420574"/>
          </a:xfrm>
        </p:grpSpPr>
        <p:sp>
          <p:nvSpPr>
            <p:cNvPr id="2307" name="TextBox 2306">
              <a:extLst>
                <a:ext uri="{FF2B5EF4-FFF2-40B4-BE49-F238E27FC236}">
                  <a16:creationId xmlns:a16="http://schemas.microsoft.com/office/drawing/2014/main" id="{DEC49946-2494-E894-6315-513455E85629}"/>
                </a:ext>
              </a:extLst>
            </p:cNvPr>
            <p:cNvSpPr txBox="1"/>
            <p:nvPr/>
          </p:nvSpPr>
          <p:spPr>
            <a:xfrm>
              <a:off x="651479" y="3356502"/>
              <a:ext cx="722703"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readSD</a:t>
              </a:r>
              <a:r>
                <a:rPr lang="en-US" dirty="0"/>
                <a:t>(): String</a:t>
              </a:r>
            </a:p>
            <a:p>
              <a:r>
                <a:rPr lang="en-US" dirty="0"/>
                <a:t>+ </a:t>
              </a:r>
              <a:r>
                <a:rPr lang="en-US" dirty="0" err="1"/>
                <a:t>writeSD</a:t>
              </a:r>
              <a:r>
                <a:rPr lang="en-US" dirty="0"/>
                <a:t>(): void</a:t>
              </a:r>
            </a:p>
          </p:txBody>
        </p:sp>
        <p:sp>
          <p:nvSpPr>
            <p:cNvPr id="2308" name="Rectangle: Rounded Corners 2307">
              <a:extLst>
                <a:ext uri="{FF2B5EF4-FFF2-40B4-BE49-F238E27FC236}">
                  <a16:creationId xmlns:a16="http://schemas.microsoft.com/office/drawing/2014/main" id="{C7D57B7A-BFF8-951D-E1EE-F6D286BEB346}"/>
                </a:ext>
              </a:extLst>
            </p:cNvPr>
            <p:cNvSpPr/>
            <p:nvPr/>
          </p:nvSpPr>
          <p:spPr>
            <a:xfrm>
              <a:off x="626759" y="3130041"/>
              <a:ext cx="846634" cy="420574"/>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11" name="Straight Connector 2310">
              <a:extLst>
                <a:ext uri="{FF2B5EF4-FFF2-40B4-BE49-F238E27FC236}">
                  <a16:creationId xmlns:a16="http://schemas.microsoft.com/office/drawing/2014/main" id="{A43C1101-DDD1-0870-0763-EB1F99EF4C3B}"/>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312" name="TextBox 2311">
              <a:extLst>
                <a:ext uri="{FF2B5EF4-FFF2-40B4-BE49-F238E27FC236}">
                  <a16:creationId xmlns:a16="http://schemas.microsoft.com/office/drawing/2014/main" id="{4D2BFB1B-74A9-4D81-FBCD-EB46EB9A5112}"/>
                </a:ext>
              </a:extLst>
            </p:cNvPr>
            <p:cNvSpPr txBox="1"/>
            <p:nvPr/>
          </p:nvSpPr>
          <p:spPr>
            <a:xfrm>
              <a:off x="670529" y="3155380"/>
              <a:ext cx="767153" cy="92333"/>
            </a:xfrm>
            <a:prstGeom prst="rect">
              <a:avLst/>
            </a:prstGeom>
            <a:noFill/>
          </p:spPr>
          <p:txBody>
            <a:bodyPr wrap="none" lIns="0" tIns="0" rIns="0" bIns="0" rtlCol="0">
              <a:spAutoFit/>
            </a:bodyPr>
            <a:lstStyle>
              <a:defPPr>
                <a:defRPr lang="en-US"/>
              </a:defPPr>
              <a:lvl1pPr algn="ctr">
                <a:defRPr sz="700" b="1"/>
              </a:lvl1pPr>
            </a:lstStyle>
            <a:p>
              <a:r>
                <a:rPr lang="en-US" dirty="0" err="1"/>
                <a:t>SDAdapterTF</a:t>
              </a:r>
              <a:endParaRPr lang="en-US" dirty="0"/>
            </a:p>
          </p:txBody>
        </p:sp>
        <p:cxnSp>
          <p:nvCxnSpPr>
            <p:cNvPr id="2313" name="Straight Connector 2312">
              <a:extLst>
                <a:ext uri="{FF2B5EF4-FFF2-40B4-BE49-F238E27FC236}">
                  <a16:creationId xmlns:a16="http://schemas.microsoft.com/office/drawing/2014/main" id="{57483801-CFB1-B410-09C7-81DD1FBEC5BD}"/>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cxnSp>
        <p:nvCxnSpPr>
          <p:cNvPr id="2314" name="Connector: Elbow 2313">
            <a:extLst>
              <a:ext uri="{FF2B5EF4-FFF2-40B4-BE49-F238E27FC236}">
                <a16:creationId xmlns:a16="http://schemas.microsoft.com/office/drawing/2014/main" id="{C8B3FEB5-C9CF-C065-4D07-6E3B22684605}"/>
              </a:ext>
            </a:extLst>
          </p:cNvPr>
          <p:cNvCxnSpPr>
            <a:cxnSpLocks/>
            <a:stCxn id="2308" idx="3"/>
            <a:endCxn id="2278" idx="1"/>
          </p:cNvCxnSpPr>
          <p:nvPr/>
        </p:nvCxnSpPr>
        <p:spPr>
          <a:xfrm flipV="1">
            <a:off x="2598972" y="1298212"/>
            <a:ext cx="237097" cy="290039"/>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319" name="Connector: Elbow 2318">
            <a:extLst>
              <a:ext uri="{FF2B5EF4-FFF2-40B4-BE49-F238E27FC236}">
                <a16:creationId xmlns:a16="http://schemas.microsoft.com/office/drawing/2014/main" id="{76CCEA39-B6F0-3D2D-08AA-E9C431D55F59}"/>
              </a:ext>
            </a:extLst>
          </p:cNvPr>
          <p:cNvCxnSpPr>
            <a:cxnSpLocks/>
            <a:stCxn id="2308" idx="3"/>
            <a:endCxn id="2298" idx="1"/>
          </p:cNvCxnSpPr>
          <p:nvPr/>
        </p:nvCxnSpPr>
        <p:spPr>
          <a:xfrm>
            <a:off x="2598972" y="1588251"/>
            <a:ext cx="237097" cy="289471"/>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2330" name="Straight Connector 2329">
            <a:extLst>
              <a:ext uri="{FF2B5EF4-FFF2-40B4-BE49-F238E27FC236}">
                <a16:creationId xmlns:a16="http://schemas.microsoft.com/office/drawing/2014/main" id="{3B87E08B-5116-A90B-CAA9-2585BF843008}"/>
              </a:ext>
            </a:extLst>
          </p:cNvPr>
          <p:cNvCxnSpPr>
            <a:cxnSpLocks/>
            <a:stCxn id="2298" idx="3"/>
            <a:endCxn id="2293" idx="1"/>
          </p:cNvCxnSpPr>
          <p:nvPr/>
        </p:nvCxnSpPr>
        <p:spPr>
          <a:xfrm>
            <a:off x="3682703" y="1877722"/>
            <a:ext cx="216750" cy="24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333" name="Straight Connector 2332">
            <a:extLst>
              <a:ext uri="{FF2B5EF4-FFF2-40B4-BE49-F238E27FC236}">
                <a16:creationId xmlns:a16="http://schemas.microsoft.com/office/drawing/2014/main" id="{E75A3BD2-1DF9-3382-7FE8-D099F29637C7}"/>
              </a:ext>
            </a:extLst>
          </p:cNvPr>
          <p:cNvCxnSpPr>
            <a:cxnSpLocks/>
            <a:stCxn id="2278" idx="3"/>
            <a:endCxn id="2287" idx="1"/>
          </p:cNvCxnSpPr>
          <p:nvPr/>
        </p:nvCxnSpPr>
        <p:spPr>
          <a:xfrm flipV="1">
            <a:off x="3682703" y="1297676"/>
            <a:ext cx="224928" cy="536"/>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340" name="Isosceles Triangle 2339">
            <a:extLst>
              <a:ext uri="{FF2B5EF4-FFF2-40B4-BE49-F238E27FC236}">
                <a16:creationId xmlns:a16="http://schemas.microsoft.com/office/drawing/2014/main" id="{BB9C9F7C-1BEB-9E35-9F74-CEF312207A46}"/>
              </a:ext>
            </a:extLst>
          </p:cNvPr>
          <p:cNvSpPr/>
          <p:nvPr/>
        </p:nvSpPr>
        <p:spPr>
          <a:xfrm rot="5400000">
            <a:off x="2790350" y="1277197"/>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2" name="Isosceles Triangle 2341">
            <a:extLst>
              <a:ext uri="{FF2B5EF4-FFF2-40B4-BE49-F238E27FC236}">
                <a16:creationId xmlns:a16="http://schemas.microsoft.com/office/drawing/2014/main" id="{3299CD8F-6720-8C54-166E-AF1E0D058BD5}"/>
              </a:ext>
            </a:extLst>
          </p:cNvPr>
          <p:cNvSpPr/>
          <p:nvPr/>
        </p:nvSpPr>
        <p:spPr>
          <a:xfrm rot="5400000">
            <a:off x="3846599" y="1854862"/>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5" name="Isosceles Triangle 2344">
            <a:extLst>
              <a:ext uri="{FF2B5EF4-FFF2-40B4-BE49-F238E27FC236}">
                <a16:creationId xmlns:a16="http://schemas.microsoft.com/office/drawing/2014/main" id="{B923EDF5-7914-8E7F-5B11-C204D60C5780}"/>
              </a:ext>
            </a:extLst>
          </p:cNvPr>
          <p:cNvSpPr/>
          <p:nvPr/>
        </p:nvSpPr>
        <p:spPr>
          <a:xfrm rot="16200000">
            <a:off x="3692971" y="1279489"/>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48" name="Straight Connector 2347">
            <a:extLst>
              <a:ext uri="{FF2B5EF4-FFF2-40B4-BE49-F238E27FC236}">
                <a16:creationId xmlns:a16="http://schemas.microsoft.com/office/drawing/2014/main" id="{9DB92171-AAEB-B363-2926-D12705480B10}"/>
              </a:ext>
            </a:extLst>
          </p:cNvPr>
          <p:cNvCxnSpPr>
            <a:cxnSpLocks/>
            <a:stCxn id="2268" idx="2"/>
            <a:endCxn id="2278" idx="0"/>
          </p:cNvCxnSpPr>
          <p:nvPr/>
        </p:nvCxnSpPr>
        <p:spPr>
          <a:xfrm>
            <a:off x="3259123" y="977564"/>
            <a:ext cx="263" cy="15670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359" name="Isosceles Triangle 2358">
            <a:extLst>
              <a:ext uri="{FF2B5EF4-FFF2-40B4-BE49-F238E27FC236}">
                <a16:creationId xmlns:a16="http://schemas.microsoft.com/office/drawing/2014/main" id="{0587A4F6-A021-B6FF-D915-8F693A78CB0F}"/>
              </a:ext>
            </a:extLst>
          </p:cNvPr>
          <p:cNvSpPr/>
          <p:nvPr/>
        </p:nvSpPr>
        <p:spPr>
          <a:xfrm rot="5400000">
            <a:off x="2787968" y="1857243"/>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6" name="Isosceles Triangle 2365">
            <a:extLst>
              <a:ext uri="{FF2B5EF4-FFF2-40B4-BE49-F238E27FC236}">
                <a16:creationId xmlns:a16="http://schemas.microsoft.com/office/drawing/2014/main" id="{061174F3-6855-65FD-3498-E23A3D1C97F7}"/>
              </a:ext>
            </a:extLst>
          </p:cNvPr>
          <p:cNvSpPr/>
          <p:nvPr/>
        </p:nvSpPr>
        <p:spPr>
          <a:xfrm rot="10800000">
            <a:off x="3232596" y="1071741"/>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96" name="Group 2495">
            <a:extLst>
              <a:ext uri="{FF2B5EF4-FFF2-40B4-BE49-F238E27FC236}">
                <a16:creationId xmlns:a16="http://schemas.microsoft.com/office/drawing/2014/main" id="{AD6E574D-C0D1-1EE6-9669-BF8E819ED89A}"/>
              </a:ext>
            </a:extLst>
          </p:cNvPr>
          <p:cNvGrpSpPr/>
          <p:nvPr/>
        </p:nvGrpSpPr>
        <p:grpSpPr>
          <a:xfrm>
            <a:off x="2834154" y="129182"/>
            <a:ext cx="848549" cy="327891"/>
            <a:chOff x="626757" y="3130041"/>
            <a:chExt cx="848549" cy="327891"/>
          </a:xfrm>
        </p:grpSpPr>
        <p:sp>
          <p:nvSpPr>
            <p:cNvPr id="2497" name="TextBox 2496">
              <a:extLst>
                <a:ext uri="{FF2B5EF4-FFF2-40B4-BE49-F238E27FC236}">
                  <a16:creationId xmlns:a16="http://schemas.microsoft.com/office/drawing/2014/main" id="{03566043-15AD-C712-CCB2-742C304F591A}"/>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main</a:t>
              </a:r>
              <a:r>
                <a:rPr lang="en-US" dirty="0"/>
                <a:t>(): void</a:t>
              </a:r>
            </a:p>
          </p:txBody>
        </p:sp>
        <p:sp>
          <p:nvSpPr>
            <p:cNvPr id="2498" name="Rectangle: Rounded Corners 2497">
              <a:extLst>
                <a:ext uri="{FF2B5EF4-FFF2-40B4-BE49-F238E27FC236}">
                  <a16:creationId xmlns:a16="http://schemas.microsoft.com/office/drawing/2014/main" id="{82021C50-C191-E5F1-50D4-DFF29B0995B9}"/>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99" name="Straight Connector 2498">
              <a:extLst>
                <a:ext uri="{FF2B5EF4-FFF2-40B4-BE49-F238E27FC236}">
                  <a16:creationId xmlns:a16="http://schemas.microsoft.com/office/drawing/2014/main" id="{462E2909-1C3A-7244-1033-7ED37C431987}"/>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500" name="TextBox 2499">
              <a:extLst>
                <a:ext uri="{FF2B5EF4-FFF2-40B4-BE49-F238E27FC236}">
                  <a16:creationId xmlns:a16="http://schemas.microsoft.com/office/drawing/2014/main" id="{FFEFCD92-B93F-49A9-83CE-C0A51485BC67}"/>
                </a:ext>
              </a:extLst>
            </p:cNvPr>
            <p:cNvSpPr txBox="1"/>
            <p:nvPr/>
          </p:nvSpPr>
          <p:spPr>
            <a:xfrm>
              <a:off x="775867" y="3150046"/>
              <a:ext cx="557040" cy="92333"/>
            </a:xfrm>
            <a:prstGeom prst="rect">
              <a:avLst/>
            </a:prstGeom>
            <a:noFill/>
          </p:spPr>
          <p:txBody>
            <a:bodyPr wrap="none" lIns="0" tIns="0" rIns="0" bIns="0" rtlCol="0">
              <a:spAutoFit/>
            </a:bodyPr>
            <a:lstStyle>
              <a:defPPr>
                <a:defRPr lang="en-US"/>
              </a:defPPr>
              <a:lvl1pPr algn="ctr">
                <a:defRPr sz="700" b="1"/>
              </a:lvl1pPr>
            </a:lstStyle>
            <a:p>
              <a:r>
                <a:rPr lang="en-US" dirty="0"/>
                <a:t>C</a:t>
              </a:r>
              <a:r>
                <a:rPr lang="en-US" altLang="zh-CN" dirty="0"/>
                <a:t>lient</a:t>
              </a:r>
              <a:endParaRPr lang="en-US" dirty="0"/>
            </a:p>
          </p:txBody>
        </p:sp>
        <p:cxnSp>
          <p:nvCxnSpPr>
            <p:cNvPr id="2501" name="Straight Connector 2500">
              <a:extLst>
                <a:ext uri="{FF2B5EF4-FFF2-40B4-BE49-F238E27FC236}">
                  <a16:creationId xmlns:a16="http://schemas.microsoft.com/office/drawing/2014/main" id="{98EF750E-B1D0-A1F8-D5C0-90DEC94E9063}"/>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cxnSp>
        <p:nvCxnSpPr>
          <p:cNvPr id="2502" name="Connector: Elbow 2501">
            <a:extLst>
              <a:ext uri="{FF2B5EF4-FFF2-40B4-BE49-F238E27FC236}">
                <a16:creationId xmlns:a16="http://schemas.microsoft.com/office/drawing/2014/main" id="{75B62523-C94B-00CD-4FBF-3F33DC57DF0C}"/>
              </a:ext>
            </a:extLst>
          </p:cNvPr>
          <p:cNvCxnSpPr>
            <a:cxnSpLocks/>
            <a:stCxn id="2308" idx="0"/>
            <a:endCxn id="2498" idx="2"/>
          </p:cNvCxnSpPr>
          <p:nvPr/>
        </p:nvCxnSpPr>
        <p:spPr>
          <a:xfrm rot="5400000" flipH="1" flipV="1">
            <a:off x="2256119" y="376610"/>
            <a:ext cx="920891" cy="1081818"/>
          </a:xfrm>
          <a:prstGeom prst="bentConnector3">
            <a:avLst>
              <a:gd name="adj1" fmla="val 89304"/>
            </a:avLst>
          </a:prstGeom>
          <a:ln>
            <a:prstDash val="dash"/>
          </a:ln>
        </p:spPr>
        <p:style>
          <a:lnRef idx="1">
            <a:schemeClr val="dk1"/>
          </a:lnRef>
          <a:fillRef idx="0">
            <a:schemeClr val="dk1"/>
          </a:fillRef>
          <a:effectRef idx="0">
            <a:schemeClr val="dk1"/>
          </a:effectRef>
          <a:fontRef idx="minor">
            <a:schemeClr val="tx1"/>
          </a:fontRef>
        </p:style>
      </p:cxnSp>
      <p:cxnSp>
        <p:nvCxnSpPr>
          <p:cNvPr id="2506" name="Connector: Elbow 2505">
            <a:extLst>
              <a:ext uri="{FF2B5EF4-FFF2-40B4-BE49-F238E27FC236}">
                <a16:creationId xmlns:a16="http://schemas.microsoft.com/office/drawing/2014/main" id="{82A6A7EE-8F20-AC8E-3DB9-78086F8E9884}"/>
              </a:ext>
            </a:extLst>
          </p:cNvPr>
          <p:cNvCxnSpPr>
            <a:cxnSpLocks/>
            <a:stCxn id="2287" idx="0"/>
            <a:endCxn id="2498" idx="2"/>
          </p:cNvCxnSpPr>
          <p:nvPr/>
        </p:nvCxnSpPr>
        <p:spPr>
          <a:xfrm rot="16200000" flipV="1">
            <a:off x="3479053" y="235493"/>
            <a:ext cx="630316" cy="1073475"/>
          </a:xfrm>
          <a:prstGeom prst="bentConnector3">
            <a:avLst>
              <a:gd name="adj1" fmla="val 84253"/>
            </a:avLst>
          </a:prstGeom>
          <a:ln>
            <a:prstDash val="dash"/>
          </a:ln>
        </p:spPr>
        <p:style>
          <a:lnRef idx="1">
            <a:schemeClr val="dk1"/>
          </a:lnRef>
          <a:fillRef idx="0">
            <a:schemeClr val="dk1"/>
          </a:fillRef>
          <a:effectRef idx="0">
            <a:schemeClr val="dk1"/>
          </a:effectRef>
          <a:fontRef idx="minor">
            <a:schemeClr val="tx1"/>
          </a:fontRef>
        </p:style>
      </p:cxnSp>
      <p:cxnSp>
        <p:nvCxnSpPr>
          <p:cNvPr id="2515" name="Straight Connector 2514">
            <a:extLst>
              <a:ext uri="{FF2B5EF4-FFF2-40B4-BE49-F238E27FC236}">
                <a16:creationId xmlns:a16="http://schemas.microsoft.com/office/drawing/2014/main" id="{E08B5FEC-E3B8-AA50-05A0-99CC051195EF}"/>
              </a:ext>
            </a:extLst>
          </p:cNvPr>
          <p:cNvCxnSpPr>
            <a:cxnSpLocks/>
            <a:stCxn id="2498" idx="2"/>
            <a:endCxn id="2268" idx="0"/>
          </p:cNvCxnSpPr>
          <p:nvPr/>
        </p:nvCxnSpPr>
        <p:spPr>
          <a:xfrm>
            <a:off x="3257473" y="457073"/>
            <a:ext cx="1650" cy="19260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520" name="Isosceles Triangle 2519">
            <a:extLst>
              <a:ext uri="{FF2B5EF4-FFF2-40B4-BE49-F238E27FC236}">
                <a16:creationId xmlns:a16="http://schemas.microsoft.com/office/drawing/2014/main" id="{773FDED9-7211-7D4C-F575-EB54139B50F0}"/>
              </a:ext>
            </a:extLst>
          </p:cNvPr>
          <p:cNvSpPr/>
          <p:nvPr/>
        </p:nvSpPr>
        <p:spPr>
          <a:xfrm rot="10800000">
            <a:off x="2150883" y="1322916"/>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1" name="Isosceles Triangle 2520">
            <a:extLst>
              <a:ext uri="{FF2B5EF4-FFF2-40B4-BE49-F238E27FC236}">
                <a16:creationId xmlns:a16="http://schemas.microsoft.com/office/drawing/2014/main" id="{3F4E289D-23FF-BB73-E713-943C8A2BC23E}"/>
              </a:ext>
            </a:extLst>
          </p:cNvPr>
          <p:cNvSpPr/>
          <p:nvPr/>
        </p:nvSpPr>
        <p:spPr>
          <a:xfrm rot="10800000">
            <a:off x="3234977" y="598512"/>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2" name="Isosceles Triangle 2521">
            <a:extLst>
              <a:ext uri="{FF2B5EF4-FFF2-40B4-BE49-F238E27FC236}">
                <a16:creationId xmlns:a16="http://schemas.microsoft.com/office/drawing/2014/main" id="{59EE50AF-5F71-4C11-D188-7B530010BB10}"/>
              </a:ext>
            </a:extLst>
          </p:cNvPr>
          <p:cNvSpPr/>
          <p:nvPr/>
        </p:nvSpPr>
        <p:spPr>
          <a:xfrm rot="10800000">
            <a:off x="4309660" y="1026022"/>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75" name="Group 2074">
            <a:extLst>
              <a:ext uri="{FF2B5EF4-FFF2-40B4-BE49-F238E27FC236}">
                <a16:creationId xmlns:a16="http://schemas.microsoft.com/office/drawing/2014/main" id="{6F07E37B-CC1F-98C3-A8BF-207A8E383990}"/>
              </a:ext>
            </a:extLst>
          </p:cNvPr>
          <p:cNvGrpSpPr/>
          <p:nvPr/>
        </p:nvGrpSpPr>
        <p:grpSpPr>
          <a:xfrm>
            <a:off x="11072877" y="77346"/>
            <a:ext cx="826801" cy="327891"/>
            <a:chOff x="626757" y="3130041"/>
            <a:chExt cx="826801" cy="327891"/>
          </a:xfrm>
        </p:grpSpPr>
        <p:sp>
          <p:nvSpPr>
            <p:cNvPr id="2076" name="TextBox 2075">
              <a:extLst>
                <a:ext uri="{FF2B5EF4-FFF2-40B4-BE49-F238E27FC236}">
                  <a16:creationId xmlns:a16="http://schemas.microsoft.com/office/drawing/2014/main" id="{E4BB2FFA-C1AD-F15C-2AD0-A644E13B3551}"/>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main</a:t>
              </a:r>
              <a:r>
                <a:rPr lang="en-US" dirty="0"/>
                <a:t>(): void</a:t>
              </a:r>
            </a:p>
          </p:txBody>
        </p:sp>
        <p:sp>
          <p:nvSpPr>
            <p:cNvPr id="2077" name="Rectangle: Rounded Corners 2076">
              <a:extLst>
                <a:ext uri="{FF2B5EF4-FFF2-40B4-BE49-F238E27FC236}">
                  <a16:creationId xmlns:a16="http://schemas.microsoft.com/office/drawing/2014/main" id="{3641E24D-1BFC-A3E3-09E1-64BFEA390716}"/>
                </a:ext>
              </a:extLst>
            </p:cNvPr>
            <p:cNvSpPr/>
            <p:nvPr/>
          </p:nvSpPr>
          <p:spPr>
            <a:xfrm>
              <a:off x="627385" y="3130041"/>
              <a:ext cx="807117"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78" name="Straight Connector 2077">
              <a:extLst>
                <a:ext uri="{FF2B5EF4-FFF2-40B4-BE49-F238E27FC236}">
                  <a16:creationId xmlns:a16="http://schemas.microsoft.com/office/drawing/2014/main" id="{32C3FF0C-54F9-E65A-44DA-2989B127751F}"/>
                </a:ext>
              </a:extLst>
            </p:cNvPr>
            <p:cNvCxnSpPr>
              <a:cxnSpLocks/>
            </p:cNvCxnSpPr>
            <p:nvPr/>
          </p:nvCxnSpPr>
          <p:spPr>
            <a:xfrm>
              <a:off x="626759" y="3262639"/>
              <a:ext cx="807618" cy="0"/>
            </a:xfrm>
            <a:prstGeom prst="line">
              <a:avLst/>
            </a:prstGeom>
          </p:spPr>
          <p:style>
            <a:lnRef idx="1">
              <a:schemeClr val="dk1"/>
            </a:lnRef>
            <a:fillRef idx="0">
              <a:schemeClr val="dk1"/>
            </a:fillRef>
            <a:effectRef idx="0">
              <a:schemeClr val="dk1"/>
            </a:effectRef>
            <a:fontRef idx="minor">
              <a:schemeClr val="tx1"/>
            </a:fontRef>
          </p:style>
        </p:cxnSp>
        <p:sp>
          <p:nvSpPr>
            <p:cNvPr id="2079" name="TextBox 2078">
              <a:extLst>
                <a:ext uri="{FF2B5EF4-FFF2-40B4-BE49-F238E27FC236}">
                  <a16:creationId xmlns:a16="http://schemas.microsoft.com/office/drawing/2014/main" id="{BDEBF51A-59DC-D586-1438-AD774DC87577}"/>
                </a:ext>
              </a:extLst>
            </p:cNvPr>
            <p:cNvSpPr txBox="1"/>
            <p:nvPr/>
          </p:nvSpPr>
          <p:spPr>
            <a:xfrm>
              <a:off x="775867" y="3150046"/>
              <a:ext cx="557040" cy="92333"/>
            </a:xfrm>
            <a:prstGeom prst="rect">
              <a:avLst/>
            </a:prstGeom>
            <a:noFill/>
          </p:spPr>
          <p:txBody>
            <a:bodyPr wrap="none" lIns="0" tIns="0" rIns="0" bIns="0" rtlCol="0">
              <a:spAutoFit/>
            </a:bodyPr>
            <a:lstStyle>
              <a:defPPr>
                <a:defRPr lang="en-US"/>
              </a:defPPr>
              <a:lvl1pPr algn="ctr">
                <a:defRPr sz="700" b="1"/>
              </a:lvl1pPr>
            </a:lstStyle>
            <a:p>
              <a:r>
                <a:rPr lang="en-US" dirty="0"/>
                <a:t>C</a:t>
              </a:r>
              <a:r>
                <a:rPr lang="en-US" altLang="zh-CN" dirty="0"/>
                <a:t>lient</a:t>
              </a:r>
              <a:endParaRPr lang="en-US" dirty="0"/>
            </a:p>
          </p:txBody>
        </p:sp>
        <p:cxnSp>
          <p:nvCxnSpPr>
            <p:cNvPr id="2080" name="Straight Connector 2079">
              <a:extLst>
                <a:ext uri="{FF2B5EF4-FFF2-40B4-BE49-F238E27FC236}">
                  <a16:creationId xmlns:a16="http://schemas.microsoft.com/office/drawing/2014/main" id="{8C29CD83-36C5-C200-FF6A-4507D702F021}"/>
                </a:ext>
              </a:extLst>
            </p:cNvPr>
            <p:cNvCxnSpPr>
              <a:cxnSpLocks/>
            </p:cNvCxnSpPr>
            <p:nvPr/>
          </p:nvCxnSpPr>
          <p:spPr>
            <a:xfrm>
              <a:off x="626757" y="3350746"/>
              <a:ext cx="805239" cy="0"/>
            </a:xfrm>
            <a:prstGeom prst="line">
              <a:avLst/>
            </a:prstGeom>
          </p:spPr>
          <p:style>
            <a:lnRef idx="1">
              <a:schemeClr val="dk1"/>
            </a:lnRef>
            <a:fillRef idx="0">
              <a:schemeClr val="dk1"/>
            </a:fillRef>
            <a:effectRef idx="0">
              <a:schemeClr val="dk1"/>
            </a:effectRef>
            <a:fontRef idx="minor">
              <a:schemeClr val="tx1"/>
            </a:fontRef>
          </p:style>
        </p:cxnSp>
      </p:grpSp>
      <p:cxnSp>
        <p:nvCxnSpPr>
          <p:cNvPr id="2083" name="Straight Connector 2082">
            <a:extLst>
              <a:ext uri="{FF2B5EF4-FFF2-40B4-BE49-F238E27FC236}">
                <a16:creationId xmlns:a16="http://schemas.microsoft.com/office/drawing/2014/main" id="{2FED360A-D0C2-CA88-D3D7-7C2B7587AC7D}"/>
              </a:ext>
            </a:extLst>
          </p:cNvPr>
          <p:cNvCxnSpPr>
            <a:cxnSpLocks/>
            <a:stCxn id="2077" idx="2"/>
            <a:endCxn id="3" idx="0"/>
          </p:cNvCxnSpPr>
          <p:nvPr/>
        </p:nvCxnSpPr>
        <p:spPr>
          <a:xfrm>
            <a:off x="11477064" y="405237"/>
            <a:ext cx="2897" cy="13304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086" name="Isosceles Triangle 2085">
            <a:extLst>
              <a:ext uri="{FF2B5EF4-FFF2-40B4-BE49-F238E27FC236}">
                <a16:creationId xmlns:a16="http://schemas.microsoft.com/office/drawing/2014/main" id="{4C5E48AC-C371-5547-674D-FF9FF431F8CB}"/>
              </a:ext>
            </a:extLst>
          </p:cNvPr>
          <p:cNvSpPr/>
          <p:nvPr/>
        </p:nvSpPr>
        <p:spPr>
          <a:xfrm rot="10800000">
            <a:off x="11456585" y="490179"/>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10ACE1AC-6531-1972-63DC-E0DC1B4CF7C8}"/>
              </a:ext>
            </a:extLst>
          </p:cNvPr>
          <p:cNvGrpSpPr/>
          <p:nvPr/>
        </p:nvGrpSpPr>
        <p:grpSpPr>
          <a:xfrm>
            <a:off x="8646745" y="75403"/>
            <a:ext cx="806517" cy="828274"/>
            <a:chOff x="626757" y="3130041"/>
            <a:chExt cx="806517" cy="828274"/>
          </a:xfrm>
        </p:grpSpPr>
        <p:sp>
          <p:nvSpPr>
            <p:cNvPr id="22" name="Rectangle: Rounded Corners 21">
              <a:extLst>
                <a:ext uri="{FF2B5EF4-FFF2-40B4-BE49-F238E27FC236}">
                  <a16:creationId xmlns:a16="http://schemas.microsoft.com/office/drawing/2014/main" id="{A5ED3920-0FC6-75A6-BE72-1AD2A9D5449D}"/>
                </a:ext>
              </a:extLst>
            </p:cNvPr>
            <p:cNvSpPr/>
            <p:nvPr/>
          </p:nvSpPr>
          <p:spPr>
            <a:xfrm>
              <a:off x="626759" y="3130041"/>
              <a:ext cx="801321" cy="828274"/>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28314ADD-7D51-EB98-24F0-A781FF6BBBCE}"/>
                </a:ext>
              </a:extLst>
            </p:cNvPr>
            <p:cNvCxnSpPr>
              <a:cxnSpLocks/>
            </p:cNvCxnSpPr>
            <p:nvPr/>
          </p:nvCxnSpPr>
          <p:spPr>
            <a:xfrm>
              <a:off x="626759" y="3262639"/>
              <a:ext cx="801752" cy="0"/>
            </a:xfrm>
            <a:prstGeom prst="line">
              <a:avLst/>
            </a:prstGeom>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CDD222B7-FB1F-A0F9-3DEF-EE2544F97B1F}"/>
                </a:ext>
              </a:extLst>
            </p:cNvPr>
            <p:cNvSpPr txBox="1"/>
            <p:nvPr/>
          </p:nvSpPr>
          <p:spPr>
            <a:xfrm>
              <a:off x="868058" y="3151109"/>
              <a:ext cx="328616" cy="107722"/>
            </a:xfrm>
            <a:prstGeom prst="rect">
              <a:avLst/>
            </a:prstGeom>
            <a:noFill/>
          </p:spPr>
          <p:txBody>
            <a:bodyPr wrap="none" lIns="0" tIns="0" rIns="0" bIns="0" rtlCol="0">
              <a:spAutoFit/>
            </a:bodyPr>
            <a:lstStyle>
              <a:defPPr>
                <a:defRPr lang="en-US"/>
              </a:defPPr>
              <a:lvl1pPr algn="ctr">
                <a:defRPr sz="700" b="1"/>
              </a:lvl1pPr>
            </a:lstStyle>
            <a:p>
              <a:r>
                <a:rPr lang="en-US" i="1" dirty="0" err="1"/>
                <a:t>F</a:t>
              </a:r>
              <a:r>
                <a:rPr lang="en-US" altLang="zh-CN" i="1" dirty="0" err="1"/>
                <a:t>astfood</a:t>
              </a:r>
              <a:endParaRPr lang="en-US" i="1" dirty="0"/>
            </a:p>
          </p:txBody>
        </p:sp>
        <p:sp>
          <p:nvSpPr>
            <p:cNvPr id="27" name="TextBox 26">
              <a:extLst>
                <a:ext uri="{FF2B5EF4-FFF2-40B4-BE49-F238E27FC236}">
                  <a16:creationId xmlns:a16="http://schemas.microsoft.com/office/drawing/2014/main" id="{194B3B05-637D-E85A-AFF6-2CA8FCAA17A7}"/>
                </a:ext>
              </a:extLst>
            </p:cNvPr>
            <p:cNvSpPr txBox="1"/>
            <p:nvPr/>
          </p:nvSpPr>
          <p:spPr>
            <a:xfrm>
              <a:off x="657950" y="3276104"/>
              <a:ext cx="666741" cy="184666"/>
            </a:xfrm>
            <a:prstGeom prst="rect">
              <a:avLst/>
            </a:prstGeom>
            <a:noFill/>
          </p:spPr>
          <p:txBody>
            <a:bodyPr wrap="square" lIns="0" tIns="0" rIns="0" bIns="0" rtlCol="0">
              <a:spAutoFit/>
            </a:bodyPr>
            <a:lstStyle>
              <a:defPPr>
                <a:defRPr lang="en-US"/>
              </a:defPPr>
              <a:lvl1pPr>
                <a:defRPr sz="600"/>
              </a:lvl1pPr>
            </a:lstStyle>
            <a:p>
              <a:r>
                <a:rPr lang="en-US" dirty="0"/>
                <a:t>- desc</a:t>
              </a:r>
              <a:r>
                <a:rPr lang="en-US" altLang="zh-CN" dirty="0"/>
                <a:t>: String</a:t>
              </a:r>
            </a:p>
            <a:p>
              <a:r>
                <a:rPr lang="en-US" dirty="0"/>
                <a:t>- price: float</a:t>
              </a:r>
            </a:p>
          </p:txBody>
        </p:sp>
        <p:cxnSp>
          <p:nvCxnSpPr>
            <p:cNvPr id="28" name="Straight Connector 27">
              <a:extLst>
                <a:ext uri="{FF2B5EF4-FFF2-40B4-BE49-F238E27FC236}">
                  <a16:creationId xmlns:a16="http://schemas.microsoft.com/office/drawing/2014/main" id="{357C6650-37C0-0499-4810-1B6021DFFE81}"/>
                </a:ext>
              </a:extLst>
            </p:cNvPr>
            <p:cNvCxnSpPr>
              <a:cxnSpLocks/>
            </p:cNvCxnSpPr>
            <p:nvPr/>
          </p:nvCxnSpPr>
          <p:spPr>
            <a:xfrm>
              <a:off x="626757" y="3460284"/>
              <a:ext cx="806517" cy="0"/>
            </a:xfrm>
            <a:prstGeom prst="line">
              <a:avLst/>
            </a:prstGeom>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F6222669-8B2E-3475-D99A-2D4203C7742B}"/>
                </a:ext>
              </a:extLst>
            </p:cNvPr>
            <p:cNvSpPr txBox="1"/>
            <p:nvPr/>
          </p:nvSpPr>
          <p:spPr>
            <a:xfrm>
              <a:off x="653196" y="3471997"/>
              <a:ext cx="752025" cy="461665"/>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getDesc</a:t>
              </a:r>
              <a:r>
                <a:rPr lang="en-US" dirty="0"/>
                <a:t>(): String</a:t>
              </a:r>
            </a:p>
            <a:p>
              <a:r>
                <a:rPr lang="en-US" dirty="0"/>
                <a:t>+ </a:t>
              </a:r>
              <a:r>
                <a:rPr lang="en-US" dirty="0" err="1"/>
                <a:t>setDesc</a:t>
              </a:r>
              <a:r>
                <a:rPr lang="en-US" dirty="0"/>
                <a:t>(): void</a:t>
              </a:r>
            </a:p>
            <a:p>
              <a:r>
                <a:rPr lang="en-US" dirty="0"/>
                <a:t>+ </a:t>
              </a:r>
              <a:r>
                <a:rPr lang="en-US" dirty="0" err="1"/>
                <a:t>getPrice</a:t>
              </a:r>
              <a:r>
                <a:rPr lang="en-US" dirty="0"/>
                <a:t>(): float</a:t>
              </a:r>
            </a:p>
            <a:p>
              <a:r>
                <a:rPr lang="en-US" dirty="0"/>
                <a:t>+ </a:t>
              </a:r>
              <a:r>
                <a:rPr lang="en-US" dirty="0" err="1"/>
                <a:t>setPrice</a:t>
              </a:r>
              <a:r>
                <a:rPr lang="en-US" dirty="0"/>
                <a:t>(): void</a:t>
              </a:r>
            </a:p>
            <a:p>
              <a:r>
                <a:rPr lang="en-US" dirty="0"/>
                <a:t>+ cost(): float</a:t>
              </a:r>
            </a:p>
          </p:txBody>
        </p:sp>
      </p:grpSp>
      <p:grpSp>
        <p:nvGrpSpPr>
          <p:cNvPr id="30" name="Group 29">
            <a:extLst>
              <a:ext uri="{FF2B5EF4-FFF2-40B4-BE49-F238E27FC236}">
                <a16:creationId xmlns:a16="http://schemas.microsoft.com/office/drawing/2014/main" id="{DCF3AC25-3892-2C92-2454-6C92BA8144D1}"/>
              </a:ext>
            </a:extLst>
          </p:cNvPr>
          <p:cNvGrpSpPr/>
          <p:nvPr/>
        </p:nvGrpSpPr>
        <p:grpSpPr>
          <a:xfrm>
            <a:off x="8805519" y="1022223"/>
            <a:ext cx="821398" cy="415655"/>
            <a:chOff x="626757" y="3130041"/>
            <a:chExt cx="821398" cy="415655"/>
          </a:xfrm>
        </p:grpSpPr>
        <p:sp>
          <p:nvSpPr>
            <p:cNvPr id="32" name="TextBox 31">
              <a:extLst>
                <a:ext uri="{FF2B5EF4-FFF2-40B4-BE49-F238E27FC236}">
                  <a16:creationId xmlns:a16="http://schemas.microsoft.com/office/drawing/2014/main" id="{077E2560-2D1E-EDE7-62EA-8803C20BF592}"/>
                </a:ext>
              </a:extLst>
            </p:cNvPr>
            <p:cNvSpPr txBox="1"/>
            <p:nvPr/>
          </p:nvSpPr>
          <p:spPr>
            <a:xfrm>
              <a:off x="651687" y="3356835"/>
              <a:ext cx="796468"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FriedRice</a:t>
              </a:r>
              <a:r>
                <a:rPr lang="en-US" dirty="0"/>
                <a:t>()</a:t>
              </a:r>
            </a:p>
            <a:p>
              <a:r>
                <a:rPr lang="en-US" dirty="0"/>
                <a:t>+ cost(): float</a:t>
              </a:r>
            </a:p>
          </p:txBody>
        </p:sp>
        <p:sp>
          <p:nvSpPr>
            <p:cNvPr id="33" name="Rectangle: Rounded Corners 32">
              <a:extLst>
                <a:ext uri="{FF2B5EF4-FFF2-40B4-BE49-F238E27FC236}">
                  <a16:creationId xmlns:a16="http://schemas.microsoft.com/office/drawing/2014/main" id="{CC99B78F-D55D-892D-F8F7-7A3A17EEE535}"/>
                </a:ext>
              </a:extLst>
            </p:cNvPr>
            <p:cNvSpPr/>
            <p:nvPr/>
          </p:nvSpPr>
          <p:spPr>
            <a:xfrm>
              <a:off x="626759" y="3130041"/>
              <a:ext cx="785833" cy="415655"/>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0C7B8C23-6F4C-F8F3-983F-9970A0F4BAEF}"/>
                </a:ext>
              </a:extLst>
            </p:cNvPr>
            <p:cNvCxnSpPr>
              <a:cxnSpLocks/>
            </p:cNvCxnSpPr>
            <p:nvPr/>
          </p:nvCxnSpPr>
          <p:spPr>
            <a:xfrm>
              <a:off x="626759" y="3262639"/>
              <a:ext cx="786428" cy="0"/>
            </a:xfrm>
            <a:prstGeom prst="line">
              <a:avLst/>
            </a:prstGeom>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2EA592DC-9E30-8212-808F-5EF6043B97B5}"/>
                </a:ext>
              </a:extLst>
            </p:cNvPr>
            <p:cNvSpPr txBox="1"/>
            <p:nvPr/>
          </p:nvSpPr>
          <p:spPr>
            <a:xfrm>
              <a:off x="852966" y="3149825"/>
              <a:ext cx="344646" cy="107722"/>
            </a:xfrm>
            <a:prstGeom prst="rect">
              <a:avLst/>
            </a:prstGeom>
            <a:noFill/>
          </p:spPr>
          <p:txBody>
            <a:bodyPr wrap="none" lIns="0" tIns="0" rIns="0" bIns="0" rtlCol="0">
              <a:spAutoFit/>
            </a:bodyPr>
            <a:lstStyle>
              <a:defPPr>
                <a:defRPr lang="en-US"/>
              </a:defPPr>
              <a:lvl1pPr algn="ctr">
                <a:defRPr sz="700" b="1"/>
              </a:lvl1pPr>
            </a:lstStyle>
            <a:p>
              <a:r>
                <a:rPr lang="en-US" dirty="0" err="1"/>
                <a:t>FriedRice</a:t>
              </a:r>
              <a:endParaRPr lang="en-US" dirty="0"/>
            </a:p>
          </p:txBody>
        </p:sp>
        <p:cxnSp>
          <p:nvCxnSpPr>
            <p:cNvPr id="36" name="Straight Connector 35">
              <a:extLst>
                <a:ext uri="{FF2B5EF4-FFF2-40B4-BE49-F238E27FC236}">
                  <a16:creationId xmlns:a16="http://schemas.microsoft.com/office/drawing/2014/main" id="{C67343C9-D624-E510-11A4-CE9C63A738DE}"/>
                </a:ext>
              </a:extLst>
            </p:cNvPr>
            <p:cNvCxnSpPr>
              <a:cxnSpLocks/>
            </p:cNvCxnSpPr>
            <p:nvPr/>
          </p:nvCxnSpPr>
          <p:spPr>
            <a:xfrm>
              <a:off x="626757" y="3350746"/>
              <a:ext cx="788811" cy="0"/>
            </a:xfrm>
            <a:prstGeom prst="line">
              <a:avLst/>
            </a:prstGeom>
          </p:spPr>
          <p:style>
            <a:lnRef idx="1">
              <a:schemeClr val="dk1"/>
            </a:lnRef>
            <a:fillRef idx="0">
              <a:schemeClr val="dk1"/>
            </a:fillRef>
            <a:effectRef idx="0">
              <a:schemeClr val="dk1"/>
            </a:effectRef>
            <a:fontRef idx="minor">
              <a:schemeClr val="tx1"/>
            </a:fontRef>
          </p:style>
        </p:cxnSp>
      </p:grpSp>
      <p:grpSp>
        <p:nvGrpSpPr>
          <p:cNvPr id="39" name="Group 38">
            <a:extLst>
              <a:ext uri="{FF2B5EF4-FFF2-40B4-BE49-F238E27FC236}">
                <a16:creationId xmlns:a16="http://schemas.microsoft.com/office/drawing/2014/main" id="{AC3736AC-4DFC-7BDD-5864-F6AE227C6C51}"/>
              </a:ext>
            </a:extLst>
          </p:cNvPr>
          <p:cNvGrpSpPr/>
          <p:nvPr/>
        </p:nvGrpSpPr>
        <p:grpSpPr>
          <a:xfrm>
            <a:off x="8805519" y="1515141"/>
            <a:ext cx="821398" cy="415655"/>
            <a:chOff x="626757" y="3130041"/>
            <a:chExt cx="821398" cy="415655"/>
          </a:xfrm>
        </p:grpSpPr>
        <p:sp>
          <p:nvSpPr>
            <p:cNvPr id="40" name="TextBox 39">
              <a:extLst>
                <a:ext uri="{FF2B5EF4-FFF2-40B4-BE49-F238E27FC236}">
                  <a16:creationId xmlns:a16="http://schemas.microsoft.com/office/drawing/2014/main" id="{F292CE7B-8316-63F3-25EB-4B15397905B2}"/>
                </a:ext>
              </a:extLst>
            </p:cNvPr>
            <p:cNvSpPr txBox="1"/>
            <p:nvPr/>
          </p:nvSpPr>
          <p:spPr>
            <a:xfrm>
              <a:off x="651687" y="3356835"/>
              <a:ext cx="796468"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FriedNoodles</a:t>
              </a:r>
              <a:r>
                <a:rPr lang="en-US" dirty="0"/>
                <a:t>()</a:t>
              </a:r>
            </a:p>
            <a:p>
              <a:r>
                <a:rPr lang="en-US" dirty="0"/>
                <a:t>+ cost(): float</a:t>
              </a:r>
            </a:p>
          </p:txBody>
        </p:sp>
        <p:sp>
          <p:nvSpPr>
            <p:cNvPr id="41" name="Rectangle: Rounded Corners 40">
              <a:extLst>
                <a:ext uri="{FF2B5EF4-FFF2-40B4-BE49-F238E27FC236}">
                  <a16:creationId xmlns:a16="http://schemas.microsoft.com/office/drawing/2014/main" id="{97A167F3-F18F-D1F4-169F-10421E581053}"/>
                </a:ext>
              </a:extLst>
            </p:cNvPr>
            <p:cNvSpPr/>
            <p:nvPr/>
          </p:nvSpPr>
          <p:spPr>
            <a:xfrm>
              <a:off x="626759" y="3130041"/>
              <a:ext cx="785833" cy="415655"/>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1CD9E41E-8810-A1C0-E985-B95ABA89E77C}"/>
                </a:ext>
              </a:extLst>
            </p:cNvPr>
            <p:cNvCxnSpPr>
              <a:cxnSpLocks/>
            </p:cNvCxnSpPr>
            <p:nvPr/>
          </p:nvCxnSpPr>
          <p:spPr>
            <a:xfrm>
              <a:off x="626759" y="3262639"/>
              <a:ext cx="786428" cy="0"/>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47A2E06E-4685-067D-EEAC-85245D661084}"/>
                </a:ext>
              </a:extLst>
            </p:cNvPr>
            <p:cNvSpPr txBox="1"/>
            <p:nvPr/>
          </p:nvSpPr>
          <p:spPr>
            <a:xfrm>
              <a:off x="777624" y="3149825"/>
              <a:ext cx="495328" cy="107722"/>
            </a:xfrm>
            <a:prstGeom prst="rect">
              <a:avLst/>
            </a:prstGeom>
            <a:noFill/>
          </p:spPr>
          <p:txBody>
            <a:bodyPr wrap="none" lIns="0" tIns="0" rIns="0" bIns="0" rtlCol="0">
              <a:spAutoFit/>
            </a:bodyPr>
            <a:lstStyle>
              <a:defPPr>
                <a:defRPr lang="en-US"/>
              </a:defPPr>
              <a:lvl1pPr algn="ctr">
                <a:defRPr sz="700" b="1"/>
              </a:lvl1pPr>
            </a:lstStyle>
            <a:p>
              <a:r>
                <a:rPr lang="en-US" dirty="0" err="1"/>
                <a:t>FriedNoodles</a:t>
              </a:r>
              <a:endParaRPr lang="en-US" dirty="0"/>
            </a:p>
          </p:txBody>
        </p:sp>
        <p:cxnSp>
          <p:nvCxnSpPr>
            <p:cNvPr id="45" name="Straight Connector 44">
              <a:extLst>
                <a:ext uri="{FF2B5EF4-FFF2-40B4-BE49-F238E27FC236}">
                  <a16:creationId xmlns:a16="http://schemas.microsoft.com/office/drawing/2014/main" id="{0550D1DB-486D-740D-C41D-11B01ED78479}"/>
                </a:ext>
              </a:extLst>
            </p:cNvPr>
            <p:cNvCxnSpPr>
              <a:cxnSpLocks/>
            </p:cNvCxnSpPr>
            <p:nvPr/>
          </p:nvCxnSpPr>
          <p:spPr>
            <a:xfrm>
              <a:off x="626757" y="3350746"/>
              <a:ext cx="788811" cy="0"/>
            </a:xfrm>
            <a:prstGeom prst="line">
              <a:avLst/>
            </a:prstGeom>
          </p:spPr>
          <p:style>
            <a:lnRef idx="1">
              <a:schemeClr val="dk1"/>
            </a:lnRef>
            <a:fillRef idx="0">
              <a:schemeClr val="dk1"/>
            </a:fillRef>
            <a:effectRef idx="0">
              <a:schemeClr val="dk1"/>
            </a:effectRef>
            <a:fontRef idx="minor">
              <a:schemeClr val="tx1"/>
            </a:fontRef>
          </p:style>
        </p:cxnSp>
      </p:grpSp>
      <p:grpSp>
        <p:nvGrpSpPr>
          <p:cNvPr id="46" name="Group 45">
            <a:extLst>
              <a:ext uri="{FF2B5EF4-FFF2-40B4-BE49-F238E27FC236}">
                <a16:creationId xmlns:a16="http://schemas.microsoft.com/office/drawing/2014/main" id="{680CD45E-C667-6E40-0499-FBC49238EB90}"/>
              </a:ext>
            </a:extLst>
          </p:cNvPr>
          <p:cNvGrpSpPr/>
          <p:nvPr/>
        </p:nvGrpSpPr>
        <p:grpSpPr>
          <a:xfrm>
            <a:off x="9858554" y="209954"/>
            <a:ext cx="806517" cy="551105"/>
            <a:chOff x="626757" y="3130041"/>
            <a:chExt cx="806517" cy="551105"/>
          </a:xfrm>
        </p:grpSpPr>
        <p:sp>
          <p:nvSpPr>
            <p:cNvPr id="47" name="Rectangle: Rounded Corners 46">
              <a:extLst>
                <a:ext uri="{FF2B5EF4-FFF2-40B4-BE49-F238E27FC236}">
                  <a16:creationId xmlns:a16="http://schemas.microsoft.com/office/drawing/2014/main" id="{4E5A8B0B-7130-9C61-CE89-B9C1E4384CC8}"/>
                </a:ext>
              </a:extLst>
            </p:cNvPr>
            <p:cNvSpPr/>
            <p:nvPr/>
          </p:nvSpPr>
          <p:spPr>
            <a:xfrm>
              <a:off x="626759" y="3130041"/>
              <a:ext cx="801321" cy="551105"/>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BE9646CB-FD9F-7F50-8481-B0BF1ACE7219}"/>
                </a:ext>
              </a:extLst>
            </p:cNvPr>
            <p:cNvCxnSpPr>
              <a:cxnSpLocks/>
            </p:cNvCxnSpPr>
            <p:nvPr/>
          </p:nvCxnSpPr>
          <p:spPr>
            <a:xfrm>
              <a:off x="626759" y="3262639"/>
              <a:ext cx="801752" cy="0"/>
            </a:xfrm>
            <a:prstGeom prst="line">
              <a:avLst/>
            </a:prstGeom>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E3160711-EF89-918F-B722-9A9CC41057A8}"/>
                </a:ext>
              </a:extLst>
            </p:cNvPr>
            <p:cNvSpPr txBox="1"/>
            <p:nvPr/>
          </p:nvSpPr>
          <p:spPr>
            <a:xfrm>
              <a:off x="886495" y="3151109"/>
              <a:ext cx="291747" cy="107722"/>
            </a:xfrm>
            <a:prstGeom prst="rect">
              <a:avLst/>
            </a:prstGeom>
            <a:noFill/>
          </p:spPr>
          <p:txBody>
            <a:bodyPr wrap="none" lIns="0" tIns="0" rIns="0" bIns="0" rtlCol="0">
              <a:spAutoFit/>
            </a:bodyPr>
            <a:lstStyle>
              <a:defPPr>
                <a:defRPr lang="en-US"/>
              </a:defPPr>
              <a:lvl1pPr algn="ctr">
                <a:defRPr sz="700" b="1"/>
              </a:lvl1pPr>
            </a:lstStyle>
            <a:p>
              <a:r>
                <a:rPr lang="en-US" i="1" dirty="0"/>
                <a:t>Garnish</a:t>
              </a:r>
            </a:p>
          </p:txBody>
        </p:sp>
        <p:sp>
          <p:nvSpPr>
            <p:cNvPr id="50" name="TextBox 49">
              <a:extLst>
                <a:ext uri="{FF2B5EF4-FFF2-40B4-BE49-F238E27FC236}">
                  <a16:creationId xmlns:a16="http://schemas.microsoft.com/office/drawing/2014/main" id="{536A7B10-1B04-EA0B-1CAB-F2BD09A20B69}"/>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fastFood</a:t>
              </a:r>
              <a:r>
                <a:rPr lang="en-US" altLang="zh-CN" dirty="0"/>
                <a:t>: </a:t>
              </a:r>
              <a:r>
                <a:rPr lang="en-US" altLang="zh-CN" dirty="0" err="1"/>
                <a:t>Fastfood</a:t>
              </a:r>
              <a:endParaRPr lang="en-US" altLang="zh-CN" dirty="0"/>
            </a:p>
          </p:txBody>
        </p:sp>
        <p:cxnSp>
          <p:nvCxnSpPr>
            <p:cNvPr id="52" name="Straight Connector 51">
              <a:extLst>
                <a:ext uri="{FF2B5EF4-FFF2-40B4-BE49-F238E27FC236}">
                  <a16:creationId xmlns:a16="http://schemas.microsoft.com/office/drawing/2014/main" id="{358863F2-9C0F-742D-0210-F57A61769FBE}"/>
                </a:ext>
              </a:extLst>
            </p:cNvPr>
            <p:cNvCxnSpPr>
              <a:cxnSpLocks/>
            </p:cNvCxnSpPr>
            <p:nvPr/>
          </p:nvCxnSpPr>
          <p:spPr>
            <a:xfrm>
              <a:off x="626757" y="3372176"/>
              <a:ext cx="806517" cy="0"/>
            </a:xfrm>
            <a:prstGeom prst="line">
              <a:avLst/>
            </a:prstGeom>
          </p:spPr>
          <p:style>
            <a:lnRef idx="1">
              <a:schemeClr val="dk1"/>
            </a:lnRef>
            <a:fillRef idx="0">
              <a:schemeClr val="dk1"/>
            </a:fillRef>
            <a:effectRef idx="0">
              <a:schemeClr val="dk1"/>
            </a:effectRef>
            <a:fontRef idx="minor">
              <a:schemeClr val="tx1"/>
            </a:fontRef>
          </p:style>
        </p:cxnSp>
        <p:sp>
          <p:nvSpPr>
            <p:cNvPr id="53" name="TextBox 52">
              <a:extLst>
                <a:ext uri="{FF2B5EF4-FFF2-40B4-BE49-F238E27FC236}">
                  <a16:creationId xmlns:a16="http://schemas.microsoft.com/office/drawing/2014/main" id="{CB21EAE2-0C9C-E9F0-5B6E-3DCBBB03F1F0}"/>
                </a:ext>
              </a:extLst>
            </p:cNvPr>
            <p:cNvSpPr txBox="1"/>
            <p:nvPr/>
          </p:nvSpPr>
          <p:spPr>
            <a:xfrm>
              <a:off x="643672" y="3381510"/>
              <a:ext cx="780078" cy="276999"/>
            </a:xfrm>
            <a:prstGeom prst="rect">
              <a:avLst/>
            </a:prstGeom>
            <a:noFill/>
          </p:spPr>
          <p:txBody>
            <a:bodyPr wrap="square" lIns="0" tIns="0" rIns="0" bIns="0" rtlCol="0">
              <a:spAutoFit/>
            </a:bodyPr>
            <a:lstStyle>
              <a:defPPr>
                <a:defRPr lang="en-US"/>
              </a:defPPr>
              <a:lvl1pPr>
                <a:defRPr sz="600"/>
              </a:lvl1pPr>
            </a:lstStyle>
            <a:p>
              <a:r>
                <a:rPr lang="en-US" dirty="0"/>
                <a:t>+ Garnish(</a:t>
              </a:r>
              <a:r>
                <a:rPr lang="en-US" dirty="0" err="1"/>
                <a:t>FastFood</a:t>
              </a:r>
              <a:r>
                <a:rPr lang="en-US" dirty="0"/>
                <a:t>)</a:t>
              </a:r>
            </a:p>
            <a:p>
              <a:r>
                <a:rPr lang="en-US" dirty="0"/>
                <a:t>+ </a:t>
              </a:r>
              <a:r>
                <a:rPr lang="en-US" dirty="0" err="1"/>
                <a:t>set</a:t>
              </a:r>
              <a:r>
                <a:rPr lang="en-US" altLang="zh-CN" dirty="0" err="1"/>
                <a:t>Fastfood</a:t>
              </a:r>
              <a:r>
                <a:rPr lang="en-US" dirty="0"/>
                <a:t>(): void</a:t>
              </a:r>
            </a:p>
            <a:p>
              <a:r>
                <a:rPr lang="en-US" dirty="0"/>
                <a:t>+ </a:t>
              </a:r>
              <a:r>
                <a:rPr lang="en-US" dirty="0" err="1"/>
                <a:t>get</a:t>
              </a:r>
              <a:r>
                <a:rPr lang="en-US" altLang="zh-CN" dirty="0" err="1"/>
                <a:t>Fastfood</a:t>
              </a:r>
              <a:r>
                <a:rPr lang="en-US" dirty="0"/>
                <a:t>():</a:t>
              </a:r>
              <a:r>
                <a:rPr lang="en-US" altLang="zh-CN" dirty="0" err="1"/>
                <a:t>Fastfood</a:t>
              </a:r>
              <a:endParaRPr lang="en-US" dirty="0"/>
            </a:p>
          </p:txBody>
        </p:sp>
      </p:grpSp>
      <p:grpSp>
        <p:nvGrpSpPr>
          <p:cNvPr id="54" name="Group 53">
            <a:extLst>
              <a:ext uri="{FF2B5EF4-FFF2-40B4-BE49-F238E27FC236}">
                <a16:creationId xmlns:a16="http://schemas.microsoft.com/office/drawing/2014/main" id="{4CB144B6-3005-278E-D2BD-1A5944427050}"/>
              </a:ext>
            </a:extLst>
          </p:cNvPr>
          <p:cNvGrpSpPr/>
          <p:nvPr/>
        </p:nvGrpSpPr>
        <p:grpSpPr>
          <a:xfrm>
            <a:off x="10071449" y="856191"/>
            <a:ext cx="821398" cy="526374"/>
            <a:chOff x="626757" y="3130041"/>
            <a:chExt cx="821398" cy="526374"/>
          </a:xfrm>
        </p:grpSpPr>
        <p:sp>
          <p:nvSpPr>
            <p:cNvPr id="55" name="TextBox 54">
              <a:extLst>
                <a:ext uri="{FF2B5EF4-FFF2-40B4-BE49-F238E27FC236}">
                  <a16:creationId xmlns:a16="http://schemas.microsoft.com/office/drawing/2014/main" id="{485C005E-B463-747E-BA7A-D3902636CACF}"/>
                </a:ext>
              </a:extLst>
            </p:cNvPr>
            <p:cNvSpPr txBox="1"/>
            <p:nvPr/>
          </p:nvSpPr>
          <p:spPr>
            <a:xfrm>
              <a:off x="651687" y="3356835"/>
              <a:ext cx="796468" cy="276999"/>
            </a:xfrm>
            <a:prstGeom prst="rect">
              <a:avLst/>
            </a:prstGeom>
            <a:noFill/>
          </p:spPr>
          <p:txBody>
            <a:bodyPr wrap="square" lIns="0" tIns="0" rIns="0" bIns="0" rtlCol="0">
              <a:spAutoFit/>
            </a:bodyPr>
            <a:lstStyle>
              <a:defPPr>
                <a:defRPr lang="en-US"/>
              </a:defPPr>
              <a:lvl1pPr>
                <a:defRPr sz="600"/>
              </a:lvl1pPr>
            </a:lstStyle>
            <a:p>
              <a:r>
                <a:rPr lang="en-US" dirty="0"/>
                <a:t>+ Egg(</a:t>
              </a:r>
              <a:r>
                <a:rPr lang="en-US" dirty="0" err="1"/>
                <a:t>FastFood</a:t>
              </a:r>
              <a:r>
                <a:rPr lang="en-US" dirty="0"/>
                <a:t>)</a:t>
              </a:r>
            </a:p>
            <a:p>
              <a:r>
                <a:rPr lang="en-US" dirty="0"/>
                <a:t>+ cost(): float</a:t>
              </a:r>
            </a:p>
            <a:p>
              <a:r>
                <a:rPr lang="en-US" dirty="0"/>
                <a:t>+ </a:t>
              </a:r>
              <a:r>
                <a:rPr lang="en-US" dirty="0" err="1"/>
                <a:t>getDesc</a:t>
              </a:r>
              <a:r>
                <a:rPr lang="en-US" dirty="0"/>
                <a:t>(): String</a:t>
              </a:r>
            </a:p>
          </p:txBody>
        </p:sp>
        <p:sp>
          <p:nvSpPr>
            <p:cNvPr id="56" name="Rectangle: Rounded Corners 55">
              <a:extLst>
                <a:ext uri="{FF2B5EF4-FFF2-40B4-BE49-F238E27FC236}">
                  <a16:creationId xmlns:a16="http://schemas.microsoft.com/office/drawing/2014/main" id="{16D07397-9A08-744C-4F5A-5379A9AA4A23}"/>
                </a:ext>
              </a:extLst>
            </p:cNvPr>
            <p:cNvSpPr/>
            <p:nvPr/>
          </p:nvSpPr>
          <p:spPr>
            <a:xfrm>
              <a:off x="626759" y="3130041"/>
              <a:ext cx="785833" cy="526374"/>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CF017AB7-997D-1E48-86F1-ACD7C61659A8}"/>
                </a:ext>
              </a:extLst>
            </p:cNvPr>
            <p:cNvCxnSpPr>
              <a:cxnSpLocks/>
            </p:cNvCxnSpPr>
            <p:nvPr/>
          </p:nvCxnSpPr>
          <p:spPr>
            <a:xfrm>
              <a:off x="626759" y="3262639"/>
              <a:ext cx="786428" cy="0"/>
            </a:xfrm>
            <a:prstGeom prst="line">
              <a:avLst/>
            </a:prstGeom>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8D1817FE-0A0B-219F-C428-DA86AEA1E8C6}"/>
                </a:ext>
              </a:extLst>
            </p:cNvPr>
            <p:cNvSpPr txBox="1"/>
            <p:nvPr/>
          </p:nvSpPr>
          <p:spPr>
            <a:xfrm>
              <a:off x="960367" y="3149825"/>
              <a:ext cx="129844" cy="107722"/>
            </a:xfrm>
            <a:prstGeom prst="rect">
              <a:avLst/>
            </a:prstGeom>
            <a:noFill/>
          </p:spPr>
          <p:txBody>
            <a:bodyPr wrap="none" lIns="0" tIns="0" rIns="0" bIns="0" rtlCol="0">
              <a:spAutoFit/>
            </a:bodyPr>
            <a:lstStyle>
              <a:defPPr>
                <a:defRPr lang="en-US"/>
              </a:defPPr>
              <a:lvl1pPr algn="ctr">
                <a:defRPr sz="700" b="1"/>
              </a:lvl1pPr>
            </a:lstStyle>
            <a:p>
              <a:r>
                <a:rPr lang="en-US" dirty="0"/>
                <a:t>Egg</a:t>
              </a:r>
            </a:p>
          </p:txBody>
        </p:sp>
        <p:cxnSp>
          <p:nvCxnSpPr>
            <p:cNvPr id="61" name="Straight Connector 60">
              <a:extLst>
                <a:ext uri="{FF2B5EF4-FFF2-40B4-BE49-F238E27FC236}">
                  <a16:creationId xmlns:a16="http://schemas.microsoft.com/office/drawing/2014/main" id="{0D08CD89-1F5D-A732-2E67-F96E25EE0F70}"/>
                </a:ext>
              </a:extLst>
            </p:cNvPr>
            <p:cNvCxnSpPr>
              <a:cxnSpLocks/>
            </p:cNvCxnSpPr>
            <p:nvPr/>
          </p:nvCxnSpPr>
          <p:spPr>
            <a:xfrm>
              <a:off x="626757" y="3350746"/>
              <a:ext cx="788811" cy="0"/>
            </a:xfrm>
            <a:prstGeom prst="line">
              <a:avLst/>
            </a:prstGeom>
          </p:spPr>
          <p:style>
            <a:lnRef idx="1">
              <a:schemeClr val="dk1"/>
            </a:lnRef>
            <a:fillRef idx="0">
              <a:schemeClr val="dk1"/>
            </a:fillRef>
            <a:effectRef idx="0">
              <a:schemeClr val="dk1"/>
            </a:effectRef>
            <a:fontRef idx="minor">
              <a:schemeClr val="tx1"/>
            </a:fontRef>
          </p:style>
        </p:cxnSp>
      </p:grpSp>
      <p:grpSp>
        <p:nvGrpSpPr>
          <p:cNvPr id="2244" name="Group 2243">
            <a:extLst>
              <a:ext uri="{FF2B5EF4-FFF2-40B4-BE49-F238E27FC236}">
                <a16:creationId xmlns:a16="http://schemas.microsoft.com/office/drawing/2014/main" id="{28E90F68-6D87-1A71-4409-B3A0EAFC2864}"/>
              </a:ext>
            </a:extLst>
          </p:cNvPr>
          <p:cNvGrpSpPr/>
          <p:nvPr/>
        </p:nvGrpSpPr>
        <p:grpSpPr>
          <a:xfrm>
            <a:off x="10071449" y="1407848"/>
            <a:ext cx="821398" cy="526374"/>
            <a:chOff x="626757" y="3130041"/>
            <a:chExt cx="821398" cy="526374"/>
          </a:xfrm>
        </p:grpSpPr>
        <p:sp>
          <p:nvSpPr>
            <p:cNvPr id="2245" name="TextBox 2244">
              <a:extLst>
                <a:ext uri="{FF2B5EF4-FFF2-40B4-BE49-F238E27FC236}">
                  <a16:creationId xmlns:a16="http://schemas.microsoft.com/office/drawing/2014/main" id="{CFB371A8-E935-16BD-075A-5DFFAB24A0BA}"/>
                </a:ext>
              </a:extLst>
            </p:cNvPr>
            <p:cNvSpPr txBox="1"/>
            <p:nvPr/>
          </p:nvSpPr>
          <p:spPr>
            <a:xfrm>
              <a:off x="651687" y="3356835"/>
              <a:ext cx="796468" cy="276999"/>
            </a:xfrm>
            <a:prstGeom prst="rect">
              <a:avLst/>
            </a:prstGeom>
            <a:noFill/>
          </p:spPr>
          <p:txBody>
            <a:bodyPr wrap="square" lIns="0" tIns="0" rIns="0" bIns="0" rtlCol="0">
              <a:spAutoFit/>
            </a:bodyPr>
            <a:lstStyle>
              <a:defPPr>
                <a:defRPr lang="en-US"/>
              </a:defPPr>
              <a:lvl1pPr>
                <a:defRPr sz="600"/>
              </a:lvl1pPr>
            </a:lstStyle>
            <a:p>
              <a:r>
                <a:rPr lang="en-US" dirty="0"/>
                <a:t>+ Bacon(</a:t>
              </a:r>
              <a:r>
                <a:rPr lang="en-US" dirty="0" err="1"/>
                <a:t>FastFood</a:t>
              </a:r>
              <a:r>
                <a:rPr lang="en-US" dirty="0"/>
                <a:t>)</a:t>
              </a:r>
            </a:p>
            <a:p>
              <a:r>
                <a:rPr lang="en-US" dirty="0"/>
                <a:t>+ cost(): float</a:t>
              </a:r>
            </a:p>
            <a:p>
              <a:r>
                <a:rPr lang="en-US" dirty="0"/>
                <a:t>+ </a:t>
              </a:r>
              <a:r>
                <a:rPr lang="en-US" dirty="0" err="1"/>
                <a:t>getDesc</a:t>
              </a:r>
              <a:r>
                <a:rPr lang="en-US" dirty="0"/>
                <a:t>(): String</a:t>
              </a:r>
            </a:p>
          </p:txBody>
        </p:sp>
        <p:sp>
          <p:nvSpPr>
            <p:cNvPr id="2246" name="Rectangle: Rounded Corners 2245">
              <a:extLst>
                <a:ext uri="{FF2B5EF4-FFF2-40B4-BE49-F238E27FC236}">
                  <a16:creationId xmlns:a16="http://schemas.microsoft.com/office/drawing/2014/main" id="{0285F2AA-B7B2-A66E-6D2B-1B16B8BEA1F7}"/>
                </a:ext>
              </a:extLst>
            </p:cNvPr>
            <p:cNvSpPr/>
            <p:nvPr/>
          </p:nvSpPr>
          <p:spPr>
            <a:xfrm>
              <a:off x="626759" y="3130041"/>
              <a:ext cx="785833" cy="526374"/>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47" name="Straight Connector 2246">
              <a:extLst>
                <a:ext uri="{FF2B5EF4-FFF2-40B4-BE49-F238E27FC236}">
                  <a16:creationId xmlns:a16="http://schemas.microsoft.com/office/drawing/2014/main" id="{AC3EAA3A-B7D6-432C-BE91-B31E80F32906}"/>
                </a:ext>
              </a:extLst>
            </p:cNvPr>
            <p:cNvCxnSpPr>
              <a:cxnSpLocks/>
            </p:cNvCxnSpPr>
            <p:nvPr/>
          </p:nvCxnSpPr>
          <p:spPr>
            <a:xfrm>
              <a:off x="626759" y="3262639"/>
              <a:ext cx="786428" cy="0"/>
            </a:xfrm>
            <a:prstGeom prst="line">
              <a:avLst/>
            </a:prstGeom>
          </p:spPr>
          <p:style>
            <a:lnRef idx="1">
              <a:schemeClr val="dk1"/>
            </a:lnRef>
            <a:fillRef idx="0">
              <a:schemeClr val="dk1"/>
            </a:fillRef>
            <a:effectRef idx="0">
              <a:schemeClr val="dk1"/>
            </a:effectRef>
            <a:fontRef idx="minor">
              <a:schemeClr val="tx1"/>
            </a:fontRef>
          </p:style>
        </p:cxnSp>
        <p:sp>
          <p:nvSpPr>
            <p:cNvPr id="2248" name="TextBox 2247">
              <a:extLst>
                <a:ext uri="{FF2B5EF4-FFF2-40B4-BE49-F238E27FC236}">
                  <a16:creationId xmlns:a16="http://schemas.microsoft.com/office/drawing/2014/main" id="{AE6335B9-2337-B6A3-D5D3-8013242D993D}"/>
                </a:ext>
              </a:extLst>
            </p:cNvPr>
            <p:cNvSpPr txBox="1"/>
            <p:nvPr/>
          </p:nvSpPr>
          <p:spPr>
            <a:xfrm>
              <a:off x="911477" y="3149825"/>
              <a:ext cx="227626" cy="107722"/>
            </a:xfrm>
            <a:prstGeom prst="rect">
              <a:avLst/>
            </a:prstGeom>
            <a:noFill/>
          </p:spPr>
          <p:txBody>
            <a:bodyPr wrap="none" lIns="0" tIns="0" rIns="0" bIns="0" rtlCol="0">
              <a:spAutoFit/>
            </a:bodyPr>
            <a:lstStyle>
              <a:defPPr>
                <a:defRPr lang="en-US"/>
              </a:defPPr>
              <a:lvl1pPr algn="ctr">
                <a:defRPr sz="700" b="1"/>
              </a:lvl1pPr>
            </a:lstStyle>
            <a:p>
              <a:r>
                <a:rPr lang="en-US" dirty="0"/>
                <a:t>Bacon</a:t>
              </a:r>
            </a:p>
          </p:txBody>
        </p:sp>
        <p:cxnSp>
          <p:nvCxnSpPr>
            <p:cNvPr id="2249" name="Straight Connector 2248">
              <a:extLst>
                <a:ext uri="{FF2B5EF4-FFF2-40B4-BE49-F238E27FC236}">
                  <a16:creationId xmlns:a16="http://schemas.microsoft.com/office/drawing/2014/main" id="{AE941062-F6E3-8911-C063-13049DAC96B1}"/>
                </a:ext>
              </a:extLst>
            </p:cNvPr>
            <p:cNvCxnSpPr>
              <a:cxnSpLocks/>
            </p:cNvCxnSpPr>
            <p:nvPr/>
          </p:nvCxnSpPr>
          <p:spPr>
            <a:xfrm>
              <a:off x="626757" y="3350746"/>
              <a:ext cx="788811" cy="0"/>
            </a:xfrm>
            <a:prstGeom prst="line">
              <a:avLst/>
            </a:prstGeom>
          </p:spPr>
          <p:style>
            <a:lnRef idx="1">
              <a:schemeClr val="dk1"/>
            </a:lnRef>
            <a:fillRef idx="0">
              <a:schemeClr val="dk1"/>
            </a:fillRef>
            <a:effectRef idx="0">
              <a:schemeClr val="dk1"/>
            </a:effectRef>
            <a:fontRef idx="minor">
              <a:schemeClr val="tx1"/>
            </a:fontRef>
          </p:style>
        </p:cxnSp>
      </p:grpSp>
      <p:cxnSp>
        <p:nvCxnSpPr>
          <p:cNvPr id="2250" name="Connector: Elbow 2249">
            <a:extLst>
              <a:ext uri="{FF2B5EF4-FFF2-40B4-BE49-F238E27FC236}">
                <a16:creationId xmlns:a16="http://schemas.microsoft.com/office/drawing/2014/main" id="{78E08620-8F97-B554-DF8B-1BE846A17B0A}"/>
              </a:ext>
            </a:extLst>
          </p:cNvPr>
          <p:cNvCxnSpPr>
            <a:cxnSpLocks/>
            <a:stCxn id="33" idx="1"/>
          </p:cNvCxnSpPr>
          <p:nvPr/>
        </p:nvCxnSpPr>
        <p:spPr>
          <a:xfrm rot="10800000">
            <a:off x="8683357" y="903677"/>
            <a:ext cx="122165" cy="326374"/>
          </a:xfrm>
          <a:prstGeom prst="bentConnector2">
            <a:avLst/>
          </a:prstGeom>
        </p:spPr>
        <p:style>
          <a:lnRef idx="1">
            <a:schemeClr val="dk1"/>
          </a:lnRef>
          <a:fillRef idx="0">
            <a:schemeClr val="dk1"/>
          </a:fillRef>
          <a:effectRef idx="0">
            <a:schemeClr val="dk1"/>
          </a:effectRef>
          <a:fontRef idx="minor">
            <a:schemeClr val="tx1"/>
          </a:fontRef>
        </p:style>
      </p:cxnSp>
      <p:cxnSp>
        <p:nvCxnSpPr>
          <p:cNvPr id="2253" name="Connector: Elbow 2252">
            <a:extLst>
              <a:ext uri="{FF2B5EF4-FFF2-40B4-BE49-F238E27FC236}">
                <a16:creationId xmlns:a16="http://schemas.microsoft.com/office/drawing/2014/main" id="{E98742D4-3721-E684-8B1E-033B0C7079EB}"/>
              </a:ext>
            </a:extLst>
          </p:cNvPr>
          <p:cNvCxnSpPr>
            <a:cxnSpLocks/>
            <a:stCxn id="41" idx="1"/>
          </p:cNvCxnSpPr>
          <p:nvPr/>
        </p:nvCxnSpPr>
        <p:spPr>
          <a:xfrm rot="10800000">
            <a:off x="8683357" y="1230053"/>
            <a:ext cx="122164" cy="492917"/>
          </a:xfrm>
          <a:prstGeom prst="bentConnector2">
            <a:avLst/>
          </a:prstGeom>
        </p:spPr>
        <p:style>
          <a:lnRef idx="1">
            <a:schemeClr val="dk1"/>
          </a:lnRef>
          <a:fillRef idx="0">
            <a:schemeClr val="dk1"/>
          </a:fillRef>
          <a:effectRef idx="0">
            <a:schemeClr val="dk1"/>
          </a:effectRef>
          <a:fontRef idx="minor">
            <a:schemeClr val="tx1"/>
          </a:fontRef>
        </p:style>
      </p:cxnSp>
      <p:cxnSp>
        <p:nvCxnSpPr>
          <p:cNvPr id="2256" name="Connector: Elbow 2255">
            <a:extLst>
              <a:ext uri="{FF2B5EF4-FFF2-40B4-BE49-F238E27FC236}">
                <a16:creationId xmlns:a16="http://schemas.microsoft.com/office/drawing/2014/main" id="{B48C7D56-E85C-3159-6FDF-67724DCE9C98}"/>
              </a:ext>
            </a:extLst>
          </p:cNvPr>
          <p:cNvCxnSpPr>
            <a:cxnSpLocks/>
            <a:stCxn id="2246" idx="1"/>
          </p:cNvCxnSpPr>
          <p:nvPr/>
        </p:nvCxnSpPr>
        <p:spPr>
          <a:xfrm rot="10800000">
            <a:off x="9908905" y="1059055"/>
            <a:ext cx="162546" cy="611981"/>
          </a:xfrm>
          <a:prstGeom prst="bentConnector2">
            <a:avLst/>
          </a:prstGeom>
        </p:spPr>
        <p:style>
          <a:lnRef idx="1">
            <a:schemeClr val="dk1"/>
          </a:lnRef>
          <a:fillRef idx="0">
            <a:schemeClr val="dk1"/>
          </a:fillRef>
          <a:effectRef idx="0">
            <a:schemeClr val="dk1"/>
          </a:effectRef>
          <a:fontRef idx="minor">
            <a:schemeClr val="tx1"/>
          </a:fontRef>
        </p:style>
      </p:cxnSp>
      <p:cxnSp>
        <p:nvCxnSpPr>
          <p:cNvPr id="2259" name="Connector: Elbow 2258">
            <a:extLst>
              <a:ext uri="{FF2B5EF4-FFF2-40B4-BE49-F238E27FC236}">
                <a16:creationId xmlns:a16="http://schemas.microsoft.com/office/drawing/2014/main" id="{4AD47235-1213-558C-2FBE-A494592E6A1A}"/>
              </a:ext>
            </a:extLst>
          </p:cNvPr>
          <p:cNvCxnSpPr>
            <a:cxnSpLocks/>
            <a:stCxn id="56" idx="1"/>
          </p:cNvCxnSpPr>
          <p:nvPr/>
        </p:nvCxnSpPr>
        <p:spPr>
          <a:xfrm rot="10800000">
            <a:off x="9908905" y="759590"/>
            <a:ext cx="162547" cy="359789"/>
          </a:xfrm>
          <a:prstGeom prst="bentConnector2">
            <a:avLst/>
          </a:prstGeom>
        </p:spPr>
        <p:style>
          <a:lnRef idx="1">
            <a:schemeClr val="dk1"/>
          </a:lnRef>
          <a:fillRef idx="0">
            <a:schemeClr val="dk1"/>
          </a:fillRef>
          <a:effectRef idx="0">
            <a:schemeClr val="dk1"/>
          </a:effectRef>
          <a:fontRef idx="minor">
            <a:schemeClr val="tx1"/>
          </a:fontRef>
        </p:style>
      </p:cxnSp>
      <p:cxnSp>
        <p:nvCxnSpPr>
          <p:cNvPr id="2318" name="Straight Connector 2317">
            <a:extLst>
              <a:ext uri="{FF2B5EF4-FFF2-40B4-BE49-F238E27FC236}">
                <a16:creationId xmlns:a16="http://schemas.microsoft.com/office/drawing/2014/main" id="{85E7EDE9-156C-9465-9208-1679F412AB6E}"/>
              </a:ext>
            </a:extLst>
          </p:cNvPr>
          <p:cNvCxnSpPr>
            <a:cxnSpLocks/>
            <a:stCxn id="47" idx="1"/>
            <a:endCxn id="22" idx="3"/>
          </p:cNvCxnSpPr>
          <p:nvPr/>
        </p:nvCxnSpPr>
        <p:spPr>
          <a:xfrm flipH="1">
            <a:off x="9448068" y="485507"/>
            <a:ext cx="410488" cy="4033"/>
          </a:xfrm>
          <a:prstGeom prst="line">
            <a:avLst/>
          </a:prstGeom>
        </p:spPr>
        <p:style>
          <a:lnRef idx="1">
            <a:schemeClr val="dk1"/>
          </a:lnRef>
          <a:fillRef idx="0">
            <a:schemeClr val="dk1"/>
          </a:fillRef>
          <a:effectRef idx="0">
            <a:schemeClr val="dk1"/>
          </a:effectRef>
          <a:fontRef idx="minor">
            <a:schemeClr val="tx1"/>
          </a:fontRef>
        </p:style>
      </p:cxnSp>
      <p:sp>
        <p:nvSpPr>
          <p:cNvPr id="2329" name="Isosceles Triangle 2328">
            <a:extLst>
              <a:ext uri="{FF2B5EF4-FFF2-40B4-BE49-F238E27FC236}">
                <a16:creationId xmlns:a16="http://schemas.microsoft.com/office/drawing/2014/main" id="{C9FA2C6D-40DE-8B77-F8C5-D2BDF19921AA}"/>
              </a:ext>
            </a:extLst>
          </p:cNvPr>
          <p:cNvSpPr/>
          <p:nvPr/>
        </p:nvSpPr>
        <p:spPr>
          <a:xfrm>
            <a:off x="8660496" y="906851"/>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1" name="Isosceles Triangle 2330">
            <a:extLst>
              <a:ext uri="{FF2B5EF4-FFF2-40B4-BE49-F238E27FC236}">
                <a16:creationId xmlns:a16="http://schemas.microsoft.com/office/drawing/2014/main" id="{7D67E390-B769-071B-69F9-04633E70F7F4}"/>
              </a:ext>
            </a:extLst>
          </p:cNvPr>
          <p:cNvSpPr/>
          <p:nvPr/>
        </p:nvSpPr>
        <p:spPr>
          <a:xfrm>
            <a:off x="9886044" y="767202"/>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2" name="Diamond 2331">
            <a:extLst>
              <a:ext uri="{FF2B5EF4-FFF2-40B4-BE49-F238E27FC236}">
                <a16:creationId xmlns:a16="http://schemas.microsoft.com/office/drawing/2014/main" id="{A2589793-4726-80D9-97AC-64A79A7FB13D}"/>
              </a:ext>
            </a:extLst>
          </p:cNvPr>
          <p:cNvSpPr/>
          <p:nvPr/>
        </p:nvSpPr>
        <p:spPr>
          <a:xfrm>
            <a:off x="9772472" y="462647"/>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58" name="Group 2557">
            <a:extLst>
              <a:ext uri="{FF2B5EF4-FFF2-40B4-BE49-F238E27FC236}">
                <a16:creationId xmlns:a16="http://schemas.microsoft.com/office/drawing/2014/main" id="{A5950A85-71BE-0A46-933B-22EB00DACC2C}"/>
              </a:ext>
            </a:extLst>
          </p:cNvPr>
          <p:cNvGrpSpPr/>
          <p:nvPr/>
        </p:nvGrpSpPr>
        <p:grpSpPr>
          <a:xfrm>
            <a:off x="407741" y="4448635"/>
            <a:ext cx="612148" cy="415655"/>
            <a:chOff x="626757" y="3130041"/>
            <a:chExt cx="612148" cy="415655"/>
          </a:xfrm>
        </p:grpSpPr>
        <p:sp>
          <p:nvSpPr>
            <p:cNvPr id="2559" name="TextBox 2558">
              <a:extLst>
                <a:ext uri="{FF2B5EF4-FFF2-40B4-BE49-F238E27FC236}">
                  <a16:creationId xmlns:a16="http://schemas.microsoft.com/office/drawing/2014/main" id="{E5EC9E1C-BE04-CA78-106C-4CE8012C10CD}"/>
                </a:ext>
              </a:extLst>
            </p:cNvPr>
            <p:cNvSpPr txBox="1"/>
            <p:nvPr/>
          </p:nvSpPr>
          <p:spPr>
            <a:xfrm>
              <a:off x="651687" y="3356835"/>
              <a:ext cx="555468" cy="184666"/>
            </a:xfrm>
            <a:prstGeom prst="rect">
              <a:avLst/>
            </a:prstGeom>
            <a:noFill/>
          </p:spPr>
          <p:txBody>
            <a:bodyPr wrap="square" lIns="0" tIns="0" rIns="0" bIns="0" rtlCol="0">
              <a:spAutoFit/>
            </a:bodyPr>
            <a:lstStyle>
              <a:defPPr>
                <a:defRPr lang="en-US"/>
              </a:defPPr>
              <a:lvl1pPr>
                <a:defRPr sz="600"/>
              </a:lvl1pPr>
            </a:lstStyle>
            <a:p>
              <a:r>
                <a:rPr lang="en-US" dirty="0"/>
                <a:t>+ on()</a:t>
              </a:r>
            </a:p>
            <a:p>
              <a:r>
                <a:rPr lang="en-US" dirty="0"/>
                <a:t>+ off()</a:t>
              </a:r>
            </a:p>
          </p:txBody>
        </p:sp>
        <p:sp>
          <p:nvSpPr>
            <p:cNvPr id="2048" name="Rectangle: Rounded Corners 2047">
              <a:extLst>
                <a:ext uri="{FF2B5EF4-FFF2-40B4-BE49-F238E27FC236}">
                  <a16:creationId xmlns:a16="http://schemas.microsoft.com/office/drawing/2014/main" id="{89B6211D-9C14-E117-8E7F-1BD2B9F7EA93}"/>
                </a:ext>
              </a:extLst>
            </p:cNvPr>
            <p:cNvSpPr/>
            <p:nvPr/>
          </p:nvSpPr>
          <p:spPr>
            <a:xfrm>
              <a:off x="626759" y="3130041"/>
              <a:ext cx="605796" cy="415655"/>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49" name="Straight Connector 2048">
              <a:extLst>
                <a:ext uri="{FF2B5EF4-FFF2-40B4-BE49-F238E27FC236}">
                  <a16:creationId xmlns:a16="http://schemas.microsoft.com/office/drawing/2014/main" id="{55FA1FFA-98F9-72AF-BDAD-1A72CE5F0059}"/>
                </a:ext>
              </a:extLst>
            </p:cNvPr>
            <p:cNvCxnSpPr>
              <a:cxnSpLocks/>
            </p:cNvCxnSpPr>
            <p:nvPr/>
          </p:nvCxnSpPr>
          <p:spPr>
            <a:xfrm>
              <a:off x="626759" y="3262639"/>
              <a:ext cx="608971" cy="0"/>
            </a:xfrm>
            <a:prstGeom prst="line">
              <a:avLst/>
            </a:prstGeom>
          </p:spPr>
          <p:style>
            <a:lnRef idx="1">
              <a:schemeClr val="dk1"/>
            </a:lnRef>
            <a:fillRef idx="0">
              <a:schemeClr val="dk1"/>
            </a:fillRef>
            <a:effectRef idx="0">
              <a:schemeClr val="dk1"/>
            </a:effectRef>
            <a:fontRef idx="minor">
              <a:schemeClr val="tx1"/>
            </a:fontRef>
          </p:style>
        </p:cxnSp>
        <p:sp>
          <p:nvSpPr>
            <p:cNvPr id="2050" name="TextBox 2049">
              <a:extLst>
                <a:ext uri="{FF2B5EF4-FFF2-40B4-BE49-F238E27FC236}">
                  <a16:creationId xmlns:a16="http://schemas.microsoft.com/office/drawing/2014/main" id="{C0499E18-6166-AF21-19D0-1D73A5527FD4}"/>
                </a:ext>
              </a:extLst>
            </p:cNvPr>
            <p:cNvSpPr txBox="1"/>
            <p:nvPr/>
          </p:nvSpPr>
          <p:spPr>
            <a:xfrm>
              <a:off x="687248" y="3149825"/>
              <a:ext cx="472886" cy="107722"/>
            </a:xfrm>
            <a:prstGeom prst="rect">
              <a:avLst/>
            </a:prstGeom>
            <a:noFill/>
          </p:spPr>
          <p:txBody>
            <a:bodyPr wrap="none" lIns="0" tIns="0" rIns="0" bIns="0" rtlCol="0">
              <a:spAutoFit/>
            </a:bodyPr>
            <a:lstStyle>
              <a:defPPr>
                <a:defRPr lang="en-US"/>
              </a:defPPr>
              <a:lvl1pPr algn="ctr">
                <a:defRPr sz="700" b="1"/>
              </a:lvl1pPr>
            </a:lstStyle>
            <a:p>
              <a:r>
                <a:rPr lang="en-US" dirty="0" err="1"/>
                <a:t>AirCondition</a:t>
              </a:r>
              <a:endParaRPr lang="en-US" dirty="0"/>
            </a:p>
          </p:txBody>
        </p:sp>
        <p:cxnSp>
          <p:nvCxnSpPr>
            <p:cNvPr id="2051" name="Straight Connector 2050">
              <a:extLst>
                <a:ext uri="{FF2B5EF4-FFF2-40B4-BE49-F238E27FC236}">
                  <a16:creationId xmlns:a16="http://schemas.microsoft.com/office/drawing/2014/main" id="{832EA231-2247-DA35-7698-8EF18ADD8935}"/>
                </a:ext>
              </a:extLst>
            </p:cNvPr>
            <p:cNvCxnSpPr>
              <a:cxnSpLocks/>
            </p:cNvCxnSpPr>
            <p:nvPr/>
          </p:nvCxnSpPr>
          <p:spPr>
            <a:xfrm>
              <a:off x="626757" y="3350746"/>
              <a:ext cx="612148" cy="0"/>
            </a:xfrm>
            <a:prstGeom prst="line">
              <a:avLst/>
            </a:prstGeom>
          </p:spPr>
          <p:style>
            <a:lnRef idx="1">
              <a:schemeClr val="dk1"/>
            </a:lnRef>
            <a:fillRef idx="0">
              <a:schemeClr val="dk1"/>
            </a:fillRef>
            <a:effectRef idx="0">
              <a:schemeClr val="dk1"/>
            </a:effectRef>
            <a:fontRef idx="minor">
              <a:schemeClr val="tx1"/>
            </a:fontRef>
          </p:style>
        </p:cxnSp>
      </p:grpSp>
      <p:grpSp>
        <p:nvGrpSpPr>
          <p:cNvPr id="2054" name="Group 2053">
            <a:extLst>
              <a:ext uri="{FF2B5EF4-FFF2-40B4-BE49-F238E27FC236}">
                <a16:creationId xmlns:a16="http://schemas.microsoft.com/office/drawing/2014/main" id="{72D6B9C8-7A41-C7C8-E609-65B642B09D96}"/>
              </a:ext>
            </a:extLst>
          </p:cNvPr>
          <p:cNvGrpSpPr/>
          <p:nvPr/>
        </p:nvGrpSpPr>
        <p:grpSpPr>
          <a:xfrm>
            <a:off x="417567" y="3975560"/>
            <a:ext cx="612148" cy="415655"/>
            <a:chOff x="626757" y="3130041"/>
            <a:chExt cx="612148" cy="415655"/>
          </a:xfrm>
        </p:grpSpPr>
        <p:sp>
          <p:nvSpPr>
            <p:cNvPr id="2055" name="TextBox 2054">
              <a:extLst>
                <a:ext uri="{FF2B5EF4-FFF2-40B4-BE49-F238E27FC236}">
                  <a16:creationId xmlns:a16="http://schemas.microsoft.com/office/drawing/2014/main" id="{4572A525-1C58-F410-7C4F-78C7F875A243}"/>
                </a:ext>
              </a:extLst>
            </p:cNvPr>
            <p:cNvSpPr txBox="1"/>
            <p:nvPr/>
          </p:nvSpPr>
          <p:spPr>
            <a:xfrm>
              <a:off x="651687" y="3356835"/>
              <a:ext cx="555468" cy="184666"/>
            </a:xfrm>
            <a:prstGeom prst="rect">
              <a:avLst/>
            </a:prstGeom>
            <a:noFill/>
          </p:spPr>
          <p:txBody>
            <a:bodyPr wrap="square" lIns="0" tIns="0" rIns="0" bIns="0" rtlCol="0">
              <a:spAutoFit/>
            </a:bodyPr>
            <a:lstStyle>
              <a:defPPr>
                <a:defRPr lang="en-US"/>
              </a:defPPr>
              <a:lvl1pPr>
                <a:defRPr sz="600"/>
              </a:lvl1pPr>
            </a:lstStyle>
            <a:p>
              <a:r>
                <a:rPr lang="en-US" dirty="0"/>
                <a:t>+ on()</a:t>
              </a:r>
            </a:p>
            <a:p>
              <a:r>
                <a:rPr lang="en-US" dirty="0"/>
                <a:t>+ off()</a:t>
              </a:r>
            </a:p>
          </p:txBody>
        </p:sp>
        <p:sp>
          <p:nvSpPr>
            <p:cNvPr id="2056" name="Rectangle: Rounded Corners 2055">
              <a:extLst>
                <a:ext uri="{FF2B5EF4-FFF2-40B4-BE49-F238E27FC236}">
                  <a16:creationId xmlns:a16="http://schemas.microsoft.com/office/drawing/2014/main" id="{2610C62E-B814-E9E0-2949-B65C90E8EB23}"/>
                </a:ext>
              </a:extLst>
            </p:cNvPr>
            <p:cNvSpPr/>
            <p:nvPr/>
          </p:nvSpPr>
          <p:spPr>
            <a:xfrm>
              <a:off x="626759" y="3130041"/>
              <a:ext cx="605796" cy="415655"/>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57" name="Straight Connector 2056">
              <a:extLst>
                <a:ext uri="{FF2B5EF4-FFF2-40B4-BE49-F238E27FC236}">
                  <a16:creationId xmlns:a16="http://schemas.microsoft.com/office/drawing/2014/main" id="{8D371890-98E4-4393-C1DC-0B9495E1895A}"/>
                </a:ext>
              </a:extLst>
            </p:cNvPr>
            <p:cNvCxnSpPr>
              <a:cxnSpLocks/>
            </p:cNvCxnSpPr>
            <p:nvPr/>
          </p:nvCxnSpPr>
          <p:spPr>
            <a:xfrm>
              <a:off x="626759" y="3262639"/>
              <a:ext cx="608971" cy="0"/>
            </a:xfrm>
            <a:prstGeom prst="line">
              <a:avLst/>
            </a:prstGeom>
          </p:spPr>
          <p:style>
            <a:lnRef idx="1">
              <a:schemeClr val="dk1"/>
            </a:lnRef>
            <a:fillRef idx="0">
              <a:schemeClr val="dk1"/>
            </a:fillRef>
            <a:effectRef idx="0">
              <a:schemeClr val="dk1"/>
            </a:effectRef>
            <a:fontRef idx="minor">
              <a:schemeClr val="tx1"/>
            </a:fontRef>
          </p:style>
        </p:cxnSp>
        <p:sp>
          <p:nvSpPr>
            <p:cNvPr id="2058" name="TextBox 2057">
              <a:extLst>
                <a:ext uri="{FF2B5EF4-FFF2-40B4-BE49-F238E27FC236}">
                  <a16:creationId xmlns:a16="http://schemas.microsoft.com/office/drawing/2014/main" id="{717E3A35-1DE9-671A-9DD9-C506DB08C04C}"/>
                </a:ext>
              </a:extLst>
            </p:cNvPr>
            <p:cNvSpPr txBox="1"/>
            <p:nvPr/>
          </p:nvSpPr>
          <p:spPr>
            <a:xfrm>
              <a:off x="874799" y="3149825"/>
              <a:ext cx="97784" cy="107722"/>
            </a:xfrm>
            <a:prstGeom prst="rect">
              <a:avLst/>
            </a:prstGeom>
            <a:noFill/>
          </p:spPr>
          <p:txBody>
            <a:bodyPr wrap="none" lIns="0" tIns="0" rIns="0" bIns="0" rtlCol="0">
              <a:spAutoFit/>
            </a:bodyPr>
            <a:lstStyle>
              <a:defPPr>
                <a:defRPr lang="en-US"/>
              </a:defPPr>
              <a:lvl1pPr algn="ctr">
                <a:defRPr sz="700" b="1"/>
              </a:lvl1pPr>
            </a:lstStyle>
            <a:p>
              <a:r>
                <a:rPr lang="en-US" dirty="0"/>
                <a:t>TV</a:t>
              </a:r>
            </a:p>
          </p:txBody>
        </p:sp>
        <p:cxnSp>
          <p:nvCxnSpPr>
            <p:cNvPr id="2059" name="Straight Connector 2058">
              <a:extLst>
                <a:ext uri="{FF2B5EF4-FFF2-40B4-BE49-F238E27FC236}">
                  <a16:creationId xmlns:a16="http://schemas.microsoft.com/office/drawing/2014/main" id="{127D8B6C-0A82-A1EA-6B42-FC1C42D9D8DC}"/>
                </a:ext>
              </a:extLst>
            </p:cNvPr>
            <p:cNvCxnSpPr>
              <a:cxnSpLocks/>
            </p:cNvCxnSpPr>
            <p:nvPr/>
          </p:nvCxnSpPr>
          <p:spPr>
            <a:xfrm>
              <a:off x="626757" y="3350746"/>
              <a:ext cx="612148" cy="0"/>
            </a:xfrm>
            <a:prstGeom prst="line">
              <a:avLst/>
            </a:prstGeom>
          </p:spPr>
          <p:style>
            <a:lnRef idx="1">
              <a:schemeClr val="dk1"/>
            </a:lnRef>
            <a:fillRef idx="0">
              <a:schemeClr val="dk1"/>
            </a:fillRef>
            <a:effectRef idx="0">
              <a:schemeClr val="dk1"/>
            </a:effectRef>
            <a:fontRef idx="minor">
              <a:schemeClr val="tx1"/>
            </a:fontRef>
          </p:style>
        </p:cxnSp>
      </p:grpSp>
      <p:grpSp>
        <p:nvGrpSpPr>
          <p:cNvPr id="2060" name="Group 2059">
            <a:extLst>
              <a:ext uri="{FF2B5EF4-FFF2-40B4-BE49-F238E27FC236}">
                <a16:creationId xmlns:a16="http://schemas.microsoft.com/office/drawing/2014/main" id="{40AE5307-F569-DE1C-0018-77248046D50E}"/>
              </a:ext>
            </a:extLst>
          </p:cNvPr>
          <p:cNvGrpSpPr/>
          <p:nvPr/>
        </p:nvGrpSpPr>
        <p:grpSpPr>
          <a:xfrm>
            <a:off x="417567" y="3494801"/>
            <a:ext cx="612148" cy="415655"/>
            <a:chOff x="626757" y="3130041"/>
            <a:chExt cx="612148" cy="415655"/>
          </a:xfrm>
        </p:grpSpPr>
        <p:sp>
          <p:nvSpPr>
            <p:cNvPr id="2061" name="TextBox 2060">
              <a:extLst>
                <a:ext uri="{FF2B5EF4-FFF2-40B4-BE49-F238E27FC236}">
                  <a16:creationId xmlns:a16="http://schemas.microsoft.com/office/drawing/2014/main" id="{EBB3B619-1178-46E5-685E-9B71DC1CA1A4}"/>
                </a:ext>
              </a:extLst>
            </p:cNvPr>
            <p:cNvSpPr txBox="1"/>
            <p:nvPr/>
          </p:nvSpPr>
          <p:spPr>
            <a:xfrm>
              <a:off x="651687" y="3356835"/>
              <a:ext cx="555468" cy="184666"/>
            </a:xfrm>
            <a:prstGeom prst="rect">
              <a:avLst/>
            </a:prstGeom>
            <a:noFill/>
          </p:spPr>
          <p:txBody>
            <a:bodyPr wrap="square" lIns="0" tIns="0" rIns="0" bIns="0" rtlCol="0">
              <a:spAutoFit/>
            </a:bodyPr>
            <a:lstStyle>
              <a:defPPr>
                <a:defRPr lang="en-US"/>
              </a:defPPr>
              <a:lvl1pPr>
                <a:defRPr sz="600"/>
              </a:lvl1pPr>
            </a:lstStyle>
            <a:p>
              <a:r>
                <a:rPr lang="en-US" dirty="0"/>
                <a:t>+ on()</a:t>
              </a:r>
            </a:p>
            <a:p>
              <a:r>
                <a:rPr lang="en-US" dirty="0"/>
                <a:t>+ off()</a:t>
              </a:r>
            </a:p>
          </p:txBody>
        </p:sp>
        <p:sp>
          <p:nvSpPr>
            <p:cNvPr id="2062" name="Rectangle: Rounded Corners 2061">
              <a:extLst>
                <a:ext uri="{FF2B5EF4-FFF2-40B4-BE49-F238E27FC236}">
                  <a16:creationId xmlns:a16="http://schemas.microsoft.com/office/drawing/2014/main" id="{784D3E54-4C4E-193E-E874-A83C2026256B}"/>
                </a:ext>
              </a:extLst>
            </p:cNvPr>
            <p:cNvSpPr/>
            <p:nvPr/>
          </p:nvSpPr>
          <p:spPr>
            <a:xfrm>
              <a:off x="626759" y="3130041"/>
              <a:ext cx="605796" cy="415655"/>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63" name="Straight Connector 2062">
              <a:extLst>
                <a:ext uri="{FF2B5EF4-FFF2-40B4-BE49-F238E27FC236}">
                  <a16:creationId xmlns:a16="http://schemas.microsoft.com/office/drawing/2014/main" id="{C0298A71-BFE9-B1AD-D8FF-DD9E7FD0AC23}"/>
                </a:ext>
              </a:extLst>
            </p:cNvPr>
            <p:cNvCxnSpPr>
              <a:cxnSpLocks/>
            </p:cNvCxnSpPr>
            <p:nvPr/>
          </p:nvCxnSpPr>
          <p:spPr>
            <a:xfrm>
              <a:off x="626759" y="3262639"/>
              <a:ext cx="608971" cy="0"/>
            </a:xfrm>
            <a:prstGeom prst="line">
              <a:avLst/>
            </a:prstGeom>
          </p:spPr>
          <p:style>
            <a:lnRef idx="1">
              <a:schemeClr val="dk1"/>
            </a:lnRef>
            <a:fillRef idx="0">
              <a:schemeClr val="dk1"/>
            </a:fillRef>
            <a:effectRef idx="0">
              <a:schemeClr val="dk1"/>
            </a:effectRef>
            <a:fontRef idx="minor">
              <a:schemeClr val="tx1"/>
            </a:fontRef>
          </p:style>
        </p:cxnSp>
        <p:sp>
          <p:nvSpPr>
            <p:cNvPr id="2064" name="TextBox 2063">
              <a:extLst>
                <a:ext uri="{FF2B5EF4-FFF2-40B4-BE49-F238E27FC236}">
                  <a16:creationId xmlns:a16="http://schemas.microsoft.com/office/drawing/2014/main" id="{F169EE51-B572-77FD-A8D4-96C7CDA7C90E}"/>
                </a:ext>
              </a:extLst>
            </p:cNvPr>
            <p:cNvSpPr txBox="1"/>
            <p:nvPr/>
          </p:nvSpPr>
          <p:spPr>
            <a:xfrm>
              <a:off x="832321" y="3149825"/>
              <a:ext cx="182743" cy="107722"/>
            </a:xfrm>
            <a:prstGeom prst="rect">
              <a:avLst/>
            </a:prstGeom>
            <a:noFill/>
          </p:spPr>
          <p:txBody>
            <a:bodyPr wrap="none" lIns="0" tIns="0" rIns="0" bIns="0" rtlCol="0">
              <a:spAutoFit/>
            </a:bodyPr>
            <a:lstStyle>
              <a:defPPr>
                <a:defRPr lang="en-US"/>
              </a:defPPr>
              <a:lvl1pPr algn="ctr">
                <a:defRPr sz="700" b="1"/>
              </a:lvl1pPr>
            </a:lstStyle>
            <a:p>
              <a:r>
                <a:rPr lang="en-US" dirty="0"/>
                <a:t>Light</a:t>
              </a:r>
            </a:p>
          </p:txBody>
        </p:sp>
        <p:cxnSp>
          <p:nvCxnSpPr>
            <p:cNvPr id="2065" name="Straight Connector 2064">
              <a:extLst>
                <a:ext uri="{FF2B5EF4-FFF2-40B4-BE49-F238E27FC236}">
                  <a16:creationId xmlns:a16="http://schemas.microsoft.com/office/drawing/2014/main" id="{D54CD908-ECA5-C6DA-375E-DFD2F7CF7A50}"/>
                </a:ext>
              </a:extLst>
            </p:cNvPr>
            <p:cNvCxnSpPr>
              <a:cxnSpLocks/>
            </p:cNvCxnSpPr>
            <p:nvPr/>
          </p:nvCxnSpPr>
          <p:spPr>
            <a:xfrm>
              <a:off x="626757" y="3350746"/>
              <a:ext cx="612148" cy="0"/>
            </a:xfrm>
            <a:prstGeom prst="line">
              <a:avLst/>
            </a:prstGeom>
          </p:spPr>
          <p:style>
            <a:lnRef idx="1">
              <a:schemeClr val="dk1"/>
            </a:lnRef>
            <a:fillRef idx="0">
              <a:schemeClr val="dk1"/>
            </a:fillRef>
            <a:effectRef idx="0">
              <a:schemeClr val="dk1"/>
            </a:effectRef>
            <a:fontRef idx="minor">
              <a:schemeClr val="tx1"/>
            </a:fontRef>
          </p:style>
        </p:cxnSp>
      </p:grpSp>
      <p:grpSp>
        <p:nvGrpSpPr>
          <p:cNvPr id="2066" name="Group 2065">
            <a:extLst>
              <a:ext uri="{FF2B5EF4-FFF2-40B4-BE49-F238E27FC236}">
                <a16:creationId xmlns:a16="http://schemas.microsoft.com/office/drawing/2014/main" id="{2E8BA87D-4272-6F4E-565F-EAF6B537844A}"/>
              </a:ext>
            </a:extLst>
          </p:cNvPr>
          <p:cNvGrpSpPr/>
          <p:nvPr/>
        </p:nvGrpSpPr>
        <p:grpSpPr>
          <a:xfrm>
            <a:off x="86556" y="2603476"/>
            <a:ext cx="946162" cy="789798"/>
            <a:chOff x="626757" y="3130041"/>
            <a:chExt cx="946162" cy="789798"/>
          </a:xfrm>
        </p:grpSpPr>
        <p:sp>
          <p:nvSpPr>
            <p:cNvPr id="2067" name="Rectangle: Rounded Corners 2066">
              <a:extLst>
                <a:ext uri="{FF2B5EF4-FFF2-40B4-BE49-F238E27FC236}">
                  <a16:creationId xmlns:a16="http://schemas.microsoft.com/office/drawing/2014/main" id="{7F5E33F6-18EA-315B-B5C0-CCC0E9D5E8A3}"/>
                </a:ext>
              </a:extLst>
            </p:cNvPr>
            <p:cNvSpPr/>
            <p:nvPr/>
          </p:nvSpPr>
          <p:spPr>
            <a:xfrm>
              <a:off x="626759" y="3130041"/>
              <a:ext cx="946160" cy="789798"/>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68" name="Straight Connector 2067">
              <a:extLst>
                <a:ext uri="{FF2B5EF4-FFF2-40B4-BE49-F238E27FC236}">
                  <a16:creationId xmlns:a16="http://schemas.microsoft.com/office/drawing/2014/main" id="{D3476912-1906-DE87-5EB7-6B9822D031A8}"/>
                </a:ext>
              </a:extLst>
            </p:cNvPr>
            <p:cNvCxnSpPr>
              <a:cxnSpLocks/>
            </p:cNvCxnSpPr>
            <p:nvPr/>
          </p:nvCxnSpPr>
          <p:spPr>
            <a:xfrm>
              <a:off x="626759" y="3262639"/>
              <a:ext cx="941397" cy="0"/>
            </a:xfrm>
            <a:prstGeom prst="line">
              <a:avLst/>
            </a:prstGeom>
          </p:spPr>
          <p:style>
            <a:lnRef idx="1">
              <a:schemeClr val="dk1"/>
            </a:lnRef>
            <a:fillRef idx="0">
              <a:schemeClr val="dk1"/>
            </a:fillRef>
            <a:effectRef idx="0">
              <a:schemeClr val="dk1"/>
            </a:effectRef>
            <a:fontRef idx="minor">
              <a:schemeClr val="tx1"/>
            </a:fontRef>
          </p:style>
        </p:cxnSp>
        <p:sp>
          <p:nvSpPr>
            <p:cNvPr id="2069" name="TextBox 2068">
              <a:extLst>
                <a:ext uri="{FF2B5EF4-FFF2-40B4-BE49-F238E27FC236}">
                  <a16:creationId xmlns:a16="http://schemas.microsoft.com/office/drawing/2014/main" id="{43512AE9-2AD8-8374-1F37-891061758BA7}"/>
                </a:ext>
              </a:extLst>
            </p:cNvPr>
            <p:cNvSpPr txBox="1"/>
            <p:nvPr/>
          </p:nvSpPr>
          <p:spPr>
            <a:xfrm>
              <a:off x="649449" y="3151109"/>
              <a:ext cx="889667" cy="107722"/>
            </a:xfrm>
            <a:prstGeom prst="rect">
              <a:avLst/>
            </a:prstGeom>
            <a:noFill/>
          </p:spPr>
          <p:txBody>
            <a:bodyPr wrap="none" lIns="0" tIns="0" rIns="0" bIns="0" rtlCol="0">
              <a:spAutoFit/>
            </a:bodyPr>
            <a:lstStyle>
              <a:defPPr>
                <a:defRPr lang="en-US"/>
              </a:defPPr>
              <a:lvl1pPr algn="ctr">
                <a:defRPr sz="700" b="1"/>
              </a:lvl1pPr>
            </a:lstStyle>
            <a:p>
              <a:r>
                <a:rPr lang="en-US" dirty="0" err="1"/>
                <a:t>SmartAppliancesFacade</a:t>
              </a:r>
              <a:endParaRPr lang="en-US" dirty="0"/>
            </a:p>
          </p:txBody>
        </p:sp>
        <p:sp>
          <p:nvSpPr>
            <p:cNvPr id="2070" name="TextBox 2069">
              <a:extLst>
                <a:ext uri="{FF2B5EF4-FFF2-40B4-BE49-F238E27FC236}">
                  <a16:creationId xmlns:a16="http://schemas.microsoft.com/office/drawing/2014/main" id="{1C623E9B-F438-6CAA-6074-27A8B801CCA3}"/>
                </a:ext>
              </a:extLst>
            </p:cNvPr>
            <p:cNvSpPr txBox="1"/>
            <p:nvPr/>
          </p:nvSpPr>
          <p:spPr>
            <a:xfrm>
              <a:off x="657950" y="3276104"/>
              <a:ext cx="888775"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light: Light</a:t>
              </a:r>
            </a:p>
            <a:p>
              <a:r>
                <a:rPr lang="en-US" dirty="0"/>
                <a:t>- tv: TV</a:t>
              </a:r>
            </a:p>
            <a:p>
              <a:r>
                <a:rPr lang="en-US" dirty="0"/>
                <a:t>- </a:t>
              </a:r>
              <a:r>
                <a:rPr lang="en-US" dirty="0" err="1"/>
                <a:t>airCondition</a:t>
              </a:r>
              <a:r>
                <a:rPr lang="en-US" dirty="0"/>
                <a:t>: </a:t>
              </a:r>
              <a:r>
                <a:rPr lang="en-US" dirty="0" err="1"/>
                <a:t>AirCondition</a:t>
              </a:r>
              <a:endParaRPr lang="en-US" dirty="0"/>
            </a:p>
          </p:txBody>
        </p:sp>
        <p:cxnSp>
          <p:nvCxnSpPr>
            <p:cNvPr id="2071" name="Straight Connector 2070">
              <a:extLst>
                <a:ext uri="{FF2B5EF4-FFF2-40B4-BE49-F238E27FC236}">
                  <a16:creationId xmlns:a16="http://schemas.microsoft.com/office/drawing/2014/main" id="{5797F753-A1BF-5386-8D6D-9DCD2F389C4F}"/>
                </a:ext>
              </a:extLst>
            </p:cNvPr>
            <p:cNvCxnSpPr>
              <a:cxnSpLocks/>
            </p:cNvCxnSpPr>
            <p:nvPr/>
          </p:nvCxnSpPr>
          <p:spPr>
            <a:xfrm>
              <a:off x="626757" y="3553153"/>
              <a:ext cx="943780" cy="0"/>
            </a:xfrm>
            <a:prstGeom prst="line">
              <a:avLst/>
            </a:prstGeom>
          </p:spPr>
          <p:style>
            <a:lnRef idx="1">
              <a:schemeClr val="dk1"/>
            </a:lnRef>
            <a:fillRef idx="0">
              <a:schemeClr val="dk1"/>
            </a:fillRef>
            <a:effectRef idx="0">
              <a:schemeClr val="dk1"/>
            </a:effectRef>
            <a:fontRef idx="minor">
              <a:schemeClr val="tx1"/>
            </a:fontRef>
          </p:style>
        </p:cxnSp>
        <p:sp>
          <p:nvSpPr>
            <p:cNvPr id="2072" name="TextBox 2071">
              <a:extLst>
                <a:ext uri="{FF2B5EF4-FFF2-40B4-BE49-F238E27FC236}">
                  <a16:creationId xmlns:a16="http://schemas.microsoft.com/office/drawing/2014/main" id="{5C523958-31B5-BEF6-C710-9F209586DF03}"/>
                </a:ext>
              </a:extLst>
            </p:cNvPr>
            <p:cNvSpPr txBox="1"/>
            <p:nvPr/>
          </p:nvSpPr>
          <p:spPr>
            <a:xfrm>
              <a:off x="653196" y="3545817"/>
              <a:ext cx="893529" cy="369332"/>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SmartAppliancesFacade</a:t>
              </a:r>
              <a:r>
                <a:rPr lang="en-US" dirty="0"/>
                <a:t>()</a:t>
              </a:r>
            </a:p>
            <a:p>
              <a:r>
                <a:rPr lang="en-US" dirty="0"/>
                <a:t>+ say(String message): void</a:t>
              </a:r>
            </a:p>
            <a:p>
              <a:r>
                <a:rPr lang="en-US" dirty="0"/>
                <a:t>- on(): void</a:t>
              </a:r>
            </a:p>
            <a:p>
              <a:r>
                <a:rPr lang="en-US" dirty="0"/>
                <a:t>- off(): void</a:t>
              </a:r>
            </a:p>
          </p:txBody>
        </p:sp>
      </p:grpSp>
      <p:cxnSp>
        <p:nvCxnSpPr>
          <p:cNvPr id="2136" name="Connector: Elbow 2135">
            <a:extLst>
              <a:ext uri="{FF2B5EF4-FFF2-40B4-BE49-F238E27FC236}">
                <a16:creationId xmlns:a16="http://schemas.microsoft.com/office/drawing/2014/main" id="{5E45FC67-05A2-DBE5-5DE0-1C3766A11770}"/>
              </a:ext>
            </a:extLst>
          </p:cNvPr>
          <p:cNvCxnSpPr>
            <a:cxnSpLocks/>
            <a:stCxn id="2062" idx="1"/>
          </p:cNvCxnSpPr>
          <p:nvPr/>
        </p:nvCxnSpPr>
        <p:spPr>
          <a:xfrm rot="10800000">
            <a:off x="151655" y="3390893"/>
            <a:ext cx="265914" cy="311736"/>
          </a:xfrm>
          <a:prstGeom prst="bentConnector2">
            <a:avLst/>
          </a:prstGeom>
        </p:spPr>
        <p:style>
          <a:lnRef idx="1">
            <a:schemeClr val="dk1"/>
          </a:lnRef>
          <a:fillRef idx="0">
            <a:schemeClr val="dk1"/>
          </a:fillRef>
          <a:effectRef idx="0">
            <a:schemeClr val="dk1"/>
          </a:effectRef>
          <a:fontRef idx="minor">
            <a:schemeClr val="tx1"/>
          </a:fontRef>
        </p:style>
      </p:cxnSp>
      <p:cxnSp>
        <p:nvCxnSpPr>
          <p:cNvPr id="2142" name="Connector: Elbow 2141">
            <a:extLst>
              <a:ext uri="{FF2B5EF4-FFF2-40B4-BE49-F238E27FC236}">
                <a16:creationId xmlns:a16="http://schemas.microsoft.com/office/drawing/2014/main" id="{5713BE78-836C-34AD-6353-25E981DAD948}"/>
              </a:ext>
            </a:extLst>
          </p:cNvPr>
          <p:cNvCxnSpPr>
            <a:cxnSpLocks/>
            <a:stCxn id="2056" idx="1"/>
          </p:cNvCxnSpPr>
          <p:nvPr/>
        </p:nvCxnSpPr>
        <p:spPr>
          <a:xfrm rot="10800000">
            <a:off x="151655" y="3679818"/>
            <a:ext cx="265915" cy="503570"/>
          </a:xfrm>
          <a:prstGeom prst="bentConnector2">
            <a:avLst/>
          </a:prstGeom>
        </p:spPr>
        <p:style>
          <a:lnRef idx="1">
            <a:schemeClr val="dk1"/>
          </a:lnRef>
          <a:fillRef idx="0">
            <a:schemeClr val="dk1"/>
          </a:fillRef>
          <a:effectRef idx="0">
            <a:schemeClr val="dk1"/>
          </a:effectRef>
          <a:fontRef idx="minor">
            <a:schemeClr val="tx1"/>
          </a:fontRef>
        </p:style>
      </p:cxnSp>
      <p:cxnSp>
        <p:nvCxnSpPr>
          <p:cNvPr id="2145" name="Connector: Elbow 2144">
            <a:extLst>
              <a:ext uri="{FF2B5EF4-FFF2-40B4-BE49-F238E27FC236}">
                <a16:creationId xmlns:a16="http://schemas.microsoft.com/office/drawing/2014/main" id="{7B648E22-DDEA-3696-B85A-8D931861C805}"/>
              </a:ext>
            </a:extLst>
          </p:cNvPr>
          <p:cNvCxnSpPr>
            <a:cxnSpLocks/>
            <a:stCxn id="2048" idx="1"/>
          </p:cNvCxnSpPr>
          <p:nvPr/>
        </p:nvCxnSpPr>
        <p:spPr>
          <a:xfrm rot="10800000">
            <a:off x="151655" y="4159243"/>
            <a:ext cx="256089" cy="497220"/>
          </a:xfrm>
          <a:prstGeom prst="bentConnector2">
            <a:avLst/>
          </a:prstGeom>
        </p:spPr>
        <p:style>
          <a:lnRef idx="1">
            <a:schemeClr val="dk1"/>
          </a:lnRef>
          <a:fillRef idx="0">
            <a:schemeClr val="dk1"/>
          </a:fillRef>
          <a:effectRef idx="0">
            <a:schemeClr val="dk1"/>
          </a:effectRef>
          <a:fontRef idx="minor">
            <a:schemeClr val="tx1"/>
          </a:fontRef>
        </p:style>
      </p:cxnSp>
      <p:sp>
        <p:nvSpPr>
          <p:cNvPr id="2148" name="Diamond 2147">
            <a:extLst>
              <a:ext uri="{FF2B5EF4-FFF2-40B4-BE49-F238E27FC236}">
                <a16:creationId xmlns:a16="http://schemas.microsoft.com/office/drawing/2014/main" id="{EE6C64BC-FA36-CC59-C227-C49576C3629F}"/>
              </a:ext>
            </a:extLst>
          </p:cNvPr>
          <p:cNvSpPr/>
          <p:nvPr/>
        </p:nvSpPr>
        <p:spPr>
          <a:xfrm rot="16200000">
            <a:off x="108611" y="3420602"/>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49" name="Group 2148">
            <a:extLst>
              <a:ext uri="{FF2B5EF4-FFF2-40B4-BE49-F238E27FC236}">
                <a16:creationId xmlns:a16="http://schemas.microsoft.com/office/drawing/2014/main" id="{86E0C79B-B89C-818E-E699-E1B932F732E3}"/>
              </a:ext>
            </a:extLst>
          </p:cNvPr>
          <p:cNvGrpSpPr/>
          <p:nvPr/>
        </p:nvGrpSpPr>
        <p:grpSpPr>
          <a:xfrm>
            <a:off x="154989" y="2088008"/>
            <a:ext cx="826801" cy="327891"/>
            <a:chOff x="626757" y="3130041"/>
            <a:chExt cx="826801" cy="327891"/>
          </a:xfrm>
        </p:grpSpPr>
        <p:sp>
          <p:nvSpPr>
            <p:cNvPr id="2150" name="TextBox 2149">
              <a:extLst>
                <a:ext uri="{FF2B5EF4-FFF2-40B4-BE49-F238E27FC236}">
                  <a16:creationId xmlns:a16="http://schemas.microsoft.com/office/drawing/2014/main" id="{B46122B5-4D89-2D7C-48E0-52E9B344D304}"/>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main</a:t>
              </a:r>
              <a:r>
                <a:rPr lang="en-US" dirty="0"/>
                <a:t>(): void</a:t>
              </a:r>
            </a:p>
          </p:txBody>
        </p:sp>
        <p:sp>
          <p:nvSpPr>
            <p:cNvPr id="2151" name="Rectangle: Rounded Corners 2150">
              <a:extLst>
                <a:ext uri="{FF2B5EF4-FFF2-40B4-BE49-F238E27FC236}">
                  <a16:creationId xmlns:a16="http://schemas.microsoft.com/office/drawing/2014/main" id="{57B3E85C-5FC1-7529-29B4-F55E0AE277EA}"/>
                </a:ext>
              </a:extLst>
            </p:cNvPr>
            <p:cNvSpPr/>
            <p:nvPr/>
          </p:nvSpPr>
          <p:spPr>
            <a:xfrm>
              <a:off x="627385" y="3130041"/>
              <a:ext cx="807117"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52" name="Straight Connector 2151">
              <a:extLst>
                <a:ext uri="{FF2B5EF4-FFF2-40B4-BE49-F238E27FC236}">
                  <a16:creationId xmlns:a16="http://schemas.microsoft.com/office/drawing/2014/main" id="{42EE341F-7C95-8D8A-F600-3DDB325304DD}"/>
                </a:ext>
              </a:extLst>
            </p:cNvPr>
            <p:cNvCxnSpPr>
              <a:cxnSpLocks/>
            </p:cNvCxnSpPr>
            <p:nvPr/>
          </p:nvCxnSpPr>
          <p:spPr>
            <a:xfrm>
              <a:off x="626759" y="3262639"/>
              <a:ext cx="807618" cy="0"/>
            </a:xfrm>
            <a:prstGeom prst="line">
              <a:avLst/>
            </a:prstGeom>
          </p:spPr>
          <p:style>
            <a:lnRef idx="1">
              <a:schemeClr val="dk1"/>
            </a:lnRef>
            <a:fillRef idx="0">
              <a:schemeClr val="dk1"/>
            </a:fillRef>
            <a:effectRef idx="0">
              <a:schemeClr val="dk1"/>
            </a:effectRef>
            <a:fontRef idx="minor">
              <a:schemeClr val="tx1"/>
            </a:fontRef>
          </p:style>
        </p:cxnSp>
        <p:sp>
          <p:nvSpPr>
            <p:cNvPr id="2153" name="TextBox 2152">
              <a:extLst>
                <a:ext uri="{FF2B5EF4-FFF2-40B4-BE49-F238E27FC236}">
                  <a16:creationId xmlns:a16="http://schemas.microsoft.com/office/drawing/2014/main" id="{E1653162-2251-E434-432F-E06F243F3AD5}"/>
                </a:ext>
              </a:extLst>
            </p:cNvPr>
            <p:cNvSpPr txBox="1"/>
            <p:nvPr/>
          </p:nvSpPr>
          <p:spPr>
            <a:xfrm>
              <a:off x="775867" y="3150046"/>
              <a:ext cx="557040" cy="92333"/>
            </a:xfrm>
            <a:prstGeom prst="rect">
              <a:avLst/>
            </a:prstGeom>
            <a:noFill/>
          </p:spPr>
          <p:txBody>
            <a:bodyPr wrap="none" lIns="0" tIns="0" rIns="0" bIns="0" rtlCol="0">
              <a:spAutoFit/>
            </a:bodyPr>
            <a:lstStyle>
              <a:defPPr>
                <a:defRPr lang="en-US"/>
              </a:defPPr>
              <a:lvl1pPr algn="ctr">
                <a:defRPr sz="700" b="1"/>
              </a:lvl1pPr>
            </a:lstStyle>
            <a:p>
              <a:r>
                <a:rPr lang="en-US" dirty="0"/>
                <a:t>C</a:t>
              </a:r>
              <a:r>
                <a:rPr lang="en-US" altLang="zh-CN" dirty="0"/>
                <a:t>lient</a:t>
              </a:r>
              <a:endParaRPr lang="en-US" dirty="0"/>
            </a:p>
          </p:txBody>
        </p:sp>
        <p:cxnSp>
          <p:nvCxnSpPr>
            <p:cNvPr id="2154" name="Straight Connector 2153">
              <a:extLst>
                <a:ext uri="{FF2B5EF4-FFF2-40B4-BE49-F238E27FC236}">
                  <a16:creationId xmlns:a16="http://schemas.microsoft.com/office/drawing/2014/main" id="{DFD6DA20-9B4A-F05F-D823-7FAD3A50F85E}"/>
                </a:ext>
              </a:extLst>
            </p:cNvPr>
            <p:cNvCxnSpPr>
              <a:cxnSpLocks/>
            </p:cNvCxnSpPr>
            <p:nvPr/>
          </p:nvCxnSpPr>
          <p:spPr>
            <a:xfrm>
              <a:off x="626757" y="3350746"/>
              <a:ext cx="805239" cy="0"/>
            </a:xfrm>
            <a:prstGeom prst="line">
              <a:avLst/>
            </a:prstGeom>
          </p:spPr>
          <p:style>
            <a:lnRef idx="1">
              <a:schemeClr val="dk1"/>
            </a:lnRef>
            <a:fillRef idx="0">
              <a:schemeClr val="dk1"/>
            </a:fillRef>
            <a:effectRef idx="0">
              <a:schemeClr val="dk1"/>
            </a:effectRef>
            <a:fontRef idx="minor">
              <a:schemeClr val="tx1"/>
            </a:fontRef>
          </p:style>
        </p:cxnSp>
      </p:grpSp>
      <p:cxnSp>
        <p:nvCxnSpPr>
          <p:cNvPr id="2155" name="Straight Connector 2154">
            <a:extLst>
              <a:ext uri="{FF2B5EF4-FFF2-40B4-BE49-F238E27FC236}">
                <a16:creationId xmlns:a16="http://schemas.microsoft.com/office/drawing/2014/main" id="{ABB87C4F-B3F1-EEC4-1CBA-625B94159C5F}"/>
              </a:ext>
            </a:extLst>
          </p:cNvPr>
          <p:cNvCxnSpPr>
            <a:cxnSpLocks/>
            <a:stCxn id="2151" idx="2"/>
            <a:endCxn id="2067" idx="0"/>
          </p:cNvCxnSpPr>
          <p:nvPr/>
        </p:nvCxnSpPr>
        <p:spPr>
          <a:xfrm>
            <a:off x="559176" y="2415899"/>
            <a:ext cx="462" cy="187577"/>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158" name="Isosceles Triangle 2157">
            <a:extLst>
              <a:ext uri="{FF2B5EF4-FFF2-40B4-BE49-F238E27FC236}">
                <a16:creationId xmlns:a16="http://schemas.microsoft.com/office/drawing/2014/main" id="{ED5A5828-D5EE-6CB1-CC31-731D55A17647}"/>
              </a:ext>
            </a:extLst>
          </p:cNvPr>
          <p:cNvSpPr/>
          <p:nvPr/>
        </p:nvSpPr>
        <p:spPr>
          <a:xfrm rot="10800000">
            <a:off x="538697" y="2552995"/>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28" name="Group 2627">
            <a:extLst>
              <a:ext uri="{FF2B5EF4-FFF2-40B4-BE49-F238E27FC236}">
                <a16:creationId xmlns:a16="http://schemas.microsoft.com/office/drawing/2014/main" id="{390744FF-5E7A-8A0F-5696-0D46C4D384BA}"/>
              </a:ext>
            </a:extLst>
          </p:cNvPr>
          <p:cNvGrpSpPr/>
          <p:nvPr/>
        </p:nvGrpSpPr>
        <p:grpSpPr>
          <a:xfrm>
            <a:off x="10019276" y="4253489"/>
            <a:ext cx="612148" cy="327122"/>
            <a:chOff x="626757" y="3130042"/>
            <a:chExt cx="612148" cy="327122"/>
          </a:xfrm>
        </p:grpSpPr>
        <p:sp>
          <p:nvSpPr>
            <p:cNvPr id="2629" name="TextBox 2628">
              <a:extLst>
                <a:ext uri="{FF2B5EF4-FFF2-40B4-BE49-F238E27FC236}">
                  <a16:creationId xmlns:a16="http://schemas.microsoft.com/office/drawing/2014/main" id="{D5FE8883-1A39-21C5-7723-91886E039B0B}"/>
                </a:ext>
              </a:extLst>
            </p:cNvPr>
            <p:cNvSpPr txBox="1"/>
            <p:nvPr/>
          </p:nvSpPr>
          <p:spPr>
            <a:xfrm>
              <a:off x="651687" y="3356835"/>
              <a:ext cx="555468"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err="1"/>
                <a:t>getShape</a:t>
              </a:r>
              <a:r>
                <a:rPr lang="en-US" dirty="0"/>
                <a:t>()</a:t>
              </a:r>
            </a:p>
          </p:txBody>
        </p:sp>
        <p:sp>
          <p:nvSpPr>
            <p:cNvPr id="2630" name="Rectangle: Rounded Corners 2629">
              <a:extLst>
                <a:ext uri="{FF2B5EF4-FFF2-40B4-BE49-F238E27FC236}">
                  <a16:creationId xmlns:a16="http://schemas.microsoft.com/office/drawing/2014/main" id="{FB3E7DAC-6A1A-1417-D063-A0E72DA425AF}"/>
                </a:ext>
              </a:extLst>
            </p:cNvPr>
            <p:cNvSpPr/>
            <p:nvPr/>
          </p:nvSpPr>
          <p:spPr>
            <a:xfrm>
              <a:off x="626759" y="3130042"/>
              <a:ext cx="605796" cy="327122"/>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1" name="Straight Connector 2630">
              <a:extLst>
                <a:ext uri="{FF2B5EF4-FFF2-40B4-BE49-F238E27FC236}">
                  <a16:creationId xmlns:a16="http://schemas.microsoft.com/office/drawing/2014/main" id="{D4718045-1F38-2018-CACC-83C7DD41240A}"/>
                </a:ext>
              </a:extLst>
            </p:cNvPr>
            <p:cNvCxnSpPr>
              <a:cxnSpLocks/>
            </p:cNvCxnSpPr>
            <p:nvPr/>
          </p:nvCxnSpPr>
          <p:spPr>
            <a:xfrm>
              <a:off x="626759" y="3262639"/>
              <a:ext cx="608971" cy="0"/>
            </a:xfrm>
            <a:prstGeom prst="line">
              <a:avLst/>
            </a:prstGeom>
          </p:spPr>
          <p:style>
            <a:lnRef idx="1">
              <a:schemeClr val="dk1"/>
            </a:lnRef>
            <a:fillRef idx="0">
              <a:schemeClr val="dk1"/>
            </a:fillRef>
            <a:effectRef idx="0">
              <a:schemeClr val="dk1"/>
            </a:effectRef>
            <a:fontRef idx="minor">
              <a:schemeClr val="tx1"/>
            </a:fontRef>
          </p:style>
        </p:cxnSp>
        <p:sp>
          <p:nvSpPr>
            <p:cNvPr id="2632" name="TextBox 2631">
              <a:extLst>
                <a:ext uri="{FF2B5EF4-FFF2-40B4-BE49-F238E27FC236}">
                  <a16:creationId xmlns:a16="http://schemas.microsoft.com/office/drawing/2014/main" id="{02367527-B317-7B03-600B-3FF88AEA8A36}"/>
                </a:ext>
              </a:extLst>
            </p:cNvPr>
            <p:cNvSpPr txBox="1"/>
            <p:nvPr/>
          </p:nvSpPr>
          <p:spPr>
            <a:xfrm>
              <a:off x="823503" y="3149825"/>
              <a:ext cx="200376" cy="107722"/>
            </a:xfrm>
            <a:prstGeom prst="rect">
              <a:avLst/>
            </a:prstGeom>
            <a:noFill/>
          </p:spPr>
          <p:txBody>
            <a:bodyPr wrap="none" lIns="0" tIns="0" rIns="0" bIns="0" rtlCol="0">
              <a:spAutoFit/>
            </a:bodyPr>
            <a:lstStyle>
              <a:defPPr>
                <a:defRPr lang="en-US"/>
              </a:defPPr>
              <a:lvl1pPr algn="ctr">
                <a:defRPr sz="700" b="1"/>
              </a:lvl1pPr>
            </a:lstStyle>
            <a:p>
              <a:r>
                <a:rPr lang="en-US" dirty="0" err="1"/>
                <a:t>OBox</a:t>
              </a:r>
              <a:endParaRPr lang="en-US" dirty="0"/>
            </a:p>
          </p:txBody>
        </p:sp>
        <p:cxnSp>
          <p:nvCxnSpPr>
            <p:cNvPr id="2633" name="Straight Connector 2632">
              <a:extLst>
                <a:ext uri="{FF2B5EF4-FFF2-40B4-BE49-F238E27FC236}">
                  <a16:creationId xmlns:a16="http://schemas.microsoft.com/office/drawing/2014/main" id="{91649564-C039-92D8-9E3A-6DCA93E46FD9}"/>
                </a:ext>
              </a:extLst>
            </p:cNvPr>
            <p:cNvCxnSpPr>
              <a:cxnSpLocks/>
            </p:cNvCxnSpPr>
            <p:nvPr/>
          </p:nvCxnSpPr>
          <p:spPr>
            <a:xfrm>
              <a:off x="626757" y="3350746"/>
              <a:ext cx="612148" cy="0"/>
            </a:xfrm>
            <a:prstGeom prst="line">
              <a:avLst/>
            </a:prstGeom>
          </p:spPr>
          <p:style>
            <a:lnRef idx="1">
              <a:schemeClr val="dk1"/>
            </a:lnRef>
            <a:fillRef idx="0">
              <a:schemeClr val="dk1"/>
            </a:fillRef>
            <a:effectRef idx="0">
              <a:schemeClr val="dk1"/>
            </a:effectRef>
            <a:fontRef idx="minor">
              <a:schemeClr val="tx1"/>
            </a:fontRef>
          </p:style>
        </p:cxnSp>
      </p:grpSp>
      <p:grpSp>
        <p:nvGrpSpPr>
          <p:cNvPr id="2634" name="Group 2633">
            <a:extLst>
              <a:ext uri="{FF2B5EF4-FFF2-40B4-BE49-F238E27FC236}">
                <a16:creationId xmlns:a16="http://schemas.microsoft.com/office/drawing/2014/main" id="{4447D47C-2ACC-0F8B-9306-FEEC23B2D56E}"/>
              </a:ext>
            </a:extLst>
          </p:cNvPr>
          <p:cNvGrpSpPr/>
          <p:nvPr/>
        </p:nvGrpSpPr>
        <p:grpSpPr>
          <a:xfrm>
            <a:off x="10029102" y="3897889"/>
            <a:ext cx="612148" cy="324744"/>
            <a:chOff x="626757" y="3130042"/>
            <a:chExt cx="612148" cy="324744"/>
          </a:xfrm>
        </p:grpSpPr>
        <p:sp>
          <p:nvSpPr>
            <p:cNvPr id="2635" name="TextBox 2634">
              <a:extLst>
                <a:ext uri="{FF2B5EF4-FFF2-40B4-BE49-F238E27FC236}">
                  <a16:creationId xmlns:a16="http://schemas.microsoft.com/office/drawing/2014/main" id="{F3BC70A0-5952-D0F8-9113-7857895DDB4E}"/>
                </a:ext>
              </a:extLst>
            </p:cNvPr>
            <p:cNvSpPr txBox="1"/>
            <p:nvPr/>
          </p:nvSpPr>
          <p:spPr>
            <a:xfrm>
              <a:off x="651687" y="3356835"/>
              <a:ext cx="555468"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err="1"/>
                <a:t>getShape</a:t>
              </a:r>
              <a:r>
                <a:rPr lang="en-US" dirty="0"/>
                <a:t>()</a:t>
              </a:r>
            </a:p>
          </p:txBody>
        </p:sp>
        <p:sp>
          <p:nvSpPr>
            <p:cNvPr id="2636" name="Rectangle: Rounded Corners 2635">
              <a:extLst>
                <a:ext uri="{FF2B5EF4-FFF2-40B4-BE49-F238E27FC236}">
                  <a16:creationId xmlns:a16="http://schemas.microsoft.com/office/drawing/2014/main" id="{39362025-3351-4CF5-54D1-636547DD0CAD}"/>
                </a:ext>
              </a:extLst>
            </p:cNvPr>
            <p:cNvSpPr/>
            <p:nvPr/>
          </p:nvSpPr>
          <p:spPr>
            <a:xfrm>
              <a:off x="626759" y="3130042"/>
              <a:ext cx="605796" cy="324744"/>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7" name="Straight Connector 2636">
              <a:extLst>
                <a:ext uri="{FF2B5EF4-FFF2-40B4-BE49-F238E27FC236}">
                  <a16:creationId xmlns:a16="http://schemas.microsoft.com/office/drawing/2014/main" id="{A05125F8-4897-52B5-0227-568A2D4B1979}"/>
                </a:ext>
              </a:extLst>
            </p:cNvPr>
            <p:cNvCxnSpPr>
              <a:cxnSpLocks/>
            </p:cNvCxnSpPr>
            <p:nvPr/>
          </p:nvCxnSpPr>
          <p:spPr>
            <a:xfrm>
              <a:off x="626759" y="3262639"/>
              <a:ext cx="608971" cy="0"/>
            </a:xfrm>
            <a:prstGeom prst="line">
              <a:avLst/>
            </a:prstGeom>
          </p:spPr>
          <p:style>
            <a:lnRef idx="1">
              <a:schemeClr val="dk1"/>
            </a:lnRef>
            <a:fillRef idx="0">
              <a:schemeClr val="dk1"/>
            </a:fillRef>
            <a:effectRef idx="0">
              <a:schemeClr val="dk1"/>
            </a:effectRef>
            <a:fontRef idx="minor">
              <a:schemeClr val="tx1"/>
            </a:fontRef>
          </p:style>
        </p:cxnSp>
        <p:sp>
          <p:nvSpPr>
            <p:cNvPr id="2638" name="TextBox 2637">
              <a:extLst>
                <a:ext uri="{FF2B5EF4-FFF2-40B4-BE49-F238E27FC236}">
                  <a16:creationId xmlns:a16="http://schemas.microsoft.com/office/drawing/2014/main" id="{E32BB54B-DE35-DD9C-F928-55489935154D}"/>
                </a:ext>
              </a:extLst>
            </p:cNvPr>
            <p:cNvSpPr txBox="1"/>
            <p:nvPr/>
          </p:nvSpPr>
          <p:spPr>
            <a:xfrm>
              <a:off x="834724" y="3149825"/>
              <a:ext cx="177934" cy="107722"/>
            </a:xfrm>
            <a:prstGeom prst="rect">
              <a:avLst/>
            </a:prstGeom>
            <a:noFill/>
          </p:spPr>
          <p:txBody>
            <a:bodyPr wrap="none" lIns="0" tIns="0" rIns="0" bIns="0" rtlCol="0">
              <a:spAutoFit/>
            </a:bodyPr>
            <a:lstStyle>
              <a:defPPr>
                <a:defRPr lang="en-US"/>
              </a:defPPr>
              <a:lvl1pPr algn="ctr">
                <a:defRPr sz="700" b="1"/>
              </a:lvl1pPr>
            </a:lstStyle>
            <a:p>
              <a:r>
                <a:rPr lang="en-US" dirty="0" err="1"/>
                <a:t>LBox</a:t>
              </a:r>
              <a:endParaRPr lang="en-US" dirty="0"/>
            </a:p>
          </p:txBody>
        </p:sp>
        <p:cxnSp>
          <p:nvCxnSpPr>
            <p:cNvPr id="2639" name="Straight Connector 2638">
              <a:extLst>
                <a:ext uri="{FF2B5EF4-FFF2-40B4-BE49-F238E27FC236}">
                  <a16:creationId xmlns:a16="http://schemas.microsoft.com/office/drawing/2014/main" id="{3D5FE607-58D0-7E90-AB60-56704B186F4A}"/>
                </a:ext>
              </a:extLst>
            </p:cNvPr>
            <p:cNvCxnSpPr>
              <a:cxnSpLocks/>
            </p:cNvCxnSpPr>
            <p:nvPr/>
          </p:nvCxnSpPr>
          <p:spPr>
            <a:xfrm>
              <a:off x="626757" y="3350746"/>
              <a:ext cx="612148" cy="0"/>
            </a:xfrm>
            <a:prstGeom prst="line">
              <a:avLst/>
            </a:prstGeom>
          </p:spPr>
          <p:style>
            <a:lnRef idx="1">
              <a:schemeClr val="dk1"/>
            </a:lnRef>
            <a:fillRef idx="0">
              <a:schemeClr val="dk1"/>
            </a:fillRef>
            <a:effectRef idx="0">
              <a:schemeClr val="dk1"/>
            </a:effectRef>
            <a:fontRef idx="minor">
              <a:schemeClr val="tx1"/>
            </a:fontRef>
          </p:style>
        </p:cxnSp>
      </p:grpSp>
      <p:grpSp>
        <p:nvGrpSpPr>
          <p:cNvPr id="2640" name="Group 2639">
            <a:extLst>
              <a:ext uri="{FF2B5EF4-FFF2-40B4-BE49-F238E27FC236}">
                <a16:creationId xmlns:a16="http://schemas.microsoft.com/office/drawing/2014/main" id="{50360AC6-206E-5950-7661-740E60E55ADD}"/>
              </a:ext>
            </a:extLst>
          </p:cNvPr>
          <p:cNvGrpSpPr/>
          <p:nvPr/>
        </p:nvGrpSpPr>
        <p:grpSpPr>
          <a:xfrm>
            <a:off x="10029102" y="3528254"/>
            <a:ext cx="612148" cy="333799"/>
            <a:chOff x="626757" y="3130041"/>
            <a:chExt cx="612148" cy="333799"/>
          </a:xfrm>
        </p:grpSpPr>
        <p:sp>
          <p:nvSpPr>
            <p:cNvPr id="2641" name="TextBox 2640">
              <a:extLst>
                <a:ext uri="{FF2B5EF4-FFF2-40B4-BE49-F238E27FC236}">
                  <a16:creationId xmlns:a16="http://schemas.microsoft.com/office/drawing/2014/main" id="{55858484-BF91-9FCC-3D8D-E9166E932763}"/>
                </a:ext>
              </a:extLst>
            </p:cNvPr>
            <p:cNvSpPr txBox="1"/>
            <p:nvPr/>
          </p:nvSpPr>
          <p:spPr>
            <a:xfrm>
              <a:off x="651687" y="3356835"/>
              <a:ext cx="555468"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err="1"/>
                <a:t>getShape</a:t>
              </a:r>
              <a:r>
                <a:rPr lang="en-US" dirty="0"/>
                <a:t>()</a:t>
              </a:r>
            </a:p>
          </p:txBody>
        </p:sp>
        <p:sp>
          <p:nvSpPr>
            <p:cNvPr id="2642" name="Rectangle: Rounded Corners 2641">
              <a:extLst>
                <a:ext uri="{FF2B5EF4-FFF2-40B4-BE49-F238E27FC236}">
                  <a16:creationId xmlns:a16="http://schemas.microsoft.com/office/drawing/2014/main" id="{0F0106B8-0A01-F01B-AF1A-5790F29AEA67}"/>
                </a:ext>
              </a:extLst>
            </p:cNvPr>
            <p:cNvSpPr/>
            <p:nvPr/>
          </p:nvSpPr>
          <p:spPr>
            <a:xfrm>
              <a:off x="626759" y="3130041"/>
              <a:ext cx="605796" cy="333799"/>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43" name="Straight Connector 2642">
              <a:extLst>
                <a:ext uri="{FF2B5EF4-FFF2-40B4-BE49-F238E27FC236}">
                  <a16:creationId xmlns:a16="http://schemas.microsoft.com/office/drawing/2014/main" id="{4630AF0E-5CDF-0ED5-0FE4-9E9E0080F3DB}"/>
                </a:ext>
              </a:extLst>
            </p:cNvPr>
            <p:cNvCxnSpPr>
              <a:cxnSpLocks/>
            </p:cNvCxnSpPr>
            <p:nvPr/>
          </p:nvCxnSpPr>
          <p:spPr>
            <a:xfrm>
              <a:off x="626759" y="3262639"/>
              <a:ext cx="608971" cy="0"/>
            </a:xfrm>
            <a:prstGeom prst="line">
              <a:avLst/>
            </a:prstGeom>
          </p:spPr>
          <p:style>
            <a:lnRef idx="1">
              <a:schemeClr val="dk1"/>
            </a:lnRef>
            <a:fillRef idx="0">
              <a:schemeClr val="dk1"/>
            </a:fillRef>
            <a:effectRef idx="0">
              <a:schemeClr val="dk1"/>
            </a:effectRef>
            <a:fontRef idx="minor">
              <a:schemeClr val="tx1"/>
            </a:fontRef>
          </p:style>
        </p:cxnSp>
        <p:sp>
          <p:nvSpPr>
            <p:cNvPr id="2644" name="TextBox 2643">
              <a:extLst>
                <a:ext uri="{FF2B5EF4-FFF2-40B4-BE49-F238E27FC236}">
                  <a16:creationId xmlns:a16="http://schemas.microsoft.com/office/drawing/2014/main" id="{C89648DB-88B8-9CEF-2EE9-8CF3B6DD527A}"/>
                </a:ext>
              </a:extLst>
            </p:cNvPr>
            <p:cNvSpPr txBox="1"/>
            <p:nvPr/>
          </p:nvSpPr>
          <p:spPr>
            <a:xfrm>
              <a:off x="841940" y="3149825"/>
              <a:ext cx="163506" cy="107722"/>
            </a:xfrm>
            <a:prstGeom prst="rect">
              <a:avLst/>
            </a:prstGeom>
            <a:noFill/>
          </p:spPr>
          <p:txBody>
            <a:bodyPr wrap="none" lIns="0" tIns="0" rIns="0" bIns="0" rtlCol="0">
              <a:spAutoFit/>
            </a:bodyPr>
            <a:lstStyle>
              <a:defPPr>
                <a:defRPr lang="en-US"/>
              </a:defPPr>
              <a:lvl1pPr algn="ctr">
                <a:defRPr sz="700" b="1"/>
              </a:lvl1pPr>
            </a:lstStyle>
            <a:p>
              <a:r>
                <a:rPr lang="en-US" dirty="0" err="1"/>
                <a:t>IB</a:t>
              </a:r>
              <a:r>
                <a:rPr lang="en-US" altLang="zh-CN" dirty="0" err="1"/>
                <a:t>ox</a:t>
              </a:r>
              <a:endParaRPr lang="en-US" dirty="0"/>
            </a:p>
          </p:txBody>
        </p:sp>
        <p:cxnSp>
          <p:nvCxnSpPr>
            <p:cNvPr id="2645" name="Straight Connector 2644">
              <a:extLst>
                <a:ext uri="{FF2B5EF4-FFF2-40B4-BE49-F238E27FC236}">
                  <a16:creationId xmlns:a16="http://schemas.microsoft.com/office/drawing/2014/main" id="{D7F3EC06-2E87-9C08-C6DB-84D56D8589DB}"/>
                </a:ext>
              </a:extLst>
            </p:cNvPr>
            <p:cNvCxnSpPr>
              <a:cxnSpLocks/>
            </p:cNvCxnSpPr>
            <p:nvPr/>
          </p:nvCxnSpPr>
          <p:spPr>
            <a:xfrm>
              <a:off x="626757" y="3350746"/>
              <a:ext cx="612148" cy="0"/>
            </a:xfrm>
            <a:prstGeom prst="line">
              <a:avLst/>
            </a:prstGeom>
          </p:spPr>
          <p:style>
            <a:lnRef idx="1">
              <a:schemeClr val="dk1"/>
            </a:lnRef>
            <a:fillRef idx="0">
              <a:schemeClr val="dk1"/>
            </a:fillRef>
            <a:effectRef idx="0">
              <a:schemeClr val="dk1"/>
            </a:effectRef>
            <a:fontRef idx="minor">
              <a:schemeClr val="tx1"/>
            </a:fontRef>
          </p:style>
        </p:cxnSp>
      </p:grpSp>
      <p:grpSp>
        <p:nvGrpSpPr>
          <p:cNvPr id="2646" name="Group 2645">
            <a:extLst>
              <a:ext uri="{FF2B5EF4-FFF2-40B4-BE49-F238E27FC236}">
                <a16:creationId xmlns:a16="http://schemas.microsoft.com/office/drawing/2014/main" id="{848F5D9B-F206-10B0-33E5-58F37C848BC4}"/>
              </a:ext>
            </a:extLst>
          </p:cNvPr>
          <p:cNvGrpSpPr/>
          <p:nvPr/>
        </p:nvGrpSpPr>
        <p:grpSpPr>
          <a:xfrm>
            <a:off x="9698091" y="2989350"/>
            <a:ext cx="946162" cy="433264"/>
            <a:chOff x="626757" y="3130041"/>
            <a:chExt cx="946162" cy="431214"/>
          </a:xfrm>
        </p:grpSpPr>
        <p:sp>
          <p:nvSpPr>
            <p:cNvPr id="2647" name="Rectangle: Rounded Corners 2646">
              <a:extLst>
                <a:ext uri="{FF2B5EF4-FFF2-40B4-BE49-F238E27FC236}">
                  <a16:creationId xmlns:a16="http://schemas.microsoft.com/office/drawing/2014/main" id="{363F43B0-C328-3A12-FFE5-2DD2D283C710}"/>
                </a:ext>
              </a:extLst>
            </p:cNvPr>
            <p:cNvSpPr/>
            <p:nvPr/>
          </p:nvSpPr>
          <p:spPr>
            <a:xfrm>
              <a:off x="626759" y="3130041"/>
              <a:ext cx="946160" cy="429012"/>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48" name="Straight Connector 2647">
              <a:extLst>
                <a:ext uri="{FF2B5EF4-FFF2-40B4-BE49-F238E27FC236}">
                  <a16:creationId xmlns:a16="http://schemas.microsoft.com/office/drawing/2014/main" id="{8CC34BD0-7E7D-B5DF-2CBB-B7CB05ABF4AC}"/>
                </a:ext>
              </a:extLst>
            </p:cNvPr>
            <p:cNvCxnSpPr>
              <a:cxnSpLocks/>
            </p:cNvCxnSpPr>
            <p:nvPr/>
          </p:nvCxnSpPr>
          <p:spPr>
            <a:xfrm>
              <a:off x="626759" y="3262639"/>
              <a:ext cx="941397" cy="0"/>
            </a:xfrm>
            <a:prstGeom prst="line">
              <a:avLst/>
            </a:prstGeom>
          </p:spPr>
          <p:style>
            <a:lnRef idx="1">
              <a:schemeClr val="dk1"/>
            </a:lnRef>
            <a:fillRef idx="0">
              <a:schemeClr val="dk1"/>
            </a:fillRef>
            <a:effectRef idx="0">
              <a:schemeClr val="dk1"/>
            </a:effectRef>
            <a:fontRef idx="minor">
              <a:schemeClr val="tx1"/>
            </a:fontRef>
          </p:style>
        </p:cxnSp>
        <p:sp>
          <p:nvSpPr>
            <p:cNvPr id="2649" name="TextBox 2648">
              <a:extLst>
                <a:ext uri="{FF2B5EF4-FFF2-40B4-BE49-F238E27FC236}">
                  <a16:creationId xmlns:a16="http://schemas.microsoft.com/office/drawing/2014/main" id="{467A7525-33EB-391D-8E50-40D379CE623C}"/>
                </a:ext>
              </a:extLst>
            </p:cNvPr>
            <p:cNvSpPr txBox="1"/>
            <p:nvPr/>
          </p:nvSpPr>
          <p:spPr>
            <a:xfrm>
              <a:off x="883488" y="3151109"/>
              <a:ext cx="421590" cy="107722"/>
            </a:xfrm>
            <a:prstGeom prst="rect">
              <a:avLst/>
            </a:prstGeom>
            <a:noFill/>
          </p:spPr>
          <p:txBody>
            <a:bodyPr wrap="none" lIns="0" tIns="0" rIns="0" bIns="0" rtlCol="0">
              <a:spAutoFit/>
            </a:bodyPr>
            <a:lstStyle>
              <a:defPPr>
                <a:defRPr lang="en-US"/>
              </a:defPPr>
              <a:lvl1pPr algn="ctr">
                <a:defRPr sz="700" b="1"/>
              </a:lvl1pPr>
            </a:lstStyle>
            <a:p>
              <a:r>
                <a:rPr lang="en-US" i="1" dirty="0" err="1"/>
                <a:t>AbstracBox</a:t>
              </a:r>
              <a:endParaRPr lang="en-US" i="1" dirty="0"/>
            </a:p>
          </p:txBody>
        </p:sp>
        <p:sp>
          <p:nvSpPr>
            <p:cNvPr id="2650" name="TextBox 2649">
              <a:extLst>
                <a:ext uri="{FF2B5EF4-FFF2-40B4-BE49-F238E27FC236}">
                  <a16:creationId xmlns:a16="http://schemas.microsoft.com/office/drawing/2014/main" id="{DDF96E4D-DBFA-72A6-9F8E-AD79C9664951}"/>
                </a:ext>
              </a:extLst>
            </p:cNvPr>
            <p:cNvSpPr txBox="1"/>
            <p:nvPr/>
          </p:nvSpPr>
          <p:spPr>
            <a:xfrm>
              <a:off x="657950" y="3276104"/>
              <a:ext cx="888775"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651" name="Straight Connector 2650">
              <a:extLst>
                <a:ext uri="{FF2B5EF4-FFF2-40B4-BE49-F238E27FC236}">
                  <a16:creationId xmlns:a16="http://schemas.microsoft.com/office/drawing/2014/main" id="{FE5F7CFD-798C-5898-8547-33E72F771CDC}"/>
                </a:ext>
              </a:extLst>
            </p:cNvPr>
            <p:cNvCxnSpPr>
              <a:cxnSpLocks/>
            </p:cNvCxnSpPr>
            <p:nvPr/>
          </p:nvCxnSpPr>
          <p:spPr>
            <a:xfrm>
              <a:off x="626757" y="3376767"/>
              <a:ext cx="943780" cy="0"/>
            </a:xfrm>
            <a:prstGeom prst="line">
              <a:avLst/>
            </a:prstGeom>
          </p:spPr>
          <p:style>
            <a:lnRef idx="1">
              <a:schemeClr val="dk1"/>
            </a:lnRef>
            <a:fillRef idx="0">
              <a:schemeClr val="dk1"/>
            </a:fillRef>
            <a:effectRef idx="0">
              <a:schemeClr val="dk1"/>
            </a:effectRef>
            <a:fontRef idx="minor">
              <a:schemeClr val="tx1"/>
            </a:fontRef>
          </p:style>
        </p:cxnSp>
        <p:sp>
          <p:nvSpPr>
            <p:cNvPr id="2652" name="TextBox 2651">
              <a:extLst>
                <a:ext uri="{FF2B5EF4-FFF2-40B4-BE49-F238E27FC236}">
                  <a16:creationId xmlns:a16="http://schemas.microsoft.com/office/drawing/2014/main" id="{1DC9DF6F-9AFC-C6C1-2F63-3D6BDDA5F1ED}"/>
                </a:ext>
              </a:extLst>
            </p:cNvPr>
            <p:cNvSpPr txBox="1"/>
            <p:nvPr/>
          </p:nvSpPr>
          <p:spPr>
            <a:xfrm>
              <a:off x="653196" y="3376589"/>
              <a:ext cx="893529"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err="1"/>
                <a:t>getShape</a:t>
              </a:r>
              <a:r>
                <a:rPr lang="en-US" dirty="0"/>
                <a:t>()</a:t>
              </a:r>
            </a:p>
            <a:p>
              <a:r>
                <a:rPr lang="en-US" dirty="0"/>
                <a:t>+ display(String color): void</a:t>
              </a:r>
            </a:p>
          </p:txBody>
        </p:sp>
      </p:grpSp>
      <p:cxnSp>
        <p:nvCxnSpPr>
          <p:cNvPr id="2653" name="Connector: Elbow 2652">
            <a:extLst>
              <a:ext uri="{FF2B5EF4-FFF2-40B4-BE49-F238E27FC236}">
                <a16:creationId xmlns:a16="http://schemas.microsoft.com/office/drawing/2014/main" id="{6F909F4C-E164-367E-3E3B-7B2CED37F35F}"/>
              </a:ext>
            </a:extLst>
          </p:cNvPr>
          <p:cNvCxnSpPr>
            <a:cxnSpLocks/>
            <a:stCxn id="2642" idx="1"/>
          </p:cNvCxnSpPr>
          <p:nvPr/>
        </p:nvCxnSpPr>
        <p:spPr>
          <a:xfrm rot="10800000">
            <a:off x="9763190" y="3424346"/>
            <a:ext cx="265914" cy="270808"/>
          </a:xfrm>
          <a:prstGeom prst="bentConnector2">
            <a:avLst/>
          </a:prstGeom>
        </p:spPr>
        <p:style>
          <a:lnRef idx="1">
            <a:schemeClr val="dk1"/>
          </a:lnRef>
          <a:fillRef idx="0">
            <a:schemeClr val="dk1"/>
          </a:fillRef>
          <a:effectRef idx="0">
            <a:schemeClr val="dk1"/>
          </a:effectRef>
          <a:fontRef idx="minor">
            <a:schemeClr val="tx1"/>
          </a:fontRef>
        </p:style>
      </p:cxnSp>
      <p:cxnSp>
        <p:nvCxnSpPr>
          <p:cNvPr id="2654" name="Connector: Elbow 2653">
            <a:extLst>
              <a:ext uri="{FF2B5EF4-FFF2-40B4-BE49-F238E27FC236}">
                <a16:creationId xmlns:a16="http://schemas.microsoft.com/office/drawing/2014/main" id="{38344379-B8C2-F9CF-12A3-CC9704C91CFD}"/>
              </a:ext>
            </a:extLst>
          </p:cNvPr>
          <p:cNvCxnSpPr>
            <a:cxnSpLocks/>
            <a:stCxn id="2636" idx="1"/>
          </p:cNvCxnSpPr>
          <p:nvPr/>
        </p:nvCxnSpPr>
        <p:spPr>
          <a:xfrm rot="10800000">
            <a:off x="9763194" y="3602149"/>
            <a:ext cx="265911" cy="458113"/>
          </a:xfrm>
          <a:prstGeom prst="bentConnector2">
            <a:avLst/>
          </a:prstGeom>
        </p:spPr>
        <p:style>
          <a:lnRef idx="1">
            <a:schemeClr val="dk1"/>
          </a:lnRef>
          <a:fillRef idx="0">
            <a:schemeClr val="dk1"/>
          </a:fillRef>
          <a:effectRef idx="0">
            <a:schemeClr val="dk1"/>
          </a:effectRef>
          <a:fontRef idx="minor">
            <a:schemeClr val="tx1"/>
          </a:fontRef>
        </p:style>
      </p:cxnSp>
      <p:cxnSp>
        <p:nvCxnSpPr>
          <p:cNvPr id="2655" name="Connector: Elbow 2654">
            <a:extLst>
              <a:ext uri="{FF2B5EF4-FFF2-40B4-BE49-F238E27FC236}">
                <a16:creationId xmlns:a16="http://schemas.microsoft.com/office/drawing/2014/main" id="{84357747-2377-5900-1D83-2B2BEDF591FA}"/>
              </a:ext>
            </a:extLst>
          </p:cNvPr>
          <p:cNvCxnSpPr>
            <a:cxnSpLocks/>
            <a:stCxn id="2630" idx="1"/>
          </p:cNvCxnSpPr>
          <p:nvPr/>
        </p:nvCxnSpPr>
        <p:spPr>
          <a:xfrm rot="10800000">
            <a:off x="9763194" y="3964096"/>
            <a:ext cx="256085" cy="452954"/>
          </a:xfrm>
          <a:prstGeom prst="bentConnector2">
            <a:avLst/>
          </a:prstGeom>
        </p:spPr>
        <p:style>
          <a:lnRef idx="1">
            <a:schemeClr val="dk1"/>
          </a:lnRef>
          <a:fillRef idx="0">
            <a:schemeClr val="dk1"/>
          </a:fillRef>
          <a:effectRef idx="0">
            <a:schemeClr val="dk1"/>
          </a:effectRef>
          <a:fontRef idx="minor">
            <a:schemeClr val="tx1"/>
          </a:fontRef>
        </p:style>
      </p:cxnSp>
      <p:grpSp>
        <p:nvGrpSpPr>
          <p:cNvPr id="2661" name="Group 2660">
            <a:extLst>
              <a:ext uri="{FF2B5EF4-FFF2-40B4-BE49-F238E27FC236}">
                <a16:creationId xmlns:a16="http://schemas.microsoft.com/office/drawing/2014/main" id="{1206AA2B-DAD4-395B-EEEC-B6C12D1ED7C5}"/>
              </a:ext>
            </a:extLst>
          </p:cNvPr>
          <p:cNvGrpSpPr/>
          <p:nvPr/>
        </p:nvGrpSpPr>
        <p:grpSpPr>
          <a:xfrm>
            <a:off x="10913832" y="2937855"/>
            <a:ext cx="1176943" cy="532100"/>
            <a:chOff x="626757" y="3130040"/>
            <a:chExt cx="1176943" cy="532100"/>
          </a:xfrm>
        </p:grpSpPr>
        <p:sp>
          <p:nvSpPr>
            <p:cNvPr id="2662" name="Rectangle: Rounded Corners 2661">
              <a:extLst>
                <a:ext uri="{FF2B5EF4-FFF2-40B4-BE49-F238E27FC236}">
                  <a16:creationId xmlns:a16="http://schemas.microsoft.com/office/drawing/2014/main" id="{6F8DFE8F-982A-EA53-6600-0134B2DE0D4E}"/>
                </a:ext>
              </a:extLst>
            </p:cNvPr>
            <p:cNvSpPr/>
            <p:nvPr/>
          </p:nvSpPr>
          <p:spPr>
            <a:xfrm>
              <a:off x="626758" y="3130040"/>
              <a:ext cx="1174559" cy="532100"/>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63" name="Straight Connector 2662">
              <a:extLst>
                <a:ext uri="{FF2B5EF4-FFF2-40B4-BE49-F238E27FC236}">
                  <a16:creationId xmlns:a16="http://schemas.microsoft.com/office/drawing/2014/main" id="{277061E2-557E-8E5F-453C-0846A5336F5C}"/>
                </a:ext>
              </a:extLst>
            </p:cNvPr>
            <p:cNvCxnSpPr>
              <a:cxnSpLocks/>
            </p:cNvCxnSpPr>
            <p:nvPr/>
          </p:nvCxnSpPr>
          <p:spPr>
            <a:xfrm>
              <a:off x="626759" y="3262639"/>
              <a:ext cx="1172178" cy="0"/>
            </a:xfrm>
            <a:prstGeom prst="line">
              <a:avLst/>
            </a:prstGeom>
          </p:spPr>
          <p:style>
            <a:lnRef idx="1">
              <a:schemeClr val="dk1"/>
            </a:lnRef>
            <a:fillRef idx="0">
              <a:schemeClr val="dk1"/>
            </a:fillRef>
            <a:effectRef idx="0">
              <a:schemeClr val="dk1"/>
            </a:effectRef>
            <a:fontRef idx="minor">
              <a:schemeClr val="tx1"/>
            </a:fontRef>
          </p:style>
        </p:cxnSp>
        <p:sp>
          <p:nvSpPr>
            <p:cNvPr id="2664" name="TextBox 2663">
              <a:extLst>
                <a:ext uri="{FF2B5EF4-FFF2-40B4-BE49-F238E27FC236}">
                  <a16:creationId xmlns:a16="http://schemas.microsoft.com/office/drawing/2014/main" id="{532739BD-2658-5187-FCFC-4E47B1284562}"/>
                </a:ext>
              </a:extLst>
            </p:cNvPr>
            <p:cNvSpPr txBox="1"/>
            <p:nvPr/>
          </p:nvSpPr>
          <p:spPr>
            <a:xfrm>
              <a:off x="885894" y="3151109"/>
              <a:ext cx="416781" cy="107722"/>
            </a:xfrm>
            <a:prstGeom prst="rect">
              <a:avLst/>
            </a:prstGeom>
            <a:noFill/>
          </p:spPr>
          <p:txBody>
            <a:bodyPr wrap="none" lIns="0" tIns="0" rIns="0" bIns="0" rtlCol="0">
              <a:spAutoFit/>
            </a:bodyPr>
            <a:lstStyle>
              <a:defPPr>
                <a:defRPr lang="en-US"/>
              </a:defPPr>
              <a:lvl1pPr algn="ctr">
                <a:defRPr sz="700" b="1"/>
              </a:lvl1pPr>
            </a:lstStyle>
            <a:p>
              <a:r>
                <a:rPr lang="en-US" dirty="0" err="1"/>
                <a:t>BoxFactory</a:t>
              </a:r>
              <a:endParaRPr lang="en-US" dirty="0"/>
            </a:p>
          </p:txBody>
        </p:sp>
        <p:sp>
          <p:nvSpPr>
            <p:cNvPr id="2665" name="TextBox 2664">
              <a:extLst>
                <a:ext uri="{FF2B5EF4-FFF2-40B4-BE49-F238E27FC236}">
                  <a16:creationId xmlns:a16="http://schemas.microsoft.com/office/drawing/2014/main" id="{0EA5F4F2-A7C5-1A18-1882-F23AEBE0087F}"/>
                </a:ext>
              </a:extLst>
            </p:cNvPr>
            <p:cNvSpPr txBox="1"/>
            <p:nvPr/>
          </p:nvSpPr>
          <p:spPr>
            <a:xfrm>
              <a:off x="657950" y="3276104"/>
              <a:ext cx="1145750" cy="92333"/>
            </a:xfrm>
            <a:prstGeom prst="rect">
              <a:avLst/>
            </a:prstGeom>
            <a:noFill/>
          </p:spPr>
          <p:txBody>
            <a:bodyPr wrap="square" lIns="0" tIns="0" rIns="0" bIns="0" rtlCol="0">
              <a:spAutoFit/>
            </a:bodyPr>
            <a:lstStyle>
              <a:defPPr>
                <a:defRPr lang="en-US"/>
              </a:defPPr>
              <a:lvl1pPr>
                <a:defRPr sz="600"/>
              </a:lvl1pPr>
            </a:lstStyle>
            <a:p>
              <a:r>
                <a:rPr lang="en-US" dirty="0"/>
                <a:t>- map: HashMap&lt;String, </a:t>
              </a:r>
              <a:r>
                <a:rPr lang="en-US" dirty="0" err="1"/>
                <a:t>AbstraBox</a:t>
              </a:r>
              <a:r>
                <a:rPr lang="en-US" dirty="0"/>
                <a:t>&gt;</a:t>
              </a:r>
            </a:p>
          </p:txBody>
        </p:sp>
        <p:cxnSp>
          <p:nvCxnSpPr>
            <p:cNvPr id="2666" name="Straight Connector 2665">
              <a:extLst>
                <a:ext uri="{FF2B5EF4-FFF2-40B4-BE49-F238E27FC236}">
                  <a16:creationId xmlns:a16="http://schemas.microsoft.com/office/drawing/2014/main" id="{C787D711-733F-7198-6E71-01E40F5D16D4}"/>
                </a:ext>
              </a:extLst>
            </p:cNvPr>
            <p:cNvCxnSpPr>
              <a:cxnSpLocks/>
            </p:cNvCxnSpPr>
            <p:nvPr/>
          </p:nvCxnSpPr>
          <p:spPr>
            <a:xfrm>
              <a:off x="626757" y="3376935"/>
              <a:ext cx="1174561" cy="0"/>
            </a:xfrm>
            <a:prstGeom prst="line">
              <a:avLst/>
            </a:prstGeom>
          </p:spPr>
          <p:style>
            <a:lnRef idx="1">
              <a:schemeClr val="dk1"/>
            </a:lnRef>
            <a:fillRef idx="0">
              <a:schemeClr val="dk1"/>
            </a:fillRef>
            <a:effectRef idx="0">
              <a:schemeClr val="dk1"/>
            </a:effectRef>
            <a:fontRef idx="minor">
              <a:schemeClr val="tx1"/>
            </a:fontRef>
          </p:style>
        </p:cxnSp>
        <p:sp>
          <p:nvSpPr>
            <p:cNvPr id="2667" name="TextBox 2666">
              <a:extLst>
                <a:ext uri="{FF2B5EF4-FFF2-40B4-BE49-F238E27FC236}">
                  <a16:creationId xmlns:a16="http://schemas.microsoft.com/office/drawing/2014/main" id="{AC935911-E326-6869-A0F7-6E6DE9518373}"/>
                </a:ext>
              </a:extLst>
            </p:cNvPr>
            <p:cNvSpPr txBox="1"/>
            <p:nvPr/>
          </p:nvSpPr>
          <p:spPr>
            <a:xfrm>
              <a:off x="653196" y="3374361"/>
              <a:ext cx="1126691"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BoxFactory</a:t>
              </a:r>
              <a:r>
                <a:rPr lang="en-US" dirty="0"/>
                <a:t>()</a:t>
              </a:r>
            </a:p>
            <a:p>
              <a:r>
                <a:rPr lang="en-US" dirty="0"/>
                <a:t>+ </a:t>
              </a:r>
              <a:r>
                <a:rPr lang="en-US" dirty="0" err="1"/>
                <a:t>getInstance</a:t>
              </a:r>
              <a:r>
                <a:rPr lang="en-US" dirty="0"/>
                <a:t>(): </a:t>
              </a:r>
              <a:r>
                <a:rPr lang="en-US" dirty="0" err="1"/>
                <a:t>BoxFactory</a:t>
              </a:r>
              <a:endParaRPr lang="en-US" dirty="0"/>
            </a:p>
            <a:p>
              <a:r>
                <a:rPr lang="en-US" dirty="0"/>
                <a:t>+ </a:t>
              </a:r>
              <a:r>
                <a:rPr lang="en-US" dirty="0" err="1"/>
                <a:t>getBox</a:t>
              </a:r>
              <a:r>
                <a:rPr lang="en-US" dirty="0"/>
                <a:t>(String key): </a:t>
              </a:r>
              <a:r>
                <a:rPr lang="en-US" dirty="0" err="1"/>
                <a:t>AbstraBox</a:t>
              </a:r>
              <a:endParaRPr lang="en-US" dirty="0"/>
            </a:p>
          </p:txBody>
        </p:sp>
      </p:grpSp>
      <p:cxnSp>
        <p:nvCxnSpPr>
          <p:cNvPr id="2672" name="Straight Connector 2671">
            <a:extLst>
              <a:ext uri="{FF2B5EF4-FFF2-40B4-BE49-F238E27FC236}">
                <a16:creationId xmlns:a16="http://schemas.microsoft.com/office/drawing/2014/main" id="{C5308766-A75B-7397-5532-A9C9F17FB00E}"/>
              </a:ext>
            </a:extLst>
          </p:cNvPr>
          <p:cNvCxnSpPr>
            <a:stCxn id="2662" idx="1"/>
            <a:endCxn id="2647" idx="3"/>
          </p:cNvCxnSpPr>
          <p:nvPr/>
        </p:nvCxnSpPr>
        <p:spPr>
          <a:xfrm flipH="1">
            <a:off x="10644253" y="3203905"/>
            <a:ext cx="269580" cy="971"/>
          </a:xfrm>
          <a:prstGeom prst="line">
            <a:avLst/>
          </a:prstGeom>
        </p:spPr>
        <p:style>
          <a:lnRef idx="1">
            <a:schemeClr val="dk1"/>
          </a:lnRef>
          <a:fillRef idx="0">
            <a:schemeClr val="dk1"/>
          </a:fillRef>
          <a:effectRef idx="0">
            <a:schemeClr val="dk1"/>
          </a:effectRef>
          <a:fontRef idx="minor">
            <a:schemeClr val="tx1"/>
          </a:fontRef>
        </p:style>
      </p:cxnSp>
      <p:sp>
        <p:nvSpPr>
          <p:cNvPr id="2670" name="Diamond 2669">
            <a:extLst>
              <a:ext uri="{FF2B5EF4-FFF2-40B4-BE49-F238E27FC236}">
                <a16:creationId xmlns:a16="http://schemas.microsoft.com/office/drawing/2014/main" id="{4C55F6A5-5966-B278-6E1D-236400A79F5B}"/>
              </a:ext>
            </a:extLst>
          </p:cNvPr>
          <p:cNvSpPr/>
          <p:nvPr/>
        </p:nvSpPr>
        <p:spPr>
          <a:xfrm>
            <a:off x="10822247" y="3183426"/>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3" name="Isosceles Triangle 2672">
            <a:extLst>
              <a:ext uri="{FF2B5EF4-FFF2-40B4-BE49-F238E27FC236}">
                <a16:creationId xmlns:a16="http://schemas.microsoft.com/office/drawing/2014/main" id="{D1D3FEC8-3BBE-015E-08C0-652B7A69A41E}"/>
              </a:ext>
            </a:extLst>
          </p:cNvPr>
          <p:cNvSpPr/>
          <p:nvPr/>
        </p:nvSpPr>
        <p:spPr>
          <a:xfrm>
            <a:off x="9740328" y="3428482"/>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74" name="Group 2673">
            <a:extLst>
              <a:ext uri="{FF2B5EF4-FFF2-40B4-BE49-F238E27FC236}">
                <a16:creationId xmlns:a16="http://schemas.microsoft.com/office/drawing/2014/main" id="{2C9AEE03-022E-9698-5CD5-3BAFF9F5C5F3}"/>
              </a:ext>
            </a:extLst>
          </p:cNvPr>
          <p:cNvGrpSpPr/>
          <p:nvPr/>
        </p:nvGrpSpPr>
        <p:grpSpPr>
          <a:xfrm>
            <a:off x="10370767" y="2369727"/>
            <a:ext cx="848549" cy="327891"/>
            <a:chOff x="626757" y="3130041"/>
            <a:chExt cx="848549" cy="327891"/>
          </a:xfrm>
        </p:grpSpPr>
        <p:sp>
          <p:nvSpPr>
            <p:cNvPr id="2675" name="TextBox 2674">
              <a:extLst>
                <a:ext uri="{FF2B5EF4-FFF2-40B4-BE49-F238E27FC236}">
                  <a16:creationId xmlns:a16="http://schemas.microsoft.com/office/drawing/2014/main" id="{67AFD594-AE2D-5210-C9A7-D33959233053}"/>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main</a:t>
              </a:r>
              <a:r>
                <a:rPr lang="en-US" dirty="0"/>
                <a:t>(): void</a:t>
              </a:r>
            </a:p>
          </p:txBody>
        </p:sp>
        <p:sp>
          <p:nvSpPr>
            <p:cNvPr id="2676" name="Rectangle: Rounded Corners 2675">
              <a:extLst>
                <a:ext uri="{FF2B5EF4-FFF2-40B4-BE49-F238E27FC236}">
                  <a16:creationId xmlns:a16="http://schemas.microsoft.com/office/drawing/2014/main" id="{1FAD631C-3C81-0501-383F-4EDEC2D724C3}"/>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77" name="Straight Connector 2676">
              <a:extLst>
                <a:ext uri="{FF2B5EF4-FFF2-40B4-BE49-F238E27FC236}">
                  <a16:creationId xmlns:a16="http://schemas.microsoft.com/office/drawing/2014/main" id="{9EF42E50-D701-D478-14E0-F097F493DE35}"/>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678" name="TextBox 2677">
              <a:extLst>
                <a:ext uri="{FF2B5EF4-FFF2-40B4-BE49-F238E27FC236}">
                  <a16:creationId xmlns:a16="http://schemas.microsoft.com/office/drawing/2014/main" id="{B18313F7-70EA-FF9D-96D4-1E3F92BC7C37}"/>
                </a:ext>
              </a:extLst>
            </p:cNvPr>
            <p:cNvSpPr txBox="1"/>
            <p:nvPr/>
          </p:nvSpPr>
          <p:spPr>
            <a:xfrm>
              <a:off x="775867" y="3150046"/>
              <a:ext cx="557040" cy="92333"/>
            </a:xfrm>
            <a:prstGeom prst="rect">
              <a:avLst/>
            </a:prstGeom>
            <a:noFill/>
          </p:spPr>
          <p:txBody>
            <a:bodyPr wrap="none" lIns="0" tIns="0" rIns="0" bIns="0" rtlCol="0">
              <a:spAutoFit/>
            </a:bodyPr>
            <a:lstStyle>
              <a:defPPr>
                <a:defRPr lang="en-US"/>
              </a:defPPr>
              <a:lvl1pPr algn="ctr">
                <a:defRPr sz="700" b="1"/>
              </a:lvl1pPr>
            </a:lstStyle>
            <a:p>
              <a:r>
                <a:rPr lang="en-US" dirty="0"/>
                <a:t>C</a:t>
              </a:r>
              <a:r>
                <a:rPr lang="en-US" altLang="zh-CN" dirty="0"/>
                <a:t>lient</a:t>
              </a:r>
              <a:endParaRPr lang="en-US" dirty="0"/>
            </a:p>
          </p:txBody>
        </p:sp>
        <p:cxnSp>
          <p:nvCxnSpPr>
            <p:cNvPr id="2679" name="Straight Connector 2678">
              <a:extLst>
                <a:ext uri="{FF2B5EF4-FFF2-40B4-BE49-F238E27FC236}">
                  <a16:creationId xmlns:a16="http://schemas.microsoft.com/office/drawing/2014/main" id="{6B613D13-F69F-5EB4-0BEF-48DD40E44F8D}"/>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cxnSp>
        <p:nvCxnSpPr>
          <p:cNvPr id="2680" name="Connector: Elbow 2679">
            <a:extLst>
              <a:ext uri="{FF2B5EF4-FFF2-40B4-BE49-F238E27FC236}">
                <a16:creationId xmlns:a16="http://schemas.microsoft.com/office/drawing/2014/main" id="{1B470285-3BDC-27B4-0281-35FD5624B8D5}"/>
              </a:ext>
            </a:extLst>
          </p:cNvPr>
          <p:cNvCxnSpPr>
            <a:cxnSpLocks/>
            <a:stCxn id="2662" idx="0"/>
            <a:endCxn id="2676" idx="2"/>
          </p:cNvCxnSpPr>
          <p:nvPr/>
        </p:nvCxnSpPr>
        <p:spPr>
          <a:xfrm rot="16200000" flipV="1">
            <a:off x="11027482" y="2464223"/>
            <a:ext cx="240237" cy="707027"/>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683" name="Connector: Elbow 2682">
            <a:extLst>
              <a:ext uri="{FF2B5EF4-FFF2-40B4-BE49-F238E27FC236}">
                <a16:creationId xmlns:a16="http://schemas.microsoft.com/office/drawing/2014/main" id="{FD43DD2E-504E-2F71-7562-FBAEF39414C4}"/>
              </a:ext>
            </a:extLst>
          </p:cNvPr>
          <p:cNvCxnSpPr>
            <a:cxnSpLocks/>
            <a:stCxn id="2647" idx="0"/>
            <a:endCxn id="2676" idx="2"/>
          </p:cNvCxnSpPr>
          <p:nvPr/>
        </p:nvCxnSpPr>
        <p:spPr>
          <a:xfrm rot="5400000" flipH="1" flipV="1">
            <a:off x="10336763" y="2532028"/>
            <a:ext cx="291732" cy="622913"/>
          </a:xfrm>
          <a:prstGeom prst="bentConnector3">
            <a:avLst>
              <a:gd name="adj1" fmla="val 58707"/>
            </a:avLst>
          </a:prstGeom>
          <a:ln>
            <a:prstDash val="dash"/>
          </a:ln>
        </p:spPr>
        <p:style>
          <a:lnRef idx="1">
            <a:schemeClr val="dk1"/>
          </a:lnRef>
          <a:fillRef idx="0">
            <a:schemeClr val="dk1"/>
          </a:fillRef>
          <a:effectRef idx="0">
            <a:schemeClr val="dk1"/>
          </a:effectRef>
          <a:fontRef idx="minor">
            <a:schemeClr val="tx1"/>
          </a:fontRef>
        </p:style>
      </p:cxnSp>
      <p:sp>
        <p:nvSpPr>
          <p:cNvPr id="2687" name="Isosceles Triangle 2686">
            <a:extLst>
              <a:ext uri="{FF2B5EF4-FFF2-40B4-BE49-F238E27FC236}">
                <a16:creationId xmlns:a16="http://schemas.microsoft.com/office/drawing/2014/main" id="{F5A012F5-E709-69BC-378B-9FCE2F926D70}"/>
              </a:ext>
            </a:extLst>
          </p:cNvPr>
          <p:cNvSpPr/>
          <p:nvPr/>
        </p:nvSpPr>
        <p:spPr>
          <a:xfrm rot="10800000">
            <a:off x="11478254" y="2877783"/>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8" name="Isosceles Triangle 2687">
            <a:extLst>
              <a:ext uri="{FF2B5EF4-FFF2-40B4-BE49-F238E27FC236}">
                <a16:creationId xmlns:a16="http://schemas.microsoft.com/office/drawing/2014/main" id="{96B63E9F-0C9E-B204-8469-1D238F7CE427}"/>
              </a:ext>
            </a:extLst>
          </p:cNvPr>
          <p:cNvSpPr/>
          <p:nvPr/>
        </p:nvSpPr>
        <p:spPr>
          <a:xfrm rot="10800000">
            <a:off x="10152887" y="2936001"/>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07" name="Group 2906">
            <a:extLst>
              <a:ext uri="{FF2B5EF4-FFF2-40B4-BE49-F238E27FC236}">
                <a16:creationId xmlns:a16="http://schemas.microsoft.com/office/drawing/2014/main" id="{5F858A17-64F4-B14F-8B38-6778344C6B15}"/>
              </a:ext>
            </a:extLst>
          </p:cNvPr>
          <p:cNvGrpSpPr/>
          <p:nvPr/>
        </p:nvGrpSpPr>
        <p:grpSpPr>
          <a:xfrm>
            <a:off x="1466867" y="3224676"/>
            <a:ext cx="806517" cy="547663"/>
            <a:chOff x="626757" y="3130041"/>
            <a:chExt cx="806517" cy="547663"/>
          </a:xfrm>
        </p:grpSpPr>
        <p:sp>
          <p:nvSpPr>
            <p:cNvPr id="2908" name="Rectangle: Rounded Corners 2907">
              <a:extLst>
                <a:ext uri="{FF2B5EF4-FFF2-40B4-BE49-F238E27FC236}">
                  <a16:creationId xmlns:a16="http://schemas.microsoft.com/office/drawing/2014/main" id="{29CB5368-4DFA-C1A2-28BB-E062D62B56BC}"/>
                </a:ext>
              </a:extLst>
            </p:cNvPr>
            <p:cNvSpPr/>
            <p:nvPr/>
          </p:nvSpPr>
          <p:spPr>
            <a:xfrm>
              <a:off x="626759" y="3130041"/>
              <a:ext cx="801321" cy="547663"/>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09" name="Straight Connector 2908">
              <a:extLst>
                <a:ext uri="{FF2B5EF4-FFF2-40B4-BE49-F238E27FC236}">
                  <a16:creationId xmlns:a16="http://schemas.microsoft.com/office/drawing/2014/main" id="{3118CB85-E602-409C-04A0-6C505B99B7A9}"/>
                </a:ext>
              </a:extLst>
            </p:cNvPr>
            <p:cNvCxnSpPr>
              <a:cxnSpLocks/>
            </p:cNvCxnSpPr>
            <p:nvPr/>
          </p:nvCxnSpPr>
          <p:spPr>
            <a:xfrm>
              <a:off x="626759" y="3262639"/>
              <a:ext cx="801752" cy="0"/>
            </a:xfrm>
            <a:prstGeom prst="line">
              <a:avLst/>
            </a:prstGeom>
          </p:spPr>
          <p:style>
            <a:lnRef idx="1">
              <a:schemeClr val="dk1"/>
            </a:lnRef>
            <a:fillRef idx="0">
              <a:schemeClr val="dk1"/>
            </a:fillRef>
            <a:effectRef idx="0">
              <a:schemeClr val="dk1"/>
            </a:effectRef>
            <a:fontRef idx="minor">
              <a:schemeClr val="tx1"/>
            </a:fontRef>
          </p:style>
        </p:cxnSp>
        <p:sp>
          <p:nvSpPr>
            <p:cNvPr id="2910" name="TextBox 2909">
              <a:extLst>
                <a:ext uri="{FF2B5EF4-FFF2-40B4-BE49-F238E27FC236}">
                  <a16:creationId xmlns:a16="http://schemas.microsoft.com/office/drawing/2014/main" id="{5ABADD42-ED1A-9199-AC26-58C4DF338BB4}"/>
                </a:ext>
              </a:extLst>
            </p:cNvPr>
            <p:cNvSpPr txBox="1"/>
            <p:nvPr/>
          </p:nvSpPr>
          <p:spPr>
            <a:xfrm>
              <a:off x="898513" y="3151109"/>
              <a:ext cx="267702" cy="107722"/>
            </a:xfrm>
            <a:prstGeom prst="rect">
              <a:avLst/>
            </a:prstGeom>
            <a:noFill/>
          </p:spPr>
          <p:txBody>
            <a:bodyPr wrap="none" lIns="0" tIns="0" rIns="0" bIns="0" rtlCol="0">
              <a:spAutoFit/>
            </a:bodyPr>
            <a:lstStyle>
              <a:defPPr>
                <a:defRPr lang="en-US"/>
              </a:defPPr>
              <a:lvl1pPr algn="ctr">
                <a:defRPr sz="700" b="1"/>
              </a:lvl1pPr>
            </a:lstStyle>
            <a:p>
              <a:r>
                <a:rPr lang="en-US" i="1" dirty="0"/>
                <a:t>Builder</a:t>
              </a:r>
            </a:p>
          </p:txBody>
        </p:sp>
        <p:sp>
          <p:nvSpPr>
            <p:cNvPr id="2911" name="TextBox 2910">
              <a:extLst>
                <a:ext uri="{FF2B5EF4-FFF2-40B4-BE49-F238E27FC236}">
                  <a16:creationId xmlns:a16="http://schemas.microsoft.com/office/drawing/2014/main" id="{E4424C5F-742A-A10E-87D8-640643C02A15}"/>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err="1"/>
                <a:t>mBike</a:t>
              </a:r>
              <a:r>
                <a:rPr lang="en-US" altLang="zh-CN" dirty="0"/>
                <a:t>: Bike</a:t>
              </a:r>
              <a:endParaRPr lang="en-US" dirty="0"/>
            </a:p>
          </p:txBody>
        </p:sp>
        <p:cxnSp>
          <p:nvCxnSpPr>
            <p:cNvPr id="2912" name="Straight Connector 2911">
              <a:extLst>
                <a:ext uri="{FF2B5EF4-FFF2-40B4-BE49-F238E27FC236}">
                  <a16:creationId xmlns:a16="http://schemas.microsoft.com/office/drawing/2014/main" id="{4B44C1DB-ADD2-5C53-BE2A-0C24856A2982}"/>
                </a:ext>
              </a:extLst>
            </p:cNvPr>
            <p:cNvCxnSpPr>
              <a:cxnSpLocks/>
            </p:cNvCxnSpPr>
            <p:nvPr/>
          </p:nvCxnSpPr>
          <p:spPr>
            <a:xfrm>
              <a:off x="626757" y="3374558"/>
              <a:ext cx="806517" cy="0"/>
            </a:xfrm>
            <a:prstGeom prst="line">
              <a:avLst/>
            </a:prstGeom>
          </p:spPr>
          <p:style>
            <a:lnRef idx="1">
              <a:schemeClr val="dk1"/>
            </a:lnRef>
            <a:fillRef idx="0">
              <a:schemeClr val="dk1"/>
            </a:fillRef>
            <a:effectRef idx="0">
              <a:schemeClr val="dk1"/>
            </a:effectRef>
            <a:fontRef idx="minor">
              <a:schemeClr val="tx1"/>
            </a:fontRef>
          </p:style>
        </p:cxnSp>
        <p:sp>
          <p:nvSpPr>
            <p:cNvPr id="2913" name="TextBox 2912">
              <a:extLst>
                <a:ext uri="{FF2B5EF4-FFF2-40B4-BE49-F238E27FC236}">
                  <a16:creationId xmlns:a16="http://schemas.microsoft.com/office/drawing/2014/main" id="{CF25AD08-990F-92BC-7F61-0E45E686125C}"/>
                </a:ext>
              </a:extLst>
            </p:cNvPr>
            <p:cNvSpPr txBox="1"/>
            <p:nvPr/>
          </p:nvSpPr>
          <p:spPr>
            <a:xfrm>
              <a:off x="653196" y="3381510"/>
              <a:ext cx="752025"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buildFrame</a:t>
              </a:r>
              <a:r>
                <a:rPr lang="en-US" dirty="0"/>
                <a:t>(): void</a:t>
              </a:r>
            </a:p>
            <a:p>
              <a:r>
                <a:rPr lang="en-US" dirty="0"/>
                <a:t>+ </a:t>
              </a:r>
              <a:r>
                <a:rPr lang="en-US" dirty="0" err="1"/>
                <a:t>buildSeat</a:t>
              </a:r>
              <a:r>
                <a:rPr lang="en-US" dirty="0"/>
                <a:t>(): void</a:t>
              </a:r>
            </a:p>
            <a:p>
              <a:r>
                <a:rPr lang="en-US" dirty="0"/>
                <a:t>+ </a:t>
              </a:r>
              <a:r>
                <a:rPr lang="en-US" dirty="0" err="1"/>
                <a:t>createBike</a:t>
              </a:r>
              <a:r>
                <a:rPr lang="en-US" dirty="0"/>
                <a:t>(): Bike</a:t>
              </a:r>
            </a:p>
          </p:txBody>
        </p:sp>
      </p:grpSp>
      <p:grpSp>
        <p:nvGrpSpPr>
          <p:cNvPr id="2914" name="Group 2913">
            <a:extLst>
              <a:ext uri="{FF2B5EF4-FFF2-40B4-BE49-F238E27FC236}">
                <a16:creationId xmlns:a16="http://schemas.microsoft.com/office/drawing/2014/main" id="{A4A6BD5B-871B-D417-9F3C-D5441CB744A1}"/>
              </a:ext>
            </a:extLst>
          </p:cNvPr>
          <p:cNvGrpSpPr/>
          <p:nvPr/>
        </p:nvGrpSpPr>
        <p:grpSpPr>
          <a:xfrm>
            <a:off x="1466866" y="3977904"/>
            <a:ext cx="806517" cy="718415"/>
            <a:chOff x="626757" y="3130041"/>
            <a:chExt cx="806517" cy="718415"/>
          </a:xfrm>
        </p:grpSpPr>
        <p:sp>
          <p:nvSpPr>
            <p:cNvPr id="2915" name="Rectangle: Rounded Corners 2914">
              <a:extLst>
                <a:ext uri="{FF2B5EF4-FFF2-40B4-BE49-F238E27FC236}">
                  <a16:creationId xmlns:a16="http://schemas.microsoft.com/office/drawing/2014/main" id="{36E4631B-2A11-7683-1F91-36C00BBDC608}"/>
                </a:ext>
              </a:extLst>
            </p:cNvPr>
            <p:cNvSpPr/>
            <p:nvPr/>
          </p:nvSpPr>
          <p:spPr>
            <a:xfrm>
              <a:off x="626759" y="3130041"/>
              <a:ext cx="801321" cy="718415"/>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16" name="Straight Connector 2915">
              <a:extLst>
                <a:ext uri="{FF2B5EF4-FFF2-40B4-BE49-F238E27FC236}">
                  <a16:creationId xmlns:a16="http://schemas.microsoft.com/office/drawing/2014/main" id="{522AFD4D-DC4A-00FE-8B93-6E3EAFBE3D2D}"/>
                </a:ext>
              </a:extLst>
            </p:cNvPr>
            <p:cNvCxnSpPr>
              <a:cxnSpLocks/>
            </p:cNvCxnSpPr>
            <p:nvPr/>
          </p:nvCxnSpPr>
          <p:spPr>
            <a:xfrm>
              <a:off x="626759" y="3262639"/>
              <a:ext cx="801752" cy="0"/>
            </a:xfrm>
            <a:prstGeom prst="line">
              <a:avLst/>
            </a:prstGeom>
          </p:spPr>
          <p:style>
            <a:lnRef idx="1">
              <a:schemeClr val="dk1"/>
            </a:lnRef>
            <a:fillRef idx="0">
              <a:schemeClr val="dk1"/>
            </a:fillRef>
            <a:effectRef idx="0">
              <a:schemeClr val="dk1"/>
            </a:effectRef>
            <a:fontRef idx="minor">
              <a:schemeClr val="tx1"/>
            </a:fontRef>
          </p:style>
        </p:cxnSp>
        <p:sp>
          <p:nvSpPr>
            <p:cNvPr id="2917" name="TextBox 2916">
              <a:extLst>
                <a:ext uri="{FF2B5EF4-FFF2-40B4-BE49-F238E27FC236}">
                  <a16:creationId xmlns:a16="http://schemas.microsoft.com/office/drawing/2014/main" id="{28E45E4A-B80A-EC15-25F8-DD8AC699FD0D}"/>
                </a:ext>
              </a:extLst>
            </p:cNvPr>
            <p:cNvSpPr txBox="1"/>
            <p:nvPr/>
          </p:nvSpPr>
          <p:spPr>
            <a:xfrm>
              <a:off x="952215" y="3151109"/>
              <a:ext cx="160300" cy="107722"/>
            </a:xfrm>
            <a:prstGeom prst="rect">
              <a:avLst/>
            </a:prstGeom>
            <a:noFill/>
          </p:spPr>
          <p:txBody>
            <a:bodyPr wrap="none" lIns="0" tIns="0" rIns="0" bIns="0" rtlCol="0">
              <a:spAutoFit/>
            </a:bodyPr>
            <a:lstStyle>
              <a:defPPr>
                <a:defRPr lang="en-US"/>
              </a:defPPr>
              <a:lvl1pPr algn="ctr">
                <a:defRPr sz="700" b="1"/>
              </a:lvl1pPr>
            </a:lstStyle>
            <a:p>
              <a:r>
                <a:rPr lang="en-US" dirty="0"/>
                <a:t>Bike</a:t>
              </a:r>
            </a:p>
          </p:txBody>
        </p:sp>
        <p:sp>
          <p:nvSpPr>
            <p:cNvPr id="2918" name="TextBox 2917">
              <a:extLst>
                <a:ext uri="{FF2B5EF4-FFF2-40B4-BE49-F238E27FC236}">
                  <a16:creationId xmlns:a16="http://schemas.microsoft.com/office/drawing/2014/main" id="{214773AC-B024-CAD8-5C28-E8A089B130BF}"/>
                </a:ext>
              </a:extLst>
            </p:cNvPr>
            <p:cNvSpPr txBox="1"/>
            <p:nvPr/>
          </p:nvSpPr>
          <p:spPr>
            <a:xfrm>
              <a:off x="657950" y="3276104"/>
              <a:ext cx="666741"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frame: String</a:t>
              </a:r>
            </a:p>
            <a:p>
              <a:r>
                <a:rPr lang="en-US" dirty="0"/>
                <a:t>- seat: String</a:t>
              </a:r>
            </a:p>
          </p:txBody>
        </p:sp>
        <p:cxnSp>
          <p:nvCxnSpPr>
            <p:cNvPr id="2919" name="Straight Connector 2918">
              <a:extLst>
                <a:ext uri="{FF2B5EF4-FFF2-40B4-BE49-F238E27FC236}">
                  <a16:creationId xmlns:a16="http://schemas.microsoft.com/office/drawing/2014/main" id="{ED4A5317-6FE5-7191-D606-1F6A58177D7F}"/>
                </a:ext>
              </a:extLst>
            </p:cNvPr>
            <p:cNvCxnSpPr>
              <a:cxnSpLocks/>
            </p:cNvCxnSpPr>
            <p:nvPr/>
          </p:nvCxnSpPr>
          <p:spPr>
            <a:xfrm>
              <a:off x="626757" y="3462664"/>
              <a:ext cx="806517" cy="0"/>
            </a:xfrm>
            <a:prstGeom prst="line">
              <a:avLst/>
            </a:prstGeom>
          </p:spPr>
          <p:style>
            <a:lnRef idx="1">
              <a:schemeClr val="dk1"/>
            </a:lnRef>
            <a:fillRef idx="0">
              <a:schemeClr val="dk1"/>
            </a:fillRef>
            <a:effectRef idx="0">
              <a:schemeClr val="dk1"/>
            </a:effectRef>
            <a:fontRef idx="minor">
              <a:schemeClr val="tx1"/>
            </a:fontRef>
          </p:style>
        </p:cxnSp>
        <p:sp>
          <p:nvSpPr>
            <p:cNvPr id="2920" name="TextBox 2919">
              <a:extLst>
                <a:ext uri="{FF2B5EF4-FFF2-40B4-BE49-F238E27FC236}">
                  <a16:creationId xmlns:a16="http://schemas.microsoft.com/office/drawing/2014/main" id="{6FEF6093-F946-0303-11C6-5F3A188D573C}"/>
                </a:ext>
              </a:extLst>
            </p:cNvPr>
            <p:cNvSpPr txBox="1"/>
            <p:nvPr/>
          </p:nvSpPr>
          <p:spPr>
            <a:xfrm>
              <a:off x="653196" y="3474381"/>
              <a:ext cx="752025" cy="369332"/>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getFrame</a:t>
              </a:r>
              <a:r>
                <a:rPr lang="en-US" dirty="0"/>
                <a:t>(): </a:t>
              </a:r>
              <a:r>
                <a:rPr lang="en-US" altLang="zh-CN" dirty="0"/>
                <a:t>String</a:t>
              </a:r>
              <a:endParaRPr lang="en-US" dirty="0"/>
            </a:p>
            <a:p>
              <a:r>
                <a:rPr lang="en-US" dirty="0"/>
                <a:t>+ </a:t>
              </a:r>
              <a:r>
                <a:rPr lang="en-US" dirty="0" err="1"/>
                <a:t>setFrame</a:t>
              </a:r>
              <a:r>
                <a:rPr lang="en-US" dirty="0"/>
                <a:t>(frame): void</a:t>
              </a:r>
            </a:p>
            <a:p>
              <a:r>
                <a:rPr lang="en-US" dirty="0"/>
                <a:t>+ </a:t>
              </a:r>
              <a:r>
                <a:rPr lang="en-US" dirty="0" err="1"/>
                <a:t>getSeat</a:t>
              </a:r>
              <a:r>
                <a:rPr lang="en-US" dirty="0"/>
                <a:t>(): </a:t>
              </a:r>
              <a:r>
                <a:rPr lang="en-US" altLang="zh-CN" dirty="0"/>
                <a:t>String</a:t>
              </a:r>
            </a:p>
            <a:p>
              <a:r>
                <a:rPr lang="en-US" dirty="0"/>
                <a:t>+ </a:t>
              </a:r>
              <a:r>
                <a:rPr lang="en-US" dirty="0" err="1"/>
                <a:t>setSeat</a:t>
              </a:r>
              <a:r>
                <a:rPr lang="en-US" dirty="0"/>
                <a:t>(seat): void</a:t>
              </a:r>
            </a:p>
          </p:txBody>
        </p:sp>
      </p:grpSp>
      <p:grpSp>
        <p:nvGrpSpPr>
          <p:cNvPr id="2921" name="Group 2920">
            <a:extLst>
              <a:ext uri="{FF2B5EF4-FFF2-40B4-BE49-F238E27FC236}">
                <a16:creationId xmlns:a16="http://schemas.microsoft.com/office/drawing/2014/main" id="{92408C58-67B1-50E1-C58A-2F4350D2FF21}"/>
              </a:ext>
            </a:extLst>
          </p:cNvPr>
          <p:cNvGrpSpPr/>
          <p:nvPr/>
        </p:nvGrpSpPr>
        <p:grpSpPr>
          <a:xfrm>
            <a:off x="1466867" y="2585879"/>
            <a:ext cx="806517" cy="448328"/>
            <a:chOff x="626757" y="3130042"/>
            <a:chExt cx="806517" cy="448328"/>
          </a:xfrm>
        </p:grpSpPr>
        <p:sp>
          <p:nvSpPr>
            <p:cNvPr id="2922" name="Rectangle: Rounded Corners 2921">
              <a:extLst>
                <a:ext uri="{FF2B5EF4-FFF2-40B4-BE49-F238E27FC236}">
                  <a16:creationId xmlns:a16="http://schemas.microsoft.com/office/drawing/2014/main" id="{FA9FD5C4-926D-F1B5-7026-1597AE5BA864}"/>
                </a:ext>
              </a:extLst>
            </p:cNvPr>
            <p:cNvSpPr/>
            <p:nvPr/>
          </p:nvSpPr>
          <p:spPr>
            <a:xfrm>
              <a:off x="626759" y="3130042"/>
              <a:ext cx="801321" cy="448328"/>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23" name="Straight Connector 2922">
              <a:extLst>
                <a:ext uri="{FF2B5EF4-FFF2-40B4-BE49-F238E27FC236}">
                  <a16:creationId xmlns:a16="http://schemas.microsoft.com/office/drawing/2014/main" id="{193D660B-8564-51D5-74C9-4834DC955127}"/>
                </a:ext>
              </a:extLst>
            </p:cNvPr>
            <p:cNvCxnSpPr>
              <a:cxnSpLocks/>
            </p:cNvCxnSpPr>
            <p:nvPr/>
          </p:nvCxnSpPr>
          <p:spPr>
            <a:xfrm>
              <a:off x="626759" y="3262639"/>
              <a:ext cx="801752" cy="0"/>
            </a:xfrm>
            <a:prstGeom prst="line">
              <a:avLst/>
            </a:prstGeom>
          </p:spPr>
          <p:style>
            <a:lnRef idx="1">
              <a:schemeClr val="dk1"/>
            </a:lnRef>
            <a:fillRef idx="0">
              <a:schemeClr val="dk1"/>
            </a:fillRef>
            <a:effectRef idx="0">
              <a:schemeClr val="dk1"/>
            </a:effectRef>
            <a:fontRef idx="minor">
              <a:schemeClr val="tx1"/>
            </a:fontRef>
          </p:style>
        </p:cxnSp>
        <p:sp>
          <p:nvSpPr>
            <p:cNvPr id="2924" name="TextBox 2923">
              <a:extLst>
                <a:ext uri="{FF2B5EF4-FFF2-40B4-BE49-F238E27FC236}">
                  <a16:creationId xmlns:a16="http://schemas.microsoft.com/office/drawing/2014/main" id="{C54DE597-7ABE-B49D-5EEC-A818E19E8A73}"/>
                </a:ext>
              </a:extLst>
            </p:cNvPr>
            <p:cNvSpPr txBox="1"/>
            <p:nvPr/>
          </p:nvSpPr>
          <p:spPr>
            <a:xfrm>
              <a:off x="880881" y="3151109"/>
              <a:ext cx="302968" cy="107722"/>
            </a:xfrm>
            <a:prstGeom prst="rect">
              <a:avLst/>
            </a:prstGeom>
            <a:noFill/>
          </p:spPr>
          <p:txBody>
            <a:bodyPr wrap="none" lIns="0" tIns="0" rIns="0" bIns="0" rtlCol="0">
              <a:spAutoFit/>
            </a:bodyPr>
            <a:lstStyle>
              <a:defPPr>
                <a:defRPr lang="en-US"/>
              </a:defPPr>
              <a:lvl1pPr algn="ctr">
                <a:defRPr sz="700" b="1"/>
              </a:lvl1pPr>
            </a:lstStyle>
            <a:p>
              <a:r>
                <a:rPr lang="en-US" dirty="0"/>
                <a:t>Director</a:t>
              </a:r>
            </a:p>
          </p:txBody>
        </p:sp>
        <p:sp>
          <p:nvSpPr>
            <p:cNvPr id="2925" name="TextBox 2924">
              <a:extLst>
                <a:ext uri="{FF2B5EF4-FFF2-40B4-BE49-F238E27FC236}">
                  <a16:creationId xmlns:a16="http://schemas.microsoft.com/office/drawing/2014/main" id="{F94241EB-4034-3796-C1D4-2C058CDF1262}"/>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r>
                <a:rPr lang="en-US" altLang="zh-CN" dirty="0"/>
                <a:t>- </a:t>
              </a:r>
              <a:r>
                <a:rPr lang="en-US" altLang="zh-CN" dirty="0" err="1"/>
                <a:t>mBuilder</a:t>
              </a:r>
              <a:r>
                <a:rPr lang="en-US" altLang="zh-CN" dirty="0"/>
                <a:t>: Builder</a:t>
              </a:r>
              <a:endParaRPr lang="en-US" dirty="0"/>
            </a:p>
          </p:txBody>
        </p:sp>
        <p:cxnSp>
          <p:nvCxnSpPr>
            <p:cNvPr id="2926" name="Straight Connector 2925">
              <a:extLst>
                <a:ext uri="{FF2B5EF4-FFF2-40B4-BE49-F238E27FC236}">
                  <a16:creationId xmlns:a16="http://schemas.microsoft.com/office/drawing/2014/main" id="{9781D793-5659-02DF-7945-1362CE3D01ED}"/>
                </a:ext>
              </a:extLst>
            </p:cNvPr>
            <p:cNvCxnSpPr>
              <a:cxnSpLocks/>
            </p:cNvCxnSpPr>
            <p:nvPr/>
          </p:nvCxnSpPr>
          <p:spPr>
            <a:xfrm>
              <a:off x="626757" y="3374558"/>
              <a:ext cx="806517" cy="0"/>
            </a:xfrm>
            <a:prstGeom prst="line">
              <a:avLst/>
            </a:prstGeom>
          </p:spPr>
          <p:style>
            <a:lnRef idx="1">
              <a:schemeClr val="dk1"/>
            </a:lnRef>
            <a:fillRef idx="0">
              <a:schemeClr val="dk1"/>
            </a:fillRef>
            <a:effectRef idx="0">
              <a:schemeClr val="dk1"/>
            </a:effectRef>
            <a:fontRef idx="minor">
              <a:schemeClr val="tx1"/>
            </a:fontRef>
          </p:style>
        </p:cxnSp>
        <p:sp>
          <p:nvSpPr>
            <p:cNvPr id="2927" name="TextBox 2926">
              <a:extLst>
                <a:ext uri="{FF2B5EF4-FFF2-40B4-BE49-F238E27FC236}">
                  <a16:creationId xmlns:a16="http://schemas.microsoft.com/office/drawing/2014/main" id="{42960A19-4E29-ADC6-F759-51F947346F65}"/>
                </a:ext>
              </a:extLst>
            </p:cNvPr>
            <p:cNvSpPr txBox="1"/>
            <p:nvPr/>
          </p:nvSpPr>
          <p:spPr>
            <a:xfrm>
              <a:off x="653196" y="3381510"/>
              <a:ext cx="752025" cy="184666"/>
            </a:xfrm>
            <a:prstGeom prst="rect">
              <a:avLst/>
            </a:prstGeom>
            <a:noFill/>
          </p:spPr>
          <p:txBody>
            <a:bodyPr wrap="square" lIns="0" tIns="0" rIns="0" bIns="0" rtlCol="0">
              <a:spAutoFit/>
            </a:bodyPr>
            <a:lstStyle>
              <a:defPPr>
                <a:defRPr lang="en-US"/>
              </a:defPPr>
              <a:lvl1pPr>
                <a:defRPr sz="600"/>
              </a:lvl1pPr>
            </a:lstStyle>
            <a:p>
              <a:r>
                <a:rPr lang="en-US" dirty="0"/>
                <a:t>+ Director(</a:t>
              </a:r>
              <a:r>
                <a:rPr lang="en-US" altLang="zh-CN" dirty="0"/>
                <a:t>Builder</a:t>
              </a:r>
              <a:r>
                <a:rPr lang="en-US" dirty="0"/>
                <a:t>): void</a:t>
              </a:r>
            </a:p>
            <a:p>
              <a:r>
                <a:rPr lang="en-US" dirty="0"/>
                <a:t>+ construct(): Bike</a:t>
              </a:r>
            </a:p>
          </p:txBody>
        </p:sp>
      </p:grpSp>
      <p:cxnSp>
        <p:nvCxnSpPr>
          <p:cNvPr id="2929" name="Straight Connector 2928">
            <a:extLst>
              <a:ext uri="{FF2B5EF4-FFF2-40B4-BE49-F238E27FC236}">
                <a16:creationId xmlns:a16="http://schemas.microsoft.com/office/drawing/2014/main" id="{93A004CD-2896-013C-5D32-132A9F4FA802}"/>
              </a:ext>
            </a:extLst>
          </p:cNvPr>
          <p:cNvCxnSpPr>
            <a:stCxn id="2922" idx="2"/>
            <a:endCxn id="2908" idx="0"/>
          </p:cNvCxnSpPr>
          <p:nvPr/>
        </p:nvCxnSpPr>
        <p:spPr>
          <a:xfrm>
            <a:off x="1867530" y="3034207"/>
            <a:ext cx="0" cy="190469"/>
          </a:xfrm>
          <a:prstGeom prst="line">
            <a:avLst/>
          </a:prstGeom>
        </p:spPr>
        <p:style>
          <a:lnRef idx="1">
            <a:schemeClr val="dk1"/>
          </a:lnRef>
          <a:fillRef idx="0">
            <a:schemeClr val="dk1"/>
          </a:fillRef>
          <a:effectRef idx="0">
            <a:schemeClr val="dk1"/>
          </a:effectRef>
          <a:fontRef idx="minor">
            <a:schemeClr val="tx1"/>
          </a:fontRef>
        </p:style>
      </p:cxnSp>
      <p:cxnSp>
        <p:nvCxnSpPr>
          <p:cNvPr id="2930" name="Straight Connector 2929">
            <a:extLst>
              <a:ext uri="{FF2B5EF4-FFF2-40B4-BE49-F238E27FC236}">
                <a16:creationId xmlns:a16="http://schemas.microsoft.com/office/drawing/2014/main" id="{273E5CEA-00F6-B4F5-0BC5-A62F8211BEEC}"/>
              </a:ext>
            </a:extLst>
          </p:cNvPr>
          <p:cNvCxnSpPr>
            <a:cxnSpLocks/>
            <a:stCxn id="2908" idx="2"/>
            <a:endCxn id="2915" idx="0"/>
          </p:cNvCxnSpPr>
          <p:nvPr/>
        </p:nvCxnSpPr>
        <p:spPr>
          <a:xfrm flipH="1">
            <a:off x="1867529" y="3772339"/>
            <a:ext cx="1" cy="205565"/>
          </a:xfrm>
          <a:prstGeom prst="line">
            <a:avLst/>
          </a:prstGeom>
        </p:spPr>
        <p:style>
          <a:lnRef idx="1">
            <a:schemeClr val="dk1"/>
          </a:lnRef>
          <a:fillRef idx="0">
            <a:schemeClr val="dk1"/>
          </a:fillRef>
          <a:effectRef idx="0">
            <a:schemeClr val="dk1"/>
          </a:effectRef>
          <a:fontRef idx="minor">
            <a:schemeClr val="tx1"/>
          </a:fontRef>
        </p:style>
      </p:cxnSp>
      <p:grpSp>
        <p:nvGrpSpPr>
          <p:cNvPr id="2933" name="Group 2932">
            <a:extLst>
              <a:ext uri="{FF2B5EF4-FFF2-40B4-BE49-F238E27FC236}">
                <a16:creationId xmlns:a16="http://schemas.microsoft.com/office/drawing/2014/main" id="{8769D6A2-8A1C-6445-BBEB-A1459FA50827}"/>
              </a:ext>
            </a:extLst>
          </p:cNvPr>
          <p:cNvGrpSpPr/>
          <p:nvPr/>
        </p:nvGrpSpPr>
        <p:grpSpPr>
          <a:xfrm>
            <a:off x="2596181" y="2882662"/>
            <a:ext cx="806517" cy="547663"/>
            <a:chOff x="626757" y="3130041"/>
            <a:chExt cx="806517" cy="547663"/>
          </a:xfrm>
        </p:grpSpPr>
        <p:sp>
          <p:nvSpPr>
            <p:cNvPr id="2934" name="Rectangle: Rounded Corners 2933">
              <a:extLst>
                <a:ext uri="{FF2B5EF4-FFF2-40B4-BE49-F238E27FC236}">
                  <a16:creationId xmlns:a16="http://schemas.microsoft.com/office/drawing/2014/main" id="{4D84EC19-7190-5109-98E2-E5364F6E8EEF}"/>
                </a:ext>
              </a:extLst>
            </p:cNvPr>
            <p:cNvSpPr/>
            <p:nvPr/>
          </p:nvSpPr>
          <p:spPr>
            <a:xfrm>
              <a:off x="626759" y="3130041"/>
              <a:ext cx="801321" cy="547663"/>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35" name="Straight Connector 2934">
              <a:extLst>
                <a:ext uri="{FF2B5EF4-FFF2-40B4-BE49-F238E27FC236}">
                  <a16:creationId xmlns:a16="http://schemas.microsoft.com/office/drawing/2014/main" id="{6F253C03-DA83-A8B5-76FF-D4BC101EFBEA}"/>
                </a:ext>
              </a:extLst>
            </p:cNvPr>
            <p:cNvCxnSpPr>
              <a:cxnSpLocks/>
            </p:cNvCxnSpPr>
            <p:nvPr/>
          </p:nvCxnSpPr>
          <p:spPr>
            <a:xfrm>
              <a:off x="626759" y="3262639"/>
              <a:ext cx="801752" cy="0"/>
            </a:xfrm>
            <a:prstGeom prst="line">
              <a:avLst/>
            </a:prstGeom>
          </p:spPr>
          <p:style>
            <a:lnRef idx="1">
              <a:schemeClr val="dk1"/>
            </a:lnRef>
            <a:fillRef idx="0">
              <a:schemeClr val="dk1"/>
            </a:fillRef>
            <a:effectRef idx="0">
              <a:schemeClr val="dk1"/>
            </a:effectRef>
            <a:fontRef idx="minor">
              <a:schemeClr val="tx1"/>
            </a:fontRef>
          </p:style>
        </p:cxnSp>
        <p:sp>
          <p:nvSpPr>
            <p:cNvPr id="2936" name="TextBox 2935">
              <a:extLst>
                <a:ext uri="{FF2B5EF4-FFF2-40B4-BE49-F238E27FC236}">
                  <a16:creationId xmlns:a16="http://schemas.microsoft.com/office/drawing/2014/main" id="{80D73887-7861-4666-53A5-3681EABFD021}"/>
                </a:ext>
              </a:extLst>
            </p:cNvPr>
            <p:cNvSpPr txBox="1"/>
            <p:nvPr/>
          </p:nvSpPr>
          <p:spPr>
            <a:xfrm>
              <a:off x="755847" y="3151109"/>
              <a:ext cx="553037" cy="107722"/>
            </a:xfrm>
            <a:prstGeom prst="rect">
              <a:avLst/>
            </a:prstGeom>
            <a:noFill/>
          </p:spPr>
          <p:txBody>
            <a:bodyPr wrap="none" lIns="0" tIns="0" rIns="0" bIns="0" rtlCol="0">
              <a:spAutoFit/>
            </a:bodyPr>
            <a:lstStyle>
              <a:defPPr>
                <a:defRPr lang="en-US"/>
              </a:defPPr>
              <a:lvl1pPr algn="ctr">
                <a:defRPr sz="700" b="1"/>
              </a:lvl1pPr>
            </a:lstStyle>
            <a:p>
              <a:r>
                <a:rPr lang="en-US" dirty="0" err="1"/>
                <a:t>MobikeBuilder</a:t>
              </a:r>
              <a:endParaRPr lang="en-US" dirty="0"/>
            </a:p>
          </p:txBody>
        </p:sp>
        <p:sp>
          <p:nvSpPr>
            <p:cNvPr id="2937" name="TextBox 2936">
              <a:extLst>
                <a:ext uri="{FF2B5EF4-FFF2-40B4-BE49-F238E27FC236}">
                  <a16:creationId xmlns:a16="http://schemas.microsoft.com/office/drawing/2014/main" id="{A1BA34F4-BF3B-3C18-DEA0-5344215BFB89}"/>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938" name="Straight Connector 2937">
              <a:extLst>
                <a:ext uri="{FF2B5EF4-FFF2-40B4-BE49-F238E27FC236}">
                  <a16:creationId xmlns:a16="http://schemas.microsoft.com/office/drawing/2014/main" id="{2663D854-3EF3-FC7E-DBC9-4397DD41F678}"/>
                </a:ext>
              </a:extLst>
            </p:cNvPr>
            <p:cNvCxnSpPr>
              <a:cxnSpLocks/>
            </p:cNvCxnSpPr>
            <p:nvPr/>
          </p:nvCxnSpPr>
          <p:spPr>
            <a:xfrm>
              <a:off x="626757" y="3374558"/>
              <a:ext cx="806517" cy="0"/>
            </a:xfrm>
            <a:prstGeom prst="line">
              <a:avLst/>
            </a:prstGeom>
          </p:spPr>
          <p:style>
            <a:lnRef idx="1">
              <a:schemeClr val="dk1"/>
            </a:lnRef>
            <a:fillRef idx="0">
              <a:schemeClr val="dk1"/>
            </a:fillRef>
            <a:effectRef idx="0">
              <a:schemeClr val="dk1"/>
            </a:effectRef>
            <a:fontRef idx="minor">
              <a:schemeClr val="tx1"/>
            </a:fontRef>
          </p:style>
        </p:cxnSp>
        <p:sp>
          <p:nvSpPr>
            <p:cNvPr id="2939" name="TextBox 2938">
              <a:extLst>
                <a:ext uri="{FF2B5EF4-FFF2-40B4-BE49-F238E27FC236}">
                  <a16:creationId xmlns:a16="http://schemas.microsoft.com/office/drawing/2014/main" id="{2B30D91A-114C-C367-94BE-DD026B81DE8F}"/>
                </a:ext>
              </a:extLst>
            </p:cNvPr>
            <p:cNvSpPr txBox="1"/>
            <p:nvPr/>
          </p:nvSpPr>
          <p:spPr>
            <a:xfrm>
              <a:off x="653196" y="3381510"/>
              <a:ext cx="752025"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buildFrame</a:t>
              </a:r>
              <a:r>
                <a:rPr lang="en-US" dirty="0"/>
                <a:t>(): void</a:t>
              </a:r>
            </a:p>
            <a:p>
              <a:r>
                <a:rPr lang="en-US" dirty="0"/>
                <a:t>+ </a:t>
              </a:r>
              <a:r>
                <a:rPr lang="en-US" dirty="0" err="1"/>
                <a:t>buildSeat</a:t>
              </a:r>
              <a:r>
                <a:rPr lang="en-US" dirty="0"/>
                <a:t>(): void</a:t>
              </a:r>
            </a:p>
            <a:p>
              <a:r>
                <a:rPr lang="en-US" dirty="0"/>
                <a:t>+ </a:t>
              </a:r>
              <a:r>
                <a:rPr lang="en-US" dirty="0" err="1"/>
                <a:t>createBike</a:t>
              </a:r>
              <a:r>
                <a:rPr lang="en-US" dirty="0"/>
                <a:t>(): Bike</a:t>
              </a:r>
            </a:p>
          </p:txBody>
        </p:sp>
      </p:grpSp>
      <p:grpSp>
        <p:nvGrpSpPr>
          <p:cNvPr id="2940" name="Group 2939">
            <a:extLst>
              <a:ext uri="{FF2B5EF4-FFF2-40B4-BE49-F238E27FC236}">
                <a16:creationId xmlns:a16="http://schemas.microsoft.com/office/drawing/2014/main" id="{8DF29849-B715-A875-8592-9A82A410479D}"/>
              </a:ext>
            </a:extLst>
          </p:cNvPr>
          <p:cNvGrpSpPr/>
          <p:nvPr/>
        </p:nvGrpSpPr>
        <p:grpSpPr>
          <a:xfrm>
            <a:off x="2598562" y="3559193"/>
            <a:ext cx="806517" cy="547663"/>
            <a:chOff x="626757" y="3130041"/>
            <a:chExt cx="806517" cy="547663"/>
          </a:xfrm>
        </p:grpSpPr>
        <p:sp>
          <p:nvSpPr>
            <p:cNvPr id="2941" name="Rectangle: Rounded Corners 2940">
              <a:extLst>
                <a:ext uri="{FF2B5EF4-FFF2-40B4-BE49-F238E27FC236}">
                  <a16:creationId xmlns:a16="http://schemas.microsoft.com/office/drawing/2014/main" id="{64F9CD25-5BC4-327E-7182-D0F3732B6173}"/>
                </a:ext>
              </a:extLst>
            </p:cNvPr>
            <p:cNvSpPr/>
            <p:nvPr/>
          </p:nvSpPr>
          <p:spPr>
            <a:xfrm>
              <a:off x="626759" y="3130041"/>
              <a:ext cx="801321" cy="547663"/>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42" name="Straight Connector 2941">
              <a:extLst>
                <a:ext uri="{FF2B5EF4-FFF2-40B4-BE49-F238E27FC236}">
                  <a16:creationId xmlns:a16="http://schemas.microsoft.com/office/drawing/2014/main" id="{6865D08B-0D0C-A6B8-8E34-0D08B747E6F5}"/>
                </a:ext>
              </a:extLst>
            </p:cNvPr>
            <p:cNvCxnSpPr>
              <a:cxnSpLocks/>
            </p:cNvCxnSpPr>
            <p:nvPr/>
          </p:nvCxnSpPr>
          <p:spPr>
            <a:xfrm>
              <a:off x="626759" y="3262639"/>
              <a:ext cx="801752" cy="0"/>
            </a:xfrm>
            <a:prstGeom prst="line">
              <a:avLst/>
            </a:prstGeom>
          </p:spPr>
          <p:style>
            <a:lnRef idx="1">
              <a:schemeClr val="dk1"/>
            </a:lnRef>
            <a:fillRef idx="0">
              <a:schemeClr val="dk1"/>
            </a:fillRef>
            <a:effectRef idx="0">
              <a:schemeClr val="dk1"/>
            </a:effectRef>
            <a:fontRef idx="minor">
              <a:schemeClr val="tx1"/>
            </a:fontRef>
          </p:style>
        </p:cxnSp>
        <p:sp>
          <p:nvSpPr>
            <p:cNvPr id="2943" name="TextBox 2942">
              <a:extLst>
                <a:ext uri="{FF2B5EF4-FFF2-40B4-BE49-F238E27FC236}">
                  <a16:creationId xmlns:a16="http://schemas.microsoft.com/office/drawing/2014/main" id="{09B87A6B-C5F5-A5F3-2E85-629EE74974DF}"/>
                </a:ext>
              </a:extLst>
            </p:cNvPr>
            <p:cNvSpPr txBox="1"/>
            <p:nvPr/>
          </p:nvSpPr>
          <p:spPr>
            <a:xfrm>
              <a:off x="829586" y="3151109"/>
              <a:ext cx="405560" cy="107722"/>
            </a:xfrm>
            <a:prstGeom prst="rect">
              <a:avLst/>
            </a:prstGeom>
            <a:noFill/>
          </p:spPr>
          <p:txBody>
            <a:bodyPr wrap="none" lIns="0" tIns="0" rIns="0" bIns="0" rtlCol="0">
              <a:spAutoFit/>
            </a:bodyPr>
            <a:lstStyle>
              <a:defPPr>
                <a:defRPr lang="en-US"/>
              </a:defPPr>
              <a:lvl1pPr algn="ctr">
                <a:defRPr sz="700" b="1"/>
              </a:lvl1pPr>
            </a:lstStyle>
            <a:p>
              <a:r>
                <a:rPr lang="en-US" dirty="0" err="1"/>
                <a:t>OfoBuilder</a:t>
              </a:r>
              <a:endParaRPr lang="en-US" dirty="0"/>
            </a:p>
          </p:txBody>
        </p:sp>
        <p:sp>
          <p:nvSpPr>
            <p:cNvPr id="2944" name="TextBox 2943">
              <a:extLst>
                <a:ext uri="{FF2B5EF4-FFF2-40B4-BE49-F238E27FC236}">
                  <a16:creationId xmlns:a16="http://schemas.microsoft.com/office/drawing/2014/main" id="{AA7C6341-FC74-368F-3DF7-CC06E9715731}"/>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945" name="Straight Connector 2944">
              <a:extLst>
                <a:ext uri="{FF2B5EF4-FFF2-40B4-BE49-F238E27FC236}">
                  <a16:creationId xmlns:a16="http://schemas.microsoft.com/office/drawing/2014/main" id="{EFA538B8-BD4F-3032-6194-11023DA1D3DD}"/>
                </a:ext>
              </a:extLst>
            </p:cNvPr>
            <p:cNvCxnSpPr>
              <a:cxnSpLocks/>
            </p:cNvCxnSpPr>
            <p:nvPr/>
          </p:nvCxnSpPr>
          <p:spPr>
            <a:xfrm>
              <a:off x="626757" y="3374558"/>
              <a:ext cx="806517" cy="0"/>
            </a:xfrm>
            <a:prstGeom prst="line">
              <a:avLst/>
            </a:prstGeom>
          </p:spPr>
          <p:style>
            <a:lnRef idx="1">
              <a:schemeClr val="dk1"/>
            </a:lnRef>
            <a:fillRef idx="0">
              <a:schemeClr val="dk1"/>
            </a:fillRef>
            <a:effectRef idx="0">
              <a:schemeClr val="dk1"/>
            </a:effectRef>
            <a:fontRef idx="minor">
              <a:schemeClr val="tx1"/>
            </a:fontRef>
          </p:style>
        </p:cxnSp>
        <p:sp>
          <p:nvSpPr>
            <p:cNvPr id="2946" name="TextBox 2945">
              <a:extLst>
                <a:ext uri="{FF2B5EF4-FFF2-40B4-BE49-F238E27FC236}">
                  <a16:creationId xmlns:a16="http://schemas.microsoft.com/office/drawing/2014/main" id="{B0F38D3C-8978-FD5C-1A50-FF3E89D59540}"/>
                </a:ext>
              </a:extLst>
            </p:cNvPr>
            <p:cNvSpPr txBox="1"/>
            <p:nvPr/>
          </p:nvSpPr>
          <p:spPr>
            <a:xfrm>
              <a:off x="653196" y="3381510"/>
              <a:ext cx="752025"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buildFrame</a:t>
              </a:r>
              <a:r>
                <a:rPr lang="en-US" dirty="0"/>
                <a:t>(): void</a:t>
              </a:r>
            </a:p>
            <a:p>
              <a:r>
                <a:rPr lang="en-US" dirty="0"/>
                <a:t>+ </a:t>
              </a:r>
              <a:r>
                <a:rPr lang="en-US" dirty="0" err="1"/>
                <a:t>buildSeat</a:t>
              </a:r>
              <a:r>
                <a:rPr lang="en-US" dirty="0"/>
                <a:t>(): void</a:t>
              </a:r>
            </a:p>
            <a:p>
              <a:r>
                <a:rPr lang="en-US" dirty="0"/>
                <a:t>+ </a:t>
              </a:r>
              <a:r>
                <a:rPr lang="en-US" dirty="0" err="1"/>
                <a:t>createBike</a:t>
              </a:r>
              <a:r>
                <a:rPr lang="en-US" dirty="0"/>
                <a:t>(): Bike</a:t>
              </a:r>
            </a:p>
          </p:txBody>
        </p:sp>
      </p:grpSp>
      <p:cxnSp>
        <p:nvCxnSpPr>
          <p:cNvPr id="2948" name="Connector: Elbow 2947">
            <a:extLst>
              <a:ext uri="{FF2B5EF4-FFF2-40B4-BE49-F238E27FC236}">
                <a16:creationId xmlns:a16="http://schemas.microsoft.com/office/drawing/2014/main" id="{29B57F88-2E6A-BBE5-6D77-8C81344BD483}"/>
              </a:ext>
            </a:extLst>
          </p:cNvPr>
          <p:cNvCxnSpPr>
            <a:stCxn id="2934" idx="1"/>
            <a:endCxn id="2908" idx="3"/>
          </p:cNvCxnSpPr>
          <p:nvPr/>
        </p:nvCxnSpPr>
        <p:spPr>
          <a:xfrm rot="10800000" flipV="1">
            <a:off x="2268191" y="3156494"/>
            <a:ext cx="327993" cy="342014"/>
          </a:xfrm>
          <a:prstGeom prst="bentConnector3">
            <a:avLst/>
          </a:prstGeom>
        </p:spPr>
        <p:style>
          <a:lnRef idx="1">
            <a:schemeClr val="dk1"/>
          </a:lnRef>
          <a:fillRef idx="0">
            <a:schemeClr val="dk1"/>
          </a:fillRef>
          <a:effectRef idx="0">
            <a:schemeClr val="dk1"/>
          </a:effectRef>
          <a:fontRef idx="minor">
            <a:schemeClr val="tx1"/>
          </a:fontRef>
        </p:style>
      </p:cxnSp>
      <p:cxnSp>
        <p:nvCxnSpPr>
          <p:cNvPr id="2949" name="Connector: Elbow 2948">
            <a:extLst>
              <a:ext uri="{FF2B5EF4-FFF2-40B4-BE49-F238E27FC236}">
                <a16:creationId xmlns:a16="http://schemas.microsoft.com/office/drawing/2014/main" id="{566BF330-5C8B-D421-6CB0-BA98728E88D8}"/>
              </a:ext>
            </a:extLst>
          </p:cNvPr>
          <p:cNvCxnSpPr>
            <a:cxnSpLocks/>
            <a:stCxn id="2941" idx="1"/>
            <a:endCxn id="2908" idx="3"/>
          </p:cNvCxnSpPr>
          <p:nvPr/>
        </p:nvCxnSpPr>
        <p:spPr>
          <a:xfrm rot="10800000">
            <a:off x="2268190" y="3498509"/>
            <a:ext cx="330374" cy="334517"/>
          </a:xfrm>
          <a:prstGeom prst="bentConnector3">
            <a:avLst/>
          </a:prstGeom>
        </p:spPr>
        <p:style>
          <a:lnRef idx="1">
            <a:schemeClr val="dk1"/>
          </a:lnRef>
          <a:fillRef idx="0">
            <a:schemeClr val="dk1"/>
          </a:fillRef>
          <a:effectRef idx="0">
            <a:schemeClr val="dk1"/>
          </a:effectRef>
          <a:fontRef idx="minor">
            <a:schemeClr val="tx1"/>
          </a:fontRef>
        </p:style>
      </p:cxnSp>
      <p:grpSp>
        <p:nvGrpSpPr>
          <p:cNvPr id="2952" name="Group 2951">
            <a:extLst>
              <a:ext uri="{FF2B5EF4-FFF2-40B4-BE49-F238E27FC236}">
                <a16:creationId xmlns:a16="http://schemas.microsoft.com/office/drawing/2014/main" id="{AC606B78-D39D-D091-AD25-020D79CC190F}"/>
              </a:ext>
            </a:extLst>
          </p:cNvPr>
          <p:cNvGrpSpPr/>
          <p:nvPr/>
        </p:nvGrpSpPr>
        <p:grpSpPr>
          <a:xfrm>
            <a:off x="1180837" y="2121666"/>
            <a:ext cx="826801" cy="327891"/>
            <a:chOff x="626757" y="3130041"/>
            <a:chExt cx="826801" cy="327891"/>
          </a:xfrm>
        </p:grpSpPr>
        <p:sp>
          <p:nvSpPr>
            <p:cNvPr id="2953" name="TextBox 2952">
              <a:extLst>
                <a:ext uri="{FF2B5EF4-FFF2-40B4-BE49-F238E27FC236}">
                  <a16:creationId xmlns:a16="http://schemas.microsoft.com/office/drawing/2014/main" id="{2E428BEA-A68D-82F9-C12F-8036D9424139}"/>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main</a:t>
              </a:r>
              <a:r>
                <a:rPr lang="en-US" dirty="0"/>
                <a:t>(): void</a:t>
              </a:r>
            </a:p>
          </p:txBody>
        </p:sp>
        <p:sp>
          <p:nvSpPr>
            <p:cNvPr id="2954" name="Rectangle: Rounded Corners 2953">
              <a:extLst>
                <a:ext uri="{FF2B5EF4-FFF2-40B4-BE49-F238E27FC236}">
                  <a16:creationId xmlns:a16="http://schemas.microsoft.com/office/drawing/2014/main" id="{9553D15F-B87B-0B8D-3772-7504D8300328}"/>
                </a:ext>
              </a:extLst>
            </p:cNvPr>
            <p:cNvSpPr/>
            <p:nvPr/>
          </p:nvSpPr>
          <p:spPr>
            <a:xfrm>
              <a:off x="627385" y="3130041"/>
              <a:ext cx="807117"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55" name="Straight Connector 2954">
              <a:extLst>
                <a:ext uri="{FF2B5EF4-FFF2-40B4-BE49-F238E27FC236}">
                  <a16:creationId xmlns:a16="http://schemas.microsoft.com/office/drawing/2014/main" id="{C63F696F-D6EB-0480-50BB-69BA622F595A}"/>
                </a:ext>
              </a:extLst>
            </p:cNvPr>
            <p:cNvCxnSpPr>
              <a:cxnSpLocks/>
            </p:cNvCxnSpPr>
            <p:nvPr/>
          </p:nvCxnSpPr>
          <p:spPr>
            <a:xfrm>
              <a:off x="626759" y="3262639"/>
              <a:ext cx="807618" cy="0"/>
            </a:xfrm>
            <a:prstGeom prst="line">
              <a:avLst/>
            </a:prstGeom>
          </p:spPr>
          <p:style>
            <a:lnRef idx="1">
              <a:schemeClr val="dk1"/>
            </a:lnRef>
            <a:fillRef idx="0">
              <a:schemeClr val="dk1"/>
            </a:fillRef>
            <a:effectRef idx="0">
              <a:schemeClr val="dk1"/>
            </a:effectRef>
            <a:fontRef idx="minor">
              <a:schemeClr val="tx1"/>
            </a:fontRef>
          </p:style>
        </p:cxnSp>
        <p:sp>
          <p:nvSpPr>
            <p:cNvPr id="2956" name="TextBox 2955">
              <a:extLst>
                <a:ext uri="{FF2B5EF4-FFF2-40B4-BE49-F238E27FC236}">
                  <a16:creationId xmlns:a16="http://schemas.microsoft.com/office/drawing/2014/main" id="{DE730570-06B1-A8D4-8432-4294FBD9CEB8}"/>
                </a:ext>
              </a:extLst>
            </p:cNvPr>
            <p:cNvSpPr txBox="1"/>
            <p:nvPr/>
          </p:nvSpPr>
          <p:spPr>
            <a:xfrm>
              <a:off x="775867" y="3150046"/>
              <a:ext cx="557040" cy="92333"/>
            </a:xfrm>
            <a:prstGeom prst="rect">
              <a:avLst/>
            </a:prstGeom>
            <a:noFill/>
          </p:spPr>
          <p:txBody>
            <a:bodyPr wrap="none" lIns="0" tIns="0" rIns="0" bIns="0" rtlCol="0">
              <a:spAutoFit/>
            </a:bodyPr>
            <a:lstStyle>
              <a:defPPr>
                <a:defRPr lang="en-US"/>
              </a:defPPr>
              <a:lvl1pPr algn="ctr">
                <a:defRPr sz="700" b="1"/>
              </a:lvl1pPr>
            </a:lstStyle>
            <a:p>
              <a:r>
                <a:rPr lang="en-US" dirty="0"/>
                <a:t>C</a:t>
              </a:r>
              <a:r>
                <a:rPr lang="en-US" altLang="zh-CN" dirty="0"/>
                <a:t>lient</a:t>
              </a:r>
              <a:endParaRPr lang="en-US" dirty="0"/>
            </a:p>
          </p:txBody>
        </p:sp>
        <p:cxnSp>
          <p:nvCxnSpPr>
            <p:cNvPr id="2957" name="Straight Connector 2956">
              <a:extLst>
                <a:ext uri="{FF2B5EF4-FFF2-40B4-BE49-F238E27FC236}">
                  <a16:creationId xmlns:a16="http://schemas.microsoft.com/office/drawing/2014/main" id="{D05F3C0F-6D79-D32B-F4ED-2260906A0C53}"/>
                </a:ext>
              </a:extLst>
            </p:cNvPr>
            <p:cNvCxnSpPr>
              <a:cxnSpLocks/>
            </p:cNvCxnSpPr>
            <p:nvPr/>
          </p:nvCxnSpPr>
          <p:spPr>
            <a:xfrm>
              <a:off x="626757" y="3350746"/>
              <a:ext cx="805239" cy="0"/>
            </a:xfrm>
            <a:prstGeom prst="line">
              <a:avLst/>
            </a:prstGeom>
          </p:spPr>
          <p:style>
            <a:lnRef idx="1">
              <a:schemeClr val="dk1"/>
            </a:lnRef>
            <a:fillRef idx="0">
              <a:schemeClr val="dk1"/>
            </a:fillRef>
            <a:effectRef idx="0">
              <a:schemeClr val="dk1"/>
            </a:effectRef>
            <a:fontRef idx="minor">
              <a:schemeClr val="tx1"/>
            </a:fontRef>
          </p:style>
        </p:cxnSp>
      </p:grpSp>
      <p:cxnSp>
        <p:nvCxnSpPr>
          <p:cNvPr id="2958" name="Connector: Elbow 2957">
            <a:extLst>
              <a:ext uri="{FF2B5EF4-FFF2-40B4-BE49-F238E27FC236}">
                <a16:creationId xmlns:a16="http://schemas.microsoft.com/office/drawing/2014/main" id="{48DEE2A9-A77A-D323-E445-D684733F5C54}"/>
              </a:ext>
            </a:extLst>
          </p:cNvPr>
          <p:cNvCxnSpPr>
            <a:cxnSpLocks/>
            <a:stCxn id="2922" idx="1"/>
          </p:cNvCxnSpPr>
          <p:nvPr/>
        </p:nvCxnSpPr>
        <p:spPr>
          <a:xfrm rot="10800000">
            <a:off x="1283653" y="2458487"/>
            <a:ext cx="183216" cy="351557"/>
          </a:xfrm>
          <a:prstGeom prst="bentConnector2">
            <a:avLst/>
          </a:prstGeom>
          <a:ln>
            <a:prstDash val="dash"/>
          </a:ln>
        </p:spPr>
        <p:style>
          <a:lnRef idx="1">
            <a:schemeClr val="dk1"/>
          </a:lnRef>
          <a:fillRef idx="0">
            <a:schemeClr val="dk1"/>
          </a:fillRef>
          <a:effectRef idx="0">
            <a:schemeClr val="dk1"/>
          </a:effectRef>
          <a:fontRef idx="minor">
            <a:schemeClr val="tx1"/>
          </a:fontRef>
        </p:style>
      </p:cxnSp>
      <p:sp>
        <p:nvSpPr>
          <p:cNvPr id="2965" name="Isosceles Triangle 2964">
            <a:extLst>
              <a:ext uri="{FF2B5EF4-FFF2-40B4-BE49-F238E27FC236}">
                <a16:creationId xmlns:a16="http://schemas.microsoft.com/office/drawing/2014/main" id="{D41D4FBA-6440-6526-0216-4E10CD3E7503}"/>
              </a:ext>
            </a:extLst>
          </p:cNvPr>
          <p:cNvSpPr/>
          <p:nvPr/>
        </p:nvSpPr>
        <p:spPr>
          <a:xfrm>
            <a:off x="1258874" y="2458487"/>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66" name="Connector: Elbow 2965">
            <a:extLst>
              <a:ext uri="{FF2B5EF4-FFF2-40B4-BE49-F238E27FC236}">
                <a16:creationId xmlns:a16="http://schemas.microsoft.com/office/drawing/2014/main" id="{3B7E3165-F8C9-4287-59D2-CE5632398021}"/>
              </a:ext>
            </a:extLst>
          </p:cNvPr>
          <p:cNvCxnSpPr>
            <a:cxnSpLocks/>
            <a:stCxn id="2908" idx="1"/>
          </p:cNvCxnSpPr>
          <p:nvPr/>
        </p:nvCxnSpPr>
        <p:spPr>
          <a:xfrm rot="10800000">
            <a:off x="1281733" y="2817674"/>
            <a:ext cx="185136" cy="680834"/>
          </a:xfrm>
          <a:prstGeom prst="bentConnector2">
            <a:avLst/>
          </a:prstGeom>
          <a:ln>
            <a:prstDash val="dash"/>
          </a:ln>
        </p:spPr>
        <p:style>
          <a:lnRef idx="1">
            <a:schemeClr val="dk1"/>
          </a:lnRef>
          <a:fillRef idx="0">
            <a:schemeClr val="dk1"/>
          </a:fillRef>
          <a:effectRef idx="0">
            <a:schemeClr val="dk1"/>
          </a:effectRef>
          <a:fontRef idx="minor">
            <a:schemeClr val="tx1"/>
          </a:fontRef>
        </p:style>
      </p:cxnSp>
      <p:cxnSp>
        <p:nvCxnSpPr>
          <p:cNvPr id="2969" name="Connector: Elbow 2968">
            <a:extLst>
              <a:ext uri="{FF2B5EF4-FFF2-40B4-BE49-F238E27FC236}">
                <a16:creationId xmlns:a16="http://schemas.microsoft.com/office/drawing/2014/main" id="{3685F766-20FB-01DA-E45E-5619D6FC1844}"/>
              </a:ext>
            </a:extLst>
          </p:cNvPr>
          <p:cNvCxnSpPr>
            <a:cxnSpLocks/>
            <a:stCxn id="2915" idx="1"/>
          </p:cNvCxnSpPr>
          <p:nvPr/>
        </p:nvCxnSpPr>
        <p:spPr>
          <a:xfrm rot="10800000">
            <a:off x="1280640" y="3498510"/>
            <a:ext cx="186229" cy="838603"/>
          </a:xfrm>
          <a:prstGeom prst="bentConnector2">
            <a:avLst/>
          </a:prstGeom>
          <a:ln>
            <a:prstDash val="dash"/>
          </a:ln>
        </p:spPr>
        <p:style>
          <a:lnRef idx="1">
            <a:schemeClr val="dk1"/>
          </a:lnRef>
          <a:fillRef idx="0">
            <a:schemeClr val="dk1"/>
          </a:fillRef>
          <a:effectRef idx="0">
            <a:schemeClr val="dk1"/>
          </a:effectRef>
          <a:fontRef idx="minor">
            <a:schemeClr val="tx1"/>
          </a:fontRef>
        </p:style>
      </p:cxnSp>
      <p:sp>
        <p:nvSpPr>
          <p:cNvPr id="2974" name="Diamond 2973">
            <a:extLst>
              <a:ext uri="{FF2B5EF4-FFF2-40B4-BE49-F238E27FC236}">
                <a16:creationId xmlns:a16="http://schemas.microsoft.com/office/drawing/2014/main" id="{EB7CEA1F-77A6-07A8-EADC-DB6432B9963D}"/>
              </a:ext>
            </a:extLst>
          </p:cNvPr>
          <p:cNvSpPr/>
          <p:nvPr/>
        </p:nvSpPr>
        <p:spPr>
          <a:xfrm rot="16200000">
            <a:off x="1824486" y="3801827"/>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5" name="Diamond 2974">
            <a:extLst>
              <a:ext uri="{FF2B5EF4-FFF2-40B4-BE49-F238E27FC236}">
                <a16:creationId xmlns:a16="http://schemas.microsoft.com/office/drawing/2014/main" id="{0D32C592-C3B9-4899-B8C7-C38FD1291CC1}"/>
              </a:ext>
            </a:extLst>
          </p:cNvPr>
          <p:cNvSpPr/>
          <p:nvPr/>
        </p:nvSpPr>
        <p:spPr>
          <a:xfrm rot="16200000">
            <a:off x="1824487" y="3065291"/>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6" name="Isosceles Triangle 2975">
            <a:extLst>
              <a:ext uri="{FF2B5EF4-FFF2-40B4-BE49-F238E27FC236}">
                <a16:creationId xmlns:a16="http://schemas.microsoft.com/office/drawing/2014/main" id="{4E22D5A4-4CBB-5368-27A8-234775BB09EF}"/>
              </a:ext>
            </a:extLst>
          </p:cNvPr>
          <p:cNvSpPr/>
          <p:nvPr/>
        </p:nvSpPr>
        <p:spPr>
          <a:xfrm rot="16200000">
            <a:off x="2279637" y="3476986"/>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30" name="Group 3029">
            <a:extLst>
              <a:ext uri="{FF2B5EF4-FFF2-40B4-BE49-F238E27FC236}">
                <a16:creationId xmlns:a16="http://schemas.microsoft.com/office/drawing/2014/main" id="{6BE7205E-4EE6-9C20-00C9-8F0F3F2EA96C}"/>
              </a:ext>
            </a:extLst>
          </p:cNvPr>
          <p:cNvGrpSpPr/>
          <p:nvPr/>
        </p:nvGrpSpPr>
        <p:grpSpPr>
          <a:xfrm>
            <a:off x="11010247" y="5981624"/>
            <a:ext cx="848549" cy="327891"/>
            <a:chOff x="626757" y="3130041"/>
            <a:chExt cx="848549" cy="327891"/>
          </a:xfrm>
        </p:grpSpPr>
        <p:sp>
          <p:nvSpPr>
            <p:cNvPr id="3031" name="TextBox 3030">
              <a:extLst>
                <a:ext uri="{FF2B5EF4-FFF2-40B4-BE49-F238E27FC236}">
                  <a16:creationId xmlns:a16="http://schemas.microsoft.com/office/drawing/2014/main" id="{F5A97BE8-E8B2-E10F-D5BB-2088343D4DA3}"/>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main</a:t>
              </a:r>
              <a:r>
                <a:rPr lang="en-US" dirty="0"/>
                <a:t>(): void</a:t>
              </a:r>
            </a:p>
          </p:txBody>
        </p:sp>
        <p:sp>
          <p:nvSpPr>
            <p:cNvPr id="3032" name="Rectangle: Rounded Corners 3031">
              <a:extLst>
                <a:ext uri="{FF2B5EF4-FFF2-40B4-BE49-F238E27FC236}">
                  <a16:creationId xmlns:a16="http://schemas.microsoft.com/office/drawing/2014/main" id="{06267499-093F-33BD-ED10-6C5531AF3C31}"/>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33" name="Straight Connector 3032">
              <a:extLst>
                <a:ext uri="{FF2B5EF4-FFF2-40B4-BE49-F238E27FC236}">
                  <a16:creationId xmlns:a16="http://schemas.microsoft.com/office/drawing/2014/main" id="{C5BAE941-F971-A221-324E-01FF8BD19A99}"/>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3034" name="TextBox 3033">
              <a:extLst>
                <a:ext uri="{FF2B5EF4-FFF2-40B4-BE49-F238E27FC236}">
                  <a16:creationId xmlns:a16="http://schemas.microsoft.com/office/drawing/2014/main" id="{DCD0EBEC-BB9C-45DD-C375-4C02B79E836A}"/>
                </a:ext>
              </a:extLst>
            </p:cNvPr>
            <p:cNvSpPr txBox="1"/>
            <p:nvPr/>
          </p:nvSpPr>
          <p:spPr>
            <a:xfrm>
              <a:off x="775867" y="3150046"/>
              <a:ext cx="557040" cy="92333"/>
            </a:xfrm>
            <a:prstGeom prst="rect">
              <a:avLst/>
            </a:prstGeom>
            <a:noFill/>
          </p:spPr>
          <p:txBody>
            <a:bodyPr wrap="none" lIns="0" tIns="0" rIns="0" bIns="0" rtlCol="0">
              <a:spAutoFit/>
            </a:bodyPr>
            <a:lstStyle>
              <a:defPPr>
                <a:defRPr lang="en-US"/>
              </a:defPPr>
              <a:lvl1pPr algn="ctr">
                <a:defRPr sz="700" b="1"/>
              </a:lvl1pPr>
            </a:lstStyle>
            <a:p>
              <a:r>
                <a:rPr lang="en-US" dirty="0"/>
                <a:t>C</a:t>
              </a:r>
              <a:r>
                <a:rPr lang="en-US" altLang="zh-CN" dirty="0"/>
                <a:t>lient</a:t>
              </a:r>
              <a:endParaRPr lang="en-US" dirty="0"/>
            </a:p>
          </p:txBody>
        </p:sp>
        <p:cxnSp>
          <p:nvCxnSpPr>
            <p:cNvPr id="3035" name="Straight Connector 3034">
              <a:extLst>
                <a:ext uri="{FF2B5EF4-FFF2-40B4-BE49-F238E27FC236}">
                  <a16:creationId xmlns:a16="http://schemas.microsoft.com/office/drawing/2014/main" id="{160C272D-4919-8F6B-CA76-D1BE5AC82CEF}"/>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grpSp>
        <p:nvGrpSpPr>
          <p:cNvPr id="3036" name="Group 3035">
            <a:extLst>
              <a:ext uri="{FF2B5EF4-FFF2-40B4-BE49-F238E27FC236}">
                <a16:creationId xmlns:a16="http://schemas.microsoft.com/office/drawing/2014/main" id="{0408CE6F-BF04-3603-C9D6-A9D544517BDF}"/>
              </a:ext>
            </a:extLst>
          </p:cNvPr>
          <p:cNvGrpSpPr/>
          <p:nvPr/>
        </p:nvGrpSpPr>
        <p:grpSpPr>
          <a:xfrm>
            <a:off x="10368286" y="4868966"/>
            <a:ext cx="848549" cy="327891"/>
            <a:chOff x="626757" y="3130041"/>
            <a:chExt cx="848549" cy="327891"/>
          </a:xfrm>
        </p:grpSpPr>
        <p:sp>
          <p:nvSpPr>
            <p:cNvPr id="3037" name="TextBox 3036">
              <a:extLst>
                <a:ext uri="{FF2B5EF4-FFF2-40B4-BE49-F238E27FC236}">
                  <a16:creationId xmlns:a16="http://schemas.microsoft.com/office/drawing/2014/main" id="{E89597FD-C8E9-AC1E-ED54-5175395737B6}"/>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sell</a:t>
              </a:r>
              <a:r>
                <a:rPr lang="en-US" dirty="0"/>
                <a:t>(): void</a:t>
              </a:r>
            </a:p>
          </p:txBody>
        </p:sp>
        <p:sp>
          <p:nvSpPr>
            <p:cNvPr id="3038" name="Rectangle: Rounded Corners 3037">
              <a:extLst>
                <a:ext uri="{FF2B5EF4-FFF2-40B4-BE49-F238E27FC236}">
                  <a16:creationId xmlns:a16="http://schemas.microsoft.com/office/drawing/2014/main" id="{C69281C7-1B0F-19FC-6405-6722259EDBF7}"/>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39" name="Straight Connector 3038">
              <a:extLst>
                <a:ext uri="{FF2B5EF4-FFF2-40B4-BE49-F238E27FC236}">
                  <a16:creationId xmlns:a16="http://schemas.microsoft.com/office/drawing/2014/main" id="{796CB42F-E2C6-DA53-6676-FC093FBD6DA1}"/>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3040" name="TextBox 3039">
              <a:extLst>
                <a:ext uri="{FF2B5EF4-FFF2-40B4-BE49-F238E27FC236}">
                  <a16:creationId xmlns:a16="http://schemas.microsoft.com/office/drawing/2014/main" id="{A36C1A9C-5376-DE5E-9B4C-1C09F84F9D09}"/>
                </a:ext>
              </a:extLst>
            </p:cNvPr>
            <p:cNvSpPr txBox="1"/>
            <p:nvPr/>
          </p:nvSpPr>
          <p:spPr>
            <a:xfrm>
              <a:off x="648031" y="3150046"/>
              <a:ext cx="812723" cy="107722"/>
            </a:xfrm>
            <a:prstGeom prst="rect">
              <a:avLst/>
            </a:prstGeom>
            <a:noFill/>
          </p:spPr>
          <p:txBody>
            <a:bodyPr wrap="none" lIns="0" tIns="0" rIns="0" bIns="0" rtlCol="0">
              <a:spAutoFit/>
            </a:bodyPr>
            <a:lstStyle>
              <a:defPPr>
                <a:defRPr lang="en-US"/>
              </a:defPPr>
              <a:lvl1pPr algn="ctr">
                <a:defRPr sz="700" b="1"/>
              </a:lvl1pPr>
            </a:lstStyle>
            <a:p>
              <a:r>
                <a:rPr lang="en-US" dirty="0"/>
                <a:t>&lt;interface&gt;</a:t>
              </a:r>
              <a:r>
                <a:rPr lang="en-US" dirty="0" err="1"/>
                <a:t>SellTickets</a:t>
              </a:r>
              <a:endParaRPr lang="en-US" dirty="0"/>
            </a:p>
          </p:txBody>
        </p:sp>
        <p:cxnSp>
          <p:nvCxnSpPr>
            <p:cNvPr id="3041" name="Straight Connector 3040">
              <a:extLst>
                <a:ext uri="{FF2B5EF4-FFF2-40B4-BE49-F238E27FC236}">
                  <a16:creationId xmlns:a16="http://schemas.microsoft.com/office/drawing/2014/main" id="{748E9125-3749-31F2-8386-28A6E457AE07}"/>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grpSp>
        <p:nvGrpSpPr>
          <p:cNvPr id="3042" name="Group 3041">
            <a:extLst>
              <a:ext uri="{FF2B5EF4-FFF2-40B4-BE49-F238E27FC236}">
                <a16:creationId xmlns:a16="http://schemas.microsoft.com/office/drawing/2014/main" id="{66786FA6-C3FC-80EF-6B89-F50EB671F9E3}"/>
              </a:ext>
            </a:extLst>
          </p:cNvPr>
          <p:cNvGrpSpPr/>
          <p:nvPr/>
        </p:nvGrpSpPr>
        <p:grpSpPr>
          <a:xfrm>
            <a:off x="9763190" y="5475536"/>
            <a:ext cx="848549" cy="327891"/>
            <a:chOff x="626757" y="3130041"/>
            <a:chExt cx="848549" cy="327891"/>
          </a:xfrm>
        </p:grpSpPr>
        <p:sp>
          <p:nvSpPr>
            <p:cNvPr id="3043" name="TextBox 3042">
              <a:extLst>
                <a:ext uri="{FF2B5EF4-FFF2-40B4-BE49-F238E27FC236}">
                  <a16:creationId xmlns:a16="http://schemas.microsoft.com/office/drawing/2014/main" id="{34E63984-7082-A199-3770-01CA6FEAFB08}"/>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sell</a:t>
              </a:r>
              <a:r>
                <a:rPr lang="en-US" dirty="0"/>
                <a:t>(): void</a:t>
              </a:r>
            </a:p>
          </p:txBody>
        </p:sp>
        <p:sp>
          <p:nvSpPr>
            <p:cNvPr id="3044" name="Rectangle: Rounded Corners 3043">
              <a:extLst>
                <a:ext uri="{FF2B5EF4-FFF2-40B4-BE49-F238E27FC236}">
                  <a16:creationId xmlns:a16="http://schemas.microsoft.com/office/drawing/2014/main" id="{CFF084D8-06C2-D56E-71FB-EE20EA062509}"/>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45" name="Straight Connector 3044">
              <a:extLst>
                <a:ext uri="{FF2B5EF4-FFF2-40B4-BE49-F238E27FC236}">
                  <a16:creationId xmlns:a16="http://schemas.microsoft.com/office/drawing/2014/main" id="{2EA6A1E1-D26C-F30F-F179-431315AF4367}"/>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3046" name="TextBox 3045">
              <a:extLst>
                <a:ext uri="{FF2B5EF4-FFF2-40B4-BE49-F238E27FC236}">
                  <a16:creationId xmlns:a16="http://schemas.microsoft.com/office/drawing/2014/main" id="{AD99E3A9-3740-4651-E6B6-22ED5C7FCEA1}"/>
                </a:ext>
              </a:extLst>
            </p:cNvPr>
            <p:cNvSpPr txBox="1"/>
            <p:nvPr/>
          </p:nvSpPr>
          <p:spPr>
            <a:xfrm>
              <a:off x="825164" y="3150046"/>
              <a:ext cx="458459" cy="107722"/>
            </a:xfrm>
            <a:prstGeom prst="rect">
              <a:avLst/>
            </a:prstGeom>
            <a:noFill/>
          </p:spPr>
          <p:txBody>
            <a:bodyPr wrap="none" lIns="0" tIns="0" rIns="0" bIns="0" rtlCol="0">
              <a:spAutoFit/>
            </a:bodyPr>
            <a:lstStyle>
              <a:defPPr>
                <a:defRPr lang="en-US"/>
              </a:defPPr>
              <a:lvl1pPr algn="ctr">
                <a:defRPr sz="700" b="1"/>
              </a:lvl1pPr>
            </a:lstStyle>
            <a:p>
              <a:r>
                <a:rPr lang="en-US" dirty="0" err="1"/>
                <a:t>TrainStation</a:t>
              </a:r>
              <a:endParaRPr lang="en-US" dirty="0"/>
            </a:p>
          </p:txBody>
        </p:sp>
        <p:cxnSp>
          <p:nvCxnSpPr>
            <p:cNvPr id="3047" name="Straight Connector 3046">
              <a:extLst>
                <a:ext uri="{FF2B5EF4-FFF2-40B4-BE49-F238E27FC236}">
                  <a16:creationId xmlns:a16="http://schemas.microsoft.com/office/drawing/2014/main" id="{4B56F526-1CA7-7972-522F-DB816357D8BB}"/>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grpSp>
        <p:nvGrpSpPr>
          <p:cNvPr id="3048" name="Group 3047">
            <a:extLst>
              <a:ext uri="{FF2B5EF4-FFF2-40B4-BE49-F238E27FC236}">
                <a16:creationId xmlns:a16="http://schemas.microsoft.com/office/drawing/2014/main" id="{F944C05B-079E-4CC3-7059-482C9D344E22}"/>
              </a:ext>
            </a:extLst>
          </p:cNvPr>
          <p:cNvGrpSpPr/>
          <p:nvPr/>
        </p:nvGrpSpPr>
        <p:grpSpPr>
          <a:xfrm>
            <a:off x="11010247" y="5475536"/>
            <a:ext cx="848549" cy="327891"/>
            <a:chOff x="626757" y="3130041"/>
            <a:chExt cx="848549" cy="327891"/>
          </a:xfrm>
        </p:grpSpPr>
        <p:sp>
          <p:nvSpPr>
            <p:cNvPr id="3049" name="TextBox 3048">
              <a:extLst>
                <a:ext uri="{FF2B5EF4-FFF2-40B4-BE49-F238E27FC236}">
                  <a16:creationId xmlns:a16="http://schemas.microsoft.com/office/drawing/2014/main" id="{A5A7E2A1-6453-5D49-6D6C-0495700C49AE}"/>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sell</a:t>
              </a:r>
              <a:r>
                <a:rPr lang="en-US" dirty="0"/>
                <a:t>(): void</a:t>
              </a:r>
            </a:p>
          </p:txBody>
        </p:sp>
        <p:sp>
          <p:nvSpPr>
            <p:cNvPr id="3050" name="Rectangle: Rounded Corners 3049">
              <a:extLst>
                <a:ext uri="{FF2B5EF4-FFF2-40B4-BE49-F238E27FC236}">
                  <a16:creationId xmlns:a16="http://schemas.microsoft.com/office/drawing/2014/main" id="{4A195CD6-588E-B3EE-E4BA-A4C95029F2DF}"/>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51" name="Straight Connector 3050">
              <a:extLst>
                <a:ext uri="{FF2B5EF4-FFF2-40B4-BE49-F238E27FC236}">
                  <a16:creationId xmlns:a16="http://schemas.microsoft.com/office/drawing/2014/main" id="{FABF28B9-E5C4-3634-6889-60568BE6D3A7}"/>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3052" name="TextBox 3051">
              <a:extLst>
                <a:ext uri="{FF2B5EF4-FFF2-40B4-BE49-F238E27FC236}">
                  <a16:creationId xmlns:a16="http://schemas.microsoft.com/office/drawing/2014/main" id="{B9A1D131-DF73-3B88-375C-FFE96B2B58C2}"/>
                </a:ext>
              </a:extLst>
            </p:cNvPr>
            <p:cNvSpPr txBox="1"/>
            <p:nvPr/>
          </p:nvSpPr>
          <p:spPr>
            <a:xfrm>
              <a:off x="849211" y="3150046"/>
              <a:ext cx="410369" cy="107722"/>
            </a:xfrm>
            <a:prstGeom prst="rect">
              <a:avLst/>
            </a:prstGeom>
            <a:noFill/>
          </p:spPr>
          <p:txBody>
            <a:bodyPr wrap="none" lIns="0" tIns="0" rIns="0" bIns="0" rtlCol="0">
              <a:spAutoFit/>
            </a:bodyPr>
            <a:lstStyle>
              <a:defPPr>
                <a:defRPr lang="en-US"/>
              </a:defPPr>
              <a:lvl1pPr algn="ctr">
                <a:defRPr sz="700" b="1"/>
              </a:lvl1pPr>
            </a:lstStyle>
            <a:p>
              <a:r>
                <a:rPr lang="en-US" dirty="0" err="1"/>
                <a:t>ProxyPoint</a:t>
              </a:r>
              <a:endParaRPr lang="en-US" dirty="0"/>
            </a:p>
          </p:txBody>
        </p:sp>
        <p:cxnSp>
          <p:nvCxnSpPr>
            <p:cNvPr id="3053" name="Straight Connector 3052">
              <a:extLst>
                <a:ext uri="{FF2B5EF4-FFF2-40B4-BE49-F238E27FC236}">
                  <a16:creationId xmlns:a16="http://schemas.microsoft.com/office/drawing/2014/main" id="{3D96BB8D-41A2-1397-5EE4-C0B538DFCC35}"/>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2E7F72D0-D39B-0778-E40B-C227175C63F0}"/>
                </a:ext>
              </a:extLst>
            </p:cNvPr>
            <p:cNvSpPr txBox="1"/>
            <p:nvPr/>
          </p:nvSpPr>
          <p:spPr>
            <a:xfrm>
              <a:off x="650087" y="3259014"/>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station: </a:t>
              </a:r>
              <a:r>
                <a:rPr lang="en-US" altLang="zh-CN" dirty="0" err="1"/>
                <a:t>TrainStation</a:t>
              </a:r>
              <a:endParaRPr lang="en-US" dirty="0"/>
            </a:p>
          </p:txBody>
        </p:sp>
      </p:grpSp>
      <p:cxnSp>
        <p:nvCxnSpPr>
          <p:cNvPr id="3055" name="Straight Connector 3054">
            <a:extLst>
              <a:ext uri="{FF2B5EF4-FFF2-40B4-BE49-F238E27FC236}">
                <a16:creationId xmlns:a16="http://schemas.microsoft.com/office/drawing/2014/main" id="{42E8F4EC-93A4-982B-9F35-7393725EDEB5}"/>
              </a:ext>
            </a:extLst>
          </p:cNvPr>
          <p:cNvCxnSpPr>
            <a:stCxn id="3038" idx="2"/>
            <a:endCxn id="3044" idx="0"/>
          </p:cNvCxnSpPr>
          <p:nvPr/>
        </p:nvCxnSpPr>
        <p:spPr>
          <a:xfrm flipH="1">
            <a:off x="10186509" y="5196857"/>
            <a:ext cx="605096" cy="27867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056" name="Straight Connector 3055">
            <a:extLst>
              <a:ext uri="{FF2B5EF4-FFF2-40B4-BE49-F238E27FC236}">
                <a16:creationId xmlns:a16="http://schemas.microsoft.com/office/drawing/2014/main" id="{1338721E-72D7-E3B7-C3E2-5582198DB6E6}"/>
              </a:ext>
            </a:extLst>
          </p:cNvPr>
          <p:cNvCxnSpPr>
            <a:cxnSpLocks/>
            <a:stCxn id="3050" idx="1"/>
            <a:endCxn id="3044" idx="3"/>
          </p:cNvCxnSpPr>
          <p:nvPr/>
        </p:nvCxnSpPr>
        <p:spPr>
          <a:xfrm flipH="1">
            <a:off x="10609826" y="5639482"/>
            <a:ext cx="400423" cy="0"/>
          </a:xfrm>
          <a:prstGeom prst="line">
            <a:avLst/>
          </a:prstGeom>
        </p:spPr>
        <p:style>
          <a:lnRef idx="1">
            <a:schemeClr val="dk1"/>
          </a:lnRef>
          <a:fillRef idx="0">
            <a:schemeClr val="dk1"/>
          </a:fillRef>
          <a:effectRef idx="0">
            <a:schemeClr val="dk1"/>
          </a:effectRef>
          <a:fontRef idx="minor">
            <a:schemeClr val="tx1"/>
          </a:fontRef>
        </p:style>
      </p:cxnSp>
      <p:cxnSp>
        <p:nvCxnSpPr>
          <p:cNvPr id="3059" name="Straight Connector 3058">
            <a:extLst>
              <a:ext uri="{FF2B5EF4-FFF2-40B4-BE49-F238E27FC236}">
                <a16:creationId xmlns:a16="http://schemas.microsoft.com/office/drawing/2014/main" id="{8B609F53-F498-C30A-6921-2B896B69A67E}"/>
              </a:ext>
            </a:extLst>
          </p:cNvPr>
          <p:cNvCxnSpPr>
            <a:cxnSpLocks/>
            <a:stCxn id="3038" idx="2"/>
            <a:endCxn id="3050" idx="0"/>
          </p:cNvCxnSpPr>
          <p:nvPr/>
        </p:nvCxnSpPr>
        <p:spPr>
          <a:xfrm>
            <a:off x="10791605" y="5196857"/>
            <a:ext cx="641961" cy="27867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062" name="Straight Connector 3061">
            <a:extLst>
              <a:ext uri="{FF2B5EF4-FFF2-40B4-BE49-F238E27FC236}">
                <a16:creationId xmlns:a16="http://schemas.microsoft.com/office/drawing/2014/main" id="{005F09C5-5440-CCFB-98BA-FDD15D22E856}"/>
              </a:ext>
            </a:extLst>
          </p:cNvPr>
          <p:cNvCxnSpPr>
            <a:cxnSpLocks/>
            <a:stCxn id="3050" idx="2"/>
            <a:endCxn id="3032" idx="0"/>
          </p:cNvCxnSpPr>
          <p:nvPr/>
        </p:nvCxnSpPr>
        <p:spPr>
          <a:xfrm>
            <a:off x="11433566" y="5803427"/>
            <a:ext cx="0" cy="178197"/>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3065" name="Isosceles Triangle 3064">
            <a:extLst>
              <a:ext uri="{FF2B5EF4-FFF2-40B4-BE49-F238E27FC236}">
                <a16:creationId xmlns:a16="http://schemas.microsoft.com/office/drawing/2014/main" id="{46FEDDF1-031D-B7C9-9558-735DB837FE8B}"/>
              </a:ext>
            </a:extLst>
          </p:cNvPr>
          <p:cNvSpPr/>
          <p:nvPr/>
        </p:nvSpPr>
        <p:spPr>
          <a:xfrm rot="3696257">
            <a:off x="10742313" y="5194333"/>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6" name="Isosceles Triangle 3065">
            <a:extLst>
              <a:ext uri="{FF2B5EF4-FFF2-40B4-BE49-F238E27FC236}">
                <a16:creationId xmlns:a16="http://schemas.microsoft.com/office/drawing/2014/main" id="{D6DEBEF9-2BC3-8403-C4FF-5E910021560C}"/>
              </a:ext>
            </a:extLst>
          </p:cNvPr>
          <p:cNvSpPr/>
          <p:nvPr/>
        </p:nvSpPr>
        <p:spPr>
          <a:xfrm rot="17684545">
            <a:off x="10800030" y="5190533"/>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7" name="Isosceles Triangle 3066">
            <a:extLst>
              <a:ext uri="{FF2B5EF4-FFF2-40B4-BE49-F238E27FC236}">
                <a16:creationId xmlns:a16="http://schemas.microsoft.com/office/drawing/2014/main" id="{5C92FC86-0918-17BB-CCEF-E343A15FE26E}"/>
              </a:ext>
            </a:extLst>
          </p:cNvPr>
          <p:cNvSpPr/>
          <p:nvPr/>
        </p:nvSpPr>
        <p:spPr>
          <a:xfrm>
            <a:off x="11411335" y="5814904"/>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8" name="Diamond 3067">
            <a:extLst>
              <a:ext uri="{FF2B5EF4-FFF2-40B4-BE49-F238E27FC236}">
                <a16:creationId xmlns:a16="http://schemas.microsoft.com/office/drawing/2014/main" id="{1D7E632E-566F-E714-EC08-51290A289EDD}"/>
              </a:ext>
            </a:extLst>
          </p:cNvPr>
          <p:cNvSpPr/>
          <p:nvPr/>
        </p:nvSpPr>
        <p:spPr>
          <a:xfrm>
            <a:off x="10921923" y="5618378"/>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19" name="Group 2718">
            <a:extLst>
              <a:ext uri="{FF2B5EF4-FFF2-40B4-BE49-F238E27FC236}">
                <a16:creationId xmlns:a16="http://schemas.microsoft.com/office/drawing/2014/main" id="{67B3926A-F973-D705-17FE-EB8AFEC1E3C1}"/>
              </a:ext>
            </a:extLst>
          </p:cNvPr>
          <p:cNvGrpSpPr/>
          <p:nvPr/>
        </p:nvGrpSpPr>
        <p:grpSpPr>
          <a:xfrm>
            <a:off x="286596" y="5012503"/>
            <a:ext cx="848549" cy="327891"/>
            <a:chOff x="626757" y="3130041"/>
            <a:chExt cx="848549" cy="327891"/>
          </a:xfrm>
        </p:grpSpPr>
        <p:sp>
          <p:nvSpPr>
            <p:cNvPr id="2720" name="TextBox 2719">
              <a:extLst>
                <a:ext uri="{FF2B5EF4-FFF2-40B4-BE49-F238E27FC236}">
                  <a16:creationId xmlns:a16="http://schemas.microsoft.com/office/drawing/2014/main" id="{46851633-5500-48F9-7BB7-1798F807875E}"/>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main</a:t>
              </a:r>
              <a:r>
                <a:rPr lang="en-US" dirty="0"/>
                <a:t>(): void</a:t>
              </a:r>
            </a:p>
          </p:txBody>
        </p:sp>
        <p:sp>
          <p:nvSpPr>
            <p:cNvPr id="2721" name="Rectangle: Rounded Corners 2720">
              <a:extLst>
                <a:ext uri="{FF2B5EF4-FFF2-40B4-BE49-F238E27FC236}">
                  <a16:creationId xmlns:a16="http://schemas.microsoft.com/office/drawing/2014/main" id="{8F2FF802-FE7D-0397-C99C-41A90D399757}"/>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22" name="Straight Connector 2721">
              <a:extLst>
                <a:ext uri="{FF2B5EF4-FFF2-40B4-BE49-F238E27FC236}">
                  <a16:creationId xmlns:a16="http://schemas.microsoft.com/office/drawing/2014/main" id="{F08F6F3D-E709-B2D1-FF00-D5B8B9F7AC75}"/>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723" name="TextBox 2722">
              <a:extLst>
                <a:ext uri="{FF2B5EF4-FFF2-40B4-BE49-F238E27FC236}">
                  <a16:creationId xmlns:a16="http://schemas.microsoft.com/office/drawing/2014/main" id="{BA2AD9E6-087B-3681-1A22-05CFF3B31306}"/>
                </a:ext>
              </a:extLst>
            </p:cNvPr>
            <p:cNvSpPr txBox="1"/>
            <p:nvPr/>
          </p:nvSpPr>
          <p:spPr>
            <a:xfrm>
              <a:off x="645811" y="3150046"/>
              <a:ext cx="807244" cy="107722"/>
            </a:xfrm>
            <a:prstGeom prst="rect">
              <a:avLst/>
            </a:prstGeom>
            <a:noFill/>
          </p:spPr>
          <p:txBody>
            <a:bodyPr wrap="square" lIns="0" tIns="0" rIns="0" bIns="0" rtlCol="0">
              <a:spAutoFit/>
            </a:bodyPr>
            <a:lstStyle>
              <a:defPPr>
                <a:defRPr lang="en-US"/>
              </a:defPPr>
              <a:lvl1pPr algn="ctr">
                <a:defRPr sz="700" b="1"/>
              </a:lvl1pPr>
            </a:lstStyle>
            <a:p>
              <a:r>
                <a:rPr lang="en-US" dirty="0"/>
                <a:t>C</a:t>
              </a:r>
              <a:r>
                <a:rPr lang="en-US" altLang="zh-CN" dirty="0"/>
                <a:t>lient</a:t>
              </a:r>
              <a:endParaRPr lang="en-US" dirty="0"/>
            </a:p>
          </p:txBody>
        </p:sp>
        <p:cxnSp>
          <p:nvCxnSpPr>
            <p:cNvPr id="2724" name="Straight Connector 2723">
              <a:extLst>
                <a:ext uri="{FF2B5EF4-FFF2-40B4-BE49-F238E27FC236}">
                  <a16:creationId xmlns:a16="http://schemas.microsoft.com/office/drawing/2014/main" id="{7361A753-C8A5-F83F-10FA-046B3B7D7DFC}"/>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grpSp>
        <p:nvGrpSpPr>
          <p:cNvPr id="2725" name="Group 2724">
            <a:extLst>
              <a:ext uri="{FF2B5EF4-FFF2-40B4-BE49-F238E27FC236}">
                <a16:creationId xmlns:a16="http://schemas.microsoft.com/office/drawing/2014/main" id="{CB58E0E9-9CE4-1EC3-DD53-A2B461C90370}"/>
              </a:ext>
            </a:extLst>
          </p:cNvPr>
          <p:cNvGrpSpPr/>
          <p:nvPr/>
        </p:nvGrpSpPr>
        <p:grpSpPr>
          <a:xfrm>
            <a:off x="123087" y="5584010"/>
            <a:ext cx="1202145" cy="812507"/>
            <a:chOff x="626757" y="3130040"/>
            <a:chExt cx="1202145" cy="812507"/>
          </a:xfrm>
        </p:grpSpPr>
        <p:sp>
          <p:nvSpPr>
            <p:cNvPr id="2726" name="Rectangle: Rounded Corners 2725">
              <a:extLst>
                <a:ext uri="{FF2B5EF4-FFF2-40B4-BE49-F238E27FC236}">
                  <a16:creationId xmlns:a16="http://schemas.microsoft.com/office/drawing/2014/main" id="{9432EECF-7432-B151-05F8-3CECBE0380B8}"/>
                </a:ext>
              </a:extLst>
            </p:cNvPr>
            <p:cNvSpPr/>
            <p:nvPr/>
          </p:nvSpPr>
          <p:spPr>
            <a:xfrm>
              <a:off x="626758" y="3130040"/>
              <a:ext cx="1173569" cy="812507"/>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27" name="Straight Connector 2726">
              <a:extLst>
                <a:ext uri="{FF2B5EF4-FFF2-40B4-BE49-F238E27FC236}">
                  <a16:creationId xmlns:a16="http://schemas.microsoft.com/office/drawing/2014/main" id="{8B351404-F41D-05D8-7BE1-83A328A1A721}"/>
                </a:ext>
              </a:extLst>
            </p:cNvPr>
            <p:cNvCxnSpPr>
              <a:cxnSpLocks/>
            </p:cNvCxnSpPr>
            <p:nvPr/>
          </p:nvCxnSpPr>
          <p:spPr>
            <a:xfrm>
              <a:off x="626759" y="3262639"/>
              <a:ext cx="1171188" cy="0"/>
            </a:xfrm>
            <a:prstGeom prst="line">
              <a:avLst/>
            </a:prstGeom>
          </p:spPr>
          <p:style>
            <a:lnRef idx="1">
              <a:schemeClr val="dk1"/>
            </a:lnRef>
            <a:fillRef idx="0">
              <a:schemeClr val="dk1"/>
            </a:fillRef>
            <a:effectRef idx="0">
              <a:schemeClr val="dk1"/>
            </a:effectRef>
            <a:fontRef idx="minor">
              <a:schemeClr val="tx1"/>
            </a:fontRef>
          </p:style>
        </p:cxnSp>
        <p:sp>
          <p:nvSpPr>
            <p:cNvPr id="2728" name="TextBox 2727">
              <a:extLst>
                <a:ext uri="{FF2B5EF4-FFF2-40B4-BE49-F238E27FC236}">
                  <a16:creationId xmlns:a16="http://schemas.microsoft.com/office/drawing/2014/main" id="{74E8C245-E3DD-B21E-E854-99F4E906EDB7}"/>
                </a:ext>
              </a:extLst>
            </p:cNvPr>
            <p:cNvSpPr txBox="1"/>
            <p:nvPr/>
          </p:nvSpPr>
          <p:spPr>
            <a:xfrm>
              <a:off x="649403" y="3151109"/>
              <a:ext cx="1128707" cy="107722"/>
            </a:xfrm>
            <a:prstGeom prst="rect">
              <a:avLst/>
            </a:prstGeom>
            <a:noFill/>
          </p:spPr>
          <p:txBody>
            <a:bodyPr wrap="square" lIns="0" tIns="0" rIns="0" bIns="0" rtlCol="0">
              <a:spAutoFit/>
            </a:bodyPr>
            <a:lstStyle>
              <a:defPPr>
                <a:defRPr lang="en-US"/>
              </a:defPPr>
              <a:lvl1pPr algn="ctr">
                <a:defRPr sz="700" b="1"/>
              </a:lvl1pPr>
            </a:lstStyle>
            <a:p>
              <a:r>
                <a:rPr lang="en-US" dirty="0" err="1"/>
                <a:t>L</a:t>
              </a:r>
              <a:r>
                <a:rPr lang="en-US" altLang="zh-CN" dirty="0" err="1"/>
                <a:t>eaveRequest</a:t>
              </a:r>
              <a:endParaRPr lang="en-US" dirty="0"/>
            </a:p>
          </p:txBody>
        </p:sp>
        <p:sp>
          <p:nvSpPr>
            <p:cNvPr id="2729" name="TextBox 2728">
              <a:extLst>
                <a:ext uri="{FF2B5EF4-FFF2-40B4-BE49-F238E27FC236}">
                  <a16:creationId xmlns:a16="http://schemas.microsoft.com/office/drawing/2014/main" id="{93C3E184-D6C9-C1F5-F2D4-0A83CBAA3042}"/>
                </a:ext>
              </a:extLst>
            </p:cNvPr>
            <p:cNvSpPr txBox="1"/>
            <p:nvPr/>
          </p:nvSpPr>
          <p:spPr>
            <a:xfrm>
              <a:off x="657950" y="3271342"/>
              <a:ext cx="888775"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name: String</a:t>
              </a:r>
            </a:p>
            <a:p>
              <a:r>
                <a:rPr lang="en-US" dirty="0"/>
                <a:t>- num: int</a:t>
              </a:r>
            </a:p>
            <a:p>
              <a:r>
                <a:rPr lang="en-US" dirty="0"/>
                <a:t>- content: String</a:t>
              </a:r>
            </a:p>
          </p:txBody>
        </p:sp>
        <p:cxnSp>
          <p:nvCxnSpPr>
            <p:cNvPr id="2730" name="Straight Connector 2729">
              <a:extLst>
                <a:ext uri="{FF2B5EF4-FFF2-40B4-BE49-F238E27FC236}">
                  <a16:creationId xmlns:a16="http://schemas.microsoft.com/office/drawing/2014/main" id="{8293C4B9-C0F7-08FF-78FA-0154DB77F6F9}"/>
                </a:ext>
              </a:extLst>
            </p:cNvPr>
            <p:cNvCxnSpPr>
              <a:cxnSpLocks/>
            </p:cNvCxnSpPr>
            <p:nvPr/>
          </p:nvCxnSpPr>
          <p:spPr>
            <a:xfrm>
              <a:off x="626757" y="3553153"/>
              <a:ext cx="1175952" cy="0"/>
            </a:xfrm>
            <a:prstGeom prst="line">
              <a:avLst/>
            </a:prstGeom>
          </p:spPr>
          <p:style>
            <a:lnRef idx="1">
              <a:schemeClr val="dk1"/>
            </a:lnRef>
            <a:fillRef idx="0">
              <a:schemeClr val="dk1"/>
            </a:fillRef>
            <a:effectRef idx="0">
              <a:schemeClr val="dk1"/>
            </a:effectRef>
            <a:fontRef idx="minor">
              <a:schemeClr val="tx1"/>
            </a:fontRef>
          </p:style>
        </p:cxnSp>
        <p:sp>
          <p:nvSpPr>
            <p:cNvPr id="2731" name="TextBox 2730">
              <a:extLst>
                <a:ext uri="{FF2B5EF4-FFF2-40B4-BE49-F238E27FC236}">
                  <a16:creationId xmlns:a16="http://schemas.microsoft.com/office/drawing/2014/main" id="{DE0AA207-8C2A-2438-9CA9-18EC10DFA7FE}"/>
                </a:ext>
              </a:extLst>
            </p:cNvPr>
            <p:cNvSpPr txBox="1"/>
            <p:nvPr/>
          </p:nvSpPr>
          <p:spPr>
            <a:xfrm>
              <a:off x="653195" y="3564865"/>
              <a:ext cx="1175707" cy="369332"/>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L</a:t>
              </a:r>
              <a:r>
                <a:rPr lang="en-US" altLang="zh-CN" dirty="0" err="1"/>
                <a:t>eaveRequest</a:t>
              </a:r>
              <a:r>
                <a:rPr lang="en-US" dirty="0"/>
                <a:t>(</a:t>
              </a:r>
              <a:r>
                <a:rPr lang="en-US" dirty="0" err="1"/>
                <a:t>name,num,content</a:t>
              </a:r>
              <a:r>
                <a:rPr lang="en-US" dirty="0"/>
                <a:t>)</a:t>
              </a:r>
            </a:p>
            <a:p>
              <a:r>
                <a:rPr lang="en-US" dirty="0"/>
                <a:t>+ </a:t>
              </a:r>
              <a:r>
                <a:rPr lang="en-US" dirty="0" err="1"/>
                <a:t>getName</a:t>
              </a:r>
              <a:r>
                <a:rPr lang="en-US" dirty="0"/>
                <a:t>(): String</a:t>
              </a:r>
            </a:p>
            <a:p>
              <a:r>
                <a:rPr lang="en-US" dirty="0"/>
                <a:t>+ </a:t>
              </a:r>
              <a:r>
                <a:rPr lang="en-US" dirty="0" err="1"/>
                <a:t>getNum</a:t>
              </a:r>
              <a:r>
                <a:rPr lang="en-US" dirty="0"/>
                <a:t>(): int</a:t>
              </a:r>
            </a:p>
            <a:p>
              <a:r>
                <a:rPr lang="en-US" dirty="0"/>
                <a:t>+ </a:t>
              </a:r>
              <a:r>
                <a:rPr lang="en-US" dirty="0" err="1"/>
                <a:t>getContent</a:t>
              </a:r>
              <a:r>
                <a:rPr lang="en-US" dirty="0"/>
                <a:t>(): String</a:t>
              </a:r>
            </a:p>
          </p:txBody>
        </p:sp>
      </p:grpSp>
      <p:grpSp>
        <p:nvGrpSpPr>
          <p:cNvPr id="2736" name="Group 2735">
            <a:extLst>
              <a:ext uri="{FF2B5EF4-FFF2-40B4-BE49-F238E27FC236}">
                <a16:creationId xmlns:a16="http://schemas.microsoft.com/office/drawing/2014/main" id="{FAC4C4A9-86E0-B4B2-594A-14D6BDF20B48}"/>
              </a:ext>
            </a:extLst>
          </p:cNvPr>
          <p:cNvGrpSpPr/>
          <p:nvPr/>
        </p:nvGrpSpPr>
        <p:grpSpPr>
          <a:xfrm>
            <a:off x="1580770" y="5224959"/>
            <a:ext cx="1154982" cy="450337"/>
            <a:chOff x="626757" y="3130041"/>
            <a:chExt cx="1154982" cy="450337"/>
          </a:xfrm>
        </p:grpSpPr>
        <p:sp>
          <p:nvSpPr>
            <p:cNvPr id="2737" name="Rectangle: Rounded Corners 2736">
              <a:extLst>
                <a:ext uri="{FF2B5EF4-FFF2-40B4-BE49-F238E27FC236}">
                  <a16:creationId xmlns:a16="http://schemas.microsoft.com/office/drawing/2014/main" id="{2DCDE763-E1E9-A8DA-4DBD-1FFE7B8CAEAF}"/>
                </a:ext>
              </a:extLst>
            </p:cNvPr>
            <p:cNvSpPr/>
            <p:nvPr/>
          </p:nvSpPr>
          <p:spPr>
            <a:xfrm>
              <a:off x="626759" y="3130041"/>
              <a:ext cx="1133550" cy="450337"/>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38" name="Straight Connector 2737">
              <a:extLst>
                <a:ext uri="{FF2B5EF4-FFF2-40B4-BE49-F238E27FC236}">
                  <a16:creationId xmlns:a16="http://schemas.microsoft.com/office/drawing/2014/main" id="{09572DA1-728A-990B-FBC2-2CBB3E072637}"/>
                </a:ext>
              </a:extLst>
            </p:cNvPr>
            <p:cNvCxnSpPr>
              <a:cxnSpLocks/>
            </p:cNvCxnSpPr>
            <p:nvPr/>
          </p:nvCxnSpPr>
          <p:spPr>
            <a:xfrm>
              <a:off x="626759" y="3262639"/>
              <a:ext cx="1131171" cy="0"/>
            </a:xfrm>
            <a:prstGeom prst="line">
              <a:avLst/>
            </a:prstGeom>
          </p:spPr>
          <p:style>
            <a:lnRef idx="1">
              <a:schemeClr val="dk1"/>
            </a:lnRef>
            <a:fillRef idx="0">
              <a:schemeClr val="dk1"/>
            </a:fillRef>
            <a:effectRef idx="0">
              <a:schemeClr val="dk1"/>
            </a:effectRef>
            <a:fontRef idx="minor">
              <a:schemeClr val="tx1"/>
            </a:fontRef>
          </p:style>
        </p:cxnSp>
        <p:sp>
          <p:nvSpPr>
            <p:cNvPr id="2739" name="TextBox 2738">
              <a:extLst>
                <a:ext uri="{FF2B5EF4-FFF2-40B4-BE49-F238E27FC236}">
                  <a16:creationId xmlns:a16="http://schemas.microsoft.com/office/drawing/2014/main" id="{178C397B-5C93-7DD5-7F52-85107E7CA4F5}"/>
                </a:ext>
              </a:extLst>
            </p:cNvPr>
            <p:cNvSpPr txBox="1"/>
            <p:nvPr/>
          </p:nvSpPr>
          <p:spPr>
            <a:xfrm>
              <a:off x="653110" y="3151109"/>
              <a:ext cx="1092914" cy="107722"/>
            </a:xfrm>
            <a:prstGeom prst="rect">
              <a:avLst/>
            </a:prstGeom>
            <a:noFill/>
          </p:spPr>
          <p:txBody>
            <a:bodyPr wrap="square" lIns="0" tIns="0" rIns="0" bIns="0" rtlCol="0">
              <a:spAutoFit/>
            </a:bodyPr>
            <a:lstStyle>
              <a:defPPr>
                <a:defRPr lang="en-US"/>
              </a:defPPr>
              <a:lvl1pPr algn="ctr">
                <a:defRPr sz="700" b="1"/>
              </a:lvl1pPr>
            </a:lstStyle>
            <a:p>
              <a:r>
                <a:rPr lang="en-US" dirty="0" err="1"/>
                <a:t>GroupLeader</a:t>
              </a:r>
              <a:endParaRPr lang="en-US" dirty="0"/>
            </a:p>
          </p:txBody>
        </p:sp>
        <p:sp>
          <p:nvSpPr>
            <p:cNvPr id="2740" name="TextBox 2739">
              <a:extLst>
                <a:ext uri="{FF2B5EF4-FFF2-40B4-BE49-F238E27FC236}">
                  <a16:creationId xmlns:a16="http://schemas.microsoft.com/office/drawing/2014/main" id="{C34BD06E-C342-B61C-C110-CF0D726834A9}"/>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741" name="Straight Connector 2740">
              <a:extLst>
                <a:ext uri="{FF2B5EF4-FFF2-40B4-BE49-F238E27FC236}">
                  <a16:creationId xmlns:a16="http://schemas.microsoft.com/office/drawing/2014/main" id="{0CFF399C-D47F-B3B9-BDA8-F6E63613AB24}"/>
                </a:ext>
              </a:extLst>
            </p:cNvPr>
            <p:cNvCxnSpPr>
              <a:cxnSpLocks/>
            </p:cNvCxnSpPr>
            <p:nvPr/>
          </p:nvCxnSpPr>
          <p:spPr>
            <a:xfrm>
              <a:off x="626757" y="3374558"/>
              <a:ext cx="1131173" cy="0"/>
            </a:xfrm>
            <a:prstGeom prst="line">
              <a:avLst/>
            </a:prstGeom>
          </p:spPr>
          <p:style>
            <a:lnRef idx="1">
              <a:schemeClr val="dk1"/>
            </a:lnRef>
            <a:fillRef idx="0">
              <a:schemeClr val="dk1"/>
            </a:fillRef>
            <a:effectRef idx="0">
              <a:schemeClr val="dk1"/>
            </a:effectRef>
            <a:fontRef idx="minor">
              <a:schemeClr val="tx1"/>
            </a:fontRef>
          </p:style>
        </p:cxnSp>
        <p:sp>
          <p:nvSpPr>
            <p:cNvPr id="2742" name="TextBox 2741">
              <a:extLst>
                <a:ext uri="{FF2B5EF4-FFF2-40B4-BE49-F238E27FC236}">
                  <a16:creationId xmlns:a16="http://schemas.microsoft.com/office/drawing/2014/main" id="{C9D34C5F-F32D-6206-7A66-7932FF419E54}"/>
                </a:ext>
              </a:extLst>
            </p:cNvPr>
            <p:cNvSpPr txBox="1"/>
            <p:nvPr/>
          </p:nvSpPr>
          <p:spPr>
            <a:xfrm>
              <a:off x="653196" y="3381510"/>
              <a:ext cx="1128543"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GroupLeader</a:t>
              </a:r>
              <a:r>
                <a:rPr lang="en-US" dirty="0"/>
                <a:t>()</a:t>
              </a:r>
            </a:p>
            <a:p>
              <a:r>
                <a:rPr lang="en-US" dirty="0"/>
                <a:t>+ </a:t>
              </a:r>
              <a:r>
                <a:rPr lang="en-US" dirty="0" err="1"/>
                <a:t>handleLeave</a:t>
              </a:r>
              <a:r>
                <a:rPr lang="en-US" dirty="0"/>
                <a:t>(</a:t>
              </a:r>
              <a:r>
                <a:rPr lang="en-US" dirty="0" err="1"/>
                <a:t>L</a:t>
              </a:r>
              <a:r>
                <a:rPr lang="en-US" altLang="zh-CN" dirty="0" err="1"/>
                <a:t>eaveRequest</a:t>
              </a:r>
              <a:r>
                <a:rPr lang="en-US" dirty="0"/>
                <a:t>): void</a:t>
              </a:r>
            </a:p>
          </p:txBody>
        </p:sp>
      </p:grpSp>
      <p:grpSp>
        <p:nvGrpSpPr>
          <p:cNvPr id="2745" name="Group 2744">
            <a:extLst>
              <a:ext uri="{FF2B5EF4-FFF2-40B4-BE49-F238E27FC236}">
                <a16:creationId xmlns:a16="http://schemas.microsoft.com/office/drawing/2014/main" id="{1BD55189-3C1D-FA57-8E42-9C963460C235}"/>
              </a:ext>
            </a:extLst>
          </p:cNvPr>
          <p:cNvGrpSpPr/>
          <p:nvPr/>
        </p:nvGrpSpPr>
        <p:grpSpPr>
          <a:xfrm>
            <a:off x="1580770" y="5756496"/>
            <a:ext cx="1154982" cy="450337"/>
            <a:chOff x="626757" y="3130041"/>
            <a:chExt cx="1154982" cy="450337"/>
          </a:xfrm>
        </p:grpSpPr>
        <p:sp>
          <p:nvSpPr>
            <p:cNvPr id="2746" name="Rectangle: Rounded Corners 2745">
              <a:extLst>
                <a:ext uri="{FF2B5EF4-FFF2-40B4-BE49-F238E27FC236}">
                  <a16:creationId xmlns:a16="http://schemas.microsoft.com/office/drawing/2014/main" id="{032E144F-17E5-1B10-72A3-CD911FD24765}"/>
                </a:ext>
              </a:extLst>
            </p:cNvPr>
            <p:cNvSpPr/>
            <p:nvPr/>
          </p:nvSpPr>
          <p:spPr>
            <a:xfrm>
              <a:off x="626759" y="3130041"/>
              <a:ext cx="1133550" cy="450337"/>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47" name="Straight Connector 2746">
              <a:extLst>
                <a:ext uri="{FF2B5EF4-FFF2-40B4-BE49-F238E27FC236}">
                  <a16:creationId xmlns:a16="http://schemas.microsoft.com/office/drawing/2014/main" id="{73CD618E-158D-E124-417F-41D7E64AA7D2}"/>
                </a:ext>
              </a:extLst>
            </p:cNvPr>
            <p:cNvCxnSpPr>
              <a:cxnSpLocks/>
            </p:cNvCxnSpPr>
            <p:nvPr/>
          </p:nvCxnSpPr>
          <p:spPr>
            <a:xfrm>
              <a:off x="626759" y="3262639"/>
              <a:ext cx="1131171" cy="0"/>
            </a:xfrm>
            <a:prstGeom prst="line">
              <a:avLst/>
            </a:prstGeom>
          </p:spPr>
          <p:style>
            <a:lnRef idx="1">
              <a:schemeClr val="dk1"/>
            </a:lnRef>
            <a:fillRef idx="0">
              <a:schemeClr val="dk1"/>
            </a:fillRef>
            <a:effectRef idx="0">
              <a:schemeClr val="dk1"/>
            </a:effectRef>
            <a:fontRef idx="minor">
              <a:schemeClr val="tx1"/>
            </a:fontRef>
          </p:style>
        </p:cxnSp>
        <p:sp>
          <p:nvSpPr>
            <p:cNvPr id="2748" name="TextBox 2747">
              <a:extLst>
                <a:ext uri="{FF2B5EF4-FFF2-40B4-BE49-F238E27FC236}">
                  <a16:creationId xmlns:a16="http://schemas.microsoft.com/office/drawing/2014/main" id="{71D9BC3B-5B56-F204-1BA4-64D48A9ACA1F}"/>
                </a:ext>
              </a:extLst>
            </p:cNvPr>
            <p:cNvSpPr txBox="1"/>
            <p:nvPr/>
          </p:nvSpPr>
          <p:spPr>
            <a:xfrm>
              <a:off x="653110" y="3151109"/>
              <a:ext cx="1092914" cy="107722"/>
            </a:xfrm>
            <a:prstGeom prst="rect">
              <a:avLst/>
            </a:prstGeom>
            <a:noFill/>
          </p:spPr>
          <p:txBody>
            <a:bodyPr wrap="square" lIns="0" tIns="0" rIns="0" bIns="0" rtlCol="0">
              <a:spAutoFit/>
            </a:bodyPr>
            <a:lstStyle>
              <a:defPPr>
                <a:defRPr lang="en-US"/>
              </a:defPPr>
              <a:lvl1pPr algn="ctr">
                <a:defRPr sz="700" b="1"/>
              </a:lvl1pPr>
            </a:lstStyle>
            <a:p>
              <a:r>
                <a:rPr lang="en-US" dirty="0"/>
                <a:t>Manager</a:t>
              </a:r>
            </a:p>
          </p:txBody>
        </p:sp>
        <p:sp>
          <p:nvSpPr>
            <p:cNvPr id="2749" name="TextBox 2748">
              <a:extLst>
                <a:ext uri="{FF2B5EF4-FFF2-40B4-BE49-F238E27FC236}">
                  <a16:creationId xmlns:a16="http://schemas.microsoft.com/office/drawing/2014/main" id="{494C6E6F-D4CA-625D-6970-35BC196D1FFA}"/>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750" name="Straight Connector 2749">
              <a:extLst>
                <a:ext uri="{FF2B5EF4-FFF2-40B4-BE49-F238E27FC236}">
                  <a16:creationId xmlns:a16="http://schemas.microsoft.com/office/drawing/2014/main" id="{AA5D56D5-B1FB-17A2-403A-8BCF4DBDF8CC}"/>
                </a:ext>
              </a:extLst>
            </p:cNvPr>
            <p:cNvCxnSpPr>
              <a:cxnSpLocks/>
            </p:cNvCxnSpPr>
            <p:nvPr/>
          </p:nvCxnSpPr>
          <p:spPr>
            <a:xfrm>
              <a:off x="626757" y="3374558"/>
              <a:ext cx="1131173" cy="0"/>
            </a:xfrm>
            <a:prstGeom prst="line">
              <a:avLst/>
            </a:prstGeom>
          </p:spPr>
          <p:style>
            <a:lnRef idx="1">
              <a:schemeClr val="dk1"/>
            </a:lnRef>
            <a:fillRef idx="0">
              <a:schemeClr val="dk1"/>
            </a:fillRef>
            <a:effectRef idx="0">
              <a:schemeClr val="dk1"/>
            </a:effectRef>
            <a:fontRef idx="minor">
              <a:schemeClr val="tx1"/>
            </a:fontRef>
          </p:style>
        </p:cxnSp>
        <p:sp>
          <p:nvSpPr>
            <p:cNvPr id="2751" name="TextBox 2750">
              <a:extLst>
                <a:ext uri="{FF2B5EF4-FFF2-40B4-BE49-F238E27FC236}">
                  <a16:creationId xmlns:a16="http://schemas.microsoft.com/office/drawing/2014/main" id="{B9C03D0B-BA33-03E9-5BBC-31D160C8BE72}"/>
                </a:ext>
              </a:extLst>
            </p:cNvPr>
            <p:cNvSpPr txBox="1"/>
            <p:nvPr/>
          </p:nvSpPr>
          <p:spPr>
            <a:xfrm>
              <a:off x="653196" y="3381510"/>
              <a:ext cx="1128543" cy="184666"/>
            </a:xfrm>
            <a:prstGeom prst="rect">
              <a:avLst/>
            </a:prstGeom>
            <a:noFill/>
          </p:spPr>
          <p:txBody>
            <a:bodyPr wrap="square" lIns="0" tIns="0" rIns="0" bIns="0" rtlCol="0">
              <a:spAutoFit/>
            </a:bodyPr>
            <a:lstStyle>
              <a:defPPr>
                <a:defRPr lang="en-US"/>
              </a:defPPr>
              <a:lvl1pPr>
                <a:defRPr sz="600"/>
              </a:lvl1pPr>
            </a:lstStyle>
            <a:p>
              <a:r>
                <a:rPr lang="en-US" dirty="0"/>
                <a:t>+ Manager()</a:t>
              </a:r>
            </a:p>
            <a:p>
              <a:r>
                <a:rPr lang="en-US" dirty="0"/>
                <a:t>+ </a:t>
              </a:r>
              <a:r>
                <a:rPr lang="en-US" dirty="0" err="1"/>
                <a:t>handleLeave</a:t>
              </a:r>
              <a:r>
                <a:rPr lang="en-US" dirty="0"/>
                <a:t>(</a:t>
              </a:r>
              <a:r>
                <a:rPr lang="en-US" dirty="0" err="1"/>
                <a:t>L</a:t>
              </a:r>
              <a:r>
                <a:rPr lang="en-US" altLang="zh-CN" dirty="0" err="1"/>
                <a:t>eaveRequest</a:t>
              </a:r>
              <a:r>
                <a:rPr lang="en-US" dirty="0"/>
                <a:t>): void</a:t>
              </a:r>
            </a:p>
          </p:txBody>
        </p:sp>
      </p:grpSp>
      <p:grpSp>
        <p:nvGrpSpPr>
          <p:cNvPr id="2240" name="Group 2239">
            <a:extLst>
              <a:ext uri="{FF2B5EF4-FFF2-40B4-BE49-F238E27FC236}">
                <a16:creationId xmlns:a16="http://schemas.microsoft.com/office/drawing/2014/main" id="{38442FF4-7AEB-D757-C7D2-3BCA0B2BEDED}"/>
              </a:ext>
            </a:extLst>
          </p:cNvPr>
          <p:cNvGrpSpPr/>
          <p:nvPr/>
        </p:nvGrpSpPr>
        <p:grpSpPr>
          <a:xfrm>
            <a:off x="1580770" y="6286995"/>
            <a:ext cx="1154982" cy="450337"/>
            <a:chOff x="626757" y="3130041"/>
            <a:chExt cx="1154982" cy="450337"/>
          </a:xfrm>
        </p:grpSpPr>
        <p:sp>
          <p:nvSpPr>
            <p:cNvPr id="2241" name="Rectangle: Rounded Corners 2240">
              <a:extLst>
                <a:ext uri="{FF2B5EF4-FFF2-40B4-BE49-F238E27FC236}">
                  <a16:creationId xmlns:a16="http://schemas.microsoft.com/office/drawing/2014/main" id="{BED2A4D0-4635-314C-5F43-6F41B6107FC6}"/>
                </a:ext>
              </a:extLst>
            </p:cNvPr>
            <p:cNvSpPr/>
            <p:nvPr/>
          </p:nvSpPr>
          <p:spPr>
            <a:xfrm>
              <a:off x="626759" y="3130041"/>
              <a:ext cx="1133550" cy="450337"/>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42" name="Straight Connector 2241">
              <a:extLst>
                <a:ext uri="{FF2B5EF4-FFF2-40B4-BE49-F238E27FC236}">
                  <a16:creationId xmlns:a16="http://schemas.microsoft.com/office/drawing/2014/main" id="{880A2EEE-D202-75E9-C334-14D9234484A0}"/>
                </a:ext>
              </a:extLst>
            </p:cNvPr>
            <p:cNvCxnSpPr>
              <a:cxnSpLocks/>
            </p:cNvCxnSpPr>
            <p:nvPr/>
          </p:nvCxnSpPr>
          <p:spPr>
            <a:xfrm>
              <a:off x="626759" y="3262639"/>
              <a:ext cx="1131171" cy="0"/>
            </a:xfrm>
            <a:prstGeom prst="line">
              <a:avLst/>
            </a:prstGeom>
          </p:spPr>
          <p:style>
            <a:lnRef idx="1">
              <a:schemeClr val="dk1"/>
            </a:lnRef>
            <a:fillRef idx="0">
              <a:schemeClr val="dk1"/>
            </a:fillRef>
            <a:effectRef idx="0">
              <a:schemeClr val="dk1"/>
            </a:effectRef>
            <a:fontRef idx="minor">
              <a:schemeClr val="tx1"/>
            </a:fontRef>
          </p:style>
        </p:cxnSp>
        <p:sp>
          <p:nvSpPr>
            <p:cNvPr id="2243" name="TextBox 2242">
              <a:extLst>
                <a:ext uri="{FF2B5EF4-FFF2-40B4-BE49-F238E27FC236}">
                  <a16:creationId xmlns:a16="http://schemas.microsoft.com/office/drawing/2014/main" id="{3530711C-F9B0-1864-4870-E8B4249C3BBD}"/>
                </a:ext>
              </a:extLst>
            </p:cNvPr>
            <p:cNvSpPr txBox="1"/>
            <p:nvPr/>
          </p:nvSpPr>
          <p:spPr>
            <a:xfrm>
              <a:off x="653110" y="3151109"/>
              <a:ext cx="1092914" cy="107722"/>
            </a:xfrm>
            <a:prstGeom prst="rect">
              <a:avLst/>
            </a:prstGeom>
            <a:noFill/>
          </p:spPr>
          <p:txBody>
            <a:bodyPr wrap="square" lIns="0" tIns="0" rIns="0" bIns="0" rtlCol="0">
              <a:spAutoFit/>
            </a:bodyPr>
            <a:lstStyle>
              <a:defPPr>
                <a:defRPr lang="en-US"/>
              </a:defPPr>
              <a:lvl1pPr algn="ctr">
                <a:defRPr sz="700" b="1"/>
              </a:lvl1pPr>
            </a:lstStyle>
            <a:p>
              <a:r>
                <a:rPr lang="en-US" dirty="0" err="1"/>
                <a:t>GeneralManager</a:t>
              </a:r>
              <a:endParaRPr lang="en-US" dirty="0"/>
            </a:p>
          </p:txBody>
        </p:sp>
        <p:sp>
          <p:nvSpPr>
            <p:cNvPr id="2251" name="TextBox 2250">
              <a:extLst>
                <a:ext uri="{FF2B5EF4-FFF2-40B4-BE49-F238E27FC236}">
                  <a16:creationId xmlns:a16="http://schemas.microsoft.com/office/drawing/2014/main" id="{5B06524E-00EE-FF82-FE01-8F9DC88FBCE0}"/>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252" name="Straight Connector 2251">
              <a:extLst>
                <a:ext uri="{FF2B5EF4-FFF2-40B4-BE49-F238E27FC236}">
                  <a16:creationId xmlns:a16="http://schemas.microsoft.com/office/drawing/2014/main" id="{D5AA434C-CE45-CD49-46C5-AE2F64AC6181}"/>
                </a:ext>
              </a:extLst>
            </p:cNvPr>
            <p:cNvCxnSpPr>
              <a:cxnSpLocks/>
            </p:cNvCxnSpPr>
            <p:nvPr/>
          </p:nvCxnSpPr>
          <p:spPr>
            <a:xfrm>
              <a:off x="626757" y="3374558"/>
              <a:ext cx="1131173" cy="0"/>
            </a:xfrm>
            <a:prstGeom prst="line">
              <a:avLst/>
            </a:prstGeom>
          </p:spPr>
          <p:style>
            <a:lnRef idx="1">
              <a:schemeClr val="dk1"/>
            </a:lnRef>
            <a:fillRef idx="0">
              <a:schemeClr val="dk1"/>
            </a:fillRef>
            <a:effectRef idx="0">
              <a:schemeClr val="dk1"/>
            </a:effectRef>
            <a:fontRef idx="minor">
              <a:schemeClr val="tx1"/>
            </a:fontRef>
          </p:style>
        </p:cxnSp>
        <p:sp>
          <p:nvSpPr>
            <p:cNvPr id="2254" name="TextBox 2253">
              <a:extLst>
                <a:ext uri="{FF2B5EF4-FFF2-40B4-BE49-F238E27FC236}">
                  <a16:creationId xmlns:a16="http://schemas.microsoft.com/office/drawing/2014/main" id="{595A21EC-6076-EB88-3B4A-73FE476F2536}"/>
                </a:ext>
              </a:extLst>
            </p:cNvPr>
            <p:cNvSpPr txBox="1"/>
            <p:nvPr/>
          </p:nvSpPr>
          <p:spPr>
            <a:xfrm>
              <a:off x="653196" y="3381510"/>
              <a:ext cx="1128543"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GeneralManager</a:t>
              </a:r>
              <a:r>
                <a:rPr lang="en-US" dirty="0"/>
                <a:t>()</a:t>
              </a:r>
            </a:p>
            <a:p>
              <a:r>
                <a:rPr lang="en-US" dirty="0"/>
                <a:t>+ </a:t>
              </a:r>
              <a:r>
                <a:rPr lang="en-US" dirty="0" err="1"/>
                <a:t>handleLeave</a:t>
              </a:r>
              <a:r>
                <a:rPr lang="en-US" dirty="0"/>
                <a:t>(</a:t>
              </a:r>
              <a:r>
                <a:rPr lang="en-US" dirty="0" err="1"/>
                <a:t>L</a:t>
              </a:r>
              <a:r>
                <a:rPr lang="en-US" altLang="zh-CN" dirty="0" err="1"/>
                <a:t>eaveRequest</a:t>
              </a:r>
              <a:r>
                <a:rPr lang="en-US" dirty="0"/>
                <a:t>): void</a:t>
              </a:r>
            </a:p>
          </p:txBody>
        </p:sp>
      </p:grpSp>
      <p:grpSp>
        <p:nvGrpSpPr>
          <p:cNvPr id="2255" name="Group 2254">
            <a:extLst>
              <a:ext uri="{FF2B5EF4-FFF2-40B4-BE49-F238E27FC236}">
                <a16:creationId xmlns:a16="http://schemas.microsoft.com/office/drawing/2014/main" id="{86C54FBF-D53E-78CE-BA8D-38D1F6E4F2A0}"/>
              </a:ext>
            </a:extLst>
          </p:cNvPr>
          <p:cNvGrpSpPr/>
          <p:nvPr/>
        </p:nvGrpSpPr>
        <p:grpSpPr>
          <a:xfrm>
            <a:off x="3007655" y="5378312"/>
            <a:ext cx="1202145" cy="1207849"/>
            <a:chOff x="626757" y="3130040"/>
            <a:chExt cx="1202145" cy="1207849"/>
          </a:xfrm>
        </p:grpSpPr>
        <p:sp>
          <p:nvSpPr>
            <p:cNvPr id="2257" name="Rectangle: Rounded Corners 2256">
              <a:extLst>
                <a:ext uri="{FF2B5EF4-FFF2-40B4-BE49-F238E27FC236}">
                  <a16:creationId xmlns:a16="http://schemas.microsoft.com/office/drawing/2014/main" id="{F9BBE74F-B4C6-7BC8-622D-379EFEAD9AC4}"/>
                </a:ext>
              </a:extLst>
            </p:cNvPr>
            <p:cNvSpPr/>
            <p:nvPr/>
          </p:nvSpPr>
          <p:spPr>
            <a:xfrm>
              <a:off x="626758" y="3130040"/>
              <a:ext cx="1173569" cy="1207849"/>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58" name="Straight Connector 2257">
              <a:extLst>
                <a:ext uri="{FF2B5EF4-FFF2-40B4-BE49-F238E27FC236}">
                  <a16:creationId xmlns:a16="http://schemas.microsoft.com/office/drawing/2014/main" id="{CD88BD03-32DA-7811-460E-5FEF3C3F8851}"/>
                </a:ext>
              </a:extLst>
            </p:cNvPr>
            <p:cNvCxnSpPr>
              <a:cxnSpLocks/>
            </p:cNvCxnSpPr>
            <p:nvPr/>
          </p:nvCxnSpPr>
          <p:spPr>
            <a:xfrm>
              <a:off x="626759" y="3262639"/>
              <a:ext cx="1171188" cy="0"/>
            </a:xfrm>
            <a:prstGeom prst="line">
              <a:avLst/>
            </a:prstGeom>
          </p:spPr>
          <p:style>
            <a:lnRef idx="1">
              <a:schemeClr val="dk1"/>
            </a:lnRef>
            <a:fillRef idx="0">
              <a:schemeClr val="dk1"/>
            </a:fillRef>
            <a:effectRef idx="0">
              <a:schemeClr val="dk1"/>
            </a:effectRef>
            <a:fontRef idx="minor">
              <a:schemeClr val="tx1"/>
            </a:fontRef>
          </p:style>
        </p:cxnSp>
        <p:sp>
          <p:nvSpPr>
            <p:cNvPr id="2260" name="TextBox 2259">
              <a:extLst>
                <a:ext uri="{FF2B5EF4-FFF2-40B4-BE49-F238E27FC236}">
                  <a16:creationId xmlns:a16="http://schemas.microsoft.com/office/drawing/2014/main" id="{E5562B32-6A2F-B431-2601-1D302986DA08}"/>
                </a:ext>
              </a:extLst>
            </p:cNvPr>
            <p:cNvSpPr txBox="1"/>
            <p:nvPr/>
          </p:nvSpPr>
          <p:spPr>
            <a:xfrm>
              <a:off x="649403" y="3151109"/>
              <a:ext cx="1128707" cy="107722"/>
            </a:xfrm>
            <a:prstGeom prst="rect">
              <a:avLst/>
            </a:prstGeom>
            <a:noFill/>
          </p:spPr>
          <p:txBody>
            <a:bodyPr wrap="square" lIns="0" tIns="0" rIns="0" bIns="0" rtlCol="0">
              <a:spAutoFit/>
            </a:bodyPr>
            <a:lstStyle>
              <a:defPPr>
                <a:defRPr lang="en-US"/>
              </a:defPPr>
              <a:lvl1pPr algn="ctr">
                <a:defRPr sz="700" b="1"/>
              </a:lvl1pPr>
            </a:lstStyle>
            <a:p>
              <a:r>
                <a:rPr lang="en-US" i="1" dirty="0"/>
                <a:t>Handler</a:t>
              </a:r>
            </a:p>
          </p:txBody>
        </p:sp>
        <p:sp>
          <p:nvSpPr>
            <p:cNvPr id="2261" name="TextBox 2260">
              <a:extLst>
                <a:ext uri="{FF2B5EF4-FFF2-40B4-BE49-F238E27FC236}">
                  <a16:creationId xmlns:a16="http://schemas.microsoft.com/office/drawing/2014/main" id="{B30ADE0E-8945-C6E2-CB1F-9F59801D6767}"/>
                </a:ext>
              </a:extLst>
            </p:cNvPr>
            <p:cNvSpPr txBox="1"/>
            <p:nvPr/>
          </p:nvSpPr>
          <p:spPr>
            <a:xfrm>
              <a:off x="657950" y="3271342"/>
              <a:ext cx="888775" cy="553998"/>
            </a:xfrm>
            <a:prstGeom prst="rect">
              <a:avLst/>
            </a:prstGeom>
            <a:noFill/>
          </p:spPr>
          <p:txBody>
            <a:bodyPr wrap="square" lIns="0" tIns="0" rIns="0" bIns="0" rtlCol="0">
              <a:spAutoFit/>
            </a:bodyPr>
            <a:lstStyle>
              <a:defPPr>
                <a:defRPr lang="en-US"/>
              </a:defPPr>
              <a:lvl1pPr>
                <a:defRPr sz="600"/>
              </a:lvl1pPr>
            </a:lstStyle>
            <a:p>
              <a:r>
                <a:rPr lang="en-US" dirty="0"/>
                <a:t># NUM_ONE = 1</a:t>
              </a:r>
              <a:r>
                <a:rPr lang="en-US" altLang="zh-CN" dirty="0"/>
                <a:t>: int</a:t>
              </a:r>
            </a:p>
            <a:p>
              <a:r>
                <a:rPr lang="en-US" dirty="0"/>
                <a:t># NUM_THREE = 3</a:t>
              </a:r>
              <a:r>
                <a:rPr lang="en-US" altLang="zh-CN" dirty="0"/>
                <a:t>: int</a:t>
              </a:r>
            </a:p>
            <a:p>
              <a:r>
                <a:rPr lang="en-US" dirty="0"/>
                <a:t># NUM_SEVEN = 7</a:t>
              </a:r>
              <a:r>
                <a:rPr lang="en-US" altLang="zh-CN" dirty="0"/>
                <a:t>: int</a:t>
              </a:r>
            </a:p>
            <a:p>
              <a:r>
                <a:rPr lang="en-US" dirty="0"/>
                <a:t>- </a:t>
              </a:r>
              <a:r>
                <a:rPr lang="en-US" dirty="0" err="1"/>
                <a:t>numStart</a:t>
              </a:r>
              <a:r>
                <a:rPr lang="en-US" dirty="0"/>
                <a:t>: int</a:t>
              </a:r>
            </a:p>
            <a:p>
              <a:r>
                <a:rPr lang="en-US" dirty="0"/>
                <a:t>- </a:t>
              </a:r>
              <a:r>
                <a:rPr lang="en-US" dirty="0" err="1"/>
                <a:t>numEnd</a:t>
              </a:r>
              <a:r>
                <a:rPr lang="en-US" dirty="0"/>
                <a:t>: int</a:t>
              </a:r>
            </a:p>
            <a:p>
              <a:r>
                <a:rPr lang="en-US" dirty="0"/>
                <a:t>- </a:t>
              </a:r>
              <a:r>
                <a:rPr lang="en-US" dirty="0" err="1"/>
                <a:t>nextHanlder</a:t>
              </a:r>
              <a:r>
                <a:rPr lang="en-US" dirty="0"/>
                <a:t>: Handler</a:t>
              </a:r>
            </a:p>
          </p:txBody>
        </p:sp>
        <p:cxnSp>
          <p:nvCxnSpPr>
            <p:cNvPr id="2262" name="Straight Connector 2261">
              <a:extLst>
                <a:ext uri="{FF2B5EF4-FFF2-40B4-BE49-F238E27FC236}">
                  <a16:creationId xmlns:a16="http://schemas.microsoft.com/office/drawing/2014/main" id="{5B231DF2-27E9-CAC4-CFED-28561C501BC2}"/>
                </a:ext>
              </a:extLst>
            </p:cNvPr>
            <p:cNvCxnSpPr>
              <a:cxnSpLocks/>
            </p:cNvCxnSpPr>
            <p:nvPr/>
          </p:nvCxnSpPr>
          <p:spPr>
            <a:xfrm>
              <a:off x="626757" y="3835728"/>
              <a:ext cx="1175952" cy="0"/>
            </a:xfrm>
            <a:prstGeom prst="line">
              <a:avLst/>
            </a:prstGeom>
          </p:spPr>
          <p:style>
            <a:lnRef idx="1">
              <a:schemeClr val="dk1"/>
            </a:lnRef>
            <a:fillRef idx="0">
              <a:schemeClr val="dk1"/>
            </a:fillRef>
            <a:effectRef idx="0">
              <a:schemeClr val="dk1"/>
            </a:effectRef>
            <a:fontRef idx="minor">
              <a:schemeClr val="tx1"/>
            </a:fontRef>
          </p:style>
        </p:cxnSp>
        <p:sp>
          <p:nvSpPr>
            <p:cNvPr id="2263" name="TextBox 2262">
              <a:extLst>
                <a:ext uri="{FF2B5EF4-FFF2-40B4-BE49-F238E27FC236}">
                  <a16:creationId xmlns:a16="http://schemas.microsoft.com/office/drawing/2014/main" id="{8C8AB4C1-27D5-BDEC-3A89-6F10329B09BD}"/>
                </a:ext>
              </a:extLst>
            </p:cNvPr>
            <p:cNvSpPr txBox="1"/>
            <p:nvPr/>
          </p:nvSpPr>
          <p:spPr>
            <a:xfrm>
              <a:off x="653195" y="3850615"/>
              <a:ext cx="1175707" cy="461665"/>
            </a:xfrm>
            <a:prstGeom prst="rect">
              <a:avLst/>
            </a:prstGeom>
            <a:noFill/>
          </p:spPr>
          <p:txBody>
            <a:bodyPr wrap="square" lIns="0" tIns="0" rIns="0" bIns="0" rtlCol="0">
              <a:spAutoFit/>
            </a:bodyPr>
            <a:lstStyle>
              <a:defPPr>
                <a:defRPr lang="en-US"/>
              </a:defPPr>
              <a:lvl1pPr>
                <a:defRPr sz="600"/>
              </a:lvl1pPr>
            </a:lstStyle>
            <a:p>
              <a:r>
                <a:rPr lang="en-US" dirty="0"/>
                <a:t>+ Handler(</a:t>
              </a:r>
              <a:r>
                <a:rPr lang="en-US" dirty="0" err="1"/>
                <a:t>numStart</a:t>
              </a:r>
              <a:r>
                <a:rPr lang="en-US" dirty="0"/>
                <a:t>)</a:t>
              </a:r>
            </a:p>
            <a:p>
              <a:r>
                <a:rPr lang="en-US" dirty="0"/>
                <a:t>+ Handler(</a:t>
              </a:r>
              <a:r>
                <a:rPr lang="en-US" dirty="0" err="1"/>
                <a:t>numStart</a:t>
              </a:r>
              <a:r>
                <a:rPr lang="en-US" dirty="0"/>
                <a:t>, </a:t>
              </a:r>
              <a:r>
                <a:rPr lang="en-US" dirty="0" err="1"/>
                <a:t>numEnd</a:t>
              </a:r>
              <a:r>
                <a:rPr lang="en-US" dirty="0"/>
                <a:t>)</a:t>
              </a:r>
            </a:p>
            <a:p>
              <a:r>
                <a:rPr lang="en-US" dirty="0"/>
                <a:t>+ </a:t>
              </a:r>
              <a:r>
                <a:rPr lang="en-US" dirty="0" err="1"/>
                <a:t>setNextHandler</a:t>
              </a:r>
              <a:r>
                <a:rPr lang="en-US" dirty="0"/>
                <a:t>(Handler): void</a:t>
              </a:r>
            </a:p>
            <a:p>
              <a:r>
                <a:rPr lang="en-US" dirty="0"/>
                <a:t>+ submit(</a:t>
              </a:r>
              <a:r>
                <a:rPr lang="en-US" dirty="0" err="1"/>
                <a:t>L</a:t>
              </a:r>
              <a:r>
                <a:rPr lang="en-US" altLang="zh-CN" dirty="0" err="1"/>
                <a:t>eaveRequest</a:t>
              </a:r>
              <a:r>
                <a:rPr lang="en-US" dirty="0"/>
                <a:t>): void</a:t>
              </a:r>
            </a:p>
            <a:p>
              <a:r>
                <a:rPr lang="en-US" dirty="0"/>
                <a:t>+ </a:t>
              </a:r>
              <a:r>
                <a:rPr lang="en-US" dirty="0" err="1"/>
                <a:t>handleLeave</a:t>
              </a:r>
              <a:r>
                <a:rPr lang="en-US" dirty="0"/>
                <a:t>(</a:t>
              </a:r>
              <a:r>
                <a:rPr lang="en-US" dirty="0" err="1"/>
                <a:t>L</a:t>
              </a:r>
              <a:r>
                <a:rPr lang="en-US" altLang="zh-CN" dirty="0" err="1"/>
                <a:t>eaveRequest</a:t>
              </a:r>
              <a:r>
                <a:rPr lang="en-US" dirty="0"/>
                <a:t>): void</a:t>
              </a:r>
            </a:p>
          </p:txBody>
        </p:sp>
      </p:grpSp>
      <p:cxnSp>
        <p:nvCxnSpPr>
          <p:cNvPr id="2265" name="Connector: Elbow 2264">
            <a:extLst>
              <a:ext uri="{FF2B5EF4-FFF2-40B4-BE49-F238E27FC236}">
                <a16:creationId xmlns:a16="http://schemas.microsoft.com/office/drawing/2014/main" id="{31C23344-1349-E74A-141A-61E8173F75CB}"/>
              </a:ext>
            </a:extLst>
          </p:cNvPr>
          <p:cNvCxnSpPr>
            <a:stCxn id="2257" idx="3"/>
            <a:endCxn id="2257" idx="0"/>
          </p:cNvCxnSpPr>
          <p:nvPr/>
        </p:nvCxnSpPr>
        <p:spPr>
          <a:xfrm flipH="1" flipV="1">
            <a:off x="3594441" y="5378312"/>
            <a:ext cx="586784" cy="603925"/>
          </a:xfrm>
          <a:prstGeom prst="bentConnector4">
            <a:avLst>
              <a:gd name="adj1" fmla="val -38958"/>
              <a:gd name="adj2" fmla="val 137852"/>
            </a:avLst>
          </a:prstGeom>
        </p:spPr>
        <p:style>
          <a:lnRef idx="1">
            <a:schemeClr val="dk1"/>
          </a:lnRef>
          <a:fillRef idx="0">
            <a:schemeClr val="dk1"/>
          </a:fillRef>
          <a:effectRef idx="0">
            <a:schemeClr val="dk1"/>
          </a:effectRef>
          <a:fontRef idx="minor">
            <a:schemeClr val="tx1"/>
          </a:fontRef>
        </p:style>
      </p:cxnSp>
      <p:cxnSp>
        <p:nvCxnSpPr>
          <p:cNvPr id="2284" name="Connector: Elbow 2283">
            <a:extLst>
              <a:ext uri="{FF2B5EF4-FFF2-40B4-BE49-F238E27FC236}">
                <a16:creationId xmlns:a16="http://schemas.microsoft.com/office/drawing/2014/main" id="{72E2477A-E61D-1597-96C2-D3D432C12550}"/>
              </a:ext>
            </a:extLst>
          </p:cNvPr>
          <p:cNvCxnSpPr>
            <a:cxnSpLocks/>
            <a:stCxn id="2257" idx="2"/>
            <a:endCxn id="2726" idx="2"/>
          </p:cNvCxnSpPr>
          <p:nvPr/>
        </p:nvCxnSpPr>
        <p:spPr>
          <a:xfrm rot="5400000" flipH="1">
            <a:off x="2057335" y="5049055"/>
            <a:ext cx="189644" cy="2884568"/>
          </a:xfrm>
          <a:prstGeom prst="bentConnector3">
            <a:avLst>
              <a:gd name="adj1" fmla="val -120542"/>
            </a:avLst>
          </a:prstGeom>
          <a:ln>
            <a:prstDash val="dash"/>
          </a:ln>
        </p:spPr>
        <p:style>
          <a:lnRef idx="1">
            <a:schemeClr val="dk1"/>
          </a:lnRef>
          <a:fillRef idx="0">
            <a:schemeClr val="dk1"/>
          </a:fillRef>
          <a:effectRef idx="0">
            <a:schemeClr val="dk1"/>
          </a:effectRef>
          <a:fontRef idx="minor">
            <a:schemeClr val="tx1"/>
          </a:fontRef>
        </p:style>
      </p:cxnSp>
      <p:cxnSp>
        <p:nvCxnSpPr>
          <p:cNvPr id="2323" name="Connector: Elbow 2322">
            <a:extLst>
              <a:ext uri="{FF2B5EF4-FFF2-40B4-BE49-F238E27FC236}">
                <a16:creationId xmlns:a16="http://schemas.microsoft.com/office/drawing/2014/main" id="{0B214B76-1979-C481-6655-B11DF5962F86}"/>
              </a:ext>
            </a:extLst>
          </p:cNvPr>
          <p:cNvCxnSpPr>
            <a:cxnSpLocks/>
            <a:stCxn id="2257" idx="1"/>
            <a:endCxn id="2241" idx="3"/>
          </p:cNvCxnSpPr>
          <p:nvPr/>
        </p:nvCxnSpPr>
        <p:spPr>
          <a:xfrm rot="10800000" flipV="1">
            <a:off x="2714322" y="5982236"/>
            <a:ext cx="293334" cy="529927"/>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2334" name="Connector: Elbow 2333">
            <a:extLst>
              <a:ext uri="{FF2B5EF4-FFF2-40B4-BE49-F238E27FC236}">
                <a16:creationId xmlns:a16="http://schemas.microsoft.com/office/drawing/2014/main" id="{C96294C0-AB16-9DFB-4675-4607D1327B2F}"/>
              </a:ext>
            </a:extLst>
          </p:cNvPr>
          <p:cNvCxnSpPr>
            <a:cxnSpLocks/>
            <a:stCxn id="2257" idx="1"/>
            <a:endCxn id="2737" idx="3"/>
          </p:cNvCxnSpPr>
          <p:nvPr/>
        </p:nvCxnSpPr>
        <p:spPr>
          <a:xfrm rot="10800000">
            <a:off x="2714322" y="5450129"/>
            <a:ext cx="293334" cy="532109"/>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2341" name="Connector: Elbow 2340">
            <a:extLst>
              <a:ext uri="{FF2B5EF4-FFF2-40B4-BE49-F238E27FC236}">
                <a16:creationId xmlns:a16="http://schemas.microsoft.com/office/drawing/2014/main" id="{7EA2CBFB-8BEE-EB16-E1CA-F4E4EBE2278F}"/>
              </a:ext>
            </a:extLst>
          </p:cNvPr>
          <p:cNvCxnSpPr>
            <a:cxnSpLocks/>
            <a:stCxn id="2737" idx="1"/>
            <a:endCxn id="2721" idx="3"/>
          </p:cNvCxnSpPr>
          <p:nvPr/>
        </p:nvCxnSpPr>
        <p:spPr>
          <a:xfrm rot="10800000">
            <a:off x="1133232" y="5176450"/>
            <a:ext cx="447540" cy="273679"/>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880" name="Connector: Elbow 2879">
            <a:extLst>
              <a:ext uri="{FF2B5EF4-FFF2-40B4-BE49-F238E27FC236}">
                <a16:creationId xmlns:a16="http://schemas.microsoft.com/office/drawing/2014/main" id="{1E157584-5F54-DDD0-48BF-DD38203C2AEF}"/>
              </a:ext>
            </a:extLst>
          </p:cNvPr>
          <p:cNvCxnSpPr>
            <a:cxnSpLocks/>
            <a:stCxn id="2746" idx="1"/>
            <a:endCxn id="2721" idx="3"/>
          </p:cNvCxnSpPr>
          <p:nvPr/>
        </p:nvCxnSpPr>
        <p:spPr>
          <a:xfrm rot="10800000">
            <a:off x="1133232" y="5176449"/>
            <a:ext cx="447540" cy="805216"/>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883" name="Connector: Elbow 2882">
            <a:extLst>
              <a:ext uri="{FF2B5EF4-FFF2-40B4-BE49-F238E27FC236}">
                <a16:creationId xmlns:a16="http://schemas.microsoft.com/office/drawing/2014/main" id="{149718AF-2776-61CE-91BD-0D5A6994FC90}"/>
              </a:ext>
            </a:extLst>
          </p:cNvPr>
          <p:cNvCxnSpPr>
            <a:cxnSpLocks/>
            <a:stCxn id="2241" idx="1"/>
            <a:endCxn id="2721" idx="3"/>
          </p:cNvCxnSpPr>
          <p:nvPr/>
        </p:nvCxnSpPr>
        <p:spPr>
          <a:xfrm rot="10800000">
            <a:off x="1133232" y="5176450"/>
            <a:ext cx="447540" cy="1335715"/>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887" name="Straight Connector 2886">
            <a:extLst>
              <a:ext uri="{FF2B5EF4-FFF2-40B4-BE49-F238E27FC236}">
                <a16:creationId xmlns:a16="http://schemas.microsoft.com/office/drawing/2014/main" id="{49E5AEF6-8FF1-EC33-9FD6-D227BCBD7EB8}"/>
              </a:ext>
            </a:extLst>
          </p:cNvPr>
          <p:cNvCxnSpPr>
            <a:cxnSpLocks/>
            <a:stCxn id="2721" idx="2"/>
            <a:endCxn id="2726" idx="0"/>
          </p:cNvCxnSpPr>
          <p:nvPr/>
        </p:nvCxnSpPr>
        <p:spPr>
          <a:xfrm flipH="1">
            <a:off x="709873" y="5340394"/>
            <a:ext cx="42" cy="243616"/>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889" name="Straight Connector 2888">
            <a:extLst>
              <a:ext uri="{FF2B5EF4-FFF2-40B4-BE49-F238E27FC236}">
                <a16:creationId xmlns:a16="http://schemas.microsoft.com/office/drawing/2014/main" id="{37BC1CB2-8971-F831-7045-6FAB0848969F}"/>
              </a:ext>
            </a:extLst>
          </p:cNvPr>
          <p:cNvCxnSpPr>
            <a:cxnSpLocks/>
            <a:stCxn id="2746" idx="3"/>
          </p:cNvCxnSpPr>
          <p:nvPr/>
        </p:nvCxnSpPr>
        <p:spPr>
          <a:xfrm>
            <a:off x="2714322" y="5981665"/>
            <a:ext cx="286058" cy="0"/>
          </a:xfrm>
          <a:prstGeom prst="line">
            <a:avLst/>
          </a:prstGeom>
        </p:spPr>
        <p:style>
          <a:lnRef idx="1">
            <a:schemeClr val="dk1"/>
          </a:lnRef>
          <a:fillRef idx="0">
            <a:schemeClr val="dk1"/>
          </a:fillRef>
          <a:effectRef idx="0">
            <a:schemeClr val="dk1"/>
          </a:effectRef>
          <a:fontRef idx="minor">
            <a:schemeClr val="tx1"/>
          </a:fontRef>
        </p:style>
      </p:cxnSp>
      <p:sp>
        <p:nvSpPr>
          <p:cNvPr id="2892" name="Isosceles Triangle 2891">
            <a:extLst>
              <a:ext uri="{FF2B5EF4-FFF2-40B4-BE49-F238E27FC236}">
                <a16:creationId xmlns:a16="http://schemas.microsoft.com/office/drawing/2014/main" id="{C7C52821-2756-7A57-3FDA-0B185D0AD873}"/>
              </a:ext>
            </a:extLst>
          </p:cNvPr>
          <p:cNvSpPr/>
          <p:nvPr/>
        </p:nvSpPr>
        <p:spPr>
          <a:xfrm rot="16200000">
            <a:off x="3886187" y="2412015"/>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3" name="Isosceles Triangle 2892">
            <a:extLst>
              <a:ext uri="{FF2B5EF4-FFF2-40B4-BE49-F238E27FC236}">
                <a16:creationId xmlns:a16="http://schemas.microsoft.com/office/drawing/2014/main" id="{A93A89E4-7A2F-39BF-EA6A-152617CEF1DA}"/>
              </a:ext>
            </a:extLst>
          </p:cNvPr>
          <p:cNvSpPr/>
          <p:nvPr/>
        </p:nvSpPr>
        <p:spPr>
          <a:xfrm>
            <a:off x="4031529" y="2378654"/>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4" name="Diamond 2893">
            <a:extLst>
              <a:ext uri="{FF2B5EF4-FFF2-40B4-BE49-F238E27FC236}">
                <a16:creationId xmlns:a16="http://schemas.microsoft.com/office/drawing/2014/main" id="{6BDA4D2A-DB85-6120-06CE-11E9A9320577}"/>
              </a:ext>
            </a:extLst>
          </p:cNvPr>
          <p:cNvSpPr/>
          <p:nvPr/>
        </p:nvSpPr>
        <p:spPr>
          <a:xfrm rot="16200000">
            <a:off x="4158113" y="2353605"/>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6" name="Diamond 2895">
            <a:extLst>
              <a:ext uri="{FF2B5EF4-FFF2-40B4-BE49-F238E27FC236}">
                <a16:creationId xmlns:a16="http://schemas.microsoft.com/office/drawing/2014/main" id="{674196DA-CE9E-FF43-A48D-90B78807398E}"/>
              </a:ext>
            </a:extLst>
          </p:cNvPr>
          <p:cNvSpPr/>
          <p:nvPr/>
        </p:nvSpPr>
        <p:spPr>
          <a:xfrm rot="16200000">
            <a:off x="3553281" y="5305678"/>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7" name="Isosceles Triangle 2896">
            <a:extLst>
              <a:ext uri="{FF2B5EF4-FFF2-40B4-BE49-F238E27FC236}">
                <a16:creationId xmlns:a16="http://schemas.microsoft.com/office/drawing/2014/main" id="{5EB790E6-13CC-2453-1B3D-8D9ADF3DDACA}"/>
              </a:ext>
            </a:extLst>
          </p:cNvPr>
          <p:cNvSpPr/>
          <p:nvPr/>
        </p:nvSpPr>
        <p:spPr>
          <a:xfrm rot="5400000">
            <a:off x="2958761" y="5958759"/>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8" name="Isosceles Triangle 2897">
            <a:extLst>
              <a:ext uri="{FF2B5EF4-FFF2-40B4-BE49-F238E27FC236}">
                <a16:creationId xmlns:a16="http://schemas.microsoft.com/office/drawing/2014/main" id="{C4B92240-1FD1-0EF8-03D1-5751E2A557A4}"/>
              </a:ext>
            </a:extLst>
          </p:cNvPr>
          <p:cNvSpPr/>
          <p:nvPr/>
        </p:nvSpPr>
        <p:spPr>
          <a:xfrm rot="10800000">
            <a:off x="688258" y="5529003"/>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9" name="Isosceles Triangle 2898">
            <a:extLst>
              <a:ext uri="{FF2B5EF4-FFF2-40B4-BE49-F238E27FC236}">
                <a16:creationId xmlns:a16="http://schemas.microsoft.com/office/drawing/2014/main" id="{1408AD48-0F2A-C49A-5D3B-0066BA3B8276}"/>
              </a:ext>
            </a:extLst>
          </p:cNvPr>
          <p:cNvSpPr/>
          <p:nvPr/>
        </p:nvSpPr>
        <p:spPr>
          <a:xfrm>
            <a:off x="685877" y="6406891"/>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0" name="Isosceles Triangle 2899">
            <a:extLst>
              <a:ext uri="{FF2B5EF4-FFF2-40B4-BE49-F238E27FC236}">
                <a16:creationId xmlns:a16="http://schemas.microsoft.com/office/drawing/2014/main" id="{F68FAE94-CE98-754B-18E5-29551DB85E79}"/>
              </a:ext>
            </a:extLst>
          </p:cNvPr>
          <p:cNvSpPr/>
          <p:nvPr/>
        </p:nvSpPr>
        <p:spPr>
          <a:xfrm rot="5400000">
            <a:off x="1526813" y="5425365"/>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1" name="Isosceles Triangle 2900">
            <a:extLst>
              <a:ext uri="{FF2B5EF4-FFF2-40B4-BE49-F238E27FC236}">
                <a16:creationId xmlns:a16="http://schemas.microsoft.com/office/drawing/2014/main" id="{6345547E-715F-1026-4064-51B74A82D62E}"/>
              </a:ext>
            </a:extLst>
          </p:cNvPr>
          <p:cNvSpPr/>
          <p:nvPr/>
        </p:nvSpPr>
        <p:spPr>
          <a:xfrm rot="5400000">
            <a:off x="1526813" y="5962073"/>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2" name="Isosceles Triangle 2901">
            <a:extLst>
              <a:ext uri="{FF2B5EF4-FFF2-40B4-BE49-F238E27FC236}">
                <a16:creationId xmlns:a16="http://schemas.microsoft.com/office/drawing/2014/main" id="{C89E4180-AA99-3460-672D-FB8B9BD7056F}"/>
              </a:ext>
            </a:extLst>
          </p:cNvPr>
          <p:cNvSpPr/>
          <p:nvPr/>
        </p:nvSpPr>
        <p:spPr>
          <a:xfrm rot="5400000">
            <a:off x="1526813" y="6489281"/>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68" name="Group 2967">
            <a:extLst>
              <a:ext uri="{FF2B5EF4-FFF2-40B4-BE49-F238E27FC236}">
                <a16:creationId xmlns:a16="http://schemas.microsoft.com/office/drawing/2014/main" id="{51E89DFD-982D-F31E-7CD3-C3CC7366EFF7}"/>
              </a:ext>
            </a:extLst>
          </p:cNvPr>
          <p:cNvGrpSpPr/>
          <p:nvPr/>
        </p:nvGrpSpPr>
        <p:grpSpPr>
          <a:xfrm>
            <a:off x="6556370" y="6436376"/>
            <a:ext cx="848549" cy="327891"/>
            <a:chOff x="626757" y="3130041"/>
            <a:chExt cx="848549" cy="327891"/>
          </a:xfrm>
        </p:grpSpPr>
        <p:sp>
          <p:nvSpPr>
            <p:cNvPr id="2970" name="TextBox 2969">
              <a:extLst>
                <a:ext uri="{FF2B5EF4-FFF2-40B4-BE49-F238E27FC236}">
                  <a16:creationId xmlns:a16="http://schemas.microsoft.com/office/drawing/2014/main" id="{FBEB3FBB-E057-6175-EA7B-8B3B40543C9F}"/>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main</a:t>
              </a:r>
              <a:r>
                <a:rPr lang="en-US" dirty="0"/>
                <a:t>(): void</a:t>
              </a:r>
            </a:p>
          </p:txBody>
        </p:sp>
        <p:sp>
          <p:nvSpPr>
            <p:cNvPr id="2971" name="Rectangle: Rounded Corners 2970">
              <a:extLst>
                <a:ext uri="{FF2B5EF4-FFF2-40B4-BE49-F238E27FC236}">
                  <a16:creationId xmlns:a16="http://schemas.microsoft.com/office/drawing/2014/main" id="{FE161FDF-EE9C-8FF7-AF09-5B621A99E381}"/>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72" name="Straight Connector 2971">
              <a:extLst>
                <a:ext uri="{FF2B5EF4-FFF2-40B4-BE49-F238E27FC236}">
                  <a16:creationId xmlns:a16="http://schemas.microsoft.com/office/drawing/2014/main" id="{F17A262B-F5C2-C402-77FE-9F6C65A88F9A}"/>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973" name="TextBox 2972">
              <a:extLst>
                <a:ext uri="{FF2B5EF4-FFF2-40B4-BE49-F238E27FC236}">
                  <a16:creationId xmlns:a16="http://schemas.microsoft.com/office/drawing/2014/main" id="{2E24DBA6-B785-D2D3-0696-A77C5FBF3706}"/>
                </a:ext>
              </a:extLst>
            </p:cNvPr>
            <p:cNvSpPr txBox="1"/>
            <p:nvPr/>
          </p:nvSpPr>
          <p:spPr>
            <a:xfrm>
              <a:off x="645811" y="3150046"/>
              <a:ext cx="807244" cy="107722"/>
            </a:xfrm>
            <a:prstGeom prst="rect">
              <a:avLst/>
            </a:prstGeom>
            <a:noFill/>
          </p:spPr>
          <p:txBody>
            <a:bodyPr wrap="square" lIns="0" tIns="0" rIns="0" bIns="0" rtlCol="0">
              <a:spAutoFit/>
            </a:bodyPr>
            <a:lstStyle>
              <a:defPPr>
                <a:defRPr lang="en-US"/>
              </a:defPPr>
              <a:lvl1pPr algn="ctr">
                <a:defRPr sz="700" b="1"/>
              </a:lvl1pPr>
            </a:lstStyle>
            <a:p>
              <a:r>
                <a:rPr lang="en-US" dirty="0"/>
                <a:t>C</a:t>
              </a:r>
              <a:r>
                <a:rPr lang="en-US" altLang="zh-CN" dirty="0"/>
                <a:t>lient</a:t>
              </a:r>
              <a:endParaRPr lang="en-US" dirty="0"/>
            </a:p>
          </p:txBody>
        </p:sp>
        <p:cxnSp>
          <p:nvCxnSpPr>
            <p:cNvPr id="2977" name="Straight Connector 2976">
              <a:extLst>
                <a:ext uri="{FF2B5EF4-FFF2-40B4-BE49-F238E27FC236}">
                  <a16:creationId xmlns:a16="http://schemas.microsoft.com/office/drawing/2014/main" id="{BADBE000-4128-600B-A54B-F6AADD202601}"/>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grpSp>
        <p:nvGrpSpPr>
          <p:cNvPr id="2978" name="Group 2977">
            <a:extLst>
              <a:ext uri="{FF2B5EF4-FFF2-40B4-BE49-F238E27FC236}">
                <a16:creationId xmlns:a16="http://schemas.microsoft.com/office/drawing/2014/main" id="{E5CA7EBD-1571-E9ED-8C89-DD677EB96F6C}"/>
              </a:ext>
            </a:extLst>
          </p:cNvPr>
          <p:cNvGrpSpPr/>
          <p:nvPr/>
        </p:nvGrpSpPr>
        <p:grpSpPr>
          <a:xfrm>
            <a:off x="6496347" y="4976504"/>
            <a:ext cx="848549" cy="327891"/>
            <a:chOff x="626757" y="3130041"/>
            <a:chExt cx="848549" cy="327891"/>
          </a:xfrm>
        </p:grpSpPr>
        <p:sp>
          <p:nvSpPr>
            <p:cNvPr id="2979" name="TextBox 2978">
              <a:extLst>
                <a:ext uri="{FF2B5EF4-FFF2-40B4-BE49-F238E27FC236}">
                  <a16:creationId xmlns:a16="http://schemas.microsoft.com/office/drawing/2014/main" id="{3B997EC0-F9E4-6519-E370-A4F1B143B5B4}"/>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execute</a:t>
              </a:r>
              <a:r>
                <a:rPr lang="en-US" dirty="0"/>
                <a:t>(): void</a:t>
              </a:r>
            </a:p>
          </p:txBody>
        </p:sp>
        <p:sp>
          <p:nvSpPr>
            <p:cNvPr id="2980" name="Rectangle: Rounded Corners 2979">
              <a:extLst>
                <a:ext uri="{FF2B5EF4-FFF2-40B4-BE49-F238E27FC236}">
                  <a16:creationId xmlns:a16="http://schemas.microsoft.com/office/drawing/2014/main" id="{D0117FB3-97AC-D5E3-E060-B0830D1617EC}"/>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81" name="Straight Connector 2980">
              <a:extLst>
                <a:ext uri="{FF2B5EF4-FFF2-40B4-BE49-F238E27FC236}">
                  <a16:creationId xmlns:a16="http://schemas.microsoft.com/office/drawing/2014/main" id="{8B29868C-70BB-0309-4998-E1D8CC11A4A3}"/>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982" name="TextBox 2981">
              <a:extLst>
                <a:ext uri="{FF2B5EF4-FFF2-40B4-BE49-F238E27FC236}">
                  <a16:creationId xmlns:a16="http://schemas.microsoft.com/office/drawing/2014/main" id="{CBCF63D5-ACE1-B66D-1C06-202B8579AC1F}"/>
                </a:ext>
              </a:extLst>
            </p:cNvPr>
            <p:cNvSpPr txBox="1"/>
            <p:nvPr/>
          </p:nvSpPr>
          <p:spPr>
            <a:xfrm>
              <a:off x="645811" y="3150046"/>
              <a:ext cx="807244" cy="107722"/>
            </a:xfrm>
            <a:prstGeom prst="rect">
              <a:avLst/>
            </a:prstGeom>
            <a:noFill/>
          </p:spPr>
          <p:txBody>
            <a:bodyPr wrap="square" lIns="0" tIns="0" rIns="0" bIns="0" rtlCol="0">
              <a:spAutoFit/>
            </a:bodyPr>
            <a:lstStyle>
              <a:defPPr>
                <a:defRPr lang="en-US"/>
              </a:defPPr>
              <a:lvl1pPr algn="ctr">
                <a:defRPr sz="700" b="1"/>
              </a:lvl1pPr>
            </a:lstStyle>
            <a:p>
              <a:r>
                <a:rPr lang="en-US" dirty="0"/>
                <a:t>&lt;interface&gt;Command</a:t>
              </a:r>
            </a:p>
          </p:txBody>
        </p:sp>
        <p:cxnSp>
          <p:nvCxnSpPr>
            <p:cNvPr id="2983" name="Straight Connector 2982">
              <a:extLst>
                <a:ext uri="{FF2B5EF4-FFF2-40B4-BE49-F238E27FC236}">
                  <a16:creationId xmlns:a16="http://schemas.microsoft.com/office/drawing/2014/main" id="{CD5AFAC5-1067-2DFB-8AAA-BD131B5E5E26}"/>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grpSp>
        <p:nvGrpSpPr>
          <p:cNvPr id="2990" name="Group 2989">
            <a:extLst>
              <a:ext uri="{FF2B5EF4-FFF2-40B4-BE49-F238E27FC236}">
                <a16:creationId xmlns:a16="http://schemas.microsoft.com/office/drawing/2014/main" id="{46CB1D4B-37DD-4DC6-C418-D05A464B472F}"/>
              </a:ext>
            </a:extLst>
          </p:cNvPr>
          <p:cNvGrpSpPr/>
          <p:nvPr/>
        </p:nvGrpSpPr>
        <p:grpSpPr>
          <a:xfrm>
            <a:off x="6312226" y="5753539"/>
            <a:ext cx="1221456" cy="553213"/>
            <a:chOff x="626757" y="3130041"/>
            <a:chExt cx="1221456" cy="553213"/>
          </a:xfrm>
        </p:grpSpPr>
        <p:sp>
          <p:nvSpPr>
            <p:cNvPr id="2991" name="Rectangle: Rounded Corners 2990">
              <a:extLst>
                <a:ext uri="{FF2B5EF4-FFF2-40B4-BE49-F238E27FC236}">
                  <a16:creationId xmlns:a16="http://schemas.microsoft.com/office/drawing/2014/main" id="{F9EE1167-0483-6B69-6975-B3E2D6C47112}"/>
                </a:ext>
              </a:extLst>
            </p:cNvPr>
            <p:cNvSpPr/>
            <p:nvPr/>
          </p:nvSpPr>
          <p:spPr>
            <a:xfrm>
              <a:off x="626758" y="3130041"/>
              <a:ext cx="1214303" cy="553213"/>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92" name="Straight Connector 2991">
              <a:extLst>
                <a:ext uri="{FF2B5EF4-FFF2-40B4-BE49-F238E27FC236}">
                  <a16:creationId xmlns:a16="http://schemas.microsoft.com/office/drawing/2014/main" id="{0451B7B0-ED01-D1F6-6CF0-CEF32541C44D}"/>
                </a:ext>
              </a:extLst>
            </p:cNvPr>
            <p:cNvCxnSpPr>
              <a:cxnSpLocks/>
            </p:cNvCxnSpPr>
            <p:nvPr/>
          </p:nvCxnSpPr>
          <p:spPr>
            <a:xfrm>
              <a:off x="626759" y="3262639"/>
              <a:ext cx="1221454" cy="0"/>
            </a:xfrm>
            <a:prstGeom prst="line">
              <a:avLst/>
            </a:prstGeom>
          </p:spPr>
          <p:style>
            <a:lnRef idx="1">
              <a:schemeClr val="dk1"/>
            </a:lnRef>
            <a:fillRef idx="0">
              <a:schemeClr val="dk1"/>
            </a:fillRef>
            <a:effectRef idx="0">
              <a:schemeClr val="dk1"/>
            </a:effectRef>
            <a:fontRef idx="minor">
              <a:schemeClr val="tx1"/>
            </a:fontRef>
          </p:style>
        </p:cxnSp>
        <p:sp>
          <p:nvSpPr>
            <p:cNvPr id="2993" name="TextBox 2992">
              <a:extLst>
                <a:ext uri="{FF2B5EF4-FFF2-40B4-BE49-F238E27FC236}">
                  <a16:creationId xmlns:a16="http://schemas.microsoft.com/office/drawing/2014/main" id="{CC11CABB-DFAA-FE7F-46D9-A90C8758F1D3}"/>
                </a:ext>
              </a:extLst>
            </p:cNvPr>
            <p:cNvSpPr txBox="1"/>
            <p:nvPr/>
          </p:nvSpPr>
          <p:spPr>
            <a:xfrm>
              <a:off x="653109" y="3151109"/>
              <a:ext cx="1164145" cy="107722"/>
            </a:xfrm>
            <a:prstGeom prst="rect">
              <a:avLst/>
            </a:prstGeom>
            <a:noFill/>
          </p:spPr>
          <p:txBody>
            <a:bodyPr wrap="square" lIns="0" tIns="0" rIns="0" bIns="0" rtlCol="0">
              <a:spAutoFit/>
            </a:bodyPr>
            <a:lstStyle>
              <a:defPPr>
                <a:defRPr lang="en-US"/>
              </a:defPPr>
              <a:lvl1pPr algn="ctr">
                <a:defRPr sz="700" b="1"/>
              </a:lvl1pPr>
            </a:lstStyle>
            <a:p>
              <a:r>
                <a:rPr lang="en-US" dirty="0" err="1"/>
                <a:t>OrderCommand</a:t>
              </a:r>
              <a:endParaRPr lang="en-US" dirty="0"/>
            </a:p>
          </p:txBody>
        </p:sp>
        <p:sp>
          <p:nvSpPr>
            <p:cNvPr id="2994" name="TextBox 2993">
              <a:extLst>
                <a:ext uri="{FF2B5EF4-FFF2-40B4-BE49-F238E27FC236}">
                  <a16:creationId xmlns:a16="http://schemas.microsoft.com/office/drawing/2014/main" id="{AA08E903-59A6-5929-4313-80506FAE1C8D}"/>
                </a:ext>
              </a:extLst>
            </p:cNvPr>
            <p:cNvSpPr txBox="1"/>
            <p:nvPr/>
          </p:nvSpPr>
          <p:spPr>
            <a:xfrm>
              <a:off x="657950" y="3276104"/>
              <a:ext cx="1073582" cy="184666"/>
            </a:xfrm>
            <a:prstGeom prst="rect">
              <a:avLst/>
            </a:prstGeom>
            <a:noFill/>
          </p:spPr>
          <p:txBody>
            <a:bodyPr wrap="square" lIns="0" tIns="0" rIns="0" bIns="0" rtlCol="0">
              <a:spAutoFit/>
            </a:bodyPr>
            <a:lstStyle>
              <a:defPPr>
                <a:defRPr lang="en-US"/>
              </a:defPPr>
              <a:lvl1pPr>
                <a:defRPr sz="600"/>
              </a:lvl1pPr>
            </a:lstStyle>
            <a:p>
              <a:r>
                <a:rPr lang="en-US" dirty="0"/>
                <a:t>- receiver: </a:t>
              </a:r>
              <a:r>
                <a:rPr lang="en-US" dirty="0" err="1"/>
                <a:t>SeniorChef</a:t>
              </a:r>
              <a:endParaRPr lang="en-US" dirty="0"/>
            </a:p>
            <a:p>
              <a:r>
                <a:rPr lang="en-US" dirty="0"/>
                <a:t>- order: Order</a:t>
              </a:r>
            </a:p>
          </p:txBody>
        </p:sp>
        <p:cxnSp>
          <p:nvCxnSpPr>
            <p:cNvPr id="2995" name="Straight Connector 2994">
              <a:extLst>
                <a:ext uri="{FF2B5EF4-FFF2-40B4-BE49-F238E27FC236}">
                  <a16:creationId xmlns:a16="http://schemas.microsoft.com/office/drawing/2014/main" id="{BA557CFA-E7FB-AB9A-0B5E-5B510BD3ACD8}"/>
                </a:ext>
              </a:extLst>
            </p:cNvPr>
            <p:cNvCxnSpPr>
              <a:cxnSpLocks/>
            </p:cNvCxnSpPr>
            <p:nvPr/>
          </p:nvCxnSpPr>
          <p:spPr>
            <a:xfrm>
              <a:off x="626757" y="3469809"/>
              <a:ext cx="1216694" cy="0"/>
            </a:xfrm>
            <a:prstGeom prst="line">
              <a:avLst/>
            </a:prstGeom>
          </p:spPr>
          <p:style>
            <a:lnRef idx="1">
              <a:schemeClr val="dk1"/>
            </a:lnRef>
            <a:fillRef idx="0">
              <a:schemeClr val="dk1"/>
            </a:fillRef>
            <a:effectRef idx="0">
              <a:schemeClr val="dk1"/>
            </a:effectRef>
            <a:fontRef idx="minor">
              <a:schemeClr val="tx1"/>
            </a:fontRef>
          </p:style>
        </p:cxnSp>
        <p:sp>
          <p:nvSpPr>
            <p:cNvPr id="2996" name="TextBox 2995">
              <a:extLst>
                <a:ext uri="{FF2B5EF4-FFF2-40B4-BE49-F238E27FC236}">
                  <a16:creationId xmlns:a16="http://schemas.microsoft.com/office/drawing/2014/main" id="{3E24BE64-07D2-6075-A7B5-04DB3DD9EA37}"/>
                </a:ext>
              </a:extLst>
            </p:cNvPr>
            <p:cNvSpPr txBox="1"/>
            <p:nvPr/>
          </p:nvSpPr>
          <p:spPr>
            <a:xfrm>
              <a:off x="653196" y="3486285"/>
              <a:ext cx="1183111"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OrderCommand</a:t>
              </a:r>
              <a:r>
                <a:rPr lang="en-US" dirty="0"/>
                <a:t>(</a:t>
              </a:r>
              <a:r>
                <a:rPr lang="en-US" dirty="0" err="1"/>
                <a:t>SeniorChef</a:t>
              </a:r>
              <a:r>
                <a:rPr lang="en-US" dirty="0"/>
                <a:t>, Order)</a:t>
              </a:r>
            </a:p>
            <a:p>
              <a:r>
                <a:rPr lang="en-US" dirty="0"/>
                <a:t>+ </a:t>
              </a:r>
              <a:r>
                <a:rPr lang="en-US" altLang="zh-CN" dirty="0"/>
                <a:t>execute</a:t>
              </a:r>
              <a:r>
                <a:rPr lang="en-US" dirty="0"/>
                <a:t>(): void</a:t>
              </a:r>
            </a:p>
          </p:txBody>
        </p:sp>
      </p:grpSp>
      <p:grpSp>
        <p:nvGrpSpPr>
          <p:cNvPr id="3000" name="Group 2999">
            <a:extLst>
              <a:ext uri="{FF2B5EF4-FFF2-40B4-BE49-F238E27FC236}">
                <a16:creationId xmlns:a16="http://schemas.microsoft.com/office/drawing/2014/main" id="{D2053EA5-9179-B8A0-D5E9-B22EE745B1A9}"/>
              </a:ext>
            </a:extLst>
          </p:cNvPr>
          <p:cNvGrpSpPr/>
          <p:nvPr/>
        </p:nvGrpSpPr>
        <p:grpSpPr>
          <a:xfrm>
            <a:off x="5123141" y="4917200"/>
            <a:ext cx="1123825" cy="449275"/>
            <a:chOff x="626757" y="3130041"/>
            <a:chExt cx="1123825" cy="449275"/>
          </a:xfrm>
        </p:grpSpPr>
        <p:sp>
          <p:nvSpPr>
            <p:cNvPr id="3001" name="Rectangle: Rounded Corners 3000">
              <a:extLst>
                <a:ext uri="{FF2B5EF4-FFF2-40B4-BE49-F238E27FC236}">
                  <a16:creationId xmlns:a16="http://schemas.microsoft.com/office/drawing/2014/main" id="{753DDD8B-9ED1-23F9-78F1-D00CF4703054}"/>
                </a:ext>
              </a:extLst>
            </p:cNvPr>
            <p:cNvSpPr/>
            <p:nvPr/>
          </p:nvSpPr>
          <p:spPr>
            <a:xfrm>
              <a:off x="626758" y="3130041"/>
              <a:ext cx="1117675" cy="449275"/>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02" name="Straight Connector 3001">
              <a:extLst>
                <a:ext uri="{FF2B5EF4-FFF2-40B4-BE49-F238E27FC236}">
                  <a16:creationId xmlns:a16="http://schemas.microsoft.com/office/drawing/2014/main" id="{0BEEEDF3-2F35-DBEA-AA2E-8F8CCCE9B881}"/>
                </a:ext>
              </a:extLst>
            </p:cNvPr>
            <p:cNvCxnSpPr>
              <a:cxnSpLocks/>
            </p:cNvCxnSpPr>
            <p:nvPr/>
          </p:nvCxnSpPr>
          <p:spPr>
            <a:xfrm>
              <a:off x="626759" y="3262639"/>
              <a:ext cx="1123823" cy="0"/>
            </a:xfrm>
            <a:prstGeom prst="line">
              <a:avLst/>
            </a:prstGeom>
          </p:spPr>
          <p:style>
            <a:lnRef idx="1">
              <a:schemeClr val="dk1"/>
            </a:lnRef>
            <a:fillRef idx="0">
              <a:schemeClr val="dk1"/>
            </a:fillRef>
            <a:effectRef idx="0">
              <a:schemeClr val="dk1"/>
            </a:effectRef>
            <a:fontRef idx="minor">
              <a:schemeClr val="tx1"/>
            </a:fontRef>
          </p:style>
        </p:cxnSp>
        <p:sp>
          <p:nvSpPr>
            <p:cNvPr id="3003" name="TextBox 3002">
              <a:extLst>
                <a:ext uri="{FF2B5EF4-FFF2-40B4-BE49-F238E27FC236}">
                  <a16:creationId xmlns:a16="http://schemas.microsoft.com/office/drawing/2014/main" id="{14F4D651-6A27-A063-91E2-A2A32AB5F761}"/>
                </a:ext>
              </a:extLst>
            </p:cNvPr>
            <p:cNvSpPr txBox="1"/>
            <p:nvPr/>
          </p:nvSpPr>
          <p:spPr>
            <a:xfrm>
              <a:off x="653110" y="3151109"/>
              <a:ext cx="1092914" cy="107722"/>
            </a:xfrm>
            <a:prstGeom prst="rect">
              <a:avLst/>
            </a:prstGeom>
            <a:noFill/>
          </p:spPr>
          <p:txBody>
            <a:bodyPr wrap="square" lIns="0" tIns="0" rIns="0" bIns="0" rtlCol="0">
              <a:spAutoFit/>
            </a:bodyPr>
            <a:lstStyle>
              <a:defPPr>
                <a:defRPr lang="en-US"/>
              </a:defPPr>
              <a:lvl1pPr algn="ctr">
                <a:defRPr sz="700" b="1"/>
              </a:lvl1pPr>
            </a:lstStyle>
            <a:p>
              <a:r>
                <a:rPr lang="en-US" dirty="0" err="1"/>
                <a:t>Waitor</a:t>
              </a:r>
              <a:endParaRPr lang="en-US" dirty="0"/>
            </a:p>
          </p:txBody>
        </p:sp>
        <p:sp>
          <p:nvSpPr>
            <p:cNvPr id="3004" name="TextBox 3003">
              <a:extLst>
                <a:ext uri="{FF2B5EF4-FFF2-40B4-BE49-F238E27FC236}">
                  <a16:creationId xmlns:a16="http://schemas.microsoft.com/office/drawing/2014/main" id="{9BC82C5A-15FB-DE6B-C7D3-DDC499ADEE83}"/>
                </a:ext>
              </a:extLst>
            </p:cNvPr>
            <p:cNvSpPr txBox="1"/>
            <p:nvPr/>
          </p:nvSpPr>
          <p:spPr>
            <a:xfrm>
              <a:off x="657950" y="3276104"/>
              <a:ext cx="1073582" cy="92333"/>
            </a:xfrm>
            <a:prstGeom prst="rect">
              <a:avLst/>
            </a:prstGeom>
            <a:noFill/>
          </p:spPr>
          <p:txBody>
            <a:bodyPr wrap="square" lIns="0" tIns="0" rIns="0" bIns="0" rtlCol="0">
              <a:spAutoFit/>
            </a:bodyPr>
            <a:lstStyle>
              <a:defPPr>
                <a:defRPr lang="en-US"/>
              </a:defPPr>
              <a:lvl1pPr>
                <a:defRPr sz="600"/>
              </a:lvl1pPr>
            </a:lstStyle>
            <a:p>
              <a:r>
                <a:rPr lang="en-US" dirty="0"/>
                <a:t>- command: </a:t>
              </a:r>
              <a:r>
                <a:rPr lang="en-US" dirty="0" err="1"/>
                <a:t>ArrayList</a:t>
              </a:r>
              <a:r>
                <a:rPr lang="en-US" dirty="0"/>
                <a:t>&lt;Command&gt;</a:t>
              </a:r>
            </a:p>
          </p:txBody>
        </p:sp>
        <p:cxnSp>
          <p:nvCxnSpPr>
            <p:cNvPr id="3005" name="Straight Connector 3004">
              <a:extLst>
                <a:ext uri="{FF2B5EF4-FFF2-40B4-BE49-F238E27FC236}">
                  <a16:creationId xmlns:a16="http://schemas.microsoft.com/office/drawing/2014/main" id="{80444CBB-EBF7-715E-EDA2-88F9658C2CEB}"/>
                </a:ext>
              </a:extLst>
            </p:cNvPr>
            <p:cNvCxnSpPr>
              <a:cxnSpLocks/>
            </p:cNvCxnSpPr>
            <p:nvPr/>
          </p:nvCxnSpPr>
          <p:spPr>
            <a:xfrm>
              <a:off x="626757" y="3379317"/>
              <a:ext cx="1121444" cy="0"/>
            </a:xfrm>
            <a:prstGeom prst="line">
              <a:avLst/>
            </a:prstGeom>
          </p:spPr>
          <p:style>
            <a:lnRef idx="1">
              <a:schemeClr val="dk1"/>
            </a:lnRef>
            <a:fillRef idx="0">
              <a:schemeClr val="dk1"/>
            </a:fillRef>
            <a:effectRef idx="0">
              <a:schemeClr val="dk1"/>
            </a:effectRef>
            <a:fontRef idx="minor">
              <a:schemeClr val="tx1"/>
            </a:fontRef>
          </p:style>
        </p:cxnSp>
        <p:sp>
          <p:nvSpPr>
            <p:cNvPr id="3006" name="TextBox 3005">
              <a:extLst>
                <a:ext uri="{FF2B5EF4-FFF2-40B4-BE49-F238E27FC236}">
                  <a16:creationId xmlns:a16="http://schemas.microsoft.com/office/drawing/2014/main" id="{37781699-85BC-EE93-7C15-5F721B755AF8}"/>
                </a:ext>
              </a:extLst>
            </p:cNvPr>
            <p:cNvSpPr txBox="1"/>
            <p:nvPr/>
          </p:nvSpPr>
          <p:spPr>
            <a:xfrm>
              <a:off x="653197" y="3393417"/>
              <a:ext cx="1064162"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err="1"/>
                <a:t>set</a:t>
              </a:r>
              <a:r>
                <a:rPr lang="en-US" dirty="0" err="1"/>
                <a:t>Command</a:t>
              </a:r>
              <a:r>
                <a:rPr lang="en-US" dirty="0"/>
                <a:t>(Command): void</a:t>
              </a:r>
            </a:p>
            <a:p>
              <a:r>
                <a:rPr lang="en-US" dirty="0"/>
                <a:t>+ </a:t>
              </a:r>
              <a:r>
                <a:rPr lang="en-US" altLang="zh-CN" dirty="0" err="1"/>
                <a:t>orderUp</a:t>
              </a:r>
              <a:r>
                <a:rPr lang="en-US" dirty="0"/>
                <a:t>(): void</a:t>
              </a:r>
            </a:p>
          </p:txBody>
        </p:sp>
      </p:grpSp>
      <p:grpSp>
        <p:nvGrpSpPr>
          <p:cNvPr id="2053" name="Group 2052">
            <a:extLst>
              <a:ext uri="{FF2B5EF4-FFF2-40B4-BE49-F238E27FC236}">
                <a16:creationId xmlns:a16="http://schemas.microsoft.com/office/drawing/2014/main" id="{0FCCDE8C-5149-91EB-F547-7EE099EDF312}"/>
              </a:ext>
            </a:extLst>
          </p:cNvPr>
          <p:cNvGrpSpPr/>
          <p:nvPr/>
        </p:nvGrpSpPr>
        <p:grpSpPr>
          <a:xfrm>
            <a:off x="7831837" y="4967477"/>
            <a:ext cx="1183013" cy="729229"/>
            <a:chOff x="626757" y="3130041"/>
            <a:chExt cx="1183013" cy="729229"/>
          </a:xfrm>
        </p:grpSpPr>
        <p:sp>
          <p:nvSpPr>
            <p:cNvPr id="2073" name="Rectangle: Rounded Corners 2072">
              <a:extLst>
                <a:ext uri="{FF2B5EF4-FFF2-40B4-BE49-F238E27FC236}">
                  <a16:creationId xmlns:a16="http://schemas.microsoft.com/office/drawing/2014/main" id="{6A65F760-ABCF-A3D6-F902-F7E2824E943D}"/>
                </a:ext>
              </a:extLst>
            </p:cNvPr>
            <p:cNvSpPr/>
            <p:nvPr/>
          </p:nvSpPr>
          <p:spPr>
            <a:xfrm>
              <a:off x="626758" y="3130041"/>
              <a:ext cx="1178248" cy="729229"/>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74" name="Straight Connector 2073">
              <a:extLst>
                <a:ext uri="{FF2B5EF4-FFF2-40B4-BE49-F238E27FC236}">
                  <a16:creationId xmlns:a16="http://schemas.microsoft.com/office/drawing/2014/main" id="{66623A23-6A69-83F4-AC5D-F637EF7F4F31}"/>
                </a:ext>
              </a:extLst>
            </p:cNvPr>
            <p:cNvCxnSpPr>
              <a:cxnSpLocks/>
            </p:cNvCxnSpPr>
            <p:nvPr/>
          </p:nvCxnSpPr>
          <p:spPr>
            <a:xfrm>
              <a:off x="626759" y="3262639"/>
              <a:ext cx="1183011" cy="0"/>
            </a:xfrm>
            <a:prstGeom prst="line">
              <a:avLst/>
            </a:prstGeom>
          </p:spPr>
          <p:style>
            <a:lnRef idx="1">
              <a:schemeClr val="dk1"/>
            </a:lnRef>
            <a:fillRef idx="0">
              <a:schemeClr val="dk1"/>
            </a:fillRef>
            <a:effectRef idx="0">
              <a:schemeClr val="dk1"/>
            </a:effectRef>
            <a:fontRef idx="minor">
              <a:schemeClr val="tx1"/>
            </a:fontRef>
          </p:style>
        </p:cxnSp>
        <p:sp>
          <p:nvSpPr>
            <p:cNvPr id="2081" name="TextBox 2080">
              <a:extLst>
                <a:ext uri="{FF2B5EF4-FFF2-40B4-BE49-F238E27FC236}">
                  <a16:creationId xmlns:a16="http://schemas.microsoft.com/office/drawing/2014/main" id="{FD32933C-8B59-45AE-69FB-EF255FCDBD58}"/>
                </a:ext>
              </a:extLst>
            </p:cNvPr>
            <p:cNvSpPr txBox="1"/>
            <p:nvPr/>
          </p:nvSpPr>
          <p:spPr>
            <a:xfrm>
              <a:off x="653109" y="3151109"/>
              <a:ext cx="1135229" cy="107722"/>
            </a:xfrm>
            <a:prstGeom prst="rect">
              <a:avLst/>
            </a:prstGeom>
            <a:noFill/>
          </p:spPr>
          <p:txBody>
            <a:bodyPr wrap="square" lIns="0" tIns="0" rIns="0" bIns="0" rtlCol="0">
              <a:spAutoFit/>
            </a:bodyPr>
            <a:lstStyle>
              <a:defPPr>
                <a:defRPr lang="en-US"/>
              </a:defPPr>
              <a:lvl1pPr algn="ctr">
                <a:defRPr sz="700" b="1"/>
              </a:lvl1pPr>
            </a:lstStyle>
            <a:p>
              <a:r>
                <a:rPr lang="en-US" dirty="0"/>
                <a:t>Order</a:t>
              </a:r>
            </a:p>
          </p:txBody>
        </p:sp>
        <p:sp>
          <p:nvSpPr>
            <p:cNvPr id="2082" name="TextBox 2081">
              <a:extLst>
                <a:ext uri="{FF2B5EF4-FFF2-40B4-BE49-F238E27FC236}">
                  <a16:creationId xmlns:a16="http://schemas.microsoft.com/office/drawing/2014/main" id="{A242847D-F908-63E4-E041-66C49FB382E3}"/>
                </a:ext>
              </a:extLst>
            </p:cNvPr>
            <p:cNvSpPr txBox="1"/>
            <p:nvPr/>
          </p:nvSpPr>
          <p:spPr>
            <a:xfrm>
              <a:off x="657950" y="3276104"/>
              <a:ext cx="1073582"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diningTable</a:t>
              </a:r>
              <a:r>
                <a:rPr lang="en-US" dirty="0"/>
                <a:t>: int</a:t>
              </a:r>
            </a:p>
            <a:p>
              <a:r>
                <a:rPr lang="en-US" dirty="0"/>
                <a:t>- </a:t>
              </a:r>
              <a:r>
                <a:rPr lang="en-US" dirty="0" err="1"/>
                <a:t>foodDic</a:t>
              </a:r>
              <a:r>
                <a:rPr lang="en-US" dirty="0"/>
                <a:t>: Map&lt;String, Integer&gt;</a:t>
              </a:r>
            </a:p>
          </p:txBody>
        </p:sp>
        <p:cxnSp>
          <p:nvCxnSpPr>
            <p:cNvPr id="2084" name="Straight Connector 2083">
              <a:extLst>
                <a:ext uri="{FF2B5EF4-FFF2-40B4-BE49-F238E27FC236}">
                  <a16:creationId xmlns:a16="http://schemas.microsoft.com/office/drawing/2014/main" id="{B60DB965-A154-79D0-917E-2A711C38BCF8}"/>
                </a:ext>
              </a:extLst>
            </p:cNvPr>
            <p:cNvCxnSpPr>
              <a:cxnSpLocks/>
            </p:cNvCxnSpPr>
            <p:nvPr/>
          </p:nvCxnSpPr>
          <p:spPr>
            <a:xfrm>
              <a:off x="626757" y="3465043"/>
              <a:ext cx="1183013" cy="0"/>
            </a:xfrm>
            <a:prstGeom prst="line">
              <a:avLst/>
            </a:prstGeom>
          </p:spPr>
          <p:style>
            <a:lnRef idx="1">
              <a:schemeClr val="dk1"/>
            </a:lnRef>
            <a:fillRef idx="0">
              <a:schemeClr val="dk1"/>
            </a:fillRef>
            <a:effectRef idx="0">
              <a:schemeClr val="dk1"/>
            </a:effectRef>
            <a:fontRef idx="minor">
              <a:schemeClr val="tx1"/>
            </a:fontRef>
          </p:style>
        </p:cxnSp>
        <p:sp>
          <p:nvSpPr>
            <p:cNvPr id="2085" name="TextBox 2084">
              <a:extLst>
                <a:ext uri="{FF2B5EF4-FFF2-40B4-BE49-F238E27FC236}">
                  <a16:creationId xmlns:a16="http://schemas.microsoft.com/office/drawing/2014/main" id="{2E510F9F-0CF5-AA38-CB00-11AA13FF3E69}"/>
                </a:ext>
              </a:extLst>
            </p:cNvPr>
            <p:cNvSpPr txBox="1"/>
            <p:nvPr/>
          </p:nvSpPr>
          <p:spPr>
            <a:xfrm>
              <a:off x="653196" y="3479143"/>
              <a:ext cx="1118474" cy="369332"/>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err="1"/>
                <a:t>getDiningTable</a:t>
              </a:r>
              <a:r>
                <a:rPr lang="en-US" dirty="0"/>
                <a:t>(): int</a:t>
              </a:r>
            </a:p>
            <a:p>
              <a:r>
                <a:rPr lang="en-US" dirty="0"/>
                <a:t>+ </a:t>
              </a:r>
              <a:r>
                <a:rPr lang="en-US" dirty="0" err="1"/>
                <a:t>setDiningTable</a:t>
              </a:r>
              <a:r>
                <a:rPr lang="en-US" dirty="0"/>
                <a:t>(</a:t>
              </a:r>
              <a:r>
                <a:rPr lang="en-US" dirty="0" err="1"/>
                <a:t>diningTable</a:t>
              </a:r>
              <a:r>
                <a:rPr lang="en-US" dirty="0"/>
                <a:t>): void</a:t>
              </a:r>
            </a:p>
            <a:p>
              <a:r>
                <a:rPr lang="en-US" dirty="0"/>
                <a:t>+ </a:t>
              </a:r>
              <a:r>
                <a:rPr lang="en-US" dirty="0" err="1"/>
                <a:t>getFoodDic</a:t>
              </a:r>
              <a:r>
                <a:rPr lang="en-US" dirty="0"/>
                <a:t>(): Map</a:t>
              </a:r>
            </a:p>
            <a:p>
              <a:r>
                <a:rPr lang="en-US" dirty="0"/>
                <a:t>+ </a:t>
              </a:r>
              <a:r>
                <a:rPr lang="en-US" dirty="0" err="1"/>
                <a:t>setFoodDic</a:t>
              </a:r>
              <a:r>
                <a:rPr lang="en-US" dirty="0"/>
                <a:t>(name, num): void</a:t>
              </a:r>
            </a:p>
          </p:txBody>
        </p:sp>
      </p:grpSp>
      <p:grpSp>
        <p:nvGrpSpPr>
          <p:cNvPr id="2089" name="Group 2088">
            <a:extLst>
              <a:ext uri="{FF2B5EF4-FFF2-40B4-BE49-F238E27FC236}">
                <a16:creationId xmlns:a16="http://schemas.microsoft.com/office/drawing/2014/main" id="{A0FC4BF3-CF8F-B694-9F21-F76EE90926C4}"/>
              </a:ext>
            </a:extLst>
          </p:cNvPr>
          <p:cNvGrpSpPr/>
          <p:nvPr/>
        </p:nvGrpSpPr>
        <p:grpSpPr>
          <a:xfrm>
            <a:off x="7853497" y="5830680"/>
            <a:ext cx="1158450" cy="396010"/>
            <a:chOff x="626757" y="3130042"/>
            <a:chExt cx="1158450" cy="396010"/>
          </a:xfrm>
        </p:grpSpPr>
        <p:sp>
          <p:nvSpPr>
            <p:cNvPr id="2090" name="Rectangle: Rounded Corners 2089">
              <a:extLst>
                <a:ext uri="{FF2B5EF4-FFF2-40B4-BE49-F238E27FC236}">
                  <a16:creationId xmlns:a16="http://schemas.microsoft.com/office/drawing/2014/main" id="{9AD85B68-178F-F0CB-7C66-075B89DEE512}"/>
                </a:ext>
              </a:extLst>
            </p:cNvPr>
            <p:cNvSpPr/>
            <p:nvPr/>
          </p:nvSpPr>
          <p:spPr>
            <a:xfrm>
              <a:off x="626758" y="3130042"/>
              <a:ext cx="1155274" cy="396010"/>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91" name="Straight Connector 2090">
              <a:extLst>
                <a:ext uri="{FF2B5EF4-FFF2-40B4-BE49-F238E27FC236}">
                  <a16:creationId xmlns:a16="http://schemas.microsoft.com/office/drawing/2014/main" id="{55456147-F5CF-24CE-D218-CA40D3CBED79}"/>
                </a:ext>
              </a:extLst>
            </p:cNvPr>
            <p:cNvCxnSpPr>
              <a:cxnSpLocks/>
            </p:cNvCxnSpPr>
            <p:nvPr/>
          </p:nvCxnSpPr>
          <p:spPr>
            <a:xfrm>
              <a:off x="626759" y="3262639"/>
              <a:ext cx="1158448" cy="0"/>
            </a:xfrm>
            <a:prstGeom prst="line">
              <a:avLst/>
            </a:prstGeom>
          </p:spPr>
          <p:style>
            <a:lnRef idx="1">
              <a:schemeClr val="dk1"/>
            </a:lnRef>
            <a:fillRef idx="0">
              <a:schemeClr val="dk1"/>
            </a:fillRef>
            <a:effectRef idx="0">
              <a:schemeClr val="dk1"/>
            </a:effectRef>
            <a:fontRef idx="minor">
              <a:schemeClr val="tx1"/>
            </a:fontRef>
          </p:style>
        </p:cxnSp>
        <p:sp>
          <p:nvSpPr>
            <p:cNvPr id="2092" name="TextBox 2091">
              <a:extLst>
                <a:ext uri="{FF2B5EF4-FFF2-40B4-BE49-F238E27FC236}">
                  <a16:creationId xmlns:a16="http://schemas.microsoft.com/office/drawing/2014/main" id="{DE054C42-37BC-D3B7-D3A7-081CC21B80FA}"/>
                </a:ext>
              </a:extLst>
            </p:cNvPr>
            <p:cNvSpPr txBox="1"/>
            <p:nvPr/>
          </p:nvSpPr>
          <p:spPr>
            <a:xfrm>
              <a:off x="653110" y="3151109"/>
              <a:ext cx="1092914" cy="107722"/>
            </a:xfrm>
            <a:prstGeom prst="rect">
              <a:avLst/>
            </a:prstGeom>
            <a:noFill/>
          </p:spPr>
          <p:txBody>
            <a:bodyPr wrap="square" lIns="0" tIns="0" rIns="0" bIns="0" rtlCol="0">
              <a:spAutoFit/>
            </a:bodyPr>
            <a:lstStyle>
              <a:defPPr>
                <a:defRPr lang="en-US"/>
              </a:defPPr>
              <a:lvl1pPr algn="ctr">
                <a:defRPr sz="700" b="1"/>
              </a:lvl1pPr>
            </a:lstStyle>
            <a:p>
              <a:r>
                <a:rPr lang="en-US" dirty="0" err="1"/>
                <a:t>SeniorChef</a:t>
              </a:r>
              <a:endParaRPr lang="en-US" dirty="0"/>
            </a:p>
          </p:txBody>
        </p:sp>
        <p:sp>
          <p:nvSpPr>
            <p:cNvPr id="2093" name="TextBox 2092">
              <a:extLst>
                <a:ext uri="{FF2B5EF4-FFF2-40B4-BE49-F238E27FC236}">
                  <a16:creationId xmlns:a16="http://schemas.microsoft.com/office/drawing/2014/main" id="{B55853A2-FA1E-C72D-2499-970F6B72F4B5}"/>
                </a:ext>
              </a:extLst>
            </p:cNvPr>
            <p:cNvSpPr txBox="1"/>
            <p:nvPr/>
          </p:nvSpPr>
          <p:spPr>
            <a:xfrm>
              <a:off x="657950" y="3276104"/>
              <a:ext cx="1073582"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094" name="Straight Connector 2093">
              <a:extLst>
                <a:ext uri="{FF2B5EF4-FFF2-40B4-BE49-F238E27FC236}">
                  <a16:creationId xmlns:a16="http://schemas.microsoft.com/office/drawing/2014/main" id="{EF60B7FE-D3A4-85B0-3336-B113A46A55BB}"/>
                </a:ext>
              </a:extLst>
            </p:cNvPr>
            <p:cNvCxnSpPr>
              <a:cxnSpLocks/>
            </p:cNvCxnSpPr>
            <p:nvPr/>
          </p:nvCxnSpPr>
          <p:spPr>
            <a:xfrm>
              <a:off x="626757" y="3379317"/>
              <a:ext cx="1158450" cy="0"/>
            </a:xfrm>
            <a:prstGeom prst="line">
              <a:avLst/>
            </a:prstGeom>
          </p:spPr>
          <p:style>
            <a:lnRef idx="1">
              <a:schemeClr val="dk1"/>
            </a:lnRef>
            <a:fillRef idx="0">
              <a:schemeClr val="dk1"/>
            </a:fillRef>
            <a:effectRef idx="0">
              <a:schemeClr val="dk1"/>
            </a:effectRef>
            <a:fontRef idx="minor">
              <a:schemeClr val="tx1"/>
            </a:fontRef>
          </p:style>
        </p:cxnSp>
        <p:sp>
          <p:nvSpPr>
            <p:cNvPr id="2095" name="TextBox 2094">
              <a:extLst>
                <a:ext uri="{FF2B5EF4-FFF2-40B4-BE49-F238E27FC236}">
                  <a16:creationId xmlns:a16="http://schemas.microsoft.com/office/drawing/2014/main" id="{6CC5FC52-78AB-BFC5-669F-9A948AF0C8A8}"/>
                </a:ext>
              </a:extLst>
            </p:cNvPr>
            <p:cNvSpPr txBox="1"/>
            <p:nvPr/>
          </p:nvSpPr>
          <p:spPr>
            <a:xfrm>
              <a:off x="653197" y="3393417"/>
              <a:ext cx="110661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err="1"/>
                <a:t>makeFood</a:t>
              </a:r>
              <a:r>
                <a:rPr lang="en-US" dirty="0"/>
                <a:t>(num, </a:t>
              </a:r>
              <a:r>
                <a:rPr lang="en-US" dirty="0" err="1"/>
                <a:t>foodName</a:t>
              </a:r>
              <a:r>
                <a:rPr lang="en-US" dirty="0"/>
                <a:t>): void</a:t>
              </a:r>
            </a:p>
          </p:txBody>
        </p:sp>
      </p:grpSp>
      <p:cxnSp>
        <p:nvCxnSpPr>
          <p:cNvPr id="2100" name="Straight Connector 2099">
            <a:extLst>
              <a:ext uri="{FF2B5EF4-FFF2-40B4-BE49-F238E27FC236}">
                <a16:creationId xmlns:a16="http://schemas.microsoft.com/office/drawing/2014/main" id="{8AB044D5-A18C-CF35-E782-924F7EBA6178}"/>
              </a:ext>
            </a:extLst>
          </p:cNvPr>
          <p:cNvCxnSpPr>
            <a:cxnSpLocks/>
            <a:stCxn id="2980" idx="2"/>
            <a:endCxn id="2991" idx="0"/>
          </p:cNvCxnSpPr>
          <p:nvPr/>
        </p:nvCxnSpPr>
        <p:spPr>
          <a:xfrm flipH="1">
            <a:off x="6919379" y="5304395"/>
            <a:ext cx="287" cy="449144"/>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102" name="Straight Connector 2101">
            <a:extLst>
              <a:ext uri="{FF2B5EF4-FFF2-40B4-BE49-F238E27FC236}">
                <a16:creationId xmlns:a16="http://schemas.microsoft.com/office/drawing/2014/main" id="{BBCF20DB-7BAE-CFC7-6147-7DF3F2EC44F0}"/>
              </a:ext>
            </a:extLst>
          </p:cNvPr>
          <p:cNvCxnSpPr>
            <a:cxnSpLocks/>
            <a:stCxn id="2090" idx="1"/>
            <a:endCxn id="2991" idx="3"/>
          </p:cNvCxnSpPr>
          <p:nvPr/>
        </p:nvCxnSpPr>
        <p:spPr>
          <a:xfrm flipH="1">
            <a:off x="7526530" y="6028685"/>
            <a:ext cx="326968" cy="1461"/>
          </a:xfrm>
          <a:prstGeom prst="line">
            <a:avLst/>
          </a:prstGeom>
        </p:spPr>
        <p:style>
          <a:lnRef idx="1">
            <a:schemeClr val="dk1"/>
          </a:lnRef>
          <a:fillRef idx="0">
            <a:schemeClr val="dk1"/>
          </a:fillRef>
          <a:effectRef idx="0">
            <a:schemeClr val="dk1"/>
          </a:effectRef>
          <a:fontRef idx="minor">
            <a:schemeClr val="tx1"/>
          </a:fontRef>
        </p:style>
      </p:cxnSp>
      <p:cxnSp>
        <p:nvCxnSpPr>
          <p:cNvPr id="2106" name="Connector: Elbow 2105">
            <a:extLst>
              <a:ext uri="{FF2B5EF4-FFF2-40B4-BE49-F238E27FC236}">
                <a16:creationId xmlns:a16="http://schemas.microsoft.com/office/drawing/2014/main" id="{7F17AE08-546F-DB73-D08E-9DCFCBE0B910}"/>
              </a:ext>
            </a:extLst>
          </p:cNvPr>
          <p:cNvCxnSpPr>
            <a:stCxn id="2991" idx="3"/>
            <a:endCxn id="2073" idx="1"/>
          </p:cNvCxnSpPr>
          <p:nvPr/>
        </p:nvCxnSpPr>
        <p:spPr>
          <a:xfrm flipV="1">
            <a:off x="7526530" y="5332092"/>
            <a:ext cx="305308" cy="698054"/>
          </a:xfrm>
          <a:prstGeom prst="bentConnector3">
            <a:avLst/>
          </a:prstGeom>
        </p:spPr>
        <p:style>
          <a:lnRef idx="1">
            <a:schemeClr val="dk1"/>
          </a:lnRef>
          <a:fillRef idx="0">
            <a:schemeClr val="dk1"/>
          </a:fillRef>
          <a:effectRef idx="0">
            <a:schemeClr val="dk1"/>
          </a:effectRef>
          <a:fontRef idx="minor">
            <a:schemeClr val="tx1"/>
          </a:fontRef>
        </p:style>
      </p:cxnSp>
      <p:cxnSp>
        <p:nvCxnSpPr>
          <p:cNvPr id="2107" name="Connector: Elbow 2106">
            <a:extLst>
              <a:ext uri="{FF2B5EF4-FFF2-40B4-BE49-F238E27FC236}">
                <a16:creationId xmlns:a16="http://schemas.microsoft.com/office/drawing/2014/main" id="{3B6E2734-6804-FD3D-6404-2894E09E5A5E}"/>
              </a:ext>
            </a:extLst>
          </p:cNvPr>
          <p:cNvCxnSpPr>
            <a:cxnSpLocks/>
            <a:stCxn id="2971" idx="1"/>
            <a:endCxn id="3001" idx="2"/>
          </p:cNvCxnSpPr>
          <p:nvPr/>
        </p:nvCxnSpPr>
        <p:spPr>
          <a:xfrm rot="10800000">
            <a:off x="5681980" y="5366476"/>
            <a:ext cx="874392" cy="1233847"/>
          </a:xfrm>
          <a:prstGeom prst="bentConnector2">
            <a:avLst/>
          </a:prstGeom>
          <a:ln>
            <a:prstDash val="dash"/>
          </a:ln>
        </p:spPr>
        <p:style>
          <a:lnRef idx="1">
            <a:schemeClr val="dk1"/>
          </a:lnRef>
          <a:fillRef idx="0">
            <a:schemeClr val="dk1"/>
          </a:fillRef>
          <a:effectRef idx="0">
            <a:schemeClr val="dk1"/>
          </a:effectRef>
          <a:fontRef idx="minor">
            <a:schemeClr val="tx1"/>
          </a:fontRef>
        </p:style>
      </p:cxnSp>
      <p:cxnSp>
        <p:nvCxnSpPr>
          <p:cNvPr id="2110" name="Straight Connector 2109">
            <a:extLst>
              <a:ext uri="{FF2B5EF4-FFF2-40B4-BE49-F238E27FC236}">
                <a16:creationId xmlns:a16="http://schemas.microsoft.com/office/drawing/2014/main" id="{5A285965-35A0-5522-4EC7-5F03D51B66F7}"/>
              </a:ext>
            </a:extLst>
          </p:cNvPr>
          <p:cNvCxnSpPr>
            <a:cxnSpLocks/>
            <a:stCxn id="3001" idx="3"/>
            <a:endCxn id="2980" idx="1"/>
          </p:cNvCxnSpPr>
          <p:nvPr/>
        </p:nvCxnSpPr>
        <p:spPr>
          <a:xfrm flipV="1">
            <a:off x="6240817" y="5140450"/>
            <a:ext cx="255532" cy="1388"/>
          </a:xfrm>
          <a:prstGeom prst="line">
            <a:avLst/>
          </a:prstGeom>
        </p:spPr>
        <p:style>
          <a:lnRef idx="1">
            <a:schemeClr val="dk1"/>
          </a:lnRef>
          <a:fillRef idx="0">
            <a:schemeClr val="dk1"/>
          </a:fillRef>
          <a:effectRef idx="0">
            <a:schemeClr val="dk1"/>
          </a:effectRef>
          <a:fontRef idx="minor">
            <a:schemeClr val="tx1"/>
          </a:fontRef>
        </p:style>
      </p:cxnSp>
      <p:cxnSp>
        <p:nvCxnSpPr>
          <p:cNvPr id="2113" name="Connector: Elbow 2112">
            <a:extLst>
              <a:ext uri="{FF2B5EF4-FFF2-40B4-BE49-F238E27FC236}">
                <a16:creationId xmlns:a16="http://schemas.microsoft.com/office/drawing/2014/main" id="{37B27712-8A84-8879-8D2D-E32D5A576162}"/>
              </a:ext>
            </a:extLst>
          </p:cNvPr>
          <p:cNvCxnSpPr>
            <a:cxnSpLocks/>
            <a:stCxn id="2971" idx="3"/>
            <a:endCxn id="2090" idx="3"/>
          </p:cNvCxnSpPr>
          <p:nvPr/>
        </p:nvCxnSpPr>
        <p:spPr>
          <a:xfrm flipV="1">
            <a:off x="7403006" y="6028685"/>
            <a:ext cx="1605766" cy="571637"/>
          </a:xfrm>
          <a:prstGeom prst="bentConnector3">
            <a:avLst>
              <a:gd name="adj1" fmla="val 114236"/>
            </a:avLst>
          </a:prstGeom>
          <a:ln>
            <a:prstDash val="dash"/>
          </a:ln>
        </p:spPr>
        <p:style>
          <a:lnRef idx="1">
            <a:schemeClr val="dk1"/>
          </a:lnRef>
          <a:fillRef idx="0">
            <a:schemeClr val="dk1"/>
          </a:fillRef>
          <a:effectRef idx="0">
            <a:schemeClr val="dk1"/>
          </a:effectRef>
          <a:fontRef idx="minor">
            <a:schemeClr val="tx1"/>
          </a:fontRef>
        </p:style>
      </p:cxnSp>
      <p:cxnSp>
        <p:nvCxnSpPr>
          <p:cNvPr id="2120" name="Connector: Elbow 2119">
            <a:extLst>
              <a:ext uri="{FF2B5EF4-FFF2-40B4-BE49-F238E27FC236}">
                <a16:creationId xmlns:a16="http://schemas.microsoft.com/office/drawing/2014/main" id="{94D49750-1F9E-CE5D-6E81-403A6E43F6C7}"/>
              </a:ext>
            </a:extLst>
          </p:cNvPr>
          <p:cNvCxnSpPr>
            <a:cxnSpLocks/>
            <a:stCxn id="2971" idx="3"/>
            <a:endCxn id="2073" idx="3"/>
          </p:cNvCxnSpPr>
          <p:nvPr/>
        </p:nvCxnSpPr>
        <p:spPr>
          <a:xfrm flipV="1">
            <a:off x="7403006" y="5332092"/>
            <a:ext cx="1607080" cy="1268230"/>
          </a:xfrm>
          <a:prstGeom prst="bentConnector3">
            <a:avLst>
              <a:gd name="adj1" fmla="val 114225"/>
            </a:avLst>
          </a:prstGeom>
          <a:ln>
            <a:prstDash val="dash"/>
          </a:ln>
        </p:spPr>
        <p:style>
          <a:lnRef idx="1">
            <a:schemeClr val="dk1"/>
          </a:lnRef>
          <a:fillRef idx="0">
            <a:schemeClr val="dk1"/>
          </a:fillRef>
          <a:effectRef idx="0">
            <a:schemeClr val="dk1"/>
          </a:effectRef>
          <a:fontRef idx="minor">
            <a:schemeClr val="tx1"/>
          </a:fontRef>
        </p:style>
      </p:cxnSp>
      <p:sp>
        <p:nvSpPr>
          <p:cNvPr id="2124" name="Diamond 2123">
            <a:extLst>
              <a:ext uri="{FF2B5EF4-FFF2-40B4-BE49-F238E27FC236}">
                <a16:creationId xmlns:a16="http://schemas.microsoft.com/office/drawing/2014/main" id="{9A8566C1-8C18-97E7-4422-3633E2A4284C}"/>
              </a:ext>
            </a:extLst>
          </p:cNvPr>
          <p:cNvSpPr/>
          <p:nvPr/>
        </p:nvSpPr>
        <p:spPr>
          <a:xfrm>
            <a:off x="7533682" y="6008284"/>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6" name="Diamond 2125">
            <a:extLst>
              <a:ext uri="{FF2B5EF4-FFF2-40B4-BE49-F238E27FC236}">
                <a16:creationId xmlns:a16="http://schemas.microsoft.com/office/drawing/2014/main" id="{3F0D29FB-D40A-A2D9-60FC-5C4CD492C9A8}"/>
              </a:ext>
            </a:extLst>
          </p:cNvPr>
          <p:cNvSpPr/>
          <p:nvPr/>
        </p:nvSpPr>
        <p:spPr>
          <a:xfrm>
            <a:off x="6245581" y="5118907"/>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7" name="Isosceles Triangle 2126">
            <a:extLst>
              <a:ext uri="{FF2B5EF4-FFF2-40B4-BE49-F238E27FC236}">
                <a16:creationId xmlns:a16="http://schemas.microsoft.com/office/drawing/2014/main" id="{BDD0DC39-8C5C-C7DA-4354-A834AA2B69CF}"/>
              </a:ext>
            </a:extLst>
          </p:cNvPr>
          <p:cNvSpPr/>
          <p:nvPr/>
        </p:nvSpPr>
        <p:spPr>
          <a:xfrm>
            <a:off x="6898468" y="5313632"/>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8" name="Isosceles Triangle 2127">
            <a:extLst>
              <a:ext uri="{FF2B5EF4-FFF2-40B4-BE49-F238E27FC236}">
                <a16:creationId xmlns:a16="http://schemas.microsoft.com/office/drawing/2014/main" id="{FDE39B84-C13D-846E-9AD8-2A5C7F04E13A}"/>
              </a:ext>
            </a:extLst>
          </p:cNvPr>
          <p:cNvSpPr/>
          <p:nvPr/>
        </p:nvSpPr>
        <p:spPr>
          <a:xfrm>
            <a:off x="5656995" y="5378942"/>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9" name="Isosceles Triangle 2128">
            <a:extLst>
              <a:ext uri="{FF2B5EF4-FFF2-40B4-BE49-F238E27FC236}">
                <a16:creationId xmlns:a16="http://schemas.microsoft.com/office/drawing/2014/main" id="{09A82C11-DD1F-1B2B-A5C2-652E9F4E0D8D}"/>
              </a:ext>
            </a:extLst>
          </p:cNvPr>
          <p:cNvSpPr/>
          <p:nvPr/>
        </p:nvSpPr>
        <p:spPr>
          <a:xfrm rot="16200000">
            <a:off x="9021701" y="5308701"/>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0" name="Isosceles Triangle 2129">
            <a:extLst>
              <a:ext uri="{FF2B5EF4-FFF2-40B4-BE49-F238E27FC236}">
                <a16:creationId xmlns:a16="http://schemas.microsoft.com/office/drawing/2014/main" id="{F19A9432-F43F-7085-A5E0-0D90EC62603C}"/>
              </a:ext>
            </a:extLst>
          </p:cNvPr>
          <p:cNvSpPr/>
          <p:nvPr/>
        </p:nvSpPr>
        <p:spPr>
          <a:xfrm rot="16200000">
            <a:off x="9016938" y="6006697"/>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D628403F-8882-3E68-FE4A-1E47C9BBD7F2}"/>
              </a:ext>
            </a:extLst>
          </p:cNvPr>
          <p:cNvGrpSpPr/>
          <p:nvPr/>
        </p:nvGrpSpPr>
        <p:grpSpPr>
          <a:xfrm>
            <a:off x="4457330" y="2877782"/>
            <a:ext cx="1076197" cy="474132"/>
            <a:chOff x="626757" y="3130042"/>
            <a:chExt cx="1076197" cy="474132"/>
          </a:xfrm>
        </p:grpSpPr>
        <p:sp>
          <p:nvSpPr>
            <p:cNvPr id="63" name="TextBox 62">
              <a:extLst>
                <a:ext uri="{FF2B5EF4-FFF2-40B4-BE49-F238E27FC236}">
                  <a16:creationId xmlns:a16="http://schemas.microsoft.com/office/drawing/2014/main" id="{13AE7554-EAFA-830A-8112-8CA026BD12F8}"/>
                </a:ext>
              </a:extLst>
            </p:cNvPr>
            <p:cNvSpPr txBox="1"/>
            <p:nvPr/>
          </p:nvSpPr>
          <p:spPr>
            <a:xfrm>
              <a:off x="655259" y="3151109"/>
              <a:ext cx="1001877" cy="107722"/>
            </a:xfrm>
            <a:prstGeom prst="rect">
              <a:avLst/>
            </a:prstGeom>
            <a:noFill/>
          </p:spPr>
          <p:txBody>
            <a:bodyPr wrap="none" lIns="0" tIns="0" rIns="0" bIns="0" rtlCol="0">
              <a:spAutoFit/>
            </a:bodyPr>
            <a:lstStyle>
              <a:defPPr>
                <a:defRPr lang="en-US"/>
              </a:defPPr>
              <a:lvl1pPr algn="ctr">
                <a:defRPr sz="700" b="1"/>
              </a:lvl1pPr>
            </a:lstStyle>
            <a:p>
              <a:r>
                <a:rPr lang="en-US" dirty="0"/>
                <a:t>&lt;interface&gt;</a:t>
              </a:r>
              <a:r>
                <a:rPr lang="en-US" dirty="0" err="1"/>
                <a:t>StudentIterator</a:t>
              </a:r>
              <a:endParaRPr lang="en-US" dirty="0"/>
            </a:p>
          </p:txBody>
        </p:sp>
        <p:sp>
          <p:nvSpPr>
            <p:cNvPr id="38" name="Rectangle: Rounded Corners 37">
              <a:extLst>
                <a:ext uri="{FF2B5EF4-FFF2-40B4-BE49-F238E27FC236}">
                  <a16:creationId xmlns:a16="http://schemas.microsoft.com/office/drawing/2014/main" id="{B82C2FA3-5742-E93A-27E8-2FD734ECCCD1}"/>
                </a:ext>
              </a:extLst>
            </p:cNvPr>
            <p:cNvSpPr/>
            <p:nvPr/>
          </p:nvSpPr>
          <p:spPr>
            <a:xfrm>
              <a:off x="626759" y="3130042"/>
              <a:ext cx="1073476" cy="474132"/>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E4DE800A-DD78-82F1-D858-E3CBB33BBCC4}"/>
                </a:ext>
              </a:extLst>
            </p:cNvPr>
            <p:cNvCxnSpPr>
              <a:cxnSpLocks/>
            </p:cNvCxnSpPr>
            <p:nvPr/>
          </p:nvCxnSpPr>
          <p:spPr>
            <a:xfrm>
              <a:off x="626759" y="3262639"/>
              <a:ext cx="1076195" cy="0"/>
            </a:xfrm>
            <a:prstGeom prst="line">
              <a:avLst/>
            </a:prstGeom>
          </p:spPr>
          <p:style>
            <a:lnRef idx="1">
              <a:schemeClr val="dk1"/>
            </a:lnRef>
            <a:fillRef idx="0">
              <a:schemeClr val="dk1"/>
            </a:fillRef>
            <a:effectRef idx="0">
              <a:schemeClr val="dk1"/>
            </a:effectRef>
            <a:fontRef idx="minor">
              <a:schemeClr val="tx1"/>
            </a:fontRef>
          </p:style>
        </p:cxnSp>
        <p:sp>
          <p:nvSpPr>
            <p:cNvPr id="2689" name="TextBox 2688">
              <a:extLst>
                <a:ext uri="{FF2B5EF4-FFF2-40B4-BE49-F238E27FC236}">
                  <a16:creationId xmlns:a16="http://schemas.microsoft.com/office/drawing/2014/main" id="{28E9D84D-F259-97A5-21B0-C7A9D5BAA1B7}"/>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690" name="Straight Connector 2689">
              <a:extLst>
                <a:ext uri="{FF2B5EF4-FFF2-40B4-BE49-F238E27FC236}">
                  <a16:creationId xmlns:a16="http://schemas.microsoft.com/office/drawing/2014/main" id="{D94EEE06-5378-5E6A-5E45-E35B184BF653}"/>
                </a:ext>
              </a:extLst>
            </p:cNvPr>
            <p:cNvCxnSpPr>
              <a:cxnSpLocks/>
            </p:cNvCxnSpPr>
            <p:nvPr/>
          </p:nvCxnSpPr>
          <p:spPr>
            <a:xfrm>
              <a:off x="626757" y="3374558"/>
              <a:ext cx="1076197" cy="0"/>
            </a:xfrm>
            <a:prstGeom prst="line">
              <a:avLst/>
            </a:prstGeom>
          </p:spPr>
          <p:style>
            <a:lnRef idx="1">
              <a:schemeClr val="dk1"/>
            </a:lnRef>
            <a:fillRef idx="0">
              <a:schemeClr val="dk1"/>
            </a:fillRef>
            <a:effectRef idx="0">
              <a:schemeClr val="dk1"/>
            </a:effectRef>
            <a:fontRef idx="minor">
              <a:schemeClr val="tx1"/>
            </a:fontRef>
          </p:style>
        </p:cxnSp>
        <p:sp>
          <p:nvSpPr>
            <p:cNvPr id="2691" name="TextBox 2690">
              <a:extLst>
                <a:ext uri="{FF2B5EF4-FFF2-40B4-BE49-F238E27FC236}">
                  <a16:creationId xmlns:a16="http://schemas.microsoft.com/office/drawing/2014/main" id="{3502D9F2-51EB-02D7-A78D-778AE07DF807}"/>
                </a:ext>
              </a:extLst>
            </p:cNvPr>
            <p:cNvSpPr txBox="1"/>
            <p:nvPr/>
          </p:nvSpPr>
          <p:spPr>
            <a:xfrm>
              <a:off x="653197" y="3381510"/>
              <a:ext cx="1021182"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hasNext</a:t>
              </a:r>
              <a:r>
                <a:rPr lang="en-US" dirty="0"/>
                <a:t>(): </a:t>
              </a:r>
              <a:r>
                <a:rPr lang="en-US" dirty="0" err="1"/>
                <a:t>boolean</a:t>
              </a:r>
              <a:endParaRPr lang="en-US" dirty="0"/>
            </a:p>
            <a:p>
              <a:r>
                <a:rPr lang="en-US" dirty="0"/>
                <a:t>+ next(): Student</a:t>
              </a:r>
            </a:p>
          </p:txBody>
        </p:sp>
      </p:grpSp>
      <p:grpSp>
        <p:nvGrpSpPr>
          <p:cNvPr id="2694" name="Group 2693">
            <a:extLst>
              <a:ext uri="{FF2B5EF4-FFF2-40B4-BE49-F238E27FC236}">
                <a16:creationId xmlns:a16="http://schemas.microsoft.com/office/drawing/2014/main" id="{B1E53276-79DF-B452-5658-95EC674DCE41}"/>
              </a:ext>
            </a:extLst>
          </p:cNvPr>
          <p:cNvGrpSpPr/>
          <p:nvPr/>
        </p:nvGrpSpPr>
        <p:grpSpPr>
          <a:xfrm>
            <a:off x="4392154" y="3542312"/>
            <a:ext cx="1207910" cy="644711"/>
            <a:chOff x="626757" y="3130042"/>
            <a:chExt cx="1207910" cy="644711"/>
          </a:xfrm>
        </p:grpSpPr>
        <p:sp>
          <p:nvSpPr>
            <p:cNvPr id="2695" name="TextBox 2694">
              <a:extLst>
                <a:ext uri="{FF2B5EF4-FFF2-40B4-BE49-F238E27FC236}">
                  <a16:creationId xmlns:a16="http://schemas.microsoft.com/office/drawing/2014/main" id="{5EC48FA9-D102-4608-E6DB-0B6E73C8562E}"/>
                </a:ext>
              </a:extLst>
            </p:cNvPr>
            <p:cNvSpPr txBox="1"/>
            <p:nvPr/>
          </p:nvSpPr>
          <p:spPr>
            <a:xfrm>
              <a:off x="648046" y="3151109"/>
              <a:ext cx="1161801" cy="107722"/>
            </a:xfrm>
            <a:prstGeom prst="rect">
              <a:avLst/>
            </a:prstGeom>
            <a:noFill/>
          </p:spPr>
          <p:txBody>
            <a:bodyPr wrap="square" lIns="0" tIns="0" rIns="0" bIns="0" rtlCol="0">
              <a:spAutoFit/>
            </a:bodyPr>
            <a:lstStyle>
              <a:defPPr>
                <a:defRPr lang="en-US"/>
              </a:defPPr>
              <a:lvl1pPr algn="ctr">
                <a:defRPr sz="700" b="1"/>
              </a:lvl1pPr>
            </a:lstStyle>
            <a:p>
              <a:r>
                <a:rPr lang="en-US" dirty="0" err="1"/>
                <a:t>StudentIteratorImpl</a:t>
              </a:r>
              <a:endParaRPr lang="en-US" dirty="0"/>
            </a:p>
          </p:txBody>
        </p:sp>
        <p:sp>
          <p:nvSpPr>
            <p:cNvPr id="2696" name="Rectangle: Rounded Corners 2695">
              <a:extLst>
                <a:ext uri="{FF2B5EF4-FFF2-40B4-BE49-F238E27FC236}">
                  <a16:creationId xmlns:a16="http://schemas.microsoft.com/office/drawing/2014/main" id="{51D64B9F-26F7-6CA2-62F6-A98F8D2950D0}"/>
                </a:ext>
              </a:extLst>
            </p:cNvPr>
            <p:cNvSpPr/>
            <p:nvPr/>
          </p:nvSpPr>
          <p:spPr>
            <a:xfrm>
              <a:off x="626758" y="3130042"/>
              <a:ext cx="1200981" cy="64471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97" name="Straight Connector 2696">
              <a:extLst>
                <a:ext uri="{FF2B5EF4-FFF2-40B4-BE49-F238E27FC236}">
                  <a16:creationId xmlns:a16="http://schemas.microsoft.com/office/drawing/2014/main" id="{CD95BC34-1955-B8C4-1DF5-691A6C2A812A}"/>
                </a:ext>
              </a:extLst>
            </p:cNvPr>
            <p:cNvCxnSpPr>
              <a:cxnSpLocks/>
            </p:cNvCxnSpPr>
            <p:nvPr/>
          </p:nvCxnSpPr>
          <p:spPr>
            <a:xfrm>
              <a:off x="626759" y="3262639"/>
              <a:ext cx="1203146" cy="0"/>
            </a:xfrm>
            <a:prstGeom prst="line">
              <a:avLst/>
            </a:prstGeom>
          </p:spPr>
          <p:style>
            <a:lnRef idx="1">
              <a:schemeClr val="dk1"/>
            </a:lnRef>
            <a:fillRef idx="0">
              <a:schemeClr val="dk1"/>
            </a:fillRef>
            <a:effectRef idx="0">
              <a:schemeClr val="dk1"/>
            </a:effectRef>
            <a:fontRef idx="minor">
              <a:schemeClr val="tx1"/>
            </a:fontRef>
          </p:style>
        </p:cxnSp>
        <p:sp>
          <p:nvSpPr>
            <p:cNvPr id="2698" name="TextBox 2697">
              <a:extLst>
                <a:ext uri="{FF2B5EF4-FFF2-40B4-BE49-F238E27FC236}">
                  <a16:creationId xmlns:a16="http://schemas.microsoft.com/office/drawing/2014/main" id="{C700C963-AEB5-3E47-FCAE-492266CDBFA0}"/>
                </a:ext>
              </a:extLst>
            </p:cNvPr>
            <p:cNvSpPr txBox="1"/>
            <p:nvPr/>
          </p:nvSpPr>
          <p:spPr>
            <a:xfrm>
              <a:off x="657950" y="3276104"/>
              <a:ext cx="666741" cy="184666"/>
            </a:xfrm>
            <a:prstGeom prst="rect">
              <a:avLst/>
            </a:prstGeom>
            <a:noFill/>
          </p:spPr>
          <p:txBody>
            <a:bodyPr wrap="square" lIns="0" tIns="0" rIns="0" bIns="0" rtlCol="0">
              <a:spAutoFit/>
            </a:bodyPr>
            <a:lstStyle>
              <a:defPPr>
                <a:defRPr lang="en-US"/>
              </a:defPPr>
              <a:lvl1pPr>
                <a:defRPr sz="600"/>
              </a:lvl1pPr>
            </a:lstStyle>
            <a:p>
              <a:r>
                <a:rPr lang="en-US" dirty="0"/>
                <a:t>- list: L</a:t>
              </a:r>
              <a:r>
                <a:rPr lang="en-US" altLang="zh-CN" dirty="0"/>
                <a:t>ist&lt;Student&gt;</a:t>
              </a:r>
            </a:p>
            <a:p>
              <a:r>
                <a:rPr lang="en-US" dirty="0"/>
                <a:t>- position: int </a:t>
              </a:r>
            </a:p>
          </p:txBody>
        </p:sp>
        <p:cxnSp>
          <p:nvCxnSpPr>
            <p:cNvPr id="2699" name="Straight Connector 2698">
              <a:extLst>
                <a:ext uri="{FF2B5EF4-FFF2-40B4-BE49-F238E27FC236}">
                  <a16:creationId xmlns:a16="http://schemas.microsoft.com/office/drawing/2014/main" id="{654E9B6F-9EBD-53C3-11A4-FF9F60F63996}"/>
                </a:ext>
              </a:extLst>
            </p:cNvPr>
            <p:cNvCxnSpPr>
              <a:cxnSpLocks/>
            </p:cNvCxnSpPr>
            <p:nvPr/>
          </p:nvCxnSpPr>
          <p:spPr>
            <a:xfrm>
              <a:off x="626757" y="3474572"/>
              <a:ext cx="1207910" cy="0"/>
            </a:xfrm>
            <a:prstGeom prst="line">
              <a:avLst/>
            </a:prstGeom>
          </p:spPr>
          <p:style>
            <a:lnRef idx="1">
              <a:schemeClr val="dk1"/>
            </a:lnRef>
            <a:fillRef idx="0">
              <a:schemeClr val="dk1"/>
            </a:fillRef>
            <a:effectRef idx="0">
              <a:schemeClr val="dk1"/>
            </a:effectRef>
            <a:fontRef idx="minor">
              <a:schemeClr val="tx1"/>
            </a:fontRef>
          </p:style>
        </p:cxnSp>
        <p:sp>
          <p:nvSpPr>
            <p:cNvPr id="2700" name="TextBox 2699">
              <a:extLst>
                <a:ext uri="{FF2B5EF4-FFF2-40B4-BE49-F238E27FC236}">
                  <a16:creationId xmlns:a16="http://schemas.microsoft.com/office/drawing/2014/main" id="{E5B776CA-CDA7-98C8-4326-3C9C169BF204}"/>
                </a:ext>
              </a:extLst>
            </p:cNvPr>
            <p:cNvSpPr txBox="1"/>
            <p:nvPr/>
          </p:nvSpPr>
          <p:spPr>
            <a:xfrm>
              <a:off x="653196" y="3495805"/>
              <a:ext cx="1158883"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StudentIteratorImpl</a:t>
              </a:r>
              <a:r>
                <a:rPr lang="en-US" dirty="0"/>
                <a:t>(List&lt;Student&gt;)</a:t>
              </a:r>
            </a:p>
            <a:p>
              <a:r>
                <a:rPr lang="en-US" dirty="0"/>
                <a:t>+ </a:t>
              </a:r>
              <a:r>
                <a:rPr lang="en-US" dirty="0" err="1"/>
                <a:t>hasNext</a:t>
              </a:r>
              <a:r>
                <a:rPr lang="en-US" dirty="0"/>
                <a:t>(): </a:t>
              </a:r>
              <a:r>
                <a:rPr lang="en-US" dirty="0" err="1"/>
                <a:t>boolean</a:t>
              </a:r>
              <a:endParaRPr lang="en-US" dirty="0"/>
            </a:p>
            <a:p>
              <a:r>
                <a:rPr lang="en-US" dirty="0"/>
                <a:t>+ next(): Student</a:t>
              </a:r>
            </a:p>
          </p:txBody>
        </p:sp>
      </p:grpSp>
      <p:grpSp>
        <p:nvGrpSpPr>
          <p:cNvPr id="2703" name="Group 2702">
            <a:extLst>
              <a:ext uri="{FF2B5EF4-FFF2-40B4-BE49-F238E27FC236}">
                <a16:creationId xmlns:a16="http://schemas.microsoft.com/office/drawing/2014/main" id="{90386DD1-E73F-B5DC-E32E-8638D6593678}"/>
              </a:ext>
            </a:extLst>
          </p:cNvPr>
          <p:cNvGrpSpPr/>
          <p:nvPr/>
        </p:nvGrpSpPr>
        <p:grpSpPr>
          <a:xfrm>
            <a:off x="6029477" y="3864993"/>
            <a:ext cx="894536" cy="853316"/>
            <a:chOff x="626757" y="3130042"/>
            <a:chExt cx="894536" cy="853316"/>
          </a:xfrm>
        </p:grpSpPr>
        <p:sp>
          <p:nvSpPr>
            <p:cNvPr id="2704" name="TextBox 2703">
              <a:extLst>
                <a:ext uri="{FF2B5EF4-FFF2-40B4-BE49-F238E27FC236}">
                  <a16:creationId xmlns:a16="http://schemas.microsoft.com/office/drawing/2014/main" id="{3DE9592B-5A4D-8249-C0F2-FAEE89CA9D76}"/>
                </a:ext>
              </a:extLst>
            </p:cNvPr>
            <p:cNvSpPr txBox="1"/>
            <p:nvPr/>
          </p:nvSpPr>
          <p:spPr>
            <a:xfrm>
              <a:off x="657694" y="3151109"/>
              <a:ext cx="815971" cy="107722"/>
            </a:xfrm>
            <a:prstGeom prst="rect">
              <a:avLst/>
            </a:prstGeom>
            <a:noFill/>
          </p:spPr>
          <p:txBody>
            <a:bodyPr wrap="square" lIns="0" tIns="0" rIns="0" bIns="0" rtlCol="0">
              <a:spAutoFit/>
            </a:bodyPr>
            <a:lstStyle>
              <a:defPPr>
                <a:defRPr lang="en-US"/>
              </a:defPPr>
              <a:lvl1pPr algn="ctr">
                <a:defRPr sz="700" b="1"/>
              </a:lvl1pPr>
            </a:lstStyle>
            <a:p>
              <a:r>
                <a:rPr lang="en-US" dirty="0"/>
                <a:t>Student</a:t>
              </a:r>
            </a:p>
          </p:txBody>
        </p:sp>
        <p:sp>
          <p:nvSpPr>
            <p:cNvPr id="2705" name="Rectangle: Rounded Corners 2704">
              <a:extLst>
                <a:ext uri="{FF2B5EF4-FFF2-40B4-BE49-F238E27FC236}">
                  <a16:creationId xmlns:a16="http://schemas.microsoft.com/office/drawing/2014/main" id="{9FCE48FF-D04D-4921-56D2-F69659248710}"/>
                </a:ext>
              </a:extLst>
            </p:cNvPr>
            <p:cNvSpPr/>
            <p:nvPr/>
          </p:nvSpPr>
          <p:spPr>
            <a:xfrm>
              <a:off x="626759" y="3130042"/>
              <a:ext cx="886820" cy="85331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6" name="Straight Connector 2705">
              <a:extLst>
                <a:ext uri="{FF2B5EF4-FFF2-40B4-BE49-F238E27FC236}">
                  <a16:creationId xmlns:a16="http://schemas.microsoft.com/office/drawing/2014/main" id="{0424A7E6-95FA-9E58-4A7F-8D27872E1C0D}"/>
                </a:ext>
              </a:extLst>
            </p:cNvPr>
            <p:cNvCxnSpPr>
              <a:cxnSpLocks/>
            </p:cNvCxnSpPr>
            <p:nvPr/>
          </p:nvCxnSpPr>
          <p:spPr>
            <a:xfrm>
              <a:off x="626759" y="3262639"/>
              <a:ext cx="894533" cy="0"/>
            </a:xfrm>
            <a:prstGeom prst="line">
              <a:avLst/>
            </a:prstGeom>
          </p:spPr>
          <p:style>
            <a:lnRef idx="1">
              <a:schemeClr val="dk1"/>
            </a:lnRef>
            <a:fillRef idx="0">
              <a:schemeClr val="dk1"/>
            </a:fillRef>
            <a:effectRef idx="0">
              <a:schemeClr val="dk1"/>
            </a:effectRef>
            <a:fontRef idx="minor">
              <a:schemeClr val="tx1"/>
            </a:fontRef>
          </p:style>
        </p:cxnSp>
        <p:sp>
          <p:nvSpPr>
            <p:cNvPr id="2707" name="TextBox 2706">
              <a:extLst>
                <a:ext uri="{FF2B5EF4-FFF2-40B4-BE49-F238E27FC236}">
                  <a16:creationId xmlns:a16="http://schemas.microsoft.com/office/drawing/2014/main" id="{724947EE-3F00-A24A-BBA2-9BCD7EF1E373}"/>
                </a:ext>
              </a:extLst>
            </p:cNvPr>
            <p:cNvSpPr txBox="1"/>
            <p:nvPr/>
          </p:nvSpPr>
          <p:spPr>
            <a:xfrm>
              <a:off x="657950" y="3276104"/>
              <a:ext cx="762391" cy="184666"/>
            </a:xfrm>
            <a:prstGeom prst="rect">
              <a:avLst/>
            </a:prstGeom>
            <a:noFill/>
          </p:spPr>
          <p:txBody>
            <a:bodyPr wrap="square" lIns="0" tIns="0" rIns="0" bIns="0" rtlCol="0">
              <a:spAutoFit/>
            </a:bodyPr>
            <a:lstStyle>
              <a:defPPr>
                <a:defRPr lang="en-US"/>
              </a:defPPr>
              <a:lvl1pPr>
                <a:defRPr sz="600"/>
              </a:lvl1pPr>
            </a:lstStyle>
            <a:p>
              <a:r>
                <a:rPr lang="en-US" dirty="0"/>
                <a:t>- name: String</a:t>
              </a:r>
              <a:endParaRPr lang="en-US" altLang="zh-CN" dirty="0"/>
            </a:p>
            <a:p>
              <a:r>
                <a:rPr lang="en-US" dirty="0"/>
                <a:t>- number: String </a:t>
              </a:r>
            </a:p>
          </p:txBody>
        </p:sp>
        <p:cxnSp>
          <p:nvCxnSpPr>
            <p:cNvPr id="2708" name="Straight Connector 2707">
              <a:extLst>
                <a:ext uri="{FF2B5EF4-FFF2-40B4-BE49-F238E27FC236}">
                  <a16:creationId xmlns:a16="http://schemas.microsoft.com/office/drawing/2014/main" id="{2AC92C9B-A3D4-1B28-1ADB-0B75FF28677F}"/>
                </a:ext>
              </a:extLst>
            </p:cNvPr>
            <p:cNvCxnSpPr>
              <a:cxnSpLocks/>
            </p:cNvCxnSpPr>
            <p:nvPr/>
          </p:nvCxnSpPr>
          <p:spPr>
            <a:xfrm>
              <a:off x="626757" y="3474572"/>
              <a:ext cx="891360" cy="0"/>
            </a:xfrm>
            <a:prstGeom prst="line">
              <a:avLst/>
            </a:prstGeom>
          </p:spPr>
          <p:style>
            <a:lnRef idx="1">
              <a:schemeClr val="dk1"/>
            </a:lnRef>
            <a:fillRef idx="0">
              <a:schemeClr val="dk1"/>
            </a:fillRef>
            <a:effectRef idx="0">
              <a:schemeClr val="dk1"/>
            </a:effectRef>
            <a:fontRef idx="minor">
              <a:schemeClr val="tx1"/>
            </a:fontRef>
          </p:style>
        </p:cxnSp>
        <p:sp>
          <p:nvSpPr>
            <p:cNvPr id="2709" name="TextBox 2708">
              <a:extLst>
                <a:ext uri="{FF2B5EF4-FFF2-40B4-BE49-F238E27FC236}">
                  <a16:creationId xmlns:a16="http://schemas.microsoft.com/office/drawing/2014/main" id="{613B6535-FD92-F362-38C6-CF28C9DB5D1F}"/>
                </a:ext>
              </a:extLst>
            </p:cNvPr>
            <p:cNvSpPr txBox="1"/>
            <p:nvPr/>
          </p:nvSpPr>
          <p:spPr>
            <a:xfrm>
              <a:off x="653197" y="3495805"/>
              <a:ext cx="868096" cy="461665"/>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getName</a:t>
              </a:r>
              <a:r>
                <a:rPr lang="en-US" dirty="0"/>
                <a:t>(): String</a:t>
              </a:r>
            </a:p>
            <a:p>
              <a:r>
                <a:rPr lang="en-US" dirty="0"/>
                <a:t>+ </a:t>
              </a:r>
              <a:r>
                <a:rPr lang="en-US" dirty="0" err="1"/>
                <a:t>setName</a:t>
              </a:r>
              <a:r>
                <a:rPr lang="en-US" dirty="0"/>
                <a:t>(String): void</a:t>
              </a:r>
            </a:p>
            <a:p>
              <a:r>
                <a:rPr lang="en-US" dirty="0"/>
                <a:t>+ </a:t>
              </a:r>
              <a:r>
                <a:rPr lang="en-US" dirty="0" err="1"/>
                <a:t>getNumber</a:t>
              </a:r>
              <a:r>
                <a:rPr lang="en-US" dirty="0"/>
                <a:t>(): String</a:t>
              </a:r>
            </a:p>
            <a:p>
              <a:r>
                <a:rPr lang="en-US" dirty="0"/>
                <a:t>+ </a:t>
              </a:r>
              <a:r>
                <a:rPr lang="en-US" dirty="0" err="1"/>
                <a:t>setNumber</a:t>
              </a:r>
              <a:r>
                <a:rPr lang="en-US" dirty="0"/>
                <a:t> (String): void</a:t>
              </a:r>
            </a:p>
            <a:p>
              <a:r>
                <a:rPr lang="en-US" dirty="0"/>
                <a:t>+ </a:t>
              </a:r>
              <a:r>
                <a:rPr lang="en-US" dirty="0" err="1"/>
                <a:t>toString</a:t>
              </a:r>
              <a:r>
                <a:rPr lang="en-US" dirty="0"/>
                <a:t>(): String</a:t>
              </a:r>
            </a:p>
          </p:txBody>
        </p:sp>
      </p:grpSp>
      <p:grpSp>
        <p:nvGrpSpPr>
          <p:cNvPr id="2712" name="Group 2711">
            <a:extLst>
              <a:ext uri="{FF2B5EF4-FFF2-40B4-BE49-F238E27FC236}">
                <a16:creationId xmlns:a16="http://schemas.microsoft.com/office/drawing/2014/main" id="{69A855CB-F9D6-70B2-A57B-7F4815F233D1}"/>
              </a:ext>
            </a:extLst>
          </p:cNvPr>
          <p:cNvGrpSpPr/>
          <p:nvPr/>
        </p:nvGrpSpPr>
        <p:grpSpPr>
          <a:xfrm>
            <a:off x="5847155" y="2414583"/>
            <a:ext cx="1260442" cy="549857"/>
            <a:chOff x="626757" y="3130041"/>
            <a:chExt cx="1260442" cy="549857"/>
          </a:xfrm>
        </p:grpSpPr>
        <p:sp>
          <p:nvSpPr>
            <p:cNvPr id="2713" name="TextBox 2712">
              <a:extLst>
                <a:ext uri="{FF2B5EF4-FFF2-40B4-BE49-F238E27FC236}">
                  <a16:creationId xmlns:a16="http://schemas.microsoft.com/office/drawing/2014/main" id="{CA1C40E8-CD5B-7FDA-FB78-140CF857F890}"/>
                </a:ext>
              </a:extLst>
            </p:cNvPr>
            <p:cNvSpPr txBox="1"/>
            <p:nvPr/>
          </p:nvSpPr>
          <p:spPr>
            <a:xfrm>
              <a:off x="641302" y="3151109"/>
              <a:ext cx="1214942" cy="107722"/>
            </a:xfrm>
            <a:prstGeom prst="rect">
              <a:avLst/>
            </a:prstGeom>
            <a:noFill/>
          </p:spPr>
          <p:txBody>
            <a:bodyPr wrap="square" lIns="0" tIns="0" rIns="0" bIns="0" rtlCol="0">
              <a:spAutoFit/>
            </a:bodyPr>
            <a:lstStyle>
              <a:defPPr>
                <a:defRPr lang="en-US"/>
              </a:defPPr>
              <a:lvl1pPr algn="ctr">
                <a:defRPr sz="700" b="1"/>
              </a:lvl1pPr>
            </a:lstStyle>
            <a:p>
              <a:r>
                <a:rPr lang="en-US" dirty="0"/>
                <a:t>&lt;interface&gt;</a:t>
              </a:r>
              <a:r>
                <a:rPr lang="en-US" dirty="0" err="1"/>
                <a:t>StudentAggregate</a:t>
              </a:r>
              <a:endParaRPr lang="en-US" dirty="0"/>
            </a:p>
          </p:txBody>
        </p:sp>
        <p:sp>
          <p:nvSpPr>
            <p:cNvPr id="2714" name="Rectangle: Rounded Corners 2713">
              <a:extLst>
                <a:ext uri="{FF2B5EF4-FFF2-40B4-BE49-F238E27FC236}">
                  <a16:creationId xmlns:a16="http://schemas.microsoft.com/office/drawing/2014/main" id="{26B9E048-2487-D333-0E7F-6D683F3BCC63}"/>
                </a:ext>
              </a:extLst>
            </p:cNvPr>
            <p:cNvSpPr/>
            <p:nvPr/>
          </p:nvSpPr>
          <p:spPr>
            <a:xfrm>
              <a:off x="626759" y="3130041"/>
              <a:ext cx="1253166" cy="549857"/>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15" name="Straight Connector 2714">
              <a:extLst>
                <a:ext uri="{FF2B5EF4-FFF2-40B4-BE49-F238E27FC236}">
                  <a16:creationId xmlns:a16="http://schemas.microsoft.com/office/drawing/2014/main" id="{3276473E-BB99-CDCA-BC72-EE5363D86B6F}"/>
                </a:ext>
              </a:extLst>
            </p:cNvPr>
            <p:cNvCxnSpPr>
              <a:cxnSpLocks/>
            </p:cNvCxnSpPr>
            <p:nvPr/>
          </p:nvCxnSpPr>
          <p:spPr>
            <a:xfrm>
              <a:off x="626759" y="3262639"/>
              <a:ext cx="1250916" cy="0"/>
            </a:xfrm>
            <a:prstGeom prst="line">
              <a:avLst/>
            </a:prstGeom>
          </p:spPr>
          <p:style>
            <a:lnRef idx="1">
              <a:schemeClr val="dk1"/>
            </a:lnRef>
            <a:fillRef idx="0">
              <a:schemeClr val="dk1"/>
            </a:fillRef>
            <a:effectRef idx="0">
              <a:schemeClr val="dk1"/>
            </a:effectRef>
            <a:fontRef idx="minor">
              <a:schemeClr val="tx1"/>
            </a:fontRef>
          </p:style>
        </p:cxnSp>
        <p:sp>
          <p:nvSpPr>
            <p:cNvPr id="2716" name="TextBox 2715">
              <a:extLst>
                <a:ext uri="{FF2B5EF4-FFF2-40B4-BE49-F238E27FC236}">
                  <a16:creationId xmlns:a16="http://schemas.microsoft.com/office/drawing/2014/main" id="{A93A5E00-760B-630B-5D98-8659865F8C33}"/>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717" name="Straight Connector 2716">
              <a:extLst>
                <a:ext uri="{FF2B5EF4-FFF2-40B4-BE49-F238E27FC236}">
                  <a16:creationId xmlns:a16="http://schemas.microsoft.com/office/drawing/2014/main" id="{43D6164F-58B0-3C70-9683-2345AEB08E12}"/>
                </a:ext>
              </a:extLst>
            </p:cNvPr>
            <p:cNvCxnSpPr>
              <a:cxnSpLocks/>
            </p:cNvCxnSpPr>
            <p:nvPr/>
          </p:nvCxnSpPr>
          <p:spPr>
            <a:xfrm>
              <a:off x="626757" y="3374558"/>
              <a:ext cx="1253299" cy="0"/>
            </a:xfrm>
            <a:prstGeom prst="line">
              <a:avLst/>
            </a:prstGeom>
          </p:spPr>
          <p:style>
            <a:lnRef idx="1">
              <a:schemeClr val="dk1"/>
            </a:lnRef>
            <a:fillRef idx="0">
              <a:schemeClr val="dk1"/>
            </a:fillRef>
            <a:effectRef idx="0">
              <a:schemeClr val="dk1"/>
            </a:effectRef>
            <a:fontRef idx="minor">
              <a:schemeClr val="tx1"/>
            </a:fontRef>
          </p:style>
        </p:cxnSp>
        <p:sp>
          <p:nvSpPr>
            <p:cNvPr id="2718" name="TextBox 2717">
              <a:extLst>
                <a:ext uri="{FF2B5EF4-FFF2-40B4-BE49-F238E27FC236}">
                  <a16:creationId xmlns:a16="http://schemas.microsoft.com/office/drawing/2014/main" id="{74CB9AB0-5E1D-955E-C217-63EFED51B093}"/>
                </a:ext>
              </a:extLst>
            </p:cNvPr>
            <p:cNvSpPr txBox="1"/>
            <p:nvPr/>
          </p:nvSpPr>
          <p:spPr>
            <a:xfrm>
              <a:off x="653196" y="3383891"/>
              <a:ext cx="1234003"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addStudent</a:t>
              </a:r>
              <a:r>
                <a:rPr lang="en-US" dirty="0"/>
                <a:t>(Student): void</a:t>
              </a:r>
            </a:p>
            <a:p>
              <a:r>
                <a:rPr lang="en-US" dirty="0"/>
                <a:t>+ </a:t>
              </a:r>
              <a:r>
                <a:rPr lang="en-US" dirty="0" err="1"/>
                <a:t>removeStudent</a:t>
              </a:r>
              <a:r>
                <a:rPr lang="en-US" dirty="0"/>
                <a:t>(Student): void</a:t>
              </a:r>
            </a:p>
            <a:p>
              <a:r>
                <a:rPr lang="en-US" dirty="0"/>
                <a:t>+ </a:t>
              </a:r>
              <a:r>
                <a:rPr lang="en-US" dirty="0" err="1"/>
                <a:t>getStudentIterator</a:t>
              </a:r>
              <a:r>
                <a:rPr lang="en-US" dirty="0"/>
                <a:t>(): </a:t>
              </a:r>
              <a:r>
                <a:rPr lang="en-US" dirty="0" err="1"/>
                <a:t>StudentIterator</a:t>
              </a:r>
              <a:endParaRPr lang="en-US" dirty="0"/>
            </a:p>
          </p:txBody>
        </p:sp>
      </p:grpSp>
      <p:grpSp>
        <p:nvGrpSpPr>
          <p:cNvPr id="2734" name="Group 2733">
            <a:extLst>
              <a:ext uri="{FF2B5EF4-FFF2-40B4-BE49-F238E27FC236}">
                <a16:creationId xmlns:a16="http://schemas.microsoft.com/office/drawing/2014/main" id="{0E0C0345-850F-274A-8F32-C4E155EFCCF5}"/>
              </a:ext>
            </a:extLst>
          </p:cNvPr>
          <p:cNvGrpSpPr/>
          <p:nvPr/>
        </p:nvGrpSpPr>
        <p:grpSpPr>
          <a:xfrm>
            <a:off x="5847079" y="3144540"/>
            <a:ext cx="1260442" cy="549857"/>
            <a:chOff x="626757" y="3130041"/>
            <a:chExt cx="1260442" cy="549857"/>
          </a:xfrm>
        </p:grpSpPr>
        <p:sp>
          <p:nvSpPr>
            <p:cNvPr id="2735" name="TextBox 2734">
              <a:extLst>
                <a:ext uri="{FF2B5EF4-FFF2-40B4-BE49-F238E27FC236}">
                  <a16:creationId xmlns:a16="http://schemas.microsoft.com/office/drawing/2014/main" id="{3A809408-9C29-3148-D15E-5F4FC96009E7}"/>
                </a:ext>
              </a:extLst>
            </p:cNvPr>
            <p:cNvSpPr txBox="1"/>
            <p:nvPr/>
          </p:nvSpPr>
          <p:spPr>
            <a:xfrm>
              <a:off x="646436" y="3151109"/>
              <a:ext cx="1195388" cy="107722"/>
            </a:xfrm>
            <a:prstGeom prst="rect">
              <a:avLst/>
            </a:prstGeom>
            <a:noFill/>
          </p:spPr>
          <p:txBody>
            <a:bodyPr wrap="square" lIns="0" tIns="0" rIns="0" bIns="0" rtlCol="0">
              <a:spAutoFit/>
            </a:bodyPr>
            <a:lstStyle>
              <a:defPPr>
                <a:defRPr lang="en-US"/>
              </a:defPPr>
              <a:lvl1pPr algn="ctr">
                <a:defRPr sz="700" b="1"/>
              </a:lvl1pPr>
            </a:lstStyle>
            <a:p>
              <a:r>
                <a:rPr lang="en-US" dirty="0" err="1"/>
                <a:t>StudentAggregateImpl</a:t>
              </a:r>
              <a:endParaRPr lang="en-US" dirty="0"/>
            </a:p>
          </p:txBody>
        </p:sp>
        <p:sp>
          <p:nvSpPr>
            <p:cNvPr id="2743" name="Rectangle: Rounded Corners 2742">
              <a:extLst>
                <a:ext uri="{FF2B5EF4-FFF2-40B4-BE49-F238E27FC236}">
                  <a16:creationId xmlns:a16="http://schemas.microsoft.com/office/drawing/2014/main" id="{543B0865-241F-0A97-F8F9-A29F2CD31098}"/>
                </a:ext>
              </a:extLst>
            </p:cNvPr>
            <p:cNvSpPr/>
            <p:nvPr/>
          </p:nvSpPr>
          <p:spPr>
            <a:xfrm>
              <a:off x="626759" y="3130041"/>
              <a:ext cx="1253166" cy="549857"/>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44" name="Straight Connector 2743">
              <a:extLst>
                <a:ext uri="{FF2B5EF4-FFF2-40B4-BE49-F238E27FC236}">
                  <a16:creationId xmlns:a16="http://schemas.microsoft.com/office/drawing/2014/main" id="{2C0F67F0-D998-3C85-7E70-9F659D60B18C}"/>
                </a:ext>
              </a:extLst>
            </p:cNvPr>
            <p:cNvCxnSpPr>
              <a:cxnSpLocks/>
            </p:cNvCxnSpPr>
            <p:nvPr/>
          </p:nvCxnSpPr>
          <p:spPr>
            <a:xfrm>
              <a:off x="626759" y="3262639"/>
              <a:ext cx="1250916" cy="0"/>
            </a:xfrm>
            <a:prstGeom prst="line">
              <a:avLst/>
            </a:prstGeom>
          </p:spPr>
          <p:style>
            <a:lnRef idx="1">
              <a:schemeClr val="dk1"/>
            </a:lnRef>
            <a:fillRef idx="0">
              <a:schemeClr val="dk1"/>
            </a:fillRef>
            <a:effectRef idx="0">
              <a:schemeClr val="dk1"/>
            </a:effectRef>
            <a:fontRef idx="minor">
              <a:schemeClr val="tx1"/>
            </a:fontRef>
          </p:style>
        </p:cxnSp>
        <p:sp>
          <p:nvSpPr>
            <p:cNvPr id="2264" name="TextBox 2263">
              <a:extLst>
                <a:ext uri="{FF2B5EF4-FFF2-40B4-BE49-F238E27FC236}">
                  <a16:creationId xmlns:a16="http://schemas.microsoft.com/office/drawing/2014/main" id="{95501E82-00A2-42E8-8B00-69F5ADC5C5E9}"/>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r>
                <a:rPr lang="en-US" dirty="0"/>
                <a:t>-list: List&lt;Student&gt;</a:t>
              </a:r>
            </a:p>
          </p:txBody>
        </p:sp>
        <p:cxnSp>
          <p:nvCxnSpPr>
            <p:cNvPr id="2316" name="Straight Connector 2315">
              <a:extLst>
                <a:ext uri="{FF2B5EF4-FFF2-40B4-BE49-F238E27FC236}">
                  <a16:creationId xmlns:a16="http://schemas.microsoft.com/office/drawing/2014/main" id="{8979D95A-10B7-89D0-06A4-E13AE696005F}"/>
                </a:ext>
              </a:extLst>
            </p:cNvPr>
            <p:cNvCxnSpPr>
              <a:cxnSpLocks/>
            </p:cNvCxnSpPr>
            <p:nvPr/>
          </p:nvCxnSpPr>
          <p:spPr>
            <a:xfrm>
              <a:off x="626757" y="3374558"/>
              <a:ext cx="1253299" cy="0"/>
            </a:xfrm>
            <a:prstGeom prst="line">
              <a:avLst/>
            </a:prstGeom>
          </p:spPr>
          <p:style>
            <a:lnRef idx="1">
              <a:schemeClr val="dk1"/>
            </a:lnRef>
            <a:fillRef idx="0">
              <a:schemeClr val="dk1"/>
            </a:fillRef>
            <a:effectRef idx="0">
              <a:schemeClr val="dk1"/>
            </a:effectRef>
            <a:fontRef idx="minor">
              <a:schemeClr val="tx1"/>
            </a:fontRef>
          </p:style>
        </p:cxnSp>
        <p:sp>
          <p:nvSpPr>
            <p:cNvPr id="2321" name="TextBox 2320">
              <a:extLst>
                <a:ext uri="{FF2B5EF4-FFF2-40B4-BE49-F238E27FC236}">
                  <a16:creationId xmlns:a16="http://schemas.microsoft.com/office/drawing/2014/main" id="{A2EE46B6-2670-D690-927C-C774BB71990D}"/>
                </a:ext>
              </a:extLst>
            </p:cNvPr>
            <p:cNvSpPr txBox="1"/>
            <p:nvPr/>
          </p:nvSpPr>
          <p:spPr>
            <a:xfrm>
              <a:off x="653196" y="3383891"/>
              <a:ext cx="1234003"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addStudent</a:t>
              </a:r>
              <a:r>
                <a:rPr lang="en-US" dirty="0"/>
                <a:t>(Student): void</a:t>
              </a:r>
            </a:p>
            <a:p>
              <a:r>
                <a:rPr lang="en-US" dirty="0"/>
                <a:t>+ </a:t>
              </a:r>
              <a:r>
                <a:rPr lang="en-US" dirty="0" err="1"/>
                <a:t>removeStudent</a:t>
              </a:r>
              <a:r>
                <a:rPr lang="en-US" dirty="0"/>
                <a:t>(Student): void</a:t>
              </a:r>
            </a:p>
            <a:p>
              <a:r>
                <a:rPr lang="en-US" dirty="0"/>
                <a:t>+ </a:t>
              </a:r>
              <a:r>
                <a:rPr lang="en-US" dirty="0" err="1"/>
                <a:t>getStudentIterator</a:t>
              </a:r>
              <a:r>
                <a:rPr lang="en-US" dirty="0"/>
                <a:t>(): </a:t>
              </a:r>
              <a:r>
                <a:rPr lang="en-US" dirty="0" err="1"/>
                <a:t>StudentIterator</a:t>
              </a:r>
              <a:endParaRPr lang="en-US" dirty="0"/>
            </a:p>
          </p:txBody>
        </p:sp>
      </p:grpSp>
      <p:cxnSp>
        <p:nvCxnSpPr>
          <p:cNvPr id="2324" name="Straight Connector 2323">
            <a:extLst>
              <a:ext uri="{FF2B5EF4-FFF2-40B4-BE49-F238E27FC236}">
                <a16:creationId xmlns:a16="http://schemas.microsoft.com/office/drawing/2014/main" id="{5945143A-5CF0-E92C-6ADE-293BFCC5FC34}"/>
              </a:ext>
            </a:extLst>
          </p:cNvPr>
          <p:cNvCxnSpPr>
            <a:stCxn id="2705" idx="0"/>
            <a:endCxn id="2743" idx="2"/>
          </p:cNvCxnSpPr>
          <p:nvPr/>
        </p:nvCxnSpPr>
        <p:spPr>
          <a:xfrm flipV="1">
            <a:off x="6472889" y="3694397"/>
            <a:ext cx="775" cy="170596"/>
          </a:xfrm>
          <a:prstGeom prst="line">
            <a:avLst/>
          </a:prstGeom>
        </p:spPr>
        <p:style>
          <a:lnRef idx="1">
            <a:schemeClr val="dk1"/>
          </a:lnRef>
          <a:fillRef idx="0">
            <a:schemeClr val="dk1"/>
          </a:fillRef>
          <a:effectRef idx="0">
            <a:schemeClr val="dk1"/>
          </a:effectRef>
          <a:fontRef idx="minor">
            <a:schemeClr val="tx1"/>
          </a:fontRef>
        </p:style>
      </p:cxnSp>
      <p:cxnSp>
        <p:nvCxnSpPr>
          <p:cNvPr id="2325" name="Straight Connector 2324">
            <a:extLst>
              <a:ext uri="{FF2B5EF4-FFF2-40B4-BE49-F238E27FC236}">
                <a16:creationId xmlns:a16="http://schemas.microsoft.com/office/drawing/2014/main" id="{8B13DD5B-EB6E-B13C-058D-D9F1DB6B7EF9}"/>
              </a:ext>
            </a:extLst>
          </p:cNvPr>
          <p:cNvCxnSpPr>
            <a:cxnSpLocks/>
            <a:stCxn id="2743" idx="0"/>
            <a:endCxn id="2714" idx="2"/>
          </p:cNvCxnSpPr>
          <p:nvPr/>
        </p:nvCxnSpPr>
        <p:spPr>
          <a:xfrm flipV="1">
            <a:off x="6473664" y="2964440"/>
            <a:ext cx="76" cy="18010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356" name="Connector: Elbow 2355">
            <a:extLst>
              <a:ext uri="{FF2B5EF4-FFF2-40B4-BE49-F238E27FC236}">
                <a16:creationId xmlns:a16="http://schemas.microsoft.com/office/drawing/2014/main" id="{2E482E69-4ECE-8F33-6BB0-5B8B9AC5BA62}"/>
              </a:ext>
            </a:extLst>
          </p:cNvPr>
          <p:cNvCxnSpPr>
            <a:stCxn id="2705" idx="1"/>
            <a:endCxn id="2696" idx="3"/>
          </p:cNvCxnSpPr>
          <p:nvPr/>
        </p:nvCxnSpPr>
        <p:spPr>
          <a:xfrm rot="10800000">
            <a:off x="5593137" y="3864669"/>
            <a:ext cx="436343" cy="426983"/>
          </a:xfrm>
          <a:prstGeom prst="bentConnector3">
            <a:avLst/>
          </a:prstGeom>
        </p:spPr>
        <p:style>
          <a:lnRef idx="1">
            <a:schemeClr val="dk1"/>
          </a:lnRef>
          <a:fillRef idx="0">
            <a:schemeClr val="dk1"/>
          </a:fillRef>
          <a:effectRef idx="0">
            <a:schemeClr val="dk1"/>
          </a:effectRef>
          <a:fontRef idx="minor">
            <a:schemeClr val="tx1"/>
          </a:fontRef>
        </p:style>
      </p:cxnSp>
      <p:cxnSp>
        <p:nvCxnSpPr>
          <p:cNvPr id="2881" name="Straight Connector 2880">
            <a:extLst>
              <a:ext uri="{FF2B5EF4-FFF2-40B4-BE49-F238E27FC236}">
                <a16:creationId xmlns:a16="http://schemas.microsoft.com/office/drawing/2014/main" id="{A7932229-72BD-F7F6-7720-44FF00CD36C0}"/>
              </a:ext>
            </a:extLst>
          </p:cNvPr>
          <p:cNvCxnSpPr>
            <a:cxnSpLocks/>
            <a:stCxn id="2696" idx="0"/>
            <a:endCxn id="38" idx="2"/>
          </p:cNvCxnSpPr>
          <p:nvPr/>
        </p:nvCxnSpPr>
        <p:spPr>
          <a:xfrm flipV="1">
            <a:off x="4992646" y="3351914"/>
            <a:ext cx="1424" cy="190398"/>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885" name="Connector: Elbow 2884">
            <a:extLst>
              <a:ext uri="{FF2B5EF4-FFF2-40B4-BE49-F238E27FC236}">
                <a16:creationId xmlns:a16="http://schemas.microsoft.com/office/drawing/2014/main" id="{7CE74146-3199-C1E0-0FE6-2699EEB0FD6D}"/>
              </a:ext>
            </a:extLst>
          </p:cNvPr>
          <p:cNvCxnSpPr>
            <a:cxnSpLocks/>
            <a:stCxn id="2743" idx="1"/>
            <a:endCxn id="38" idx="3"/>
          </p:cNvCxnSpPr>
          <p:nvPr/>
        </p:nvCxnSpPr>
        <p:spPr>
          <a:xfrm rot="10800000">
            <a:off x="5530809" y="3114849"/>
            <a:ext cx="316273" cy="304621"/>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890" name="Connector: Elbow 2889">
            <a:extLst>
              <a:ext uri="{FF2B5EF4-FFF2-40B4-BE49-F238E27FC236}">
                <a16:creationId xmlns:a16="http://schemas.microsoft.com/office/drawing/2014/main" id="{AAF32682-8139-4AD4-54D4-8B780DC70D8A}"/>
              </a:ext>
            </a:extLst>
          </p:cNvPr>
          <p:cNvCxnSpPr>
            <a:cxnSpLocks/>
            <a:stCxn id="2714" idx="1"/>
            <a:endCxn id="38" idx="3"/>
          </p:cNvCxnSpPr>
          <p:nvPr/>
        </p:nvCxnSpPr>
        <p:spPr>
          <a:xfrm rot="10800000" flipV="1">
            <a:off x="5530809" y="2689512"/>
            <a:ext cx="316349" cy="425336"/>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sp>
        <p:nvSpPr>
          <p:cNvPr id="2903" name="Isosceles Triangle 2902">
            <a:extLst>
              <a:ext uri="{FF2B5EF4-FFF2-40B4-BE49-F238E27FC236}">
                <a16:creationId xmlns:a16="http://schemas.microsoft.com/office/drawing/2014/main" id="{233666F4-87EC-3BDA-DA64-9C624FB58796}"/>
              </a:ext>
            </a:extLst>
          </p:cNvPr>
          <p:cNvSpPr/>
          <p:nvPr/>
        </p:nvSpPr>
        <p:spPr>
          <a:xfrm>
            <a:off x="4965687" y="3358044"/>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4" name="Isosceles Triangle 2903">
            <a:extLst>
              <a:ext uri="{FF2B5EF4-FFF2-40B4-BE49-F238E27FC236}">
                <a16:creationId xmlns:a16="http://schemas.microsoft.com/office/drawing/2014/main" id="{01333DAA-269D-5B98-AEA7-751170E749C3}"/>
              </a:ext>
            </a:extLst>
          </p:cNvPr>
          <p:cNvSpPr/>
          <p:nvPr/>
        </p:nvSpPr>
        <p:spPr>
          <a:xfrm>
            <a:off x="6448412" y="2969666"/>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5" name="Diamond 2904">
            <a:extLst>
              <a:ext uri="{FF2B5EF4-FFF2-40B4-BE49-F238E27FC236}">
                <a16:creationId xmlns:a16="http://schemas.microsoft.com/office/drawing/2014/main" id="{E4CC1E08-F8DA-37C2-A392-8A9E0CAE4A4B}"/>
              </a:ext>
            </a:extLst>
          </p:cNvPr>
          <p:cNvSpPr/>
          <p:nvPr/>
        </p:nvSpPr>
        <p:spPr>
          <a:xfrm rot="16200000">
            <a:off x="6428239" y="3722812"/>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6" name="Diamond 2905">
            <a:extLst>
              <a:ext uri="{FF2B5EF4-FFF2-40B4-BE49-F238E27FC236}">
                <a16:creationId xmlns:a16="http://schemas.microsoft.com/office/drawing/2014/main" id="{33324663-A33E-0CBE-AF2F-D25BEADD2FB0}"/>
              </a:ext>
            </a:extLst>
          </p:cNvPr>
          <p:cNvSpPr/>
          <p:nvPr/>
        </p:nvSpPr>
        <p:spPr>
          <a:xfrm>
            <a:off x="5603651" y="3840949"/>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8" name="Isosceles Triangle 2927">
            <a:extLst>
              <a:ext uri="{FF2B5EF4-FFF2-40B4-BE49-F238E27FC236}">
                <a16:creationId xmlns:a16="http://schemas.microsoft.com/office/drawing/2014/main" id="{43550ADA-C797-EC3B-C50A-EB6E86CEC48A}"/>
              </a:ext>
            </a:extLst>
          </p:cNvPr>
          <p:cNvSpPr/>
          <p:nvPr/>
        </p:nvSpPr>
        <p:spPr>
          <a:xfrm rot="16200000">
            <a:off x="5536479" y="3093247"/>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40051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2" name="Isosceles Triangle 2891">
            <a:extLst>
              <a:ext uri="{FF2B5EF4-FFF2-40B4-BE49-F238E27FC236}">
                <a16:creationId xmlns:a16="http://schemas.microsoft.com/office/drawing/2014/main" id="{C7C52821-2756-7A57-3FDA-0B185D0AD873}"/>
              </a:ext>
            </a:extLst>
          </p:cNvPr>
          <p:cNvSpPr/>
          <p:nvPr/>
        </p:nvSpPr>
        <p:spPr>
          <a:xfrm rot="16200000">
            <a:off x="4559598" y="2360164"/>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3" name="Isosceles Triangle 2892">
            <a:extLst>
              <a:ext uri="{FF2B5EF4-FFF2-40B4-BE49-F238E27FC236}">
                <a16:creationId xmlns:a16="http://schemas.microsoft.com/office/drawing/2014/main" id="{A93A89E4-7A2F-39BF-EA6A-152617CEF1DA}"/>
              </a:ext>
            </a:extLst>
          </p:cNvPr>
          <p:cNvSpPr/>
          <p:nvPr/>
        </p:nvSpPr>
        <p:spPr>
          <a:xfrm rot="16200000">
            <a:off x="4549571" y="2484520"/>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4" name="Diamond 2893">
            <a:extLst>
              <a:ext uri="{FF2B5EF4-FFF2-40B4-BE49-F238E27FC236}">
                <a16:creationId xmlns:a16="http://schemas.microsoft.com/office/drawing/2014/main" id="{6BDA4D2A-DB85-6120-06CE-11E9A9320577}"/>
              </a:ext>
            </a:extLst>
          </p:cNvPr>
          <p:cNvSpPr/>
          <p:nvPr/>
        </p:nvSpPr>
        <p:spPr>
          <a:xfrm>
            <a:off x="4549571" y="2634529"/>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0" name="Group 1029">
            <a:extLst>
              <a:ext uri="{FF2B5EF4-FFF2-40B4-BE49-F238E27FC236}">
                <a16:creationId xmlns:a16="http://schemas.microsoft.com/office/drawing/2014/main" id="{998385EC-E475-9DFD-F761-F04340259B07}"/>
              </a:ext>
            </a:extLst>
          </p:cNvPr>
          <p:cNvGrpSpPr/>
          <p:nvPr/>
        </p:nvGrpSpPr>
        <p:grpSpPr>
          <a:xfrm>
            <a:off x="9658605" y="4431130"/>
            <a:ext cx="1104089" cy="362756"/>
            <a:chOff x="626757" y="3130042"/>
            <a:chExt cx="1104089" cy="362756"/>
          </a:xfrm>
        </p:grpSpPr>
        <p:sp>
          <p:nvSpPr>
            <p:cNvPr id="1031" name="TextBox 1030">
              <a:extLst>
                <a:ext uri="{FF2B5EF4-FFF2-40B4-BE49-F238E27FC236}">
                  <a16:creationId xmlns:a16="http://schemas.microsoft.com/office/drawing/2014/main" id="{7382E02B-C318-C996-84C9-AFF06FF3A96E}"/>
                </a:ext>
              </a:extLst>
            </p:cNvPr>
            <p:cNvSpPr txBox="1"/>
            <p:nvPr/>
          </p:nvSpPr>
          <p:spPr>
            <a:xfrm>
              <a:off x="981471" y="3151109"/>
              <a:ext cx="349455" cy="107722"/>
            </a:xfrm>
            <a:prstGeom prst="rect">
              <a:avLst/>
            </a:prstGeom>
            <a:noFill/>
          </p:spPr>
          <p:txBody>
            <a:bodyPr wrap="none" lIns="0" tIns="0" rIns="0" bIns="0" rtlCol="0">
              <a:spAutoFit/>
            </a:bodyPr>
            <a:lstStyle>
              <a:defPPr>
                <a:defRPr lang="en-US"/>
              </a:defPPr>
              <a:lvl1pPr algn="ctr">
                <a:defRPr sz="700" b="1"/>
              </a:lvl1pPr>
            </a:lstStyle>
            <a:p>
              <a:r>
                <a:rPr lang="en-US" i="1" dirty="0"/>
                <a:t>M</a:t>
              </a:r>
              <a:r>
                <a:rPr lang="en-US" altLang="zh-CN" i="1" dirty="0"/>
                <a:t>ediator</a:t>
              </a:r>
              <a:endParaRPr lang="en-US" i="1" dirty="0"/>
            </a:p>
          </p:txBody>
        </p:sp>
        <p:sp>
          <p:nvSpPr>
            <p:cNvPr id="1032" name="Rectangle: Rounded Corners 1031">
              <a:extLst>
                <a:ext uri="{FF2B5EF4-FFF2-40B4-BE49-F238E27FC236}">
                  <a16:creationId xmlns:a16="http://schemas.microsoft.com/office/drawing/2014/main" id="{323D899B-4C51-6DC3-DAD2-400C43B9B214}"/>
                </a:ext>
              </a:extLst>
            </p:cNvPr>
            <p:cNvSpPr/>
            <p:nvPr/>
          </p:nvSpPr>
          <p:spPr>
            <a:xfrm>
              <a:off x="626759" y="3130042"/>
              <a:ext cx="1102556" cy="36275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3" name="Straight Connector 1032">
              <a:extLst>
                <a:ext uri="{FF2B5EF4-FFF2-40B4-BE49-F238E27FC236}">
                  <a16:creationId xmlns:a16="http://schemas.microsoft.com/office/drawing/2014/main" id="{AE782AA4-E2D4-373D-E1FE-1DDE6078E831}"/>
                </a:ext>
              </a:extLst>
            </p:cNvPr>
            <p:cNvCxnSpPr>
              <a:cxnSpLocks/>
            </p:cNvCxnSpPr>
            <p:nvPr/>
          </p:nvCxnSpPr>
          <p:spPr>
            <a:xfrm>
              <a:off x="626759" y="3262639"/>
              <a:ext cx="1104087" cy="0"/>
            </a:xfrm>
            <a:prstGeom prst="line">
              <a:avLst/>
            </a:prstGeom>
          </p:spPr>
          <p:style>
            <a:lnRef idx="1">
              <a:schemeClr val="dk1"/>
            </a:lnRef>
            <a:fillRef idx="0">
              <a:schemeClr val="dk1"/>
            </a:fillRef>
            <a:effectRef idx="0">
              <a:schemeClr val="dk1"/>
            </a:effectRef>
            <a:fontRef idx="minor">
              <a:schemeClr val="tx1"/>
            </a:fontRef>
          </p:style>
        </p:cxnSp>
        <p:sp>
          <p:nvSpPr>
            <p:cNvPr id="1034" name="TextBox 1033">
              <a:extLst>
                <a:ext uri="{FF2B5EF4-FFF2-40B4-BE49-F238E27FC236}">
                  <a16:creationId xmlns:a16="http://schemas.microsoft.com/office/drawing/2014/main" id="{24C214EE-25BB-C52E-849D-B0B81A49C90D}"/>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1035" name="Straight Connector 1034">
              <a:extLst>
                <a:ext uri="{FF2B5EF4-FFF2-40B4-BE49-F238E27FC236}">
                  <a16:creationId xmlns:a16="http://schemas.microsoft.com/office/drawing/2014/main" id="{FB74D3C2-52DD-B859-B291-B3F631979496}"/>
                </a:ext>
              </a:extLst>
            </p:cNvPr>
            <p:cNvCxnSpPr>
              <a:cxnSpLocks/>
            </p:cNvCxnSpPr>
            <p:nvPr/>
          </p:nvCxnSpPr>
          <p:spPr>
            <a:xfrm>
              <a:off x="626757" y="3374558"/>
              <a:ext cx="1101708" cy="0"/>
            </a:xfrm>
            <a:prstGeom prst="line">
              <a:avLst/>
            </a:prstGeom>
          </p:spPr>
          <p:style>
            <a:lnRef idx="1">
              <a:schemeClr val="dk1"/>
            </a:lnRef>
            <a:fillRef idx="0">
              <a:schemeClr val="dk1"/>
            </a:fillRef>
            <a:effectRef idx="0">
              <a:schemeClr val="dk1"/>
            </a:effectRef>
            <a:fontRef idx="minor">
              <a:schemeClr val="tx1"/>
            </a:fontRef>
          </p:style>
        </p:cxnSp>
        <p:sp>
          <p:nvSpPr>
            <p:cNvPr id="1036" name="TextBox 1035">
              <a:extLst>
                <a:ext uri="{FF2B5EF4-FFF2-40B4-BE49-F238E27FC236}">
                  <a16:creationId xmlns:a16="http://schemas.microsoft.com/office/drawing/2014/main" id="{1D9F5C1F-5782-6620-7D64-E6104A4715D0}"/>
                </a:ext>
              </a:extLst>
            </p:cNvPr>
            <p:cNvSpPr txBox="1"/>
            <p:nvPr/>
          </p:nvSpPr>
          <p:spPr>
            <a:xfrm>
              <a:off x="653196" y="3381510"/>
              <a:ext cx="1073475"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err="1"/>
                <a:t>constact</a:t>
              </a:r>
              <a:r>
                <a:rPr lang="en-US" dirty="0"/>
                <a:t>(message, Person): void</a:t>
              </a:r>
            </a:p>
          </p:txBody>
        </p:sp>
      </p:grpSp>
      <p:grpSp>
        <p:nvGrpSpPr>
          <p:cNvPr id="1037" name="Group 1036">
            <a:extLst>
              <a:ext uri="{FF2B5EF4-FFF2-40B4-BE49-F238E27FC236}">
                <a16:creationId xmlns:a16="http://schemas.microsoft.com/office/drawing/2014/main" id="{2664B63B-C09A-F99B-DBB5-3DE0F1DA570A}"/>
              </a:ext>
            </a:extLst>
          </p:cNvPr>
          <p:cNvGrpSpPr/>
          <p:nvPr/>
        </p:nvGrpSpPr>
        <p:grpSpPr>
          <a:xfrm>
            <a:off x="10887841" y="5967276"/>
            <a:ext cx="1207910" cy="853315"/>
            <a:chOff x="626757" y="3130042"/>
            <a:chExt cx="1207910" cy="853315"/>
          </a:xfrm>
        </p:grpSpPr>
        <p:sp>
          <p:nvSpPr>
            <p:cNvPr id="1038" name="TextBox 1037">
              <a:extLst>
                <a:ext uri="{FF2B5EF4-FFF2-40B4-BE49-F238E27FC236}">
                  <a16:creationId xmlns:a16="http://schemas.microsoft.com/office/drawing/2014/main" id="{8243C8AD-BE98-84C7-0535-D9E93ED808D4}"/>
                </a:ext>
              </a:extLst>
            </p:cNvPr>
            <p:cNvSpPr txBox="1"/>
            <p:nvPr/>
          </p:nvSpPr>
          <p:spPr>
            <a:xfrm>
              <a:off x="648046" y="3151109"/>
              <a:ext cx="1161801" cy="107722"/>
            </a:xfrm>
            <a:prstGeom prst="rect">
              <a:avLst/>
            </a:prstGeom>
            <a:noFill/>
          </p:spPr>
          <p:txBody>
            <a:bodyPr wrap="square" lIns="0" tIns="0" rIns="0" bIns="0" rtlCol="0">
              <a:spAutoFit/>
            </a:bodyPr>
            <a:lstStyle>
              <a:defPPr>
                <a:defRPr lang="en-US"/>
              </a:defPPr>
              <a:lvl1pPr algn="ctr">
                <a:defRPr sz="700" b="1"/>
              </a:lvl1pPr>
            </a:lstStyle>
            <a:p>
              <a:r>
                <a:rPr lang="en-US" dirty="0" err="1"/>
                <a:t>M</a:t>
              </a:r>
              <a:r>
                <a:rPr lang="en-US" altLang="zh-CN" dirty="0" err="1"/>
                <a:t>ediatorStructure</a:t>
              </a:r>
              <a:endParaRPr lang="en-US" dirty="0"/>
            </a:p>
          </p:txBody>
        </p:sp>
        <p:sp>
          <p:nvSpPr>
            <p:cNvPr id="1039" name="Rectangle: Rounded Corners 1038">
              <a:extLst>
                <a:ext uri="{FF2B5EF4-FFF2-40B4-BE49-F238E27FC236}">
                  <a16:creationId xmlns:a16="http://schemas.microsoft.com/office/drawing/2014/main" id="{480AAEDA-0888-B59D-16C8-997C7BC1EE13}"/>
                </a:ext>
              </a:extLst>
            </p:cNvPr>
            <p:cNvSpPr/>
            <p:nvPr/>
          </p:nvSpPr>
          <p:spPr>
            <a:xfrm>
              <a:off x="626758" y="3130042"/>
              <a:ext cx="1200981" cy="853315"/>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0" name="Straight Connector 1039">
              <a:extLst>
                <a:ext uri="{FF2B5EF4-FFF2-40B4-BE49-F238E27FC236}">
                  <a16:creationId xmlns:a16="http://schemas.microsoft.com/office/drawing/2014/main" id="{082133E3-8AA0-C393-FCB2-02D9ADF9E165}"/>
                </a:ext>
              </a:extLst>
            </p:cNvPr>
            <p:cNvCxnSpPr>
              <a:cxnSpLocks/>
            </p:cNvCxnSpPr>
            <p:nvPr/>
          </p:nvCxnSpPr>
          <p:spPr>
            <a:xfrm>
              <a:off x="626759" y="3262639"/>
              <a:ext cx="1203146" cy="0"/>
            </a:xfrm>
            <a:prstGeom prst="line">
              <a:avLst/>
            </a:prstGeom>
          </p:spPr>
          <p:style>
            <a:lnRef idx="1">
              <a:schemeClr val="dk1"/>
            </a:lnRef>
            <a:fillRef idx="0">
              <a:schemeClr val="dk1"/>
            </a:fillRef>
            <a:effectRef idx="0">
              <a:schemeClr val="dk1"/>
            </a:effectRef>
            <a:fontRef idx="minor">
              <a:schemeClr val="tx1"/>
            </a:fontRef>
          </p:style>
        </p:cxnSp>
        <p:sp>
          <p:nvSpPr>
            <p:cNvPr id="1041" name="TextBox 1040">
              <a:extLst>
                <a:ext uri="{FF2B5EF4-FFF2-40B4-BE49-F238E27FC236}">
                  <a16:creationId xmlns:a16="http://schemas.microsoft.com/office/drawing/2014/main" id="{8A09C4D7-15D2-BD66-9ED6-0494949B4F09}"/>
                </a:ext>
              </a:extLst>
            </p:cNvPr>
            <p:cNvSpPr txBox="1"/>
            <p:nvPr/>
          </p:nvSpPr>
          <p:spPr>
            <a:xfrm>
              <a:off x="657950" y="3276104"/>
              <a:ext cx="1082671"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houseOwner</a:t>
              </a:r>
              <a:r>
                <a:rPr lang="en-US" dirty="0"/>
                <a:t>: </a:t>
              </a:r>
              <a:r>
                <a:rPr lang="en-US" dirty="0" err="1"/>
                <a:t>HouseOwner</a:t>
              </a:r>
              <a:endParaRPr lang="en-US" altLang="zh-CN" dirty="0"/>
            </a:p>
            <a:p>
              <a:r>
                <a:rPr lang="en-US" dirty="0"/>
                <a:t>- tenant: T</a:t>
              </a:r>
              <a:r>
                <a:rPr lang="en-US" altLang="zh-CN" dirty="0"/>
                <a:t>enant</a:t>
              </a:r>
              <a:r>
                <a:rPr lang="en-US" dirty="0"/>
                <a:t> </a:t>
              </a:r>
            </a:p>
          </p:txBody>
        </p:sp>
        <p:cxnSp>
          <p:nvCxnSpPr>
            <p:cNvPr id="1042" name="Straight Connector 1041">
              <a:extLst>
                <a:ext uri="{FF2B5EF4-FFF2-40B4-BE49-F238E27FC236}">
                  <a16:creationId xmlns:a16="http://schemas.microsoft.com/office/drawing/2014/main" id="{F86DB9D9-E914-CDA6-98D9-5784C9FCE4EC}"/>
                </a:ext>
              </a:extLst>
            </p:cNvPr>
            <p:cNvCxnSpPr>
              <a:cxnSpLocks/>
            </p:cNvCxnSpPr>
            <p:nvPr/>
          </p:nvCxnSpPr>
          <p:spPr>
            <a:xfrm>
              <a:off x="626757" y="3474572"/>
              <a:ext cx="1207910" cy="0"/>
            </a:xfrm>
            <a:prstGeom prst="line">
              <a:avLst/>
            </a:prstGeom>
          </p:spPr>
          <p:style>
            <a:lnRef idx="1">
              <a:schemeClr val="dk1"/>
            </a:lnRef>
            <a:fillRef idx="0">
              <a:schemeClr val="dk1"/>
            </a:fillRef>
            <a:effectRef idx="0">
              <a:schemeClr val="dk1"/>
            </a:effectRef>
            <a:fontRef idx="minor">
              <a:schemeClr val="tx1"/>
            </a:fontRef>
          </p:style>
        </p:cxnSp>
        <p:sp>
          <p:nvSpPr>
            <p:cNvPr id="1043" name="TextBox 1042">
              <a:extLst>
                <a:ext uri="{FF2B5EF4-FFF2-40B4-BE49-F238E27FC236}">
                  <a16:creationId xmlns:a16="http://schemas.microsoft.com/office/drawing/2014/main" id="{7A60C2B2-2E19-C460-C639-45979CFB753E}"/>
                </a:ext>
              </a:extLst>
            </p:cNvPr>
            <p:cNvSpPr txBox="1"/>
            <p:nvPr/>
          </p:nvSpPr>
          <p:spPr>
            <a:xfrm>
              <a:off x="653196" y="3495805"/>
              <a:ext cx="1158883" cy="461665"/>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setHouse</a:t>
              </a:r>
              <a:r>
                <a:rPr lang="en-US" dirty="0"/>
                <a:t>(</a:t>
              </a:r>
              <a:r>
                <a:rPr lang="en-US" dirty="0" err="1"/>
                <a:t>HouseOwner</a:t>
              </a:r>
              <a:r>
                <a:rPr lang="en-US" dirty="0"/>
                <a:t>): void</a:t>
              </a:r>
            </a:p>
            <a:p>
              <a:r>
                <a:rPr lang="en-US" dirty="0"/>
                <a:t>+ </a:t>
              </a:r>
              <a:r>
                <a:rPr lang="en-US" dirty="0" err="1"/>
                <a:t>getHouse</a:t>
              </a:r>
              <a:r>
                <a:rPr lang="en-US" dirty="0"/>
                <a:t>(): </a:t>
              </a:r>
              <a:r>
                <a:rPr lang="en-US" dirty="0" err="1"/>
                <a:t>HouseOwner</a:t>
              </a:r>
              <a:endParaRPr lang="en-US" dirty="0"/>
            </a:p>
            <a:p>
              <a:r>
                <a:rPr lang="en-US" dirty="0"/>
                <a:t>+ </a:t>
              </a:r>
              <a:r>
                <a:rPr lang="en-US" dirty="0" err="1"/>
                <a:t>setTenant</a:t>
              </a:r>
              <a:r>
                <a:rPr lang="en-US" dirty="0"/>
                <a:t>(T</a:t>
              </a:r>
              <a:r>
                <a:rPr lang="en-US" altLang="zh-CN" dirty="0"/>
                <a:t>enant</a:t>
              </a:r>
              <a:r>
                <a:rPr lang="en-US" dirty="0"/>
                <a:t>): void</a:t>
              </a:r>
            </a:p>
            <a:p>
              <a:r>
                <a:rPr lang="en-US" dirty="0"/>
                <a:t>+ </a:t>
              </a:r>
              <a:r>
                <a:rPr lang="en-US" dirty="0" err="1"/>
                <a:t>getTenant</a:t>
              </a:r>
              <a:r>
                <a:rPr lang="en-US" dirty="0"/>
                <a:t>(): T</a:t>
              </a:r>
              <a:r>
                <a:rPr lang="en-US" altLang="zh-CN" dirty="0"/>
                <a:t>enant</a:t>
              </a:r>
              <a:endParaRPr lang="en-US" dirty="0"/>
            </a:p>
            <a:p>
              <a:r>
                <a:rPr lang="en-US" dirty="0"/>
                <a:t>+ </a:t>
              </a:r>
              <a:r>
                <a:rPr lang="en-US" altLang="zh-CN" dirty="0" err="1"/>
                <a:t>constact</a:t>
              </a:r>
              <a:r>
                <a:rPr lang="en-US" dirty="0"/>
                <a:t>(message, Person): void</a:t>
              </a:r>
            </a:p>
          </p:txBody>
        </p:sp>
      </p:grpSp>
      <p:grpSp>
        <p:nvGrpSpPr>
          <p:cNvPr id="1044" name="Group 1043">
            <a:extLst>
              <a:ext uri="{FF2B5EF4-FFF2-40B4-BE49-F238E27FC236}">
                <a16:creationId xmlns:a16="http://schemas.microsoft.com/office/drawing/2014/main" id="{C15045CE-6EC1-B51F-B7EB-86AC43A9DF77}"/>
              </a:ext>
            </a:extLst>
          </p:cNvPr>
          <p:cNvGrpSpPr/>
          <p:nvPr/>
        </p:nvGrpSpPr>
        <p:grpSpPr>
          <a:xfrm>
            <a:off x="11190991" y="4933636"/>
            <a:ext cx="894536" cy="853316"/>
            <a:chOff x="626757" y="3130042"/>
            <a:chExt cx="894536" cy="853316"/>
          </a:xfrm>
        </p:grpSpPr>
        <p:sp>
          <p:nvSpPr>
            <p:cNvPr id="1045" name="TextBox 1044">
              <a:extLst>
                <a:ext uri="{FF2B5EF4-FFF2-40B4-BE49-F238E27FC236}">
                  <a16:creationId xmlns:a16="http://schemas.microsoft.com/office/drawing/2014/main" id="{98DDD552-9CDF-D942-06E1-D768F167B3E2}"/>
                </a:ext>
              </a:extLst>
            </p:cNvPr>
            <p:cNvSpPr txBox="1"/>
            <p:nvPr/>
          </p:nvSpPr>
          <p:spPr>
            <a:xfrm>
              <a:off x="657694" y="3151109"/>
              <a:ext cx="815971" cy="107722"/>
            </a:xfrm>
            <a:prstGeom prst="rect">
              <a:avLst/>
            </a:prstGeom>
            <a:noFill/>
          </p:spPr>
          <p:txBody>
            <a:bodyPr wrap="square" lIns="0" tIns="0" rIns="0" bIns="0" rtlCol="0">
              <a:spAutoFit/>
            </a:bodyPr>
            <a:lstStyle>
              <a:defPPr>
                <a:defRPr lang="en-US"/>
              </a:defPPr>
              <a:lvl1pPr algn="ctr">
                <a:defRPr sz="700" b="1"/>
              </a:lvl1pPr>
            </a:lstStyle>
            <a:p>
              <a:r>
                <a:rPr lang="en-US" dirty="0" err="1"/>
                <a:t>HouseOwner</a:t>
              </a:r>
              <a:endParaRPr lang="en-US" dirty="0"/>
            </a:p>
          </p:txBody>
        </p:sp>
        <p:sp>
          <p:nvSpPr>
            <p:cNvPr id="1046" name="Rectangle: Rounded Corners 1045">
              <a:extLst>
                <a:ext uri="{FF2B5EF4-FFF2-40B4-BE49-F238E27FC236}">
                  <a16:creationId xmlns:a16="http://schemas.microsoft.com/office/drawing/2014/main" id="{5B7F3ADD-EF47-C51B-3CFD-650E4D5F405C}"/>
                </a:ext>
              </a:extLst>
            </p:cNvPr>
            <p:cNvSpPr/>
            <p:nvPr/>
          </p:nvSpPr>
          <p:spPr>
            <a:xfrm>
              <a:off x="626759" y="3130042"/>
              <a:ext cx="886820" cy="85331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7" name="Straight Connector 1046">
              <a:extLst>
                <a:ext uri="{FF2B5EF4-FFF2-40B4-BE49-F238E27FC236}">
                  <a16:creationId xmlns:a16="http://schemas.microsoft.com/office/drawing/2014/main" id="{1DD1DAB4-9C4A-705D-A580-DA76943B17CA}"/>
                </a:ext>
              </a:extLst>
            </p:cNvPr>
            <p:cNvCxnSpPr>
              <a:cxnSpLocks/>
            </p:cNvCxnSpPr>
            <p:nvPr/>
          </p:nvCxnSpPr>
          <p:spPr>
            <a:xfrm>
              <a:off x="626759" y="3262639"/>
              <a:ext cx="894533" cy="0"/>
            </a:xfrm>
            <a:prstGeom prst="line">
              <a:avLst/>
            </a:prstGeom>
          </p:spPr>
          <p:style>
            <a:lnRef idx="1">
              <a:schemeClr val="dk1"/>
            </a:lnRef>
            <a:fillRef idx="0">
              <a:schemeClr val="dk1"/>
            </a:fillRef>
            <a:effectRef idx="0">
              <a:schemeClr val="dk1"/>
            </a:effectRef>
            <a:fontRef idx="minor">
              <a:schemeClr val="tx1"/>
            </a:fontRef>
          </p:style>
        </p:cxnSp>
        <p:sp>
          <p:nvSpPr>
            <p:cNvPr id="1048" name="TextBox 1047">
              <a:extLst>
                <a:ext uri="{FF2B5EF4-FFF2-40B4-BE49-F238E27FC236}">
                  <a16:creationId xmlns:a16="http://schemas.microsoft.com/office/drawing/2014/main" id="{68F9B59B-F839-3FFE-C9D3-C6263A7C57D6}"/>
                </a:ext>
              </a:extLst>
            </p:cNvPr>
            <p:cNvSpPr txBox="1"/>
            <p:nvPr/>
          </p:nvSpPr>
          <p:spPr>
            <a:xfrm>
              <a:off x="657950" y="3276104"/>
              <a:ext cx="762391" cy="184666"/>
            </a:xfrm>
            <a:prstGeom prst="rect">
              <a:avLst/>
            </a:prstGeom>
            <a:noFill/>
          </p:spPr>
          <p:txBody>
            <a:bodyPr wrap="square" lIns="0" tIns="0" rIns="0" bIns="0" rtlCol="0">
              <a:spAutoFit/>
            </a:bodyPr>
            <a:lstStyle>
              <a:defPPr>
                <a:defRPr lang="en-US"/>
              </a:defPPr>
              <a:lvl1pPr>
                <a:defRPr sz="600"/>
              </a:lvl1pPr>
            </a:lstStyle>
            <a:p>
              <a:r>
                <a:rPr lang="en-US" dirty="0"/>
                <a:t>- name: String</a:t>
              </a:r>
              <a:endParaRPr lang="en-US" altLang="zh-CN" dirty="0"/>
            </a:p>
            <a:p>
              <a:r>
                <a:rPr lang="en-US" dirty="0"/>
                <a:t>- number: String </a:t>
              </a:r>
            </a:p>
          </p:txBody>
        </p:sp>
        <p:cxnSp>
          <p:nvCxnSpPr>
            <p:cNvPr id="1049" name="Straight Connector 1048">
              <a:extLst>
                <a:ext uri="{FF2B5EF4-FFF2-40B4-BE49-F238E27FC236}">
                  <a16:creationId xmlns:a16="http://schemas.microsoft.com/office/drawing/2014/main" id="{870B346F-2D19-C4AA-603B-2F065D19BF8A}"/>
                </a:ext>
              </a:extLst>
            </p:cNvPr>
            <p:cNvCxnSpPr>
              <a:cxnSpLocks/>
            </p:cNvCxnSpPr>
            <p:nvPr/>
          </p:nvCxnSpPr>
          <p:spPr>
            <a:xfrm>
              <a:off x="626757" y="3474572"/>
              <a:ext cx="891360" cy="0"/>
            </a:xfrm>
            <a:prstGeom prst="line">
              <a:avLst/>
            </a:prstGeom>
          </p:spPr>
          <p:style>
            <a:lnRef idx="1">
              <a:schemeClr val="dk1"/>
            </a:lnRef>
            <a:fillRef idx="0">
              <a:schemeClr val="dk1"/>
            </a:fillRef>
            <a:effectRef idx="0">
              <a:schemeClr val="dk1"/>
            </a:effectRef>
            <a:fontRef idx="minor">
              <a:schemeClr val="tx1"/>
            </a:fontRef>
          </p:style>
        </p:cxnSp>
        <p:sp>
          <p:nvSpPr>
            <p:cNvPr id="1050" name="TextBox 1049">
              <a:extLst>
                <a:ext uri="{FF2B5EF4-FFF2-40B4-BE49-F238E27FC236}">
                  <a16:creationId xmlns:a16="http://schemas.microsoft.com/office/drawing/2014/main" id="{6A20E016-707F-5632-FDDF-94217E8B0E49}"/>
                </a:ext>
              </a:extLst>
            </p:cNvPr>
            <p:cNvSpPr txBox="1"/>
            <p:nvPr/>
          </p:nvSpPr>
          <p:spPr>
            <a:xfrm>
              <a:off x="653197" y="3495805"/>
              <a:ext cx="868096" cy="461665"/>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getName</a:t>
              </a:r>
              <a:r>
                <a:rPr lang="en-US" dirty="0"/>
                <a:t>(): String</a:t>
              </a:r>
            </a:p>
            <a:p>
              <a:r>
                <a:rPr lang="en-US" dirty="0"/>
                <a:t>+ </a:t>
              </a:r>
              <a:r>
                <a:rPr lang="en-US" dirty="0" err="1"/>
                <a:t>setName</a:t>
              </a:r>
              <a:r>
                <a:rPr lang="en-US" dirty="0"/>
                <a:t>(String): void</a:t>
              </a:r>
            </a:p>
            <a:p>
              <a:r>
                <a:rPr lang="en-US" dirty="0"/>
                <a:t>+ </a:t>
              </a:r>
              <a:r>
                <a:rPr lang="en-US" dirty="0" err="1"/>
                <a:t>getNumber</a:t>
              </a:r>
              <a:r>
                <a:rPr lang="en-US" dirty="0"/>
                <a:t>(): String</a:t>
              </a:r>
            </a:p>
            <a:p>
              <a:r>
                <a:rPr lang="en-US" dirty="0"/>
                <a:t>+ </a:t>
              </a:r>
              <a:r>
                <a:rPr lang="en-US" dirty="0" err="1"/>
                <a:t>setNumber</a:t>
              </a:r>
              <a:r>
                <a:rPr lang="en-US" dirty="0"/>
                <a:t> (String): void</a:t>
              </a:r>
            </a:p>
            <a:p>
              <a:r>
                <a:rPr lang="en-US" dirty="0"/>
                <a:t>+ </a:t>
              </a:r>
              <a:r>
                <a:rPr lang="en-US" dirty="0" err="1"/>
                <a:t>toString</a:t>
              </a:r>
              <a:r>
                <a:rPr lang="en-US" dirty="0"/>
                <a:t>(): String</a:t>
              </a:r>
            </a:p>
          </p:txBody>
        </p:sp>
      </p:grpSp>
      <p:grpSp>
        <p:nvGrpSpPr>
          <p:cNvPr id="1051" name="Group 1050">
            <a:extLst>
              <a:ext uri="{FF2B5EF4-FFF2-40B4-BE49-F238E27FC236}">
                <a16:creationId xmlns:a16="http://schemas.microsoft.com/office/drawing/2014/main" id="{9DAFAB2C-4F26-790E-E257-10099A1DEF01}"/>
              </a:ext>
            </a:extLst>
          </p:cNvPr>
          <p:cNvGrpSpPr/>
          <p:nvPr/>
        </p:nvGrpSpPr>
        <p:grpSpPr>
          <a:xfrm>
            <a:off x="11189466" y="3970157"/>
            <a:ext cx="893370" cy="475022"/>
            <a:chOff x="626757" y="3130042"/>
            <a:chExt cx="893370" cy="475022"/>
          </a:xfrm>
        </p:grpSpPr>
        <p:sp>
          <p:nvSpPr>
            <p:cNvPr id="1052" name="TextBox 1051">
              <a:extLst>
                <a:ext uri="{FF2B5EF4-FFF2-40B4-BE49-F238E27FC236}">
                  <a16:creationId xmlns:a16="http://schemas.microsoft.com/office/drawing/2014/main" id="{E6F7BD42-55B6-3446-C92F-D8EF557E8E87}"/>
                </a:ext>
              </a:extLst>
            </p:cNvPr>
            <p:cNvSpPr txBox="1"/>
            <p:nvPr/>
          </p:nvSpPr>
          <p:spPr>
            <a:xfrm>
              <a:off x="641302" y="3151109"/>
              <a:ext cx="831201" cy="107722"/>
            </a:xfrm>
            <a:prstGeom prst="rect">
              <a:avLst/>
            </a:prstGeom>
            <a:noFill/>
          </p:spPr>
          <p:txBody>
            <a:bodyPr wrap="square" lIns="0" tIns="0" rIns="0" bIns="0" rtlCol="0">
              <a:spAutoFit/>
            </a:bodyPr>
            <a:lstStyle>
              <a:defPPr>
                <a:defRPr lang="en-US"/>
              </a:defPPr>
              <a:lvl1pPr algn="ctr">
                <a:defRPr sz="700" b="1"/>
              </a:lvl1pPr>
            </a:lstStyle>
            <a:p>
              <a:r>
                <a:rPr lang="en-US" i="1" dirty="0"/>
                <a:t>Person</a:t>
              </a:r>
            </a:p>
          </p:txBody>
        </p:sp>
        <p:sp>
          <p:nvSpPr>
            <p:cNvPr id="1053" name="Rectangle: Rounded Corners 1052">
              <a:extLst>
                <a:ext uri="{FF2B5EF4-FFF2-40B4-BE49-F238E27FC236}">
                  <a16:creationId xmlns:a16="http://schemas.microsoft.com/office/drawing/2014/main" id="{4445FC51-9D7E-0BC1-32F2-7584C32D65D2}"/>
                </a:ext>
              </a:extLst>
            </p:cNvPr>
            <p:cNvSpPr/>
            <p:nvPr/>
          </p:nvSpPr>
          <p:spPr>
            <a:xfrm>
              <a:off x="626759" y="3130042"/>
              <a:ext cx="890932" cy="475022"/>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4" name="Straight Connector 1053">
              <a:extLst>
                <a:ext uri="{FF2B5EF4-FFF2-40B4-BE49-F238E27FC236}">
                  <a16:creationId xmlns:a16="http://schemas.microsoft.com/office/drawing/2014/main" id="{C3D0A03F-9D04-5E64-D00D-8836191B36F6}"/>
                </a:ext>
              </a:extLst>
            </p:cNvPr>
            <p:cNvCxnSpPr>
              <a:cxnSpLocks/>
            </p:cNvCxnSpPr>
            <p:nvPr/>
          </p:nvCxnSpPr>
          <p:spPr>
            <a:xfrm>
              <a:off x="626759" y="3262639"/>
              <a:ext cx="893368" cy="0"/>
            </a:xfrm>
            <a:prstGeom prst="line">
              <a:avLst/>
            </a:prstGeom>
          </p:spPr>
          <p:style>
            <a:lnRef idx="1">
              <a:schemeClr val="dk1"/>
            </a:lnRef>
            <a:fillRef idx="0">
              <a:schemeClr val="dk1"/>
            </a:fillRef>
            <a:effectRef idx="0">
              <a:schemeClr val="dk1"/>
            </a:effectRef>
            <a:fontRef idx="minor">
              <a:schemeClr val="tx1"/>
            </a:fontRef>
          </p:style>
        </p:cxnSp>
        <p:sp>
          <p:nvSpPr>
            <p:cNvPr id="1055" name="TextBox 1054">
              <a:extLst>
                <a:ext uri="{FF2B5EF4-FFF2-40B4-BE49-F238E27FC236}">
                  <a16:creationId xmlns:a16="http://schemas.microsoft.com/office/drawing/2014/main" id="{939C3CBA-93E7-13A5-34E2-CFC8E878C5F0}"/>
                </a:ext>
              </a:extLst>
            </p:cNvPr>
            <p:cNvSpPr txBox="1"/>
            <p:nvPr/>
          </p:nvSpPr>
          <p:spPr>
            <a:xfrm>
              <a:off x="657951" y="3276104"/>
              <a:ext cx="814552" cy="184666"/>
            </a:xfrm>
            <a:prstGeom prst="rect">
              <a:avLst/>
            </a:prstGeom>
            <a:noFill/>
          </p:spPr>
          <p:txBody>
            <a:bodyPr wrap="square" lIns="0" tIns="0" rIns="0" bIns="0" rtlCol="0">
              <a:spAutoFit/>
            </a:bodyPr>
            <a:lstStyle>
              <a:defPPr>
                <a:defRPr lang="en-US"/>
              </a:defPPr>
              <a:lvl1pPr>
                <a:defRPr sz="600"/>
              </a:lvl1pPr>
            </a:lstStyle>
            <a:p>
              <a:r>
                <a:rPr lang="en-US" dirty="0"/>
                <a:t># name: String</a:t>
              </a:r>
            </a:p>
            <a:p>
              <a:r>
                <a:rPr lang="en-US" dirty="0"/>
                <a:t># mediator: Mediator</a:t>
              </a:r>
            </a:p>
          </p:txBody>
        </p:sp>
        <p:cxnSp>
          <p:nvCxnSpPr>
            <p:cNvPr id="1056" name="Straight Connector 1055">
              <a:extLst>
                <a:ext uri="{FF2B5EF4-FFF2-40B4-BE49-F238E27FC236}">
                  <a16:creationId xmlns:a16="http://schemas.microsoft.com/office/drawing/2014/main" id="{E9961C4E-45DC-455D-8BD0-B45BCC52298F}"/>
                </a:ext>
              </a:extLst>
            </p:cNvPr>
            <p:cNvCxnSpPr>
              <a:cxnSpLocks/>
            </p:cNvCxnSpPr>
            <p:nvPr/>
          </p:nvCxnSpPr>
          <p:spPr>
            <a:xfrm>
              <a:off x="626757" y="3476158"/>
              <a:ext cx="893370" cy="0"/>
            </a:xfrm>
            <a:prstGeom prst="line">
              <a:avLst/>
            </a:prstGeom>
          </p:spPr>
          <p:style>
            <a:lnRef idx="1">
              <a:schemeClr val="dk1"/>
            </a:lnRef>
            <a:fillRef idx="0">
              <a:schemeClr val="dk1"/>
            </a:fillRef>
            <a:effectRef idx="0">
              <a:schemeClr val="dk1"/>
            </a:effectRef>
            <a:fontRef idx="minor">
              <a:schemeClr val="tx1"/>
            </a:fontRef>
          </p:style>
        </p:cxnSp>
        <p:sp>
          <p:nvSpPr>
            <p:cNvPr id="1057" name="TextBox 1056">
              <a:extLst>
                <a:ext uri="{FF2B5EF4-FFF2-40B4-BE49-F238E27FC236}">
                  <a16:creationId xmlns:a16="http://schemas.microsoft.com/office/drawing/2014/main" id="{15336BA4-6083-3841-831D-999BB7A0A502}"/>
                </a:ext>
              </a:extLst>
            </p:cNvPr>
            <p:cNvSpPr txBox="1"/>
            <p:nvPr/>
          </p:nvSpPr>
          <p:spPr>
            <a:xfrm>
              <a:off x="653196" y="3491841"/>
              <a:ext cx="864495" cy="92333"/>
            </a:xfrm>
            <a:prstGeom prst="rect">
              <a:avLst/>
            </a:prstGeom>
            <a:noFill/>
          </p:spPr>
          <p:txBody>
            <a:bodyPr wrap="square" lIns="0" tIns="0" rIns="0" bIns="0" rtlCol="0">
              <a:spAutoFit/>
            </a:bodyPr>
            <a:lstStyle>
              <a:defPPr>
                <a:defRPr lang="en-US"/>
              </a:defPPr>
              <a:lvl1pPr>
                <a:defRPr sz="600"/>
              </a:lvl1pPr>
            </a:lstStyle>
            <a:p>
              <a:r>
                <a:rPr lang="en-US" dirty="0"/>
                <a:t>+ Person(name, Mediator)</a:t>
              </a:r>
            </a:p>
          </p:txBody>
        </p:sp>
      </p:grpSp>
      <p:grpSp>
        <p:nvGrpSpPr>
          <p:cNvPr id="1058" name="Group 1057">
            <a:extLst>
              <a:ext uri="{FF2B5EF4-FFF2-40B4-BE49-F238E27FC236}">
                <a16:creationId xmlns:a16="http://schemas.microsoft.com/office/drawing/2014/main" id="{60894A72-65F6-9F1B-B2E8-12E5910F35D0}"/>
              </a:ext>
            </a:extLst>
          </p:cNvPr>
          <p:cNvGrpSpPr/>
          <p:nvPr/>
        </p:nvGrpSpPr>
        <p:grpSpPr>
          <a:xfrm>
            <a:off x="10145022" y="5036525"/>
            <a:ext cx="979171" cy="549857"/>
            <a:chOff x="626757" y="3130041"/>
            <a:chExt cx="979171" cy="549857"/>
          </a:xfrm>
        </p:grpSpPr>
        <p:sp>
          <p:nvSpPr>
            <p:cNvPr id="1059" name="TextBox 1058">
              <a:extLst>
                <a:ext uri="{FF2B5EF4-FFF2-40B4-BE49-F238E27FC236}">
                  <a16:creationId xmlns:a16="http://schemas.microsoft.com/office/drawing/2014/main" id="{4E03786E-327A-A951-C8B9-B6C5356C9B00}"/>
                </a:ext>
              </a:extLst>
            </p:cNvPr>
            <p:cNvSpPr txBox="1"/>
            <p:nvPr/>
          </p:nvSpPr>
          <p:spPr>
            <a:xfrm>
              <a:off x="646436" y="3151109"/>
              <a:ext cx="930917" cy="107722"/>
            </a:xfrm>
            <a:prstGeom prst="rect">
              <a:avLst/>
            </a:prstGeom>
            <a:noFill/>
          </p:spPr>
          <p:txBody>
            <a:bodyPr wrap="square" lIns="0" tIns="0" rIns="0" bIns="0" rtlCol="0">
              <a:spAutoFit/>
            </a:bodyPr>
            <a:lstStyle>
              <a:defPPr>
                <a:defRPr lang="en-US"/>
              </a:defPPr>
              <a:lvl1pPr algn="ctr">
                <a:defRPr sz="700" b="1"/>
              </a:lvl1pPr>
            </a:lstStyle>
            <a:p>
              <a:r>
                <a:rPr lang="en-US" dirty="0"/>
                <a:t>T</a:t>
              </a:r>
              <a:r>
                <a:rPr lang="en-US" altLang="zh-CN" dirty="0"/>
                <a:t>enant</a:t>
              </a:r>
              <a:endParaRPr lang="en-US" dirty="0"/>
            </a:p>
          </p:txBody>
        </p:sp>
        <p:sp>
          <p:nvSpPr>
            <p:cNvPr id="1060" name="Rectangle: Rounded Corners 1059">
              <a:extLst>
                <a:ext uri="{FF2B5EF4-FFF2-40B4-BE49-F238E27FC236}">
                  <a16:creationId xmlns:a16="http://schemas.microsoft.com/office/drawing/2014/main" id="{0F673FE4-0A50-A13B-512B-8D7CB58904D0}"/>
                </a:ext>
              </a:extLst>
            </p:cNvPr>
            <p:cNvSpPr/>
            <p:nvPr/>
          </p:nvSpPr>
          <p:spPr>
            <a:xfrm>
              <a:off x="626759" y="3130041"/>
              <a:ext cx="975980" cy="549857"/>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1" name="Straight Connector 1060">
              <a:extLst>
                <a:ext uri="{FF2B5EF4-FFF2-40B4-BE49-F238E27FC236}">
                  <a16:creationId xmlns:a16="http://schemas.microsoft.com/office/drawing/2014/main" id="{D6F83F8F-6B31-61E7-B2A4-6BB47C053E4C}"/>
                </a:ext>
              </a:extLst>
            </p:cNvPr>
            <p:cNvCxnSpPr>
              <a:cxnSpLocks/>
            </p:cNvCxnSpPr>
            <p:nvPr/>
          </p:nvCxnSpPr>
          <p:spPr>
            <a:xfrm>
              <a:off x="626759" y="3262639"/>
              <a:ext cx="975994" cy="0"/>
            </a:xfrm>
            <a:prstGeom prst="line">
              <a:avLst/>
            </a:prstGeom>
          </p:spPr>
          <p:style>
            <a:lnRef idx="1">
              <a:schemeClr val="dk1"/>
            </a:lnRef>
            <a:fillRef idx="0">
              <a:schemeClr val="dk1"/>
            </a:fillRef>
            <a:effectRef idx="0">
              <a:schemeClr val="dk1"/>
            </a:effectRef>
            <a:fontRef idx="minor">
              <a:schemeClr val="tx1"/>
            </a:fontRef>
          </p:style>
        </p:cxnSp>
        <p:sp>
          <p:nvSpPr>
            <p:cNvPr id="1062" name="TextBox 1061">
              <a:extLst>
                <a:ext uri="{FF2B5EF4-FFF2-40B4-BE49-F238E27FC236}">
                  <a16:creationId xmlns:a16="http://schemas.microsoft.com/office/drawing/2014/main" id="{45B8CC55-698C-19DA-2EAA-A7CE20972862}"/>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1063" name="Straight Connector 1062">
              <a:extLst>
                <a:ext uri="{FF2B5EF4-FFF2-40B4-BE49-F238E27FC236}">
                  <a16:creationId xmlns:a16="http://schemas.microsoft.com/office/drawing/2014/main" id="{08544475-6375-47A0-92D0-7E28EF90125C}"/>
                </a:ext>
              </a:extLst>
            </p:cNvPr>
            <p:cNvCxnSpPr>
              <a:cxnSpLocks/>
            </p:cNvCxnSpPr>
            <p:nvPr/>
          </p:nvCxnSpPr>
          <p:spPr>
            <a:xfrm>
              <a:off x="626757" y="3374558"/>
              <a:ext cx="979171" cy="0"/>
            </a:xfrm>
            <a:prstGeom prst="line">
              <a:avLst/>
            </a:prstGeom>
          </p:spPr>
          <p:style>
            <a:lnRef idx="1">
              <a:schemeClr val="dk1"/>
            </a:lnRef>
            <a:fillRef idx="0">
              <a:schemeClr val="dk1"/>
            </a:fillRef>
            <a:effectRef idx="0">
              <a:schemeClr val="dk1"/>
            </a:effectRef>
            <a:fontRef idx="minor">
              <a:schemeClr val="tx1"/>
            </a:fontRef>
          </p:style>
        </p:cxnSp>
        <p:sp>
          <p:nvSpPr>
            <p:cNvPr id="1064" name="TextBox 1063">
              <a:extLst>
                <a:ext uri="{FF2B5EF4-FFF2-40B4-BE49-F238E27FC236}">
                  <a16:creationId xmlns:a16="http://schemas.microsoft.com/office/drawing/2014/main" id="{7B0396DA-9737-7049-D594-519A4DC08B4C}"/>
                </a:ext>
              </a:extLst>
            </p:cNvPr>
            <p:cNvSpPr txBox="1"/>
            <p:nvPr/>
          </p:nvSpPr>
          <p:spPr>
            <a:xfrm>
              <a:off x="653196" y="3383891"/>
              <a:ext cx="949543" cy="276999"/>
            </a:xfrm>
            <a:prstGeom prst="rect">
              <a:avLst/>
            </a:prstGeom>
            <a:noFill/>
          </p:spPr>
          <p:txBody>
            <a:bodyPr wrap="square" lIns="0" tIns="0" rIns="0" bIns="0" rtlCol="0">
              <a:spAutoFit/>
            </a:bodyPr>
            <a:lstStyle>
              <a:defPPr>
                <a:defRPr lang="en-US"/>
              </a:defPPr>
              <a:lvl1pPr>
                <a:defRPr sz="600"/>
              </a:lvl1pPr>
            </a:lstStyle>
            <a:p>
              <a:r>
                <a:rPr lang="en-US" dirty="0"/>
                <a:t>+ T</a:t>
              </a:r>
              <a:r>
                <a:rPr lang="en-US" altLang="zh-CN" dirty="0"/>
                <a:t>enant</a:t>
              </a:r>
              <a:r>
                <a:rPr lang="en-US" dirty="0"/>
                <a:t>(name, Mediator)</a:t>
              </a:r>
            </a:p>
            <a:p>
              <a:r>
                <a:rPr lang="en-US" dirty="0"/>
                <a:t>+ </a:t>
              </a:r>
              <a:r>
                <a:rPr lang="en-US" altLang="zh-CN" dirty="0" err="1"/>
                <a:t>constact</a:t>
              </a:r>
              <a:r>
                <a:rPr lang="en-US" dirty="0"/>
                <a:t>(message): void</a:t>
              </a:r>
            </a:p>
            <a:p>
              <a:r>
                <a:rPr lang="en-US" dirty="0"/>
                <a:t>+ </a:t>
              </a:r>
              <a:r>
                <a:rPr lang="en-US" altLang="zh-CN" dirty="0" err="1"/>
                <a:t>getMessage</a:t>
              </a:r>
              <a:r>
                <a:rPr lang="en-US" dirty="0"/>
                <a:t>(message): </a:t>
              </a:r>
              <a:r>
                <a:rPr lang="en-US" altLang="zh-CN" dirty="0"/>
                <a:t>void</a:t>
              </a:r>
              <a:endParaRPr lang="en-US" dirty="0"/>
            </a:p>
          </p:txBody>
        </p:sp>
      </p:grpSp>
      <p:cxnSp>
        <p:nvCxnSpPr>
          <p:cNvPr id="1065" name="Connector: Elbow 1064">
            <a:extLst>
              <a:ext uri="{FF2B5EF4-FFF2-40B4-BE49-F238E27FC236}">
                <a16:creationId xmlns:a16="http://schemas.microsoft.com/office/drawing/2014/main" id="{3EEE1237-F0C6-F2D3-7BAD-3A6B0432BEA9}"/>
              </a:ext>
            </a:extLst>
          </p:cNvPr>
          <p:cNvCxnSpPr>
            <a:cxnSpLocks/>
            <a:stCxn id="1046" idx="2"/>
            <a:endCxn id="1039" idx="0"/>
          </p:cNvCxnSpPr>
          <p:nvPr/>
        </p:nvCxnSpPr>
        <p:spPr>
          <a:xfrm rot="5400000">
            <a:off x="11471206" y="5804079"/>
            <a:ext cx="180324" cy="146070"/>
          </a:xfrm>
          <a:prstGeom prst="bentConnector3">
            <a:avLst>
              <a:gd name="adj1" fmla="val 24910"/>
            </a:avLst>
          </a:prstGeom>
        </p:spPr>
        <p:style>
          <a:lnRef idx="1">
            <a:schemeClr val="dk1"/>
          </a:lnRef>
          <a:fillRef idx="0">
            <a:schemeClr val="dk1"/>
          </a:fillRef>
          <a:effectRef idx="0">
            <a:schemeClr val="dk1"/>
          </a:effectRef>
          <a:fontRef idx="minor">
            <a:schemeClr val="tx1"/>
          </a:fontRef>
        </p:style>
      </p:cxnSp>
      <p:cxnSp>
        <p:nvCxnSpPr>
          <p:cNvPr id="1066" name="Connector: Elbow 1065">
            <a:extLst>
              <a:ext uri="{FF2B5EF4-FFF2-40B4-BE49-F238E27FC236}">
                <a16:creationId xmlns:a16="http://schemas.microsoft.com/office/drawing/2014/main" id="{E1205371-9DCC-BB05-B619-359C4B13DA2B}"/>
              </a:ext>
            </a:extLst>
          </p:cNvPr>
          <p:cNvCxnSpPr>
            <a:cxnSpLocks/>
            <a:stCxn id="1060" idx="2"/>
            <a:endCxn id="1039" idx="0"/>
          </p:cNvCxnSpPr>
          <p:nvPr/>
        </p:nvCxnSpPr>
        <p:spPr>
          <a:xfrm rot="16200000" flipH="1">
            <a:off x="10870226" y="5349169"/>
            <a:ext cx="380894" cy="855319"/>
          </a:xfrm>
          <a:prstGeom prst="bentConnector3">
            <a:avLst>
              <a:gd name="adj1" fmla="val 64588"/>
            </a:avLst>
          </a:prstGeom>
        </p:spPr>
        <p:style>
          <a:lnRef idx="1">
            <a:schemeClr val="dk1"/>
          </a:lnRef>
          <a:fillRef idx="0">
            <a:schemeClr val="dk1"/>
          </a:fillRef>
          <a:effectRef idx="0">
            <a:schemeClr val="dk1"/>
          </a:effectRef>
          <a:fontRef idx="minor">
            <a:schemeClr val="tx1"/>
          </a:fontRef>
        </p:style>
      </p:cxnSp>
      <p:cxnSp>
        <p:nvCxnSpPr>
          <p:cNvPr id="1067" name="Connector: Elbow 1066">
            <a:extLst>
              <a:ext uri="{FF2B5EF4-FFF2-40B4-BE49-F238E27FC236}">
                <a16:creationId xmlns:a16="http://schemas.microsoft.com/office/drawing/2014/main" id="{CA841F3E-A668-104C-930C-4DDF115AF7E3}"/>
              </a:ext>
            </a:extLst>
          </p:cNvPr>
          <p:cNvCxnSpPr>
            <a:cxnSpLocks/>
            <a:stCxn id="1053" idx="2"/>
            <a:endCxn id="1060" idx="0"/>
          </p:cNvCxnSpPr>
          <p:nvPr/>
        </p:nvCxnSpPr>
        <p:spPr>
          <a:xfrm rot="5400000">
            <a:off x="10838301" y="4239892"/>
            <a:ext cx="591346" cy="1001920"/>
          </a:xfrm>
          <a:prstGeom prst="bentConnector3">
            <a:avLst>
              <a:gd name="adj1" fmla="val 69731"/>
            </a:avLst>
          </a:prstGeom>
        </p:spPr>
        <p:style>
          <a:lnRef idx="1">
            <a:schemeClr val="dk1"/>
          </a:lnRef>
          <a:fillRef idx="0">
            <a:schemeClr val="dk1"/>
          </a:fillRef>
          <a:effectRef idx="0">
            <a:schemeClr val="dk1"/>
          </a:effectRef>
          <a:fontRef idx="minor">
            <a:schemeClr val="tx1"/>
          </a:fontRef>
        </p:style>
      </p:cxnSp>
      <p:cxnSp>
        <p:nvCxnSpPr>
          <p:cNvPr id="1068" name="Connector: Elbow 1067">
            <a:extLst>
              <a:ext uri="{FF2B5EF4-FFF2-40B4-BE49-F238E27FC236}">
                <a16:creationId xmlns:a16="http://schemas.microsoft.com/office/drawing/2014/main" id="{6C195D60-B04E-7605-9BBA-A4A2B2844EF7}"/>
              </a:ext>
            </a:extLst>
          </p:cNvPr>
          <p:cNvCxnSpPr>
            <a:cxnSpLocks/>
            <a:stCxn id="1053" idx="1"/>
            <a:endCxn id="1032" idx="3"/>
          </p:cNvCxnSpPr>
          <p:nvPr/>
        </p:nvCxnSpPr>
        <p:spPr>
          <a:xfrm rot="10800000" flipV="1">
            <a:off x="10761164" y="4207668"/>
            <a:ext cx="428305" cy="404840"/>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069" name="Connector: Elbow 1068">
            <a:extLst>
              <a:ext uri="{FF2B5EF4-FFF2-40B4-BE49-F238E27FC236}">
                <a16:creationId xmlns:a16="http://schemas.microsoft.com/office/drawing/2014/main" id="{2F9DBDC2-BC06-BE71-C971-9DC6120EB49E}"/>
              </a:ext>
            </a:extLst>
          </p:cNvPr>
          <p:cNvCxnSpPr>
            <a:cxnSpLocks/>
            <a:stCxn id="1039" idx="1"/>
          </p:cNvCxnSpPr>
          <p:nvPr/>
        </p:nvCxnSpPr>
        <p:spPr>
          <a:xfrm rot="10800000">
            <a:off x="9819264" y="4797694"/>
            <a:ext cx="1068578" cy="1596240"/>
          </a:xfrm>
          <a:prstGeom prst="bentConnector2">
            <a:avLst/>
          </a:prstGeom>
        </p:spPr>
        <p:style>
          <a:lnRef idx="1">
            <a:schemeClr val="dk1"/>
          </a:lnRef>
          <a:fillRef idx="0">
            <a:schemeClr val="dk1"/>
          </a:fillRef>
          <a:effectRef idx="0">
            <a:schemeClr val="dk1"/>
          </a:effectRef>
          <a:fontRef idx="minor">
            <a:schemeClr val="tx1"/>
          </a:fontRef>
        </p:style>
      </p:cxnSp>
      <p:cxnSp>
        <p:nvCxnSpPr>
          <p:cNvPr id="1070" name="Straight Connector 1069">
            <a:extLst>
              <a:ext uri="{FF2B5EF4-FFF2-40B4-BE49-F238E27FC236}">
                <a16:creationId xmlns:a16="http://schemas.microsoft.com/office/drawing/2014/main" id="{3A2093A3-4CC1-A75A-24B9-EE3C0DF8141B}"/>
              </a:ext>
            </a:extLst>
          </p:cNvPr>
          <p:cNvCxnSpPr>
            <a:cxnSpLocks/>
            <a:stCxn id="1053" idx="2"/>
            <a:endCxn id="1046" idx="0"/>
          </p:cNvCxnSpPr>
          <p:nvPr/>
        </p:nvCxnSpPr>
        <p:spPr>
          <a:xfrm flipH="1">
            <a:off x="11634403" y="4445179"/>
            <a:ext cx="531" cy="488457"/>
          </a:xfrm>
          <a:prstGeom prst="line">
            <a:avLst/>
          </a:prstGeom>
        </p:spPr>
        <p:style>
          <a:lnRef idx="1">
            <a:schemeClr val="dk1"/>
          </a:lnRef>
          <a:fillRef idx="0">
            <a:schemeClr val="dk1"/>
          </a:fillRef>
          <a:effectRef idx="0">
            <a:schemeClr val="dk1"/>
          </a:effectRef>
          <a:fontRef idx="minor">
            <a:schemeClr val="tx1"/>
          </a:fontRef>
        </p:style>
      </p:cxnSp>
      <p:sp>
        <p:nvSpPr>
          <p:cNvPr id="1071" name="Isosceles Triangle 1070">
            <a:extLst>
              <a:ext uri="{FF2B5EF4-FFF2-40B4-BE49-F238E27FC236}">
                <a16:creationId xmlns:a16="http://schemas.microsoft.com/office/drawing/2014/main" id="{C5F1CE12-4E6B-86B0-82AD-BF1C1B8CDF8C}"/>
              </a:ext>
            </a:extLst>
          </p:cNvPr>
          <p:cNvSpPr/>
          <p:nvPr/>
        </p:nvSpPr>
        <p:spPr>
          <a:xfrm>
            <a:off x="11612075" y="4452197"/>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2" name="Diamond 1071">
            <a:extLst>
              <a:ext uri="{FF2B5EF4-FFF2-40B4-BE49-F238E27FC236}">
                <a16:creationId xmlns:a16="http://schemas.microsoft.com/office/drawing/2014/main" id="{03BC3E91-59E4-F81D-8CE8-0E9364886056}"/>
              </a:ext>
            </a:extLst>
          </p:cNvPr>
          <p:cNvSpPr/>
          <p:nvPr/>
        </p:nvSpPr>
        <p:spPr>
          <a:xfrm rot="16200000">
            <a:off x="11445290" y="5896589"/>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3" name="Diamond 1072">
            <a:extLst>
              <a:ext uri="{FF2B5EF4-FFF2-40B4-BE49-F238E27FC236}">
                <a16:creationId xmlns:a16="http://schemas.microsoft.com/office/drawing/2014/main" id="{ECBF4DFA-9984-1767-84A8-7965D2FCEBF5}"/>
              </a:ext>
            </a:extLst>
          </p:cNvPr>
          <p:cNvSpPr/>
          <p:nvPr/>
        </p:nvSpPr>
        <p:spPr>
          <a:xfrm>
            <a:off x="11095618" y="4180489"/>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Isosceles Triangle 1073">
            <a:extLst>
              <a:ext uri="{FF2B5EF4-FFF2-40B4-BE49-F238E27FC236}">
                <a16:creationId xmlns:a16="http://schemas.microsoft.com/office/drawing/2014/main" id="{DD7D88A7-6199-298C-5DD8-22AA6E323DE8}"/>
              </a:ext>
            </a:extLst>
          </p:cNvPr>
          <p:cNvSpPr/>
          <p:nvPr/>
        </p:nvSpPr>
        <p:spPr>
          <a:xfrm>
            <a:off x="9796215" y="4800950"/>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75" name="Group 1074">
            <a:extLst>
              <a:ext uri="{FF2B5EF4-FFF2-40B4-BE49-F238E27FC236}">
                <a16:creationId xmlns:a16="http://schemas.microsoft.com/office/drawing/2014/main" id="{C7E8F0BD-F8E8-2653-345F-F8E5107C99B5}"/>
              </a:ext>
            </a:extLst>
          </p:cNvPr>
          <p:cNvGrpSpPr/>
          <p:nvPr/>
        </p:nvGrpSpPr>
        <p:grpSpPr>
          <a:xfrm>
            <a:off x="9475288" y="1997407"/>
            <a:ext cx="1104089" cy="362756"/>
            <a:chOff x="626757" y="3130042"/>
            <a:chExt cx="1104089" cy="362756"/>
          </a:xfrm>
        </p:grpSpPr>
        <p:sp>
          <p:nvSpPr>
            <p:cNvPr id="1076" name="TextBox 1075">
              <a:extLst>
                <a:ext uri="{FF2B5EF4-FFF2-40B4-BE49-F238E27FC236}">
                  <a16:creationId xmlns:a16="http://schemas.microsoft.com/office/drawing/2014/main" id="{733C9EB1-46D5-B7FE-3A32-31AFB7905844}"/>
                </a:ext>
              </a:extLst>
            </p:cNvPr>
            <p:cNvSpPr txBox="1"/>
            <p:nvPr/>
          </p:nvSpPr>
          <p:spPr>
            <a:xfrm>
              <a:off x="773884" y="3151109"/>
              <a:ext cx="764633" cy="107722"/>
            </a:xfrm>
            <a:prstGeom prst="rect">
              <a:avLst/>
            </a:prstGeom>
            <a:noFill/>
          </p:spPr>
          <p:txBody>
            <a:bodyPr wrap="none" lIns="0" tIns="0" rIns="0" bIns="0" rtlCol="0">
              <a:spAutoFit/>
            </a:bodyPr>
            <a:lstStyle>
              <a:defPPr>
                <a:defRPr lang="en-US"/>
              </a:defPPr>
              <a:lvl1pPr algn="ctr">
                <a:defRPr sz="700" b="1"/>
              </a:lvl1pPr>
            </a:lstStyle>
            <a:p>
              <a:r>
                <a:rPr lang="en-US" dirty="0"/>
                <a:t>&lt;interface&gt;Observer</a:t>
              </a:r>
            </a:p>
          </p:txBody>
        </p:sp>
        <p:sp>
          <p:nvSpPr>
            <p:cNvPr id="1077" name="Rectangle: Rounded Corners 1076">
              <a:extLst>
                <a:ext uri="{FF2B5EF4-FFF2-40B4-BE49-F238E27FC236}">
                  <a16:creationId xmlns:a16="http://schemas.microsoft.com/office/drawing/2014/main" id="{3E9743A1-76B2-5F31-28F0-7147AD532652}"/>
                </a:ext>
              </a:extLst>
            </p:cNvPr>
            <p:cNvSpPr/>
            <p:nvPr/>
          </p:nvSpPr>
          <p:spPr>
            <a:xfrm>
              <a:off x="626759" y="3130042"/>
              <a:ext cx="1102556" cy="36275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78" name="Straight Connector 1077">
              <a:extLst>
                <a:ext uri="{FF2B5EF4-FFF2-40B4-BE49-F238E27FC236}">
                  <a16:creationId xmlns:a16="http://schemas.microsoft.com/office/drawing/2014/main" id="{C73C5AE9-E567-EDB6-A74C-806ABF8C363D}"/>
                </a:ext>
              </a:extLst>
            </p:cNvPr>
            <p:cNvCxnSpPr>
              <a:cxnSpLocks/>
            </p:cNvCxnSpPr>
            <p:nvPr/>
          </p:nvCxnSpPr>
          <p:spPr>
            <a:xfrm>
              <a:off x="626759" y="3262639"/>
              <a:ext cx="1104087" cy="0"/>
            </a:xfrm>
            <a:prstGeom prst="line">
              <a:avLst/>
            </a:prstGeom>
          </p:spPr>
          <p:style>
            <a:lnRef idx="1">
              <a:schemeClr val="dk1"/>
            </a:lnRef>
            <a:fillRef idx="0">
              <a:schemeClr val="dk1"/>
            </a:fillRef>
            <a:effectRef idx="0">
              <a:schemeClr val="dk1"/>
            </a:effectRef>
            <a:fontRef idx="minor">
              <a:schemeClr val="tx1"/>
            </a:fontRef>
          </p:style>
        </p:cxnSp>
        <p:sp>
          <p:nvSpPr>
            <p:cNvPr id="1079" name="TextBox 1078">
              <a:extLst>
                <a:ext uri="{FF2B5EF4-FFF2-40B4-BE49-F238E27FC236}">
                  <a16:creationId xmlns:a16="http://schemas.microsoft.com/office/drawing/2014/main" id="{3EA4C973-67E6-9525-6067-F275B6F7899D}"/>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1080" name="Straight Connector 1079">
              <a:extLst>
                <a:ext uri="{FF2B5EF4-FFF2-40B4-BE49-F238E27FC236}">
                  <a16:creationId xmlns:a16="http://schemas.microsoft.com/office/drawing/2014/main" id="{54D49B78-443F-A492-D59F-C1B1DE82C2C2}"/>
                </a:ext>
              </a:extLst>
            </p:cNvPr>
            <p:cNvCxnSpPr>
              <a:cxnSpLocks/>
            </p:cNvCxnSpPr>
            <p:nvPr/>
          </p:nvCxnSpPr>
          <p:spPr>
            <a:xfrm>
              <a:off x="626757" y="3374558"/>
              <a:ext cx="1101708" cy="0"/>
            </a:xfrm>
            <a:prstGeom prst="line">
              <a:avLst/>
            </a:prstGeom>
          </p:spPr>
          <p:style>
            <a:lnRef idx="1">
              <a:schemeClr val="dk1"/>
            </a:lnRef>
            <a:fillRef idx="0">
              <a:schemeClr val="dk1"/>
            </a:fillRef>
            <a:effectRef idx="0">
              <a:schemeClr val="dk1"/>
            </a:effectRef>
            <a:fontRef idx="minor">
              <a:schemeClr val="tx1"/>
            </a:fontRef>
          </p:style>
        </p:cxnSp>
        <p:sp>
          <p:nvSpPr>
            <p:cNvPr id="1081" name="TextBox 1080">
              <a:extLst>
                <a:ext uri="{FF2B5EF4-FFF2-40B4-BE49-F238E27FC236}">
                  <a16:creationId xmlns:a16="http://schemas.microsoft.com/office/drawing/2014/main" id="{1F3CBCAE-D4DB-18D7-9926-D36E69945081}"/>
                </a:ext>
              </a:extLst>
            </p:cNvPr>
            <p:cNvSpPr txBox="1"/>
            <p:nvPr/>
          </p:nvSpPr>
          <p:spPr>
            <a:xfrm>
              <a:off x="653196" y="3381510"/>
              <a:ext cx="1073475"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update</a:t>
              </a:r>
              <a:r>
                <a:rPr lang="en-US" dirty="0"/>
                <a:t>(message): void</a:t>
              </a:r>
            </a:p>
          </p:txBody>
        </p:sp>
      </p:grpSp>
      <p:grpSp>
        <p:nvGrpSpPr>
          <p:cNvPr id="1082" name="Group 1081">
            <a:extLst>
              <a:ext uri="{FF2B5EF4-FFF2-40B4-BE49-F238E27FC236}">
                <a16:creationId xmlns:a16="http://schemas.microsoft.com/office/drawing/2014/main" id="{FAAF2C7A-E829-F978-D205-1EAF36F51152}"/>
              </a:ext>
            </a:extLst>
          </p:cNvPr>
          <p:cNvGrpSpPr/>
          <p:nvPr/>
        </p:nvGrpSpPr>
        <p:grpSpPr>
          <a:xfrm>
            <a:off x="10931123" y="1940389"/>
            <a:ext cx="1104089" cy="544131"/>
            <a:chOff x="626757" y="3130041"/>
            <a:chExt cx="1104089" cy="544131"/>
          </a:xfrm>
        </p:grpSpPr>
        <p:sp>
          <p:nvSpPr>
            <p:cNvPr id="1083" name="TextBox 1082">
              <a:extLst>
                <a:ext uri="{FF2B5EF4-FFF2-40B4-BE49-F238E27FC236}">
                  <a16:creationId xmlns:a16="http://schemas.microsoft.com/office/drawing/2014/main" id="{285C5543-0331-7712-CD78-52B9B96794FB}"/>
                </a:ext>
              </a:extLst>
            </p:cNvPr>
            <p:cNvSpPr txBox="1"/>
            <p:nvPr/>
          </p:nvSpPr>
          <p:spPr>
            <a:xfrm>
              <a:off x="808351" y="3151109"/>
              <a:ext cx="695704" cy="107722"/>
            </a:xfrm>
            <a:prstGeom prst="rect">
              <a:avLst/>
            </a:prstGeom>
            <a:noFill/>
          </p:spPr>
          <p:txBody>
            <a:bodyPr wrap="none" lIns="0" tIns="0" rIns="0" bIns="0" rtlCol="0">
              <a:spAutoFit/>
            </a:bodyPr>
            <a:lstStyle>
              <a:defPPr>
                <a:defRPr lang="en-US"/>
              </a:defPPr>
              <a:lvl1pPr algn="ctr">
                <a:defRPr sz="700" b="1"/>
              </a:lvl1pPr>
            </a:lstStyle>
            <a:p>
              <a:r>
                <a:rPr lang="en-US" dirty="0"/>
                <a:t>&lt;interface&gt;Subject</a:t>
              </a:r>
            </a:p>
          </p:txBody>
        </p:sp>
        <p:sp>
          <p:nvSpPr>
            <p:cNvPr id="1084" name="Rectangle: Rounded Corners 1083">
              <a:extLst>
                <a:ext uri="{FF2B5EF4-FFF2-40B4-BE49-F238E27FC236}">
                  <a16:creationId xmlns:a16="http://schemas.microsoft.com/office/drawing/2014/main" id="{ABD92D76-883E-117F-2104-4208643DFAEF}"/>
                </a:ext>
              </a:extLst>
            </p:cNvPr>
            <p:cNvSpPr/>
            <p:nvPr/>
          </p:nvSpPr>
          <p:spPr>
            <a:xfrm>
              <a:off x="626759" y="3130041"/>
              <a:ext cx="1102556" cy="54413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5" name="Straight Connector 1084">
              <a:extLst>
                <a:ext uri="{FF2B5EF4-FFF2-40B4-BE49-F238E27FC236}">
                  <a16:creationId xmlns:a16="http://schemas.microsoft.com/office/drawing/2014/main" id="{9D866436-D452-0C5A-34B8-FE0611401177}"/>
                </a:ext>
              </a:extLst>
            </p:cNvPr>
            <p:cNvCxnSpPr>
              <a:cxnSpLocks/>
            </p:cNvCxnSpPr>
            <p:nvPr/>
          </p:nvCxnSpPr>
          <p:spPr>
            <a:xfrm>
              <a:off x="626759" y="3262639"/>
              <a:ext cx="1104087" cy="0"/>
            </a:xfrm>
            <a:prstGeom prst="line">
              <a:avLst/>
            </a:prstGeom>
          </p:spPr>
          <p:style>
            <a:lnRef idx="1">
              <a:schemeClr val="dk1"/>
            </a:lnRef>
            <a:fillRef idx="0">
              <a:schemeClr val="dk1"/>
            </a:fillRef>
            <a:effectRef idx="0">
              <a:schemeClr val="dk1"/>
            </a:effectRef>
            <a:fontRef idx="minor">
              <a:schemeClr val="tx1"/>
            </a:fontRef>
          </p:style>
        </p:cxnSp>
        <p:sp>
          <p:nvSpPr>
            <p:cNvPr id="1086" name="TextBox 1085">
              <a:extLst>
                <a:ext uri="{FF2B5EF4-FFF2-40B4-BE49-F238E27FC236}">
                  <a16:creationId xmlns:a16="http://schemas.microsoft.com/office/drawing/2014/main" id="{5E7B217F-6308-3060-F1B7-14FCA132CFF2}"/>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1087" name="Straight Connector 1086">
              <a:extLst>
                <a:ext uri="{FF2B5EF4-FFF2-40B4-BE49-F238E27FC236}">
                  <a16:creationId xmlns:a16="http://schemas.microsoft.com/office/drawing/2014/main" id="{026206C0-7E9B-7D36-89F1-374FB3917466}"/>
                </a:ext>
              </a:extLst>
            </p:cNvPr>
            <p:cNvCxnSpPr>
              <a:cxnSpLocks/>
            </p:cNvCxnSpPr>
            <p:nvPr/>
          </p:nvCxnSpPr>
          <p:spPr>
            <a:xfrm>
              <a:off x="626757" y="3374558"/>
              <a:ext cx="1101708" cy="0"/>
            </a:xfrm>
            <a:prstGeom prst="line">
              <a:avLst/>
            </a:prstGeom>
          </p:spPr>
          <p:style>
            <a:lnRef idx="1">
              <a:schemeClr val="dk1"/>
            </a:lnRef>
            <a:fillRef idx="0">
              <a:schemeClr val="dk1"/>
            </a:fillRef>
            <a:effectRef idx="0">
              <a:schemeClr val="dk1"/>
            </a:effectRef>
            <a:fontRef idx="minor">
              <a:schemeClr val="tx1"/>
            </a:fontRef>
          </p:style>
        </p:cxnSp>
        <p:sp>
          <p:nvSpPr>
            <p:cNvPr id="2052" name="TextBox 2051">
              <a:extLst>
                <a:ext uri="{FF2B5EF4-FFF2-40B4-BE49-F238E27FC236}">
                  <a16:creationId xmlns:a16="http://schemas.microsoft.com/office/drawing/2014/main" id="{90533318-2D9B-8DFC-F321-06AC410D4DCC}"/>
                </a:ext>
              </a:extLst>
            </p:cNvPr>
            <p:cNvSpPr txBox="1"/>
            <p:nvPr/>
          </p:nvSpPr>
          <p:spPr>
            <a:xfrm>
              <a:off x="653196" y="3381510"/>
              <a:ext cx="1073475"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attach</a:t>
              </a:r>
              <a:r>
                <a:rPr lang="en-US" dirty="0"/>
                <a:t>(Observer): void</a:t>
              </a:r>
            </a:p>
            <a:p>
              <a:r>
                <a:rPr lang="en-US" dirty="0"/>
                <a:t>+ </a:t>
              </a:r>
              <a:r>
                <a:rPr lang="en-US" altLang="zh-CN" dirty="0"/>
                <a:t>detach</a:t>
              </a:r>
              <a:r>
                <a:rPr lang="en-US" dirty="0"/>
                <a:t>(Observer): void</a:t>
              </a:r>
            </a:p>
            <a:p>
              <a:r>
                <a:rPr lang="en-US" dirty="0"/>
                <a:t>+ </a:t>
              </a:r>
              <a:r>
                <a:rPr lang="en-US" altLang="zh-CN" dirty="0"/>
                <a:t>notify</a:t>
              </a:r>
              <a:r>
                <a:rPr lang="en-US" dirty="0"/>
                <a:t>(message): void</a:t>
              </a:r>
            </a:p>
          </p:txBody>
        </p:sp>
      </p:grpSp>
      <p:grpSp>
        <p:nvGrpSpPr>
          <p:cNvPr id="2087" name="Group 2086">
            <a:extLst>
              <a:ext uri="{FF2B5EF4-FFF2-40B4-BE49-F238E27FC236}">
                <a16:creationId xmlns:a16="http://schemas.microsoft.com/office/drawing/2014/main" id="{52E8404C-132E-B271-33BC-87B5FBFC07CF}"/>
              </a:ext>
            </a:extLst>
          </p:cNvPr>
          <p:cNvGrpSpPr/>
          <p:nvPr/>
        </p:nvGrpSpPr>
        <p:grpSpPr>
          <a:xfrm>
            <a:off x="10931123" y="2686512"/>
            <a:ext cx="1104089" cy="544131"/>
            <a:chOff x="626757" y="3130041"/>
            <a:chExt cx="1104089" cy="544131"/>
          </a:xfrm>
        </p:grpSpPr>
        <p:sp>
          <p:nvSpPr>
            <p:cNvPr id="2088" name="TextBox 2087">
              <a:extLst>
                <a:ext uri="{FF2B5EF4-FFF2-40B4-BE49-F238E27FC236}">
                  <a16:creationId xmlns:a16="http://schemas.microsoft.com/office/drawing/2014/main" id="{EE285F46-5C85-20D6-150A-060473B1E8E4}"/>
                </a:ext>
              </a:extLst>
            </p:cNvPr>
            <p:cNvSpPr txBox="1"/>
            <p:nvPr/>
          </p:nvSpPr>
          <p:spPr>
            <a:xfrm>
              <a:off x="789116" y="3151109"/>
              <a:ext cx="734176" cy="107722"/>
            </a:xfrm>
            <a:prstGeom prst="rect">
              <a:avLst/>
            </a:prstGeom>
            <a:noFill/>
          </p:spPr>
          <p:txBody>
            <a:bodyPr wrap="none" lIns="0" tIns="0" rIns="0" bIns="0" rtlCol="0">
              <a:spAutoFit/>
            </a:bodyPr>
            <a:lstStyle>
              <a:defPPr>
                <a:defRPr lang="en-US"/>
              </a:defPPr>
              <a:lvl1pPr algn="ctr">
                <a:defRPr sz="700" b="1"/>
              </a:lvl1pPr>
            </a:lstStyle>
            <a:p>
              <a:r>
                <a:rPr lang="en-US" dirty="0" err="1"/>
                <a:t>SubscriptionSubject</a:t>
              </a:r>
              <a:endParaRPr lang="en-US" dirty="0"/>
            </a:p>
          </p:txBody>
        </p:sp>
        <p:sp>
          <p:nvSpPr>
            <p:cNvPr id="2096" name="Rectangle: Rounded Corners 2095">
              <a:extLst>
                <a:ext uri="{FF2B5EF4-FFF2-40B4-BE49-F238E27FC236}">
                  <a16:creationId xmlns:a16="http://schemas.microsoft.com/office/drawing/2014/main" id="{7960FFCF-9354-1F7A-57DE-E31218A06F01}"/>
                </a:ext>
              </a:extLst>
            </p:cNvPr>
            <p:cNvSpPr/>
            <p:nvPr/>
          </p:nvSpPr>
          <p:spPr>
            <a:xfrm>
              <a:off x="626759" y="3130041"/>
              <a:ext cx="1102556" cy="54413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97" name="Straight Connector 2096">
              <a:extLst>
                <a:ext uri="{FF2B5EF4-FFF2-40B4-BE49-F238E27FC236}">
                  <a16:creationId xmlns:a16="http://schemas.microsoft.com/office/drawing/2014/main" id="{B87D2258-5B24-6C43-B4F9-0888AE648172}"/>
                </a:ext>
              </a:extLst>
            </p:cNvPr>
            <p:cNvCxnSpPr>
              <a:cxnSpLocks/>
            </p:cNvCxnSpPr>
            <p:nvPr/>
          </p:nvCxnSpPr>
          <p:spPr>
            <a:xfrm>
              <a:off x="626759" y="3262639"/>
              <a:ext cx="1104087" cy="0"/>
            </a:xfrm>
            <a:prstGeom prst="line">
              <a:avLst/>
            </a:prstGeom>
          </p:spPr>
          <p:style>
            <a:lnRef idx="1">
              <a:schemeClr val="dk1"/>
            </a:lnRef>
            <a:fillRef idx="0">
              <a:schemeClr val="dk1"/>
            </a:fillRef>
            <a:effectRef idx="0">
              <a:schemeClr val="dk1"/>
            </a:effectRef>
            <a:fontRef idx="minor">
              <a:schemeClr val="tx1"/>
            </a:fontRef>
          </p:style>
        </p:cxnSp>
        <p:sp>
          <p:nvSpPr>
            <p:cNvPr id="2098" name="TextBox 2097">
              <a:extLst>
                <a:ext uri="{FF2B5EF4-FFF2-40B4-BE49-F238E27FC236}">
                  <a16:creationId xmlns:a16="http://schemas.microsoft.com/office/drawing/2014/main" id="{5B5B7E4A-C209-67AE-89BE-5AD60D4B5F28}"/>
                </a:ext>
              </a:extLst>
            </p:cNvPr>
            <p:cNvSpPr txBox="1"/>
            <p:nvPr/>
          </p:nvSpPr>
          <p:spPr>
            <a:xfrm>
              <a:off x="657950" y="3276104"/>
              <a:ext cx="1019477"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weixinUser</a:t>
              </a:r>
              <a:r>
                <a:rPr lang="en-US" dirty="0"/>
                <a:t>: List&lt;Observer&gt;</a:t>
              </a:r>
            </a:p>
          </p:txBody>
        </p:sp>
        <p:cxnSp>
          <p:nvCxnSpPr>
            <p:cNvPr id="2099" name="Straight Connector 2098">
              <a:extLst>
                <a:ext uri="{FF2B5EF4-FFF2-40B4-BE49-F238E27FC236}">
                  <a16:creationId xmlns:a16="http://schemas.microsoft.com/office/drawing/2014/main" id="{8480949D-E635-6047-B4A5-E7D972A036D1}"/>
                </a:ext>
              </a:extLst>
            </p:cNvPr>
            <p:cNvCxnSpPr>
              <a:cxnSpLocks/>
            </p:cNvCxnSpPr>
            <p:nvPr/>
          </p:nvCxnSpPr>
          <p:spPr>
            <a:xfrm>
              <a:off x="626757" y="3374558"/>
              <a:ext cx="1101708" cy="0"/>
            </a:xfrm>
            <a:prstGeom prst="line">
              <a:avLst/>
            </a:prstGeom>
          </p:spPr>
          <p:style>
            <a:lnRef idx="1">
              <a:schemeClr val="dk1"/>
            </a:lnRef>
            <a:fillRef idx="0">
              <a:schemeClr val="dk1"/>
            </a:fillRef>
            <a:effectRef idx="0">
              <a:schemeClr val="dk1"/>
            </a:effectRef>
            <a:fontRef idx="minor">
              <a:schemeClr val="tx1"/>
            </a:fontRef>
          </p:style>
        </p:cxnSp>
        <p:sp>
          <p:nvSpPr>
            <p:cNvPr id="2101" name="TextBox 2100">
              <a:extLst>
                <a:ext uri="{FF2B5EF4-FFF2-40B4-BE49-F238E27FC236}">
                  <a16:creationId xmlns:a16="http://schemas.microsoft.com/office/drawing/2014/main" id="{1E743CD8-5AD2-2E09-F990-278B1CDCE3E0}"/>
                </a:ext>
              </a:extLst>
            </p:cNvPr>
            <p:cNvSpPr txBox="1"/>
            <p:nvPr/>
          </p:nvSpPr>
          <p:spPr>
            <a:xfrm>
              <a:off x="653196" y="3381510"/>
              <a:ext cx="1073475"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attach</a:t>
              </a:r>
              <a:r>
                <a:rPr lang="en-US" dirty="0"/>
                <a:t>(Observer): void</a:t>
              </a:r>
            </a:p>
            <a:p>
              <a:r>
                <a:rPr lang="en-US" dirty="0"/>
                <a:t>+ </a:t>
              </a:r>
              <a:r>
                <a:rPr lang="en-US" altLang="zh-CN" dirty="0"/>
                <a:t>detach</a:t>
              </a:r>
              <a:r>
                <a:rPr lang="en-US" dirty="0"/>
                <a:t>(Observer): void</a:t>
              </a:r>
            </a:p>
            <a:p>
              <a:r>
                <a:rPr lang="en-US" dirty="0"/>
                <a:t>+ </a:t>
              </a:r>
              <a:r>
                <a:rPr lang="en-US" altLang="zh-CN" dirty="0"/>
                <a:t>notify</a:t>
              </a:r>
              <a:r>
                <a:rPr lang="en-US" dirty="0"/>
                <a:t>(message): void</a:t>
              </a:r>
            </a:p>
          </p:txBody>
        </p:sp>
      </p:grpSp>
      <p:grpSp>
        <p:nvGrpSpPr>
          <p:cNvPr id="2103" name="Group 2102">
            <a:extLst>
              <a:ext uri="{FF2B5EF4-FFF2-40B4-BE49-F238E27FC236}">
                <a16:creationId xmlns:a16="http://schemas.microsoft.com/office/drawing/2014/main" id="{A12DAC1C-E26E-63D1-15EF-428112D1AB37}"/>
              </a:ext>
            </a:extLst>
          </p:cNvPr>
          <p:cNvGrpSpPr/>
          <p:nvPr/>
        </p:nvGrpSpPr>
        <p:grpSpPr>
          <a:xfrm>
            <a:off x="9475288" y="2799709"/>
            <a:ext cx="1104089" cy="436134"/>
            <a:chOff x="626757" y="3130042"/>
            <a:chExt cx="1104089" cy="436134"/>
          </a:xfrm>
        </p:grpSpPr>
        <p:sp>
          <p:nvSpPr>
            <p:cNvPr id="2104" name="TextBox 2103">
              <a:extLst>
                <a:ext uri="{FF2B5EF4-FFF2-40B4-BE49-F238E27FC236}">
                  <a16:creationId xmlns:a16="http://schemas.microsoft.com/office/drawing/2014/main" id="{F7D7BF8E-7564-98F3-ECC7-B44F32F6F94D}"/>
                </a:ext>
              </a:extLst>
            </p:cNvPr>
            <p:cNvSpPr txBox="1"/>
            <p:nvPr/>
          </p:nvSpPr>
          <p:spPr>
            <a:xfrm>
              <a:off x="939795" y="3151109"/>
              <a:ext cx="432811" cy="107722"/>
            </a:xfrm>
            <a:prstGeom prst="rect">
              <a:avLst/>
            </a:prstGeom>
            <a:noFill/>
          </p:spPr>
          <p:txBody>
            <a:bodyPr wrap="none" lIns="0" tIns="0" rIns="0" bIns="0" rtlCol="0">
              <a:spAutoFit/>
            </a:bodyPr>
            <a:lstStyle>
              <a:defPPr>
                <a:defRPr lang="en-US"/>
              </a:defPPr>
              <a:lvl1pPr algn="ctr">
                <a:defRPr sz="700" b="1"/>
              </a:lvl1pPr>
            </a:lstStyle>
            <a:p>
              <a:r>
                <a:rPr lang="en-US" dirty="0" err="1"/>
                <a:t>WeixinUser</a:t>
              </a:r>
              <a:endParaRPr lang="en-US" dirty="0"/>
            </a:p>
          </p:txBody>
        </p:sp>
        <p:sp>
          <p:nvSpPr>
            <p:cNvPr id="2105" name="Rectangle: Rounded Corners 2104">
              <a:extLst>
                <a:ext uri="{FF2B5EF4-FFF2-40B4-BE49-F238E27FC236}">
                  <a16:creationId xmlns:a16="http://schemas.microsoft.com/office/drawing/2014/main" id="{0279E525-7572-FC8E-641F-A7BB1D73E5AD}"/>
                </a:ext>
              </a:extLst>
            </p:cNvPr>
            <p:cNvSpPr/>
            <p:nvPr/>
          </p:nvSpPr>
          <p:spPr>
            <a:xfrm>
              <a:off x="626759" y="3130042"/>
              <a:ext cx="1102556" cy="436134"/>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08" name="Straight Connector 2107">
              <a:extLst>
                <a:ext uri="{FF2B5EF4-FFF2-40B4-BE49-F238E27FC236}">
                  <a16:creationId xmlns:a16="http://schemas.microsoft.com/office/drawing/2014/main" id="{EDAB1B17-1DEC-CE9C-B61A-5DC3BE1C5F9F}"/>
                </a:ext>
              </a:extLst>
            </p:cNvPr>
            <p:cNvCxnSpPr>
              <a:cxnSpLocks/>
            </p:cNvCxnSpPr>
            <p:nvPr/>
          </p:nvCxnSpPr>
          <p:spPr>
            <a:xfrm>
              <a:off x="626759" y="3262639"/>
              <a:ext cx="1104087" cy="0"/>
            </a:xfrm>
            <a:prstGeom prst="line">
              <a:avLst/>
            </a:prstGeom>
          </p:spPr>
          <p:style>
            <a:lnRef idx="1">
              <a:schemeClr val="dk1"/>
            </a:lnRef>
            <a:fillRef idx="0">
              <a:schemeClr val="dk1"/>
            </a:fillRef>
            <a:effectRef idx="0">
              <a:schemeClr val="dk1"/>
            </a:effectRef>
            <a:fontRef idx="minor">
              <a:schemeClr val="tx1"/>
            </a:fontRef>
          </p:style>
        </p:cxnSp>
        <p:sp>
          <p:nvSpPr>
            <p:cNvPr id="2109" name="TextBox 2108">
              <a:extLst>
                <a:ext uri="{FF2B5EF4-FFF2-40B4-BE49-F238E27FC236}">
                  <a16:creationId xmlns:a16="http://schemas.microsoft.com/office/drawing/2014/main" id="{E5238664-1083-BE6B-9600-753E83B431DE}"/>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r>
                <a:rPr lang="en-US" dirty="0"/>
                <a:t>-name: String</a:t>
              </a:r>
            </a:p>
          </p:txBody>
        </p:sp>
        <p:cxnSp>
          <p:nvCxnSpPr>
            <p:cNvPr id="2111" name="Straight Connector 2110">
              <a:extLst>
                <a:ext uri="{FF2B5EF4-FFF2-40B4-BE49-F238E27FC236}">
                  <a16:creationId xmlns:a16="http://schemas.microsoft.com/office/drawing/2014/main" id="{F50FC184-DABE-9D5A-7CE5-9C15005791E6}"/>
                </a:ext>
              </a:extLst>
            </p:cNvPr>
            <p:cNvCxnSpPr>
              <a:cxnSpLocks/>
            </p:cNvCxnSpPr>
            <p:nvPr/>
          </p:nvCxnSpPr>
          <p:spPr>
            <a:xfrm>
              <a:off x="626757" y="3374558"/>
              <a:ext cx="1101708" cy="0"/>
            </a:xfrm>
            <a:prstGeom prst="line">
              <a:avLst/>
            </a:prstGeom>
          </p:spPr>
          <p:style>
            <a:lnRef idx="1">
              <a:schemeClr val="dk1"/>
            </a:lnRef>
            <a:fillRef idx="0">
              <a:schemeClr val="dk1"/>
            </a:fillRef>
            <a:effectRef idx="0">
              <a:schemeClr val="dk1"/>
            </a:effectRef>
            <a:fontRef idx="minor">
              <a:schemeClr val="tx1"/>
            </a:fontRef>
          </p:style>
        </p:cxnSp>
        <p:sp>
          <p:nvSpPr>
            <p:cNvPr id="2112" name="TextBox 2111">
              <a:extLst>
                <a:ext uri="{FF2B5EF4-FFF2-40B4-BE49-F238E27FC236}">
                  <a16:creationId xmlns:a16="http://schemas.microsoft.com/office/drawing/2014/main" id="{C960ED4E-FF7B-D0A0-851A-8EDAD08080AC}"/>
                </a:ext>
              </a:extLst>
            </p:cNvPr>
            <p:cNvSpPr txBox="1"/>
            <p:nvPr/>
          </p:nvSpPr>
          <p:spPr>
            <a:xfrm>
              <a:off x="653196" y="3381510"/>
              <a:ext cx="1073475"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WeixinUser</a:t>
              </a:r>
              <a:r>
                <a:rPr lang="en-US" dirty="0"/>
                <a:t>(name)</a:t>
              </a:r>
            </a:p>
            <a:p>
              <a:r>
                <a:rPr lang="en-US" dirty="0"/>
                <a:t>+ </a:t>
              </a:r>
              <a:r>
                <a:rPr lang="en-US" altLang="zh-CN" dirty="0"/>
                <a:t>update</a:t>
              </a:r>
              <a:r>
                <a:rPr lang="en-US" dirty="0"/>
                <a:t>(message): void</a:t>
              </a:r>
            </a:p>
          </p:txBody>
        </p:sp>
      </p:grpSp>
      <p:grpSp>
        <p:nvGrpSpPr>
          <p:cNvPr id="2114" name="Group 2113">
            <a:extLst>
              <a:ext uri="{FF2B5EF4-FFF2-40B4-BE49-F238E27FC236}">
                <a16:creationId xmlns:a16="http://schemas.microsoft.com/office/drawing/2014/main" id="{48B6D379-0C22-1B76-B361-8576D46D4030}"/>
              </a:ext>
            </a:extLst>
          </p:cNvPr>
          <p:cNvGrpSpPr/>
          <p:nvPr/>
        </p:nvGrpSpPr>
        <p:grpSpPr>
          <a:xfrm>
            <a:off x="10447137" y="3509396"/>
            <a:ext cx="848549" cy="327891"/>
            <a:chOff x="626757" y="3130041"/>
            <a:chExt cx="848549" cy="327891"/>
          </a:xfrm>
        </p:grpSpPr>
        <p:sp>
          <p:nvSpPr>
            <p:cNvPr id="2118" name="TextBox 2117">
              <a:extLst>
                <a:ext uri="{FF2B5EF4-FFF2-40B4-BE49-F238E27FC236}">
                  <a16:creationId xmlns:a16="http://schemas.microsoft.com/office/drawing/2014/main" id="{4B725A1F-27D4-86CC-456D-E8DEAE8EC353}"/>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main</a:t>
              </a:r>
              <a:r>
                <a:rPr lang="en-US" dirty="0"/>
                <a:t>(): void</a:t>
              </a:r>
            </a:p>
          </p:txBody>
        </p:sp>
        <p:sp>
          <p:nvSpPr>
            <p:cNvPr id="2121" name="Rectangle: Rounded Corners 2120">
              <a:extLst>
                <a:ext uri="{FF2B5EF4-FFF2-40B4-BE49-F238E27FC236}">
                  <a16:creationId xmlns:a16="http://schemas.microsoft.com/office/drawing/2014/main" id="{46C8E153-9854-4DA5-F328-99FF0954A281}"/>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23" name="Straight Connector 2122">
              <a:extLst>
                <a:ext uri="{FF2B5EF4-FFF2-40B4-BE49-F238E27FC236}">
                  <a16:creationId xmlns:a16="http://schemas.microsoft.com/office/drawing/2014/main" id="{5BA06A1E-E52A-2B77-8F5F-F5268FA4FE74}"/>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131" name="TextBox 2130">
              <a:extLst>
                <a:ext uri="{FF2B5EF4-FFF2-40B4-BE49-F238E27FC236}">
                  <a16:creationId xmlns:a16="http://schemas.microsoft.com/office/drawing/2014/main" id="{A8E4A1D6-F5ED-DF77-DF8A-12341CFBE61D}"/>
                </a:ext>
              </a:extLst>
            </p:cNvPr>
            <p:cNvSpPr txBox="1"/>
            <p:nvPr/>
          </p:nvSpPr>
          <p:spPr>
            <a:xfrm>
              <a:off x="775867" y="3150046"/>
              <a:ext cx="557040" cy="92333"/>
            </a:xfrm>
            <a:prstGeom prst="rect">
              <a:avLst/>
            </a:prstGeom>
            <a:noFill/>
          </p:spPr>
          <p:txBody>
            <a:bodyPr wrap="none" lIns="0" tIns="0" rIns="0" bIns="0" rtlCol="0">
              <a:spAutoFit/>
            </a:bodyPr>
            <a:lstStyle>
              <a:defPPr>
                <a:defRPr lang="en-US"/>
              </a:defPPr>
              <a:lvl1pPr algn="ctr">
                <a:defRPr sz="700" b="1"/>
              </a:lvl1pPr>
            </a:lstStyle>
            <a:p>
              <a:r>
                <a:rPr lang="en-US" dirty="0"/>
                <a:t>C</a:t>
              </a:r>
              <a:r>
                <a:rPr lang="en-US" altLang="zh-CN" dirty="0"/>
                <a:t>lient</a:t>
              </a:r>
              <a:endParaRPr lang="en-US" dirty="0"/>
            </a:p>
          </p:txBody>
        </p:sp>
        <p:cxnSp>
          <p:nvCxnSpPr>
            <p:cNvPr id="2132" name="Straight Connector 2131">
              <a:extLst>
                <a:ext uri="{FF2B5EF4-FFF2-40B4-BE49-F238E27FC236}">
                  <a16:creationId xmlns:a16="http://schemas.microsoft.com/office/drawing/2014/main" id="{D16295B5-B283-6642-E434-C9E3E75A787E}"/>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cxnSp>
        <p:nvCxnSpPr>
          <p:cNvPr id="2134" name="Connector: Elbow 2133">
            <a:extLst>
              <a:ext uri="{FF2B5EF4-FFF2-40B4-BE49-F238E27FC236}">
                <a16:creationId xmlns:a16="http://schemas.microsoft.com/office/drawing/2014/main" id="{321E1678-1659-94EB-751A-4A6BC2207E60}"/>
              </a:ext>
            </a:extLst>
          </p:cNvPr>
          <p:cNvCxnSpPr>
            <a:cxnSpLocks/>
            <a:stCxn id="2121" idx="0"/>
            <a:endCxn id="2096" idx="2"/>
          </p:cNvCxnSpPr>
          <p:nvPr/>
        </p:nvCxnSpPr>
        <p:spPr>
          <a:xfrm rot="5400000" flipH="1" flipV="1">
            <a:off x="11037053" y="3064047"/>
            <a:ext cx="278753" cy="611947"/>
          </a:xfrm>
          <a:prstGeom prst="bentConnector3">
            <a:avLst/>
          </a:prstGeom>
          <a:ln>
            <a:prstDash val="dash"/>
          </a:ln>
        </p:spPr>
        <p:style>
          <a:lnRef idx="1">
            <a:schemeClr val="dk1"/>
          </a:lnRef>
          <a:fillRef idx="0">
            <a:schemeClr val="dk1"/>
          </a:fillRef>
          <a:effectRef idx="0">
            <a:schemeClr val="dk1"/>
          </a:effectRef>
          <a:fontRef idx="minor">
            <a:schemeClr val="tx1"/>
          </a:fontRef>
        </p:style>
      </p:cxnSp>
      <p:cxnSp>
        <p:nvCxnSpPr>
          <p:cNvPr id="2137" name="Connector: Elbow 2136">
            <a:extLst>
              <a:ext uri="{FF2B5EF4-FFF2-40B4-BE49-F238E27FC236}">
                <a16:creationId xmlns:a16="http://schemas.microsoft.com/office/drawing/2014/main" id="{DC58B297-4790-635F-9614-A65010B4551E}"/>
              </a:ext>
            </a:extLst>
          </p:cNvPr>
          <p:cNvCxnSpPr>
            <a:cxnSpLocks/>
            <a:stCxn id="2121" idx="0"/>
            <a:endCxn id="2112" idx="2"/>
          </p:cNvCxnSpPr>
          <p:nvPr/>
        </p:nvCxnSpPr>
        <p:spPr>
          <a:xfrm rot="16200000" flipV="1">
            <a:off x="10317685" y="2956624"/>
            <a:ext cx="273553" cy="831991"/>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141" name="Straight Connector 2140">
            <a:extLst>
              <a:ext uri="{FF2B5EF4-FFF2-40B4-BE49-F238E27FC236}">
                <a16:creationId xmlns:a16="http://schemas.microsoft.com/office/drawing/2014/main" id="{F46A13AD-DFF3-55E5-DF2D-39BADFEC2931}"/>
              </a:ext>
            </a:extLst>
          </p:cNvPr>
          <p:cNvCxnSpPr>
            <a:stCxn id="2105" idx="0"/>
            <a:endCxn id="1077" idx="2"/>
          </p:cNvCxnSpPr>
          <p:nvPr/>
        </p:nvCxnSpPr>
        <p:spPr>
          <a:xfrm flipV="1">
            <a:off x="10026568" y="2360163"/>
            <a:ext cx="0" cy="439546"/>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143" name="Connector: Elbow 2142">
            <a:extLst>
              <a:ext uri="{FF2B5EF4-FFF2-40B4-BE49-F238E27FC236}">
                <a16:creationId xmlns:a16="http://schemas.microsoft.com/office/drawing/2014/main" id="{9862AF70-3DB5-963B-D1C9-B1390DE56A57}"/>
              </a:ext>
            </a:extLst>
          </p:cNvPr>
          <p:cNvCxnSpPr>
            <a:cxnSpLocks/>
            <a:stCxn id="2096" idx="1"/>
            <a:endCxn id="1077" idx="3"/>
          </p:cNvCxnSpPr>
          <p:nvPr/>
        </p:nvCxnSpPr>
        <p:spPr>
          <a:xfrm rot="10800000">
            <a:off x="10577847" y="2178786"/>
            <a:ext cx="353279" cy="779793"/>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2147" name="Straight Connector 2146">
            <a:extLst>
              <a:ext uri="{FF2B5EF4-FFF2-40B4-BE49-F238E27FC236}">
                <a16:creationId xmlns:a16="http://schemas.microsoft.com/office/drawing/2014/main" id="{7FBA945F-2E4D-8433-D3AC-C83B104CFF57}"/>
              </a:ext>
            </a:extLst>
          </p:cNvPr>
          <p:cNvCxnSpPr>
            <a:cxnSpLocks/>
            <a:stCxn id="2096" idx="0"/>
            <a:endCxn id="1084" idx="2"/>
          </p:cNvCxnSpPr>
          <p:nvPr/>
        </p:nvCxnSpPr>
        <p:spPr>
          <a:xfrm flipV="1">
            <a:off x="11482403" y="2484520"/>
            <a:ext cx="0" cy="20199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159" name="Diamond 2158">
            <a:extLst>
              <a:ext uri="{FF2B5EF4-FFF2-40B4-BE49-F238E27FC236}">
                <a16:creationId xmlns:a16="http://schemas.microsoft.com/office/drawing/2014/main" id="{48D800D3-FD44-1B8F-1824-C7841F0F4B0D}"/>
              </a:ext>
            </a:extLst>
          </p:cNvPr>
          <p:cNvSpPr/>
          <p:nvPr/>
        </p:nvSpPr>
        <p:spPr>
          <a:xfrm>
            <a:off x="10841798" y="2932808"/>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0" name="Isosceles Triangle 2159">
            <a:extLst>
              <a:ext uri="{FF2B5EF4-FFF2-40B4-BE49-F238E27FC236}">
                <a16:creationId xmlns:a16="http://schemas.microsoft.com/office/drawing/2014/main" id="{4987904F-F99A-8848-3F86-9E165ADE9FE5}"/>
              </a:ext>
            </a:extLst>
          </p:cNvPr>
          <p:cNvSpPr/>
          <p:nvPr/>
        </p:nvSpPr>
        <p:spPr>
          <a:xfrm>
            <a:off x="11459543" y="2486201"/>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1" name="Isosceles Triangle 2160">
            <a:extLst>
              <a:ext uri="{FF2B5EF4-FFF2-40B4-BE49-F238E27FC236}">
                <a16:creationId xmlns:a16="http://schemas.microsoft.com/office/drawing/2014/main" id="{970286BC-64EA-B0FD-6EE5-AAAFC6F216C2}"/>
              </a:ext>
            </a:extLst>
          </p:cNvPr>
          <p:cNvSpPr/>
          <p:nvPr/>
        </p:nvSpPr>
        <p:spPr>
          <a:xfrm>
            <a:off x="10002796" y="2374766"/>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2" name="Isosceles Triangle 2161">
            <a:extLst>
              <a:ext uri="{FF2B5EF4-FFF2-40B4-BE49-F238E27FC236}">
                <a16:creationId xmlns:a16="http://schemas.microsoft.com/office/drawing/2014/main" id="{BD416B40-002C-51BF-E6FA-6BFBA8AE0D41}"/>
              </a:ext>
            </a:extLst>
          </p:cNvPr>
          <p:cNvSpPr/>
          <p:nvPr/>
        </p:nvSpPr>
        <p:spPr>
          <a:xfrm>
            <a:off x="10012431" y="3248997"/>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3" name="Isosceles Triangle 2162">
            <a:extLst>
              <a:ext uri="{FF2B5EF4-FFF2-40B4-BE49-F238E27FC236}">
                <a16:creationId xmlns:a16="http://schemas.microsoft.com/office/drawing/2014/main" id="{E0B0EC3E-6AB6-986C-0B44-BBFB7C3C3031}"/>
              </a:ext>
            </a:extLst>
          </p:cNvPr>
          <p:cNvSpPr/>
          <p:nvPr/>
        </p:nvSpPr>
        <p:spPr>
          <a:xfrm>
            <a:off x="11462380" y="3233692"/>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25" name="Group 2624">
            <a:extLst>
              <a:ext uri="{FF2B5EF4-FFF2-40B4-BE49-F238E27FC236}">
                <a16:creationId xmlns:a16="http://schemas.microsoft.com/office/drawing/2014/main" id="{5AAF9B9A-4063-CEAD-CE7F-32AC1C7BC7A0}"/>
              </a:ext>
            </a:extLst>
          </p:cNvPr>
          <p:cNvGrpSpPr/>
          <p:nvPr/>
        </p:nvGrpSpPr>
        <p:grpSpPr>
          <a:xfrm>
            <a:off x="5800670" y="5907610"/>
            <a:ext cx="655748" cy="638016"/>
            <a:chOff x="626757" y="3130041"/>
            <a:chExt cx="655748" cy="638016"/>
          </a:xfrm>
        </p:grpSpPr>
        <p:sp>
          <p:nvSpPr>
            <p:cNvPr id="2626" name="TextBox 2625">
              <a:extLst>
                <a:ext uri="{FF2B5EF4-FFF2-40B4-BE49-F238E27FC236}">
                  <a16:creationId xmlns:a16="http://schemas.microsoft.com/office/drawing/2014/main" id="{849F4FBF-0815-39F0-7044-97DE94B89F9E}"/>
                </a:ext>
              </a:extLst>
            </p:cNvPr>
            <p:cNvSpPr txBox="1"/>
            <p:nvPr/>
          </p:nvSpPr>
          <p:spPr>
            <a:xfrm>
              <a:off x="656627" y="3151109"/>
              <a:ext cx="599684" cy="107722"/>
            </a:xfrm>
            <a:prstGeom prst="rect">
              <a:avLst/>
            </a:prstGeom>
            <a:noFill/>
          </p:spPr>
          <p:txBody>
            <a:bodyPr wrap="square" lIns="0" tIns="0" rIns="0" bIns="0" rtlCol="0">
              <a:spAutoFit/>
            </a:bodyPr>
            <a:lstStyle>
              <a:defPPr>
                <a:defRPr lang="en-US"/>
              </a:defPPr>
              <a:lvl1pPr algn="ctr">
                <a:defRPr sz="700" b="1"/>
              </a:lvl1pPr>
            </a:lstStyle>
            <a:p>
              <a:r>
                <a:rPr lang="en-US" altLang="zh-CN" dirty="0" err="1"/>
                <a:t>ClosingState</a:t>
              </a:r>
              <a:endParaRPr lang="en-US" dirty="0"/>
            </a:p>
          </p:txBody>
        </p:sp>
        <p:sp>
          <p:nvSpPr>
            <p:cNvPr id="2627" name="Rectangle: Rounded Corners 2626">
              <a:extLst>
                <a:ext uri="{FF2B5EF4-FFF2-40B4-BE49-F238E27FC236}">
                  <a16:creationId xmlns:a16="http://schemas.microsoft.com/office/drawing/2014/main" id="{F23BBACF-5367-DB61-215B-41B80175BF4E}"/>
                </a:ext>
              </a:extLst>
            </p:cNvPr>
            <p:cNvSpPr/>
            <p:nvPr/>
          </p:nvSpPr>
          <p:spPr>
            <a:xfrm>
              <a:off x="626759" y="3130041"/>
              <a:ext cx="653365" cy="63801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56" name="Straight Connector 2655">
              <a:extLst>
                <a:ext uri="{FF2B5EF4-FFF2-40B4-BE49-F238E27FC236}">
                  <a16:creationId xmlns:a16="http://schemas.microsoft.com/office/drawing/2014/main" id="{B5019545-8529-949B-3BDF-7BB64C41DBD4}"/>
                </a:ext>
              </a:extLst>
            </p:cNvPr>
            <p:cNvCxnSpPr>
              <a:cxnSpLocks/>
            </p:cNvCxnSpPr>
            <p:nvPr/>
          </p:nvCxnSpPr>
          <p:spPr>
            <a:xfrm>
              <a:off x="626759" y="3262639"/>
              <a:ext cx="655746" cy="0"/>
            </a:xfrm>
            <a:prstGeom prst="line">
              <a:avLst/>
            </a:prstGeom>
          </p:spPr>
          <p:style>
            <a:lnRef idx="1">
              <a:schemeClr val="dk1"/>
            </a:lnRef>
            <a:fillRef idx="0">
              <a:schemeClr val="dk1"/>
            </a:fillRef>
            <a:effectRef idx="0">
              <a:schemeClr val="dk1"/>
            </a:effectRef>
            <a:fontRef idx="minor">
              <a:schemeClr val="tx1"/>
            </a:fontRef>
          </p:style>
        </p:cxnSp>
        <p:sp>
          <p:nvSpPr>
            <p:cNvPr id="2657" name="TextBox 2656">
              <a:extLst>
                <a:ext uri="{FF2B5EF4-FFF2-40B4-BE49-F238E27FC236}">
                  <a16:creationId xmlns:a16="http://schemas.microsoft.com/office/drawing/2014/main" id="{ABD8530C-84A6-BE28-D1C0-2E33EF04F15C}"/>
                </a:ext>
              </a:extLst>
            </p:cNvPr>
            <p:cNvSpPr txBox="1"/>
            <p:nvPr/>
          </p:nvSpPr>
          <p:spPr>
            <a:xfrm>
              <a:off x="657951" y="3276104"/>
              <a:ext cx="591218"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658" name="Straight Connector 2657">
              <a:extLst>
                <a:ext uri="{FF2B5EF4-FFF2-40B4-BE49-F238E27FC236}">
                  <a16:creationId xmlns:a16="http://schemas.microsoft.com/office/drawing/2014/main" id="{04C32C4D-7587-CC8B-4821-7090190C29BB}"/>
                </a:ext>
              </a:extLst>
            </p:cNvPr>
            <p:cNvCxnSpPr>
              <a:cxnSpLocks/>
            </p:cNvCxnSpPr>
            <p:nvPr/>
          </p:nvCxnSpPr>
          <p:spPr>
            <a:xfrm>
              <a:off x="626757" y="3374558"/>
              <a:ext cx="653367" cy="0"/>
            </a:xfrm>
            <a:prstGeom prst="line">
              <a:avLst/>
            </a:prstGeom>
          </p:spPr>
          <p:style>
            <a:lnRef idx="1">
              <a:schemeClr val="dk1"/>
            </a:lnRef>
            <a:fillRef idx="0">
              <a:schemeClr val="dk1"/>
            </a:fillRef>
            <a:effectRef idx="0">
              <a:schemeClr val="dk1"/>
            </a:effectRef>
            <a:fontRef idx="minor">
              <a:schemeClr val="tx1"/>
            </a:fontRef>
          </p:style>
        </p:cxnSp>
        <p:sp>
          <p:nvSpPr>
            <p:cNvPr id="2659" name="TextBox 2658">
              <a:extLst>
                <a:ext uri="{FF2B5EF4-FFF2-40B4-BE49-F238E27FC236}">
                  <a16:creationId xmlns:a16="http://schemas.microsoft.com/office/drawing/2014/main" id="{F1DE434A-0B4C-9177-DEA3-4B7E4F77F0AF}"/>
                </a:ext>
              </a:extLst>
            </p:cNvPr>
            <p:cNvSpPr txBox="1"/>
            <p:nvPr/>
          </p:nvSpPr>
          <p:spPr>
            <a:xfrm>
              <a:off x="653197" y="3381510"/>
              <a:ext cx="607878" cy="369332"/>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open</a:t>
              </a:r>
              <a:r>
                <a:rPr lang="en-US" dirty="0"/>
                <a:t>(): void</a:t>
              </a:r>
            </a:p>
            <a:p>
              <a:r>
                <a:rPr lang="en-US" dirty="0"/>
                <a:t>+ </a:t>
              </a:r>
              <a:r>
                <a:rPr lang="en-US" altLang="zh-CN" dirty="0"/>
                <a:t>close</a:t>
              </a:r>
              <a:r>
                <a:rPr lang="en-US" dirty="0"/>
                <a:t>(): void</a:t>
              </a:r>
            </a:p>
            <a:p>
              <a:r>
                <a:rPr lang="en-US" dirty="0"/>
                <a:t>+ run(): void</a:t>
              </a:r>
            </a:p>
            <a:p>
              <a:r>
                <a:rPr lang="en-US" dirty="0"/>
                <a:t>+ stop(): void</a:t>
              </a:r>
            </a:p>
          </p:txBody>
        </p:sp>
      </p:grpSp>
      <p:grpSp>
        <p:nvGrpSpPr>
          <p:cNvPr id="2669" name="Group 2668">
            <a:extLst>
              <a:ext uri="{FF2B5EF4-FFF2-40B4-BE49-F238E27FC236}">
                <a16:creationId xmlns:a16="http://schemas.microsoft.com/office/drawing/2014/main" id="{84EBAEF6-A208-ECAC-A443-82533B029EC1}"/>
              </a:ext>
            </a:extLst>
          </p:cNvPr>
          <p:cNvGrpSpPr/>
          <p:nvPr/>
        </p:nvGrpSpPr>
        <p:grpSpPr>
          <a:xfrm>
            <a:off x="6519808" y="5909191"/>
            <a:ext cx="655748" cy="638016"/>
            <a:chOff x="626757" y="3130041"/>
            <a:chExt cx="655748" cy="638016"/>
          </a:xfrm>
        </p:grpSpPr>
        <p:sp>
          <p:nvSpPr>
            <p:cNvPr id="2671" name="TextBox 2670">
              <a:extLst>
                <a:ext uri="{FF2B5EF4-FFF2-40B4-BE49-F238E27FC236}">
                  <a16:creationId xmlns:a16="http://schemas.microsoft.com/office/drawing/2014/main" id="{7703DA4A-E455-51E3-F21D-E81F971F3E27}"/>
                </a:ext>
              </a:extLst>
            </p:cNvPr>
            <p:cNvSpPr txBox="1"/>
            <p:nvPr/>
          </p:nvSpPr>
          <p:spPr>
            <a:xfrm>
              <a:off x="656627" y="3151109"/>
              <a:ext cx="599684" cy="107722"/>
            </a:xfrm>
            <a:prstGeom prst="rect">
              <a:avLst/>
            </a:prstGeom>
            <a:noFill/>
          </p:spPr>
          <p:txBody>
            <a:bodyPr wrap="square" lIns="0" tIns="0" rIns="0" bIns="0" rtlCol="0">
              <a:spAutoFit/>
            </a:bodyPr>
            <a:lstStyle>
              <a:defPPr>
                <a:defRPr lang="en-US"/>
              </a:defPPr>
              <a:lvl1pPr algn="ctr">
                <a:defRPr sz="700" b="1"/>
              </a:lvl1pPr>
            </a:lstStyle>
            <a:p>
              <a:r>
                <a:rPr lang="en-US" altLang="zh-CN" dirty="0" err="1"/>
                <a:t>RunningState</a:t>
              </a:r>
              <a:endParaRPr lang="en-US" dirty="0"/>
            </a:p>
          </p:txBody>
        </p:sp>
        <p:sp>
          <p:nvSpPr>
            <p:cNvPr id="2681" name="Rectangle: Rounded Corners 2680">
              <a:extLst>
                <a:ext uri="{FF2B5EF4-FFF2-40B4-BE49-F238E27FC236}">
                  <a16:creationId xmlns:a16="http://schemas.microsoft.com/office/drawing/2014/main" id="{5C42C7EB-24DB-F229-FEF3-307FF73C7F95}"/>
                </a:ext>
              </a:extLst>
            </p:cNvPr>
            <p:cNvSpPr/>
            <p:nvPr/>
          </p:nvSpPr>
          <p:spPr>
            <a:xfrm>
              <a:off x="626759" y="3130041"/>
              <a:ext cx="653365" cy="63801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82" name="Straight Connector 2681">
              <a:extLst>
                <a:ext uri="{FF2B5EF4-FFF2-40B4-BE49-F238E27FC236}">
                  <a16:creationId xmlns:a16="http://schemas.microsoft.com/office/drawing/2014/main" id="{8AC2D49C-6BEB-FBC9-70D8-F1475349036A}"/>
                </a:ext>
              </a:extLst>
            </p:cNvPr>
            <p:cNvCxnSpPr>
              <a:cxnSpLocks/>
            </p:cNvCxnSpPr>
            <p:nvPr/>
          </p:nvCxnSpPr>
          <p:spPr>
            <a:xfrm>
              <a:off x="626759" y="3262639"/>
              <a:ext cx="655746" cy="0"/>
            </a:xfrm>
            <a:prstGeom prst="line">
              <a:avLst/>
            </a:prstGeom>
          </p:spPr>
          <p:style>
            <a:lnRef idx="1">
              <a:schemeClr val="dk1"/>
            </a:lnRef>
            <a:fillRef idx="0">
              <a:schemeClr val="dk1"/>
            </a:fillRef>
            <a:effectRef idx="0">
              <a:schemeClr val="dk1"/>
            </a:effectRef>
            <a:fontRef idx="minor">
              <a:schemeClr val="tx1"/>
            </a:fontRef>
          </p:style>
        </p:cxnSp>
        <p:sp>
          <p:nvSpPr>
            <p:cNvPr id="2684" name="TextBox 2683">
              <a:extLst>
                <a:ext uri="{FF2B5EF4-FFF2-40B4-BE49-F238E27FC236}">
                  <a16:creationId xmlns:a16="http://schemas.microsoft.com/office/drawing/2014/main" id="{BE9CA522-6DBA-D083-9C02-5FAEC8F93014}"/>
                </a:ext>
              </a:extLst>
            </p:cNvPr>
            <p:cNvSpPr txBox="1"/>
            <p:nvPr/>
          </p:nvSpPr>
          <p:spPr>
            <a:xfrm>
              <a:off x="657951" y="3276104"/>
              <a:ext cx="591218"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685" name="Straight Connector 2684">
              <a:extLst>
                <a:ext uri="{FF2B5EF4-FFF2-40B4-BE49-F238E27FC236}">
                  <a16:creationId xmlns:a16="http://schemas.microsoft.com/office/drawing/2014/main" id="{44354D95-2404-9A02-9C34-605D8F1324CF}"/>
                </a:ext>
              </a:extLst>
            </p:cNvPr>
            <p:cNvCxnSpPr>
              <a:cxnSpLocks/>
            </p:cNvCxnSpPr>
            <p:nvPr/>
          </p:nvCxnSpPr>
          <p:spPr>
            <a:xfrm>
              <a:off x="626757" y="3374558"/>
              <a:ext cx="653367" cy="0"/>
            </a:xfrm>
            <a:prstGeom prst="line">
              <a:avLst/>
            </a:prstGeom>
          </p:spPr>
          <p:style>
            <a:lnRef idx="1">
              <a:schemeClr val="dk1"/>
            </a:lnRef>
            <a:fillRef idx="0">
              <a:schemeClr val="dk1"/>
            </a:fillRef>
            <a:effectRef idx="0">
              <a:schemeClr val="dk1"/>
            </a:effectRef>
            <a:fontRef idx="minor">
              <a:schemeClr val="tx1"/>
            </a:fontRef>
          </p:style>
        </p:cxnSp>
        <p:sp>
          <p:nvSpPr>
            <p:cNvPr id="2686" name="TextBox 2685">
              <a:extLst>
                <a:ext uri="{FF2B5EF4-FFF2-40B4-BE49-F238E27FC236}">
                  <a16:creationId xmlns:a16="http://schemas.microsoft.com/office/drawing/2014/main" id="{497A7455-61B2-0AAA-CFEB-BC3B520F0F28}"/>
                </a:ext>
              </a:extLst>
            </p:cNvPr>
            <p:cNvSpPr txBox="1"/>
            <p:nvPr/>
          </p:nvSpPr>
          <p:spPr>
            <a:xfrm>
              <a:off x="653197" y="3381510"/>
              <a:ext cx="607878" cy="369332"/>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open</a:t>
              </a:r>
              <a:r>
                <a:rPr lang="en-US" dirty="0"/>
                <a:t>(): void</a:t>
              </a:r>
            </a:p>
            <a:p>
              <a:r>
                <a:rPr lang="en-US" dirty="0"/>
                <a:t>+ </a:t>
              </a:r>
              <a:r>
                <a:rPr lang="en-US" altLang="zh-CN" dirty="0"/>
                <a:t>close</a:t>
              </a:r>
              <a:r>
                <a:rPr lang="en-US" dirty="0"/>
                <a:t>(): void</a:t>
              </a:r>
            </a:p>
            <a:p>
              <a:r>
                <a:rPr lang="en-US" dirty="0"/>
                <a:t>+ run(): void</a:t>
              </a:r>
            </a:p>
            <a:p>
              <a:r>
                <a:rPr lang="en-US" dirty="0"/>
                <a:t>+ stop(): void</a:t>
              </a:r>
            </a:p>
          </p:txBody>
        </p:sp>
      </p:grpSp>
      <p:grpSp>
        <p:nvGrpSpPr>
          <p:cNvPr id="3072" name="Group 3071">
            <a:extLst>
              <a:ext uri="{FF2B5EF4-FFF2-40B4-BE49-F238E27FC236}">
                <a16:creationId xmlns:a16="http://schemas.microsoft.com/office/drawing/2014/main" id="{76B564D9-4869-C216-6820-10DAF0A77162}"/>
              </a:ext>
            </a:extLst>
          </p:cNvPr>
          <p:cNvGrpSpPr/>
          <p:nvPr/>
        </p:nvGrpSpPr>
        <p:grpSpPr>
          <a:xfrm>
            <a:off x="7205607" y="5907610"/>
            <a:ext cx="655748" cy="638016"/>
            <a:chOff x="626757" y="3130041"/>
            <a:chExt cx="655748" cy="638016"/>
          </a:xfrm>
        </p:grpSpPr>
        <p:sp>
          <p:nvSpPr>
            <p:cNvPr id="3073" name="TextBox 3072">
              <a:extLst>
                <a:ext uri="{FF2B5EF4-FFF2-40B4-BE49-F238E27FC236}">
                  <a16:creationId xmlns:a16="http://schemas.microsoft.com/office/drawing/2014/main" id="{D35E6045-9CED-8FB7-AD7F-DA9BDECCACDB}"/>
                </a:ext>
              </a:extLst>
            </p:cNvPr>
            <p:cNvSpPr txBox="1"/>
            <p:nvPr/>
          </p:nvSpPr>
          <p:spPr>
            <a:xfrm>
              <a:off x="656627" y="3151109"/>
              <a:ext cx="599684" cy="107722"/>
            </a:xfrm>
            <a:prstGeom prst="rect">
              <a:avLst/>
            </a:prstGeom>
            <a:noFill/>
          </p:spPr>
          <p:txBody>
            <a:bodyPr wrap="square" lIns="0" tIns="0" rIns="0" bIns="0" rtlCol="0">
              <a:spAutoFit/>
            </a:bodyPr>
            <a:lstStyle>
              <a:defPPr>
                <a:defRPr lang="en-US"/>
              </a:defPPr>
              <a:lvl1pPr algn="ctr">
                <a:defRPr sz="700" b="1"/>
              </a:lvl1pPr>
            </a:lstStyle>
            <a:p>
              <a:r>
                <a:rPr lang="en-US" dirty="0" err="1"/>
                <a:t>Stop</a:t>
              </a:r>
              <a:r>
                <a:rPr lang="en-US" altLang="zh-CN" dirty="0" err="1"/>
                <a:t>ingState</a:t>
              </a:r>
              <a:endParaRPr lang="en-US" dirty="0"/>
            </a:p>
          </p:txBody>
        </p:sp>
        <p:sp>
          <p:nvSpPr>
            <p:cNvPr id="3074" name="Rectangle: Rounded Corners 3073">
              <a:extLst>
                <a:ext uri="{FF2B5EF4-FFF2-40B4-BE49-F238E27FC236}">
                  <a16:creationId xmlns:a16="http://schemas.microsoft.com/office/drawing/2014/main" id="{ECEBAA38-7FA6-E4F7-8ADB-2F96B80D28F4}"/>
                </a:ext>
              </a:extLst>
            </p:cNvPr>
            <p:cNvSpPr/>
            <p:nvPr/>
          </p:nvSpPr>
          <p:spPr>
            <a:xfrm>
              <a:off x="626759" y="3130041"/>
              <a:ext cx="653365" cy="63801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75" name="Straight Connector 3074">
              <a:extLst>
                <a:ext uri="{FF2B5EF4-FFF2-40B4-BE49-F238E27FC236}">
                  <a16:creationId xmlns:a16="http://schemas.microsoft.com/office/drawing/2014/main" id="{949398E3-0B94-9144-6139-04227181019B}"/>
                </a:ext>
              </a:extLst>
            </p:cNvPr>
            <p:cNvCxnSpPr>
              <a:cxnSpLocks/>
            </p:cNvCxnSpPr>
            <p:nvPr/>
          </p:nvCxnSpPr>
          <p:spPr>
            <a:xfrm>
              <a:off x="626759" y="3262639"/>
              <a:ext cx="655746" cy="0"/>
            </a:xfrm>
            <a:prstGeom prst="line">
              <a:avLst/>
            </a:prstGeom>
          </p:spPr>
          <p:style>
            <a:lnRef idx="1">
              <a:schemeClr val="dk1"/>
            </a:lnRef>
            <a:fillRef idx="0">
              <a:schemeClr val="dk1"/>
            </a:fillRef>
            <a:effectRef idx="0">
              <a:schemeClr val="dk1"/>
            </a:effectRef>
            <a:fontRef idx="minor">
              <a:schemeClr val="tx1"/>
            </a:fontRef>
          </p:style>
        </p:cxnSp>
        <p:sp>
          <p:nvSpPr>
            <p:cNvPr id="3076" name="TextBox 3075">
              <a:extLst>
                <a:ext uri="{FF2B5EF4-FFF2-40B4-BE49-F238E27FC236}">
                  <a16:creationId xmlns:a16="http://schemas.microsoft.com/office/drawing/2014/main" id="{A39D0A80-8307-5274-7A5B-57BC94ECC5CE}"/>
                </a:ext>
              </a:extLst>
            </p:cNvPr>
            <p:cNvSpPr txBox="1"/>
            <p:nvPr/>
          </p:nvSpPr>
          <p:spPr>
            <a:xfrm>
              <a:off x="657951" y="3276104"/>
              <a:ext cx="591218"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3077" name="Straight Connector 3076">
              <a:extLst>
                <a:ext uri="{FF2B5EF4-FFF2-40B4-BE49-F238E27FC236}">
                  <a16:creationId xmlns:a16="http://schemas.microsoft.com/office/drawing/2014/main" id="{2E2764BF-1B6D-DAFD-097E-193D253AE1EB}"/>
                </a:ext>
              </a:extLst>
            </p:cNvPr>
            <p:cNvCxnSpPr>
              <a:cxnSpLocks/>
            </p:cNvCxnSpPr>
            <p:nvPr/>
          </p:nvCxnSpPr>
          <p:spPr>
            <a:xfrm>
              <a:off x="626757" y="3374558"/>
              <a:ext cx="653367" cy="0"/>
            </a:xfrm>
            <a:prstGeom prst="line">
              <a:avLst/>
            </a:prstGeom>
          </p:spPr>
          <p:style>
            <a:lnRef idx="1">
              <a:schemeClr val="dk1"/>
            </a:lnRef>
            <a:fillRef idx="0">
              <a:schemeClr val="dk1"/>
            </a:fillRef>
            <a:effectRef idx="0">
              <a:schemeClr val="dk1"/>
            </a:effectRef>
            <a:fontRef idx="minor">
              <a:schemeClr val="tx1"/>
            </a:fontRef>
          </p:style>
        </p:cxnSp>
        <p:sp>
          <p:nvSpPr>
            <p:cNvPr id="3078" name="TextBox 3077">
              <a:extLst>
                <a:ext uri="{FF2B5EF4-FFF2-40B4-BE49-F238E27FC236}">
                  <a16:creationId xmlns:a16="http://schemas.microsoft.com/office/drawing/2014/main" id="{2E95613D-D0A1-046F-72B7-6E7D21BA61EC}"/>
                </a:ext>
              </a:extLst>
            </p:cNvPr>
            <p:cNvSpPr txBox="1"/>
            <p:nvPr/>
          </p:nvSpPr>
          <p:spPr>
            <a:xfrm>
              <a:off x="653197" y="3381510"/>
              <a:ext cx="607878" cy="369332"/>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open</a:t>
              </a:r>
              <a:r>
                <a:rPr lang="en-US" dirty="0"/>
                <a:t>(): void</a:t>
              </a:r>
            </a:p>
            <a:p>
              <a:r>
                <a:rPr lang="en-US" dirty="0"/>
                <a:t>+ </a:t>
              </a:r>
              <a:r>
                <a:rPr lang="en-US" altLang="zh-CN" dirty="0"/>
                <a:t>close</a:t>
              </a:r>
              <a:r>
                <a:rPr lang="en-US" dirty="0"/>
                <a:t>(): void</a:t>
              </a:r>
            </a:p>
            <a:p>
              <a:r>
                <a:rPr lang="en-US" dirty="0"/>
                <a:t>+ run(): void</a:t>
              </a:r>
            </a:p>
            <a:p>
              <a:r>
                <a:rPr lang="en-US" dirty="0"/>
                <a:t>+ stop(): void</a:t>
              </a:r>
            </a:p>
          </p:txBody>
        </p:sp>
      </p:grpSp>
      <p:grpSp>
        <p:nvGrpSpPr>
          <p:cNvPr id="3079" name="Group 3078">
            <a:extLst>
              <a:ext uri="{FF2B5EF4-FFF2-40B4-BE49-F238E27FC236}">
                <a16:creationId xmlns:a16="http://schemas.microsoft.com/office/drawing/2014/main" id="{A0E10D8F-DA05-2A1B-500C-6BB11A459AB1}"/>
              </a:ext>
            </a:extLst>
          </p:cNvPr>
          <p:cNvGrpSpPr/>
          <p:nvPr/>
        </p:nvGrpSpPr>
        <p:grpSpPr>
          <a:xfrm>
            <a:off x="5100583" y="5907610"/>
            <a:ext cx="655748" cy="638016"/>
            <a:chOff x="626757" y="3130041"/>
            <a:chExt cx="655748" cy="638016"/>
          </a:xfrm>
        </p:grpSpPr>
        <p:sp>
          <p:nvSpPr>
            <p:cNvPr id="3080" name="TextBox 3079">
              <a:extLst>
                <a:ext uri="{FF2B5EF4-FFF2-40B4-BE49-F238E27FC236}">
                  <a16:creationId xmlns:a16="http://schemas.microsoft.com/office/drawing/2014/main" id="{961C4E14-1E26-3A17-F73D-90545BCF7979}"/>
                </a:ext>
              </a:extLst>
            </p:cNvPr>
            <p:cNvSpPr txBox="1"/>
            <p:nvPr/>
          </p:nvSpPr>
          <p:spPr>
            <a:xfrm>
              <a:off x="656627" y="3151109"/>
              <a:ext cx="599684" cy="107722"/>
            </a:xfrm>
            <a:prstGeom prst="rect">
              <a:avLst/>
            </a:prstGeom>
            <a:noFill/>
          </p:spPr>
          <p:txBody>
            <a:bodyPr wrap="square" lIns="0" tIns="0" rIns="0" bIns="0" rtlCol="0">
              <a:spAutoFit/>
            </a:bodyPr>
            <a:lstStyle>
              <a:defPPr>
                <a:defRPr lang="en-US"/>
              </a:defPPr>
              <a:lvl1pPr algn="ctr">
                <a:defRPr sz="700" b="1"/>
              </a:lvl1pPr>
            </a:lstStyle>
            <a:p>
              <a:r>
                <a:rPr lang="en-US" dirty="0" err="1"/>
                <a:t>O</a:t>
              </a:r>
              <a:r>
                <a:rPr lang="en-US" altLang="zh-CN" dirty="0" err="1"/>
                <a:t>penningState</a:t>
              </a:r>
              <a:endParaRPr lang="en-US" dirty="0"/>
            </a:p>
          </p:txBody>
        </p:sp>
        <p:sp>
          <p:nvSpPr>
            <p:cNvPr id="3081" name="Rectangle: Rounded Corners 3080">
              <a:extLst>
                <a:ext uri="{FF2B5EF4-FFF2-40B4-BE49-F238E27FC236}">
                  <a16:creationId xmlns:a16="http://schemas.microsoft.com/office/drawing/2014/main" id="{A8555592-918A-DD48-6765-44815CE569B6}"/>
                </a:ext>
              </a:extLst>
            </p:cNvPr>
            <p:cNvSpPr/>
            <p:nvPr/>
          </p:nvSpPr>
          <p:spPr>
            <a:xfrm>
              <a:off x="626759" y="3130041"/>
              <a:ext cx="653365" cy="63801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82" name="Straight Connector 3081">
              <a:extLst>
                <a:ext uri="{FF2B5EF4-FFF2-40B4-BE49-F238E27FC236}">
                  <a16:creationId xmlns:a16="http://schemas.microsoft.com/office/drawing/2014/main" id="{B67B16E2-5184-90BC-B018-2545C82C1AD5}"/>
                </a:ext>
              </a:extLst>
            </p:cNvPr>
            <p:cNvCxnSpPr>
              <a:cxnSpLocks/>
            </p:cNvCxnSpPr>
            <p:nvPr/>
          </p:nvCxnSpPr>
          <p:spPr>
            <a:xfrm>
              <a:off x="626759" y="3262639"/>
              <a:ext cx="655746" cy="0"/>
            </a:xfrm>
            <a:prstGeom prst="line">
              <a:avLst/>
            </a:prstGeom>
          </p:spPr>
          <p:style>
            <a:lnRef idx="1">
              <a:schemeClr val="dk1"/>
            </a:lnRef>
            <a:fillRef idx="0">
              <a:schemeClr val="dk1"/>
            </a:fillRef>
            <a:effectRef idx="0">
              <a:schemeClr val="dk1"/>
            </a:effectRef>
            <a:fontRef idx="minor">
              <a:schemeClr val="tx1"/>
            </a:fontRef>
          </p:style>
        </p:cxnSp>
        <p:sp>
          <p:nvSpPr>
            <p:cNvPr id="3083" name="TextBox 3082">
              <a:extLst>
                <a:ext uri="{FF2B5EF4-FFF2-40B4-BE49-F238E27FC236}">
                  <a16:creationId xmlns:a16="http://schemas.microsoft.com/office/drawing/2014/main" id="{BB6E66D0-BE5B-3BC2-7A8E-AF77887DD019}"/>
                </a:ext>
              </a:extLst>
            </p:cNvPr>
            <p:cNvSpPr txBox="1"/>
            <p:nvPr/>
          </p:nvSpPr>
          <p:spPr>
            <a:xfrm>
              <a:off x="657951" y="3276104"/>
              <a:ext cx="591218"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3084" name="Straight Connector 3083">
              <a:extLst>
                <a:ext uri="{FF2B5EF4-FFF2-40B4-BE49-F238E27FC236}">
                  <a16:creationId xmlns:a16="http://schemas.microsoft.com/office/drawing/2014/main" id="{6CA4FBC9-0D84-0905-ED73-16FE450204CB}"/>
                </a:ext>
              </a:extLst>
            </p:cNvPr>
            <p:cNvCxnSpPr>
              <a:cxnSpLocks/>
            </p:cNvCxnSpPr>
            <p:nvPr/>
          </p:nvCxnSpPr>
          <p:spPr>
            <a:xfrm>
              <a:off x="626757" y="3374558"/>
              <a:ext cx="653367" cy="0"/>
            </a:xfrm>
            <a:prstGeom prst="line">
              <a:avLst/>
            </a:prstGeom>
          </p:spPr>
          <p:style>
            <a:lnRef idx="1">
              <a:schemeClr val="dk1"/>
            </a:lnRef>
            <a:fillRef idx="0">
              <a:schemeClr val="dk1"/>
            </a:fillRef>
            <a:effectRef idx="0">
              <a:schemeClr val="dk1"/>
            </a:effectRef>
            <a:fontRef idx="minor">
              <a:schemeClr val="tx1"/>
            </a:fontRef>
          </p:style>
        </p:cxnSp>
        <p:sp>
          <p:nvSpPr>
            <p:cNvPr id="3085" name="TextBox 3084">
              <a:extLst>
                <a:ext uri="{FF2B5EF4-FFF2-40B4-BE49-F238E27FC236}">
                  <a16:creationId xmlns:a16="http://schemas.microsoft.com/office/drawing/2014/main" id="{E05974F3-4370-01DC-6A19-35653E6DE731}"/>
                </a:ext>
              </a:extLst>
            </p:cNvPr>
            <p:cNvSpPr txBox="1"/>
            <p:nvPr/>
          </p:nvSpPr>
          <p:spPr>
            <a:xfrm>
              <a:off x="653197" y="3381510"/>
              <a:ext cx="607878" cy="369332"/>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open</a:t>
              </a:r>
              <a:r>
                <a:rPr lang="en-US" dirty="0"/>
                <a:t>(): void</a:t>
              </a:r>
            </a:p>
            <a:p>
              <a:r>
                <a:rPr lang="en-US" dirty="0"/>
                <a:t>+ </a:t>
              </a:r>
              <a:r>
                <a:rPr lang="en-US" altLang="zh-CN" dirty="0"/>
                <a:t>close</a:t>
              </a:r>
              <a:r>
                <a:rPr lang="en-US" dirty="0"/>
                <a:t>(): void</a:t>
              </a:r>
            </a:p>
            <a:p>
              <a:r>
                <a:rPr lang="en-US" dirty="0"/>
                <a:t>+ run(): void</a:t>
              </a:r>
            </a:p>
            <a:p>
              <a:r>
                <a:rPr lang="en-US" dirty="0"/>
                <a:t>+ stop(): void</a:t>
              </a:r>
            </a:p>
          </p:txBody>
        </p:sp>
      </p:grpSp>
      <p:grpSp>
        <p:nvGrpSpPr>
          <p:cNvPr id="3093" name="Group 3092">
            <a:extLst>
              <a:ext uri="{FF2B5EF4-FFF2-40B4-BE49-F238E27FC236}">
                <a16:creationId xmlns:a16="http://schemas.microsoft.com/office/drawing/2014/main" id="{CACCDD8A-8982-2CA6-D530-A9C15DB9CB86}"/>
              </a:ext>
            </a:extLst>
          </p:cNvPr>
          <p:cNvGrpSpPr/>
          <p:nvPr/>
        </p:nvGrpSpPr>
        <p:grpSpPr>
          <a:xfrm>
            <a:off x="4179883" y="5478162"/>
            <a:ext cx="721629" cy="723834"/>
            <a:chOff x="626757" y="3130041"/>
            <a:chExt cx="721629" cy="723834"/>
          </a:xfrm>
        </p:grpSpPr>
        <p:sp>
          <p:nvSpPr>
            <p:cNvPr id="3094" name="TextBox 3093">
              <a:extLst>
                <a:ext uri="{FF2B5EF4-FFF2-40B4-BE49-F238E27FC236}">
                  <a16:creationId xmlns:a16="http://schemas.microsoft.com/office/drawing/2014/main" id="{66FD9618-0EA5-D95C-CF8B-E498767BC9CD}"/>
                </a:ext>
              </a:extLst>
            </p:cNvPr>
            <p:cNvSpPr txBox="1"/>
            <p:nvPr/>
          </p:nvSpPr>
          <p:spPr>
            <a:xfrm>
              <a:off x="656626" y="3151109"/>
              <a:ext cx="672709" cy="107722"/>
            </a:xfrm>
            <a:prstGeom prst="rect">
              <a:avLst/>
            </a:prstGeom>
            <a:noFill/>
          </p:spPr>
          <p:txBody>
            <a:bodyPr wrap="square" lIns="0" tIns="0" rIns="0" bIns="0" rtlCol="0">
              <a:spAutoFit/>
            </a:bodyPr>
            <a:lstStyle>
              <a:defPPr>
                <a:defRPr lang="en-US"/>
              </a:defPPr>
              <a:lvl1pPr algn="ctr">
                <a:defRPr sz="700" b="1"/>
              </a:lvl1pPr>
            </a:lstStyle>
            <a:p>
              <a:r>
                <a:rPr lang="en-US" i="1" dirty="0" err="1"/>
                <a:t>Lift</a:t>
              </a:r>
              <a:r>
                <a:rPr lang="en-US" altLang="zh-CN" i="1" dirty="0" err="1"/>
                <a:t>State</a:t>
              </a:r>
              <a:endParaRPr lang="en-US" i="1" dirty="0"/>
            </a:p>
          </p:txBody>
        </p:sp>
        <p:sp>
          <p:nvSpPr>
            <p:cNvPr id="3095" name="Rectangle: Rounded Corners 3094">
              <a:extLst>
                <a:ext uri="{FF2B5EF4-FFF2-40B4-BE49-F238E27FC236}">
                  <a16:creationId xmlns:a16="http://schemas.microsoft.com/office/drawing/2014/main" id="{AA26F25E-A3F5-CC70-1C17-DBBD40CAD482}"/>
                </a:ext>
              </a:extLst>
            </p:cNvPr>
            <p:cNvSpPr/>
            <p:nvPr/>
          </p:nvSpPr>
          <p:spPr>
            <a:xfrm>
              <a:off x="626759" y="3130041"/>
              <a:ext cx="721627" cy="723834"/>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96" name="Straight Connector 3095">
              <a:extLst>
                <a:ext uri="{FF2B5EF4-FFF2-40B4-BE49-F238E27FC236}">
                  <a16:creationId xmlns:a16="http://schemas.microsoft.com/office/drawing/2014/main" id="{7E5B517C-8CAB-FB7A-9419-3BAA7CEFF80F}"/>
                </a:ext>
              </a:extLst>
            </p:cNvPr>
            <p:cNvCxnSpPr>
              <a:cxnSpLocks/>
            </p:cNvCxnSpPr>
            <p:nvPr/>
          </p:nvCxnSpPr>
          <p:spPr>
            <a:xfrm>
              <a:off x="626759" y="3262639"/>
              <a:ext cx="721577" cy="0"/>
            </a:xfrm>
            <a:prstGeom prst="line">
              <a:avLst/>
            </a:prstGeom>
          </p:spPr>
          <p:style>
            <a:lnRef idx="1">
              <a:schemeClr val="dk1"/>
            </a:lnRef>
            <a:fillRef idx="0">
              <a:schemeClr val="dk1"/>
            </a:fillRef>
            <a:effectRef idx="0">
              <a:schemeClr val="dk1"/>
            </a:effectRef>
            <a:fontRef idx="minor">
              <a:schemeClr val="tx1"/>
            </a:fontRef>
          </p:style>
        </p:cxnSp>
        <p:sp>
          <p:nvSpPr>
            <p:cNvPr id="3097" name="TextBox 3096">
              <a:extLst>
                <a:ext uri="{FF2B5EF4-FFF2-40B4-BE49-F238E27FC236}">
                  <a16:creationId xmlns:a16="http://schemas.microsoft.com/office/drawing/2014/main" id="{54C1754F-B115-620A-25A7-9D2A8A7E249F}"/>
                </a:ext>
              </a:extLst>
            </p:cNvPr>
            <p:cNvSpPr txBox="1"/>
            <p:nvPr/>
          </p:nvSpPr>
          <p:spPr>
            <a:xfrm>
              <a:off x="657951" y="3276104"/>
              <a:ext cx="591218" cy="92333"/>
            </a:xfrm>
            <a:prstGeom prst="rect">
              <a:avLst/>
            </a:prstGeom>
            <a:noFill/>
          </p:spPr>
          <p:txBody>
            <a:bodyPr wrap="square" lIns="0" tIns="0" rIns="0" bIns="0" rtlCol="0">
              <a:spAutoFit/>
            </a:bodyPr>
            <a:lstStyle>
              <a:defPPr>
                <a:defRPr lang="en-US"/>
              </a:defPPr>
              <a:lvl1pPr>
                <a:defRPr sz="600"/>
              </a:lvl1pPr>
            </a:lstStyle>
            <a:p>
              <a:r>
                <a:rPr lang="en-US" dirty="0"/>
                <a:t># context: Context</a:t>
              </a:r>
            </a:p>
          </p:txBody>
        </p:sp>
        <p:cxnSp>
          <p:nvCxnSpPr>
            <p:cNvPr id="3098" name="Straight Connector 3097">
              <a:extLst>
                <a:ext uri="{FF2B5EF4-FFF2-40B4-BE49-F238E27FC236}">
                  <a16:creationId xmlns:a16="http://schemas.microsoft.com/office/drawing/2014/main" id="{40FCF64C-4910-6AD5-8D31-EBE8F33FCB07}"/>
                </a:ext>
              </a:extLst>
            </p:cNvPr>
            <p:cNvCxnSpPr>
              <a:cxnSpLocks/>
            </p:cNvCxnSpPr>
            <p:nvPr/>
          </p:nvCxnSpPr>
          <p:spPr>
            <a:xfrm>
              <a:off x="626757" y="3374558"/>
              <a:ext cx="721579" cy="0"/>
            </a:xfrm>
            <a:prstGeom prst="line">
              <a:avLst/>
            </a:prstGeom>
          </p:spPr>
          <p:style>
            <a:lnRef idx="1">
              <a:schemeClr val="dk1"/>
            </a:lnRef>
            <a:fillRef idx="0">
              <a:schemeClr val="dk1"/>
            </a:fillRef>
            <a:effectRef idx="0">
              <a:schemeClr val="dk1"/>
            </a:effectRef>
            <a:fontRef idx="minor">
              <a:schemeClr val="tx1"/>
            </a:fontRef>
          </p:style>
        </p:cxnSp>
        <p:sp>
          <p:nvSpPr>
            <p:cNvPr id="3099" name="TextBox 3098">
              <a:extLst>
                <a:ext uri="{FF2B5EF4-FFF2-40B4-BE49-F238E27FC236}">
                  <a16:creationId xmlns:a16="http://schemas.microsoft.com/office/drawing/2014/main" id="{8B0CBC9C-57F9-0BCD-177A-54FFBBF8049C}"/>
                </a:ext>
              </a:extLst>
            </p:cNvPr>
            <p:cNvSpPr txBox="1"/>
            <p:nvPr/>
          </p:nvSpPr>
          <p:spPr>
            <a:xfrm>
              <a:off x="653197" y="3381510"/>
              <a:ext cx="684820" cy="461665"/>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setContext</a:t>
              </a:r>
              <a:r>
                <a:rPr lang="en-US" dirty="0"/>
                <a:t>(Context)</a:t>
              </a:r>
            </a:p>
            <a:p>
              <a:r>
                <a:rPr lang="en-US" dirty="0"/>
                <a:t>+ </a:t>
              </a:r>
              <a:r>
                <a:rPr lang="en-US" altLang="zh-CN" dirty="0"/>
                <a:t>open</a:t>
              </a:r>
              <a:r>
                <a:rPr lang="en-US" dirty="0"/>
                <a:t>(): void</a:t>
              </a:r>
            </a:p>
            <a:p>
              <a:r>
                <a:rPr lang="en-US" dirty="0"/>
                <a:t>+ </a:t>
              </a:r>
              <a:r>
                <a:rPr lang="en-US" altLang="zh-CN" dirty="0"/>
                <a:t>close</a:t>
              </a:r>
              <a:r>
                <a:rPr lang="en-US" dirty="0"/>
                <a:t>(): void</a:t>
              </a:r>
            </a:p>
            <a:p>
              <a:r>
                <a:rPr lang="en-US" dirty="0"/>
                <a:t>+ run(): void</a:t>
              </a:r>
            </a:p>
            <a:p>
              <a:r>
                <a:rPr lang="en-US" dirty="0"/>
                <a:t>+ stop(): void</a:t>
              </a:r>
            </a:p>
          </p:txBody>
        </p:sp>
      </p:grpSp>
      <p:grpSp>
        <p:nvGrpSpPr>
          <p:cNvPr id="3102" name="Group 3101">
            <a:extLst>
              <a:ext uri="{FF2B5EF4-FFF2-40B4-BE49-F238E27FC236}">
                <a16:creationId xmlns:a16="http://schemas.microsoft.com/office/drawing/2014/main" id="{A889B51F-AD32-412E-234D-9A993A8D1F99}"/>
              </a:ext>
            </a:extLst>
          </p:cNvPr>
          <p:cNvGrpSpPr/>
          <p:nvPr/>
        </p:nvGrpSpPr>
        <p:grpSpPr>
          <a:xfrm>
            <a:off x="7977282" y="5374423"/>
            <a:ext cx="1164155" cy="1174014"/>
            <a:chOff x="626757" y="3130041"/>
            <a:chExt cx="1164155" cy="1174014"/>
          </a:xfrm>
        </p:grpSpPr>
        <p:sp>
          <p:nvSpPr>
            <p:cNvPr id="3103" name="TextBox 3102">
              <a:extLst>
                <a:ext uri="{FF2B5EF4-FFF2-40B4-BE49-F238E27FC236}">
                  <a16:creationId xmlns:a16="http://schemas.microsoft.com/office/drawing/2014/main" id="{73A2427F-2C00-79C2-B4A0-499DF0E353F3}"/>
                </a:ext>
              </a:extLst>
            </p:cNvPr>
            <p:cNvSpPr txBox="1"/>
            <p:nvPr/>
          </p:nvSpPr>
          <p:spPr>
            <a:xfrm>
              <a:off x="656626" y="3151109"/>
              <a:ext cx="1094191" cy="107722"/>
            </a:xfrm>
            <a:prstGeom prst="rect">
              <a:avLst/>
            </a:prstGeom>
            <a:noFill/>
          </p:spPr>
          <p:txBody>
            <a:bodyPr wrap="square" lIns="0" tIns="0" rIns="0" bIns="0" rtlCol="0">
              <a:spAutoFit/>
            </a:bodyPr>
            <a:lstStyle>
              <a:defPPr>
                <a:defRPr lang="en-US"/>
              </a:defPPr>
              <a:lvl1pPr algn="ctr">
                <a:defRPr sz="700" b="1"/>
              </a:lvl1pPr>
            </a:lstStyle>
            <a:p>
              <a:r>
                <a:rPr lang="en-US" dirty="0"/>
                <a:t>C</a:t>
              </a:r>
              <a:r>
                <a:rPr lang="en-US" altLang="zh-CN" dirty="0"/>
                <a:t>ontext</a:t>
              </a:r>
              <a:endParaRPr lang="en-US" dirty="0"/>
            </a:p>
          </p:txBody>
        </p:sp>
        <p:sp>
          <p:nvSpPr>
            <p:cNvPr id="3104" name="Rectangle: Rounded Corners 3103">
              <a:extLst>
                <a:ext uri="{FF2B5EF4-FFF2-40B4-BE49-F238E27FC236}">
                  <a16:creationId xmlns:a16="http://schemas.microsoft.com/office/drawing/2014/main" id="{1EDEB1D4-78FF-5CC8-4382-737678A7F0AB}"/>
                </a:ext>
              </a:extLst>
            </p:cNvPr>
            <p:cNvSpPr/>
            <p:nvPr/>
          </p:nvSpPr>
          <p:spPr>
            <a:xfrm>
              <a:off x="626759" y="3130041"/>
              <a:ext cx="1152634" cy="1174014"/>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05" name="Straight Connector 3104">
              <a:extLst>
                <a:ext uri="{FF2B5EF4-FFF2-40B4-BE49-F238E27FC236}">
                  <a16:creationId xmlns:a16="http://schemas.microsoft.com/office/drawing/2014/main" id="{B40C0086-EDEC-A932-2243-187DA15E7ACD}"/>
                </a:ext>
              </a:extLst>
            </p:cNvPr>
            <p:cNvCxnSpPr>
              <a:cxnSpLocks/>
            </p:cNvCxnSpPr>
            <p:nvPr/>
          </p:nvCxnSpPr>
          <p:spPr>
            <a:xfrm>
              <a:off x="626759" y="3262639"/>
              <a:ext cx="1155809" cy="0"/>
            </a:xfrm>
            <a:prstGeom prst="line">
              <a:avLst/>
            </a:prstGeom>
          </p:spPr>
          <p:style>
            <a:lnRef idx="1">
              <a:schemeClr val="dk1"/>
            </a:lnRef>
            <a:fillRef idx="0">
              <a:schemeClr val="dk1"/>
            </a:fillRef>
            <a:effectRef idx="0">
              <a:schemeClr val="dk1"/>
            </a:effectRef>
            <a:fontRef idx="minor">
              <a:schemeClr val="tx1"/>
            </a:fontRef>
          </p:style>
        </p:cxnSp>
        <p:sp>
          <p:nvSpPr>
            <p:cNvPr id="3106" name="TextBox 3105">
              <a:extLst>
                <a:ext uri="{FF2B5EF4-FFF2-40B4-BE49-F238E27FC236}">
                  <a16:creationId xmlns:a16="http://schemas.microsoft.com/office/drawing/2014/main" id="{55C18593-6D0B-C8E5-94B2-2DBFAF08943A}"/>
                </a:ext>
              </a:extLst>
            </p:cNvPr>
            <p:cNvSpPr txBox="1"/>
            <p:nvPr/>
          </p:nvSpPr>
          <p:spPr>
            <a:xfrm>
              <a:off x="657949" y="3276104"/>
              <a:ext cx="1132963" cy="461665"/>
            </a:xfrm>
            <a:prstGeom prst="rect">
              <a:avLst/>
            </a:prstGeom>
            <a:noFill/>
          </p:spPr>
          <p:txBody>
            <a:bodyPr wrap="square" lIns="0" tIns="0" rIns="0" bIns="0" rtlCol="0">
              <a:spAutoFit/>
            </a:bodyPr>
            <a:lstStyle>
              <a:defPPr>
                <a:defRPr lang="en-US"/>
              </a:defPPr>
              <a:lvl1pPr>
                <a:defRPr sz="600"/>
              </a:lvl1pPr>
            </a:lstStyle>
            <a:p>
              <a:r>
                <a:rPr lang="en-US" dirty="0"/>
                <a:t>+ OPENNING_STATE: </a:t>
              </a:r>
              <a:r>
                <a:rPr lang="en-US" dirty="0" err="1"/>
                <a:t>O</a:t>
              </a:r>
              <a:r>
                <a:rPr lang="en-US" altLang="zh-CN" dirty="0" err="1"/>
                <a:t>penningState</a:t>
              </a:r>
              <a:endParaRPr lang="en-US" dirty="0"/>
            </a:p>
            <a:p>
              <a:r>
                <a:rPr lang="en-US" dirty="0"/>
                <a:t>+ CLOSING_STATE: </a:t>
              </a:r>
              <a:r>
                <a:rPr lang="en-US" altLang="zh-CN" dirty="0" err="1"/>
                <a:t>ClosingState</a:t>
              </a:r>
              <a:endParaRPr lang="en-US" dirty="0"/>
            </a:p>
            <a:p>
              <a:r>
                <a:rPr lang="en-US" dirty="0"/>
                <a:t>+ RUNNING_STATE: </a:t>
              </a:r>
              <a:r>
                <a:rPr lang="en-US" altLang="zh-CN" dirty="0" err="1"/>
                <a:t>RunningState</a:t>
              </a:r>
              <a:endParaRPr lang="en-US" dirty="0"/>
            </a:p>
            <a:p>
              <a:r>
                <a:rPr lang="en-US" dirty="0"/>
                <a:t>+ STOPING_STATE: </a:t>
              </a:r>
              <a:r>
                <a:rPr lang="en-US" dirty="0" err="1"/>
                <a:t>Stop</a:t>
              </a:r>
              <a:r>
                <a:rPr lang="en-US" altLang="zh-CN" dirty="0" err="1"/>
                <a:t>ingState</a:t>
              </a:r>
              <a:endParaRPr lang="en-US" dirty="0"/>
            </a:p>
            <a:p>
              <a:r>
                <a:rPr lang="en-US" dirty="0"/>
                <a:t>- </a:t>
              </a:r>
              <a:r>
                <a:rPr lang="en-US" dirty="0" err="1"/>
                <a:t>liftState</a:t>
              </a:r>
              <a:r>
                <a:rPr lang="en-US" dirty="0"/>
                <a:t>: </a:t>
              </a:r>
              <a:r>
                <a:rPr lang="en-US" dirty="0" err="1"/>
                <a:t>LiftState</a:t>
              </a:r>
              <a:endParaRPr lang="en-US" dirty="0"/>
            </a:p>
          </p:txBody>
        </p:sp>
        <p:cxnSp>
          <p:nvCxnSpPr>
            <p:cNvPr id="3107" name="Straight Connector 3106">
              <a:extLst>
                <a:ext uri="{FF2B5EF4-FFF2-40B4-BE49-F238E27FC236}">
                  <a16:creationId xmlns:a16="http://schemas.microsoft.com/office/drawing/2014/main" id="{A555B22C-2131-6A1B-2E4C-1714B37C99E8}"/>
                </a:ext>
              </a:extLst>
            </p:cNvPr>
            <p:cNvCxnSpPr>
              <a:cxnSpLocks/>
            </p:cNvCxnSpPr>
            <p:nvPr/>
          </p:nvCxnSpPr>
          <p:spPr>
            <a:xfrm>
              <a:off x="626757" y="3733333"/>
              <a:ext cx="1152636" cy="0"/>
            </a:xfrm>
            <a:prstGeom prst="line">
              <a:avLst/>
            </a:prstGeom>
          </p:spPr>
          <p:style>
            <a:lnRef idx="1">
              <a:schemeClr val="dk1"/>
            </a:lnRef>
            <a:fillRef idx="0">
              <a:schemeClr val="dk1"/>
            </a:fillRef>
            <a:effectRef idx="0">
              <a:schemeClr val="dk1"/>
            </a:effectRef>
            <a:fontRef idx="minor">
              <a:schemeClr val="tx1"/>
            </a:fontRef>
          </p:style>
        </p:cxnSp>
        <p:sp>
          <p:nvSpPr>
            <p:cNvPr id="3108" name="TextBox 3107">
              <a:extLst>
                <a:ext uri="{FF2B5EF4-FFF2-40B4-BE49-F238E27FC236}">
                  <a16:creationId xmlns:a16="http://schemas.microsoft.com/office/drawing/2014/main" id="{12978806-6086-9E30-6215-11C1A1816E3B}"/>
                </a:ext>
              </a:extLst>
            </p:cNvPr>
            <p:cNvSpPr txBox="1"/>
            <p:nvPr/>
          </p:nvSpPr>
          <p:spPr>
            <a:xfrm>
              <a:off x="653196" y="3741079"/>
              <a:ext cx="1091272" cy="553998"/>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getLiftState</a:t>
              </a:r>
              <a:r>
                <a:rPr lang="en-US" dirty="0"/>
                <a:t>(): </a:t>
              </a:r>
              <a:r>
                <a:rPr lang="en-US" dirty="0" err="1"/>
                <a:t>LiftState</a:t>
              </a:r>
              <a:endParaRPr lang="en-US" dirty="0"/>
            </a:p>
            <a:p>
              <a:r>
                <a:rPr lang="en-US" dirty="0"/>
                <a:t>+ </a:t>
              </a:r>
              <a:r>
                <a:rPr lang="en-US" dirty="0" err="1"/>
                <a:t>setLiftState</a:t>
              </a:r>
              <a:r>
                <a:rPr lang="en-US" dirty="0"/>
                <a:t>(</a:t>
              </a:r>
              <a:r>
                <a:rPr lang="en-US" dirty="0" err="1"/>
                <a:t>LiftState</a:t>
              </a:r>
              <a:r>
                <a:rPr lang="en-US" dirty="0"/>
                <a:t>): void</a:t>
              </a:r>
            </a:p>
            <a:p>
              <a:r>
                <a:rPr lang="en-US" dirty="0"/>
                <a:t>+ </a:t>
              </a:r>
              <a:r>
                <a:rPr lang="en-US" altLang="zh-CN" dirty="0"/>
                <a:t>open</a:t>
              </a:r>
              <a:r>
                <a:rPr lang="en-US" dirty="0"/>
                <a:t>(): void</a:t>
              </a:r>
            </a:p>
            <a:p>
              <a:r>
                <a:rPr lang="en-US" dirty="0"/>
                <a:t>+ </a:t>
              </a:r>
              <a:r>
                <a:rPr lang="en-US" altLang="zh-CN" dirty="0"/>
                <a:t>close</a:t>
              </a:r>
              <a:r>
                <a:rPr lang="en-US" dirty="0"/>
                <a:t>(): void</a:t>
              </a:r>
            </a:p>
            <a:p>
              <a:r>
                <a:rPr lang="en-US" dirty="0"/>
                <a:t>+ run(): void</a:t>
              </a:r>
            </a:p>
            <a:p>
              <a:r>
                <a:rPr lang="en-US" dirty="0"/>
                <a:t>+ stop(): void</a:t>
              </a:r>
            </a:p>
          </p:txBody>
        </p:sp>
      </p:grpSp>
      <p:cxnSp>
        <p:nvCxnSpPr>
          <p:cNvPr id="3113" name="Connector: Elbow 3112">
            <a:extLst>
              <a:ext uri="{FF2B5EF4-FFF2-40B4-BE49-F238E27FC236}">
                <a16:creationId xmlns:a16="http://schemas.microsoft.com/office/drawing/2014/main" id="{E60E8464-2AA0-537F-5F5E-89CD47003361}"/>
              </a:ext>
            </a:extLst>
          </p:cNvPr>
          <p:cNvCxnSpPr>
            <a:cxnSpLocks/>
            <a:stCxn id="3081" idx="0"/>
            <a:endCxn id="3095" idx="3"/>
          </p:cNvCxnSpPr>
          <p:nvPr/>
        </p:nvCxnSpPr>
        <p:spPr>
          <a:xfrm rot="16200000" flipV="1">
            <a:off x="5130625" y="5610967"/>
            <a:ext cx="67531" cy="525756"/>
          </a:xfrm>
          <a:prstGeom prst="bentConnector2">
            <a:avLst/>
          </a:prstGeom>
        </p:spPr>
        <p:style>
          <a:lnRef idx="1">
            <a:schemeClr val="dk1"/>
          </a:lnRef>
          <a:fillRef idx="0">
            <a:schemeClr val="dk1"/>
          </a:fillRef>
          <a:effectRef idx="0">
            <a:schemeClr val="dk1"/>
          </a:effectRef>
          <a:fontRef idx="minor">
            <a:schemeClr val="tx1"/>
          </a:fontRef>
        </p:style>
      </p:cxnSp>
      <p:cxnSp>
        <p:nvCxnSpPr>
          <p:cNvPr id="3115" name="Connector: Elbow 3114">
            <a:extLst>
              <a:ext uri="{FF2B5EF4-FFF2-40B4-BE49-F238E27FC236}">
                <a16:creationId xmlns:a16="http://schemas.microsoft.com/office/drawing/2014/main" id="{A67F6E7C-F03E-9C85-A4A8-28AE1B6F2399}"/>
              </a:ext>
            </a:extLst>
          </p:cNvPr>
          <p:cNvCxnSpPr>
            <a:cxnSpLocks/>
            <a:stCxn id="2627" idx="0"/>
            <a:endCxn id="3095" idx="3"/>
          </p:cNvCxnSpPr>
          <p:nvPr/>
        </p:nvCxnSpPr>
        <p:spPr>
          <a:xfrm rot="16200000" flipV="1">
            <a:off x="5480669" y="5260923"/>
            <a:ext cx="67531" cy="1225843"/>
          </a:xfrm>
          <a:prstGeom prst="bentConnector2">
            <a:avLst/>
          </a:prstGeom>
        </p:spPr>
        <p:style>
          <a:lnRef idx="1">
            <a:schemeClr val="dk1"/>
          </a:lnRef>
          <a:fillRef idx="0">
            <a:schemeClr val="dk1"/>
          </a:fillRef>
          <a:effectRef idx="0">
            <a:schemeClr val="dk1"/>
          </a:effectRef>
          <a:fontRef idx="minor">
            <a:schemeClr val="tx1"/>
          </a:fontRef>
        </p:style>
      </p:cxnSp>
      <p:cxnSp>
        <p:nvCxnSpPr>
          <p:cNvPr id="3118" name="Connector: Elbow 3117">
            <a:extLst>
              <a:ext uri="{FF2B5EF4-FFF2-40B4-BE49-F238E27FC236}">
                <a16:creationId xmlns:a16="http://schemas.microsoft.com/office/drawing/2014/main" id="{627827F0-08BE-8535-D8EF-1108C27CACB6}"/>
              </a:ext>
            </a:extLst>
          </p:cNvPr>
          <p:cNvCxnSpPr>
            <a:cxnSpLocks/>
            <a:stCxn id="2681" idx="0"/>
            <a:endCxn id="3095" idx="3"/>
          </p:cNvCxnSpPr>
          <p:nvPr/>
        </p:nvCxnSpPr>
        <p:spPr>
          <a:xfrm rot="16200000" flipV="1">
            <a:off x="5839447" y="4902144"/>
            <a:ext cx="69112" cy="1944981"/>
          </a:xfrm>
          <a:prstGeom prst="bentConnector2">
            <a:avLst/>
          </a:prstGeom>
        </p:spPr>
        <p:style>
          <a:lnRef idx="1">
            <a:schemeClr val="dk1"/>
          </a:lnRef>
          <a:fillRef idx="0">
            <a:schemeClr val="dk1"/>
          </a:fillRef>
          <a:effectRef idx="0">
            <a:schemeClr val="dk1"/>
          </a:effectRef>
          <a:fontRef idx="minor">
            <a:schemeClr val="tx1"/>
          </a:fontRef>
        </p:style>
      </p:cxnSp>
      <p:cxnSp>
        <p:nvCxnSpPr>
          <p:cNvPr id="3121" name="Connector: Elbow 3120">
            <a:extLst>
              <a:ext uri="{FF2B5EF4-FFF2-40B4-BE49-F238E27FC236}">
                <a16:creationId xmlns:a16="http://schemas.microsoft.com/office/drawing/2014/main" id="{67051E8F-352A-438D-E76A-F467CC98FDF7}"/>
              </a:ext>
            </a:extLst>
          </p:cNvPr>
          <p:cNvCxnSpPr>
            <a:cxnSpLocks/>
            <a:stCxn id="3074" idx="0"/>
            <a:endCxn id="3095" idx="3"/>
          </p:cNvCxnSpPr>
          <p:nvPr/>
        </p:nvCxnSpPr>
        <p:spPr>
          <a:xfrm rot="16200000" flipV="1">
            <a:off x="6183137" y="4558455"/>
            <a:ext cx="67531" cy="2630780"/>
          </a:xfrm>
          <a:prstGeom prst="bentConnector2">
            <a:avLst/>
          </a:prstGeom>
        </p:spPr>
        <p:style>
          <a:lnRef idx="1">
            <a:schemeClr val="dk1"/>
          </a:lnRef>
          <a:fillRef idx="0">
            <a:schemeClr val="dk1"/>
          </a:fillRef>
          <a:effectRef idx="0">
            <a:schemeClr val="dk1"/>
          </a:effectRef>
          <a:fontRef idx="minor">
            <a:schemeClr val="tx1"/>
          </a:fontRef>
        </p:style>
      </p:cxnSp>
      <p:cxnSp>
        <p:nvCxnSpPr>
          <p:cNvPr id="3124" name="Connector: Elbow 3123">
            <a:extLst>
              <a:ext uri="{FF2B5EF4-FFF2-40B4-BE49-F238E27FC236}">
                <a16:creationId xmlns:a16="http://schemas.microsoft.com/office/drawing/2014/main" id="{32458A9E-94D5-80D0-910B-EC230A91964A}"/>
              </a:ext>
            </a:extLst>
          </p:cNvPr>
          <p:cNvCxnSpPr>
            <a:cxnSpLocks/>
            <a:stCxn id="3104" idx="2"/>
            <a:endCxn id="3074" idx="2"/>
          </p:cNvCxnSpPr>
          <p:nvPr/>
        </p:nvCxnSpPr>
        <p:spPr>
          <a:xfrm rot="5400000" flipH="1">
            <a:off x="8041541" y="6036378"/>
            <a:ext cx="2811" cy="1021309"/>
          </a:xfrm>
          <a:prstGeom prst="bentConnector3">
            <a:avLst>
              <a:gd name="adj1" fmla="val -4659160"/>
            </a:avLst>
          </a:prstGeom>
        </p:spPr>
        <p:style>
          <a:lnRef idx="1">
            <a:schemeClr val="dk1"/>
          </a:lnRef>
          <a:fillRef idx="0">
            <a:schemeClr val="dk1"/>
          </a:fillRef>
          <a:effectRef idx="0">
            <a:schemeClr val="dk1"/>
          </a:effectRef>
          <a:fontRef idx="minor">
            <a:schemeClr val="tx1"/>
          </a:fontRef>
        </p:style>
      </p:cxnSp>
      <p:cxnSp>
        <p:nvCxnSpPr>
          <p:cNvPr id="3129" name="Connector: Elbow 3128">
            <a:extLst>
              <a:ext uri="{FF2B5EF4-FFF2-40B4-BE49-F238E27FC236}">
                <a16:creationId xmlns:a16="http://schemas.microsoft.com/office/drawing/2014/main" id="{BA6CAB3F-D3BA-4B45-3BE3-6B3BDD5ACEFC}"/>
              </a:ext>
            </a:extLst>
          </p:cNvPr>
          <p:cNvCxnSpPr>
            <a:cxnSpLocks/>
            <a:stCxn id="3104" idx="2"/>
            <a:endCxn id="2681" idx="2"/>
          </p:cNvCxnSpPr>
          <p:nvPr/>
        </p:nvCxnSpPr>
        <p:spPr>
          <a:xfrm rot="5400000" flipH="1">
            <a:off x="7699432" y="5694268"/>
            <a:ext cx="1230" cy="1707108"/>
          </a:xfrm>
          <a:prstGeom prst="bentConnector3">
            <a:avLst>
              <a:gd name="adj1" fmla="val -10647886"/>
            </a:avLst>
          </a:prstGeom>
        </p:spPr>
        <p:style>
          <a:lnRef idx="1">
            <a:schemeClr val="dk1"/>
          </a:lnRef>
          <a:fillRef idx="0">
            <a:schemeClr val="dk1"/>
          </a:fillRef>
          <a:effectRef idx="0">
            <a:schemeClr val="dk1"/>
          </a:effectRef>
          <a:fontRef idx="minor">
            <a:schemeClr val="tx1"/>
          </a:fontRef>
        </p:style>
      </p:cxnSp>
      <p:cxnSp>
        <p:nvCxnSpPr>
          <p:cNvPr id="3133" name="Connector: Elbow 3132">
            <a:extLst>
              <a:ext uri="{FF2B5EF4-FFF2-40B4-BE49-F238E27FC236}">
                <a16:creationId xmlns:a16="http://schemas.microsoft.com/office/drawing/2014/main" id="{74EDD36B-6FAA-059F-7E0C-B4C2C5E0B2FA}"/>
              </a:ext>
            </a:extLst>
          </p:cNvPr>
          <p:cNvCxnSpPr>
            <a:cxnSpLocks/>
            <a:stCxn id="3104" idx="2"/>
            <a:endCxn id="2627" idx="2"/>
          </p:cNvCxnSpPr>
          <p:nvPr/>
        </p:nvCxnSpPr>
        <p:spPr>
          <a:xfrm rot="5400000" flipH="1">
            <a:off x="7339072" y="5333909"/>
            <a:ext cx="2811" cy="2426246"/>
          </a:xfrm>
          <a:prstGeom prst="bentConnector3">
            <a:avLst>
              <a:gd name="adj1" fmla="val -4743863"/>
            </a:avLst>
          </a:prstGeom>
        </p:spPr>
        <p:style>
          <a:lnRef idx="1">
            <a:schemeClr val="dk1"/>
          </a:lnRef>
          <a:fillRef idx="0">
            <a:schemeClr val="dk1"/>
          </a:fillRef>
          <a:effectRef idx="0">
            <a:schemeClr val="dk1"/>
          </a:effectRef>
          <a:fontRef idx="minor">
            <a:schemeClr val="tx1"/>
          </a:fontRef>
        </p:style>
      </p:cxnSp>
      <p:cxnSp>
        <p:nvCxnSpPr>
          <p:cNvPr id="3136" name="Connector: Elbow 3135">
            <a:extLst>
              <a:ext uri="{FF2B5EF4-FFF2-40B4-BE49-F238E27FC236}">
                <a16:creationId xmlns:a16="http://schemas.microsoft.com/office/drawing/2014/main" id="{DE0FD50E-FA41-E741-5BA6-B4A90267ECD8}"/>
              </a:ext>
            </a:extLst>
          </p:cNvPr>
          <p:cNvCxnSpPr>
            <a:cxnSpLocks/>
            <a:stCxn id="3104" idx="2"/>
            <a:endCxn id="3081" idx="2"/>
          </p:cNvCxnSpPr>
          <p:nvPr/>
        </p:nvCxnSpPr>
        <p:spPr>
          <a:xfrm rot="5400000" flipH="1">
            <a:off x="6989029" y="4983866"/>
            <a:ext cx="2811" cy="3126333"/>
          </a:xfrm>
          <a:prstGeom prst="bentConnector3">
            <a:avLst>
              <a:gd name="adj1" fmla="val -4743863"/>
            </a:avLst>
          </a:prstGeom>
        </p:spPr>
        <p:style>
          <a:lnRef idx="1">
            <a:schemeClr val="dk1"/>
          </a:lnRef>
          <a:fillRef idx="0">
            <a:schemeClr val="dk1"/>
          </a:fillRef>
          <a:effectRef idx="0">
            <a:schemeClr val="dk1"/>
          </a:effectRef>
          <a:fontRef idx="minor">
            <a:schemeClr val="tx1"/>
          </a:fontRef>
        </p:style>
      </p:cxnSp>
      <p:sp>
        <p:nvSpPr>
          <p:cNvPr id="3148" name="Diamond 3147">
            <a:extLst>
              <a:ext uri="{FF2B5EF4-FFF2-40B4-BE49-F238E27FC236}">
                <a16:creationId xmlns:a16="http://schemas.microsoft.com/office/drawing/2014/main" id="{FD4243D2-92E0-E20D-EC6B-1C58225A24CF}"/>
              </a:ext>
            </a:extLst>
          </p:cNvPr>
          <p:cNvSpPr/>
          <p:nvPr/>
        </p:nvSpPr>
        <p:spPr>
          <a:xfrm rot="16200000">
            <a:off x="8510559" y="6575268"/>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9" name="Isosceles Triangle 3148">
            <a:extLst>
              <a:ext uri="{FF2B5EF4-FFF2-40B4-BE49-F238E27FC236}">
                <a16:creationId xmlns:a16="http://schemas.microsoft.com/office/drawing/2014/main" id="{4480720D-3684-2603-CF97-577D6CB6E547}"/>
              </a:ext>
            </a:extLst>
          </p:cNvPr>
          <p:cNvSpPr/>
          <p:nvPr/>
        </p:nvSpPr>
        <p:spPr>
          <a:xfrm rot="16200000">
            <a:off x="4906273" y="5818019"/>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0092B72F-21B3-FCE0-5470-D2C79DD93BE0}"/>
              </a:ext>
            </a:extLst>
          </p:cNvPr>
          <p:cNvGrpSpPr/>
          <p:nvPr/>
        </p:nvGrpSpPr>
        <p:grpSpPr>
          <a:xfrm>
            <a:off x="1461733" y="4692911"/>
            <a:ext cx="1123484" cy="557388"/>
            <a:chOff x="626757" y="3130042"/>
            <a:chExt cx="1123484" cy="557388"/>
          </a:xfrm>
        </p:grpSpPr>
        <p:sp>
          <p:nvSpPr>
            <p:cNvPr id="3" name="TextBox 2">
              <a:extLst>
                <a:ext uri="{FF2B5EF4-FFF2-40B4-BE49-F238E27FC236}">
                  <a16:creationId xmlns:a16="http://schemas.microsoft.com/office/drawing/2014/main" id="{3B8196E2-625D-8533-2E09-6BC9D333BD7E}"/>
                </a:ext>
              </a:extLst>
            </p:cNvPr>
            <p:cNvSpPr txBox="1"/>
            <p:nvPr/>
          </p:nvSpPr>
          <p:spPr>
            <a:xfrm>
              <a:off x="657694" y="3151109"/>
              <a:ext cx="1046510" cy="107722"/>
            </a:xfrm>
            <a:prstGeom prst="rect">
              <a:avLst/>
            </a:prstGeom>
            <a:noFill/>
          </p:spPr>
          <p:txBody>
            <a:bodyPr wrap="square" lIns="0" tIns="0" rIns="0" bIns="0" rtlCol="0">
              <a:spAutoFit/>
            </a:bodyPr>
            <a:lstStyle>
              <a:defPPr>
                <a:defRPr lang="en-US"/>
              </a:defPPr>
              <a:lvl1pPr algn="ctr">
                <a:defRPr sz="700" b="1"/>
              </a:lvl1pPr>
            </a:lstStyle>
            <a:p>
              <a:r>
                <a:rPr lang="en-US" dirty="0" err="1"/>
                <a:t>R</a:t>
              </a:r>
              <a:r>
                <a:rPr lang="en-US" altLang="zh-CN" dirty="0" err="1"/>
                <a:t>oleStateMemento</a:t>
              </a:r>
              <a:endParaRPr lang="en-US" dirty="0"/>
            </a:p>
          </p:txBody>
        </p:sp>
        <p:sp>
          <p:nvSpPr>
            <p:cNvPr id="4" name="Rectangle: Rounded Corners 3">
              <a:extLst>
                <a:ext uri="{FF2B5EF4-FFF2-40B4-BE49-F238E27FC236}">
                  <a16:creationId xmlns:a16="http://schemas.microsoft.com/office/drawing/2014/main" id="{39F0779E-4F6F-6F10-ADC5-5B2DC86E340F}"/>
                </a:ext>
              </a:extLst>
            </p:cNvPr>
            <p:cNvSpPr/>
            <p:nvPr/>
          </p:nvSpPr>
          <p:spPr>
            <a:xfrm>
              <a:off x="626758" y="3130042"/>
              <a:ext cx="1101251" cy="557388"/>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1B177407-4E78-8F9A-F2A3-26294654AAEA}"/>
                </a:ext>
              </a:extLst>
            </p:cNvPr>
            <p:cNvCxnSpPr>
              <a:cxnSpLocks/>
            </p:cNvCxnSpPr>
            <p:nvPr/>
          </p:nvCxnSpPr>
          <p:spPr>
            <a:xfrm>
              <a:off x="626759" y="3262639"/>
              <a:ext cx="1104433" cy="0"/>
            </a:xfrm>
            <a:prstGeom prst="line">
              <a:avLst/>
            </a:prstGeom>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114CE1D5-F571-03B5-A7B9-AC2AC4190B1D}"/>
                </a:ext>
              </a:extLst>
            </p:cNvPr>
            <p:cNvSpPr txBox="1"/>
            <p:nvPr/>
          </p:nvSpPr>
          <p:spPr>
            <a:xfrm>
              <a:off x="657950" y="3276104"/>
              <a:ext cx="762391"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vit</a:t>
              </a:r>
              <a:r>
                <a:rPr lang="en-US" dirty="0"/>
                <a:t>: int</a:t>
              </a:r>
              <a:endParaRPr lang="en-US" altLang="zh-CN" dirty="0"/>
            </a:p>
            <a:p>
              <a:r>
                <a:rPr lang="en-US" dirty="0"/>
                <a:t>- </a:t>
              </a:r>
              <a:r>
                <a:rPr lang="en-US" dirty="0" err="1"/>
                <a:t>atk</a:t>
              </a:r>
              <a:r>
                <a:rPr lang="en-US" dirty="0"/>
                <a:t>: int </a:t>
              </a:r>
            </a:p>
            <a:p>
              <a:r>
                <a:rPr lang="en-US" dirty="0"/>
                <a:t>- def: int</a:t>
              </a:r>
            </a:p>
          </p:txBody>
        </p:sp>
        <p:cxnSp>
          <p:nvCxnSpPr>
            <p:cNvPr id="7" name="Straight Connector 6">
              <a:extLst>
                <a:ext uri="{FF2B5EF4-FFF2-40B4-BE49-F238E27FC236}">
                  <a16:creationId xmlns:a16="http://schemas.microsoft.com/office/drawing/2014/main" id="{4B946654-E210-BD47-EB5C-4D2E000FB4F2}"/>
                </a:ext>
              </a:extLst>
            </p:cNvPr>
            <p:cNvCxnSpPr>
              <a:cxnSpLocks/>
            </p:cNvCxnSpPr>
            <p:nvPr/>
          </p:nvCxnSpPr>
          <p:spPr>
            <a:xfrm>
              <a:off x="626757" y="3560301"/>
              <a:ext cx="1102848" cy="0"/>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31C1952F-DEB2-49FE-0093-D39E63075D59}"/>
                </a:ext>
              </a:extLst>
            </p:cNvPr>
            <p:cNvSpPr txBox="1"/>
            <p:nvPr/>
          </p:nvSpPr>
          <p:spPr>
            <a:xfrm>
              <a:off x="653196" y="3568828"/>
              <a:ext cx="1097045"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R</a:t>
              </a:r>
              <a:r>
                <a:rPr lang="en-US" altLang="zh-CN" dirty="0" err="1"/>
                <a:t>oleStateMemento</a:t>
              </a:r>
              <a:r>
                <a:rPr lang="en-US" dirty="0"/>
                <a:t>(vit, </a:t>
              </a:r>
              <a:r>
                <a:rPr lang="en-US" dirty="0" err="1"/>
                <a:t>atk</a:t>
              </a:r>
              <a:r>
                <a:rPr lang="en-US" dirty="0"/>
                <a:t>, def)</a:t>
              </a:r>
            </a:p>
          </p:txBody>
        </p:sp>
      </p:grpSp>
      <p:grpSp>
        <p:nvGrpSpPr>
          <p:cNvPr id="11" name="Group 10">
            <a:extLst>
              <a:ext uri="{FF2B5EF4-FFF2-40B4-BE49-F238E27FC236}">
                <a16:creationId xmlns:a16="http://schemas.microsoft.com/office/drawing/2014/main" id="{10A3EF69-8111-3C0E-F4CF-A03F3FAE6818}"/>
              </a:ext>
            </a:extLst>
          </p:cNvPr>
          <p:cNvGrpSpPr/>
          <p:nvPr/>
        </p:nvGrpSpPr>
        <p:grpSpPr>
          <a:xfrm>
            <a:off x="2039584" y="5621531"/>
            <a:ext cx="1501310" cy="454200"/>
            <a:chOff x="626757" y="3130042"/>
            <a:chExt cx="1501310" cy="454200"/>
          </a:xfrm>
        </p:grpSpPr>
        <p:sp>
          <p:nvSpPr>
            <p:cNvPr id="12" name="TextBox 11">
              <a:extLst>
                <a:ext uri="{FF2B5EF4-FFF2-40B4-BE49-F238E27FC236}">
                  <a16:creationId xmlns:a16="http://schemas.microsoft.com/office/drawing/2014/main" id="{007BE048-8686-830D-C54E-D29E9F4DD018}"/>
                </a:ext>
              </a:extLst>
            </p:cNvPr>
            <p:cNvSpPr txBox="1"/>
            <p:nvPr/>
          </p:nvSpPr>
          <p:spPr>
            <a:xfrm>
              <a:off x="657693" y="3151109"/>
              <a:ext cx="1437035" cy="107722"/>
            </a:xfrm>
            <a:prstGeom prst="rect">
              <a:avLst/>
            </a:prstGeom>
            <a:noFill/>
          </p:spPr>
          <p:txBody>
            <a:bodyPr wrap="square" lIns="0" tIns="0" rIns="0" bIns="0" rtlCol="0">
              <a:spAutoFit/>
            </a:bodyPr>
            <a:lstStyle>
              <a:defPPr>
                <a:defRPr lang="en-US"/>
              </a:defPPr>
              <a:lvl1pPr algn="ctr">
                <a:defRPr sz="700" b="1"/>
              </a:lvl1pPr>
            </a:lstStyle>
            <a:p>
              <a:r>
                <a:rPr lang="en-US" dirty="0" err="1"/>
                <a:t>R</a:t>
              </a:r>
              <a:r>
                <a:rPr lang="en-US" altLang="zh-CN" dirty="0" err="1"/>
                <a:t>oleStateCaretaker</a:t>
              </a:r>
              <a:endParaRPr lang="en-US" dirty="0"/>
            </a:p>
          </p:txBody>
        </p:sp>
        <p:sp>
          <p:nvSpPr>
            <p:cNvPr id="13" name="Rectangle: Rounded Corners 12">
              <a:extLst>
                <a:ext uri="{FF2B5EF4-FFF2-40B4-BE49-F238E27FC236}">
                  <a16:creationId xmlns:a16="http://schemas.microsoft.com/office/drawing/2014/main" id="{BB7E7DFD-2A48-1387-8E6C-949D87D8ADA5}"/>
                </a:ext>
              </a:extLst>
            </p:cNvPr>
            <p:cNvSpPr/>
            <p:nvPr/>
          </p:nvSpPr>
          <p:spPr>
            <a:xfrm>
              <a:off x="626758" y="3130042"/>
              <a:ext cx="1498134" cy="454200"/>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646768E8-D5F4-F428-047C-11DD547BA8BA}"/>
                </a:ext>
              </a:extLst>
            </p:cNvPr>
            <p:cNvCxnSpPr>
              <a:cxnSpLocks/>
            </p:cNvCxnSpPr>
            <p:nvPr/>
          </p:nvCxnSpPr>
          <p:spPr>
            <a:xfrm>
              <a:off x="626759" y="3262639"/>
              <a:ext cx="1501308" cy="0"/>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4835D502-CDB8-3307-9EA2-E6567543BAA5}"/>
                </a:ext>
              </a:extLst>
            </p:cNvPr>
            <p:cNvSpPr txBox="1"/>
            <p:nvPr/>
          </p:nvSpPr>
          <p:spPr>
            <a:xfrm>
              <a:off x="657950" y="3276104"/>
              <a:ext cx="1314542"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r</a:t>
              </a:r>
              <a:r>
                <a:rPr lang="en-US" altLang="zh-CN" dirty="0" err="1"/>
                <a:t>oleStateMemento</a:t>
              </a:r>
              <a:r>
                <a:rPr lang="en-US" dirty="0"/>
                <a:t>: </a:t>
              </a:r>
              <a:r>
                <a:rPr lang="en-US" dirty="0" err="1"/>
                <a:t>R</a:t>
              </a:r>
              <a:r>
                <a:rPr lang="en-US" altLang="zh-CN" dirty="0" err="1"/>
                <a:t>oleStateMemento</a:t>
              </a:r>
              <a:endParaRPr lang="en-US" altLang="zh-CN" dirty="0"/>
            </a:p>
          </p:txBody>
        </p:sp>
        <p:cxnSp>
          <p:nvCxnSpPr>
            <p:cNvPr id="16" name="Straight Connector 15">
              <a:extLst>
                <a:ext uri="{FF2B5EF4-FFF2-40B4-BE49-F238E27FC236}">
                  <a16:creationId xmlns:a16="http://schemas.microsoft.com/office/drawing/2014/main" id="{BF8BB2EF-B41D-A0A2-1EA7-FFF6AD9FEFCD}"/>
                </a:ext>
              </a:extLst>
            </p:cNvPr>
            <p:cNvCxnSpPr>
              <a:cxnSpLocks/>
            </p:cNvCxnSpPr>
            <p:nvPr/>
          </p:nvCxnSpPr>
          <p:spPr>
            <a:xfrm>
              <a:off x="626757" y="3380904"/>
              <a:ext cx="1493372" cy="0"/>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168DC727-B0A6-E3C9-9B9F-8871FF721603}"/>
                </a:ext>
              </a:extLst>
            </p:cNvPr>
            <p:cNvSpPr txBox="1"/>
            <p:nvPr/>
          </p:nvSpPr>
          <p:spPr>
            <a:xfrm>
              <a:off x="653196" y="3391020"/>
              <a:ext cx="1458996"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getR</a:t>
              </a:r>
              <a:r>
                <a:rPr lang="en-US" altLang="zh-CN" dirty="0" err="1"/>
                <a:t>oleStateMemento</a:t>
              </a:r>
              <a:r>
                <a:rPr lang="en-US" dirty="0"/>
                <a:t>(): </a:t>
              </a:r>
              <a:r>
                <a:rPr lang="en-US" dirty="0" err="1"/>
                <a:t>R</a:t>
              </a:r>
              <a:r>
                <a:rPr lang="en-US" altLang="zh-CN" dirty="0" err="1"/>
                <a:t>oleStateMemento</a:t>
              </a:r>
              <a:endParaRPr lang="en-US" altLang="zh-CN" dirty="0"/>
            </a:p>
            <a:p>
              <a:r>
                <a:rPr lang="en-US" dirty="0"/>
                <a:t>+ </a:t>
              </a:r>
              <a:r>
                <a:rPr lang="en-US" dirty="0" err="1"/>
                <a:t>setR</a:t>
              </a:r>
              <a:r>
                <a:rPr lang="en-US" altLang="zh-CN" dirty="0" err="1"/>
                <a:t>oleStateMemento</a:t>
              </a:r>
              <a:r>
                <a:rPr lang="en-US" altLang="zh-CN" dirty="0"/>
                <a:t>(</a:t>
              </a:r>
              <a:r>
                <a:rPr lang="en-US" dirty="0" err="1"/>
                <a:t>R</a:t>
              </a:r>
              <a:r>
                <a:rPr lang="en-US" altLang="zh-CN" dirty="0" err="1"/>
                <a:t>oleStateMemento</a:t>
              </a:r>
              <a:r>
                <a:rPr lang="en-US" altLang="zh-CN" dirty="0"/>
                <a:t>)</a:t>
              </a:r>
              <a:endParaRPr lang="en-US" dirty="0"/>
            </a:p>
          </p:txBody>
        </p:sp>
      </p:grpSp>
      <p:grpSp>
        <p:nvGrpSpPr>
          <p:cNvPr id="18" name="Group 17">
            <a:extLst>
              <a:ext uri="{FF2B5EF4-FFF2-40B4-BE49-F238E27FC236}">
                <a16:creationId xmlns:a16="http://schemas.microsoft.com/office/drawing/2014/main" id="{D84383A7-FA7B-1C19-11AA-D692A97320F1}"/>
              </a:ext>
            </a:extLst>
          </p:cNvPr>
          <p:cNvGrpSpPr/>
          <p:nvPr/>
        </p:nvGrpSpPr>
        <p:grpSpPr>
          <a:xfrm>
            <a:off x="755828" y="5401817"/>
            <a:ext cx="1159998" cy="826382"/>
            <a:chOff x="626757" y="3130042"/>
            <a:chExt cx="1159998" cy="826382"/>
          </a:xfrm>
        </p:grpSpPr>
        <p:sp>
          <p:nvSpPr>
            <p:cNvPr id="19" name="TextBox 18">
              <a:extLst>
                <a:ext uri="{FF2B5EF4-FFF2-40B4-BE49-F238E27FC236}">
                  <a16:creationId xmlns:a16="http://schemas.microsoft.com/office/drawing/2014/main" id="{67495540-AFD6-8CE3-240F-8F8202FB9D93}"/>
                </a:ext>
              </a:extLst>
            </p:cNvPr>
            <p:cNvSpPr txBox="1"/>
            <p:nvPr/>
          </p:nvSpPr>
          <p:spPr>
            <a:xfrm>
              <a:off x="657693" y="3151109"/>
              <a:ext cx="1102073" cy="107722"/>
            </a:xfrm>
            <a:prstGeom prst="rect">
              <a:avLst/>
            </a:prstGeom>
            <a:noFill/>
          </p:spPr>
          <p:txBody>
            <a:bodyPr wrap="square" lIns="0" tIns="0" rIns="0" bIns="0" rtlCol="0">
              <a:spAutoFit/>
            </a:bodyPr>
            <a:lstStyle>
              <a:defPPr>
                <a:defRPr lang="en-US"/>
              </a:defPPr>
              <a:lvl1pPr algn="ctr">
                <a:defRPr sz="700" b="1"/>
              </a:lvl1pPr>
            </a:lstStyle>
            <a:p>
              <a:r>
                <a:rPr lang="en-US" dirty="0" err="1"/>
                <a:t>GameRole</a:t>
              </a:r>
              <a:endParaRPr lang="en-US" dirty="0"/>
            </a:p>
          </p:txBody>
        </p:sp>
        <p:sp>
          <p:nvSpPr>
            <p:cNvPr id="20" name="Rectangle: Rounded Corners 19">
              <a:extLst>
                <a:ext uri="{FF2B5EF4-FFF2-40B4-BE49-F238E27FC236}">
                  <a16:creationId xmlns:a16="http://schemas.microsoft.com/office/drawing/2014/main" id="{444307A2-BA9A-91BA-0C19-96162AB1E1A6}"/>
                </a:ext>
              </a:extLst>
            </p:cNvPr>
            <p:cNvSpPr/>
            <p:nvPr/>
          </p:nvSpPr>
          <p:spPr>
            <a:xfrm>
              <a:off x="626758" y="3130042"/>
              <a:ext cx="1159997" cy="826382"/>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4EB977C3-D0A1-0F03-D376-A14E44D8067D}"/>
                </a:ext>
              </a:extLst>
            </p:cNvPr>
            <p:cNvCxnSpPr>
              <a:cxnSpLocks/>
            </p:cNvCxnSpPr>
            <p:nvPr/>
          </p:nvCxnSpPr>
          <p:spPr>
            <a:xfrm>
              <a:off x="626759" y="3262639"/>
              <a:ext cx="1156821" cy="0"/>
            </a:xfrm>
            <a:prstGeom prst="line">
              <a:avLst/>
            </a:prstGeom>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DD2079B1-6B91-E8A1-66B4-08B9DEFD33DC}"/>
                </a:ext>
              </a:extLst>
            </p:cNvPr>
            <p:cNvSpPr txBox="1"/>
            <p:nvPr/>
          </p:nvSpPr>
          <p:spPr>
            <a:xfrm>
              <a:off x="657950" y="3276104"/>
              <a:ext cx="762391"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vit</a:t>
              </a:r>
              <a:r>
                <a:rPr lang="en-US" dirty="0"/>
                <a:t>: int</a:t>
              </a:r>
              <a:endParaRPr lang="en-US" altLang="zh-CN" dirty="0"/>
            </a:p>
            <a:p>
              <a:r>
                <a:rPr lang="en-US" dirty="0"/>
                <a:t>- </a:t>
              </a:r>
              <a:r>
                <a:rPr lang="en-US" dirty="0" err="1"/>
                <a:t>atk</a:t>
              </a:r>
              <a:r>
                <a:rPr lang="en-US" dirty="0"/>
                <a:t>: int </a:t>
              </a:r>
            </a:p>
            <a:p>
              <a:r>
                <a:rPr lang="en-US" dirty="0"/>
                <a:t>- def: int</a:t>
              </a:r>
            </a:p>
          </p:txBody>
        </p:sp>
        <p:cxnSp>
          <p:nvCxnSpPr>
            <p:cNvPr id="23" name="Straight Connector 22">
              <a:extLst>
                <a:ext uri="{FF2B5EF4-FFF2-40B4-BE49-F238E27FC236}">
                  <a16:creationId xmlns:a16="http://schemas.microsoft.com/office/drawing/2014/main" id="{A4BB0F61-0808-43A5-D964-3757929B7F9A}"/>
                </a:ext>
              </a:extLst>
            </p:cNvPr>
            <p:cNvCxnSpPr>
              <a:cxnSpLocks/>
            </p:cNvCxnSpPr>
            <p:nvPr/>
          </p:nvCxnSpPr>
          <p:spPr>
            <a:xfrm>
              <a:off x="626757" y="3560301"/>
              <a:ext cx="1156823" cy="0"/>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2F9F47D4-AE44-D9BA-149C-FE8835262221}"/>
                </a:ext>
              </a:extLst>
            </p:cNvPr>
            <p:cNvSpPr txBox="1"/>
            <p:nvPr/>
          </p:nvSpPr>
          <p:spPr>
            <a:xfrm>
              <a:off x="653196" y="3568828"/>
              <a:ext cx="1131971" cy="369332"/>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initState</a:t>
              </a:r>
              <a:r>
                <a:rPr lang="en-US" dirty="0"/>
                <a:t>() : void</a:t>
              </a:r>
            </a:p>
            <a:p>
              <a:r>
                <a:rPr lang="en-US" dirty="0"/>
                <a:t>+ </a:t>
              </a:r>
              <a:r>
                <a:rPr lang="en-US" dirty="0" err="1"/>
                <a:t>saveState</a:t>
              </a:r>
              <a:r>
                <a:rPr lang="en-US" dirty="0"/>
                <a:t>(): </a:t>
              </a:r>
              <a:r>
                <a:rPr lang="en-US" dirty="0" err="1"/>
                <a:t>R</a:t>
              </a:r>
              <a:r>
                <a:rPr lang="en-US" altLang="zh-CN" dirty="0" err="1"/>
                <a:t>oleStateMemento</a:t>
              </a:r>
              <a:endParaRPr lang="en-US" dirty="0"/>
            </a:p>
            <a:p>
              <a:r>
                <a:rPr lang="en-US" dirty="0"/>
                <a:t>+ fight(): void</a:t>
              </a:r>
            </a:p>
            <a:p>
              <a:r>
                <a:rPr lang="en-US" dirty="0"/>
                <a:t>+ </a:t>
              </a:r>
              <a:r>
                <a:rPr lang="en-US" dirty="0" err="1"/>
                <a:t>recoverState</a:t>
              </a:r>
              <a:r>
                <a:rPr lang="en-US" dirty="0"/>
                <a:t>(</a:t>
              </a:r>
              <a:r>
                <a:rPr lang="en-US" dirty="0" err="1"/>
                <a:t>R</a:t>
              </a:r>
              <a:r>
                <a:rPr lang="en-US" altLang="zh-CN" dirty="0" err="1"/>
                <a:t>oleStateMemento</a:t>
              </a:r>
              <a:r>
                <a:rPr lang="en-US" dirty="0"/>
                <a:t>)</a:t>
              </a:r>
            </a:p>
          </p:txBody>
        </p:sp>
      </p:grpSp>
      <p:grpSp>
        <p:nvGrpSpPr>
          <p:cNvPr id="31" name="Group 30">
            <a:extLst>
              <a:ext uri="{FF2B5EF4-FFF2-40B4-BE49-F238E27FC236}">
                <a16:creationId xmlns:a16="http://schemas.microsoft.com/office/drawing/2014/main" id="{5C09EF1D-B659-63FF-83AC-41BD47B9686F}"/>
              </a:ext>
            </a:extLst>
          </p:cNvPr>
          <p:cNvGrpSpPr/>
          <p:nvPr/>
        </p:nvGrpSpPr>
        <p:grpSpPr>
          <a:xfrm>
            <a:off x="1603606" y="6421536"/>
            <a:ext cx="848549" cy="327891"/>
            <a:chOff x="626757" y="3130041"/>
            <a:chExt cx="848549" cy="327891"/>
          </a:xfrm>
        </p:grpSpPr>
        <p:sp>
          <p:nvSpPr>
            <p:cNvPr id="32" name="TextBox 31">
              <a:extLst>
                <a:ext uri="{FF2B5EF4-FFF2-40B4-BE49-F238E27FC236}">
                  <a16:creationId xmlns:a16="http://schemas.microsoft.com/office/drawing/2014/main" id="{C28D2CC7-F997-4770-D64D-76368B8C2BE5}"/>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main</a:t>
              </a:r>
              <a:r>
                <a:rPr lang="en-US" dirty="0"/>
                <a:t>(): void</a:t>
              </a:r>
            </a:p>
          </p:txBody>
        </p:sp>
        <p:sp>
          <p:nvSpPr>
            <p:cNvPr id="33" name="Rectangle: Rounded Corners 32">
              <a:extLst>
                <a:ext uri="{FF2B5EF4-FFF2-40B4-BE49-F238E27FC236}">
                  <a16:creationId xmlns:a16="http://schemas.microsoft.com/office/drawing/2014/main" id="{BDABBA94-C203-6C8F-504B-50FAA768C6A5}"/>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D2041FE3-B3D9-1037-2A7C-63264D6957F0}"/>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4FC55963-D888-7C3F-6ECB-095D46118C27}"/>
                </a:ext>
              </a:extLst>
            </p:cNvPr>
            <p:cNvSpPr txBox="1"/>
            <p:nvPr/>
          </p:nvSpPr>
          <p:spPr>
            <a:xfrm>
              <a:off x="775867" y="3150046"/>
              <a:ext cx="557040" cy="92333"/>
            </a:xfrm>
            <a:prstGeom prst="rect">
              <a:avLst/>
            </a:prstGeom>
            <a:noFill/>
          </p:spPr>
          <p:txBody>
            <a:bodyPr wrap="none" lIns="0" tIns="0" rIns="0" bIns="0" rtlCol="0">
              <a:spAutoFit/>
            </a:bodyPr>
            <a:lstStyle>
              <a:defPPr>
                <a:defRPr lang="en-US"/>
              </a:defPPr>
              <a:lvl1pPr algn="ctr">
                <a:defRPr sz="700" b="1"/>
              </a:lvl1pPr>
            </a:lstStyle>
            <a:p>
              <a:r>
                <a:rPr lang="en-US" dirty="0"/>
                <a:t>C</a:t>
              </a:r>
              <a:r>
                <a:rPr lang="en-US" altLang="zh-CN" dirty="0"/>
                <a:t>lient</a:t>
              </a:r>
              <a:endParaRPr lang="en-US" dirty="0"/>
            </a:p>
          </p:txBody>
        </p:sp>
        <p:cxnSp>
          <p:nvCxnSpPr>
            <p:cNvPr id="36" name="Straight Connector 35">
              <a:extLst>
                <a:ext uri="{FF2B5EF4-FFF2-40B4-BE49-F238E27FC236}">
                  <a16:creationId xmlns:a16="http://schemas.microsoft.com/office/drawing/2014/main" id="{D66F8675-08EA-F594-FD9E-41E19E8A9046}"/>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cxnSp>
        <p:nvCxnSpPr>
          <p:cNvPr id="37" name="Connector: Elbow 36">
            <a:extLst>
              <a:ext uri="{FF2B5EF4-FFF2-40B4-BE49-F238E27FC236}">
                <a16:creationId xmlns:a16="http://schemas.microsoft.com/office/drawing/2014/main" id="{30532474-A8F0-6960-6A76-6D1E36078850}"/>
              </a:ext>
            </a:extLst>
          </p:cNvPr>
          <p:cNvCxnSpPr>
            <a:cxnSpLocks/>
            <a:stCxn id="33" idx="0"/>
            <a:endCxn id="20" idx="2"/>
          </p:cNvCxnSpPr>
          <p:nvPr/>
        </p:nvCxnSpPr>
        <p:spPr>
          <a:xfrm rot="16200000" flipV="1">
            <a:off x="1584709" y="5979319"/>
            <a:ext cx="193337" cy="691097"/>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41" name="Connector: Elbow 40">
            <a:extLst>
              <a:ext uri="{FF2B5EF4-FFF2-40B4-BE49-F238E27FC236}">
                <a16:creationId xmlns:a16="http://schemas.microsoft.com/office/drawing/2014/main" id="{1E574EB6-8249-2622-C4CD-D8C7587C2C86}"/>
              </a:ext>
            </a:extLst>
          </p:cNvPr>
          <p:cNvCxnSpPr>
            <a:cxnSpLocks/>
            <a:stCxn id="33" idx="0"/>
            <a:endCxn id="13" idx="2"/>
          </p:cNvCxnSpPr>
          <p:nvPr/>
        </p:nvCxnSpPr>
        <p:spPr>
          <a:xfrm rot="5400000" flipH="1" flipV="1">
            <a:off x="2234886" y="5867771"/>
            <a:ext cx="345805" cy="761727"/>
          </a:xfrm>
          <a:prstGeom prst="bentConnector3">
            <a:avLst>
              <a:gd name="adj1" fmla="val 28577"/>
            </a:avLst>
          </a:prstGeom>
          <a:ln>
            <a:prstDash val="dash"/>
          </a:ln>
        </p:spPr>
        <p:style>
          <a:lnRef idx="1">
            <a:schemeClr val="dk1"/>
          </a:lnRef>
          <a:fillRef idx="0">
            <a:schemeClr val="dk1"/>
          </a:fillRef>
          <a:effectRef idx="0">
            <a:schemeClr val="dk1"/>
          </a:effectRef>
          <a:fontRef idx="minor">
            <a:schemeClr val="tx1"/>
          </a:fontRef>
        </p:style>
      </p:cxnSp>
      <p:cxnSp>
        <p:nvCxnSpPr>
          <p:cNvPr id="44" name="Connector: Elbow 43">
            <a:extLst>
              <a:ext uri="{FF2B5EF4-FFF2-40B4-BE49-F238E27FC236}">
                <a16:creationId xmlns:a16="http://schemas.microsoft.com/office/drawing/2014/main" id="{029593D5-5185-FBCD-B115-E7057465126E}"/>
              </a:ext>
            </a:extLst>
          </p:cNvPr>
          <p:cNvCxnSpPr>
            <a:cxnSpLocks/>
            <a:stCxn id="13" idx="0"/>
            <a:endCxn id="4" idx="3"/>
          </p:cNvCxnSpPr>
          <p:nvPr/>
        </p:nvCxnSpPr>
        <p:spPr>
          <a:xfrm rot="16200000" flipV="1">
            <a:off x="2350856" y="5183734"/>
            <a:ext cx="649926" cy="225667"/>
          </a:xfrm>
          <a:prstGeom prst="bentConnector2">
            <a:avLst/>
          </a:prstGeom>
        </p:spPr>
        <p:style>
          <a:lnRef idx="1">
            <a:schemeClr val="dk1"/>
          </a:lnRef>
          <a:fillRef idx="0">
            <a:schemeClr val="dk1"/>
          </a:fillRef>
          <a:effectRef idx="0">
            <a:schemeClr val="dk1"/>
          </a:effectRef>
          <a:fontRef idx="minor">
            <a:schemeClr val="tx1"/>
          </a:fontRef>
        </p:style>
      </p:cxnSp>
      <p:cxnSp>
        <p:nvCxnSpPr>
          <p:cNvPr id="53" name="Connector: Elbow 52">
            <a:extLst>
              <a:ext uri="{FF2B5EF4-FFF2-40B4-BE49-F238E27FC236}">
                <a16:creationId xmlns:a16="http://schemas.microsoft.com/office/drawing/2014/main" id="{9F673F42-C4A2-308C-9A8F-29A16887646A}"/>
              </a:ext>
            </a:extLst>
          </p:cNvPr>
          <p:cNvCxnSpPr>
            <a:cxnSpLocks/>
            <a:stCxn id="20" idx="0"/>
            <a:endCxn id="4" idx="1"/>
          </p:cNvCxnSpPr>
          <p:nvPr/>
        </p:nvCxnSpPr>
        <p:spPr>
          <a:xfrm rot="5400000" flipH="1" flipV="1">
            <a:off x="1183675" y="5123758"/>
            <a:ext cx="430212" cy="125906"/>
          </a:xfrm>
          <a:prstGeom prst="bentConnector2">
            <a:avLst/>
          </a:prstGeom>
          <a:ln>
            <a:prstDash val="dash"/>
          </a:ln>
        </p:spPr>
        <p:style>
          <a:lnRef idx="1">
            <a:schemeClr val="dk1"/>
          </a:lnRef>
          <a:fillRef idx="0">
            <a:schemeClr val="dk1"/>
          </a:fillRef>
          <a:effectRef idx="0">
            <a:schemeClr val="dk1"/>
          </a:effectRef>
          <a:fontRef idx="minor">
            <a:schemeClr val="tx1"/>
          </a:fontRef>
        </p:style>
      </p:cxnSp>
      <p:sp>
        <p:nvSpPr>
          <p:cNvPr id="56" name="Isosceles Triangle 55">
            <a:extLst>
              <a:ext uri="{FF2B5EF4-FFF2-40B4-BE49-F238E27FC236}">
                <a16:creationId xmlns:a16="http://schemas.microsoft.com/office/drawing/2014/main" id="{9779DD65-3623-74F1-F816-4FE9A86B1835}"/>
              </a:ext>
            </a:extLst>
          </p:cNvPr>
          <p:cNvSpPr/>
          <p:nvPr/>
        </p:nvSpPr>
        <p:spPr>
          <a:xfrm rot="5400000">
            <a:off x="1404129" y="4947463"/>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Isosceles Triangle 56">
            <a:extLst>
              <a:ext uri="{FF2B5EF4-FFF2-40B4-BE49-F238E27FC236}">
                <a16:creationId xmlns:a16="http://schemas.microsoft.com/office/drawing/2014/main" id="{49D31B9F-F357-98E6-49AC-B4D89E6DBE5A}"/>
              </a:ext>
            </a:extLst>
          </p:cNvPr>
          <p:cNvSpPr/>
          <p:nvPr/>
        </p:nvSpPr>
        <p:spPr>
          <a:xfrm>
            <a:off x="1313578" y="6235890"/>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57">
            <a:extLst>
              <a:ext uri="{FF2B5EF4-FFF2-40B4-BE49-F238E27FC236}">
                <a16:creationId xmlns:a16="http://schemas.microsoft.com/office/drawing/2014/main" id="{450664B8-2658-CA6D-A393-19B0E9180D07}"/>
              </a:ext>
            </a:extLst>
          </p:cNvPr>
          <p:cNvSpPr/>
          <p:nvPr/>
        </p:nvSpPr>
        <p:spPr>
          <a:xfrm>
            <a:off x="2765793" y="6086664"/>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Diamond 58">
            <a:extLst>
              <a:ext uri="{FF2B5EF4-FFF2-40B4-BE49-F238E27FC236}">
                <a16:creationId xmlns:a16="http://schemas.microsoft.com/office/drawing/2014/main" id="{0AC6BE4E-AC49-B655-C105-E2FBB0067862}"/>
              </a:ext>
            </a:extLst>
          </p:cNvPr>
          <p:cNvSpPr/>
          <p:nvPr/>
        </p:nvSpPr>
        <p:spPr>
          <a:xfrm rot="16200000">
            <a:off x="2745611" y="5543550"/>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F82D0BF7-49FE-1199-E292-788A5508A6FF}"/>
              </a:ext>
            </a:extLst>
          </p:cNvPr>
          <p:cNvGrpSpPr/>
          <p:nvPr/>
        </p:nvGrpSpPr>
        <p:grpSpPr>
          <a:xfrm>
            <a:off x="833662" y="4109534"/>
            <a:ext cx="814281" cy="362756"/>
            <a:chOff x="626757" y="3130042"/>
            <a:chExt cx="814281" cy="362756"/>
          </a:xfrm>
        </p:grpSpPr>
        <p:sp>
          <p:nvSpPr>
            <p:cNvPr id="49" name="TextBox 48">
              <a:extLst>
                <a:ext uri="{FF2B5EF4-FFF2-40B4-BE49-F238E27FC236}">
                  <a16:creationId xmlns:a16="http://schemas.microsoft.com/office/drawing/2014/main" id="{E6E96CC4-F3AA-9406-9D63-22AB9E052E1F}"/>
                </a:ext>
              </a:extLst>
            </p:cNvPr>
            <p:cNvSpPr txBox="1"/>
            <p:nvPr/>
          </p:nvSpPr>
          <p:spPr>
            <a:xfrm>
              <a:off x="843252" y="3151109"/>
              <a:ext cx="371897" cy="107722"/>
            </a:xfrm>
            <a:prstGeom prst="rect">
              <a:avLst/>
            </a:prstGeom>
            <a:noFill/>
          </p:spPr>
          <p:txBody>
            <a:bodyPr wrap="none" lIns="0" tIns="0" rIns="0" bIns="0" rtlCol="0">
              <a:spAutoFit/>
            </a:bodyPr>
            <a:lstStyle>
              <a:defPPr>
                <a:defRPr lang="en-US"/>
              </a:defPPr>
              <a:lvl1pPr algn="ctr">
                <a:defRPr sz="700" b="1"/>
              </a:lvl1pPr>
            </a:lstStyle>
            <a:p>
              <a:r>
                <a:rPr lang="en-US" dirty="0" err="1"/>
                <a:t>StrategyA</a:t>
              </a:r>
              <a:endParaRPr lang="en-US" dirty="0"/>
            </a:p>
          </p:txBody>
        </p:sp>
        <p:sp>
          <p:nvSpPr>
            <p:cNvPr id="50" name="Rectangle: Rounded Corners 49">
              <a:extLst>
                <a:ext uri="{FF2B5EF4-FFF2-40B4-BE49-F238E27FC236}">
                  <a16:creationId xmlns:a16="http://schemas.microsoft.com/office/drawing/2014/main" id="{0B1F5751-0274-2098-6DCA-84C8F354F7FE}"/>
                </a:ext>
              </a:extLst>
            </p:cNvPr>
            <p:cNvSpPr/>
            <p:nvPr/>
          </p:nvSpPr>
          <p:spPr>
            <a:xfrm>
              <a:off x="626759" y="3130042"/>
              <a:ext cx="809826" cy="36275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1F75F834-CBEE-26B6-C793-B0E23E74237F}"/>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474D78E7-A341-7EC5-9A66-BE7B567B1943}"/>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54" name="Straight Connector 53">
              <a:extLst>
                <a:ext uri="{FF2B5EF4-FFF2-40B4-BE49-F238E27FC236}">
                  <a16:creationId xmlns:a16="http://schemas.microsoft.com/office/drawing/2014/main" id="{FC6B659E-F703-67E1-A581-71F7436D31F8}"/>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B46F6520-7F3C-2C0C-3F0F-2E77109E7201}"/>
                </a:ext>
              </a:extLst>
            </p:cNvPr>
            <p:cNvSpPr txBox="1"/>
            <p:nvPr/>
          </p:nvSpPr>
          <p:spPr>
            <a:xfrm>
              <a:off x="653197" y="3381510"/>
              <a:ext cx="765616"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show</a:t>
              </a:r>
              <a:r>
                <a:rPr lang="en-US" dirty="0"/>
                <a:t>(): void</a:t>
              </a:r>
            </a:p>
          </p:txBody>
        </p:sp>
      </p:grpSp>
      <p:grpSp>
        <p:nvGrpSpPr>
          <p:cNvPr id="60" name="Group 59">
            <a:extLst>
              <a:ext uri="{FF2B5EF4-FFF2-40B4-BE49-F238E27FC236}">
                <a16:creationId xmlns:a16="http://schemas.microsoft.com/office/drawing/2014/main" id="{EEB232FF-0AFA-4E11-6234-4A8816E0E4E3}"/>
              </a:ext>
            </a:extLst>
          </p:cNvPr>
          <p:cNvGrpSpPr/>
          <p:nvPr/>
        </p:nvGrpSpPr>
        <p:grpSpPr>
          <a:xfrm>
            <a:off x="1732001" y="4109534"/>
            <a:ext cx="814281" cy="362756"/>
            <a:chOff x="626757" y="3130042"/>
            <a:chExt cx="814281" cy="362756"/>
          </a:xfrm>
        </p:grpSpPr>
        <p:sp>
          <p:nvSpPr>
            <p:cNvPr id="61" name="TextBox 60">
              <a:extLst>
                <a:ext uri="{FF2B5EF4-FFF2-40B4-BE49-F238E27FC236}">
                  <a16:creationId xmlns:a16="http://schemas.microsoft.com/office/drawing/2014/main" id="{E9362844-E085-8948-A07E-F0611E14AF0F}"/>
                </a:ext>
              </a:extLst>
            </p:cNvPr>
            <p:cNvSpPr txBox="1"/>
            <p:nvPr/>
          </p:nvSpPr>
          <p:spPr>
            <a:xfrm>
              <a:off x="847260" y="3151109"/>
              <a:ext cx="363882" cy="107722"/>
            </a:xfrm>
            <a:prstGeom prst="rect">
              <a:avLst/>
            </a:prstGeom>
            <a:noFill/>
          </p:spPr>
          <p:txBody>
            <a:bodyPr wrap="none" lIns="0" tIns="0" rIns="0" bIns="0" rtlCol="0">
              <a:spAutoFit/>
            </a:bodyPr>
            <a:lstStyle>
              <a:defPPr>
                <a:defRPr lang="en-US"/>
              </a:defPPr>
              <a:lvl1pPr algn="ctr">
                <a:defRPr sz="700" b="1"/>
              </a:lvl1pPr>
            </a:lstStyle>
            <a:p>
              <a:r>
                <a:rPr lang="en-US" dirty="0" err="1"/>
                <a:t>StrategyC</a:t>
              </a:r>
              <a:endParaRPr lang="en-US" dirty="0"/>
            </a:p>
          </p:txBody>
        </p:sp>
        <p:sp>
          <p:nvSpPr>
            <p:cNvPr id="62" name="Rectangle: Rounded Corners 61">
              <a:extLst>
                <a:ext uri="{FF2B5EF4-FFF2-40B4-BE49-F238E27FC236}">
                  <a16:creationId xmlns:a16="http://schemas.microsoft.com/office/drawing/2014/main" id="{C25BE4BD-23AE-AE2F-9DD3-5417CF38A942}"/>
                </a:ext>
              </a:extLst>
            </p:cNvPr>
            <p:cNvSpPr/>
            <p:nvPr/>
          </p:nvSpPr>
          <p:spPr>
            <a:xfrm>
              <a:off x="626759" y="3130042"/>
              <a:ext cx="809826" cy="36275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DD668EB0-472D-C0E1-60D7-8DA3E9C848D7}"/>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3137" name="TextBox 3136">
              <a:extLst>
                <a:ext uri="{FF2B5EF4-FFF2-40B4-BE49-F238E27FC236}">
                  <a16:creationId xmlns:a16="http://schemas.microsoft.com/office/drawing/2014/main" id="{27AA9987-4CDA-8FE1-4BC1-7AEC1EE4BC9B}"/>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3138" name="Straight Connector 3137">
              <a:extLst>
                <a:ext uri="{FF2B5EF4-FFF2-40B4-BE49-F238E27FC236}">
                  <a16:creationId xmlns:a16="http://schemas.microsoft.com/office/drawing/2014/main" id="{DEC2F5F4-CE19-A26A-0435-03C9EEEE3142}"/>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3139" name="TextBox 3138">
              <a:extLst>
                <a:ext uri="{FF2B5EF4-FFF2-40B4-BE49-F238E27FC236}">
                  <a16:creationId xmlns:a16="http://schemas.microsoft.com/office/drawing/2014/main" id="{7E76D7FC-432F-2623-FE75-778005900FB2}"/>
                </a:ext>
              </a:extLst>
            </p:cNvPr>
            <p:cNvSpPr txBox="1"/>
            <p:nvPr/>
          </p:nvSpPr>
          <p:spPr>
            <a:xfrm>
              <a:off x="653197" y="3381510"/>
              <a:ext cx="765616"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show</a:t>
              </a:r>
              <a:r>
                <a:rPr lang="en-US" dirty="0"/>
                <a:t>(): void</a:t>
              </a:r>
            </a:p>
          </p:txBody>
        </p:sp>
      </p:grpSp>
      <p:grpSp>
        <p:nvGrpSpPr>
          <p:cNvPr id="3140" name="Group 3139">
            <a:extLst>
              <a:ext uri="{FF2B5EF4-FFF2-40B4-BE49-F238E27FC236}">
                <a16:creationId xmlns:a16="http://schemas.microsoft.com/office/drawing/2014/main" id="{704359C0-133E-6730-67ED-6FF448526B9D}"/>
              </a:ext>
            </a:extLst>
          </p:cNvPr>
          <p:cNvGrpSpPr/>
          <p:nvPr/>
        </p:nvGrpSpPr>
        <p:grpSpPr>
          <a:xfrm>
            <a:off x="1280007" y="3079496"/>
            <a:ext cx="814281" cy="817938"/>
            <a:chOff x="626757" y="3130041"/>
            <a:chExt cx="814281" cy="817938"/>
          </a:xfrm>
        </p:grpSpPr>
        <p:sp>
          <p:nvSpPr>
            <p:cNvPr id="3141" name="TextBox 3140">
              <a:extLst>
                <a:ext uri="{FF2B5EF4-FFF2-40B4-BE49-F238E27FC236}">
                  <a16:creationId xmlns:a16="http://schemas.microsoft.com/office/drawing/2014/main" id="{13379A61-5238-6A28-5F69-F412C6DDE4D5}"/>
                </a:ext>
              </a:extLst>
            </p:cNvPr>
            <p:cNvSpPr txBox="1"/>
            <p:nvPr/>
          </p:nvSpPr>
          <p:spPr>
            <a:xfrm>
              <a:off x="779935" y="3151109"/>
              <a:ext cx="498534" cy="107722"/>
            </a:xfrm>
            <a:prstGeom prst="rect">
              <a:avLst/>
            </a:prstGeom>
            <a:noFill/>
          </p:spPr>
          <p:txBody>
            <a:bodyPr wrap="none" lIns="0" tIns="0" rIns="0" bIns="0" rtlCol="0">
              <a:spAutoFit/>
            </a:bodyPr>
            <a:lstStyle>
              <a:defPPr>
                <a:defRPr lang="en-US"/>
              </a:defPPr>
              <a:lvl1pPr algn="ctr">
                <a:defRPr sz="700" b="1"/>
              </a:lvl1pPr>
            </a:lstStyle>
            <a:p>
              <a:r>
                <a:rPr lang="en-US" i="1" dirty="0" err="1"/>
                <a:t>AbstractClass</a:t>
              </a:r>
              <a:endParaRPr lang="en-US" i="1" dirty="0"/>
            </a:p>
          </p:txBody>
        </p:sp>
        <p:sp>
          <p:nvSpPr>
            <p:cNvPr id="3142" name="Rectangle: Rounded Corners 3141">
              <a:extLst>
                <a:ext uri="{FF2B5EF4-FFF2-40B4-BE49-F238E27FC236}">
                  <a16:creationId xmlns:a16="http://schemas.microsoft.com/office/drawing/2014/main" id="{8D67914A-1114-266C-A82E-443DDA80B280}"/>
                </a:ext>
              </a:extLst>
            </p:cNvPr>
            <p:cNvSpPr/>
            <p:nvPr/>
          </p:nvSpPr>
          <p:spPr>
            <a:xfrm>
              <a:off x="626759" y="3130041"/>
              <a:ext cx="809826" cy="817938"/>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43" name="Straight Connector 3142">
              <a:extLst>
                <a:ext uri="{FF2B5EF4-FFF2-40B4-BE49-F238E27FC236}">
                  <a16:creationId xmlns:a16="http://schemas.microsoft.com/office/drawing/2014/main" id="{9A9F2BE8-802C-1923-C264-E40EF7C46462}"/>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3144" name="TextBox 3143">
              <a:extLst>
                <a:ext uri="{FF2B5EF4-FFF2-40B4-BE49-F238E27FC236}">
                  <a16:creationId xmlns:a16="http://schemas.microsoft.com/office/drawing/2014/main" id="{5814ADA7-DA1E-43AC-CAC7-4E3537873192}"/>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3145" name="Straight Connector 3144">
              <a:extLst>
                <a:ext uri="{FF2B5EF4-FFF2-40B4-BE49-F238E27FC236}">
                  <a16:creationId xmlns:a16="http://schemas.microsoft.com/office/drawing/2014/main" id="{1193A03C-B435-DE7F-DF90-1168B0277597}"/>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3146" name="TextBox 3145">
              <a:extLst>
                <a:ext uri="{FF2B5EF4-FFF2-40B4-BE49-F238E27FC236}">
                  <a16:creationId xmlns:a16="http://schemas.microsoft.com/office/drawing/2014/main" id="{861AD8BC-950A-3225-063E-3BA8463A256B}"/>
                </a:ext>
              </a:extLst>
            </p:cNvPr>
            <p:cNvSpPr txBox="1"/>
            <p:nvPr/>
          </p:nvSpPr>
          <p:spPr>
            <a:xfrm>
              <a:off x="653197" y="3381510"/>
              <a:ext cx="765616" cy="553998"/>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cookProcess</a:t>
              </a:r>
              <a:r>
                <a:rPr lang="en-US" dirty="0"/>
                <a:t>(): void</a:t>
              </a:r>
            </a:p>
            <a:p>
              <a:r>
                <a:rPr lang="en-US" dirty="0"/>
                <a:t>+ </a:t>
              </a:r>
              <a:r>
                <a:rPr lang="en-US" dirty="0" err="1"/>
                <a:t>pourOil</a:t>
              </a:r>
              <a:r>
                <a:rPr lang="en-US" dirty="0"/>
                <a:t>(): void</a:t>
              </a:r>
            </a:p>
            <a:p>
              <a:r>
                <a:rPr lang="en-US" dirty="0"/>
                <a:t>+ </a:t>
              </a:r>
              <a:r>
                <a:rPr lang="en-US" dirty="0" err="1"/>
                <a:t>heatOil</a:t>
              </a:r>
              <a:r>
                <a:rPr lang="en-US" dirty="0"/>
                <a:t>(): void</a:t>
              </a:r>
            </a:p>
            <a:p>
              <a:r>
                <a:rPr lang="en-US" dirty="0"/>
                <a:t>+ </a:t>
              </a:r>
              <a:r>
                <a:rPr lang="en-US" dirty="0" err="1"/>
                <a:t>pourVegetable</a:t>
              </a:r>
              <a:r>
                <a:rPr lang="en-US" dirty="0"/>
                <a:t>(): void</a:t>
              </a:r>
            </a:p>
            <a:p>
              <a:r>
                <a:rPr lang="en-US" dirty="0"/>
                <a:t>+ </a:t>
              </a:r>
              <a:r>
                <a:rPr lang="en-US" dirty="0" err="1"/>
                <a:t>pourSauce</a:t>
              </a:r>
              <a:r>
                <a:rPr lang="en-US" dirty="0"/>
                <a:t>(): void</a:t>
              </a:r>
            </a:p>
            <a:p>
              <a:r>
                <a:rPr lang="en-US" dirty="0"/>
                <a:t>+ fry(): void</a:t>
              </a:r>
            </a:p>
          </p:txBody>
        </p:sp>
      </p:grpSp>
      <p:cxnSp>
        <p:nvCxnSpPr>
          <p:cNvPr id="3147" name="Connector: Elbow 3146">
            <a:extLst>
              <a:ext uri="{FF2B5EF4-FFF2-40B4-BE49-F238E27FC236}">
                <a16:creationId xmlns:a16="http://schemas.microsoft.com/office/drawing/2014/main" id="{21C85084-F255-1B5A-BCAB-A7D0F5995A30}"/>
              </a:ext>
            </a:extLst>
          </p:cNvPr>
          <p:cNvCxnSpPr>
            <a:cxnSpLocks/>
            <a:stCxn id="50" idx="0"/>
            <a:endCxn id="3142" idx="2"/>
          </p:cNvCxnSpPr>
          <p:nvPr/>
        </p:nvCxnSpPr>
        <p:spPr>
          <a:xfrm rot="5400000" flipH="1" flipV="1">
            <a:off x="1355699" y="3780312"/>
            <a:ext cx="212100" cy="446345"/>
          </a:xfrm>
          <a:prstGeom prst="bentConnector3">
            <a:avLst>
              <a:gd name="adj1" fmla="val 50000"/>
            </a:avLst>
          </a:prstGeom>
          <a:ln>
            <a:prstDash val="solid"/>
          </a:ln>
        </p:spPr>
        <p:style>
          <a:lnRef idx="1">
            <a:schemeClr val="dk1"/>
          </a:lnRef>
          <a:fillRef idx="0">
            <a:schemeClr val="dk1"/>
          </a:fillRef>
          <a:effectRef idx="0">
            <a:schemeClr val="dk1"/>
          </a:effectRef>
          <a:fontRef idx="minor">
            <a:schemeClr val="tx1"/>
          </a:fontRef>
        </p:style>
      </p:cxnSp>
      <p:cxnSp>
        <p:nvCxnSpPr>
          <p:cNvPr id="3152" name="Connector: Elbow 3151">
            <a:extLst>
              <a:ext uri="{FF2B5EF4-FFF2-40B4-BE49-F238E27FC236}">
                <a16:creationId xmlns:a16="http://schemas.microsoft.com/office/drawing/2014/main" id="{99625658-E9A0-EDA4-0635-B3F2188F07BB}"/>
              </a:ext>
            </a:extLst>
          </p:cNvPr>
          <p:cNvCxnSpPr>
            <a:cxnSpLocks/>
            <a:stCxn id="62" idx="0"/>
            <a:endCxn id="3142" idx="2"/>
          </p:cNvCxnSpPr>
          <p:nvPr/>
        </p:nvCxnSpPr>
        <p:spPr>
          <a:xfrm rot="16200000" flipV="1">
            <a:off x="1804869" y="3777487"/>
            <a:ext cx="212100" cy="451994"/>
          </a:xfrm>
          <a:prstGeom prst="bentConnector3">
            <a:avLst>
              <a:gd name="adj1" fmla="val 50000"/>
            </a:avLst>
          </a:prstGeom>
          <a:ln>
            <a:prstDash val="solid"/>
          </a:ln>
        </p:spPr>
        <p:style>
          <a:lnRef idx="1">
            <a:schemeClr val="dk1"/>
          </a:lnRef>
          <a:fillRef idx="0">
            <a:schemeClr val="dk1"/>
          </a:fillRef>
          <a:effectRef idx="0">
            <a:schemeClr val="dk1"/>
          </a:effectRef>
          <a:fontRef idx="minor">
            <a:schemeClr val="tx1"/>
          </a:fontRef>
        </p:style>
      </p:cxnSp>
      <p:sp>
        <p:nvSpPr>
          <p:cNvPr id="3155" name="Isosceles Triangle 3154">
            <a:extLst>
              <a:ext uri="{FF2B5EF4-FFF2-40B4-BE49-F238E27FC236}">
                <a16:creationId xmlns:a16="http://schemas.microsoft.com/office/drawing/2014/main" id="{224654F2-4033-8D9A-7B90-2C949037677B}"/>
              </a:ext>
            </a:extLst>
          </p:cNvPr>
          <p:cNvSpPr/>
          <p:nvPr/>
        </p:nvSpPr>
        <p:spPr>
          <a:xfrm>
            <a:off x="1662064" y="3907242"/>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29" name="Group 2928">
            <a:extLst>
              <a:ext uri="{FF2B5EF4-FFF2-40B4-BE49-F238E27FC236}">
                <a16:creationId xmlns:a16="http://schemas.microsoft.com/office/drawing/2014/main" id="{C5472530-965D-838D-CB05-B7B53806F388}"/>
              </a:ext>
            </a:extLst>
          </p:cNvPr>
          <p:cNvGrpSpPr/>
          <p:nvPr/>
        </p:nvGrpSpPr>
        <p:grpSpPr>
          <a:xfrm>
            <a:off x="232954" y="3323880"/>
            <a:ext cx="848549" cy="327891"/>
            <a:chOff x="626757" y="3130041"/>
            <a:chExt cx="848549" cy="327891"/>
          </a:xfrm>
        </p:grpSpPr>
        <p:sp>
          <p:nvSpPr>
            <p:cNvPr id="2930" name="TextBox 2929">
              <a:extLst>
                <a:ext uri="{FF2B5EF4-FFF2-40B4-BE49-F238E27FC236}">
                  <a16:creationId xmlns:a16="http://schemas.microsoft.com/office/drawing/2014/main" id="{C9FE5214-ECCA-8311-ED7D-A5A1E53FB7DF}"/>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main</a:t>
              </a:r>
              <a:r>
                <a:rPr lang="en-US" dirty="0"/>
                <a:t>(): void</a:t>
              </a:r>
            </a:p>
          </p:txBody>
        </p:sp>
        <p:sp>
          <p:nvSpPr>
            <p:cNvPr id="2931" name="Rectangle: Rounded Corners 2930">
              <a:extLst>
                <a:ext uri="{FF2B5EF4-FFF2-40B4-BE49-F238E27FC236}">
                  <a16:creationId xmlns:a16="http://schemas.microsoft.com/office/drawing/2014/main" id="{F93B1190-2AC6-4650-0976-A8E348CDD6DF}"/>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32" name="Straight Connector 2931">
              <a:extLst>
                <a:ext uri="{FF2B5EF4-FFF2-40B4-BE49-F238E27FC236}">
                  <a16:creationId xmlns:a16="http://schemas.microsoft.com/office/drawing/2014/main" id="{A798C6AC-22B3-EC25-AECA-5CAC7C871F03}"/>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933" name="TextBox 2932">
              <a:extLst>
                <a:ext uri="{FF2B5EF4-FFF2-40B4-BE49-F238E27FC236}">
                  <a16:creationId xmlns:a16="http://schemas.microsoft.com/office/drawing/2014/main" id="{DE7F6413-1E70-B184-0227-AEBF683A38C4}"/>
                </a:ext>
              </a:extLst>
            </p:cNvPr>
            <p:cNvSpPr txBox="1"/>
            <p:nvPr/>
          </p:nvSpPr>
          <p:spPr>
            <a:xfrm>
              <a:off x="775867" y="3150046"/>
              <a:ext cx="557040" cy="92333"/>
            </a:xfrm>
            <a:prstGeom prst="rect">
              <a:avLst/>
            </a:prstGeom>
            <a:noFill/>
          </p:spPr>
          <p:txBody>
            <a:bodyPr wrap="none" lIns="0" tIns="0" rIns="0" bIns="0" rtlCol="0">
              <a:spAutoFit/>
            </a:bodyPr>
            <a:lstStyle>
              <a:defPPr>
                <a:defRPr lang="en-US"/>
              </a:defPPr>
              <a:lvl1pPr algn="ctr">
                <a:defRPr sz="700" b="1"/>
              </a:lvl1pPr>
            </a:lstStyle>
            <a:p>
              <a:r>
                <a:rPr lang="en-US" dirty="0"/>
                <a:t>C</a:t>
              </a:r>
              <a:r>
                <a:rPr lang="en-US" altLang="zh-CN" dirty="0"/>
                <a:t>lient</a:t>
              </a:r>
              <a:endParaRPr lang="en-US" dirty="0"/>
            </a:p>
          </p:txBody>
        </p:sp>
        <p:cxnSp>
          <p:nvCxnSpPr>
            <p:cNvPr id="2934" name="Straight Connector 2933">
              <a:extLst>
                <a:ext uri="{FF2B5EF4-FFF2-40B4-BE49-F238E27FC236}">
                  <a16:creationId xmlns:a16="http://schemas.microsoft.com/office/drawing/2014/main" id="{32B024A2-9105-71A4-7AA4-EBCEE6825FAF}"/>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grpSp>
        <p:nvGrpSpPr>
          <p:cNvPr id="2935" name="Group 2934">
            <a:extLst>
              <a:ext uri="{FF2B5EF4-FFF2-40B4-BE49-F238E27FC236}">
                <a16:creationId xmlns:a16="http://schemas.microsoft.com/office/drawing/2014/main" id="{CD65A6F0-97F4-BFFA-10BD-9EF5BF956B43}"/>
              </a:ext>
            </a:extLst>
          </p:cNvPr>
          <p:cNvGrpSpPr/>
          <p:nvPr/>
        </p:nvGrpSpPr>
        <p:grpSpPr>
          <a:xfrm>
            <a:off x="10225872" y="331518"/>
            <a:ext cx="814281" cy="362756"/>
            <a:chOff x="626757" y="3130042"/>
            <a:chExt cx="814281" cy="362756"/>
          </a:xfrm>
        </p:grpSpPr>
        <p:sp>
          <p:nvSpPr>
            <p:cNvPr id="2936" name="TextBox 2935">
              <a:extLst>
                <a:ext uri="{FF2B5EF4-FFF2-40B4-BE49-F238E27FC236}">
                  <a16:creationId xmlns:a16="http://schemas.microsoft.com/office/drawing/2014/main" id="{B1A0F785-A4BA-4588-923D-4B779357BBE4}"/>
                </a:ext>
              </a:extLst>
            </p:cNvPr>
            <p:cNvSpPr txBox="1"/>
            <p:nvPr/>
          </p:nvSpPr>
          <p:spPr>
            <a:xfrm>
              <a:off x="657306" y="3151109"/>
              <a:ext cx="743794" cy="107722"/>
            </a:xfrm>
            <a:prstGeom prst="rect">
              <a:avLst/>
            </a:prstGeom>
            <a:noFill/>
          </p:spPr>
          <p:txBody>
            <a:bodyPr wrap="none" lIns="0" tIns="0" rIns="0" bIns="0" rtlCol="0">
              <a:spAutoFit/>
            </a:bodyPr>
            <a:lstStyle>
              <a:defPPr>
                <a:defRPr lang="en-US"/>
              </a:defPPr>
              <a:lvl1pPr algn="ctr">
                <a:defRPr sz="700" b="1"/>
              </a:lvl1pPr>
            </a:lstStyle>
            <a:p>
              <a:r>
                <a:rPr lang="en-US" dirty="0"/>
                <a:t>&lt;interface&gt;Strategy</a:t>
              </a:r>
            </a:p>
          </p:txBody>
        </p:sp>
        <p:sp>
          <p:nvSpPr>
            <p:cNvPr id="2937" name="Rectangle: Rounded Corners 2936">
              <a:extLst>
                <a:ext uri="{FF2B5EF4-FFF2-40B4-BE49-F238E27FC236}">
                  <a16:creationId xmlns:a16="http://schemas.microsoft.com/office/drawing/2014/main" id="{19289ED4-7C61-A5F4-442F-5810187D6C54}"/>
                </a:ext>
              </a:extLst>
            </p:cNvPr>
            <p:cNvSpPr/>
            <p:nvPr/>
          </p:nvSpPr>
          <p:spPr>
            <a:xfrm>
              <a:off x="626759" y="3130042"/>
              <a:ext cx="809826" cy="36275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38" name="Straight Connector 2937">
              <a:extLst>
                <a:ext uri="{FF2B5EF4-FFF2-40B4-BE49-F238E27FC236}">
                  <a16:creationId xmlns:a16="http://schemas.microsoft.com/office/drawing/2014/main" id="{1030AC58-CDC4-E5C8-2973-5A584B4F262D}"/>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2939" name="TextBox 2938">
              <a:extLst>
                <a:ext uri="{FF2B5EF4-FFF2-40B4-BE49-F238E27FC236}">
                  <a16:creationId xmlns:a16="http://schemas.microsoft.com/office/drawing/2014/main" id="{F6188EB5-C005-8C77-8C75-2ED4F0FCA12D}"/>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940" name="Straight Connector 2939">
              <a:extLst>
                <a:ext uri="{FF2B5EF4-FFF2-40B4-BE49-F238E27FC236}">
                  <a16:creationId xmlns:a16="http://schemas.microsoft.com/office/drawing/2014/main" id="{061B4931-0086-FD0E-D0BD-1C6D500712B6}"/>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2941" name="TextBox 2940">
              <a:extLst>
                <a:ext uri="{FF2B5EF4-FFF2-40B4-BE49-F238E27FC236}">
                  <a16:creationId xmlns:a16="http://schemas.microsoft.com/office/drawing/2014/main" id="{FD18DBB7-EE83-D1D1-B8A2-D6F9E377AC5F}"/>
                </a:ext>
              </a:extLst>
            </p:cNvPr>
            <p:cNvSpPr txBox="1"/>
            <p:nvPr/>
          </p:nvSpPr>
          <p:spPr>
            <a:xfrm>
              <a:off x="653197" y="3381510"/>
              <a:ext cx="765616"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show</a:t>
              </a:r>
              <a:r>
                <a:rPr lang="en-US" dirty="0"/>
                <a:t>(): void</a:t>
              </a:r>
            </a:p>
          </p:txBody>
        </p:sp>
      </p:grpSp>
      <p:grpSp>
        <p:nvGrpSpPr>
          <p:cNvPr id="2942" name="Group 2941">
            <a:extLst>
              <a:ext uri="{FF2B5EF4-FFF2-40B4-BE49-F238E27FC236}">
                <a16:creationId xmlns:a16="http://schemas.microsoft.com/office/drawing/2014/main" id="{F39E6D7B-C79C-FAF3-56A2-510E8B3B60A5}"/>
              </a:ext>
            </a:extLst>
          </p:cNvPr>
          <p:cNvGrpSpPr/>
          <p:nvPr/>
        </p:nvGrpSpPr>
        <p:grpSpPr>
          <a:xfrm>
            <a:off x="10226667" y="982066"/>
            <a:ext cx="814281" cy="362756"/>
            <a:chOff x="626757" y="3130042"/>
            <a:chExt cx="814281" cy="362756"/>
          </a:xfrm>
        </p:grpSpPr>
        <p:sp>
          <p:nvSpPr>
            <p:cNvPr id="2943" name="TextBox 2942">
              <a:extLst>
                <a:ext uri="{FF2B5EF4-FFF2-40B4-BE49-F238E27FC236}">
                  <a16:creationId xmlns:a16="http://schemas.microsoft.com/office/drawing/2014/main" id="{C0D4CF9C-EBB5-1F48-6FE9-9D9D0D05FEBC}"/>
                </a:ext>
              </a:extLst>
            </p:cNvPr>
            <p:cNvSpPr txBox="1"/>
            <p:nvPr/>
          </p:nvSpPr>
          <p:spPr>
            <a:xfrm>
              <a:off x="845657" y="3151109"/>
              <a:ext cx="367088" cy="107722"/>
            </a:xfrm>
            <a:prstGeom prst="rect">
              <a:avLst/>
            </a:prstGeom>
            <a:noFill/>
          </p:spPr>
          <p:txBody>
            <a:bodyPr wrap="none" lIns="0" tIns="0" rIns="0" bIns="0" rtlCol="0">
              <a:spAutoFit/>
            </a:bodyPr>
            <a:lstStyle>
              <a:defPPr>
                <a:defRPr lang="en-US"/>
              </a:defPPr>
              <a:lvl1pPr algn="ctr">
                <a:defRPr sz="700" b="1"/>
              </a:lvl1pPr>
            </a:lstStyle>
            <a:p>
              <a:r>
                <a:rPr lang="en-US" dirty="0" err="1"/>
                <a:t>StrategyB</a:t>
              </a:r>
              <a:endParaRPr lang="en-US" dirty="0"/>
            </a:p>
          </p:txBody>
        </p:sp>
        <p:sp>
          <p:nvSpPr>
            <p:cNvPr id="2048" name="Rectangle: Rounded Corners 2047">
              <a:extLst>
                <a:ext uri="{FF2B5EF4-FFF2-40B4-BE49-F238E27FC236}">
                  <a16:creationId xmlns:a16="http://schemas.microsoft.com/office/drawing/2014/main" id="{B4D0A454-81D6-AE5C-C30C-0062B553EA23}"/>
                </a:ext>
              </a:extLst>
            </p:cNvPr>
            <p:cNvSpPr/>
            <p:nvPr/>
          </p:nvSpPr>
          <p:spPr>
            <a:xfrm>
              <a:off x="626759" y="3130042"/>
              <a:ext cx="809826" cy="36275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49" name="Straight Connector 2048">
              <a:extLst>
                <a:ext uri="{FF2B5EF4-FFF2-40B4-BE49-F238E27FC236}">
                  <a16:creationId xmlns:a16="http://schemas.microsoft.com/office/drawing/2014/main" id="{CE72AA3E-25EE-881F-FB9B-67FE370B5FAB}"/>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2050" name="TextBox 2049">
              <a:extLst>
                <a:ext uri="{FF2B5EF4-FFF2-40B4-BE49-F238E27FC236}">
                  <a16:creationId xmlns:a16="http://schemas.microsoft.com/office/drawing/2014/main" id="{3C176F5E-65E7-94BC-3CE9-27E623651FC8}"/>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051" name="Straight Connector 2050">
              <a:extLst>
                <a:ext uri="{FF2B5EF4-FFF2-40B4-BE49-F238E27FC236}">
                  <a16:creationId xmlns:a16="http://schemas.microsoft.com/office/drawing/2014/main" id="{6B0C289A-363F-3727-40C0-8C1598ABF2DE}"/>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2053" name="TextBox 2052">
              <a:extLst>
                <a:ext uri="{FF2B5EF4-FFF2-40B4-BE49-F238E27FC236}">
                  <a16:creationId xmlns:a16="http://schemas.microsoft.com/office/drawing/2014/main" id="{2951A126-D0BD-CB93-EAC7-ED00C08CE8A7}"/>
                </a:ext>
              </a:extLst>
            </p:cNvPr>
            <p:cNvSpPr txBox="1"/>
            <p:nvPr/>
          </p:nvSpPr>
          <p:spPr>
            <a:xfrm>
              <a:off x="653197" y="3381510"/>
              <a:ext cx="765616"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show</a:t>
              </a:r>
              <a:r>
                <a:rPr lang="en-US" dirty="0"/>
                <a:t>(): void</a:t>
              </a:r>
            </a:p>
          </p:txBody>
        </p:sp>
      </p:grpSp>
      <p:grpSp>
        <p:nvGrpSpPr>
          <p:cNvPr id="2054" name="Group 2053">
            <a:extLst>
              <a:ext uri="{FF2B5EF4-FFF2-40B4-BE49-F238E27FC236}">
                <a16:creationId xmlns:a16="http://schemas.microsoft.com/office/drawing/2014/main" id="{D3E27E86-D81E-0E66-F39B-523CCB4C24DD}"/>
              </a:ext>
            </a:extLst>
          </p:cNvPr>
          <p:cNvGrpSpPr/>
          <p:nvPr/>
        </p:nvGrpSpPr>
        <p:grpSpPr>
          <a:xfrm>
            <a:off x="9232097" y="969366"/>
            <a:ext cx="814281" cy="362756"/>
            <a:chOff x="626757" y="3130042"/>
            <a:chExt cx="814281" cy="362756"/>
          </a:xfrm>
        </p:grpSpPr>
        <p:sp>
          <p:nvSpPr>
            <p:cNvPr id="2055" name="TextBox 2054">
              <a:extLst>
                <a:ext uri="{FF2B5EF4-FFF2-40B4-BE49-F238E27FC236}">
                  <a16:creationId xmlns:a16="http://schemas.microsoft.com/office/drawing/2014/main" id="{8F1D91F6-3391-3261-50E3-DD05832F7156}"/>
                </a:ext>
              </a:extLst>
            </p:cNvPr>
            <p:cNvSpPr txBox="1"/>
            <p:nvPr/>
          </p:nvSpPr>
          <p:spPr>
            <a:xfrm>
              <a:off x="843252" y="3151109"/>
              <a:ext cx="371897" cy="107722"/>
            </a:xfrm>
            <a:prstGeom prst="rect">
              <a:avLst/>
            </a:prstGeom>
            <a:noFill/>
          </p:spPr>
          <p:txBody>
            <a:bodyPr wrap="none" lIns="0" tIns="0" rIns="0" bIns="0" rtlCol="0">
              <a:spAutoFit/>
            </a:bodyPr>
            <a:lstStyle>
              <a:defPPr>
                <a:defRPr lang="en-US"/>
              </a:defPPr>
              <a:lvl1pPr algn="ctr">
                <a:defRPr sz="700" b="1"/>
              </a:lvl1pPr>
            </a:lstStyle>
            <a:p>
              <a:r>
                <a:rPr lang="en-US" dirty="0" err="1"/>
                <a:t>StrategyA</a:t>
              </a:r>
              <a:endParaRPr lang="en-US" dirty="0"/>
            </a:p>
          </p:txBody>
        </p:sp>
        <p:sp>
          <p:nvSpPr>
            <p:cNvPr id="2056" name="Rectangle: Rounded Corners 2055">
              <a:extLst>
                <a:ext uri="{FF2B5EF4-FFF2-40B4-BE49-F238E27FC236}">
                  <a16:creationId xmlns:a16="http://schemas.microsoft.com/office/drawing/2014/main" id="{2190AD2A-8377-5400-6A49-58982325E418}"/>
                </a:ext>
              </a:extLst>
            </p:cNvPr>
            <p:cNvSpPr/>
            <p:nvPr/>
          </p:nvSpPr>
          <p:spPr>
            <a:xfrm>
              <a:off x="626759" y="3130042"/>
              <a:ext cx="809826" cy="36275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57" name="Straight Connector 2056">
              <a:extLst>
                <a:ext uri="{FF2B5EF4-FFF2-40B4-BE49-F238E27FC236}">
                  <a16:creationId xmlns:a16="http://schemas.microsoft.com/office/drawing/2014/main" id="{2666F4FE-AD16-5B4F-3D5E-2C19E0FB701E}"/>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2058" name="TextBox 2057">
              <a:extLst>
                <a:ext uri="{FF2B5EF4-FFF2-40B4-BE49-F238E27FC236}">
                  <a16:creationId xmlns:a16="http://schemas.microsoft.com/office/drawing/2014/main" id="{04587289-F30D-D95B-B3BC-7CE56C389D3B}"/>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059" name="Straight Connector 2058">
              <a:extLst>
                <a:ext uri="{FF2B5EF4-FFF2-40B4-BE49-F238E27FC236}">
                  <a16:creationId xmlns:a16="http://schemas.microsoft.com/office/drawing/2014/main" id="{DB385BC3-9237-B543-8B6B-5F627D4B9E6D}"/>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2060" name="TextBox 2059">
              <a:extLst>
                <a:ext uri="{FF2B5EF4-FFF2-40B4-BE49-F238E27FC236}">
                  <a16:creationId xmlns:a16="http://schemas.microsoft.com/office/drawing/2014/main" id="{2CA078F6-DB10-9716-A2AA-AA745C2B0FA0}"/>
                </a:ext>
              </a:extLst>
            </p:cNvPr>
            <p:cNvSpPr txBox="1"/>
            <p:nvPr/>
          </p:nvSpPr>
          <p:spPr>
            <a:xfrm>
              <a:off x="653197" y="3381510"/>
              <a:ext cx="765616"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show</a:t>
              </a:r>
              <a:r>
                <a:rPr lang="en-US" dirty="0"/>
                <a:t>(): void</a:t>
              </a:r>
            </a:p>
          </p:txBody>
        </p:sp>
      </p:grpSp>
      <p:grpSp>
        <p:nvGrpSpPr>
          <p:cNvPr id="2061" name="Group 2060">
            <a:extLst>
              <a:ext uri="{FF2B5EF4-FFF2-40B4-BE49-F238E27FC236}">
                <a16:creationId xmlns:a16="http://schemas.microsoft.com/office/drawing/2014/main" id="{32625A09-CBD6-A01C-0C03-1A4DD1DC8217}"/>
              </a:ext>
            </a:extLst>
          </p:cNvPr>
          <p:cNvGrpSpPr/>
          <p:nvPr/>
        </p:nvGrpSpPr>
        <p:grpSpPr>
          <a:xfrm>
            <a:off x="11173143" y="969366"/>
            <a:ext cx="814281" cy="362756"/>
            <a:chOff x="626757" y="3130042"/>
            <a:chExt cx="814281" cy="362756"/>
          </a:xfrm>
        </p:grpSpPr>
        <p:sp>
          <p:nvSpPr>
            <p:cNvPr id="2062" name="TextBox 2061">
              <a:extLst>
                <a:ext uri="{FF2B5EF4-FFF2-40B4-BE49-F238E27FC236}">
                  <a16:creationId xmlns:a16="http://schemas.microsoft.com/office/drawing/2014/main" id="{CB8748EB-E6BC-3B76-172E-32401EDEDB58}"/>
                </a:ext>
              </a:extLst>
            </p:cNvPr>
            <p:cNvSpPr txBox="1"/>
            <p:nvPr/>
          </p:nvSpPr>
          <p:spPr>
            <a:xfrm>
              <a:off x="847260" y="3151109"/>
              <a:ext cx="363882" cy="107722"/>
            </a:xfrm>
            <a:prstGeom prst="rect">
              <a:avLst/>
            </a:prstGeom>
            <a:noFill/>
          </p:spPr>
          <p:txBody>
            <a:bodyPr wrap="none" lIns="0" tIns="0" rIns="0" bIns="0" rtlCol="0">
              <a:spAutoFit/>
            </a:bodyPr>
            <a:lstStyle>
              <a:defPPr>
                <a:defRPr lang="en-US"/>
              </a:defPPr>
              <a:lvl1pPr algn="ctr">
                <a:defRPr sz="700" b="1"/>
              </a:lvl1pPr>
            </a:lstStyle>
            <a:p>
              <a:r>
                <a:rPr lang="en-US" dirty="0" err="1"/>
                <a:t>StrategyC</a:t>
              </a:r>
              <a:endParaRPr lang="en-US" dirty="0"/>
            </a:p>
          </p:txBody>
        </p:sp>
        <p:sp>
          <p:nvSpPr>
            <p:cNvPr id="2063" name="Rectangle: Rounded Corners 2062">
              <a:extLst>
                <a:ext uri="{FF2B5EF4-FFF2-40B4-BE49-F238E27FC236}">
                  <a16:creationId xmlns:a16="http://schemas.microsoft.com/office/drawing/2014/main" id="{BB348AF2-5B68-568B-596B-116389E9C5F4}"/>
                </a:ext>
              </a:extLst>
            </p:cNvPr>
            <p:cNvSpPr/>
            <p:nvPr/>
          </p:nvSpPr>
          <p:spPr>
            <a:xfrm>
              <a:off x="626759" y="3130042"/>
              <a:ext cx="809826" cy="36275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64" name="Straight Connector 2063">
              <a:extLst>
                <a:ext uri="{FF2B5EF4-FFF2-40B4-BE49-F238E27FC236}">
                  <a16:creationId xmlns:a16="http://schemas.microsoft.com/office/drawing/2014/main" id="{4B60709E-469D-B118-B88E-20268EAEE999}"/>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2065" name="TextBox 2064">
              <a:extLst>
                <a:ext uri="{FF2B5EF4-FFF2-40B4-BE49-F238E27FC236}">
                  <a16:creationId xmlns:a16="http://schemas.microsoft.com/office/drawing/2014/main" id="{88E01CC8-DE7B-BE7C-7C35-E2B8AD0982DF}"/>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066" name="Straight Connector 2065">
              <a:extLst>
                <a:ext uri="{FF2B5EF4-FFF2-40B4-BE49-F238E27FC236}">
                  <a16:creationId xmlns:a16="http://schemas.microsoft.com/office/drawing/2014/main" id="{457DF924-9CE7-C25A-C32D-2A52EDCB3CC6}"/>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2067" name="TextBox 2066">
              <a:extLst>
                <a:ext uri="{FF2B5EF4-FFF2-40B4-BE49-F238E27FC236}">
                  <a16:creationId xmlns:a16="http://schemas.microsoft.com/office/drawing/2014/main" id="{DF55A46C-2FB2-9703-1BC2-CFD0236D1FD3}"/>
                </a:ext>
              </a:extLst>
            </p:cNvPr>
            <p:cNvSpPr txBox="1"/>
            <p:nvPr/>
          </p:nvSpPr>
          <p:spPr>
            <a:xfrm>
              <a:off x="653197" y="3381510"/>
              <a:ext cx="765616"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show</a:t>
              </a:r>
              <a:r>
                <a:rPr lang="en-US" dirty="0"/>
                <a:t>(): void</a:t>
              </a:r>
            </a:p>
          </p:txBody>
        </p:sp>
      </p:grpSp>
      <p:grpSp>
        <p:nvGrpSpPr>
          <p:cNvPr id="2068" name="Group 2067">
            <a:extLst>
              <a:ext uri="{FF2B5EF4-FFF2-40B4-BE49-F238E27FC236}">
                <a16:creationId xmlns:a16="http://schemas.microsoft.com/office/drawing/2014/main" id="{0272FD8D-7578-FB12-ACB7-EE2F86E1E2AA}"/>
              </a:ext>
            </a:extLst>
          </p:cNvPr>
          <p:cNvGrpSpPr/>
          <p:nvPr/>
        </p:nvGrpSpPr>
        <p:grpSpPr>
          <a:xfrm>
            <a:off x="9108030" y="249546"/>
            <a:ext cx="814281" cy="528468"/>
            <a:chOff x="626757" y="3130041"/>
            <a:chExt cx="814281" cy="528468"/>
          </a:xfrm>
        </p:grpSpPr>
        <p:sp>
          <p:nvSpPr>
            <p:cNvPr id="2069" name="TextBox 2068">
              <a:extLst>
                <a:ext uri="{FF2B5EF4-FFF2-40B4-BE49-F238E27FC236}">
                  <a16:creationId xmlns:a16="http://schemas.microsoft.com/office/drawing/2014/main" id="{9DEDDBB0-7CEF-B7C7-EF3F-76AA6189815F}"/>
                </a:ext>
              </a:extLst>
            </p:cNvPr>
            <p:cNvSpPr txBox="1"/>
            <p:nvPr/>
          </p:nvSpPr>
          <p:spPr>
            <a:xfrm>
              <a:off x="848863" y="3151109"/>
              <a:ext cx="360676" cy="107722"/>
            </a:xfrm>
            <a:prstGeom prst="rect">
              <a:avLst/>
            </a:prstGeom>
            <a:noFill/>
          </p:spPr>
          <p:txBody>
            <a:bodyPr wrap="none" lIns="0" tIns="0" rIns="0" bIns="0" rtlCol="0">
              <a:spAutoFit/>
            </a:bodyPr>
            <a:lstStyle>
              <a:defPPr>
                <a:defRPr lang="en-US"/>
              </a:defPPr>
              <a:lvl1pPr algn="ctr">
                <a:defRPr sz="700" b="1"/>
              </a:lvl1pPr>
            </a:lstStyle>
            <a:p>
              <a:r>
                <a:rPr lang="en-US" dirty="0" err="1"/>
                <a:t>SalesMan</a:t>
              </a:r>
              <a:endParaRPr lang="en-US" dirty="0"/>
            </a:p>
          </p:txBody>
        </p:sp>
        <p:sp>
          <p:nvSpPr>
            <p:cNvPr id="2070" name="Rectangle: Rounded Corners 2069">
              <a:extLst>
                <a:ext uri="{FF2B5EF4-FFF2-40B4-BE49-F238E27FC236}">
                  <a16:creationId xmlns:a16="http://schemas.microsoft.com/office/drawing/2014/main" id="{CF4D1E50-BF93-DA45-8C0C-6F9AF19356CD}"/>
                </a:ext>
              </a:extLst>
            </p:cNvPr>
            <p:cNvSpPr/>
            <p:nvPr/>
          </p:nvSpPr>
          <p:spPr>
            <a:xfrm>
              <a:off x="626759" y="3130041"/>
              <a:ext cx="809826" cy="526793"/>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71" name="Straight Connector 2070">
              <a:extLst>
                <a:ext uri="{FF2B5EF4-FFF2-40B4-BE49-F238E27FC236}">
                  <a16:creationId xmlns:a16="http://schemas.microsoft.com/office/drawing/2014/main" id="{C12D5A82-6CA1-314F-A07D-64B6327336DC}"/>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2072" name="TextBox 2071">
              <a:extLst>
                <a:ext uri="{FF2B5EF4-FFF2-40B4-BE49-F238E27FC236}">
                  <a16:creationId xmlns:a16="http://schemas.microsoft.com/office/drawing/2014/main" id="{C7C00301-8D6F-90A4-1949-01BDCBD905B4}"/>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r>
                <a:rPr lang="en-US" dirty="0"/>
                <a:t>- strategy: Strategy</a:t>
              </a:r>
            </a:p>
          </p:txBody>
        </p:sp>
        <p:cxnSp>
          <p:nvCxnSpPr>
            <p:cNvPr id="2073" name="Straight Connector 2072">
              <a:extLst>
                <a:ext uri="{FF2B5EF4-FFF2-40B4-BE49-F238E27FC236}">
                  <a16:creationId xmlns:a16="http://schemas.microsoft.com/office/drawing/2014/main" id="{0B9DF356-8E42-7B64-44AC-DE4F74C4AFA9}"/>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2074" name="TextBox 2073">
              <a:extLst>
                <a:ext uri="{FF2B5EF4-FFF2-40B4-BE49-F238E27FC236}">
                  <a16:creationId xmlns:a16="http://schemas.microsoft.com/office/drawing/2014/main" id="{294DEAC6-73B3-C33C-6B41-F1FE67B167FD}"/>
                </a:ext>
              </a:extLst>
            </p:cNvPr>
            <p:cNvSpPr txBox="1"/>
            <p:nvPr/>
          </p:nvSpPr>
          <p:spPr>
            <a:xfrm>
              <a:off x="653197" y="3381510"/>
              <a:ext cx="765616"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SalesMan</a:t>
              </a:r>
              <a:r>
                <a:rPr lang="en-US" dirty="0"/>
                <a:t>(Strategy)</a:t>
              </a:r>
            </a:p>
            <a:p>
              <a:r>
                <a:rPr lang="en-US" dirty="0"/>
                <a:t>+ </a:t>
              </a:r>
              <a:r>
                <a:rPr lang="en-US" dirty="0" err="1"/>
                <a:t>setStrategy</a:t>
              </a:r>
              <a:r>
                <a:rPr lang="en-US" dirty="0"/>
                <a:t>(Strategy)</a:t>
              </a:r>
            </a:p>
            <a:p>
              <a:r>
                <a:rPr lang="en-US" dirty="0"/>
                <a:t>+ </a:t>
              </a:r>
              <a:r>
                <a:rPr lang="en-US" dirty="0" err="1"/>
                <a:t>salesManShow</a:t>
              </a:r>
              <a:r>
                <a:rPr lang="en-US" dirty="0"/>
                <a:t>():void</a:t>
              </a:r>
            </a:p>
          </p:txBody>
        </p:sp>
      </p:grpSp>
      <p:cxnSp>
        <p:nvCxnSpPr>
          <p:cNvPr id="2075" name="Connector: Elbow 2074">
            <a:extLst>
              <a:ext uri="{FF2B5EF4-FFF2-40B4-BE49-F238E27FC236}">
                <a16:creationId xmlns:a16="http://schemas.microsoft.com/office/drawing/2014/main" id="{73A366AD-3B0B-6D03-2EE6-33C97B440BC5}"/>
              </a:ext>
            </a:extLst>
          </p:cNvPr>
          <p:cNvCxnSpPr>
            <a:cxnSpLocks/>
            <a:stCxn id="2056" idx="0"/>
            <a:endCxn id="2937" idx="2"/>
          </p:cNvCxnSpPr>
          <p:nvPr/>
        </p:nvCxnSpPr>
        <p:spPr>
          <a:xfrm rot="5400000" flipH="1" flipV="1">
            <a:off x="9996353" y="334933"/>
            <a:ext cx="275092" cy="993775"/>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076" name="Connector: Elbow 2075">
            <a:extLst>
              <a:ext uri="{FF2B5EF4-FFF2-40B4-BE49-F238E27FC236}">
                <a16:creationId xmlns:a16="http://schemas.microsoft.com/office/drawing/2014/main" id="{0909411B-A5A1-48B6-1A49-F61B25B18779}"/>
              </a:ext>
            </a:extLst>
          </p:cNvPr>
          <p:cNvCxnSpPr>
            <a:cxnSpLocks/>
            <a:stCxn id="2063" idx="0"/>
            <a:endCxn id="2937" idx="2"/>
          </p:cNvCxnSpPr>
          <p:nvPr/>
        </p:nvCxnSpPr>
        <p:spPr>
          <a:xfrm rot="16200000" flipV="1">
            <a:off x="10966877" y="358184"/>
            <a:ext cx="275092" cy="947271"/>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077" name="Straight Connector 2076">
            <a:extLst>
              <a:ext uri="{FF2B5EF4-FFF2-40B4-BE49-F238E27FC236}">
                <a16:creationId xmlns:a16="http://schemas.microsoft.com/office/drawing/2014/main" id="{A59A7A33-D45E-1669-ABDF-D2CCE9B2B8A8}"/>
              </a:ext>
            </a:extLst>
          </p:cNvPr>
          <p:cNvCxnSpPr>
            <a:cxnSpLocks/>
            <a:stCxn id="2937" idx="1"/>
            <a:endCxn id="2070" idx="3"/>
          </p:cNvCxnSpPr>
          <p:nvPr/>
        </p:nvCxnSpPr>
        <p:spPr>
          <a:xfrm flipH="1">
            <a:off x="9917858" y="512896"/>
            <a:ext cx="308016" cy="47"/>
          </a:xfrm>
          <a:prstGeom prst="line">
            <a:avLst/>
          </a:prstGeom>
        </p:spPr>
        <p:style>
          <a:lnRef idx="1">
            <a:schemeClr val="dk1"/>
          </a:lnRef>
          <a:fillRef idx="0">
            <a:schemeClr val="dk1"/>
          </a:fillRef>
          <a:effectRef idx="0">
            <a:schemeClr val="dk1"/>
          </a:effectRef>
          <a:fontRef idx="minor">
            <a:schemeClr val="tx1"/>
          </a:fontRef>
        </p:style>
      </p:cxnSp>
      <p:cxnSp>
        <p:nvCxnSpPr>
          <p:cNvPr id="2078" name="Straight Connector 2077">
            <a:extLst>
              <a:ext uri="{FF2B5EF4-FFF2-40B4-BE49-F238E27FC236}">
                <a16:creationId xmlns:a16="http://schemas.microsoft.com/office/drawing/2014/main" id="{E4592346-C0B6-E727-D3BF-61F19B1C2B20}"/>
              </a:ext>
            </a:extLst>
          </p:cNvPr>
          <p:cNvCxnSpPr>
            <a:cxnSpLocks/>
            <a:stCxn id="2048" idx="0"/>
            <a:endCxn id="2079" idx="0"/>
          </p:cNvCxnSpPr>
          <p:nvPr/>
        </p:nvCxnSpPr>
        <p:spPr>
          <a:xfrm flipH="1" flipV="1">
            <a:off x="10630789" y="704259"/>
            <a:ext cx="793" cy="277807"/>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079" name="Isosceles Triangle 2078">
            <a:extLst>
              <a:ext uri="{FF2B5EF4-FFF2-40B4-BE49-F238E27FC236}">
                <a16:creationId xmlns:a16="http://schemas.microsoft.com/office/drawing/2014/main" id="{6C4F9880-2103-95E9-C2EE-A178E9DAB365}"/>
              </a:ext>
            </a:extLst>
          </p:cNvPr>
          <p:cNvSpPr/>
          <p:nvPr/>
        </p:nvSpPr>
        <p:spPr>
          <a:xfrm>
            <a:off x="10607929" y="704259"/>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0" name="Diamond 2079">
            <a:extLst>
              <a:ext uri="{FF2B5EF4-FFF2-40B4-BE49-F238E27FC236}">
                <a16:creationId xmlns:a16="http://schemas.microsoft.com/office/drawing/2014/main" id="{4C5D3FF7-9148-2FED-29B0-72253D849E47}"/>
              </a:ext>
            </a:extLst>
          </p:cNvPr>
          <p:cNvSpPr/>
          <p:nvPr/>
        </p:nvSpPr>
        <p:spPr>
          <a:xfrm>
            <a:off x="9925001" y="490036"/>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84" name="Straight Connector 2083">
            <a:extLst>
              <a:ext uri="{FF2B5EF4-FFF2-40B4-BE49-F238E27FC236}">
                <a16:creationId xmlns:a16="http://schemas.microsoft.com/office/drawing/2014/main" id="{DBA3FBBE-7FF7-92D2-BDF3-4FD097F0818F}"/>
              </a:ext>
            </a:extLst>
          </p:cNvPr>
          <p:cNvCxnSpPr>
            <a:stCxn id="2931" idx="3"/>
            <a:endCxn id="3142" idx="1"/>
          </p:cNvCxnSpPr>
          <p:nvPr/>
        </p:nvCxnSpPr>
        <p:spPr>
          <a:xfrm>
            <a:off x="1079590" y="3487826"/>
            <a:ext cx="200419" cy="639"/>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085" name="Isosceles Triangle 2084">
            <a:extLst>
              <a:ext uri="{FF2B5EF4-FFF2-40B4-BE49-F238E27FC236}">
                <a16:creationId xmlns:a16="http://schemas.microsoft.com/office/drawing/2014/main" id="{EA707869-4E8B-BFE7-2794-939B1905A5F5}"/>
              </a:ext>
            </a:extLst>
          </p:cNvPr>
          <p:cNvSpPr/>
          <p:nvPr/>
        </p:nvSpPr>
        <p:spPr>
          <a:xfrm rot="5400000">
            <a:off x="1231909" y="3467347"/>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42" name="Group 2141">
            <a:extLst>
              <a:ext uri="{FF2B5EF4-FFF2-40B4-BE49-F238E27FC236}">
                <a16:creationId xmlns:a16="http://schemas.microsoft.com/office/drawing/2014/main" id="{A23A2574-4E3E-3F78-F703-D6BE1399C6A9}"/>
              </a:ext>
            </a:extLst>
          </p:cNvPr>
          <p:cNvGrpSpPr/>
          <p:nvPr/>
        </p:nvGrpSpPr>
        <p:grpSpPr>
          <a:xfrm>
            <a:off x="6449618" y="1491785"/>
            <a:ext cx="848549" cy="327891"/>
            <a:chOff x="626757" y="3130041"/>
            <a:chExt cx="848549" cy="327891"/>
          </a:xfrm>
        </p:grpSpPr>
        <p:sp>
          <p:nvSpPr>
            <p:cNvPr id="2144" name="TextBox 2143">
              <a:extLst>
                <a:ext uri="{FF2B5EF4-FFF2-40B4-BE49-F238E27FC236}">
                  <a16:creationId xmlns:a16="http://schemas.microsoft.com/office/drawing/2014/main" id="{ABB16144-AF86-5AEA-CC7C-C6646A4A30C4}"/>
                </a:ext>
              </a:extLst>
            </p:cNvPr>
            <p:cNvSpPr txBox="1"/>
            <p:nvPr/>
          </p:nvSpPr>
          <p:spPr>
            <a:xfrm>
              <a:off x="650088" y="3351882"/>
              <a:ext cx="803470"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main</a:t>
              </a:r>
              <a:r>
                <a:rPr lang="en-US" dirty="0"/>
                <a:t>(): void</a:t>
              </a:r>
            </a:p>
          </p:txBody>
        </p:sp>
        <p:sp>
          <p:nvSpPr>
            <p:cNvPr id="2145" name="Rectangle: Rounded Corners 2144">
              <a:extLst>
                <a:ext uri="{FF2B5EF4-FFF2-40B4-BE49-F238E27FC236}">
                  <a16:creationId xmlns:a16="http://schemas.microsoft.com/office/drawing/2014/main" id="{96AB524A-8E2F-CA67-E761-41E29595295C}"/>
                </a:ext>
              </a:extLst>
            </p:cNvPr>
            <p:cNvSpPr/>
            <p:nvPr/>
          </p:nvSpPr>
          <p:spPr>
            <a:xfrm>
              <a:off x="626759" y="3130041"/>
              <a:ext cx="846634" cy="32789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46" name="Straight Connector 2145">
              <a:extLst>
                <a:ext uri="{FF2B5EF4-FFF2-40B4-BE49-F238E27FC236}">
                  <a16:creationId xmlns:a16="http://schemas.microsoft.com/office/drawing/2014/main" id="{4FAE64A1-7450-0E9F-9883-EB7B2488F4EB}"/>
                </a:ext>
              </a:extLst>
            </p:cNvPr>
            <p:cNvCxnSpPr>
              <a:cxnSpLocks/>
            </p:cNvCxnSpPr>
            <p:nvPr/>
          </p:nvCxnSpPr>
          <p:spPr>
            <a:xfrm flipV="1">
              <a:off x="626759" y="3262327"/>
              <a:ext cx="848547" cy="312"/>
            </a:xfrm>
            <a:prstGeom prst="line">
              <a:avLst/>
            </a:prstGeom>
          </p:spPr>
          <p:style>
            <a:lnRef idx="1">
              <a:schemeClr val="dk1"/>
            </a:lnRef>
            <a:fillRef idx="0">
              <a:schemeClr val="dk1"/>
            </a:fillRef>
            <a:effectRef idx="0">
              <a:schemeClr val="dk1"/>
            </a:effectRef>
            <a:fontRef idx="minor">
              <a:schemeClr val="tx1"/>
            </a:fontRef>
          </p:style>
        </p:cxnSp>
        <p:sp>
          <p:nvSpPr>
            <p:cNvPr id="2148" name="TextBox 2147">
              <a:extLst>
                <a:ext uri="{FF2B5EF4-FFF2-40B4-BE49-F238E27FC236}">
                  <a16:creationId xmlns:a16="http://schemas.microsoft.com/office/drawing/2014/main" id="{D4F5BBEC-80D5-0127-A355-39398D8AFFD4}"/>
                </a:ext>
              </a:extLst>
            </p:cNvPr>
            <p:cNvSpPr txBox="1"/>
            <p:nvPr/>
          </p:nvSpPr>
          <p:spPr>
            <a:xfrm>
              <a:off x="775867" y="3150046"/>
              <a:ext cx="557040" cy="92333"/>
            </a:xfrm>
            <a:prstGeom prst="rect">
              <a:avLst/>
            </a:prstGeom>
            <a:noFill/>
          </p:spPr>
          <p:txBody>
            <a:bodyPr wrap="none" lIns="0" tIns="0" rIns="0" bIns="0" rtlCol="0">
              <a:spAutoFit/>
            </a:bodyPr>
            <a:lstStyle>
              <a:defPPr>
                <a:defRPr lang="en-US"/>
              </a:defPPr>
              <a:lvl1pPr algn="ctr">
                <a:defRPr sz="700" b="1"/>
              </a:lvl1pPr>
            </a:lstStyle>
            <a:p>
              <a:r>
                <a:rPr lang="en-US" dirty="0"/>
                <a:t>C</a:t>
              </a:r>
              <a:r>
                <a:rPr lang="en-US" altLang="zh-CN" dirty="0"/>
                <a:t>lient</a:t>
              </a:r>
              <a:endParaRPr lang="en-US" dirty="0"/>
            </a:p>
          </p:txBody>
        </p:sp>
        <p:cxnSp>
          <p:nvCxnSpPr>
            <p:cNvPr id="2149" name="Straight Connector 2148">
              <a:extLst>
                <a:ext uri="{FF2B5EF4-FFF2-40B4-BE49-F238E27FC236}">
                  <a16:creationId xmlns:a16="http://schemas.microsoft.com/office/drawing/2014/main" id="{E3B4049E-D544-91EE-E1DC-BE5BCD394A85}"/>
                </a:ext>
              </a:extLst>
            </p:cNvPr>
            <p:cNvCxnSpPr>
              <a:cxnSpLocks/>
            </p:cNvCxnSpPr>
            <p:nvPr/>
          </p:nvCxnSpPr>
          <p:spPr>
            <a:xfrm flipV="1">
              <a:off x="626757" y="3350433"/>
              <a:ext cx="846167" cy="313"/>
            </a:xfrm>
            <a:prstGeom prst="line">
              <a:avLst/>
            </a:prstGeom>
          </p:spPr>
          <p:style>
            <a:lnRef idx="1">
              <a:schemeClr val="dk1"/>
            </a:lnRef>
            <a:fillRef idx="0">
              <a:schemeClr val="dk1"/>
            </a:fillRef>
            <a:effectRef idx="0">
              <a:schemeClr val="dk1"/>
            </a:effectRef>
            <a:fontRef idx="minor">
              <a:schemeClr val="tx1"/>
            </a:fontRef>
          </p:style>
        </p:cxnSp>
      </p:grpSp>
      <p:grpSp>
        <p:nvGrpSpPr>
          <p:cNvPr id="2150" name="Group 2149">
            <a:extLst>
              <a:ext uri="{FF2B5EF4-FFF2-40B4-BE49-F238E27FC236}">
                <a16:creationId xmlns:a16="http://schemas.microsoft.com/office/drawing/2014/main" id="{81DA95BA-E5ED-AF87-76B7-233DD639310F}"/>
              </a:ext>
            </a:extLst>
          </p:cNvPr>
          <p:cNvGrpSpPr/>
          <p:nvPr/>
        </p:nvGrpSpPr>
        <p:grpSpPr>
          <a:xfrm>
            <a:off x="5927566" y="887513"/>
            <a:ext cx="814281" cy="362756"/>
            <a:chOff x="626757" y="3130042"/>
            <a:chExt cx="814281" cy="362756"/>
          </a:xfrm>
        </p:grpSpPr>
        <p:sp>
          <p:nvSpPr>
            <p:cNvPr id="2151" name="TextBox 2150">
              <a:extLst>
                <a:ext uri="{FF2B5EF4-FFF2-40B4-BE49-F238E27FC236}">
                  <a16:creationId xmlns:a16="http://schemas.microsoft.com/office/drawing/2014/main" id="{F4C11197-61F1-DCFB-AF8A-9A6314D09865}"/>
                </a:ext>
              </a:extLst>
            </p:cNvPr>
            <p:cNvSpPr txBox="1"/>
            <p:nvPr/>
          </p:nvSpPr>
          <p:spPr>
            <a:xfrm>
              <a:off x="967485" y="3151109"/>
              <a:ext cx="123432" cy="107722"/>
            </a:xfrm>
            <a:prstGeom prst="rect">
              <a:avLst/>
            </a:prstGeom>
            <a:noFill/>
          </p:spPr>
          <p:txBody>
            <a:bodyPr wrap="none" lIns="0" tIns="0" rIns="0" bIns="0" rtlCol="0">
              <a:spAutoFit/>
            </a:bodyPr>
            <a:lstStyle>
              <a:defPPr>
                <a:defRPr lang="en-US"/>
              </a:defPPr>
              <a:lvl1pPr algn="ctr">
                <a:defRPr sz="700" b="1"/>
              </a:lvl1pPr>
            </a:lstStyle>
            <a:p>
              <a:r>
                <a:rPr lang="en-US" dirty="0"/>
                <a:t>Cat</a:t>
              </a:r>
            </a:p>
          </p:txBody>
        </p:sp>
        <p:sp>
          <p:nvSpPr>
            <p:cNvPr id="2152" name="Rectangle: Rounded Corners 2151">
              <a:extLst>
                <a:ext uri="{FF2B5EF4-FFF2-40B4-BE49-F238E27FC236}">
                  <a16:creationId xmlns:a16="http://schemas.microsoft.com/office/drawing/2014/main" id="{202694A6-28EC-7CE4-4AD5-7044B7F8D38B}"/>
                </a:ext>
              </a:extLst>
            </p:cNvPr>
            <p:cNvSpPr/>
            <p:nvPr/>
          </p:nvSpPr>
          <p:spPr>
            <a:xfrm>
              <a:off x="626759" y="3130042"/>
              <a:ext cx="809826" cy="36275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53" name="Straight Connector 2152">
              <a:extLst>
                <a:ext uri="{FF2B5EF4-FFF2-40B4-BE49-F238E27FC236}">
                  <a16:creationId xmlns:a16="http://schemas.microsoft.com/office/drawing/2014/main" id="{CEFFC3B5-71E6-9EA6-ED35-4E5C79F14363}"/>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2154" name="TextBox 2153">
              <a:extLst>
                <a:ext uri="{FF2B5EF4-FFF2-40B4-BE49-F238E27FC236}">
                  <a16:creationId xmlns:a16="http://schemas.microsoft.com/office/drawing/2014/main" id="{3E9841B8-84CE-39AC-A28F-5B5F38FEB892}"/>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155" name="Straight Connector 2154">
              <a:extLst>
                <a:ext uri="{FF2B5EF4-FFF2-40B4-BE49-F238E27FC236}">
                  <a16:creationId xmlns:a16="http://schemas.microsoft.com/office/drawing/2014/main" id="{E8EB3DE6-3359-8841-F749-780358684A06}"/>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2156" name="TextBox 2155">
              <a:extLst>
                <a:ext uri="{FF2B5EF4-FFF2-40B4-BE49-F238E27FC236}">
                  <a16:creationId xmlns:a16="http://schemas.microsoft.com/office/drawing/2014/main" id="{A855A043-7C52-7346-BBA5-5715A083535C}"/>
                </a:ext>
              </a:extLst>
            </p:cNvPr>
            <p:cNvSpPr txBox="1"/>
            <p:nvPr/>
          </p:nvSpPr>
          <p:spPr>
            <a:xfrm>
              <a:off x="653197" y="3381510"/>
              <a:ext cx="765616"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accept</a:t>
              </a:r>
              <a:r>
                <a:rPr lang="en-US" dirty="0"/>
                <a:t>(Person): void</a:t>
              </a:r>
            </a:p>
          </p:txBody>
        </p:sp>
      </p:grpSp>
      <p:grpSp>
        <p:nvGrpSpPr>
          <p:cNvPr id="2157" name="Group 2156">
            <a:extLst>
              <a:ext uri="{FF2B5EF4-FFF2-40B4-BE49-F238E27FC236}">
                <a16:creationId xmlns:a16="http://schemas.microsoft.com/office/drawing/2014/main" id="{755C7ED2-EEFB-C029-1293-4ADEFC0EE406}"/>
              </a:ext>
            </a:extLst>
          </p:cNvPr>
          <p:cNvGrpSpPr/>
          <p:nvPr/>
        </p:nvGrpSpPr>
        <p:grpSpPr>
          <a:xfrm>
            <a:off x="5057534" y="886898"/>
            <a:ext cx="814281" cy="362756"/>
            <a:chOff x="626757" y="3130042"/>
            <a:chExt cx="814281" cy="362756"/>
          </a:xfrm>
        </p:grpSpPr>
        <p:sp>
          <p:nvSpPr>
            <p:cNvPr id="2158" name="TextBox 2157">
              <a:extLst>
                <a:ext uri="{FF2B5EF4-FFF2-40B4-BE49-F238E27FC236}">
                  <a16:creationId xmlns:a16="http://schemas.microsoft.com/office/drawing/2014/main" id="{6C239259-42A3-BE8A-FD1D-A742B97E4B47}"/>
                </a:ext>
              </a:extLst>
            </p:cNvPr>
            <p:cNvSpPr txBox="1"/>
            <p:nvPr/>
          </p:nvSpPr>
          <p:spPr>
            <a:xfrm>
              <a:off x="955463" y="3151109"/>
              <a:ext cx="147477" cy="107722"/>
            </a:xfrm>
            <a:prstGeom prst="rect">
              <a:avLst/>
            </a:prstGeom>
            <a:noFill/>
          </p:spPr>
          <p:txBody>
            <a:bodyPr wrap="none" lIns="0" tIns="0" rIns="0" bIns="0" rtlCol="0">
              <a:spAutoFit/>
            </a:bodyPr>
            <a:lstStyle>
              <a:defPPr>
                <a:defRPr lang="en-US"/>
              </a:defPPr>
              <a:lvl1pPr algn="ctr">
                <a:defRPr sz="700" b="1"/>
              </a:lvl1pPr>
            </a:lstStyle>
            <a:p>
              <a:r>
                <a:rPr lang="en-US" dirty="0"/>
                <a:t>Dog</a:t>
              </a:r>
            </a:p>
          </p:txBody>
        </p:sp>
        <p:sp>
          <p:nvSpPr>
            <p:cNvPr id="2164" name="Rectangle: Rounded Corners 2163">
              <a:extLst>
                <a:ext uri="{FF2B5EF4-FFF2-40B4-BE49-F238E27FC236}">
                  <a16:creationId xmlns:a16="http://schemas.microsoft.com/office/drawing/2014/main" id="{083B41AB-10BD-3F2A-A591-E5B0F56A04B8}"/>
                </a:ext>
              </a:extLst>
            </p:cNvPr>
            <p:cNvSpPr/>
            <p:nvPr/>
          </p:nvSpPr>
          <p:spPr>
            <a:xfrm>
              <a:off x="626759" y="3130042"/>
              <a:ext cx="809826" cy="36275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65" name="Straight Connector 2164">
              <a:extLst>
                <a:ext uri="{FF2B5EF4-FFF2-40B4-BE49-F238E27FC236}">
                  <a16:creationId xmlns:a16="http://schemas.microsoft.com/office/drawing/2014/main" id="{974EBD17-63C5-4917-EB0A-6B69FE4D56A9}"/>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2166" name="TextBox 2165">
              <a:extLst>
                <a:ext uri="{FF2B5EF4-FFF2-40B4-BE49-F238E27FC236}">
                  <a16:creationId xmlns:a16="http://schemas.microsoft.com/office/drawing/2014/main" id="{76C08ABA-28B1-9AE1-C971-3A0200A58898}"/>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167" name="Straight Connector 2166">
              <a:extLst>
                <a:ext uri="{FF2B5EF4-FFF2-40B4-BE49-F238E27FC236}">
                  <a16:creationId xmlns:a16="http://schemas.microsoft.com/office/drawing/2014/main" id="{96DD3BCD-AC89-8C37-BEC3-79431793498A}"/>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2168" name="TextBox 2167">
              <a:extLst>
                <a:ext uri="{FF2B5EF4-FFF2-40B4-BE49-F238E27FC236}">
                  <a16:creationId xmlns:a16="http://schemas.microsoft.com/office/drawing/2014/main" id="{37132222-9ECC-7CBD-18AD-97402518C338}"/>
                </a:ext>
              </a:extLst>
            </p:cNvPr>
            <p:cNvSpPr txBox="1"/>
            <p:nvPr/>
          </p:nvSpPr>
          <p:spPr>
            <a:xfrm>
              <a:off x="653197" y="3381510"/>
              <a:ext cx="765616"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accept</a:t>
              </a:r>
              <a:r>
                <a:rPr lang="en-US" dirty="0"/>
                <a:t>(Person): void</a:t>
              </a:r>
            </a:p>
          </p:txBody>
        </p:sp>
      </p:grpSp>
      <p:grpSp>
        <p:nvGrpSpPr>
          <p:cNvPr id="2169" name="Group 2168">
            <a:extLst>
              <a:ext uri="{FF2B5EF4-FFF2-40B4-BE49-F238E27FC236}">
                <a16:creationId xmlns:a16="http://schemas.microsoft.com/office/drawing/2014/main" id="{84157CA1-DD47-565D-9F7B-A67F62B45550}"/>
              </a:ext>
            </a:extLst>
          </p:cNvPr>
          <p:cNvGrpSpPr/>
          <p:nvPr/>
        </p:nvGrpSpPr>
        <p:grpSpPr>
          <a:xfrm>
            <a:off x="7010350" y="826965"/>
            <a:ext cx="814281" cy="467769"/>
            <a:chOff x="626757" y="3130041"/>
            <a:chExt cx="814281" cy="467769"/>
          </a:xfrm>
        </p:grpSpPr>
        <p:sp>
          <p:nvSpPr>
            <p:cNvPr id="2170" name="TextBox 2169">
              <a:extLst>
                <a:ext uri="{FF2B5EF4-FFF2-40B4-BE49-F238E27FC236}">
                  <a16:creationId xmlns:a16="http://schemas.microsoft.com/office/drawing/2014/main" id="{928461DC-7883-514F-5141-5957E09EDF93}"/>
                </a:ext>
              </a:extLst>
            </p:cNvPr>
            <p:cNvSpPr txBox="1"/>
            <p:nvPr/>
          </p:nvSpPr>
          <p:spPr>
            <a:xfrm>
              <a:off x="902564" y="3151109"/>
              <a:ext cx="253275" cy="107722"/>
            </a:xfrm>
            <a:prstGeom prst="rect">
              <a:avLst/>
            </a:prstGeom>
            <a:noFill/>
          </p:spPr>
          <p:txBody>
            <a:bodyPr wrap="none" lIns="0" tIns="0" rIns="0" bIns="0" rtlCol="0">
              <a:spAutoFit/>
            </a:bodyPr>
            <a:lstStyle>
              <a:defPPr>
                <a:defRPr lang="en-US"/>
              </a:defPPr>
              <a:lvl1pPr algn="ctr">
                <a:defRPr sz="700" b="1"/>
              </a:lvl1pPr>
            </a:lstStyle>
            <a:p>
              <a:r>
                <a:rPr lang="en-US" dirty="0"/>
                <a:t>Owner</a:t>
              </a:r>
            </a:p>
          </p:txBody>
        </p:sp>
        <p:sp>
          <p:nvSpPr>
            <p:cNvPr id="2171" name="Rectangle: Rounded Corners 2170">
              <a:extLst>
                <a:ext uri="{FF2B5EF4-FFF2-40B4-BE49-F238E27FC236}">
                  <a16:creationId xmlns:a16="http://schemas.microsoft.com/office/drawing/2014/main" id="{2B68E23B-DDF1-5519-7C70-3C51633B8256}"/>
                </a:ext>
              </a:extLst>
            </p:cNvPr>
            <p:cNvSpPr/>
            <p:nvPr/>
          </p:nvSpPr>
          <p:spPr>
            <a:xfrm>
              <a:off x="626759" y="3130041"/>
              <a:ext cx="809826" cy="467769"/>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72" name="Straight Connector 2171">
              <a:extLst>
                <a:ext uri="{FF2B5EF4-FFF2-40B4-BE49-F238E27FC236}">
                  <a16:creationId xmlns:a16="http://schemas.microsoft.com/office/drawing/2014/main" id="{B9E42115-9254-6D33-B5A6-8398A9F89312}"/>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2173" name="TextBox 2172">
              <a:extLst>
                <a:ext uri="{FF2B5EF4-FFF2-40B4-BE49-F238E27FC236}">
                  <a16:creationId xmlns:a16="http://schemas.microsoft.com/office/drawing/2014/main" id="{B619CACC-9DB5-B365-217A-47ABA00B11D2}"/>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174" name="Straight Connector 2173">
              <a:extLst>
                <a:ext uri="{FF2B5EF4-FFF2-40B4-BE49-F238E27FC236}">
                  <a16:creationId xmlns:a16="http://schemas.microsoft.com/office/drawing/2014/main" id="{EEB9615F-CBDB-59A6-C4A6-732938834577}"/>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2175" name="TextBox 2174">
              <a:extLst>
                <a:ext uri="{FF2B5EF4-FFF2-40B4-BE49-F238E27FC236}">
                  <a16:creationId xmlns:a16="http://schemas.microsoft.com/office/drawing/2014/main" id="{BB1625C0-702A-B4E6-1792-F1AA92AFC5F1}"/>
                </a:ext>
              </a:extLst>
            </p:cNvPr>
            <p:cNvSpPr txBox="1"/>
            <p:nvPr/>
          </p:nvSpPr>
          <p:spPr>
            <a:xfrm>
              <a:off x="653197" y="3381510"/>
              <a:ext cx="765616"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feed</a:t>
              </a:r>
              <a:r>
                <a:rPr lang="en-US" dirty="0"/>
                <a:t>(Cat): void</a:t>
              </a:r>
            </a:p>
            <a:p>
              <a:r>
                <a:rPr lang="en-US" dirty="0"/>
                <a:t>+ </a:t>
              </a:r>
              <a:r>
                <a:rPr lang="en-US" altLang="zh-CN" dirty="0"/>
                <a:t>feed</a:t>
              </a:r>
              <a:r>
                <a:rPr lang="en-US" dirty="0"/>
                <a:t>(Dog): void</a:t>
              </a:r>
            </a:p>
          </p:txBody>
        </p:sp>
      </p:grpSp>
      <p:grpSp>
        <p:nvGrpSpPr>
          <p:cNvPr id="2624" name="Group 2623">
            <a:extLst>
              <a:ext uri="{FF2B5EF4-FFF2-40B4-BE49-F238E27FC236}">
                <a16:creationId xmlns:a16="http://schemas.microsoft.com/office/drawing/2014/main" id="{9AD95560-7991-AD6F-1CDB-CDFF88AFD4B9}"/>
              </a:ext>
            </a:extLst>
          </p:cNvPr>
          <p:cNvGrpSpPr/>
          <p:nvPr/>
        </p:nvGrpSpPr>
        <p:grpSpPr>
          <a:xfrm>
            <a:off x="7927165" y="826965"/>
            <a:ext cx="814281" cy="467769"/>
            <a:chOff x="626757" y="3130041"/>
            <a:chExt cx="814281" cy="467769"/>
          </a:xfrm>
        </p:grpSpPr>
        <p:sp>
          <p:nvSpPr>
            <p:cNvPr id="2628" name="TextBox 2627">
              <a:extLst>
                <a:ext uri="{FF2B5EF4-FFF2-40B4-BE49-F238E27FC236}">
                  <a16:creationId xmlns:a16="http://schemas.microsoft.com/office/drawing/2014/main" id="{D36503E0-035B-065A-C51E-768885621481}"/>
                </a:ext>
              </a:extLst>
            </p:cNvPr>
            <p:cNvSpPr txBox="1"/>
            <p:nvPr/>
          </p:nvSpPr>
          <p:spPr>
            <a:xfrm>
              <a:off x="854475" y="3151109"/>
              <a:ext cx="349456" cy="107722"/>
            </a:xfrm>
            <a:prstGeom prst="rect">
              <a:avLst/>
            </a:prstGeom>
            <a:noFill/>
          </p:spPr>
          <p:txBody>
            <a:bodyPr wrap="none" lIns="0" tIns="0" rIns="0" bIns="0" rtlCol="0">
              <a:spAutoFit/>
            </a:bodyPr>
            <a:lstStyle>
              <a:defPPr>
                <a:defRPr lang="en-US"/>
              </a:defPPr>
              <a:lvl1pPr algn="ctr">
                <a:defRPr sz="700" b="1"/>
              </a:lvl1pPr>
            </a:lstStyle>
            <a:p>
              <a:r>
                <a:rPr lang="en-US" dirty="0"/>
                <a:t>Someone</a:t>
              </a:r>
            </a:p>
          </p:txBody>
        </p:sp>
        <p:sp>
          <p:nvSpPr>
            <p:cNvPr id="2629" name="Rectangle: Rounded Corners 2628">
              <a:extLst>
                <a:ext uri="{FF2B5EF4-FFF2-40B4-BE49-F238E27FC236}">
                  <a16:creationId xmlns:a16="http://schemas.microsoft.com/office/drawing/2014/main" id="{991EF7B8-3F93-35FC-6E05-535E9F1A2B86}"/>
                </a:ext>
              </a:extLst>
            </p:cNvPr>
            <p:cNvSpPr/>
            <p:nvPr/>
          </p:nvSpPr>
          <p:spPr>
            <a:xfrm>
              <a:off x="626759" y="3130041"/>
              <a:ext cx="809826" cy="467769"/>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0" name="Straight Connector 2629">
              <a:extLst>
                <a:ext uri="{FF2B5EF4-FFF2-40B4-BE49-F238E27FC236}">
                  <a16:creationId xmlns:a16="http://schemas.microsoft.com/office/drawing/2014/main" id="{5FDEAB7F-2C8B-2A3E-C4DF-3DC28A0CFB66}"/>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2631" name="TextBox 2630">
              <a:extLst>
                <a:ext uri="{FF2B5EF4-FFF2-40B4-BE49-F238E27FC236}">
                  <a16:creationId xmlns:a16="http://schemas.microsoft.com/office/drawing/2014/main" id="{0C3EADE4-90E7-AAD3-7AC0-9CCE6EF90F72}"/>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632" name="Straight Connector 2631">
              <a:extLst>
                <a:ext uri="{FF2B5EF4-FFF2-40B4-BE49-F238E27FC236}">
                  <a16:creationId xmlns:a16="http://schemas.microsoft.com/office/drawing/2014/main" id="{3276BF02-28AF-EDEE-CFCD-6A7896DF4A4E}"/>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2633" name="TextBox 2632">
              <a:extLst>
                <a:ext uri="{FF2B5EF4-FFF2-40B4-BE49-F238E27FC236}">
                  <a16:creationId xmlns:a16="http://schemas.microsoft.com/office/drawing/2014/main" id="{B43D4852-C041-B6E9-072B-379C119F49E6}"/>
                </a:ext>
              </a:extLst>
            </p:cNvPr>
            <p:cNvSpPr txBox="1"/>
            <p:nvPr/>
          </p:nvSpPr>
          <p:spPr>
            <a:xfrm>
              <a:off x="653197" y="3381510"/>
              <a:ext cx="765616"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feed</a:t>
              </a:r>
              <a:r>
                <a:rPr lang="en-US" dirty="0"/>
                <a:t>(Cat): void</a:t>
              </a:r>
            </a:p>
            <a:p>
              <a:r>
                <a:rPr lang="en-US" dirty="0"/>
                <a:t>+ </a:t>
              </a:r>
              <a:r>
                <a:rPr lang="en-US" altLang="zh-CN" dirty="0"/>
                <a:t>feed</a:t>
              </a:r>
              <a:r>
                <a:rPr lang="en-US" dirty="0"/>
                <a:t>(Dog): void</a:t>
              </a:r>
            </a:p>
          </p:txBody>
        </p:sp>
      </p:grpSp>
      <p:grpSp>
        <p:nvGrpSpPr>
          <p:cNvPr id="2634" name="Group 2633">
            <a:extLst>
              <a:ext uri="{FF2B5EF4-FFF2-40B4-BE49-F238E27FC236}">
                <a16:creationId xmlns:a16="http://schemas.microsoft.com/office/drawing/2014/main" id="{56D4A1C1-9609-76F7-9245-FA191F55C9BA}"/>
              </a:ext>
            </a:extLst>
          </p:cNvPr>
          <p:cNvGrpSpPr/>
          <p:nvPr/>
        </p:nvGrpSpPr>
        <p:grpSpPr>
          <a:xfrm>
            <a:off x="7466031" y="153535"/>
            <a:ext cx="814281" cy="467769"/>
            <a:chOff x="626757" y="3130041"/>
            <a:chExt cx="814281" cy="467769"/>
          </a:xfrm>
        </p:grpSpPr>
        <p:sp>
          <p:nvSpPr>
            <p:cNvPr id="2635" name="TextBox 2634">
              <a:extLst>
                <a:ext uri="{FF2B5EF4-FFF2-40B4-BE49-F238E27FC236}">
                  <a16:creationId xmlns:a16="http://schemas.microsoft.com/office/drawing/2014/main" id="{5E45E9D0-23BA-339D-A71A-21C09E46AA61}"/>
                </a:ext>
              </a:extLst>
            </p:cNvPr>
            <p:cNvSpPr txBox="1"/>
            <p:nvPr/>
          </p:nvSpPr>
          <p:spPr>
            <a:xfrm>
              <a:off x="689367" y="3151109"/>
              <a:ext cx="679673" cy="107722"/>
            </a:xfrm>
            <a:prstGeom prst="rect">
              <a:avLst/>
            </a:prstGeom>
            <a:noFill/>
          </p:spPr>
          <p:txBody>
            <a:bodyPr wrap="none" lIns="0" tIns="0" rIns="0" bIns="0" rtlCol="0">
              <a:spAutoFit/>
            </a:bodyPr>
            <a:lstStyle>
              <a:defPPr>
                <a:defRPr lang="en-US"/>
              </a:defPPr>
              <a:lvl1pPr algn="ctr">
                <a:defRPr sz="700" b="1"/>
              </a:lvl1pPr>
            </a:lstStyle>
            <a:p>
              <a:r>
                <a:rPr lang="en-US" dirty="0"/>
                <a:t>&lt;interface&gt;Person</a:t>
              </a:r>
            </a:p>
          </p:txBody>
        </p:sp>
        <p:sp>
          <p:nvSpPr>
            <p:cNvPr id="2636" name="Rectangle: Rounded Corners 2635">
              <a:extLst>
                <a:ext uri="{FF2B5EF4-FFF2-40B4-BE49-F238E27FC236}">
                  <a16:creationId xmlns:a16="http://schemas.microsoft.com/office/drawing/2014/main" id="{C3593AED-FB56-625C-2E35-BE40030E5BA5}"/>
                </a:ext>
              </a:extLst>
            </p:cNvPr>
            <p:cNvSpPr/>
            <p:nvPr/>
          </p:nvSpPr>
          <p:spPr>
            <a:xfrm>
              <a:off x="626759" y="3130041"/>
              <a:ext cx="809826" cy="467769"/>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7" name="Straight Connector 2636">
              <a:extLst>
                <a:ext uri="{FF2B5EF4-FFF2-40B4-BE49-F238E27FC236}">
                  <a16:creationId xmlns:a16="http://schemas.microsoft.com/office/drawing/2014/main" id="{50B86568-BBD5-3C38-695E-3964A16FD6A1}"/>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2638" name="TextBox 2637">
              <a:extLst>
                <a:ext uri="{FF2B5EF4-FFF2-40B4-BE49-F238E27FC236}">
                  <a16:creationId xmlns:a16="http://schemas.microsoft.com/office/drawing/2014/main" id="{ECDA4BA1-2FC4-84BD-1EC6-44DE39D2BF6A}"/>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639" name="Straight Connector 2638">
              <a:extLst>
                <a:ext uri="{FF2B5EF4-FFF2-40B4-BE49-F238E27FC236}">
                  <a16:creationId xmlns:a16="http://schemas.microsoft.com/office/drawing/2014/main" id="{6B0C2FB8-6525-9DA2-2921-D8DE9FCEEE55}"/>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2640" name="TextBox 2639">
              <a:extLst>
                <a:ext uri="{FF2B5EF4-FFF2-40B4-BE49-F238E27FC236}">
                  <a16:creationId xmlns:a16="http://schemas.microsoft.com/office/drawing/2014/main" id="{6D9F3663-E648-91C1-69E8-C4E855A1036E}"/>
                </a:ext>
              </a:extLst>
            </p:cNvPr>
            <p:cNvSpPr txBox="1"/>
            <p:nvPr/>
          </p:nvSpPr>
          <p:spPr>
            <a:xfrm>
              <a:off x="653197" y="3381510"/>
              <a:ext cx="765616"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feed</a:t>
              </a:r>
              <a:r>
                <a:rPr lang="en-US" dirty="0"/>
                <a:t>(Cat): void</a:t>
              </a:r>
            </a:p>
            <a:p>
              <a:r>
                <a:rPr lang="en-US" dirty="0"/>
                <a:t>+ </a:t>
              </a:r>
              <a:r>
                <a:rPr lang="en-US" altLang="zh-CN" dirty="0"/>
                <a:t>feed</a:t>
              </a:r>
              <a:r>
                <a:rPr lang="en-US" dirty="0"/>
                <a:t>(Dog): void</a:t>
              </a:r>
            </a:p>
          </p:txBody>
        </p:sp>
      </p:grpSp>
      <p:grpSp>
        <p:nvGrpSpPr>
          <p:cNvPr id="2641" name="Group 2640">
            <a:extLst>
              <a:ext uri="{FF2B5EF4-FFF2-40B4-BE49-F238E27FC236}">
                <a16:creationId xmlns:a16="http://schemas.microsoft.com/office/drawing/2014/main" id="{C6609E23-DC2D-DFAF-1F57-D0856F6E9B0E}"/>
              </a:ext>
            </a:extLst>
          </p:cNvPr>
          <p:cNvGrpSpPr/>
          <p:nvPr/>
        </p:nvGrpSpPr>
        <p:grpSpPr>
          <a:xfrm>
            <a:off x="5494288" y="200637"/>
            <a:ext cx="814281" cy="362756"/>
            <a:chOff x="626757" y="3130042"/>
            <a:chExt cx="814281" cy="362756"/>
          </a:xfrm>
        </p:grpSpPr>
        <p:sp>
          <p:nvSpPr>
            <p:cNvPr id="2642" name="TextBox 2641">
              <a:extLst>
                <a:ext uri="{FF2B5EF4-FFF2-40B4-BE49-F238E27FC236}">
                  <a16:creationId xmlns:a16="http://schemas.microsoft.com/office/drawing/2014/main" id="{327062DC-FA74-323F-322D-F2B9A4DDF4D4}"/>
                </a:ext>
              </a:extLst>
            </p:cNvPr>
            <p:cNvSpPr txBox="1"/>
            <p:nvPr/>
          </p:nvSpPr>
          <p:spPr>
            <a:xfrm>
              <a:off x="684559" y="3151109"/>
              <a:ext cx="689292" cy="107722"/>
            </a:xfrm>
            <a:prstGeom prst="rect">
              <a:avLst/>
            </a:prstGeom>
            <a:noFill/>
          </p:spPr>
          <p:txBody>
            <a:bodyPr wrap="none" lIns="0" tIns="0" rIns="0" bIns="0" rtlCol="0">
              <a:spAutoFit/>
            </a:bodyPr>
            <a:lstStyle>
              <a:defPPr>
                <a:defRPr lang="en-US"/>
              </a:defPPr>
              <a:lvl1pPr algn="ctr">
                <a:defRPr sz="700" b="1"/>
              </a:lvl1pPr>
            </a:lstStyle>
            <a:p>
              <a:r>
                <a:rPr lang="en-US" dirty="0"/>
                <a:t>&lt;interface&gt;Animal</a:t>
              </a:r>
            </a:p>
          </p:txBody>
        </p:sp>
        <p:sp>
          <p:nvSpPr>
            <p:cNvPr id="2643" name="Rectangle: Rounded Corners 2642">
              <a:extLst>
                <a:ext uri="{FF2B5EF4-FFF2-40B4-BE49-F238E27FC236}">
                  <a16:creationId xmlns:a16="http://schemas.microsoft.com/office/drawing/2014/main" id="{6CBC847F-9708-3A34-94D6-7122B8A8B876}"/>
                </a:ext>
              </a:extLst>
            </p:cNvPr>
            <p:cNvSpPr/>
            <p:nvPr/>
          </p:nvSpPr>
          <p:spPr>
            <a:xfrm>
              <a:off x="626759" y="3130042"/>
              <a:ext cx="809826" cy="36275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44" name="Straight Connector 2643">
              <a:extLst>
                <a:ext uri="{FF2B5EF4-FFF2-40B4-BE49-F238E27FC236}">
                  <a16:creationId xmlns:a16="http://schemas.microsoft.com/office/drawing/2014/main" id="{C5B5D7D3-FC8E-9E20-505A-AEF5EF58A656}"/>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2645" name="TextBox 2644">
              <a:extLst>
                <a:ext uri="{FF2B5EF4-FFF2-40B4-BE49-F238E27FC236}">
                  <a16:creationId xmlns:a16="http://schemas.microsoft.com/office/drawing/2014/main" id="{1A549C3C-0740-0958-47B9-3388959E149A}"/>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2646" name="Straight Connector 2645">
              <a:extLst>
                <a:ext uri="{FF2B5EF4-FFF2-40B4-BE49-F238E27FC236}">
                  <a16:creationId xmlns:a16="http://schemas.microsoft.com/office/drawing/2014/main" id="{C4D4B7B6-FFA1-249F-7626-BF945746571E}"/>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2647" name="TextBox 2646">
              <a:extLst>
                <a:ext uri="{FF2B5EF4-FFF2-40B4-BE49-F238E27FC236}">
                  <a16:creationId xmlns:a16="http://schemas.microsoft.com/office/drawing/2014/main" id="{07AEA0D4-D78A-AA4E-22BD-4F6AF5ACC3A0}"/>
                </a:ext>
              </a:extLst>
            </p:cNvPr>
            <p:cNvSpPr txBox="1"/>
            <p:nvPr/>
          </p:nvSpPr>
          <p:spPr>
            <a:xfrm>
              <a:off x="653197" y="3381510"/>
              <a:ext cx="765616"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accept</a:t>
              </a:r>
              <a:r>
                <a:rPr lang="en-US" dirty="0"/>
                <a:t>(Person): void</a:t>
              </a:r>
            </a:p>
          </p:txBody>
        </p:sp>
      </p:grpSp>
      <p:grpSp>
        <p:nvGrpSpPr>
          <p:cNvPr id="2648" name="Group 2647">
            <a:extLst>
              <a:ext uri="{FF2B5EF4-FFF2-40B4-BE49-F238E27FC236}">
                <a16:creationId xmlns:a16="http://schemas.microsoft.com/office/drawing/2014/main" id="{6D28C51F-34C0-9224-4C7E-AF5CE4417A01}"/>
              </a:ext>
            </a:extLst>
          </p:cNvPr>
          <p:cNvGrpSpPr/>
          <p:nvPr/>
        </p:nvGrpSpPr>
        <p:grpSpPr>
          <a:xfrm>
            <a:off x="6466806" y="149140"/>
            <a:ext cx="814281" cy="467769"/>
            <a:chOff x="626757" y="3130041"/>
            <a:chExt cx="814281" cy="467769"/>
          </a:xfrm>
        </p:grpSpPr>
        <p:sp>
          <p:nvSpPr>
            <p:cNvPr id="2649" name="TextBox 2648">
              <a:extLst>
                <a:ext uri="{FF2B5EF4-FFF2-40B4-BE49-F238E27FC236}">
                  <a16:creationId xmlns:a16="http://schemas.microsoft.com/office/drawing/2014/main" id="{66B5974B-5177-4AAD-F488-628634CE508B}"/>
                </a:ext>
              </a:extLst>
            </p:cNvPr>
            <p:cNvSpPr txBox="1"/>
            <p:nvPr/>
          </p:nvSpPr>
          <p:spPr>
            <a:xfrm>
              <a:off x="917792" y="3151109"/>
              <a:ext cx="222818" cy="107722"/>
            </a:xfrm>
            <a:prstGeom prst="rect">
              <a:avLst/>
            </a:prstGeom>
            <a:noFill/>
          </p:spPr>
          <p:txBody>
            <a:bodyPr wrap="none" lIns="0" tIns="0" rIns="0" bIns="0" rtlCol="0">
              <a:spAutoFit/>
            </a:bodyPr>
            <a:lstStyle>
              <a:defPPr>
                <a:defRPr lang="en-US"/>
              </a:defPPr>
              <a:lvl1pPr algn="ctr">
                <a:defRPr sz="700" b="1"/>
              </a:lvl1pPr>
            </a:lstStyle>
            <a:p>
              <a:r>
                <a:rPr lang="en-US" dirty="0"/>
                <a:t>Home</a:t>
              </a:r>
            </a:p>
          </p:txBody>
        </p:sp>
        <p:sp>
          <p:nvSpPr>
            <p:cNvPr id="2650" name="Rectangle: Rounded Corners 2649">
              <a:extLst>
                <a:ext uri="{FF2B5EF4-FFF2-40B4-BE49-F238E27FC236}">
                  <a16:creationId xmlns:a16="http://schemas.microsoft.com/office/drawing/2014/main" id="{E48CCED1-AA01-DBDD-BAD2-150796D0B58E}"/>
                </a:ext>
              </a:extLst>
            </p:cNvPr>
            <p:cNvSpPr/>
            <p:nvPr/>
          </p:nvSpPr>
          <p:spPr>
            <a:xfrm>
              <a:off x="626759" y="3130041"/>
              <a:ext cx="809826" cy="467769"/>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51" name="Straight Connector 2650">
              <a:extLst>
                <a:ext uri="{FF2B5EF4-FFF2-40B4-BE49-F238E27FC236}">
                  <a16:creationId xmlns:a16="http://schemas.microsoft.com/office/drawing/2014/main" id="{AC0E2776-BA81-C4F8-89A5-6381317EAA7F}"/>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2652" name="TextBox 2651">
              <a:extLst>
                <a:ext uri="{FF2B5EF4-FFF2-40B4-BE49-F238E27FC236}">
                  <a16:creationId xmlns:a16="http://schemas.microsoft.com/office/drawing/2014/main" id="{DE465CD8-6C67-EC81-9CA4-AD824AC1473D}"/>
                </a:ext>
              </a:extLst>
            </p:cNvPr>
            <p:cNvSpPr txBox="1"/>
            <p:nvPr/>
          </p:nvSpPr>
          <p:spPr>
            <a:xfrm>
              <a:off x="657950" y="3276104"/>
              <a:ext cx="761311"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nodeList</a:t>
              </a:r>
              <a:r>
                <a:rPr lang="en-US" dirty="0"/>
                <a:t>: List&lt;Animal&gt;</a:t>
              </a:r>
            </a:p>
          </p:txBody>
        </p:sp>
        <p:cxnSp>
          <p:nvCxnSpPr>
            <p:cNvPr id="2653" name="Straight Connector 2652">
              <a:extLst>
                <a:ext uri="{FF2B5EF4-FFF2-40B4-BE49-F238E27FC236}">
                  <a16:creationId xmlns:a16="http://schemas.microsoft.com/office/drawing/2014/main" id="{731D54E2-287B-737E-6A97-965B9B3CD2EF}"/>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2654" name="TextBox 2653">
              <a:extLst>
                <a:ext uri="{FF2B5EF4-FFF2-40B4-BE49-F238E27FC236}">
                  <a16:creationId xmlns:a16="http://schemas.microsoft.com/office/drawing/2014/main" id="{95E14C68-8C62-25B6-9A06-6C87A6E4BD23}"/>
                </a:ext>
              </a:extLst>
            </p:cNvPr>
            <p:cNvSpPr txBox="1"/>
            <p:nvPr/>
          </p:nvSpPr>
          <p:spPr>
            <a:xfrm>
              <a:off x="653197" y="3381510"/>
              <a:ext cx="765616"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action</a:t>
              </a:r>
              <a:r>
                <a:rPr lang="en-US" dirty="0"/>
                <a:t>(Person): void</a:t>
              </a:r>
            </a:p>
            <a:p>
              <a:r>
                <a:rPr lang="en-US" dirty="0"/>
                <a:t>+ </a:t>
              </a:r>
              <a:r>
                <a:rPr lang="en-US" altLang="zh-CN" dirty="0"/>
                <a:t>add</a:t>
              </a:r>
              <a:r>
                <a:rPr lang="en-US" dirty="0"/>
                <a:t>(Animal): void</a:t>
              </a:r>
            </a:p>
          </p:txBody>
        </p:sp>
      </p:grpSp>
      <p:cxnSp>
        <p:nvCxnSpPr>
          <p:cNvPr id="2655" name="Connector: Elbow 2654">
            <a:extLst>
              <a:ext uri="{FF2B5EF4-FFF2-40B4-BE49-F238E27FC236}">
                <a16:creationId xmlns:a16="http://schemas.microsoft.com/office/drawing/2014/main" id="{B7F87FF6-3F27-DF44-32C5-4C274F6DD5EA}"/>
              </a:ext>
            </a:extLst>
          </p:cNvPr>
          <p:cNvCxnSpPr>
            <a:cxnSpLocks/>
            <a:stCxn id="2145" idx="1"/>
            <a:endCxn id="2164" idx="2"/>
          </p:cNvCxnSpPr>
          <p:nvPr/>
        </p:nvCxnSpPr>
        <p:spPr>
          <a:xfrm rot="10800000">
            <a:off x="5462450" y="1249655"/>
            <a:ext cx="987171" cy="406077"/>
          </a:xfrm>
          <a:prstGeom prst="bentConnector2">
            <a:avLst/>
          </a:prstGeom>
          <a:ln>
            <a:prstDash val="dash"/>
          </a:ln>
        </p:spPr>
        <p:style>
          <a:lnRef idx="1">
            <a:schemeClr val="dk1"/>
          </a:lnRef>
          <a:fillRef idx="0">
            <a:schemeClr val="dk1"/>
          </a:fillRef>
          <a:effectRef idx="0">
            <a:schemeClr val="dk1"/>
          </a:effectRef>
          <a:fontRef idx="minor">
            <a:schemeClr val="tx1"/>
          </a:fontRef>
        </p:style>
      </p:cxnSp>
      <p:cxnSp>
        <p:nvCxnSpPr>
          <p:cNvPr id="2662" name="Connector: Elbow 2661">
            <a:extLst>
              <a:ext uri="{FF2B5EF4-FFF2-40B4-BE49-F238E27FC236}">
                <a16:creationId xmlns:a16="http://schemas.microsoft.com/office/drawing/2014/main" id="{1B5A4E04-6D9A-1378-DE41-D75C820783A3}"/>
              </a:ext>
            </a:extLst>
          </p:cNvPr>
          <p:cNvCxnSpPr>
            <a:cxnSpLocks/>
            <a:stCxn id="2145" idx="1"/>
            <a:endCxn id="2152" idx="2"/>
          </p:cNvCxnSpPr>
          <p:nvPr/>
        </p:nvCxnSpPr>
        <p:spPr>
          <a:xfrm rot="10800000">
            <a:off x="6332482" y="1250269"/>
            <a:ext cx="117139" cy="405462"/>
          </a:xfrm>
          <a:prstGeom prst="bentConnector2">
            <a:avLst/>
          </a:prstGeom>
          <a:ln>
            <a:prstDash val="dash"/>
          </a:ln>
        </p:spPr>
        <p:style>
          <a:lnRef idx="1">
            <a:schemeClr val="dk1"/>
          </a:lnRef>
          <a:fillRef idx="0">
            <a:schemeClr val="dk1"/>
          </a:fillRef>
          <a:effectRef idx="0">
            <a:schemeClr val="dk1"/>
          </a:effectRef>
          <a:fontRef idx="minor">
            <a:schemeClr val="tx1"/>
          </a:fontRef>
        </p:style>
      </p:cxnSp>
      <p:cxnSp>
        <p:nvCxnSpPr>
          <p:cNvPr id="2665" name="Connector: Elbow 2664">
            <a:extLst>
              <a:ext uri="{FF2B5EF4-FFF2-40B4-BE49-F238E27FC236}">
                <a16:creationId xmlns:a16="http://schemas.microsoft.com/office/drawing/2014/main" id="{49BB5088-07F6-C366-E737-76E4B45A5471}"/>
              </a:ext>
            </a:extLst>
          </p:cNvPr>
          <p:cNvCxnSpPr>
            <a:cxnSpLocks/>
            <a:stCxn id="2145" idx="3"/>
            <a:endCxn id="2171" idx="2"/>
          </p:cNvCxnSpPr>
          <p:nvPr/>
        </p:nvCxnSpPr>
        <p:spPr>
          <a:xfrm flipV="1">
            <a:off x="7296254" y="1294734"/>
            <a:ext cx="119011" cy="360997"/>
          </a:xfrm>
          <a:prstGeom prst="bentConnector2">
            <a:avLst/>
          </a:prstGeom>
          <a:ln>
            <a:prstDash val="dash"/>
          </a:ln>
        </p:spPr>
        <p:style>
          <a:lnRef idx="1">
            <a:schemeClr val="dk1"/>
          </a:lnRef>
          <a:fillRef idx="0">
            <a:schemeClr val="dk1"/>
          </a:fillRef>
          <a:effectRef idx="0">
            <a:schemeClr val="dk1"/>
          </a:effectRef>
          <a:fontRef idx="minor">
            <a:schemeClr val="tx1"/>
          </a:fontRef>
        </p:style>
      </p:cxnSp>
      <p:cxnSp>
        <p:nvCxnSpPr>
          <p:cNvPr id="2668" name="Connector: Elbow 2667">
            <a:extLst>
              <a:ext uri="{FF2B5EF4-FFF2-40B4-BE49-F238E27FC236}">
                <a16:creationId xmlns:a16="http://schemas.microsoft.com/office/drawing/2014/main" id="{1EEA88E0-3463-0FE1-3275-B5CA6991C3FA}"/>
              </a:ext>
            </a:extLst>
          </p:cNvPr>
          <p:cNvCxnSpPr>
            <a:cxnSpLocks/>
            <a:stCxn id="2145" idx="3"/>
            <a:endCxn id="2629" idx="2"/>
          </p:cNvCxnSpPr>
          <p:nvPr/>
        </p:nvCxnSpPr>
        <p:spPr>
          <a:xfrm flipV="1">
            <a:off x="7296254" y="1294734"/>
            <a:ext cx="1035826" cy="360997"/>
          </a:xfrm>
          <a:prstGeom prst="bentConnector2">
            <a:avLst/>
          </a:prstGeom>
          <a:ln>
            <a:prstDash val="dash"/>
          </a:ln>
        </p:spPr>
        <p:style>
          <a:lnRef idx="1">
            <a:schemeClr val="dk1"/>
          </a:lnRef>
          <a:fillRef idx="0">
            <a:schemeClr val="dk1"/>
          </a:fillRef>
          <a:effectRef idx="0">
            <a:schemeClr val="dk1"/>
          </a:effectRef>
          <a:fontRef idx="minor">
            <a:schemeClr val="tx1"/>
          </a:fontRef>
        </p:style>
      </p:cxnSp>
      <p:cxnSp>
        <p:nvCxnSpPr>
          <p:cNvPr id="2673" name="Connector: Elbow 2672">
            <a:extLst>
              <a:ext uri="{FF2B5EF4-FFF2-40B4-BE49-F238E27FC236}">
                <a16:creationId xmlns:a16="http://schemas.microsoft.com/office/drawing/2014/main" id="{5155D7FA-037B-8A09-ED70-9C2029B5EA7A}"/>
              </a:ext>
            </a:extLst>
          </p:cNvPr>
          <p:cNvCxnSpPr>
            <a:cxnSpLocks/>
            <a:stCxn id="2171" idx="0"/>
            <a:endCxn id="2636" idx="2"/>
          </p:cNvCxnSpPr>
          <p:nvPr/>
        </p:nvCxnSpPr>
        <p:spPr>
          <a:xfrm rot="5400000" flipH="1" flipV="1">
            <a:off x="7540275" y="496295"/>
            <a:ext cx="205661" cy="455681"/>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676" name="Connector: Elbow 2675">
            <a:extLst>
              <a:ext uri="{FF2B5EF4-FFF2-40B4-BE49-F238E27FC236}">
                <a16:creationId xmlns:a16="http://schemas.microsoft.com/office/drawing/2014/main" id="{367CE410-8D27-6E43-61F1-655C9E9D1BA7}"/>
              </a:ext>
            </a:extLst>
          </p:cNvPr>
          <p:cNvCxnSpPr>
            <a:cxnSpLocks/>
            <a:stCxn id="2629" idx="0"/>
            <a:endCxn id="2636" idx="2"/>
          </p:cNvCxnSpPr>
          <p:nvPr/>
        </p:nvCxnSpPr>
        <p:spPr>
          <a:xfrm rot="16200000" flipV="1">
            <a:off x="7998683" y="493568"/>
            <a:ext cx="205661" cy="461134"/>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679" name="Connector: Elbow 2678">
            <a:extLst>
              <a:ext uri="{FF2B5EF4-FFF2-40B4-BE49-F238E27FC236}">
                <a16:creationId xmlns:a16="http://schemas.microsoft.com/office/drawing/2014/main" id="{0D0680F3-D7F4-702A-9F94-BFED64275614}"/>
              </a:ext>
            </a:extLst>
          </p:cNvPr>
          <p:cNvCxnSpPr>
            <a:cxnSpLocks/>
            <a:stCxn id="2152" idx="0"/>
            <a:endCxn id="2643" idx="2"/>
          </p:cNvCxnSpPr>
          <p:nvPr/>
        </p:nvCxnSpPr>
        <p:spPr>
          <a:xfrm rot="16200000" flipV="1">
            <a:off x="5953782" y="508814"/>
            <a:ext cx="324120" cy="433278"/>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687" name="Connector: Elbow 2686">
            <a:extLst>
              <a:ext uri="{FF2B5EF4-FFF2-40B4-BE49-F238E27FC236}">
                <a16:creationId xmlns:a16="http://schemas.microsoft.com/office/drawing/2014/main" id="{A9BB7EB8-0771-ED42-BA0B-F30E26C3EA17}"/>
              </a:ext>
            </a:extLst>
          </p:cNvPr>
          <p:cNvCxnSpPr>
            <a:cxnSpLocks/>
            <a:stCxn id="2164" idx="0"/>
            <a:endCxn id="2643" idx="2"/>
          </p:cNvCxnSpPr>
          <p:nvPr/>
        </p:nvCxnSpPr>
        <p:spPr>
          <a:xfrm rot="5400000" flipH="1" flipV="1">
            <a:off x="5519074" y="506769"/>
            <a:ext cx="323505" cy="436754"/>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3089" name="Straight Connector 3088">
            <a:extLst>
              <a:ext uri="{FF2B5EF4-FFF2-40B4-BE49-F238E27FC236}">
                <a16:creationId xmlns:a16="http://schemas.microsoft.com/office/drawing/2014/main" id="{423E6DA0-DA52-C1E2-A8A7-F3CAAD6002D5}"/>
              </a:ext>
            </a:extLst>
          </p:cNvPr>
          <p:cNvCxnSpPr>
            <a:stCxn id="2643" idx="3"/>
            <a:endCxn id="2650" idx="1"/>
          </p:cNvCxnSpPr>
          <p:nvPr/>
        </p:nvCxnSpPr>
        <p:spPr>
          <a:xfrm>
            <a:off x="6304116" y="382015"/>
            <a:ext cx="162692" cy="1010"/>
          </a:xfrm>
          <a:prstGeom prst="line">
            <a:avLst/>
          </a:prstGeom>
        </p:spPr>
        <p:style>
          <a:lnRef idx="1">
            <a:schemeClr val="dk1"/>
          </a:lnRef>
          <a:fillRef idx="0">
            <a:schemeClr val="dk1"/>
          </a:fillRef>
          <a:effectRef idx="0">
            <a:schemeClr val="dk1"/>
          </a:effectRef>
          <a:fontRef idx="minor">
            <a:schemeClr val="tx1"/>
          </a:fontRef>
        </p:style>
      </p:cxnSp>
      <p:cxnSp>
        <p:nvCxnSpPr>
          <p:cNvPr id="3090" name="Straight Connector 3089">
            <a:extLst>
              <a:ext uri="{FF2B5EF4-FFF2-40B4-BE49-F238E27FC236}">
                <a16:creationId xmlns:a16="http://schemas.microsoft.com/office/drawing/2014/main" id="{EB56E9E1-96AE-4F39-E3E5-52367483680B}"/>
              </a:ext>
            </a:extLst>
          </p:cNvPr>
          <p:cNvCxnSpPr>
            <a:cxnSpLocks/>
            <a:stCxn id="2145" idx="0"/>
            <a:endCxn id="2650" idx="2"/>
          </p:cNvCxnSpPr>
          <p:nvPr/>
        </p:nvCxnSpPr>
        <p:spPr>
          <a:xfrm flipH="1" flipV="1">
            <a:off x="6871721" y="616909"/>
            <a:ext cx="1216" cy="874876"/>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3100" name="Diamond 3099">
            <a:extLst>
              <a:ext uri="{FF2B5EF4-FFF2-40B4-BE49-F238E27FC236}">
                <a16:creationId xmlns:a16="http://schemas.microsoft.com/office/drawing/2014/main" id="{8D13DC30-143C-0CCC-8914-6B4D836E5546}"/>
              </a:ext>
            </a:extLst>
          </p:cNvPr>
          <p:cNvSpPr/>
          <p:nvPr/>
        </p:nvSpPr>
        <p:spPr>
          <a:xfrm>
            <a:off x="6369887" y="359155"/>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1" name="Isosceles Triangle 3100">
            <a:extLst>
              <a:ext uri="{FF2B5EF4-FFF2-40B4-BE49-F238E27FC236}">
                <a16:creationId xmlns:a16="http://schemas.microsoft.com/office/drawing/2014/main" id="{40CFF4FC-C701-BFCB-9A3D-4AF1BA520457}"/>
              </a:ext>
            </a:extLst>
          </p:cNvPr>
          <p:cNvSpPr/>
          <p:nvPr/>
        </p:nvSpPr>
        <p:spPr>
          <a:xfrm>
            <a:off x="5873712" y="571615"/>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9" name="Isosceles Triangle 3108">
            <a:extLst>
              <a:ext uri="{FF2B5EF4-FFF2-40B4-BE49-F238E27FC236}">
                <a16:creationId xmlns:a16="http://schemas.microsoft.com/office/drawing/2014/main" id="{4624DE15-0B77-EDB5-17E1-2862AA1E0DDB}"/>
              </a:ext>
            </a:extLst>
          </p:cNvPr>
          <p:cNvSpPr/>
          <p:nvPr/>
        </p:nvSpPr>
        <p:spPr>
          <a:xfrm>
            <a:off x="7845454" y="627069"/>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0" name="Isosceles Triangle 3109">
            <a:extLst>
              <a:ext uri="{FF2B5EF4-FFF2-40B4-BE49-F238E27FC236}">
                <a16:creationId xmlns:a16="http://schemas.microsoft.com/office/drawing/2014/main" id="{C4A5E0C9-3227-6BA6-682D-F3CAE30CFF93}"/>
              </a:ext>
            </a:extLst>
          </p:cNvPr>
          <p:cNvSpPr/>
          <p:nvPr/>
        </p:nvSpPr>
        <p:spPr>
          <a:xfrm>
            <a:off x="5435419" y="1252216"/>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1" name="Isosceles Triangle 3110">
            <a:extLst>
              <a:ext uri="{FF2B5EF4-FFF2-40B4-BE49-F238E27FC236}">
                <a16:creationId xmlns:a16="http://schemas.microsoft.com/office/drawing/2014/main" id="{D2808E17-E29A-BC80-48F8-4938F7E3975E}"/>
              </a:ext>
            </a:extLst>
          </p:cNvPr>
          <p:cNvSpPr/>
          <p:nvPr/>
        </p:nvSpPr>
        <p:spPr>
          <a:xfrm>
            <a:off x="6308626" y="1255762"/>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2" name="Isosceles Triangle 3111">
            <a:extLst>
              <a:ext uri="{FF2B5EF4-FFF2-40B4-BE49-F238E27FC236}">
                <a16:creationId xmlns:a16="http://schemas.microsoft.com/office/drawing/2014/main" id="{E8FFA818-36A8-20E5-5877-FB6711620503}"/>
              </a:ext>
            </a:extLst>
          </p:cNvPr>
          <p:cNvSpPr/>
          <p:nvPr/>
        </p:nvSpPr>
        <p:spPr>
          <a:xfrm>
            <a:off x="6847682" y="627069"/>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4" name="Isosceles Triangle 3113">
            <a:extLst>
              <a:ext uri="{FF2B5EF4-FFF2-40B4-BE49-F238E27FC236}">
                <a16:creationId xmlns:a16="http://schemas.microsoft.com/office/drawing/2014/main" id="{08DA36D2-23A3-F3A2-9ED2-39CEBB15701C}"/>
              </a:ext>
            </a:extLst>
          </p:cNvPr>
          <p:cNvSpPr/>
          <p:nvPr/>
        </p:nvSpPr>
        <p:spPr>
          <a:xfrm>
            <a:off x="7386142" y="1301906"/>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6" name="Isosceles Triangle 3115">
            <a:extLst>
              <a:ext uri="{FF2B5EF4-FFF2-40B4-BE49-F238E27FC236}">
                <a16:creationId xmlns:a16="http://schemas.microsoft.com/office/drawing/2014/main" id="{56F5DBDB-0634-EFD1-D081-B49E8E27A2D3}"/>
              </a:ext>
            </a:extLst>
          </p:cNvPr>
          <p:cNvSpPr/>
          <p:nvPr/>
        </p:nvSpPr>
        <p:spPr>
          <a:xfrm>
            <a:off x="8306045" y="1301083"/>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60" name="Group 3259">
            <a:extLst>
              <a:ext uri="{FF2B5EF4-FFF2-40B4-BE49-F238E27FC236}">
                <a16:creationId xmlns:a16="http://schemas.microsoft.com/office/drawing/2014/main" id="{E9B9AC62-AD6A-C1CF-2B66-CF8BA8B3F91B}"/>
              </a:ext>
            </a:extLst>
          </p:cNvPr>
          <p:cNvGrpSpPr/>
          <p:nvPr/>
        </p:nvGrpSpPr>
        <p:grpSpPr>
          <a:xfrm>
            <a:off x="225658" y="270447"/>
            <a:ext cx="1054017" cy="467769"/>
            <a:chOff x="626757" y="3130041"/>
            <a:chExt cx="1054017" cy="467769"/>
          </a:xfrm>
        </p:grpSpPr>
        <p:sp>
          <p:nvSpPr>
            <p:cNvPr id="3261" name="TextBox 3260">
              <a:extLst>
                <a:ext uri="{FF2B5EF4-FFF2-40B4-BE49-F238E27FC236}">
                  <a16:creationId xmlns:a16="http://schemas.microsoft.com/office/drawing/2014/main" id="{B3FE1420-892C-D515-588A-4EFA973E2119}"/>
                </a:ext>
              </a:extLst>
            </p:cNvPr>
            <p:cNvSpPr txBox="1"/>
            <p:nvPr/>
          </p:nvSpPr>
          <p:spPr>
            <a:xfrm>
              <a:off x="650115" y="3151109"/>
              <a:ext cx="1007218" cy="107722"/>
            </a:xfrm>
            <a:prstGeom prst="rect">
              <a:avLst/>
            </a:prstGeom>
            <a:noFill/>
          </p:spPr>
          <p:txBody>
            <a:bodyPr wrap="square" lIns="0" tIns="0" rIns="0" bIns="0" rtlCol="0">
              <a:spAutoFit/>
            </a:bodyPr>
            <a:lstStyle>
              <a:defPPr>
                <a:defRPr lang="en-US"/>
              </a:defPPr>
              <a:lvl1pPr algn="ctr">
                <a:defRPr sz="700" b="1"/>
              </a:lvl1pPr>
            </a:lstStyle>
            <a:p>
              <a:r>
                <a:rPr lang="en-US" dirty="0"/>
                <a:t>C</a:t>
              </a:r>
              <a:r>
                <a:rPr lang="en-US" altLang="zh-CN" dirty="0"/>
                <a:t>ontext</a:t>
              </a:r>
              <a:endParaRPr lang="en-US" dirty="0"/>
            </a:p>
          </p:txBody>
        </p:sp>
        <p:sp>
          <p:nvSpPr>
            <p:cNvPr id="3262" name="Rectangle: Rounded Corners 3261">
              <a:extLst>
                <a:ext uri="{FF2B5EF4-FFF2-40B4-BE49-F238E27FC236}">
                  <a16:creationId xmlns:a16="http://schemas.microsoft.com/office/drawing/2014/main" id="{05111879-0723-86FE-DBCB-0610667046E8}"/>
                </a:ext>
              </a:extLst>
            </p:cNvPr>
            <p:cNvSpPr/>
            <p:nvPr/>
          </p:nvSpPr>
          <p:spPr>
            <a:xfrm>
              <a:off x="626759" y="3130041"/>
              <a:ext cx="1050840" cy="467769"/>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63" name="Straight Connector 3262">
              <a:extLst>
                <a:ext uri="{FF2B5EF4-FFF2-40B4-BE49-F238E27FC236}">
                  <a16:creationId xmlns:a16="http://schemas.microsoft.com/office/drawing/2014/main" id="{06A30636-D9EB-B3E8-E00E-427F8BDBBCF3}"/>
                </a:ext>
              </a:extLst>
            </p:cNvPr>
            <p:cNvCxnSpPr>
              <a:cxnSpLocks/>
            </p:cNvCxnSpPr>
            <p:nvPr/>
          </p:nvCxnSpPr>
          <p:spPr>
            <a:xfrm>
              <a:off x="626759" y="3262639"/>
              <a:ext cx="1050840" cy="0"/>
            </a:xfrm>
            <a:prstGeom prst="line">
              <a:avLst/>
            </a:prstGeom>
          </p:spPr>
          <p:style>
            <a:lnRef idx="1">
              <a:schemeClr val="dk1"/>
            </a:lnRef>
            <a:fillRef idx="0">
              <a:schemeClr val="dk1"/>
            </a:fillRef>
            <a:effectRef idx="0">
              <a:schemeClr val="dk1"/>
            </a:effectRef>
            <a:fontRef idx="minor">
              <a:schemeClr val="tx1"/>
            </a:fontRef>
          </p:style>
        </p:cxnSp>
        <p:sp>
          <p:nvSpPr>
            <p:cNvPr id="3264" name="TextBox 3263">
              <a:extLst>
                <a:ext uri="{FF2B5EF4-FFF2-40B4-BE49-F238E27FC236}">
                  <a16:creationId xmlns:a16="http://schemas.microsoft.com/office/drawing/2014/main" id="{BEB512AF-7583-7E60-8498-737460C56F3B}"/>
                </a:ext>
              </a:extLst>
            </p:cNvPr>
            <p:cNvSpPr txBox="1"/>
            <p:nvPr/>
          </p:nvSpPr>
          <p:spPr>
            <a:xfrm>
              <a:off x="657950" y="3276104"/>
              <a:ext cx="977443"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map</a:t>
              </a:r>
              <a:r>
                <a:rPr lang="en-US" dirty="0"/>
                <a:t>: Map&lt;Variable, Integer&gt;</a:t>
              </a:r>
            </a:p>
          </p:txBody>
        </p:sp>
        <p:cxnSp>
          <p:nvCxnSpPr>
            <p:cNvPr id="3265" name="Straight Connector 3264">
              <a:extLst>
                <a:ext uri="{FF2B5EF4-FFF2-40B4-BE49-F238E27FC236}">
                  <a16:creationId xmlns:a16="http://schemas.microsoft.com/office/drawing/2014/main" id="{AA7DAE26-CB3F-B7E9-FE19-214D498825EC}"/>
                </a:ext>
              </a:extLst>
            </p:cNvPr>
            <p:cNvCxnSpPr>
              <a:cxnSpLocks/>
            </p:cNvCxnSpPr>
            <p:nvPr/>
          </p:nvCxnSpPr>
          <p:spPr>
            <a:xfrm>
              <a:off x="626757" y="3374558"/>
              <a:ext cx="1054017" cy="0"/>
            </a:xfrm>
            <a:prstGeom prst="line">
              <a:avLst/>
            </a:prstGeom>
          </p:spPr>
          <p:style>
            <a:lnRef idx="1">
              <a:schemeClr val="dk1"/>
            </a:lnRef>
            <a:fillRef idx="0">
              <a:schemeClr val="dk1"/>
            </a:fillRef>
            <a:effectRef idx="0">
              <a:schemeClr val="dk1"/>
            </a:effectRef>
            <a:fontRef idx="minor">
              <a:schemeClr val="tx1"/>
            </a:fontRef>
          </p:style>
        </p:cxnSp>
        <p:sp>
          <p:nvSpPr>
            <p:cNvPr id="3266" name="TextBox 3265">
              <a:extLst>
                <a:ext uri="{FF2B5EF4-FFF2-40B4-BE49-F238E27FC236}">
                  <a16:creationId xmlns:a16="http://schemas.microsoft.com/office/drawing/2014/main" id="{D8FDB3C1-831D-7524-0C66-5B67CD1C8735}"/>
                </a:ext>
              </a:extLst>
            </p:cNvPr>
            <p:cNvSpPr txBox="1"/>
            <p:nvPr/>
          </p:nvSpPr>
          <p:spPr>
            <a:xfrm>
              <a:off x="653197" y="3391035"/>
              <a:ext cx="1010486" cy="184666"/>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assign</a:t>
              </a:r>
              <a:r>
                <a:rPr lang="en-US" dirty="0"/>
                <a:t>(Variable, Integer): void</a:t>
              </a:r>
            </a:p>
            <a:p>
              <a:r>
                <a:rPr lang="en-US" dirty="0"/>
                <a:t>+ </a:t>
              </a:r>
              <a:r>
                <a:rPr lang="en-US" altLang="zh-CN" dirty="0" err="1"/>
                <a:t>getValue</a:t>
              </a:r>
              <a:r>
                <a:rPr lang="en-US" dirty="0"/>
                <a:t>(Variable): void</a:t>
              </a:r>
            </a:p>
          </p:txBody>
        </p:sp>
      </p:grpSp>
      <p:grpSp>
        <p:nvGrpSpPr>
          <p:cNvPr id="3271" name="Group 3270">
            <a:extLst>
              <a:ext uri="{FF2B5EF4-FFF2-40B4-BE49-F238E27FC236}">
                <a16:creationId xmlns:a16="http://schemas.microsoft.com/office/drawing/2014/main" id="{32F7C357-78E3-5D36-8229-C4F30F779EA4}"/>
              </a:ext>
            </a:extLst>
          </p:cNvPr>
          <p:cNvGrpSpPr/>
          <p:nvPr/>
        </p:nvGrpSpPr>
        <p:grpSpPr>
          <a:xfrm>
            <a:off x="322636" y="1069571"/>
            <a:ext cx="858004" cy="537993"/>
            <a:chOff x="626757" y="3130041"/>
            <a:chExt cx="858004" cy="537993"/>
          </a:xfrm>
        </p:grpSpPr>
        <p:sp>
          <p:nvSpPr>
            <p:cNvPr id="3272" name="TextBox 3271">
              <a:extLst>
                <a:ext uri="{FF2B5EF4-FFF2-40B4-BE49-F238E27FC236}">
                  <a16:creationId xmlns:a16="http://schemas.microsoft.com/office/drawing/2014/main" id="{0532AB0B-DC47-51AF-545A-65FD62534A1E}"/>
                </a:ext>
              </a:extLst>
            </p:cNvPr>
            <p:cNvSpPr txBox="1"/>
            <p:nvPr/>
          </p:nvSpPr>
          <p:spPr>
            <a:xfrm>
              <a:off x="650115" y="3151109"/>
              <a:ext cx="806071" cy="107722"/>
            </a:xfrm>
            <a:prstGeom prst="rect">
              <a:avLst/>
            </a:prstGeom>
            <a:noFill/>
          </p:spPr>
          <p:txBody>
            <a:bodyPr wrap="square" lIns="0" tIns="0" rIns="0" bIns="0" rtlCol="0">
              <a:spAutoFit/>
            </a:bodyPr>
            <a:lstStyle>
              <a:defPPr>
                <a:defRPr lang="en-US"/>
              </a:defPPr>
              <a:lvl1pPr algn="ctr">
                <a:defRPr sz="700" b="1"/>
              </a:lvl1pPr>
            </a:lstStyle>
            <a:p>
              <a:r>
                <a:rPr lang="en-US" dirty="0"/>
                <a:t>Variable</a:t>
              </a:r>
            </a:p>
          </p:txBody>
        </p:sp>
        <p:sp>
          <p:nvSpPr>
            <p:cNvPr id="3273" name="Rectangle: Rounded Corners 3272">
              <a:extLst>
                <a:ext uri="{FF2B5EF4-FFF2-40B4-BE49-F238E27FC236}">
                  <a16:creationId xmlns:a16="http://schemas.microsoft.com/office/drawing/2014/main" id="{F663E75C-74E2-9451-F2E9-9091CC403D0E}"/>
                </a:ext>
              </a:extLst>
            </p:cNvPr>
            <p:cNvSpPr/>
            <p:nvPr/>
          </p:nvSpPr>
          <p:spPr>
            <a:xfrm>
              <a:off x="626759" y="3130041"/>
              <a:ext cx="858002" cy="536247"/>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74" name="Straight Connector 3273">
              <a:extLst>
                <a:ext uri="{FF2B5EF4-FFF2-40B4-BE49-F238E27FC236}">
                  <a16:creationId xmlns:a16="http://schemas.microsoft.com/office/drawing/2014/main" id="{5A8D0CBB-E909-7949-A838-661D311F3C79}"/>
                </a:ext>
              </a:extLst>
            </p:cNvPr>
            <p:cNvCxnSpPr>
              <a:cxnSpLocks/>
            </p:cNvCxnSpPr>
            <p:nvPr/>
          </p:nvCxnSpPr>
          <p:spPr>
            <a:xfrm>
              <a:off x="626759" y="3262639"/>
              <a:ext cx="854827" cy="0"/>
            </a:xfrm>
            <a:prstGeom prst="line">
              <a:avLst/>
            </a:prstGeom>
          </p:spPr>
          <p:style>
            <a:lnRef idx="1">
              <a:schemeClr val="dk1"/>
            </a:lnRef>
            <a:fillRef idx="0">
              <a:schemeClr val="dk1"/>
            </a:fillRef>
            <a:effectRef idx="0">
              <a:schemeClr val="dk1"/>
            </a:effectRef>
            <a:fontRef idx="minor">
              <a:schemeClr val="tx1"/>
            </a:fontRef>
          </p:style>
        </p:cxnSp>
        <p:sp>
          <p:nvSpPr>
            <p:cNvPr id="3275" name="TextBox 3274">
              <a:extLst>
                <a:ext uri="{FF2B5EF4-FFF2-40B4-BE49-F238E27FC236}">
                  <a16:creationId xmlns:a16="http://schemas.microsoft.com/office/drawing/2014/main" id="{F501A835-E61F-155F-CB0B-8C3B6CCACE5E}"/>
                </a:ext>
              </a:extLst>
            </p:cNvPr>
            <p:cNvSpPr txBox="1"/>
            <p:nvPr/>
          </p:nvSpPr>
          <p:spPr>
            <a:xfrm>
              <a:off x="657951" y="3276104"/>
              <a:ext cx="804586" cy="92333"/>
            </a:xfrm>
            <a:prstGeom prst="rect">
              <a:avLst/>
            </a:prstGeom>
            <a:noFill/>
          </p:spPr>
          <p:txBody>
            <a:bodyPr wrap="square" lIns="0" tIns="0" rIns="0" bIns="0" rtlCol="0">
              <a:spAutoFit/>
            </a:bodyPr>
            <a:lstStyle>
              <a:defPPr>
                <a:defRPr lang="en-US"/>
              </a:defPPr>
              <a:lvl1pPr>
                <a:defRPr sz="600"/>
              </a:lvl1pPr>
            </a:lstStyle>
            <a:p>
              <a:r>
                <a:rPr lang="en-US" dirty="0"/>
                <a:t>- name: String</a:t>
              </a:r>
            </a:p>
          </p:txBody>
        </p:sp>
        <p:cxnSp>
          <p:nvCxnSpPr>
            <p:cNvPr id="3276" name="Straight Connector 3275">
              <a:extLst>
                <a:ext uri="{FF2B5EF4-FFF2-40B4-BE49-F238E27FC236}">
                  <a16:creationId xmlns:a16="http://schemas.microsoft.com/office/drawing/2014/main" id="{7050F547-DF3A-104B-6A7A-5581C6BB2726}"/>
                </a:ext>
              </a:extLst>
            </p:cNvPr>
            <p:cNvCxnSpPr>
              <a:cxnSpLocks/>
            </p:cNvCxnSpPr>
            <p:nvPr/>
          </p:nvCxnSpPr>
          <p:spPr>
            <a:xfrm>
              <a:off x="626757" y="3374558"/>
              <a:ext cx="854829" cy="0"/>
            </a:xfrm>
            <a:prstGeom prst="line">
              <a:avLst/>
            </a:prstGeom>
          </p:spPr>
          <p:style>
            <a:lnRef idx="1">
              <a:schemeClr val="dk1"/>
            </a:lnRef>
            <a:fillRef idx="0">
              <a:schemeClr val="dk1"/>
            </a:fillRef>
            <a:effectRef idx="0">
              <a:schemeClr val="dk1"/>
            </a:effectRef>
            <a:fontRef idx="minor">
              <a:schemeClr val="tx1"/>
            </a:fontRef>
          </p:style>
        </p:cxnSp>
        <p:sp>
          <p:nvSpPr>
            <p:cNvPr id="3277" name="TextBox 3276">
              <a:extLst>
                <a:ext uri="{FF2B5EF4-FFF2-40B4-BE49-F238E27FC236}">
                  <a16:creationId xmlns:a16="http://schemas.microsoft.com/office/drawing/2014/main" id="{41708204-413A-4641-A342-A69CE9CE548A}"/>
                </a:ext>
              </a:extLst>
            </p:cNvPr>
            <p:cNvSpPr txBox="1"/>
            <p:nvPr/>
          </p:nvSpPr>
          <p:spPr>
            <a:xfrm>
              <a:off x="653196" y="3391035"/>
              <a:ext cx="809339" cy="276999"/>
            </a:xfrm>
            <a:prstGeom prst="rect">
              <a:avLst/>
            </a:prstGeom>
            <a:noFill/>
          </p:spPr>
          <p:txBody>
            <a:bodyPr wrap="square" lIns="0" tIns="0" rIns="0" bIns="0" rtlCol="0">
              <a:spAutoFit/>
            </a:bodyPr>
            <a:lstStyle>
              <a:defPPr>
                <a:defRPr lang="en-US"/>
              </a:defPPr>
              <a:lvl1pPr>
                <a:defRPr sz="600"/>
              </a:lvl1pPr>
            </a:lstStyle>
            <a:p>
              <a:r>
                <a:rPr lang="en-US" dirty="0"/>
                <a:t>+ Variable(name)</a:t>
              </a:r>
            </a:p>
            <a:p>
              <a:r>
                <a:rPr lang="en-US" dirty="0"/>
                <a:t>+ </a:t>
              </a:r>
              <a:r>
                <a:rPr lang="en-US" altLang="zh-CN" dirty="0"/>
                <a:t>Interpret</a:t>
              </a:r>
              <a:r>
                <a:rPr lang="en-US" dirty="0"/>
                <a:t>(C</a:t>
              </a:r>
              <a:r>
                <a:rPr lang="en-US" altLang="zh-CN" dirty="0"/>
                <a:t>ontext</a:t>
              </a:r>
              <a:r>
                <a:rPr lang="en-US" dirty="0"/>
                <a:t>): void</a:t>
              </a:r>
            </a:p>
            <a:p>
              <a:r>
                <a:rPr lang="en-US" dirty="0"/>
                <a:t>+ </a:t>
              </a:r>
              <a:r>
                <a:rPr lang="en-US" dirty="0" err="1"/>
                <a:t>toString</a:t>
              </a:r>
              <a:r>
                <a:rPr lang="en-US" dirty="0"/>
                <a:t>(): String</a:t>
              </a:r>
            </a:p>
          </p:txBody>
        </p:sp>
      </p:grpSp>
      <p:grpSp>
        <p:nvGrpSpPr>
          <p:cNvPr id="3280" name="Group 3279">
            <a:extLst>
              <a:ext uri="{FF2B5EF4-FFF2-40B4-BE49-F238E27FC236}">
                <a16:creationId xmlns:a16="http://schemas.microsoft.com/office/drawing/2014/main" id="{DF65FBDC-08AC-3BC5-5835-ABAA5FFC99B5}"/>
              </a:ext>
            </a:extLst>
          </p:cNvPr>
          <p:cNvGrpSpPr/>
          <p:nvPr/>
        </p:nvGrpSpPr>
        <p:grpSpPr>
          <a:xfrm>
            <a:off x="1440988" y="1155417"/>
            <a:ext cx="858004" cy="365231"/>
            <a:chOff x="626757" y="3130041"/>
            <a:chExt cx="858004" cy="365231"/>
          </a:xfrm>
        </p:grpSpPr>
        <p:sp>
          <p:nvSpPr>
            <p:cNvPr id="3281" name="TextBox 3280">
              <a:extLst>
                <a:ext uri="{FF2B5EF4-FFF2-40B4-BE49-F238E27FC236}">
                  <a16:creationId xmlns:a16="http://schemas.microsoft.com/office/drawing/2014/main" id="{45EEE533-3E29-A5DB-67FA-1A5D6F663497}"/>
                </a:ext>
              </a:extLst>
            </p:cNvPr>
            <p:cNvSpPr txBox="1"/>
            <p:nvPr/>
          </p:nvSpPr>
          <p:spPr>
            <a:xfrm>
              <a:off x="650115" y="3151109"/>
              <a:ext cx="806071" cy="107722"/>
            </a:xfrm>
            <a:prstGeom prst="rect">
              <a:avLst/>
            </a:prstGeom>
            <a:noFill/>
          </p:spPr>
          <p:txBody>
            <a:bodyPr wrap="square" lIns="0" tIns="0" rIns="0" bIns="0" rtlCol="0">
              <a:spAutoFit/>
            </a:bodyPr>
            <a:lstStyle>
              <a:defPPr>
                <a:defRPr lang="en-US"/>
              </a:defPPr>
              <a:lvl1pPr algn="ctr">
                <a:defRPr sz="700" b="1"/>
              </a:lvl1pPr>
            </a:lstStyle>
            <a:p>
              <a:r>
                <a:rPr lang="en-US" i="1" dirty="0" err="1"/>
                <a:t>AbstractExpression</a:t>
              </a:r>
              <a:endParaRPr lang="en-US" i="1" dirty="0"/>
            </a:p>
          </p:txBody>
        </p:sp>
        <p:sp>
          <p:nvSpPr>
            <p:cNvPr id="3282" name="Rectangle: Rounded Corners 3281">
              <a:extLst>
                <a:ext uri="{FF2B5EF4-FFF2-40B4-BE49-F238E27FC236}">
                  <a16:creationId xmlns:a16="http://schemas.microsoft.com/office/drawing/2014/main" id="{00616A9D-33F4-A40F-77C4-A4B64722FC5F}"/>
                </a:ext>
              </a:extLst>
            </p:cNvPr>
            <p:cNvSpPr/>
            <p:nvPr/>
          </p:nvSpPr>
          <p:spPr>
            <a:xfrm>
              <a:off x="626759" y="3130041"/>
              <a:ext cx="858002" cy="365231"/>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83" name="Straight Connector 3282">
              <a:extLst>
                <a:ext uri="{FF2B5EF4-FFF2-40B4-BE49-F238E27FC236}">
                  <a16:creationId xmlns:a16="http://schemas.microsoft.com/office/drawing/2014/main" id="{2CDB69EA-494B-E997-7E0B-5DE62D3E7C8D}"/>
                </a:ext>
              </a:extLst>
            </p:cNvPr>
            <p:cNvCxnSpPr>
              <a:cxnSpLocks/>
            </p:cNvCxnSpPr>
            <p:nvPr/>
          </p:nvCxnSpPr>
          <p:spPr>
            <a:xfrm>
              <a:off x="626759" y="3262639"/>
              <a:ext cx="854827" cy="0"/>
            </a:xfrm>
            <a:prstGeom prst="line">
              <a:avLst/>
            </a:prstGeom>
          </p:spPr>
          <p:style>
            <a:lnRef idx="1">
              <a:schemeClr val="dk1"/>
            </a:lnRef>
            <a:fillRef idx="0">
              <a:schemeClr val="dk1"/>
            </a:fillRef>
            <a:effectRef idx="0">
              <a:schemeClr val="dk1"/>
            </a:effectRef>
            <a:fontRef idx="minor">
              <a:schemeClr val="tx1"/>
            </a:fontRef>
          </p:style>
        </p:cxnSp>
        <p:sp>
          <p:nvSpPr>
            <p:cNvPr id="3284" name="TextBox 3283">
              <a:extLst>
                <a:ext uri="{FF2B5EF4-FFF2-40B4-BE49-F238E27FC236}">
                  <a16:creationId xmlns:a16="http://schemas.microsoft.com/office/drawing/2014/main" id="{A74E0A43-FC7C-9FDB-0795-98BC79214C7E}"/>
                </a:ext>
              </a:extLst>
            </p:cNvPr>
            <p:cNvSpPr txBox="1"/>
            <p:nvPr/>
          </p:nvSpPr>
          <p:spPr>
            <a:xfrm>
              <a:off x="657951" y="3276104"/>
              <a:ext cx="804586"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3285" name="Straight Connector 3284">
              <a:extLst>
                <a:ext uri="{FF2B5EF4-FFF2-40B4-BE49-F238E27FC236}">
                  <a16:creationId xmlns:a16="http://schemas.microsoft.com/office/drawing/2014/main" id="{2978D06A-4AF6-909D-2D75-D5B1FC9665B9}"/>
                </a:ext>
              </a:extLst>
            </p:cNvPr>
            <p:cNvCxnSpPr>
              <a:cxnSpLocks/>
            </p:cNvCxnSpPr>
            <p:nvPr/>
          </p:nvCxnSpPr>
          <p:spPr>
            <a:xfrm>
              <a:off x="626757" y="3374558"/>
              <a:ext cx="854829" cy="0"/>
            </a:xfrm>
            <a:prstGeom prst="line">
              <a:avLst/>
            </a:prstGeom>
          </p:spPr>
          <p:style>
            <a:lnRef idx="1">
              <a:schemeClr val="dk1"/>
            </a:lnRef>
            <a:fillRef idx="0">
              <a:schemeClr val="dk1"/>
            </a:fillRef>
            <a:effectRef idx="0">
              <a:schemeClr val="dk1"/>
            </a:effectRef>
            <a:fontRef idx="minor">
              <a:schemeClr val="tx1"/>
            </a:fontRef>
          </p:style>
        </p:cxnSp>
        <p:sp>
          <p:nvSpPr>
            <p:cNvPr id="3286" name="TextBox 3285">
              <a:extLst>
                <a:ext uri="{FF2B5EF4-FFF2-40B4-BE49-F238E27FC236}">
                  <a16:creationId xmlns:a16="http://schemas.microsoft.com/office/drawing/2014/main" id="{729E7C68-BEB1-84CA-B8AE-C6E5CFE2407D}"/>
                </a:ext>
              </a:extLst>
            </p:cNvPr>
            <p:cNvSpPr txBox="1"/>
            <p:nvPr/>
          </p:nvSpPr>
          <p:spPr>
            <a:xfrm>
              <a:off x="653196" y="3391035"/>
              <a:ext cx="809339"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Interpret</a:t>
              </a:r>
              <a:r>
                <a:rPr lang="en-US" dirty="0"/>
                <a:t>(C</a:t>
              </a:r>
              <a:r>
                <a:rPr lang="en-US" altLang="zh-CN" dirty="0"/>
                <a:t>ontext</a:t>
              </a:r>
              <a:r>
                <a:rPr lang="en-US" dirty="0"/>
                <a:t>): void</a:t>
              </a:r>
            </a:p>
          </p:txBody>
        </p:sp>
      </p:grpSp>
      <p:grpSp>
        <p:nvGrpSpPr>
          <p:cNvPr id="3287" name="Group 3286">
            <a:extLst>
              <a:ext uri="{FF2B5EF4-FFF2-40B4-BE49-F238E27FC236}">
                <a16:creationId xmlns:a16="http://schemas.microsoft.com/office/drawing/2014/main" id="{202EC738-F2ED-BC25-F849-A2A3EF82B991}"/>
              </a:ext>
            </a:extLst>
          </p:cNvPr>
          <p:cNvGrpSpPr/>
          <p:nvPr/>
        </p:nvGrpSpPr>
        <p:grpSpPr>
          <a:xfrm>
            <a:off x="2544257" y="1069572"/>
            <a:ext cx="858004" cy="537993"/>
            <a:chOff x="626757" y="3130041"/>
            <a:chExt cx="858004" cy="537993"/>
          </a:xfrm>
        </p:grpSpPr>
        <p:sp>
          <p:nvSpPr>
            <p:cNvPr id="3288" name="TextBox 3287">
              <a:extLst>
                <a:ext uri="{FF2B5EF4-FFF2-40B4-BE49-F238E27FC236}">
                  <a16:creationId xmlns:a16="http://schemas.microsoft.com/office/drawing/2014/main" id="{66EC7683-C3D9-7A6C-F3A7-A756F9C06694}"/>
                </a:ext>
              </a:extLst>
            </p:cNvPr>
            <p:cNvSpPr txBox="1"/>
            <p:nvPr/>
          </p:nvSpPr>
          <p:spPr>
            <a:xfrm>
              <a:off x="650115" y="3151109"/>
              <a:ext cx="806071" cy="107722"/>
            </a:xfrm>
            <a:prstGeom prst="rect">
              <a:avLst/>
            </a:prstGeom>
            <a:noFill/>
          </p:spPr>
          <p:txBody>
            <a:bodyPr wrap="square" lIns="0" tIns="0" rIns="0" bIns="0" rtlCol="0">
              <a:spAutoFit/>
            </a:bodyPr>
            <a:lstStyle>
              <a:defPPr>
                <a:defRPr lang="en-US"/>
              </a:defPPr>
              <a:lvl1pPr algn="ctr">
                <a:defRPr sz="700" b="1"/>
              </a:lvl1pPr>
            </a:lstStyle>
            <a:p>
              <a:r>
                <a:rPr lang="en-US" dirty="0"/>
                <a:t>Value</a:t>
              </a:r>
            </a:p>
          </p:txBody>
        </p:sp>
        <p:sp>
          <p:nvSpPr>
            <p:cNvPr id="3289" name="Rectangle: Rounded Corners 3288">
              <a:extLst>
                <a:ext uri="{FF2B5EF4-FFF2-40B4-BE49-F238E27FC236}">
                  <a16:creationId xmlns:a16="http://schemas.microsoft.com/office/drawing/2014/main" id="{A91EC1BF-D5BB-82D0-AF7F-BDF8E97D3EB3}"/>
                </a:ext>
              </a:extLst>
            </p:cNvPr>
            <p:cNvSpPr/>
            <p:nvPr/>
          </p:nvSpPr>
          <p:spPr>
            <a:xfrm>
              <a:off x="626759" y="3130041"/>
              <a:ext cx="858002" cy="536247"/>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90" name="Straight Connector 3289">
              <a:extLst>
                <a:ext uri="{FF2B5EF4-FFF2-40B4-BE49-F238E27FC236}">
                  <a16:creationId xmlns:a16="http://schemas.microsoft.com/office/drawing/2014/main" id="{4015E77A-8770-B489-D7B6-31EC2980D494}"/>
                </a:ext>
              </a:extLst>
            </p:cNvPr>
            <p:cNvCxnSpPr>
              <a:cxnSpLocks/>
            </p:cNvCxnSpPr>
            <p:nvPr/>
          </p:nvCxnSpPr>
          <p:spPr>
            <a:xfrm>
              <a:off x="626759" y="3262639"/>
              <a:ext cx="854827" cy="0"/>
            </a:xfrm>
            <a:prstGeom prst="line">
              <a:avLst/>
            </a:prstGeom>
          </p:spPr>
          <p:style>
            <a:lnRef idx="1">
              <a:schemeClr val="dk1"/>
            </a:lnRef>
            <a:fillRef idx="0">
              <a:schemeClr val="dk1"/>
            </a:fillRef>
            <a:effectRef idx="0">
              <a:schemeClr val="dk1"/>
            </a:effectRef>
            <a:fontRef idx="minor">
              <a:schemeClr val="tx1"/>
            </a:fontRef>
          </p:style>
        </p:cxnSp>
        <p:sp>
          <p:nvSpPr>
            <p:cNvPr id="3291" name="TextBox 3290">
              <a:extLst>
                <a:ext uri="{FF2B5EF4-FFF2-40B4-BE49-F238E27FC236}">
                  <a16:creationId xmlns:a16="http://schemas.microsoft.com/office/drawing/2014/main" id="{1EC421A7-A9DA-67E8-07FD-B07DE4E78F02}"/>
                </a:ext>
              </a:extLst>
            </p:cNvPr>
            <p:cNvSpPr txBox="1"/>
            <p:nvPr/>
          </p:nvSpPr>
          <p:spPr>
            <a:xfrm>
              <a:off x="657951" y="3276104"/>
              <a:ext cx="804586" cy="92333"/>
            </a:xfrm>
            <a:prstGeom prst="rect">
              <a:avLst/>
            </a:prstGeom>
            <a:noFill/>
          </p:spPr>
          <p:txBody>
            <a:bodyPr wrap="square" lIns="0" tIns="0" rIns="0" bIns="0" rtlCol="0">
              <a:spAutoFit/>
            </a:bodyPr>
            <a:lstStyle>
              <a:defPPr>
                <a:defRPr lang="en-US"/>
              </a:defPPr>
              <a:lvl1pPr>
                <a:defRPr sz="600"/>
              </a:lvl1pPr>
            </a:lstStyle>
            <a:p>
              <a:r>
                <a:rPr lang="en-US" dirty="0"/>
                <a:t>- value: int</a:t>
              </a:r>
            </a:p>
          </p:txBody>
        </p:sp>
        <p:cxnSp>
          <p:nvCxnSpPr>
            <p:cNvPr id="3292" name="Straight Connector 3291">
              <a:extLst>
                <a:ext uri="{FF2B5EF4-FFF2-40B4-BE49-F238E27FC236}">
                  <a16:creationId xmlns:a16="http://schemas.microsoft.com/office/drawing/2014/main" id="{0B86BB5C-CB6D-914A-499C-44F782BF7F72}"/>
                </a:ext>
              </a:extLst>
            </p:cNvPr>
            <p:cNvCxnSpPr>
              <a:cxnSpLocks/>
            </p:cNvCxnSpPr>
            <p:nvPr/>
          </p:nvCxnSpPr>
          <p:spPr>
            <a:xfrm>
              <a:off x="626757" y="3374558"/>
              <a:ext cx="854829" cy="0"/>
            </a:xfrm>
            <a:prstGeom prst="line">
              <a:avLst/>
            </a:prstGeom>
          </p:spPr>
          <p:style>
            <a:lnRef idx="1">
              <a:schemeClr val="dk1"/>
            </a:lnRef>
            <a:fillRef idx="0">
              <a:schemeClr val="dk1"/>
            </a:fillRef>
            <a:effectRef idx="0">
              <a:schemeClr val="dk1"/>
            </a:effectRef>
            <a:fontRef idx="minor">
              <a:schemeClr val="tx1"/>
            </a:fontRef>
          </p:style>
        </p:cxnSp>
        <p:sp>
          <p:nvSpPr>
            <p:cNvPr id="3293" name="TextBox 3292">
              <a:extLst>
                <a:ext uri="{FF2B5EF4-FFF2-40B4-BE49-F238E27FC236}">
                  <a16:creationId xmlns:a16="http://schemas.microsoft.com/office/drawing/2014/main" id="{A8400478-827D-F69E-5B23-6CAEAED48B0D}"/>
                </a:ext>
              </a:extLst>
            </p:cNvPr>
            <p:cNvSpPr txBox="1"/>
            <p:nvPr/>
          </p:nvSpPr>
          <p:spPr>
            <a:xfrm>
              <a:off x="653196" y="3391035"/>
              <a:ext cx="809339" cy="276999"/>
            </a:xfrm>
            <a:prstGeom prst="rect">
              <a:avLst/>
            </a:prstGeom>
            <a:noFill/>
          </p:spPr>
          <p:txBody>
            <a:bodyPr wrap="square" lIns="0" tIns="0" rIns="0" bIns="0" rtlCol="0">
              <a:spAutoFit/>
            </a:bodyPr>
            <a:lstStyle>
              <a:defPPr>
                <a:defRPr lang="en-US"/>
              </a:defPPr>
              <a:lvl1pPr>
                <a:defRPr sz="600"/>
              </a:lvl1pPr>
            </a:lstStyle>
            <a:p>
              <a:r>
                <a:rPr lang="en-US" dirty="0"/>
                <a:t>+ Value(value)</a:t>
              </a:r>
            </a:p>
            <a:p>
              <a:r>
                <a:rPr lang="en-US" dirty="0"/>
                <a:t>+ </a:t>
              </a:r>
              <a:r>
                <a:rPr lang="en-US" altLang="zh-CN" dirty="0"/>
                <a:t>Interpret</a:t>
              </a:r>
              <a:r>
                <a:rPr lang="en-US" dirty="0"/>
                <a:t>(C</a:t>
              </a:r>
              <a:r>
                <a:rPr lang="en-US" altLang="zh-CN" dirty="0"/>
                <a:t>ontext</a:t>
              </a:r>
              <a:r>
                <a:rPr lang="en-US" dirty="0"/>
                <a:t>): void</a:t>
              </a:r>
            </a:p>
            <a:p>
              <a:r>
                <a:rPr lang="en-US" dirty="0"/>
                <a:t>+ </a:t>
              </a:r>
              <a:r>
                <a:rPr lang="en-US" dirty="0" err="1"/>
                <a:t>toString</a:t>
              </a:r>
              <a:r>
                <a:rPr lang="en-US" dirty="0"/>
                <a:t>(): String</a:t>
              </a:r>
            </a:p>
          </p:txBody>
        </p:sp>
      </p:grpSp>
      <p:grpSp>
        <p:nvGrpSpPr>
          <p:cNvPr id="3294" name="Group 3293">
            <a:extLst>
              <a:ext uri="{FF2B5EF4-FFF2-40B4-BE49-F238E27FC236}">
                <a16:creationId xmlns:a16="http://schemas.microsoft.com/office/drawing/2014/main" id="{428979B5-8963-39CC-597E-E485A9478FAE}"/>
              </a:ext>
            </a:extLst>
          </p:cNvPr>
          <p:cNvGrpSpPr/>
          <p:nvPr/>
        </p:nvGrpSpPr>
        <p:grpSpPr>
          <a:xfrm>
            <a:off x="794154" y="1936685"/>
            <a:ext cx="874204" cy="637154"/>
            <a:chOff x="626757" y="3130041"/>
            <a:chExt cx="874204" cy="637154"/>
          </a:xfrm>
        </p:grpSpPr>
        <p:sp>
          <p:nvSpPr>
            <p:cNvPr id="3295" name="TextBox 3294">
              <a:extLst>
                <a:ext uri="{FF2B5EF4-FFF2-40B4-BE49-F238E27FC236}">
                  <a16:creationId xmlns:a16="http://schemas.microsoft.com/office/drawing/2014/main" id="{369D39E8-64F3-4EC4-61C3-0E7FECEDE4C7}"/>
                </a:ext>
              </a:extLst>
            </p:cNvPr>
            <p:cNvSpPr txBox="1"/>
            <p:nvPr/>
          </p:nvSpPr>
          <p:spPr>
            <a:xfrm>
              <a:off x="650115" y="3151109"/>
              <a:ext cx="806071" cy="107722"/>
            </a:xfrm>
            <a:prstGeom prst="rect">
              <a:avLst/>
            </a:prstGeom>
            <a:noFill/>
          </p:spPr>
          <p:txBody>
            <a:bodyPr wrap="square" lIns="0" tIns="0" rIns="0" bIns="0" rtlCol="0">
              <a:spAutoFit/>
            </a:bodyPr>
            <a:lstStyle>
              <a:defPPr>
                <a:defRPr lang="en-US"/>
              </a:defPPr>
              <a:lvl1pPr algn="ctr">
                <a:defRPr sz="700" b="1"/>
              </a:lvl1pPr>
            </a:lstStyle>
            <a:p>
              <a:r>
                <a:rPr lang="en-US" dirty="0"/>
                <a:t>Plus</a:t>
              </a:r>
            </a:p>
          </p:txBody>
        </p:sp>
        <p:sp>
          <p:nvSpPr>
            <p:cNvPr id="3296" name="Rectangle: Rounded Corners 3295">
              <a:extLst>
                <a:ext uri="{FF2B5EF4-FFF2-40B4-BE49-F238E27FC236}">
                  <a16:creationId xmlns:a16="http://schemas.microsoft.com/office/drawing/2014/main" id="{E7CFCE1F-66D7-FA15-663A-BD679FA54E1D}"/>
                </a:ext>
              </a:extLst>
            </p:cNvPr>
            <p:cNvSpPr/>
            <p:nvPr/>
          </p:nvSpPr>
          <p:spPr>
            <a:xfrm>
              <a:off x="626758" y="3130041"/>
              <a:ext cx="874201" cy="637154"/>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97" name="Straight Connector 3296">
              <a:extLst>
                <a:ext uri="{FF2B5EF4-FFF2-40B4-BE49-F238E27FC236}">
                  <a16:creationId xmlns:a16="http://schemas.microsoft.com/office/drawing/2014/main" id="{CB59786B-051F-EF73-1B4B-CBCD61AB080F}"/>
                </a:ext>
              </a:extLst>
            </p:cNvPr>
            <p:cNvCxnSpPr>
              <a:cxnSpLocks/>
            </p:cNvCxnSpPr>
            <p:nvPr/>
          </p:nvCxnSpPr>
          <p:spPr>
            <a:xfrm>
              <a:off x="626759" y="3262639"/>
              <a:ext cx="866320" cy="0"/>
            </a:xfrm>
            <a:prstGeom prst="line">
              <a:avLst/>
            </a:prstGeom>
          </p:spPr>
          <p:style>
            <a:lnRef idx="1">
              <a:schemeClr val="dk1"/>
            </a:lnRef>
            <a:fillRef idx="0">
              <a:schemeClr val="dk1"/>
            </a:fillRef>
            <a:effectRef idx="0">
              <a:schemeClr val="dk1"/>
            </a:effectRef>
            <a:fontRef idx="minor">
              <a:schemeClr val="tx1"/>
            </a:fontRef>
          </p:style>
        </p:cxnSp>
        <p:sp>
          <p:nvSpPr>
            <p:cNvPr id="3298" name="TextBox 3297">
              <a:extLst>
                <a:ext uri="{FF2B5EF4-FFF2-40B4-BE49-F238E27FC236}">
                  <a16:creationId xmlns:a16="http://schemas.microsoft.com/office/drawing/2014/main" id="{89A88CD4-3C14-B5DA-DDAC-51D094E989A9}"/>
                </a:ext>
              </a:extLst>
            </p:cNvPr>
            <p:cNvSpPr txBox="1"/>
            <p:nvPr/>
          </p:nvSpPr>
          <p:spPr>
            <a:xfrm>
              <a:off x="657951" y="3276104"/>
              <a:ext cx="843010" cy="184666"/>
            </a:xfrm>
            <a:prstGeom prst="rect">
              <a:avLst/>
            </a:prstGeom>
            <a:noFill/>
          </p:spPr>
          <p:txBody>
            <a:bodyPr wrap="square" lIns="0" tIns="0" rIns="0" bIns="0" rtlCol="0">
              <a:spAutoFit/>
            </a:bodyPr>
            <a:lstStyle>
              <a:defPPr>
                <a:defRPr lang="en-US"/>
              </a:defPPr>
              <a:lvl1pPr>
                <a:defRPr sz="600"/>
              </a:lvl1pPr>
            </a:lstStyle>
            <a:p>
              <a:r>
                <a:rPr lang="en-US" dirty="0"/>
                <a:t>- left: </a:t>
              </a:r>
              <a:r>
                <a:rPr lang="en-US" dirty="0" err="1"/>
                <a:t>AbstractExpression</a:t>
              </a:r>
              <a:endParaRPr lang="en-US" dirty="0"/>
            </a:p>
            <a:p>
              <a:r>
                <a:rPr lang="en-US" dirty="0"/>
                <a:t>- right: </a:t>
              </a:r>
              <a:r>
                <a:rPr lang="en-US" dirty="0" err="1"/>
                <a:t>AbstractExpression</a:t>
              </a:r>
              <a:endParaRPr lang="en-US" dirty="0"/>
            </a:p>
          </p:txBody>
        </p:sp>
        <p:cxnSp>
          <p:nvCxnSpPr>
            <p:cNvPr id="3299" name="Straight Connector 3298">
              <a:extLst>
                <a:ext uri="{FF2B5EF4-FFF2-40B4-BE49-F238E27FC236}">
                  <a16:creationId xmlns:a16="http://schemas.microsoft.com/office/drawing/2014/main" id="{1661F61B-F82F-FDCC-AC8C-AA0BFFE9DA5B}"/>
                </a:ext>
              </a:extLst>
            </p:cNvPr>
            <p:cNvCxnSpPr>
              <a:cxnSpLocks/>
            </p:cNvCxnSpPr>
            <p:nvPr/>
          </p:nvCxnSpPr>
          <p:spPr>
            <a:xfrm>
              <a:off x="626757" y="3472983"/>
              <a:ext cx="872672" cy="0"/>
            </a:xfrm>
            <a:prstGeom prst="line">
              <a:avLst/>
            </a:prstGeom>
          </p:spPr>
          <p:style>
            <a:lnRef idx="1">
              <a:schemeClr val="dk1"/>
            </a:lnRef>
            <a:fillRef idx="0">
              <a:schemeClr val="dk1"/>
            </a:fillRef>
            <a:effectRef idx="0">
              <a:schemeClr val="dk1"/>
            </a:effectRef>
            <a:fontRef idx="minor">
              <a:schemeClr val="tx1"/>
            </a:fontRef>
          </p:style>
        </p:cxnSp>
        <p:sp>
          <p:nvSpPr>
            <p:cNvPr id="3300" name="TextBox 3299">
              <a:extLst>
                <a:ext uri="{FF2B5EF4-FFF2-40B4-BE49-F238E27FC236}">
                  <a16:creationId xmlns:a16="http://schemas.microsoft.com/office/drawing/2014/main" id="{17F90EC9-C2DE-E0F8-BF9E-C9956F38F99D}"/>
                </a:ext>
              </a:extLst>
            </p:cNvPr>
            <p:cNvSpPr txBox="1"/>
            <p:nvPr/>
          </p:nvSpPr>
          <p:spPr>
            <a:xfrm>
              <a:off x="653196" y="3483110"/>
              <a:ext cx="809339" cy="276999"/>
            </a:xfrm>
            <a:prstGeom prst="rect">
              <a:avLst/>
            </a:prstGeom>
            <a:noFill/>
          </p:spPr>
          <p:txBody>
            <a:bodyPr wrap="square" lIns="0" tIns="0" rIns="0" bIns="0" rtlCol="0">
              <a:spAutoFit/>
            </a:bodyPr>
            <a:lstStyle>
              <a:defPPr>
                <a:defRPr lang="en-US"/>
              </a:defPPr>
              <a:lvl1pPr>
                <a:defRPr sz="600"/>
              </a:lvl1pPr>
            </a:lstStyle>
            <a:p>
              <a:r>
                <a:rPr lang="en-US" dirty="0"/>
                <a:t>+ Plus(left, right)</a:t>
              </a:r>
            </a:p>
            <a:p>
              <a:r>
                <a:rPr lang="en-US" dirty="0"/>
                <a:t>+ </a:t>
              </a:r>
              <a:r>
                <a:rPr lang="en-US" altLang="zh-CN" dirty="0"/>
                <a:t>Interpret</a:t>
              </a:r>
              <a:r>
                <a:rPr lang="en-US" dirty="0"/>
                <a:t>(C</a:t>
              </a:r>
              <a:r>
                <a:rPr lang="en-US" altLang="zh-CN" dirty="0"/>
                <a:t>ontext</a:t>
              </a:r>
              <a:r>
                <a:rPr lang="en-US" dirty="0"/>
                <a:t>): void</a:t>
              </a:r>
            </a:p>
            <a:p>
              <a:r>
                <a:rPr lang="en-US" dirty="0"/>
                <a:t>+ </a:t>
              </a:r>
              <a:r>
                <a:rPr lang="en-US" dirty="0" err="1"/>
                <a:t>toString</a:t>
              </a:r>
              <a:r>
                <a:rPr lang="en-US" dirty="0"/>
                <a:t>(): String</a:t>
              </a:r>
            </a:p>
          </p:txBody>
        </p:sp>
      </p:grpSp>
      <p:grpSp>
        <p:nvGrpSpPr>
          <p:cNvPr id="3303" name="Group 3302">
            <a:extLst>
              <a:ext uri="{FF2B5EF4-FFF2-40B4-BE49-F238E27FC236}">
                <a16:creationId xmlns:a16="http://schemas.microsoft.com/office/drawing/2014/main" id="{3F968DF8-B706-8259-C9DD-62A6EBD7760E}"/>
              </a:ext>
            </a:extLst>
          </p:cNvPr>
          <p:cNvGrpSpPr/>
          <p:nvPr/>
        </p:nvGrpSpPr>
        <p:grpSpPr>
          <a:xfrm>
            <a:off x="2056357" y="1936685"/>
            <a:ext cx="874204" cy="637154"/>
            <a:chOff x="626757" y="3130041"/>
            <a:chExt cx="874204" cy="637154"/>
          </a:xfrm>
        </p:grpSpPr>
        <p:sp>
          <p:nvSpPr>
            <p:cNvPr id="3304" name="TextBox 3303">
              <a:extLst>
                <a:ext uri="{FF2B5EF4-FFF2-40B4-BE49-F238E27FC236}">
                  <a16:creationId xmlns:a16="http://schemas.microsoft.com/office/drawing/2014/main" id="{C375EE27-7D31-AF51-8EA4-5CC14BE987F9}"/>
                </a:ext>
              </a:extLst>
            </p:cNvPr>
            <p:cNvSpPr txBox="1"/>
            <p:nvPr/>
          </p:nvSpPr>
          <p:spPr>
            <a:xfrm>
              <a:off x="650115" y="3151109"/>
              <a:ext cx="806071" cy="107722"/>
            </a:xfrm>
            <a:prstGeom prst="rect">
              <a:avLst/>
            </a:prstGeom>
            <a:noFill/>
          </p:spPr>
          <p:txBody>
            <a:bodyPr wrap="square" lIns="0" tIns="0" rIns="0" bIns="0" rtlCol="0">
              <a:spAutoFit/>
            </a:bodyPr>
            <a:lstStyle>
              <a:defPPr>
                <a:defRPr lang="en-US"/>
              </a:defPPr>
              <a:lvl1pPr algn="ctr">
                <a:defRPr sz="700" b="1"/>
              </a:lvl1pPr>
            </a:lstStyle>
            <a:p>
              <a:r>
                <a:rPr lang="en-US" dirty="0"/>
                <a:t>Minus</a:t>
              </a:r>
            </a:p>
          </p:txBody>
        </p:sp>
        <p:sp>
          <p:nvSpPr>
            <p:cNvPr id="3305" name="Rectangle: Rounded Corners 3304">
              <a:extLst>
                <a:ext uri="{FF2B5EF4-FFF2-40B4-BE49-F238E27FC236}">
                  <a16:creationId xmlns:a16="http://schemas.microsoft.com/office/drawing/2014/main" id="{62EF767F-2651-71B1-6301-6FCDF5649D43}"/>
                </a:ext>
              </a:extLst>
            </p:cNvPr>
            <p:cNvSpPr/>
            <p:nvPr/>
          </p:nvSpPr>
          <p:spPr>
            <a:xfrm>
              <a:off x="626758" y="3130041"/>
              <a:ext cx="874201" cy="637154"/>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06" name="Straight Connector 3305">
              <a:extLst>
                <a:ext uri="{FF2B5EF4-FFF2-40B4-BE49-F238E27FC236}">
                  <a16:creationId xmlns:a16="http://schemas.microsoft.com/office/drawing/2014/main" id="{7B419FB1-24B3-1174-82A1-8137CF931FA2}"/>
                </a:ext>
              </a:extLst>
            </p:cNvPr>
            <p:cNvCxnSpPr>
              <a:cxnSpLocks/>
            </p:cNvCxnSpPr>
            <p:nvPr/>
          </p:nvCxnSpPr>
          <p:spPr>
            <a:xfrm>
              <a:off x="626759" y="3262639"/>
              <a:ext cx="866320" cy="0"/>
            </a:xfrm>
            <a:prstGeom prst="line">
              <a:avLst/>
            </a:prstGeom>
          </p:spPr>
          <p:style>
            <a:lnRef idx="1">
              <a:schemeClr val="dk1"/>
            </a:lnRef>
            <a:fillRef idx="0">
              <a:schemeClr val="dk1"/>
            </a:fillRef>
            <a:effectRef idx="0">
              <a:schemeClr val="dk1"/>
            </a:effectRef>
            <a:fontRef idx="minor">
              <a:schemeClr val="tx1"/>
            </a:fontRef>
          </p:style>
        </p:cxnSp>
        <p:sp>
          <p:nvSpPr>
            <p:cNvPr id="3307" name="TextBox 3306">
              <a:extLst>
                <a:ext uri="{FF2B5EF4-FFF2-40B4-BE49-F238E27FC236}">
                  <a16:creationId xmlns:a16="http://schemas.microsoft.com/office/drawing/2014/main" id="{1774C3E9-4E33-8AE0-CD80-CE0D50FEA8F6}"/>
                </a:ext>
              </a:extLst>
            </p:cNvPr>
            <p:cNvSpPr txBox="1"/>
            <p:nvPr/>
          </p:nvSpPr>
          <p:spPr>
            <a:xfrm>
              <a:off x="657951" y="3276104"/>
              <a:ext cx="843010" cy="184666"/>
            </a:xfrm>
            <a:prstGeom prst="rect">
              <a:avLst/>
            </a:prstGeom>
            <a:noFill/>
          </p:spPr>
          <p:txBody>
            <a:bodyPr wrap="square" lIns="0" tIns="0" rIns="0" bIns="0" rtlCol="0">
              <a:spAutoFit/>
            </a:bodyPr>
            <a:lstStyle>
              <a:defPPr>
                <a:defRPr lang="en-US"/>
              </a:defPPr>
              <a:lvl1pPr>
                <a:defRPr sz="600"/>
              </a:lvl1pPr>
            </a:lstStyle>
            <a:p>
              <a:r>
                <a:rPr lang="en-US" dirty="0"/>
                <a:t>- left: </a:t>
              </a:r>
              <a:r>
                <a:rPr lang="en-US" dirty="0" err="1"/>
                <a:t>AbstractExpression</a:t>
              </a:r>
              <a:endParaRPr lang="en-US" dirty="0"/>
            </a:p>
            <a:p>
              <a:r>
                <a:rPr lang="en-US" dirty="0"/>
                <a:t>- right: </a:t>
              </a:r>
              <a:r>
                <a:rPr lang="en-US" dirty="0" err="1"/>
                <a:t>AbstractExpression</a:t>
              </a:r>
              <a:endParaRPr lang="en-US" dirty="0"/>
            </a:p>
          </p:txBody>
        </p:sp>
        <p:cxnSp>
          <p:nvCxnSpPr>
            <p:cNvPr id="3308" name="Straight Connector 3307">
              <a:extLst>
                <a:ext uri="{FF2B5EF4-FFF2-40B4-BE49-F238E27FC236}">
                  <a16:creationId xmlns:a16="http://schemas.microsoft.com/office/drawing/2014/main" id="{5E61B2B8-686C-0F45-7B26-CF6181432851}"/>
                </a:ext>
              </a:extLst>
            </p:cNvPr>
            <p:cNvCxnSpPr>
              <a:cxnSpLocks/>
            </p:cNvCxnSpPr>
            <p:nvPr/>
          </p:nvCxnSpPr>
          <p:spPr>
            <a:xfrm>
              <a:off x="626757" y="3472983"/>
              <a:ext cx="872672" cy="0"/>
            </a:xfrm>
            <a:prstGeom prst="line">
              <a:avLst/>
            </a:prstGeom>
          </p:spPr>
          <p:style>
            <a:lnRef idx="1">
              <a:schemeClr val="dk1"/>
            </a:lnRef>
            <a:fillRef idx="0">
              <a:schemeClr val="dk1"/>
            </a:fillRef>
            <a:effectRef idx="0">
              <a:schemeClr val="dk1"/>
            </a:effectRef>
            <a:fontRef idx="minor">
              <a:schemeClr val="tx1"/>
            </a:fontRef>
          </p:style>
        </p:cxnSp>
        <p:sp>
          <p:nvSpPr>
            <p:cNvPr id="3309" name="TextBox 3308">
              <a:extLst>
                <a:ext uri="{FF2B5EF4-FFF2-40B4-BE49-F238E27FC236}">
                  <a16:creationId xmlns:a16="http://schemas.microsoft.com/office/drawing/2014/main" id="{AD34211B-EFC2-FCA3-D740-8E63B06B6F47}"/>
                </a:ext>
              </a:extLst>
            </p:cNvPr>
            <p:cNvSpPr txBox="1"/>
            <p:nvPr/>
          </p:nvSpPr>
          <p:spPr>
            <a:xfrm>
              <a:off x="653196" y="3483110"/>
              <a:ext cx="809339" cy="276999"/>
            </a:xfrm>
            <a:prstGeom prst="rect">
              <a:avLst/>
            </a:prstGeom>
            <a:noFill/>
          </p:spPr>
          <p:txBody>
            <a:bodyPr wrap="square" lIns="0" tIns="0" rIns="0" bIns="0" rtlCol="0">
              <a:spAutoFit/>
            </a:bodyPr>
            <a:lstStyle>
              <a:defPPr>
                <a:defRPr lang="en-US"/>
              </a:defPPr>
              <a:lvl1pPr>
                <a:defRPr sz="600"/>
              </a:lvl1pPr>
            </a:lstStyle>
            <a:p>
              <a:r>
                <a:rPr lang="en-US" dirty="0"/>
                <a:t>+ Minus(left, right)</a:t>
              </a:r>
            </a:p>
            <a:p>
              <a:r>
                <a:rPr lang="en-US" dirty="0"/>
                <a:t>+ </a:t>
              </a:r>
              <a:r>
                <a:rPr lang="en-US" altLang="zh-CN" dirty="0"/>
                <a:t>Interpret</a:t>
              </a:r>
              <a:r>
                <a:rPr lang="en-US" dirty="0"/>
                <a:t>(C</a:t>
              </a:r>
              <a:r>
                <a:rPr lang="en-US" altLang="zh-CN" dirty="0"/>
                <a:t>ontext</a:t>
              </a:r>
              <a:r>
                <a:rPr lang="en-US" dirty="0"/>
                <a:t>): void</a:t>
              </a:r>
            </a:p>
            <a:p>
              <a:r>
                <a:rPr lang="en-US" dirty="0"/>
                <a:t>+ </a:t>
              </a:r>
              <a:r>
                <a:rPr lang="en-US" dirty="0" err="1"/>
                <a:t>toString</a:t>
              </a:r>
              <a:r>
                <a:rPr lang="en-US" dirty="0"/>
                <a:t>(): String</a:t>
              </a:r>
            </a:p>
          </p:txBody>
        </p:sp>
      </p:grpSp>
      <p:cxnSp>
        <p:nvCxnSpPr>
          <p:cNvPr id="3311" name="Straight Connector 3310">
            <a:extLst>
              <a:ext uri="{FF2B5EF4-FFF2-40B4-BE49-F238E27FC236}">
                <a16:creationId xmlns:a16="http://schemas.microsoft.com/office/drawing/2014/main" id="{9F474518-75C6-5A9F-3DE7-E0358BCE2CBF}"/>
              </a:ext>
            </a:extLst>
          </p:cNvPr>
          <p:cNvCxnSpPr>
            <a:stCxn id="3273" idx="3"/>
            <a:endCxn id="3282" idx="1"/>
          </p:cNvCxnSpPr>
          <p:nvPr/>
        </p:nvCxnSpPr>
        <p:spPr>
          <a:xfrm>
            <a:off x="1180640" y="1337695"/>
            <a:ext cx="260350" cy="338"/>
          </a:xfrm>
          <a:prstGeom prst="line">
            <a:avLst/>
          </a:prstGeom>
        </p:spPr>
        <p:style>
          <a:lnRef idx="1">
            <a:schemeClr val="dk1"/>
          </a:lnRef>
          <a:fillRef idx="0">
            <a:schemeClr val="dk1"/>
          </a:fillRef>
          <a:effectRef idx="0">
            <a:schemeClr val="dk1"/>
          </a:effectRef>
          <a:fontRef idx="minor">
            <a:schemeClr val="tx1"/>
          </a:fontRef>
        </p:style>
      </p:cxnSp>
      <p:cxnSp>
        <p:nvCxnSpPr>
          <p:cNvPr id="3312" name="Straight Connector 3311">
            <a:extLst>
              <a:ext uri="{FF2B5EF4-FFF2-40B4-BE49-F238E27FC236}">
                <a16:creationId xmlns:a16="http://schemas.microsoft.com/office/drawing/2014/main" id="{6123D531-DF86-6095-A912-3C61BBF75D89}"/>
              </a:ext>
            </a:extLst>
          </p:cNvPr>
          <p:cNvCxnSpPr>
            <a:cxnSpLocks/>
            <a:stCxn id="3282" idx="3"/>
            <a:endCxn id="3289" idx="1"/>
          </p:cNvCxnSpPr>
          <p:nvPr/>
        </p:nvCxnSpPr>
        <p:spPr>
          <a:xfrm flipV="1">
            <a:off x="2298992" y="1337696"/>
            <a:ext cx="245267" cy="337"/>
          </a:xfrm>
          <a:prstGeom prst="line">
            <a:avLst/>
          </a:prstGeom>
        </p:spPr>
        <p:style>
          <a:lnRef idx="1">
            <a:schemeClr val="dk1"/>
          </a:lnRef>
          <a:fillRef idx="0">
            <a:schemeClr val="dk1"/>
          </a:fillRef>
          <a:effectRef idx="0">
            <a:schemeClr val="dk1"/>
          </a:effectRef>
          <a:fontRef idx="minor">
            <a:schemeClr val="tx1"/>
          </a:fontRef>
        </p:style>
      </p:cxnSp>
      <p:cxnSp>
        <p:nvCxnSpPr>
          <p:cNvPr id="3315" name="Straight Connector 3314">
            <a:extLst>
              <a:ext uri="{FF2B5EF4-FFF2-40B4-BE49-F238E27FC236}">
                <a16:creationId xmlns:a16="http://schemas.microsoft.com/office/drawing/2014/main" id="{E984E46B-CE8D-0632-B3C4-EDB42CCDEE84}"/>
              </a:ext>
            </a:extLst>
          </p:cNvPr>
          <p:cNvCxnSpPr>
            <a:cxnSpLocks/>
          </p:cNvCxnSpPr>
          <p:nvPr/>
        </p:nvCxnSpPr>
        <p:spPr>
          <a:xfrm flipH="1" flipV="1">
            <a:off x="848712" y="738216"/>
            <a:ext cx="559" cy="331355"/>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318" name="Straight Connector 3317">
            <a:extLst>
              <a:ext uri="{FF2B5EF4-FFF2-40B4-BE49-F238E27FC236}">
                <a16:creationId xmlns:a16="http://schemas.microsoft.com/office/drawing/2014/main" id="{75E41C69-7900-71A8-AC4F-79EC37D7C34B}"/>
              </a:ext>
            </a:extLst>
          </p:cNvPr>
          <p:cNvCxnSpPr>
            <a:cxnSpLocks/>
          </p:cNvCxnSpPr>
          <p:nvPr/>
        </p:nvCxnSpPr>
        <p:spPr>
          <a:xfrm flipH="1" flipV="1">
            <a:off x="662291" y="738215"/>
            <a:ext cx="559" cy="331355"/>
          </a:xfrm>
          <a:prstGeom prst="line">
            <a:avLst/>
          </a:prstGeom>
        </p:spPr>
        <p:style>
          <a:lnRef idx="1">
            <a:schemeClr val="dk1"/>
          </a:lnRef>
          <a:fillRef idx="0">
            <a:schemeClr val="dk1"/>
          </a:fillRef>
          <a:effectRef idx="0">
            <a:schemeClr val="dk1"/>
          </a:effectRef>
          <a:fontRef idx="minor">
            <a:schemeClr val="tx1"/>
          </a:fontRef>
        </p:style>
      </p:cxnSp>
      <p:cxnSp>
        <p:nvCxnSpPr>
          <p:cNvPr id="3319" name="Straight Connector 3318">
            <a:extLst>
              <a:ext uri="{FF2B5EF4-FFF2-40B4-BE49-F238E27FC236}">
                <a16:creationId xmlns:a16="http://schemas.microsoft.com/office/drawing/2014/main" id="{E6C12F83-1C28-ED14-5F11-FE74066B1D0D}"/>
              </a:ext>
            </a:extLst>
          </p:cNvPr>
          <p:cNvCxnSpPr>
            <a:cxnSpLocks/>
          </p:cNvCxnSpPr>
          <p:nvPr/>
        </p:nvCxnSpPr>
        <p:spPr>
          <a:xfrm flipV="1">
            <a:off x="1076474" y="1520648"/>
            <a:ext cx="638735" cy="416037"/>
          </a:xfrm>
          <a:prstGeom prst="line">
            <a:avLst/>
          </a:prstGeom>
        </p:spPr>
        <p:style>
          <a:lnRef idx="1">
            <a:schemeClr val="dk1"/>
          </a:lnRef>
          <a:fillRef idx="0">
            <a:schemeClr val="dk1"/>
          </a:fillRef>
          <a:effectRef idx="0">
            <a:schemeClr val="dk1"/>
          </a:effectRef>
          <a:fontRef idx="minor">
            <a:schemeClr val="tx1"/>
          </a:fontRef>
        </p:style>
      </p:cxnSp>
      <p:cxnSp>
        <p:nvCxnSpPr>
          <p:cNvPr id="3322" name="Straight Connector 3321">
            <a:extLst>
              <a:ext uri="{FF2B5EF4-FFF2-40B4-BE49-F238E27FC236}">
                <a16:creationId xmlns:a16="http://schemas.microsoft.com/office/drawing/2014/main" id="{C073AE04-A3DE-0506-D679-1826AE74C454}"/>
              </a:ext>
            </a:extLst>
          </p:cNvPr>
          <p:cNvCxnSpPr>
            <a:cxnSpLocks/>
          </p:cNvCxnSpPr>
          <p:nvPr/>
        </p:nvCxnSpPr>
        <p:spPr>
          <a:xfrm flipV="1">
            <a:off x="943822" y="1523029"/>
            <a:ext cx="638735" cy="416037"/>
          </a:xfrm>
          <a:prstGeom prst="line">
            <a:avLst/>
          </a:prstGeom>
        </p:spPr>
        <p:style>
          <a:lnRef idx="1">
            <a:schemeClr val="dk1"/>
          </a:lnRef>
          <a:fillRef idx="0">
            <a:schemeClr val="dk1"/>
          </a:fillRef>
          <a:effectRef idx="0">
            <a:schemeClr val="dk1"/>
          </a:effectRef>
          <a:fontRef idx="minor">
            <a:schemeClr val="tx1"/>
          </a:fontRef>
        </p:style>
      </p:cxnSp>
      <p:cxnSp>
        <p:nvCxnSpPr>
          <p:cNvPr id="3323" name="Straight Connector 3322">
            <a:extLst>
              <a:ext uri="{FF2B5EF4-FFF2-40B4-BE49-F238E27FC236}">
                <a16:creationId xmlns:a16="http://schemas.microsoft.com/office/drawing/2014/main" id="{42594E0A-B5F2-B42D-F567-54FCC3C6F3ED}"/>
              </a:ext>
            </a:extLst>
          </p:cNvPr>
          <p:cNvCxnSpPr>
            <a:cxnSpLocks/>
          </p:cNvCxnSpPr>
          <p:nvPr/>
        </p:nvCxnSpPr>
        <p:spPr>
          <a:xfrm flipH="1" flipV="1">
            <a:off x="2055731" y="1520648"/>
            <a:ext cx="623468" cy="416037"/>
          </a:xfrm>
          <a:prstGeom prst="line">
            <a:avLst/>
          </a:prstGeom>
        </p:spPr>
        <p:style>
          <a:lnRef idx="1">
            <a:schemeClr val="dk1"/>
          </a:lnRef>
          <a:fillRef idx="0">
            <a:schemeClr val="dk1"/>
          </a:fillRef>
          <a:effectRef idx="0">
            <a:schemeClr val="dk1"/>
          </a:effectRef>
          <a:fontRef idx="minor">
            <a:schemeClr val="tx1"/>
          </a:fontRef>
        </p:style>
      </p:cxnSp>
      <p:cxnSp>
        <p:nvCxnSpPr>
          <p:cNvPr id="3326" name="Straight Connector 3325">
            <a:extLst>
              <a:ext uri="{FF2B5EF4-FFF2-40B4-BE49-F238E27FC236}">
                <a16:creationId xmlns:a16="http://schemas.microsoft.com/office/drawing/2014/main" id="{0EBE4EAF-BA99-EBEA-851E-7CB2C05EA912}"/>
              </a:ext>
            </a:extLst>
          </p:cNvPr>
          <p:cNvCxnSpPr>
            <a:cxnSpLocks/>
          </p:cNvCxnSpPr>
          <p:nvPr/>
        </p:nvCxnSpPr>
        <p:spPr>
          <a:xfrm flipH="1" flipV="1">
            <a:off x="2170028" y="1520648"/>
            <a:ext cx="623468" cy="416037"/>
          </a:xfrm>
          <a:prstGeom prst="line">
            <a:avLst/>
          </a:prstGeom>
        </p:spPr>
        <p:style>
          <a:lnRef idx="1">
            <a:schemeClr val="dk1"/>
          </a:lnRef>
          <a:fillRef idx="0">
            <a:schemeClr val="dk1"/>
          </a:fillRef>
          <a:effectRef idx="0">
            <a:schemeClr val="dk1"/>
          </a:effectRef>
          <a:fontRef idx="minor">
            <a:schemeClr val="tx1"/>
          </a:fontRef>
        </p:style>
      </p:cxnSp>
      <p:sp>
        <p:nvSpPr>
          <p:cNvPr id="3327" name="Diamond 3326">
            <a:extLst>
              <a:ext uri="{FF2B5EF4-FFF2-40B4-BE49-F238E27FC236}">
                <a16:creationId xmlns:a16="http://schemas.microsoft.com/office/drawing/2014/main" id="{DCC49326-35FA-2675-44A0-0B501D6946D8}"/>
              </a:ext>
            </a:extLst>
          </p:cNvPr>
          <p:cNvSpPr/>
          <p:nvPr/>
        </p:nvSpPr>
        <p:spPr>
          <a:xfrm rot="16200000">
            <a:off x="619249" y="765539"/>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8" name="Isosceles Triangle 3327">
            <a:extLst>
              <a:ext uri="{FF2B5EF4-FFF2-40B4-BE49-F238E27FC236}">
                <a16:creationId xmlns:a16="http://schemas.microsoft.com/office/drawing/2014/main" id="{07557007-3D2F-834F-7574-C8BCD912C989}"/>
              </a:ext>
            </a:extLst>
          </p:cNvPr>
          <p:cNvSpPr/>
          <p:nvPr/>
        </p:nvSpPr>
        <p:spPr>
          <a:xfrm>
            <a:off x="825852" y="751664"/>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9" name="Isosceles Triangle 3328">
            <a:extLst>
              <a:ext uri="{FF2B5EF4-FFF2-40B4-BE49-F238E27FC236}">
                <a16:creationId xmlns:a16="http://schemas.microsoft.com/office/drawing/2014/main" id="{D0A7A99B-845E-E26B-346A-2B923F2CB91D}"/>
              </a:ext>
            </a:extLst>
          </p:cNvPr>
          <p:cNvSpPr/>
          <p:nvPr/>
        </p:nvSpPr>
        <p:spPr>
          <a:xfrm rot="16200000">
            <a:off x="2298992" y="1314835"/>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0" name="Isosceles Triangle 3329">
            <a:extLst>
              <a:ext uri="{FF2B5EF4-FFF2-40B4-BE49-F238E27FC236}">
                <a16:creationId xmlns:a16="http://schemas.microsoft.com/office/drawing/2014/main" id="{2D3D9736-2411-8F81-1278-EDA79658C5C1}"/>
              </a:ext>
            </a:extLst>
          </p:cNvPr>
          <p:cNvSpPr/>
          <p:nvPr/>
        </p:nvSpPr>
        <p:spPr>
          <a:xfrm rot="5400000">
            <a:off x="1384128" y="1314835"/>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1" name="Isosceles Triangle 3330">
            <a:extLst>
              <a:ext uri="{FF2B5EF4-FFF2-40B4-BE49-F238E27FC236}">
                <a16:creationId xmlns:a16="http://schemas.microsoft.com/office/drawing/2014/main" id="{ABD40953-03B2-303F-2B4E-E2434A31A6EA}"/>
              </a:ext>
            </a:extLst>
          </p:cNvPr>
          <p:cNvSpPr/>
          <p:nvPr/>
        </p:nvSpPr>
        <p:spPr>
          <a:xfrm rot="3446933">
            <a:off x="1532290" y="1520362"/>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2" name="Isosceles Triangle 3331">
            <a:extLst>
              <a:ext uri="{FF2B5EF4-FFF2-40B4-BE49-F238E27FC236}">
                <a16:creationId xmlns:a16="http://schemas.microsoft.com/office/drawing/2014/main" id="{5BB2A0A8-1EE7-05EF-5C85-3E54E7973A30}"/>
              </a:ext>
            </a:extLst>
          </p:cNvPr>
          <p:cNvSpPr/>
          <p:nvPr/>
        </p:nvSpPr>
        <p:spPr>
          <a:xfrm rot="18221838">
            <a:off x="2179153" y="1517741"/>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3" name="Diamond 3332">
            <a:extLst>
              <a:ext uri="{FF2B5EF4-FFF2-40B4-BE49-F238E27FC236}">
                <a16:creationId xmlns:a16="http://schemas.microsoft.com/office/drawing/2014/main" id="{F4B4AC62-22E7-F60F-A76A-7BC4CFA5F7BC}"/>
              </a:ext>
            </a:extLst>
          </p:cNvPr>
          <p:cNvSpPr/>
          <p:nvPr/>
        </p:nvSpPr>
        <p:spPr>
          <a:xfrm rot="19849106">
            <a:off x="1085112" y="1884014"/>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4" name="Diamond 3333">
            <a:extLst>
              <a:ext uri="{FF2B5EF4-FFF2-40B4-BE49-F238E27FC236}">
                <a16:creationId xmlns:a16="http://schemas.microsoft.com/office/drawing/2014/main" id="{1957AC7F-9223-6479-C3FD-F98B1CB903C3}"/>
              </a:ext>
            </a:extLst>
          </p:cNvPr>
          <p:cNvSpPr/>
          <p:nvPr/>
        </p:nvSpPr>
        <p:spPr>
          <a:xfrm rot="2013332">
            <a:off x="2587269" y="1881778"/>
            <a:ext cx="86084" cy="45719"/>
          </a:xfrm>
          <a:prstGeom prst="diamond">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53" name="Group 3452">
            <a:extLst>
              <a:ext uri="{FF2B5EF4-FFF2-40B4-BE49-F238E27FC236}">
                <a16:creationId xmlns:a16="http://schemas.microsoft.com/office/drawing/2014/main" id="{50DBC01D-DB43-71D8-DEB6-BF41532787C3}"/>
              </a:ext>
            </a:extLst>
          </p:cNvPr>
          <p:cNvGrpSpPr/>
          <p:nvPr/>
        </p:nvGrpSpPr>
        <p:grpSpPr>
          <a:xfrm>
            <a:off x="4842678" y="2682285"/>
            <a:ext cx="814281" cy="362756"/>
            <a:chOff x="626757" y="3130042"/>
            <a:chExt cx="814281" cy="362756"/>
          </a:xfrm>
        </p:grpSpPr>
        <p:sp>
          <p:nvSpPr>
            <p:cNvPr id="3454" name="TextBox 3453">
              <a:extLst>
                <a:ext uri="{FF2B5EF4-FFF2-40B4-BE49-F238E27FC236}">
                  <a16:creationId xmlns:a16="http://schemas.microsoft.com/office/drawing/2014/main" id="{9D59C3A3-7B9F-32F9-1F8F-3662AFB9E74C}"/>
                </a:ext>
              </a:extLst>
            </p:cNvPr>
            <p:cNvSpPr txBox="1"/>
            <p:nvPr/>
          </p:nvSpPr>
          <p:spPr>
            <a:xfrm>
              <a:off x="655706" y="3151109"/>
              <a:ext cx="746999" cy="107722"/>
            </a:xfrm>
            <a:prstGeom prst="rect">
              <a:avLst/>
            </a:prstGeom>
            <a:noFill/>
          </p:spPr>
          <p:txBody>
            <a:bodyPr wrap="none" lIns="0" tIns="0" rIns="0" bIns="0" rtlCol="0">
              <a:spAutoFit/>
            </a:bodyPr>
            <a:lstStyle>
              <a:defPPr>
                <a:defRPr lang="en-US"/>
              </a:defPPr>
              <a:lvl1pPr algn="ctr">
                <a:defRPr sz="700" b="1"/>
              </a:lvl1pPr>
            </a:lstStyle>
            <a:p>
              <a:r>
                <a:rPr lang="en-US" dirty="0"/>
                <a:t>&lt;interface&gt;</a:t>
              </a:r>
              <a:r>
                <a:rPr lang="en-US" dirty="0" err="1"/>
                <a:t>Cloeable</a:t>
              </a:r>
              <a:endParaRPr lang="en-US" dirty="0"/>
            </a:p>
          </p:txBody>
        </p:sp>
        <p:sp>
          <p:nvSpPr>
            <p:cNvPr id="3455" name="Rectangle: Rounded Corners 3454">
              <a:extLst>
                <a:ext uri="{FF2B5EF4-FFF2-40B4-BE49-F238E27FC236}">
                  <a16:creationId xmlns:a16="http://schemas.microsoft.com/office/drawing/2014/main" id="{588E84F0-9623-2AD2-A56D-E357970F3DD6}"/>
                </a:ext>
              </a:extLst>
            </p:cNvPr>
            <p:cNvSpPr/>
            <p:nvPr/>
          </p:nvSpPr>
          <p:spPr>
            <a:xfrm>
              <a:off x="626759" y="3130042"/>
              <a:ext cx="809826" cy="36275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56" name="Straight Connector 3455">
              <a:extLst>
                <a:ext uri="{FF2B5EF4-FFF2-40B4-BE49-F238E27FC236}">
                  <a16:creationId xmlns:a16="http://schemas.microsoft.com/office/drawing/2014/main" id="{C907AD3B-C222-DD10-E779-35358D50AB1B}"/>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3457" name="TextBox 3456">
              <a:extLst>
                <a:ext uri="{FF2B5EF4-FFF2-40B4-BE49-F238E27FC236}">
                  <a16:creationId xmlns:a16="http://schemas.microsoft.com/office/drawing/2014/main" id="{DC347245-528C-28F3-595D-3C34F3208123}"/>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3458" name="Straight Connector 3457">
              <a:extLst>
                <a:ext uri="{FF2B5EF4-FFF2-40B4-BE49-F238E27FC236}">
                  <a16:creationId xmlns:a16="http://schemas.microsoft.com/office/drawing/2014/main" id="{435474BE-C897-9F05-CE41-FE965400EFC4}"/>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3459" name="TextBox 3458">
              <a:extLst>
                <a:ext uri="{FF2B5EF4-FFF2-40B4-BE49-F238E27FC236}">
                  <a16:creationId xmlns:a16="http://schemas.microsoft.com/office/drawing/2014/main" id="{25E59B45-D52E-3100-21B3-5D5A5F4349EB}"/>
                </a:ext>
              </a:extLst>
            </p:cNvPr>
            <p:cNvSpPr txBox="1"/>
            <p:nvPr/>
          </p:nvSpPr>
          <p:spPr>
            <a:xfrm>
              <a:off x="653197" y="3381510"/>
              <a:ext cx="765616"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clone</a:t>
              </a:r>
              <a:r>
                <a:rPr lang="en-US" dirty="0"/>
                <a:t>(): Object</a:t>
              </a:r>
            </a:p>
          </p:txBody>
        </p:sp>
      </p:grpSp>
      <p:grpSp>
        <p:nvGrpSpPr>
          <p:cNvPr id="3460" name="Group 3459">
            <a:extLst>
              <a:ext uri="{FF2B5EF4-FFF2-40B4-BE49-F238E27FC236}">
                <a16:creationId xmlns:a16="http://schemas.microsoft.com/office/drawing/2014/main" id="{B69D3560-2A74-8401-9B93-5E505E09208C}"/>
              </a:ext>
            </a:extLst>
          </p:cNvPr>
          <p:cNvGrpSpPr/>
          <p:nvPr/>
        </p:nvGrpSpPr>
        <p:grpSpPr>
          <a:xfrm>
            <a:off x="5873712" y="2593642"/>
            <a:ext cx="814281" cy="541102"/>
            <a:chOff x="626757" y="3130042"/>
            <a:chExt cx="814281" cy="541102"/>
          </a:xfrm>
        </p:grpSpPr>
        <p:sp>
          <p:nvSpPr>
            <p:cNvPr id="3461" name="TextBox 3460">
              <a:extLst>
                <a:ext uri="{FF2B5EF4-FFF2-40B4-BE49-F238E27FC236}">
                  <a16:creationId xmlns:a16="http://schemas.microsoft.com/office/drawing/2014/main" id="{360DF8AC-F0F4-7685-946A-08F0E6BB5415}"/>
                </a:ext>
              </a:extLst>
            </p:cNvPr>
            <p:cNvSpPr txBox="1"/>
            <p:nvPr/>
          </p:nvSpPr>
          <p:spPr>
            <a:xfrm>
              <a:off x="881731" y="3151109"/>
              <a:ext cx="294953" cy="107722"/>
            </a:xfrm>
            <a:prstGeom prst="rect">
              <a:avLst/>
            </a:prstGeom>
            <a:noFill/>
          </p:spPr>
          <p:txBody>
            <a:bodyPr wrap="none" lIns="0" tIns="0" rIns="0" bIns="0" rtlCol="0">
              <a:spAutoFit/>
            </a:bodyPr>
            <a:lstStyle>
              <a:defPPr>
                <a:defRPr lang="en-US"/>
              </a:defPPr>
              <a:lvl1pPr algn="ctr">
                <a:defRPr sz="700" b="1"/>
              </a:lvl1pPr>
            </a:lstStyle>
            <a:p>
              <a:r>
                <a:rPr lang="en-US" dirty="0"/>
                <a:t>Citation</a:t>
              </a:r>
            </a:p>
          </p:txBody>
        </p:sp>
        <p:sp>
          <p:nvSpPr>
            <p:cNvPr id="3462" name="Rectangle: Rounded Corners 3461">
              <a:extLst>
                <a:ext uri="{FF2B5EF4-FFF2-40B4-BE49-F238E27FC236}">
                  <a16:creationId xmlns:a16="http://schemas.microsoft.com/office/drawing/2014/main" id="{B3488724-A442-0277-9381-C8857EBD39D7}"/>
                </a:ext>
              </a:extLst>
            </p:cNvPr>
            <p:cNvSpPr/>
            <p:nvPr/>
          </p:nvSpPr>
          <p:spPr>
            <a:xfrm>
              <a:off x="626759" y="3130042"/>
              <a:ext cx="809826" cy="541102"/>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63" name="Straight Connector 3462">
              <a:extLst>
                <a:ext uri="{FF2B5EF4-FFF2-40B4-BE49-F238E27FC236}">
                  <a16:creationId xmlns:a16="http://schemas.microsoft.com/office/drawing/2014/main" id="{B6B6E141-60B1-BBF2-6655-7EE4A4A03E87}"/>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3464" name="TextBox 3463">
              <a:extLst>
                <a:ext uri="{FF2B5EF4-FFF2-40B4-BE49-F238E27FC236}">
                  <a16:creationId xmlns:a16="http://schemas.microsoft.com/office/drawing/2014/main" id="{BB2F09D7-91B7-DB40-A981-B355BC29E8B4}"/>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r>
                <a:rPr lang="en-US" dirty="0"/>
                <a:t>- name: String</a:t>
              </a:r>
            </a:p>
          </p:txBody>
        </p:sp>
        <p:cxnSp>
          <p:nvCxnSpPr>
            <p:cNvPr id="3465" name="Straight Connector 3464">
              <a:extLst>
                <a:ext uri="{FF2B5EF4-FFF2-40B4-BE49-F238E27FC236}">
                  <a16:creationId xmlns:a16="http://schemas.microsoft.com/office/drawing/2014/main" id="{8560ADC3-D8E3-9AB8-0D92-158BE3BEE2C4}"/>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3466" name="TextBox 3465">
              <a:extLst>
                <a:ext uri="{FF2B5EF4-FFF2-40B4-BE49-F238E27FC236}">
                  <a16:creationId xmlns:a16="http://schemas.microsoft.com/office/drawing/2014/main" id="{995EACBE-6957-3F89-9EFD-6B548955C369}"/>
                </a:ext>
              </a:extLst>
            </p:cNvPr>
            <p:cNvSpPr txBox="1"/>
            <p:nvPr/>
          </p:nvSpPr>
          <p:spPr>
            <a:xfrm>
              <a:off x="653197" y="3381510"/>
              <a:ext cx="765616" cy="276999"/>
            </a:xfrm>
            <a:prstGeom prst="rect">
              <a:avLst/>
            </a:prstGeom>
            <a:noFill/>
          </p:spPr>
          <p:txBody>
            <a:bodyPr wrap="square" lIns="0" tIns="0" rIns="0" bIns="0" rtlCol="0">
              <a:spAutoFit/>
            </a:bodyPr>
            <a:lstStyle>
              <a:defPPr>
                <a:defRPr lang="en-US"/>
              </a:defPPr>
              <a:lvl1pPr>
                <a:defRPr sz="600"/>
              </a:lvl1pPr>
            </a:lstStyle>
            <a:p>
              <a:r>
                <a:rPr lang="en-US" dirty="0"/>
                <a:t>+ </a:t>
              </a:r>
              <a:r>
                <a:rPr lang="en-US" dirty="0" err="1"/>
                <a:t>getName</a:t>
              </a:r>
              <a:r>
                <a:rPr lang="en-US" dirty="0"/>
                <a:t>(): String</a:t>
              </a:r>
            </a:p>
            <a:p>
              <a:r>
                <a:rPr lang="en-US" dirty="0"/>
                <a:t>+ </a:t>
              </a:r>
              <a:r>
                <a:rPr lang="en-US" dirty="0" err="1"/>
                <a:t>setName</a:t>
              </a:r>
              <a:r>
                <a:rPr lang="en-US" dirty="0"/>
                <a:t>(name): void</a:t>
              </a:r>
            </a:p>
            <a:p>
              <a:r>
                <a:rPr lang="en-US" dirty="0"/>
                <a:t>+ clone(): Citation</a:t>
              </a:r>
            </a:p>
          </p:txBody>
        </p:sp>
      </p:grpSp>
      <p:grpSp>
        <p:nvGrpSpPr>
          <p:cNvPr id="3467" name="Group 3466">
            <a:extLst>
              <a:ext uri="{FF2B5EF4-FFF2-40B4-BE49-F238E27FC236}">
                <a16:creationId xmlns:a16="http://schemas.microsoft.com/office/drawing/2014/main" id="{707D5D6C-4074-4B36-83EE-E317E75AFBA3}"/>
              </a:ext>
            </a:extLst>
          </p:cNvPr>
          <p:cNvGrpSpPr/>
          <p:nvPr/>
        </p:nvGrpSpPr>
        <p:grpSpPr>
          <a:xfrm>
            <a:off x="6893119" y="2682258"/>
            <a:ext cx="814281" cy="362756"/>
            <a:chOff x="626757" y="3130042"/>
            <a:chExt cx="814281" cy="362756"/>
          </a:xfrm>
        </p:grpSpPr>
        <p:sp>
          <p:nvSpPr>
            <p:cNvPr id="3468" name="TextBox 3467">
              <a:extLst>
                <a:ext uri="{FF2B5EF4-FFF2-40B4-BE49-F238E27FC236}">
                  <a16:creationId xmlns:a16="http://schemas.microsoft.com/office/drawing/2014/main" id="{0D7C79D8-E525-78ED-CF36-E4860B8B7DCA}"/>
                </a:ext>
              </a:extLst>
            </p:cNvPr>
            <p:cNvSpPr txBox="1"/>
            <p:nvPr/>
          </p:nvSpPr>
          <p:spPr>
            <a:xfrm>
              <a:off x="803985" y="3151109"/>
              <a:ext cx="450444" cy="107722"/>
            </a:xfrm>
            <a:prstGeom prst="rect">
              <a:avLst/>
            </a:prstGeom>
            <a:noFill/>
          </p:spPr>
          <p:txBody>
            <a:bodyPr wrap="none" lIns="0" tIns="0" rIns="0" bIns="0" rtlCol="0">
              <a:spAutoFit/>
            </a:bodyPr>
            <a:lstStyle>
              <a:defPPr>
                <a:defRPr lang="en-US"/>
              </a:defPPr>
              <a:lvl1pPr algn="ctr">
                <a:defRPr sz="700" b="1"/>
              </a:lvl1pPr>
            </a:lstStyle>
            <a:p>
              <a:r>
                <a:rPr lang="en-US" dirty="0" err="1"/>
                <a:t>CitationTest</a:t>
              </a:r>
              <a:endParaRPr lang="en-US" dirty="0"/>
            </a:p>
          </p:txBody>
        </p:sp>
        <p:sp>
          <p:nvSpPr>
            <p:cNvPr id="3469" name="Rectangle: Rounded Corners 3468">
              <a:extLst>
                <a:ext uri="{FF2B5EF4-FFF2-40B4-BE49-F238E27FC236}">
                  <a16:creationId xmlns:a16="http://schemas.microsoft.com/office/drawing/2014/main" id="{F9508544-C47C-4BB9-2C58-E95D27D26793}"/>
                </a:ext>
              </a:extLst>
            </p:cNvPr>
            <p:cNvSpPr/>
            <p:nvPr/>
          </p:nvSpPr>
          <p:spPr>
            <a:xfrm>
              <a:off x="626759" y="3130042"/>
              <a:ext cx="809826" cy="362756"/>
            </a:xfrm>
            <a:prstGeom prst="roundRect">
              <a:avLst>
                <a:gd name="adj" fmla="val 536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70" name="Straight Connector 3469">
              <a:extLst>
                <a:ext uri="{FF2B5EF4-FFF2-40B4-BE49-F238E27FC236}">
                  <a16:creationId xmlns:a16="http://schemas.microsoft.com/office/drawing/2014/main" id="{7E4C896E-CF0B-8523-1422-DBAA5CF65B96}"/>
                </a:ext>
              </a:extLst>
            </p:cNvPr>
            <p:cNvCxnSpPr>
              <a:cxnSpLocks/>
            </p:cNvCxnSpPr>
            <p:nvPr/>
          </p:nvCxnSpPr>
          <p:spPr>
            <a:xfrm>
              <a:off x="626759" y="3262639"/>
              <a:ext cx="814279" cy="0"/>
            </a:xfrm>
            <a:prstGeom prst="line">
              <a:avLst/>
            </a:prstGeom>
          </p:spPr>
          <p:style>
            <a:lnRef idx="1">
              <a:schemeClr val="dk1"/>
            </a:lnRef>
            <a:fillRef idx="0">
              <a:schemeClr val="dk1"/>
            </a:fillRef>
            <a:effectRef idx="0">
              <a:schemeClr val="dk1"/>
            </a:effectRef>
            <a:fontRef idx="minor">
              <a:schemeClr val="tx1"/>
            </a:fontRef>
          </p:style>
        </p:cxnSp>
        <p:sp>
          <p:nvSpPr>
            <p:cNvPr id="3471" name="TextBox 3470">
              <a:extLst>
                <a:ext uri="{FF2B5EF4-FFF2-40B4-BE49-F238E27FC236}">
                  <a16:creationId xmlns:a16="http://schemas.microsoft.com/office/drawing/2014/main" id="{715F127B-CCF8-A0AC-6A8C-B0E092354715}"/>
                </a:ext>
              </a:extLst>
            </p:cNvPr>
            <p:cNvSpPr txBox="1"/>
            <p:nvPr/>
          </p:nvSpPr>
          <p:spPr>
            <a:xfrm>
              <a:off x="657950" y="3276104"/>
              <a:ext cx="666741" cy="92333"/>
            </a:xfrm>
            <a:prstGeom prst="rect">
              <a:avLst/>
            </a:prstGeom>
            <a:noFill/>
          </p:spPr>
          <p:txBody>
            <a:bodyPr wrap="square" lIns="0" tIns="0" rIns="0" bIns="0" rtlCol="0">
              <a:spAutoFit/>
            </a:bodyPr>
            <a:lstStyle>
              <a:defPPr>
                <a:defRPr lang="en-US"/>
              </a:defPPr>
              <a:lvl1pPr>
                <a:defRPr sz="600"/>
              </a:lvl1pPr>
            </a:lstStyle>
            <a:p>
              <a:endParaRPr lang="en-US" dirty="0"/>
            </a:p>
          </p:txBody>
        </p:sp>
        <p:cxnSp>
          <p:nvCxnSpPr>
            <p:cNvPr id="3472" name="Straight Connector 3471">
              <a:extLst>
                <a:ext uri="{FF2B5EF4-FFF2-40B4-BE49-F238E27FC236}">
                  <a16:creationId xmlns:a16="http://schemas.microsoft.com/office/drawing/2014/main" id="{F7A60769-609D-B12A-51AC-7E456EF9DB32}"/>
                </a:ext>
              </a:extLst>
            </p:cNvPr>
            <p:cNvCxnSpPr>
              <a:cxnSpLocks/>
            </p:cNvCxnSpPr>
            <p:nvPr/>
          </p:nvCxnSpPr>
          <p:spPr>
            <a:xfrm>
              <a:off x="626757" y="3374558"/>
              <a:ext cx="814281" cy="0"/>
            </a:xfrm>
            <a:prstGeom prst="line">
              <a:avLst/>
            </a:prstGeom>
          </p:spPr>
          <p:style>
            <a:lnRef idx="1">
              <a:schemeClr val="dk1"/>
            </a:lnRef>
            <a:fillRef idx="0">
              <a:schemeClr val="dk1"/>
            </a:fillRef>
            <a:effectRef idx="0">
              <a:schemeClr val="dk1"/>
            </a:effectRef>
            <a:fontRef idx="minor">
              <a:schemeClr val="tx1"/>
            </a:fontRef>
          </p:style>
        </p:cxnSp>
        <p:sp>
          <p:nvSpPr>
            <p:cNvPr id="3473" name="TextBox 3472">
              <a:extLst>
                <a:ext uri="{FF2B5EF4-FFF2-40B4-BE49-F238E27FC236}">
                  <a16:creationId xmlns:a16="http://schemas.microsoft.com/office/drawing/2014/main" id="{AF22A07C-715D-6347-2232-2605E3B45E63}"/>
                </a:ext>
              </a:extLst>
            </p:cNvPr>
            <p:cNvSpPr txBox="1"/>
            <p:nvPr/>
          </p:nvSpPr>
          <p:spPr>
            <a:xfrm>
              <a:off x="653197" y="3381510"/>
              <a:ext cx="765616" cy="92333"/>
            </a:xfrm>
            <a:prstGeom prst="rect">
              <a:avLst/>
            </a:prstGeom>
            <a:noFill/>
          </p:spPr>
          <p:txBody>
            <a:bodyPr wrap="square" lIns="0" tIns="0" rIns="0" bIns="0" rtlCol="0">
              <a:spAutoFit/>
            </a:bodyPr>
            <a:lstStyle>
              <a:defPPr>
                <a:defRPr lang="en-US"/>
              </a:defPPr>
              <a:lvl1pPr>
                <a:defRPr sz="600"/>
              </a:lvl1pPr>
            </a:lstStyle>
            <a:p>
              <a:r>
                <a:rPr lang="en-US" dirty="0"/>
                <a:t>+ </a:t>
              </a:r>
              <a:r>
                <a:rPr lang="en-US" altLang="zh-CN" dirty="0"/>
                <a:t>main</a:t>
              </a:r>
              <a:r>
                <a:rPr lang="en-US" dirty="0"/>
                <a:t>(): void</a:t>
              </a:r>
            </a:p>
          </p:txBody>
        </p:sp>
      </p:grpSp>
      <p:cxnSp>
        <p:nvCxnSpPr>
          <p:cNvPr id="3475" name="Straight Connector 3474">
            <a:extLst>
              <a:ext uri="{FF2B5EF4-FFF2-40B4-BE49-F238E27FC236}">
                <a16:creationId xmlns:a16="http://schemas.microsoft.com/office/drawing/2014/main" id="{960FB8A8-9695-8344-928D-50073A285CC3}"/>
              </a:ext>
            </a:extLst>
          </p:cNvPr>
          <p:cNvCxnSpPr>
            <a:stCxn id="3455" idx="3"/>
            <a:endCxn id="3462" idx="1"/>
          </p:cNvCxnSpPr>
          <p:nvPr/>
        </p:nvCxnSpPr>
        <p:spPr>
          <a:xfrm>
            <a:off x="5652506" y="2863663"/>
            <a:ext cx="221208" cy="53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476" name="Straight Connector 3475">
            <a:extLst>
              <a:ext uri="{FF2B5EF4-FFF2-40B4-BE49-F238E27FC236}">
                <a16:creationId xmlns:a16="http://schemas.microsoft.com/office/drawing/2014/main" id="{DD5F9E48-47F7-44CD-2227-0E5FFCA3C0E9}"/>
              </a:ext>
            </a:extLst>
          </p:cNvPr>
          <p:cNvCxnSpPr>
            <a:cxnSpLocks/>
            <a:stCxn id="3462" idx="3"/>
            <a:endCxn id="3469" idx="1"/>
          </p:cNvCxnSpPr>
          <p:nvPr/>
        </p:nvCxnSpPr>
        <p:spPr>
          <a:xfrm flipV="1">
            <a:off x="6683540" y="2863636"/>
            <a:ext cx="209581" cy="557"/>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3479" name="Isosceles Triangle 3478">
            <a:extLst>
              <a:ext uri="{FF2B5EF4-FFF2-40B4-BE49-F238E27FC236}">
                <a16:creationId xmlns:a16="http://schemas.microsoft.com/office/drawing/2014/main" id="{B0FD5E9B-C050-EFC4-C1D7-BDF0A865FD7B}"/>
              </a:ext>
            </a:extLst>
          </p:cNvPr>
          <p:cNvSpPr/>
          <p:nvPr/>
        </p:nvSpPr>
        <p:spPr>
          <a:xfrm rot="16200000">
            <a:off x="5657966" y="2845939"/>
            <a:ext cx="45719" cy="45719"/>
          </a:xfrm>
          <a:prstGeom prst="triangle">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0" name="Isosceles Triangle 3479">
            <a:extLst>
              <a:ext uri="{FF2B5EF4-FFF2-40B4-BE49-F238E27FC236}">
                <a16:creationId xmlns:a16="http://schemas.microsoft.com/office/drawing/2014/main" id="{D56C6442-260B-ABF0-8073-E118FD8EFA86}"/>
              </a:ext>
            </a:extLst>
          </p:cNvPr>
          <p:cNvSpPr/>
          <p:nvPr/>
        </p:nvSpPr>
        <p:spPr>
          <a:xfrm rot="16200000">
            <a:off x="6692696" y="2840120"/>
            <a:ext cx="45719" cy="45719"/>
          </a:xfrm>
          <a:prstGeom prst="triangl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2903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12087</TotalTime>
  <Words>48222</Words>
  <Application>Microsoft Office PowerPoint</Application>
  <PresentationFormat>Widescreen</PresentationFormat>
  <Paragraphs>5636</Paragraphs>
  <Slides>68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68</vt:i4>
      </vt:variant>
    </vt:vector>
  </HeadingPairs>
  <TitlesOfParts>
    <vt:vector size="79" baseType="lpstr">
      <vt:lpstr>Arial Unicode MS</vt:lpstr>
      <vt:lpstr>pingfang SC</vt:lpstr>
      <vt:lpstr>ui-monospace</vt:lpstr>
      <vt:lpstr>Microsoft YaHei</vt:lpstr>
      <vt:lpstr>Arial</vt:lpstr>
      <vt:lpstr>Calibri</vt:lpstr>
      <vt:lpstr>Calibri Light</vt:lpstr>
      <vt:lpstr>Cambria Math</vt:lpstr>
      <vt:lpstr>Consolas</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CAO Lingyang (ME/TEF9.2-CN)</dc:creator>
  <cp:lastModifiedBy>CAO Lingyang (ME/TEF9-CN)</cp:lastModifiedBy>
  <cp:revision>2555</cp:revision>
  <cp:lastPrinted>2025-09-05T10:35:44Z</cp:lastPrinted>
  <dcterms:created xsi:type="dcterms:W3CDTF">2024-08-12T02:40:15Z</dcterms:created>
  <dcterms:modified xsi:type="dcterms:W3CDTF">2025-09-16T09:23:36Z</dcterms:modified>
</cp:coreProperties>
</file>